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55.xml" ContentType="application/vnd.openxmlformats-officedocument.drawingml.chart+xml"/>
  <Override PartName="/ppt/charts/chart156.xml" ContentType="application/vnd.openxmlformats-officedocument.drawingml.chart+xml"/>
  <Override PartName="/ppt/charts/chart157.xml" ContentType="application/vnd.openxmlformats-officedocument.drawingml.chart+xml"/>
  <Override PartName="/ppt/charts/chart158.xml" ContentType="application/vnd.openxmlformats-officedocument.drawingml.chart+xml"/>
  <Override PartName="/ppt/charts/chart159.xml" ContentType="application/vnd.openxmlformats-officedocument.drawingml.chart+xml"/>
  <Override PartName="/ppt/charts/chart16.xml" ContentType="application/vnd.openxmlformats-officedocument.drawingml.chart+xml"/>
  <Override PartName="/ppt/charts/chart160.xml" ContentType="application/vnd.openxmlformats-officedocument.drawingml.chart+xml"/>
  <Override PartName="/ppt/charts/chart161.xml" ContentType="application/vnd.openxmlformats-officedocument.drawingml.chart+xml"/>
  <Override PartName="/ppt/charts/chart162.xml" ContentType="application/vnd.openxmlformats-officedocument.drawingml.chart+xml"/>
  <Override PartName="/ppt/charts/chart163.xml" ContentType="application/vnd.openxmlformats-officedocument.drawingml.chart+xml"/>
  <Override PartName="/ppt/charts/chart164.xml" ContentType="application/vnd.openxmlformats-officedocument.drawingml.chart+xml"/>
  <Override PartName="/ppt/charts/chart165.xml" ContentType="application/vnd.openxmlformats-officedocument.drawingml.chart+xml"/>
  <Override PartName="/ppt/charts/chart166.xml" ContentType="application/vnd.openxmlformats-officedocument.drawingml.chart+xml"/>
  <Override PartName="/ppt/charts/chart167.xml" ContentType="application/vnd.openxmlformats-officedocument.drawingml.chart+xml"/>
  <Override PartName="/ppt/charts/chart168.xml" ContentType="application/vnd.openxmlformats-officedocument.drawingml.chart+xml"/>
  <Override PartName="/ppt/charts/chart169.xml" ContentType="application/vnd.openxmlformats-officedocument.drawingml.chart+xml"/>
  <Override PartName="/ppt/charts/chart17.xml" ContentType="application/vnd.openxmlformats-officedocument.drawingml.chart+xml"/>
  <Override PartName="/ppt/charts/chart170.xml" ContentType="application/vnd.openxmlformats-officedocument.drawingml.chart+xml"/>
  <Override PartName="/ppt/charts/chart171.xml" ContentType="application/vnd.openxmlformats-officedocument.drawingml.chart+xml"/>
  <Override PartName="/ppt/charts/chart172.xml" ContentType="application/vnd.openxmlformats-officedocument.drawingml.chart+xml"/>
  <Override PartName="/ppt/charts/chart173.xml" ContentType="application/vnd.openxmlformats-officedocument.drawingml.chart+xml"/>
  <Override PartName="/ppt/charts/chart174.xml" ContentType="application/vnd.openxmlformats-officedocument.drawingml.chart+xml"/>
  <Override PartName="/ppt/charts/chart175.xml" ContentType="application/vnd.openxmlformats-officedocument.drawingml.chart+xml"/>
  <Override PartName="/ppt/charts/chart176.xml" ContentType="application/vnd.openxmlformats-officedocument.drawingml.chart+xml"/>
  <Override PartName="/ppt/charts/chart177.xml" ContentType="application/vnd.openxmlformats-officedocument.drawingml.chart+xml"/>
  <Override PartName="/ppt/charts/chart178.xml" ContentType="application/vnd.openxmlformats-officedocument.drawingml.chart+xml"/>
  <Override PartName="/ppt/charts/chart179.xml" ContentType="application/vnd.openxmlformats-officedocument.drawingml.chart+xml"/>
  <Override PartName="/ppt/charts/chart18.xml" ContentType="application/vnd.openxmlformats-officedocument.drawingml.chart+xml"/>
  <Override PartName="/ppt/charts/chart180.xml" ContentType="application/vnd.openxmlformats-officedocument.drawingml.chart+xml"/>
  <Override PartName="/ppt/charts/chart181.xml" ContentType="application/vnd.openxmlformats-officedocument.drawingml.chart+xml"/>
  <Override PartName="/ppt/charts/chart182.xml" ContentType="application/vnd.openxmlformats-officedocument.drawingml.chart+xml"/>
  <Override PartName="/ppt/charts/chart183.xml" ContentType="application/vnd.openxmlformats-officedocument.drawingml.chart+xml"/>
  <Override PartName="/ppt/charts/chart184.xml" ContentType="application/vnd.openxmlformats-officedocument.drawingml.chart+xml"/>
  <Override PartName="/ppt/charts/chart185.xml" ContentType="application/vnd.openxmlformats-officedocument.drawingml.chart+xml"/>
  <Override PartName="/ppt/charts/chart186.xml" ContentType="application/vnd.openxmlformats-officedocument.drawingml.chart+xml"/>
  <Override PartName="/ppt/charts/chart187.xml" ContentType="application/vnd.openxmlformats-officedocument.drawingml.chart+xml"/>
  <Override PartName="/ppt/charts/chart188.xml" ContentType="application/vnd.openxmlformats-officedocument.drawingml.chart+xml"/>
  <Override PartName="/ppt/charts/chart189.xml" ContentType="application/vnd.openxmlformats-officedocument.drawingml.chart+xml"/>
  <Override PartName="/ppt/charts/chart19.xml" ContentType="application/vnd.openxmlformats-officedocument.drawingml.chart+xml"/>
  <Override PartName="/ppt/charts/chart190.xml" ContentType="application/vnd.openxmlformats-officedocument.drawingml.chart+xml"/>
  <Override PartName="/ppt/charts/chart191.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9.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1.xml" ContentType="application/vnd.openxmlformats-officedocument.presentationml.notesSlide+xml"/>
  <Override PartName="/ppt/notesSlides/notesSlide223.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1.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3.xml" ContentType="application/vnd.openxmlformats-officedocument.presentationml.notesSlide+xml"/>
  <Override PartName="/ppt/notesSlides/notesSlide245.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3.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621" r:id="rId373"/>
    <p:sldId id="613" r:id="rId365"/>
    <p:sldId id="614" r:id="rId366"/>
    <p:sldId id="615" r:id="rId367"/>
    <p:sldId id="616" r:id="rId368"/>
    <p:sldId id="617" r:id="rId369"/>
    <p:sldId id="618" r:id="rId370"/>
    <p:sldId id="619" r:id="rId371"/>
    <p:sldId id="620" r:id="rId372"/>
    <p:sldId id="630" r:id="rId382"/>
    <p:sldId id="622" r:id="rId374"/>
    <p:sldId id="623" r:id="rId375"/>
    <p:sldId id="624" r:id="rId376"/>
    <p:sldId id="625" r:id="rId377"/>
    <p:sldId id="626" r:id="rId378"/>
    <p:sldId id="627" r:id="rId379"/>
    <p:sldId id="628" r:id="rId380"/>
    <p:sldId id="629" r:id="rId381"/>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1" r:id="rId43"/>
    <p:sldId id="292" r:id="rId44"/>
    <p:sldId id="295" r:id="rId47"/>
    <p:sldId id="296" r:id="rId48"/>
    <p:sldId id="297" r:id="rId49"/>
    <p:sldId id="298" r:id="rId50"/>
    <p:sldId id="299" r:id="rId51"/>
    <p:sldId id="301" r:id="rId53"/>
    <p:sldId id="302" r:id="rId54"/>
    <p:sldId id="307" r:id="rId59"/>
    <p:sldId id="308" r:id="rId60"/>
    <p:sldId id="309" r:id="rId61"/>
    <p:sldId id="310" r:id="rId62"/>
    <p:sldId id="312" r:id="rId64"/>
    <p:sldId id="313" r:id="rId65"/>
    <p:sldId id="316" r:id="rId68"/>
    <p:sldId id="317" r:id="rId69"/>
    <p:sldId id="318" r:id="rId70"/>
    <p:sldId id="319" r:id="rId71"/>
    <p:sldId id="322" r:id="rId74"/>
    <p:sldId id="323" r:id="rId75"/>
    <p:sldId id="324" r:id="rId76"/>
    <p:sldId id="329" r:id="rId81"/>
    <p:sldId id="330" r:id="rId82"/>
    <p:sldId id="331" r:id="rId83"/>
    <p:sldId id="332" r:id="rId84"/>
    <p:sldId id="334" r:id="rId86"/>
    <p:sldId id="335" r:id="rId87"/>
    <p:sldId id="338" r:id="rId90"/>
    <p:sldId id="339" r:id="rId91"/>
    <p:sldId id="340" r:id="rId92"/>
    <p:sldId id="341" r:id="rId93"/>
    <p:sldId id="342" r:id="rId94"/>
    <p:sldId id="344" r:id="rId96"/>
    <p:sldId id="345" r:id="rId97"/>
    <p:sldId id="348" r:id="rId100"/>
    <p:sldId id="349" r:id="rId101"/>
    <p:sldId id="350" r:id="rId102"/>
    <p:sldId id="351" r:id="rId103"/>
    <p:sldId id="353" r:id="rId105"/>
    <p:sldId id="354" r:id="rId106"/>
    <p:sldId id="357" r:id="rId109"/>
    <p:sldId id="358" r:id="rId110"/>
    <p:sldId id="359" r:id="rId111"/>
    <p:sldId id="360" r:id="rId112"/>
    <p:sldId id="362" r:id="rId114"/>
    <p:sldId id="363" r:id="rId115"/>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10" r:id="rId162"/>
    <p:sldId id="411" r:id="rId163"/>
    <p:sldId id="414" r:id="rId166"/>
    <p:sldId id="415" r:id="rId167"/>
    <p:sldId id="416" r:id="rId168"/>
    <p:sldId id="417" r:id="rId169"/>
    <p:sldId id="418" r:id="rId170"/>
    <p:sldId id="420" r:id="rId172"/>
    <p:sldId id="421" r:id="rId173"/>
    <p:sldId id="426" r:id="rId178"/>
    <p:sldId id="427" r:id="rId179"/>
    <p:sldId id="428" r:id="rId180"/>
    <p:sldId id="429" r:id="rId181"/>
    <p:sldId id="431" r:id="rId183"/>
    <p:sldId id="432" r:id="rId184"/>
    <p:sldId id="435" r:id="rId187"/>
    <p:sldId id="436" r:id="rId188"/>
    <p:sldId id="437" r:id="rId189"/>
    <p:sldId id="438" r:id="rId190"/>
    <p:sldId id="441" r:id="rId193"/>
    <p:sldId id="442" r:id="rId194"/>
    <p:sldId id="443" r:id="rId195"/>
    <p:sldId id="448" r:id="rId200"/>
    <p:sldId id="449" r:id="rId201"/>
    <p:sldId id="450" r:id="rId202"/>
    <p:sldId id="451" r:id="rId203"/>
    <p:sldId id="453" r:id="rId205"/>
    <p:sldId id="454" r:id="rId206"/>
    <p:sldId id="457" r:id="rId209"/>
    <p:sldId id="458" r:id="rId210"/>
    <p:sldId id="459" r:id="rId211"/>
    <p:sldId id="460" r:id="rId212"/>
    <p:sldId id="461" r:id="rId213"/>
    <p:sldId id="463" r:id="rId215"/>
    <p:sldId id="464" r:id="rId216"/>
    <p:sldId id="467" r:id="rId219"/>
    <p:sldId id="468" r:id="rId220"/>
    <p:sldId id="469" r:id="rId221"/>
    <p:sldId id="470" r:id="rId222"/>
    <p:sldId id="472" r:id="rId224"/>
    <p:sldId id="473" r:id="rId225"/>
    <p:sldId id="476" r:id="rId228"/>
    <p:sldId id="477" r:id="rId229"/>
    <p:sldId id="478" r:id="rId230"/>
    <p:sldId id="479" r:id="rId231"/>
    <p:sldId id="481" r:id="rId233"/>
    <p:sldId id="482" r:id="rId234"/>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5" r:id="rId267"/>
    <p:sldId id="516" r:id="rId268"/>
    <p:sldId id="518" r:id="rId270"/>
    <p:sldId id="521" r:id="rId273"/>
    <p:sldId id="522" r:id="rId274"/>
    <p:sldId id="523" r:id="rId275"/>
    <p:sldId id="525" r:id="rId277"/>
    <p:sldId id="526" r:id="rId278"/>
    <p:sldId id="528" r:id="rId280"/>
    <p:sldId id="531" r:id="rId283"/>
    <p:sldId id="532" r:id="rId284"/>
    <p:sldId id="533" r:id="rId285"/>
    <p:sldId id="535" r:id="rId287"/>
    <p:sldId id="536" r:id="rId288"/>
    <p:sldId id="537" r:id="rId289"/>
    <p:sldId id="539" r:id="rId291"/>
    <p:sldId id="540" r:id="rId292"/>
    <p:sldId id="541" r:id="rId293"/>
    <p:sldId id="543" r:id="rId295"/>
    <p:sldId id="544" r:id="rId296"/>
    <p:sldId id="546" r:id="rId298"/>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631" r:id="rId29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8.xml"/><Relationship Id="rId18" Type="http://schemas.openxmlformats.org/officeDocument/2006/relationships/slide" Target="slides/slide29.xml"/><Relationship Id="rId19" Type="http://schemas.openxmlformats.org/officeDocument/2006/relationships/slide" Target="slides/slide30.xml"/><Relationship Id="rId20" Type="http://schemas.openxmlformats.org/officeDocument/2006/relationships/slide" Target="slides/slide31.xml"/><Relationship Id="rId21" Type="http://schemas.openxmlformats.org/officeDocument/2006/relationships/slide" Target="slides/slide32.xml"/><Relationship Id="rId22" Type="http://schemas.openxmlformats.org/officeDocument/2006/relationships/slide" Target="slides/slide33.xml"/><Relationship Id="rId23" Type="http://schemas.openxmlformats.org/officeDocument/2006/relationships/slide" Target="slides/slide34.xml"/><Relationship Id="rId24" Type="http://schemas.openxmlformats.org/officeDocument/2006/relationships/slide" Target="slides/slide35.xml"/><Relationship Id="rId25" Type="http://schemas.openxmlformats.org/officeDocument/2006/relationships/slide" Target="slides/slide36.xml"/><Relationship Id="rId26" Type="http://schemas.openxmlformats.org/officeDocument/2006/relationships/slide" Target="slides/slide37.xml"/><Relationship Id="rId27" Type="http://schemas.openxmlformats.org/officeDocument/2006/relationships/slide" Target="slides/slide38.xml"/><Relationship Id="rId28" Type="http://schemas.openxmlformats.org/officeDocument/2006/relationships/slide" Target="slides/slide39.xml"/><Relationship Id="rId29" Type="http://schemas.openxmlformats.org/officeDocument/2006/relationships/slide" Target="slides/slide40.xml"/><Relationship Id="rId30" Type="http://schemas.openxmlformats.org/officeDocument/2006/relationships/slide" Target="slides/slide41.xml"/><Relationship Id="rId31" Type="http://schemas.openxmlformats.org/officeDocument/2006/relationships/slide" Target="slides/slide42.xml"/><Relationship Id="rId32" Type="http://schemas.openxmlformats.org/officeDocument/2006/relationships/slide" Target="slides/slide43.xml"/><Relationship Id="rId33" Type="http://schemas.openxmlformats.org/officeDocument/2006/relationships/slide" Target="slides/slide44.xml"/><Relationship Id="rId34" Type="http://schemas.openxmlformats.org/officeDocument/2006/relationships/slide" Target="slides/slide45.xml"/><Relationship Id="rId35" Type="http://schemas.openxmlformats.org/officeDocument/2006/relationships/slide" Target="slides/slide46.xml"/><Relationship Id="rId36" Type="http://schemas.openxmlformats.org/officeDocument/2006/relationships/slide" Target="slides/slide47.xml"/><Relationship Id="rId37" Type="http://schemas.openxmlformats.org/officeDocument/2006/relationships/slide" Target="slides/slide48.xml"/><Relationship Id="rId38" Type="http://schemas.openxmlformats.org/officeDocument/2006/relationships/slide" Target="slides/slide49.xml"/><Relationship Id="rId39" Type="http://schemas.openxmlformats.org/officeDocument/2006/relationships/slide" Target="slides/slide50.xml"/><Relationship Id="rId40" Type="http://schemas.openxmlformats.org/officeDocument/2006/relationships/slide" Target="slides/slide51.xml"/><Relationship Id="rId41" Type="http://schemas.openxmlformats.org/officeDocument/2006/relationships/slide" Target="slides/slide52.xml"/><Relationship Id="rId43" Type="http://schemas.openxmlformats.org/officeDocument/2006/relationships/slide" Target="slides/slide53.xml"/><Relationship Id="rId44" Type="http://schemas.openxmlformats.org/officeDocument/2006/relationships/slide" Target="slides/slide54.xml"/><Relationship Id="rId47" Type="http://schemas.openxmlformats.org/officeDocument/2006/relationships/slide" Target="slides/slide55.xml"/><Relationship Id="rId48" Type="http://schemas.openxmlformats.org/officeDocument/2006/relationships/slide" Target="slides/slide56.xml"/><Relationship Id="rId49" Type="http://schemas.openxmlformats.org/officeDocument/2006/relationships/slide" Target="slides/slide57.xml"/><Relationship Id="rId50" Type="http://schemas.openxmlformats.org/officeDocument/2006/relationships/slide" Target="slides/slide58.xml"/><Relationship Id="rId51" Type="http://schemas.openxmlformats.org/officeDocument/2006/relationships/slide" Target="slides/slide59.xml"/><Relationship Id="rId53" Type="http://schemas.openxmlformats.org/officeDocument/2006/relationships/slide" Target="slides/slide60.xml"/><Relationship Id="rId54" Type="http://schemas.openxmlformats.org/officeDocument/2006/relationships/slide" Target="slides/slide61.xml"/><Relationship Id="rId59" Type="http://schemas.openxmlformats.org/officeDocument/2006/relationships/slide" Target="slides/slide62.xml"/><Relationship Id="rId60" Type="http://schemas.openxmlformats.org/officeDocument/2006/relationships/slide" Target="slides/slide63.xml"/><Relationship Id="rId61" Type="http://schemas.openxmlformats.org/officeDocument/2006/relationships/slide" Target="slides/slide64.xml"/><Relationship Id="rId62"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slide" Target="slides/slide70.xml"/><Relationship Id="rId71"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90" Type="http://schemas.openxmlformats.org/officeDocument/2006/relationships/slide" Target="slides/slide81.xml"/><Relationship Id="rId91" Type="http://schemas.openxmlformats.org/officeDocument/2006/relationships/slide" Target="slides/slide82.xml"/><Relationship Id="rId92" Type="http://schemas.openxmlformats.org/officeDocument/2006/relationships/slide" Target="slides/slide83.xml"/><Relationship Id="rId93" Type="http://schemas.openxmlformats.org/officeDocument/2006/relationships/slide" Target="slides/slide84.xml"/><Relationship Id="rId94"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9" Type="http://schemas.openxmlformats.org/officeDocument/2006/relationships/slide" Target="slides/slide94.xml"/><Relationship Id="rId110" Type="http://schemas.openxmlformats.org/officeDocument/2006/relationships/slide" Target="slides/slide95.xml"/><Relationship Id="rId111" Type="http://schemas.openxmlformats.org/officeDocument/2006/relationships/slide" Target="slides/slide96.xml"/><Relationship Id="rId112" Type="http://schemas.openxmlformats.org/officeDocument/2006/relationships/slide" Target="slides/slide97.xml"/><Relationship Id="rId114" Type="http://schemas.openxmlformats.org/officeDocument/2006/relationships/slide" Target="slides/slide98.xml"/><Relationship Id="rId115" Type="http://schemas.openxmlformats.org/officeDocument/2006/relationships/slide" Target="slides/slide99.xml"/><Relationship Id="rId120" Type="http://schemas.openxmlformats.org/officeDocument/2006/relationships/slide" Target="slides/slide100.xml"/><Relationship Id="rId121" Type="http://schemas.openxmlformats.org/officeDocument/2006/relationships/slide" Target="slides/slide101.xml"/><Relationship Id="rId122" Type="http://schemas.openxmlformats.org/officeDocument/2006/relationships/slide" Target="slides/slide102.xml"/><Relationship Id="rId123" Type="http://schemas.openxmlformats.org/officeDocument/2006/relationships/slide" Target="slides/slide103.xml"/><Relationship Id="rId124" Type="http://schemas.openxmlformats.org/officeDocument/2006/relationships/slide" Target="slides/slide104.xml"/><Relationship Id="rId125" Type="http://schemas.openxmlformats.org/officeDocument/2006/relationships/slide" Target="slides/slide105.xml"/><Relationship Id="rId126" Type="http://schemas.openxmlformats.org/officeDocument/2006/relationships/slide" Target="slides/slide106.xml"/><Relationship Id="rId127" Type="http://schemas.openxmlformats.org/officeDocument/2006/relationships/slide" Target="slides/slide107.xml"/><Relationship Id="rId128" Type="http://schemas.openxmlformats.org/officeDocument/2006/relationships/slide" Target="slides/slide108.xml"/><Relationship Id="rId129" Type="http://schemas.openxmlformats.org/officeDocument/2006/relationships/slide" Target="slides/slide109.xml"/><Relationship Id="rId130" Type="http://schemas.openxmlformats.org/officeDocument/2006/relationships/slide" Target="slides/slide110.xml"/><Relationship Id="rId131" Type="http://schemas.openxmlformats.org/officeDocument/2006/relationships/slide" Target="slides/slide111.xml"/><Relationship Id="rId132" Type="http://schemas.openxmlformats.org/officeDocument/2006/relationships/slide" Target="slides/slide112.xml"/><Relationship Id="rId133" Type="http://schemas.openxmlformats.org/officeDocument/2006/relationships/slide" Target="slides/slide113.xml"/><Relationship Id="rId134" Type="http://schemas.openxmlformats.org/officeDocument/2006/relationships/slide" Target="slides/slide114.xml"/><Relationship Id="rId135" Type="http://schemas.openxmlformats.org/officeDocument/2006/relationships/slide" Target="slides/slide115.xml"/><Relationship Id="rId136" Type="http://schemas.openxmlformats.org/officeDocument/2006/relationships/slide" Target="slides/slide116.xml"/><Relationship Id="rId137" Type="http://schemas.openxmlformats.org/officeDocument/2006/relationships/slide" Target="slides/slide117.xml"/><Relationship Id="rId138" Type="http://schemas.openxmlformats.org/officeDocument/2006/relationships/slide" Target="slides/slide118.xml"/><Relationship Id="rId139" Type="http://schemas.openxmlformats.org/officeDocument/2006/relationships/slide" Target="slides/slide119.xml"/><Relationship Id="rId140" Type="http://schemas.openxmlformats.org/officeDocument/2006/relationships/slide" Target="slides/slide120.xml"/><Relationship Id="rId141" Type="http://schemas.openxmlformats.org/officeDocument/2006/relationships/slide" Target="slides/slide121.xml"/><Relationship Id="rId142" Type="http://schemas.openxmlformats.org/officeDocument/2006/relationships/slide" Target="slides/slide122.xml"/><Relationship Id="rId143" Type="http://schemas.openxmlformats.org/officeDocument/2006/relationships/slide" Target="slides/slide123.xml"/><Relationship Id="rId144" Type="http://schemas.openxmlformats.org/officeDocument/2006/relationships/slide" Target="slides/slide124.xml"/><Relationship Id="rId145" Type="http://schemas.openxmlformats.org/officeDocument/2006/relationships/slide" Target="slides/slide125.xml"/><Relationship Id="rId146" Type="http://schemas.openxmlformats.org/officeDocument/2006/relationships/slide" Target="slides/slide126.xml"/><Relationship Id="rId147" Type="http://schemas.openxmlformats.org/officeDocument/2006/relationships/slide" Target="slides/slide127.xml"/><Relationship Id="rId148" Type="http://schemas.openxmlformats.org/officeDocument/2006/relationships/slide" Target="slides/slide128.xml"/><Relationship Id="rId149" Type="http://schemas.openxmlformats.org/officeDocument/2006/relationships/slide" Target="slides/slide129.xml"/><Relationship Id="rId150" Type="http://schemas.openxmlformats.org/officeDocument/2006/relationships/slide" Target="slides/slide130.xml"/><Relationship Id="rId151" Type="http://schemas.openxmlformats.org/officeDocument/2006/relationships/slide" Target="slides/slide131.xml"/><Relationship Id="rId152" Type="http://schemas.openxmlformats.org/officeDocument/2006/relationships/slide" Target="slides/slide132.xml"/><Relationship Id="rId153" Type="http://schemas.openxmlformats.org/officeDocument/2006/relationships/slide" Target="slides/slide133.xml"/><Relationship Id="rId154" Type="http://schemas.openxmlformats.org/officeDocument/2006/relationships/slide" Target="slides/slide134.xml"/><Relationship Id="rId155" Type="http://schemas.openxmlformats.org/officeDocument/2006/relationships/slide" Target="slides/slide135.xml"/><Relationship Id="rId156" Type="http://schemas.openxmlformats.org/officeDocument/2006/relationships/slide" Target="slides/slide136.xml"/><Relationship Id="rId157" Type="http://schemas.openxmlformats.org/officeDocument/2006/relationships/slide" Target="slides/slide137.xml"/><Relationship Id="rId158" Type="http://schemas.openxmlformats.org/officeDocument/2006/relationships/slide" Target="slides/slide138.xml"/><Relationship Id="rId159" Type="http://schemas.openxmlformats.org/officeDocument/2006/relationships/slide" Target="slides/slide139.xml"/><Relationship Id="rId160" Type="http://schemas.openxmlformats.org/officeDocument/2006/relationships/slide" Target="slides/slide140.xml"/><Relationship Id="rId162" Type="http://schemas.openxmlformats.org/officeDocument/2006/relationships/slide" Target="slides/slide141.xml"/><Relationship Id="rId163" Type="http://schemas.openxmlformats.org/officeDocument/2006/relationships/slide" Target="slides/slide142.xml"/><Relationship Id="rId166" Type="http://schemas.openxmlformats.org/officeDocument/2006/relationships/slide" Target="slides/slide143.xml"/><Relationship Id="rId167" Type="http://schemas.openxmlformats.org/officeDocument/2006/relationships/slide" Target="slides/slide144.xml"/><Relationship Id="rId168" Type="http://schemas.openxmlformats.org/officeDocument/2006/relationships/slide" Target="slides/slide145.xml"/><Relationship Id="rId169" Type="http://schemas.openxmlformats.org/officeDocument/2006/relationships/slide" Target="slides/slide146.xml"/><Relationship Id="rId170" Type="http://schemas.openxmlformats.org/officeDocument/2006/relationships/slide" Target="slides/slide147.xml"/><Relationship Id="rId172" Type="http://schemas.openxmlformats.org/officeDocument/2006/relationships/slide" Target="slides/slide148.xml"/><Relationship Id="rId173" Type="http://schemas.openxmlformats.org/officeDocument/2006/relationships/slide" Target="slides/slide149.xml"/><Relationship Id="rId178" Type="http://schemas.openxmlformats.org/officeDocument/2006/relationships/slide" Target="slides/slide150.xml"/><Relationship Id="rId179" Type="http://schemas.openxmlformats.org/officeDocument/2006/relationships/slide" Target="slides/slide151.xml"/><Relationship Id="rId180" Type="http://schemas.openxmlformats.org/officeDocument/2006/relationships/slide" Target="slides/slide152.xml"/><Relationship Id="rId181" Type="http://schemas.openxmlformats.org/officeDocument/2006/relationships/slide" Target="slides/slide153.xml"/><Relationship Id="rId183" Type="http://schemas.openxmlformats.org/officeDocument/2006/relationships/slide" Target="slides/slide154.xml"/><Relationship Id="rId184" Type="http://schemas.openxmlformats.org/officeDocument/2006/relationships/slide" Target="slides/slide155.xml"/><Relationship Id="rId187" Type="http://schemas.openxmlformats.org/officeDocument/2006/relationships/slide" Target="slides/slide156.xml"/><Relationship Id="rId188" Type="http://schemas.openxmlformats.org/officeDocument/2006/relationships/slide" Target="slides/slide157.xml"/><Relationship Id="rId189" Type="http://schemas.openxmlformats.org/officeDocument/2006/relationships/slide" Target="slides/slide158.xml"/><Relationship Id="rId190" Type="http://schemas.openxmlformats.org/officeDocument/2006/relationships/slide" Target="slides/slide159.xml"/><Relationship Id="rId193" Type="http://schemas.openxmlformats.org/officeDocument/2006/relationships/slide" Target="slides/slide160.xml"/><Relationship Id="rId194" Type="http://schemas.openxmlformats.org/officeDocument/2006/relationships/slide" Target="slides/slide161.xml"/><Relationship Id="rId195" Type="http://schemas.openxmlformats.org/officeDocument/2006/relationships/slide" Target="slides/slide162.xml"/><Relationship Id="rId200" Type="http://schemas.openxmlformats.org/officeDocument/2006/relationships/slide" Target="slides/slide163.xml"/><Relationship Id="rId201" Type="http://schemas.openxmlformats.org/officeDocument/2006/relationships/slide" Target="slides/slide164.xml"/><Relationship Id="rId202" Type="http://schemas.openxmlformats.org/officeDocument/2006/relationships/slide" Target="slides/slide165.xml"/><Relationship Id="rId203" Type="http://schemas.openxmlformats.org/officeDocument/2006/relationships/slide" Target="slides/slide166.xml"/><Relationship Id="rId205" Type="http://schemas.openxmlformats.org/officeDocument/2006/relationships/slide" Target="slides/slide167.xml"/><Relationship Id="rId206" Type="http://schemas.openxmlformats.org/officeDocument/2006/relationships/slide" Target="slides/slide168.xml"/><Relationship Id="rId209" Type="http://schemas.openxmlformats.org/officeDocument/2006/relationships/slide" Target="slides/slide169.xml"/><Relationship Id="rId210" Type="http://schemas.openxmlformats.org/officeDocument/2006/relationships/slide" Target="slides/slide170.xml"/><Relationship Id="rId211" Type="http://schemas.openxmlformats.org/officeDocument/2006/relationships/slide" Target="slides/slide171.xml"/><Relationship Id="rId212" Type="http://schemas.openxmlformats.org/officeDocument/2006/relationships/slide" Target="slides/slide172.xml"/><Relationship Id="rId213" Type="http://schemas.openxmlformats.org/officeDocument/2006/relationships/slide" Target="slides/slide173.xml"/><Relationship Id="rId215" Type="http://schemas.openxmlformats.org/officeDocument/2006/relationships/slide" Target="slides/slide174.xml"/><Relationship Id="rId216" Type="http://schemas.openxmlformats.org/officeDocument/2006/relationships/slide" Target="slides/slide175.xml"/><Relationship Id="rId219" Type="http://schemas.openxmlformats.org/officeDocument/2006/relationships/slide" Target="slides/slide176.xml"/><Relationship Id="rId220" Type="http://schemas.openxmlformats.org/officeDocument/2006/relationships/slide" Target="slides/slide177.xml"/><Relationship Id="rId221" Type="http://schemas.openxmlformats.org/officeDocument/2006/relationships/slide" Target="slides/slide178.xml"/><Relationship Id="rId222" Type="http://schemas.openxmlformats.org/officeDocument/2006/relationships/slide" Target="slides/slide179.xml"/><Relationship Id="rId224" Type="http://schemas.openxmlformats.org/officeDocument/2006/relationships/slide" Target="slides/slide180.xml"/><Relationship Id="rId225" Type="http://schemas.openxmlformats.org/officeDocument/2006/relationships/slide" Target="slides/slide181.xml"/><Relationship Id="rId228" Type="http://schemas.openxmlformats.org/officeDocument/2006/relationships/slide" Target="slides/slide182.xml"/><Relationship Id="rId229" Type="http://schemas.openxmlformats.org/officeDocument/2006/relationships/slide" Target="slides/slide183.xml"/><Relationship Id="rId230" Type="http://schemas.openxmlformats.org/officeDocument/2006/relationships/slide" Target="slides/slide184.xml"/><Relationship Id="rId231" Type="http://schemas.openxmlformats.org/officeDocument/2006/relationships/slide" Target="slides/slide185.xml"/><Relationship Id="rId233" Type="http://schemas.openxmlformats.org/officeDocument/2006/relationships/slide" Target="slides/slide186.xml"/><Relationship Id="rId234" Type="http://schemas.openxmlformats.org/officeDocument/2006/relationships/slide" Target="slides/slide187.xml"/><Relationship Id="rId239" Type="http://schemas.openxmlformats.org/officeDocument/2006/relationships/slide" Target="slides/slide188.xml"/><Relationship Id="rId240" Type="http://schemas.openxmlformats.org/officeDocument/2006/relationships/slide" Target="slides/slide189.xml"/><Relationship Id="rId241" Type="http://schemas.openxmlformats.org/officeDocument/2006/relationships/slide" Target="slides/slide190.xml"/><Relationship Id="rId242" Type="http://schemas.openxmlformats.org/officeDocument/2006/relationships/slide" Target="slides/slide191.xml"/><Relationship Id="rId243" Type="http://schemas.openxmlformats.org/officeDocument/2006/relationships/slide" Target="slides/slide192.xml"/><Relationship Id="rId244" Type="http://schemas.openxmlformats.org/officeDocument/2006/relationships/slide" Target="slides/slide193.xml"/><Relationship Id="rId245" Type="http://schemas.openxmlformats.org/officeDocument/2006/relationships/slide" Target="slides/slide194.xml"/><Relationship Id="rId246" Type="http://schemas.openxmlformats.org/officeDocument/2006/relationships/slide" Target="slides/slide195.xml"/><Relationship Id="rId247" Type="http://schemas.openxmlformats.org/officeDocument/2006/relationships/slide" Target="slides/slide196.xml"/><Relationship Id="rId248" Type="http://schemas.openxmlformats.org/officeDocument/2006/relationships/slide" Target="slides/slide197.xml"/><Relationship Id="rId249" Type="http://schemas.openxmlformats.org/officeDocument/2006/relationships/slide" Target="slides/slide198.xml"/><Relationship Id="rId250" Type="http://schemas.openxmlformats.org/officeDocument/2006/relationships/slide" Target="slides/slide199.xml"/><Relationship Id="rId251" Type="http://schemas.openxmlformats.org/officeDocument/2006/relationships/slide" Target="slides/slide200.xml"/><Relationship Id="rId252" Type="http://schemas.openxmlformats.org/officeDocument/2006/relationships/slide" Target="slides/slide201.xml"/><Relationship Id="rId253" Type="http://schemas.openxmlformats.org/officeDocument/2006/relationships/slide" Target="slides/slide202.xml"/><Relationship Id="rId254" Type="http://schemas.openxmlformats.org/officeDocument/2006/relationships/slide" Target="slides/slide203.xml"/><Relationship Id="rId255" Type="http://schemas.openxmlformats.org/officeDocument/2006/relationships/slide" Target="slides/slide204.xml"/><Relationship Id="rId256" Type="http://schemas.openxmlformats.org/officeDocument/2006/relationships/slide" Target="slides/slide205.xml"/><Relationship Id="rId257" Type="http://schemas.openxmlformats.org/officeDocument/2006/relationships/slide" Target="slides/slide206.xml"/><Relationship Id="rId258" Type="http://schemas.openxmlformats.org/officeDocument/2006/relationships/slide" Target="slides/slide207.xml"/><Relationship Id="rId259" Type="http://schemas.openxmlformats.org/officeDocument/2006/relationships/slide" Target="slides/slide208.xml"/><Relationship Id="rId260" Type="http://schemas.openxmlformats.org/officeDocument/2006/relationships/slide" Target="slides/slide209.xml"/><Relationship Id="rId261" Type="http://schemas.openxmlformats.org/officeDocument/2006/relationships/slide" Target="slides/slide210.xml"/><Relationship Id="rId262" Type="http://schemas.openxmlformats.org/officeDocument/2006/relationships/slide" Target="slides/slide211.xml"/><Relationship Id="rId263" Type="http://schemas.openxmlformats.org/officeDocument/2006/relationships/slide" Target="slides/slide212.xml"/><Relationship Id="rId264" Type="http://schemas.openxmlformats.org/officeDocument/2006/relationships/slide" Target="slides/slide213.xml"/><Relationship Id="rId265" Type="http://schemas.openxmlformats.org/officeDocument/2006/relationships/slide" Target="slides/slide214.xml"/><Relationship Id="rId267" Type="http://schemas.openxmlformats.org/officeDocument/2006/relationships/slide" Target="slides/slide215.xml"/><Relationship Id="rId268" Type="http://schemas.openxmlformats.org/officeDocument/2006/relationships/slide" Target="slides/slide216.xml"/><Relationship Id="rId270" Type="http://schemas.openxmlformats.org/officeDocument/2006/relationships/slide" Target="slides/slide217.xml"/><Relationship Id="rId273" Type="http://schemas.openxmlformats.org/officeDocument/2006/relationships/slide" Target="slides/slide218.xml"/><Relationship Id="rId274" Type="http://schemas.openxmlformats.org/officeDocument/2006/relationships/slide" Target="slides/slide219.xml"/><Relationship Id="rId275" Type="http://schemas.openxmlformats.org/officeDocument/2006/relationships/slide" Target="slides/slide220.xml"/><Relationship Id="rId277" Type="http://schemas.openxmlformats.org/officeDocument/2006/relationships/slide" Target="slides/slide221.xml"/><Relationship Id="rId278" Type="http://schemas.openxmlformats.org/officeDocument/2006/relationships/slide" Target="slides/slide222.xml"/><Relationship Id="rId280" Type="http://schemas.openxmlformats.org/officeDocument/2006/relationships/slide" Target="slides/slide223.xml"/><Relationship Id="rId283" Type="http://schemas.openxmlformats.org/officeDocument/2006/relationships/slide" Target="slides/slide224.xml"/><Relationship Id="rId284" Type="http://schemas.openxmlformats.org/officeDocument/2006/relationships/slide" Target="slides/slide225.xml"/><Relationship Id="rId285" Type="http://schemas.openxmlformats.org/officeDocument/2006/relationships/slide" Target="slides/slide226.xml"/><Relationship Id="rId287" Type="http://schemas.openxmlformats.org/officeDocument/2006/relationships/slide" Target="slides/slide227.xml"/><Relationship Id="rId288" Type="http://schemas.openxmlformats.org/officeDocument/2006/relationships/slide" Target="slides/slide228.xml"/><Relationship Id="rId289" Type="http://schemas.openxmlformats.org/officeDocument/2006/relationships/slide" Target="slides/slide229.xml"/><Relationship Id="rId291" Type="http://schemas.openxmlformats.org/officeDocument/2006/relationships/slide" Target="slides/slide230.xml"/><Relationship Id="rId292" Type="http://schemas.openxmlformats.org/officeDocument/2006/relationships/slide" Target="slides/slide231.xml"/><Relationship Id="rId293" Type="http://schemas.openxmlformats.org/officeDocument/2006/relationships/slide" Target="slides/slide232.xml"/><Relationship Id="rId295" Type="http://schemas.openxmlformats.org/officeDocument/2006/relationships/slide" Target="slides/slide233.xml"/><Relationship Id="rId296" Type="http://schemas.openxmlformats.org/officeDocument/2006/relationships/slide" Target="slides/slide234.xml"/><Relationship Id="rId297" Type="http://schemas.openxmlformats.org/officeDocument/2006/relationships/slide" Target="slides/slide290.xml"/><Relationship Id="rId298" Type="http://schemas.openxmlformats.org/officeDocument/2006/relationships/slide" Target="slides/slide235.xml"/><Relationship Id="rId301" Type="http://schemas.openxmlformats.org/officeDocument/2006/relationships/slide" Target="slides/slide236.xml"/><Relationship Id="rId302" Type="http://schemas.openxmlformats.org/officeDocument/2006/relationships/slide" Target="slides/slide237.xml"/><Relationship Id="rId303" Type="http://schemas.openxmlformats.org/officeDocument/2006/relationships/slide" Target="slides/slide238.xml"/><Relationship Id="rId304" Type="http://schemas.openxmlformats.org/officeDocument/2006/relationships/slide" Target="slides/slide239.xml"/><Relationship Id="rId305" Type="http://schemas.openxmlformats.org/officeDocument/2006/relationships/slide" Target="slides/slide240.xml"/><Relationship Id="rId306" Type="http://schemas.openxmlformats.org/officeDocument/2006/relationships/slide" Target="slides/slide241.xml"/><Relationship Id="rId307" Type="http://schemas.openxmlformats.org/officeDocument/2006/relationships/slide" Target="slides/slide242.xml"/><Relationship Id="rId308" Type="http://schemas.openxmlformats.org/officeDocument/2006/relationships/slide" Target="slides/slide243.xml"/><Relationship Id="rId309" Type="http://schemas.openxmlformats.org/officeDocument/2006/relationships/slide" Target="slides/slide244.xml"/><Relationship Id="rId310" Type="http://schemas.openxmlformats.org/officeDocument/2006/relationships/slide" Target="slides/slide245.xml"/><Relationship Id="rId311" Type="http://schemas.openxmlformats.org/officeDocument/2006/relationships/slide" Target="slides/slide246.xml"/><Relationship Id="rId312" Type="http://schemas.openxmlformats.org/officeDocument/2006/relationships/slide" Target="slides/slide247.xml"/><Relationship Id="rId313" Type="http://schemas.openxmlformats.org/officeDocument/2006/relationships/slide" Target="slides/slide248.xml"/><Relationship Id="rId314" Type="http://schemas.openxmlformats.org/officeDocument/2006/relationships/slide" Target="slides/slide249.xml"/><Relationship Id="rId315" Type="http://schemas.openxmlformats.org/officeDocument/2006/relationships/slide" Target="slides/slide250.xml"/><Relationship Id="rId316" Type="http://schemas.openxmlformats.org/officeDocument/2006/relationships/slide" Target="slides/slide251.xml"/><Relationship Id="rId317" Type="http://schemas.openxmlformats.org/officeDocument/2006/relationships/slide" Target="slides/slide252.xml"/><Relationship Id="rId318" Type="http://schemas.openxmlformats.org/officeDocument/2006/relationships/slide" Target="slides/slide253.xml"/><Relationship Id="rId319" Type="http://schemas.openxmlformats.org/officeDocument/2006/relationships/slide" Target="slides/slide254.xml"/><Relationship Id="rId320" Type="http://schemas.openxmlformats.org/officeDocument/2006/relationships/slide" Target="slides/slide255.xml"/><Relationship Id="rId321" Type="http://schemas.openxmlformats.org/officeDocument/2006/relationships/slide" Target="slides/slide256.xml"/><Relationship Id="rId322" Type="http://schemas.openxmlformats.org/officeDocument/2006/relationships/slide" Target="slides/slide257.xml"/><Relationship Id="rId323" Type="http://schemas.openxmlformats.org/officeDocument/2006/relationships/slide" Target="slides/slide258.xml"/><Relationship Id="rId324" Type="http://schemas.openxmlformats.org/officeDocument/2006/relationships/slide" Target="slides/slide259.xml"/><Relationship Id="rId325" Type="http://schemas.openxmlformats.org/officeDocument/2006/relationships/slide" Target="slides/slide260.xml"/><Relationship Id="rId326" Type="http://schemas.openxmlformats.org/officeDocument/2006/relationships/slide" Target="slides/slide261.xml"/><Relationship Id="rId327" Type="http://schemas.openxmlformats.org/officeDocument/2006/relationships/slide" Target="slides/slide262.xml"/><Relationship Id="rId328" Type="http://schemas.openxmlformats.org/officeDocument/2006/relationships/slide" Target="slides/slide263.xml"/><Relationship Id="rId329" Type="http://schemas.openxmlformats.org/officeDocument/2006/relationships/slide" Target="slides/slide276.xml"/><Relationship Id="rId330" Type="http://schemas.openxmlformats.org/officeDocument/2006/relationships/slide" Target="slides/slide277.xml"/><Relationship Id="rId331" Type="http://schemas.openxmlformats.org/officeDocument/2006/relationships/slide" Target="slides/slide278.xml"/><Relationship Id="rId332" Type="http://schemas.openxmlformats.org/officeDocument/2006/relationships/slide" Target="slides/slide279.xml"/><Relationship Id="rId333" Type="http://schemas.openxmlformats.org/officeDocument/2006/relationships/slide" Target="slides/slide280.xml"/><Relationship Id="rId334" Type="http://schemas.openxmlformats.org/officeDocument/2006/relationships/slide" Target="slides/slide281.xml"/><Relationship Id="rId335" Type="http://schemas.openxmlformats.org/officeDocument/2006/relationships/slide" Target="slides/slide282.xml"/><Relationship Id="rId336" Type="http://schemas.openxmlformats.org/officeDocument/2006/relationships/slide" Target="slides/slide283.xml"/><Relationship Id="rId337" Type="http://schemas.openxmlformats.org/officeDocument/2006/relationships/slide" Target="slides/slide284.xml"/><Relationship Id="rId338" Type="http://schemas.openxmlformats.org/officeDocument/2006/relationships/slide" Target="slides/slide285.xml"/><Relationship Id="rId339" Type="http://schemas.openxmlformats.org/officeDocument/2006/relationships/slide" Target="slides/slide286.xml"/><Relationship Id="rId340" Type="http://schemas.openxmlformats.org/officeDocument/2006/relationships/slide" Target="slides/slide287.xml"/><Relationship Id="rId341" Type="http://schemas.openxmlformats.org/officeDocument/2006/relationships/slide" Target="slides/slide288.xml"/><Relationship Id="rId342" Type="http://schemas.openxmlformats.org/officeDocument/2006/relationships/slide" Target="slides/slide289.xml"/><Relationship Id="rId343" Type="http://schemas.openxmlformats.org/officeDocument/2006/relationships/slide" Target="slides/slide264.xml"/><Relationship Id="rId344" Type="http://schemas.openxmlformats.org/officeDocument/2006/relationships/slide" Target="slides/slide265.xml"/><Relationship Id="rId345" Type="http://schemas.openxmlformats.org/officeDocument/2006/relationships/slide" Target="slides/slide266.xml"/><Relationship Id="rId346" Type="http://schemas.openxmlformats.org/officeDocument/2006/relationships/slide" Target="slides/slide267.xml"/><Relationship Id="rId347" Type="http://schemas.openxmlformats.org/officeDocument/2006/relationships/slide" Target="slides/slide268.xml"/><Relationship Id="rId348" Type="http://schemas.openxmlformats.org/officeDocument/2006/relationships/slide" Target="slides/slide269.xml"/><Relationship Id="rId349" Type="http://schemas.openxmlformats.org/officeDocument/2006/relationships/slide" Target="slides/slide270.xml"/><Relationship Id="rId350" Type="http://schemas.openxmlformats.org/officeDocument/2006/relationships/slide" Target="slides/slide271.xml"/><Relationship Id="rId351" Type="http://schemas.openxmlformats.org/officeDocument/2006/relationships/slide" Target="slides/slide272.xml"/><Relationship Id="rId352" Type="http://schemas.openxmlformats.org/officeDocument/2006/relationships/slide" Target="slides/slide273.xml"/><Relationship Id="rId353" Type="http://schemas.openxmlformats.org/officeDocument/2006/relationships/slide" Target="slides/slide274.xml"/><Relationship Id="rId354" Type="http://schemas.openxmlformats.org/officeDocument/2006/relationships/slide" Target="slides/slide275.xml"/><Relationship Id="rId365" Type="http://schemas.openxmlformats.org/officeDocument/2006/relationships/slide" Target="slides/slide11.xml"/><Relationship Id="rId366" Type="http://schemas.openxmlformats.org/officeDocument/2006/relationships/slide" Target="slides/slide12.xml"/><Relationship Id="rId367" Type="http://schemas.openxmlformats.org/officeDocument/2006/relationships/slide" Target="slides/slide13.xml"/><Relationship Id="rId368" Type="http://schemas.openxmlformats.org/officeDocument/2006/relationships/slide" Target="slides/slide14.xml"/><Relationship Id="rId369" Type="http://schemas.openxmlformats.org/officeDocument/2006/relationships/slide" Target="slides/slide15.xml"/><Relationship Id="rId370" Type="http://schemas.openxmlformats.org/officeDocument/2006/relationships/slide" Target="slides/slide16.xml"/><Relationship Id="rId371" Type="http://schemas.openxmlformats.org/officeDocument/2006/relationships/slide" Target="slides/slide17.xml"/><Relationship Id="rId372" Type="http://schemas.openxmlformats.org/officeDocument/2006/relationships/slide" Target="slides/slide18.xml"/><Relationship Id="rId373" Type="http://schemas.openxmlformats.org/officeDocument/2006/relationships/slide" Target="slides/slide10.xml"/><Relationship Id="rId374" Type="http://schemas.openxmlformats.org/officeDocument/2006/relationships/slide" Target="slides/slide20.xml"/><Relationship Id="rId375" Type="http://schemas.openxmlformats.org/officeDocument/2006/relationships/slide" Target="slides/slide21.xml"/><Relationship Id="rId376" Type="http://schemas.openxmlformats.org/officeDocument/2006/relationships/slide" Target="slides/slide22.xml"/><Relationship Id="rId377" Type="http://schemas.openxmlformats.org/officeDocument/2006/relationships/slide" Target="slides/slide23.xml"/><Relationship Id="rId378" Type="http://schemas.openxmlformats.org/officeDocument/2006/relationships/slide" Target="slides/slide24.xml"/><Relationship Id="rId379" Type="http://schemas.openxmlformats.org/officeDocument/2006/relationships/slide" Target="slides/slide25.xml"/><Relationship Id="rId380" Type="http://schemas.openxmlformats.org/officeDocument/2006/relationships/slide" Target="slides/slide26.xml"/><Relationship Id="rId381" Type="http://schemas.openxmlformats.org/officeDocument/2006/relationships/slide" Target="slides/slide27.xml"/><Relationship Id="rId382" Type="http://schemas.openxmlformats.org/officeDocument/2006/relationships/slide" Target="slides/slide19.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s>
</file>

<file path=ppt/charts/_rels/chart7.xml.rels><?xml version='1.0' encoding='UTF-8' standalone='yes'?>
<Relationships xmlns="http://schemas.openxmlformats.org/package/2006/relationships"><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44.png"/></Relationships>
</file>

<file path=ppt/charts/_rels/chart8.xml.rels><?xml version='1.0' encoding='UTF-8' standalone='yes'?>
<Relationships xmlns="http://schemas.openxmlformats.org/package/2006/relationships"><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54.png"/></Relationships>
</file>

<file path=ppt/charts/_rels/chart9.xml.rels><?xml version='1.0' encoding='UTF-8' standalone='yes'?>
<Relationships xmlns="http://schemas.openxmlformats.org/package/2006/relationships"><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s>
</file>

<file path=ppt/charts/_rels/chart11.xml.rels><?xml version='1.0' encoding='UTF-8' standalone='yes'?>
<Relationships xmlns="http://schemas.openxmlformats.org/package/2006/relationships"><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83.png"/><Relationship Id="rId10" Type="http://schemas.openxmlformats.org/officeDocument/2006/relationships/image" Target="../media/image84.png"/><Relationship Id="rId11" Type="http://schemas.openxmlformats.org/officeDocument/2006/relationships/image" Target="../media/image85.png"/><Relationship Id="rId12" Type="http://schemas.openxmlformats.org/officeDocument/2006/relationships/image" Target="../media/image86.png"/></Relationships>
</file>

<file path=ppt/charts/_rels/chart12.xml.rels><?xml version='1.0' encoding='UTF-8' standalone='yes'?>
<Relationships xmlns="http://schemas.openxmlformats.org/package/2006/relationships"><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 Id="rId10" Type="http://schemas.openxmlformats.org/officeDocument/2006/relationships/image" Target="../media/image98.png"/><Relationship Id="rId11" Type="http://schemas.openxmlformats.org/officeDocument/2006/relationships/image" Target="../media/image99.png"/><Relationship Id="rId12" Type="http://schemas.openxmlformats.org/officeDocument/2006/relationships/image" Target="../media/image100.png"/></Relationships>
</file>

<file path=ppt/charts/_rels/chart13.xml.rels><?xml version='1.0' encoding='UTF-8' standalone='yes'?>
<Relationships xmlns="http://schemas.openxmlformats.org/package/2006/relationships"><Relationship Id="rId2" Type="http://schemas.openxmlformats.org/officeDocument/2006/relationships/image" Target="../media/image101.png"/></Relationships>
</file>

<file path=ppt/charts/_rels/chart14.xml.rels><?xml version='1.0' encoding='UTF-8' standalone='yes'?>
<Relationships xmlns="http://schemas.openxmlformats.org/package/2006/relationships"><Relationship Id="rId2" Type="http://schemas.openxmlformats.org/officeDocument/2006/relationships/image" Target="../media/image102.png"/></Relationships>
</file>

<file path=ppt/charts/_rels/chart15.xml.rels><?xml version='1.0' encoding='UTF-8' standalone='yes'?>
<Relationships xmlns="http://schemas.openxmlformats.org/package/2006/relationships"><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 Id="rId13" Type="http://schemas.openxmlformats.org/officeDocument/2006/relationships/image" Target="../media/image121.png"/><Relationship Id="rId14" Type="http://schemas.openxmlformats.org/officeDocument/2006/relationships/image" Target="../media/image122.png"/><Relationship Id="rId15" Type="http://schemas.openxmlformats.org/officeDocument/2006/relationships/image" Target="../media/image123.png"/><Relationship Id="rId16" Type="http://schemas.openxmlformats.org/officeDocument/2006/relationships/image" Target="../media/image124.png"/><Relationship Id="rId17" Type="http://schemas.openxmlformats.org/officeDocument/2006/relationships/image" Target="../media/image125.png"/><Relationship Id="rId18" Type="http://schemas.openxmlformats.org/officeDocument/2006/relationships/image" Target="../media/image126.png"/><Relationship Id="rId19" Type="http://schemas.openxmlformats.org/officeDocument/2006/relationships/image" Target="../media/image127.png"/></Relationships>
</file>

<file path=ppt/charts/_rels/chart20.xml.rels><?xml version='1.0' encoding='UTF-8' standalone='yes'?>
<Relationships xmlns="http://schemas.openxmlformats.org/package/2006/relationships"><Relationship Id="rId2" Type="http://schemas.openxmlformats.org/officeDocument/2006/relationships/image" Target="../media/image128.png"/><Relationship Id="rId3" Type="http://schemas.openxmlformats.org/officeDocument/2006/relationships/image" Target="../media/image129.png"/><Relationship Id="rId4" Type="http://schemas.openxmlformats.org/officeDocument/2006/relationships/image" Target="../media/image130.png"/><Relationship Id="rId5"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 Id="rId10" Type="http://schemas.openxmlformats.org/officeDocument/2006/relationships/image" Target="../media/image136.png"/></Relationships>
</file>

<file path=ppt/charts/_rels/chart21.xml.rels><?xml version='1.0' encoding='UTF-8' standalone='yes'?>
<Relationships xmlns="http://schemas.openxmlformats.org/package/2006/relationships"><Relationship Id="rId2" Type="http://schemas.openxmlformats.org/officeDocument/2006/relationships/image" Target="../media/image150.png"/><Relationship Id="rId3" Type="http://schemas.openxmlformats.org/officeDocument/2006/relationships/image" Target="../media/image151.png"/><Relationship Id="rId4" Type="http://schemas.openxmlformats.org/officeDocument/2006/relationships/image" Target="../media/image152.png"/><Relationship Id="rId5" Type="http://schemas.openxmlformats.org/officeDocument/2006/relationships/image" Target="../media/image153.png"/><Relationship Id="rId6" Type="http://schemas.openxmlformats.org/officeDocument/2006/relationships/image" Target="../media/image154.png"/><Relationship Id="rId7" Type="http://schemas.openxmlformats.org/officeDocument/2006/relationships/image" Target="../media/image155.png"/><Relationship Id="rId8" Type="http://schemas.openxmlformats.org/officeDocument/2006/relationships/image" Target="../media/image156.png"/><Relationship Id="rId9" Type="http://schemas.openxmlformats.org/officeDocument/2006/relationships/image" Target="../media/image157.png"/><Relationship Id="rId10" Type="http://schemas.openxmlformats.org/officeDocument/2006/relationships/image" Target="../media/image158.png"/><Relationship Id="rId11" Type="http://schemas.openxmlformats.org/officeDocument/2006/relationships/image" Target="../media/image159.png"/><Relationship Id="rId12" Type="http://schemas.openxmlformats.org/officeDocument/2006/relationships/image" Target="../media/image160.png"/><Relationship Id="rId13" Type="http://schemas.openxmlformats.org/officeDocument/2006/relationships/image" Target="../media/image161.png"/><Relationship Id="rId14" Type="http://schemas.openxmlformats.org/officeDocument/2006/relationships/image" Target="../media/image162.png"/><Relationship Id="rId15" Type="http://schemas.openxmlformats.org/officeDocument/2006/relationships/image" Target="../media/image163.png"/><Relationship Id="rId16" Type="http://schemas.openxmlformats.org/officeDocument/2006/relationships/image" Target="../media/image164.png"/><Relationship Id="rId17" Type="http://schemas.openxmlformats.org/officeDocument/2006/relationships/image" Target="../media/image165.png"/><Relationship Id="rId18" Type="http://schemas.openxmlformats.org/officeDocument/2006/relationships/image" Target="../media/image166.png"/><Relationship Id="rId19" Type="http://schemas.openxmlformats.org/officeDocument/2006/relationships/image" Target="../media/image167.png"/><Relationship Id="rId20" Type="http://schemas.openxmlformats.org/officeDocument/2006/relationships/image" Target="../media/image168.png"/><Relationship Id="rId21" Type="http://schemas.openxmlformats.org/officeDocument/2006/relationships/image" Target="../media/image169.png"/><Relationship Id="rId22" Type="http://schemas.openxmlformats.org/officeDocument/2006/relationships/image" Target="../media/image170.png"/><Relationship Id="rId23" Type="http://schemas.openxmlformats.org/officeDocument/2006/relationships/image" Target="../media/image171.png"/><Relationship Id="rId24" Type="http://schemas.openxmlformats.org/officeDocument/2006/relationships/image" Target="../media/image172.png"/><Relationship Id="rId25" Type="http://schemas.openxmlformats.org/officeDocument/2006/relationships/image" Target="../media/image173.png"/><Relationship Id="rId26" Type="http://schemas.openxmlformats.org/officeDocument/2006/relationships/image" Target="../media/image174.png"/><Relationship Id="rId27" Type="http://schemas.openxmlformats.org/officeDocument/2006/relationships/image" Target="../media/image175.png"/><Relationship Id="rId28" Type="http://schemas.openxmlformats.org/officeDocument/2006/relationships/image" Target="../media/image176.png"/><Relationship Id="rId29" Type="http://schemas.openxmlformats.org/officeDocument/2006/relationships/image" Target="../media/image177.png"/></Relationships>
</file>

<file path=ppt/charts/_rels/chart28.xml.rels><?xml version='1.0' encoding='UTF-8' standalone='yes'?>
<Relationships xmlns="http://schemas.openxmlformats.org/package/2006/relationships"><Relationship Id="rId2" Type="http://schemas.openxmlformats.org/officeDocument/2006/relationships/image" Target="../media/image178.png"/><Relationship Id="rId3" Type="http://schemas.openxmlformats.org/officeDocument/2006/relationships/image" Target="../media/image179.png"/><Relationship Id="rId4" Type="http://schemas.openxmlformats.org/officeDocument/2006/relationships/image" Target="../media/image180.png"/><Relationship Id="rId5" Type="http://schemas.openxmlformats.org/officeDocument/2006/relationships/image" Target="../media/image181.png"/><Relationship Id="rId6" Type="http://schemas.openxmlformats.org/officeDocument/2006/relationships/image" Target="../media/image182.png"/><Relationship Id="rId7" Type="http://schemas.openxmlformats.org/officeDocument/2006/relationships/image" Target="../media/image183.png"/><Relationship Id="rId8" Type="http://schemas.openxmlformats.org/officeDocument/2006/relationships/image" Target="../media/image184.png"/><Relationship Id="rId9" Type="http://schemas.openxmlformats.org/officeDocument/2006/relationships/image" Target="../media/image185.png"/><Relationship Id="rId10" Type="http://schemas.openxmlformats.org/officeDocument/2006/relationships/image" Target="../media/image186.png"/><Relationship Id="rId11" Type="http://schemas.openxmlformats.org/officeDocument/2006/relationships/image" Target="../media/image187.png"/><Relationship Id="rId12" Type="http://schemas.openxmlformats.org/officeDocument/2006/relationships/image" Target="../media/image188.png"/><Relationship Id="rId13" Type="http://schemas.openxmlformats.org/officeDocument/2006/relationships/image" Target="../media/image189.png"/><Relationship Id="rId14" Type="http://schemas.openxmlformats.org/officeDocument/2006/relationships/image" Target="../media/image190.png"/><Relationship Id="rId15" Type="http://schemas.openxmlformats.org/officeDocument/2006/relationships/image" Target="../media/image191.png"/><Relationship Id="rId16" Type="http://schemas.openxmlformats.org/officeDocument/2006/relationships/image" Target="../media/image192.png"/></Relationships>
</file>

<file path=ppt/charts/_rels/chart29.xml.rels><?xml version='1.0' encoding='UTF-8' standalone='yes'?>
<Relationships xmlns="http://schemas.openxmlformats.org/package/2006/relationships"><Relationship Id="rId2" Type="http://schemas.openxmlformats.org/officeDocument/2006/relationships/image" Target="../media/image205.png"/><Relationship Id="rId3" Type="http://schemas.openxmlformats.org/officeDocument/2006/relationships/image" Target="../media/image206.png"/><Relationship Id="rId4" Type="http://schemas.openxmlformats.org/officeDocument/2006/relationships/image" Target="../media/image207.png"/><Relationship Id="rId5" Type="http://schemas.openxmlformats.org/officeDocument/2006/relationships/image" Target="../media/image208.png"/><Relationship Id="rId6" Type="http://schemas.openxmlformats.org/officeDocument/2006/relationships/image" Target="../media/image209.png"/><Relationship Id="rId7" Type="http://schemas.openxmlformats.org/officeDocument/2006/relationships/image" Target="../media/image210.png"/><Relationship Id="rId8" Type="http://schemas.openxmlformats.org/officeDocument/2006/relationships/image" Target="../media/image211.png"/><Relationship Id="rId9" Type="http://schemas.openxmlformats.org/officeDocument/2006/relationships/image" Target="../media/image212.png"/><Relationship Id="rId10" Type="http://schemas.openxmlformats.org/officeDocument/2006/relationships/image" Target="../media/image213.png"/><Relationship Id="rId11" Type="http://schemas.openxmlformats.org/officeDocument/2006/relationships/image" Target="../media/image214.png"/><Relationship Id="rId12" Type="http://schemas.openxmlformats.org/officeDocument/2006/relationships/image" Target="../media/image215.png"/><Relationship Id="rId13" Type="http://schemas.openxmlformats.org/officeDocument/2006/relationships/image" Target="../media/image216.png"/><Relationship Id="rId14" Type="http://schemas.openxmlformats.org/officeDocument/2006/relationships/image" Target="../media/image217.png"/><Relationship Id="rId15" Type="http://schemas.openxmlformats.org/officeDocument/2006/relationships/image" Target="../media/image218.png"/><Relationship Id="rId16" Type="http://schemas.openxmlformats.org/officeDocument/2006/relationships/image" Target="../media/image219.png"/><Relationship Id="rId17" Type="http://schemas.openxmlformats.org/officeDocument/2006/relationships/image" Target="../media/image220.png"/><Relationship Id="rId18" Type="http://schemas.openxmlformats.org/officeDocument/2006/relationships/image" Target="../media/image221.png"/><Relationship Id="rId19" Type="http://schemas.openxmlformats.org/officeDocument/2006/relationships/image" Target="../media/image222.png"/><Relationship Id="rId20" Type="http://schemas.openxmlformats.org/officeDocument/2006/relationships/image" Target="../media/image223.png"/><Relationship Id="rId21" Type="http://schemas.openxmlformats.org/officeDocument/2006/relationships/image" Target="../media/image224.png"/><Relationship Id="rId22" Type="http://schemas.openxmlformats.org/officeDocument/2006/relationships/image" Target="../media/image225.png"/></Relationships>
</file>

<file path=ppt/charts/_rels/chart35.xml.rels><?xml version='1.0' encoding='UTF-8' standalone='yes'?>
<Relationships xmlns="http://schemas.openxmlformats.org/package/2006/relationships"><Relationship Id="rId2" Type="http://schemas.openxmlformats.org/officeDocument/2006/relationships/image" Target="../media/image226.png"/><Relationship Id="rId3" Type="http://schemas.openxmlformats.org/officeDocument/2006/relationships/image" Target="../media/image227.png"/><Relationship Id="rId4" Type="http://schemas.openxmlformats.org/officeDocument/2006/relationships/image" Target="../media/image228.png"/><Relationship Id="rId5" Type="http://schemas.openxmlformats.org/officeDocument/2006/relationships/image" Target="../media/image229.png"/><Relationship Id="rId6" Type="http://schemas.openxmlformats.org/officeDocument/2006/relationships/image" Target="../media/image230.png"/><Relationship Id="rId7" Type="http://schemas.openxmlformats.org/officeDocument/2006/relationships/image" Target="../media/image231.png"/><Relationship Id="rId8" Type="http://schemas.openxmlformats.org/officeDocument/2006/relationships/image" Target="../media/image232.png"/><Relationship Id="rId9" Type="http://schemas.openxmlformats.org/officeDocument/2006/relationships/image" Target="../media/image233.png"/><Relationship Id="rId10" Type="http://schemas.openxmlformats.org/officeDocument/2006/relationships/image" Target="../media/image234.png"/><Relationship Id="rId11" Type="http://schemas.openxmlformats.org/officeDocument/2006/relationships/image" Target="../media/image235.png"/><Relationship Id="rId12" Type="http://schemas.openxmlformats.org/officeDocument/2006/relationships/image" Target="../media/image236.png"/><Relationship Id="rId13" Type="http://schemas.openxmlformats.org/officeDocument/2006/relationships/image" Target="../media/image237.png"/></Relationships>
</file>

<file path=ppt/charts/_rels/chart36.xml.rels><?xml version='1.0' encoding='UTF-8' standalone='yes'?>
<Relationships xmlns="http://schemas.openxmlformats.org/package/2006/relationships"><Relationship Id="rId2" Type="http://schemas.openxmlformats.org/officeDocument/2006/relationships/image" Target="../media/image245.png"/><Relationship Id="rId3" Type="http://schemas.openxmlformats.org/officeDocument/2006/relationships/image" Target="../media/image246.png"/><Relationship Id="rId4" Type="http://schemas.openxmlformats.org/officeDocument/2006/relationships/image" Target="../media/image247.png"/><Relationship Id="rId5" Type="http://schemas.openxmlformats.org/officeDocument/2006/relationships/image" Target="../media/image248.png"/><Relationship Id="rId6" Type="http://schemas.openxmlformats.org/officeDocument/2006/relationships/image" Target="../media/image249.png"/><Relationship Id="rId7" Type="http://schemas.openxmlformats.org/officeDocument/2006/relationships/image" Target="../media/image250.png"/><Relationship Id="rId8" Type="http://schemas.openxmlformats.org/officeDocument/2006/relationships/image" Target="../media/image251.png"/><Relationship Id="rId9" Type="http://schemas.openxmlformats.org/officeDocument/2006/relationships/image" Target="../media/image252.png"/><Relationship Id="rId10" Type="http://schemas.openxmlformats.org/officeDocument/2006/relationships/image" Target="../media/image253.png"/><Relationship Id="rId11" Type="http://schemas.openxmlformats.org/officeDocument/2006/relationships/image" Target="../media/image254.png"/><Relationship Id="rId12" Type="http://schemas.openxmlformats.org/officeDocument/2006/relationships/image" Target="../media/image255.png"/><Relationship Id="rId13" Type="http://schemas.openxmlformats.org/officeDocument/2006/relationships/image" Target="../media/image256.png"/><Relationship Id="rId14" Type="http://schemas.openxmlformats.org/officeDocument/2006/relationships/image" Target="../media/image257.png"/><Relationship Id="rId15" Type="http://schemas.openxmlformats.org/officeDocument/2006/relationships/image" Target="../media/image258.png"/><Relationship Id="rId16" Type="http://schemas.openxmlformats.org/officeDocument/2006/relationships/image" Target="../media/image259.png"/><Relationship Id="rId17" Type="http://schemas.openxmlformats.org/officeDocument/2006/relationships/image" Target="../media/image260.png"/><Relationship Id="rId18" Type="http://schemas.openxmlformats.org/officeDocument/2006/relationships/image" Target="../media/image261.png"/><Relationship Id="rId19" Type="http://schemas.openxmlformats.org/officeDocument/2006/relationships/image" Target="../media/image262.png"/></Relationships>
</file>

<file path=ppt/charts/_rels/chart41.xml.rels><?xml version='1.0' encoding='UTF-8' standalone='yes'?>
<Relationships xmlns="http://schemas.openxmlformats.org/package/2006/relationships"><Relationship Id="rId2" Type="http://schemas.openxmlformats.org/officeDocument/2006/relationships/image" Target="../media/image263.png"/><Relationship Id="rId3" Type="http://schemas.openxmlformats.org/officeDocument/2006/relationships/image" Target="../media/image264.png"/><Relationship Id="rId4" Type="http://schemas.openxmlformats.org/officeDocument/2006/relationships/image" Target="../media/image265.png"/><Relationship Id="rId5" Type="http://schemas.openxmlformats.org/officeDocument/2006/relationships/image" Target="../media/image266.png"/><Relationship Id="rId6" Type="http://schemas.openxmlformats.org/officeDocument/2006/relationships/image" Target="../media/image267.png"/><Relationship Id="rId7" Type="http://schemas.openxmlformats.org/officeDocument/2006/relationships/image" Target="../media/image268.png"/><Relationship Id="rId8" Type="http://schemas.openxmlformats.org/officeDocument/2006/relationships/image" Target="../media/image269.png"/><Relationship Id="rId9" Type="http://schemas.openxmlformats.org/officeDocument/2006/relationships/image" Target="../media/image270.png"/><Relationship Id="rId10" Type="http://schemas.openxmlformats.org/officeDocument/2006/relationships/image" Target="../media/image271.png"/></Relationships>
</file>

<file path=ppt/charts/_rels/chart42.xml.rels><?xml version='1.0' encoding='UTF-8' standalone='yes'?>
<Relationships xmlns="http://schemas.openxmlformats.org/package/2006/relationships"><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90.png"/><Relationship Id="rId11" Type="http://schemas.openxmlformats.org/officeDocument/2006/relationships/image" Target="../media/image291.png"/><Relationship Id="rId12" Type="http://schemas.openxmlformats.org/officeDocument/2006/relationships/image" Target="../media/image292.png"/><Relationship Id="rId13" Type="http://schemas.openxmlformats.org/officeDocument/2006/relationships/image" Target="../media/image293.png"/><Relationship Id="rId14" Type="http://schemas.openxmlformats.org/officeDocument/2006/relationships/image" Target="../media/image294.png"/><Relationship Id="rId15" Type="http://schemas.openxmlformats.org/officeDocument/2006/relationships/image" Target="../media/image295.png"/><Relationship Id="rId16" Type="http://schemas.openxmlformats.org/officeDocument/2006/relationships/image" Target="../media/image296.png"/><Relationship Id="rId17" Type="http://schemas.openxmlformats.org/officeDocument/2006/relationships/image" Target="../media/image297.png"/><Relationship Id="rId18" Type="http://schemas.openxmlformats.org/officeDocument/2006/relationships/image" Target="../media/image298.png"/><Relationship Id="rId19" Type="http://schemas.openxmlformats.org/officeDocument/2006/relationships/image" Target="../media/image299.png"/><Relationship Id="rId20" Type="http://schemas.openxmlformats.org/officeDocument/2006/relationships/image" Target="../media/image300.png"/><Relationship Id="rId21" Type="http://schemas.openxmlformats.org/officeDocument/2006/relationships/image" Target="../media/image301.png"/><Relationship Id="rId22" Type="http://schemas.openxmlformats.org/officeDocument/2006/relationships/image" Target="../media/image302.png"/><Relationship Id="rId23" Type="http://schemas.openxmlformats.org/officeDocument/2006/relationships/image" Target="../media/image303.png"/><Relationship Id="rId24" Type="http://schemas.openxmlformats.org/officeDocument/2006/relationships/image" Target="../media/image304.png"/></Relationships>
</file>

<file path=ppt/charts/_rels/chart48.xml.rels><?xml version='1.0' encoding='UTF-8' standalone='yes'?>
<Relationships xmlns="http://schemas.openxmlformats.org/package/2006/relationships"><Relationship Id="rId2" Type="http://schemas.openxmlformats.org/officeDocument/2006/relationships/image" Target="../media/image305.png"/><Relationship Id="rId3" Type="http://schemas.openxmlformats.org/officeDocument/2006/relationships/image" Target="../media/image306.png"/><Relationship Id="rId4" Type="http://schemas.openxmlformats.org/officeDocument/2006/relationships/image" Target="../media/image307.png"/><Relationship Id="rId5" Type="http://schemas.openxmlformats.org/officeDocument/2006/relationships/image" Target="../media/image308.png"/><Relationship Id="rId6" Type="http://schemas.openxmlformats.org/officeDocument/2006/relationships/image" Target="../media/image309.png"/><Relationship Id="rId7" Type="http://schemas.openxmlformats.org/officeDocument/2006/relationships/image" Target="../media/image310.png"/><Relationship Id="rId8" Type="http://schemas.openxmlformats.org/officeDocument/2006/relationships/image" Target="../media/image311.png"/><Relationship Id="rId9" Type="http://schemas.openxmlformats.org/officeDocument/2006/relationships/image" Target="../media/image312.png"/><Relationship Id="rId10" Type="http://schemas.openxmlformats.org/officeDocument/2006/relationships/image" Target="../media/image313.png"/><Relationship Id="rId11" Type="http://schemas.openxmlformats.org/officeDocument/2006/relationships/image" Target="../media/image314.png"/><Relationship Id="rId12" Type="http://schemas.openxmlformats.org/officeDocument/2006/relationships/image" Target="../media/image315.png"/></Relationships>
</file>

<file path=ppt/charts/_rels/chart49.xml.rels><?xml version='1.0' encoding='UTF-8' standalone='yes'?>
<Relationships xmlns="http://schemas.openxmlformats.org/package/2006/relationships"><Relationship Id="rId2" Type="http://schemas.openxmlformats.org/officeDocument/2006/relationships/image" Target="../media/image333.png"/><Relationship Id="rId3" Type="http://schemas.openxmlformats.org/officeDocument/2006/relationships/image" Target="../media/image334.png"/><Relationship Id="rId4" Type="http://schemas.openxmlformats.org/officeDocument/2006/relationships/image" Target="../media/image335.png"/><Relationship Id="rId5" Type="http://schemas.openxmlformats.org/officeDocument/2006/relationships/image" Target="../media/image336.png"/><Relationship Id="rId6" Type="http://schemas.openxmlformats.org/officeDocument/2006/relationships/image" Target="../media/image337.png"/><Relationship Id="rId7" Type="http://schemas.openxmlformats.org/officeDocument/2006/relationships/image" Target="../media/image338.png"/><Relationship Id="rId8" Type="http://schemas.openxmlformats.org/officeDocument/2006/relationships/image" Target="../media/image339.png"/><Relationship Id="rId9" Type="http://schemas.openxmlformats.org/officeDocument/2006/relationships/image" Target="../media/image340.png"/><Relationship Id="rId10" Type="http://schemas.openxmlformats.org/officeDocument/2006/relationships/image" Target="../media/image341.png"/><Relationship Id="rId11" Type="http://schemas.openxmlformats.org/officeDocument/2006/relationships/image" Target="../media/image342.png"/><Relationship Id="rId12" Type="http://schemas.openxmlformats.org/officeDocument/2006/relationships/image" Target="../media/image343.png"/><Relationship Id="rId13" Type="http://schemas.openxmlformats.org/officeDocument/2006/relationships/image" Target="../media/image344.png"/><Relationship Id="rId14" Type="http://schemas.openxmlformats.org/officeDocument/2006/relationships/image" Target="../media/image345.png"/><Relationship Id="rId15" Type="http://schemas.openxmlformats.org/officeDocument/2006/relationships/image" Target="../media/image346.png"/><Relationship Id="rId16" Type="http://schemas.openxmlformats.org/officeDocument/2006/relationships/image" Target="../media/image347.png"/><Relationship Id="rId17" Type="http://schemas.openxmlformats.org/officeDocument/2006/relationships/image" Target="../media/image348.png"/><Relationship Id="rId18" Type="http://schemas.openxmlformats.org/officeDocument/2006/relationships/image" Target="../media/image349.png"/><Relationship Id="rId19" Type="http://schemas.openxmlformats.org/officeDocument/2006/relationships/image" Target="../media/image350.png"/><Relationship Id="rId20" Type="http://schemas.openxmlformats.org/officeDocument/2006/relationships/image" Target="../media/image351.png"/><Relationship Id="rId21" Type="http://schemas.openxmlformats.org/officeDocument/2006/relationships/image" Target="../media/image352.png"/><Relationship Id="rId22" Type="http://schemas.openxmlformats.org/officeDocument/2006/relationships/image" Target="../media/image353.png"/><Relationship Id="rId23" Type="http://schemas.openxmlformats.org/officeDocument/2006/relationships/image" Target="../media/image354.png"/><Relationship Id="rId24" Type="http://schemas.openxmlformats.org/officeDocument/2006/relationships/image" Target="../media/image355.png"/><Relationship Id="rId25" Type="http://schemas.openxmlformats.org/officeDocument/2006/relationships/image" Target="../media/image356.png"/><Relationship Id="rId26" Type="http://schemas.openxmlformats.org/officeDocument/2006/relationships/image" Target="../media/image357.png"/><Relationship Id="rId27" Type="http://schemas.openxmlformats.org/officeDocument/2006/relationships/image" Target="../media/image358.png"/><Relationship Id="rId28" Type="http://schemas.openxmlformats.org/officeDocument/2006/relationships/image" Target="../media/image359.png"/><Relationship Id="rId29" Type="http://schemas.openxmlformats.org/officeDocument/2006/relationships/image" Target="../media/image360.png"/></Relationships>
</file>

<file path=ppt/charts/_rels/chart56.xml.rels><?xml version='1.0' encoding='UTF-8' standalone='yes'?>
<Relationships xmlns="http://schemas.openxmlformats.org/package/2006/relationships"><Relationship Id="rId2" Type="http://schemas.openxmlformats.org/officeDocument/2006/relationships/image" Target="../media/image361.png"/><Relationship Id="rId3" Type="http://schemas.openxmlformats.org/officeDocument/2006/relationships/image" Target="../media/image362.png"/><Relationship Id="rId4" Type="http://schemas.openxmlformats.org/officeDocument/2006/relationships/image" Target="../media/image363.png"/><Relationship Id="rId5" Type="http://schemas.openxmlformats.org/officeDocument/2006/relationships/image" Target="../media/image364.png"/><Relationship Id="rId6" Type="http://schemas.openxmlformats.org/officeDocument/2006/relationships/image" Target="../media/image365.png"/><Relationship Id="rId7" Type="http://schemas.openxmlformats.org/officeDocument/2006/relationships/image" Target="../media/image366.png"/><Relationship Id="rId8" Type="http://schemas.openxmlformats.org/officeDocument/2006/relationships/image" Target="../media/image367.png"/><Relationship Id="rId9" Type="http://schemas.openxmlformats.org/officeDocument/2006/relationships/image" Target="../media/image368.png"/><Relationship Id="rId10" Type="http://schemas.openxmlformats.org/officeDocument/2006/relationships/image" Target="../media/image369.png"/><Relationship Id="rId11" Type="http://schemas.openxmlformats.org/officeDocument/2006/relationships/image" Target="../media/image370.png"/><Relationship Id="rId12" Type="http://schemas.openxmlformats.org/officeDocument/2006/relationships/image" Target="../media/image371.png"/><Relationship Id="rId13" Type="http://schemas.openxmlformats.org/officeDocument/2006/relationships/image" Target="../media/image372.png"/><Relationship Id="rId14" Type="http://schemas.openxmlformats.org/officeDocument/2006/relationships/image" Target="../media/image373.png"/></Relationships>
</file>

<file path=ppt/charts/_rels/chart57.xml.rels><?xml version='1.0' encoding='UTF-8' standalone='yes'?>
<Relationships xmlns="http://schemas.openxmlformats.org/package/2006/relationships"><Relationship Id="rId2" Type="http://schemas.openxmlformats.org/officeDocument/2006/relationships/image" Target="../media/image384.png"/><Relationship Id="rId3" Type="http://schemas.openxmlformats.org/officeDocument/2006/relationships/image" Target="../media/image385.png"/><Relationship Id="rId4" Type="http://schemas.openxmlformats.org/officeDocument/2006/relationships/image" Target="../media/image386.png"/><Relationship Id="rId5" Type="http://schemas.openxmlformats.org/officeDocument/2006/relationships/image" Target="../media/image387.png"/><Relationship Id="rId6" Type="http://schemas.openxmlformats.org/officeDocument/2006/relationships/image" Target="../media/image388.png"/><Relationship Id="rId7" Type="http://schemas.openxmlformats.org/officeDocument/2006/relationships/image" Target="../media/image389.png"/><Relationship Id="rId8" Type="http://schemas.openxmlformats.org/officeDocument/2006/relationships/image" Target="../media/image390.png"/><Relationship Id="rId9" Type="http://schemas.openxmlformats.org/officeDocument/2006/relationships/image" Target="../media/image391.png"/><Relationship Id="rId10" Type="http://schemas.openxmlformats.org/officeDocument/2006/relationships/image" Target="../media/image392.png"/><Relationship Id="rId11" Type="http://schemas.openxmlformats.org/officeDocument/2006/relationships/image" Target="../media/image393.png"/><Relationship Id="rId12" Type="http://schemas.openxmlformats.org/officeDocument/2006/relationships/image" Target="../media/image394.png"/><Relationship Id="rId13" Type="http://schemas.openxmlformats.org/officeDocument/2006/relationships/image" Target="../media/image395.png"/><Relationship Id="rId14" Type="http://schemas.openxmlformats.org/officeDocument/2006/relationships/image" Target="../media/image396.png"/><Relationship Id="rId15" Type="http://schemas.openxmlformats.org/officeDocument/2006/relationships/image" Target="../media/image397.png"/><Relationship Id="rId16" Type="http://schemas.openxmlformats.org/officeDocument/2006/relationships/image" Target="../media/image398.png"/><Relationship Id="rId17" Type="http://schemas.openxmlformats.org/officeDocument/2006/relationships/image" Target="../media/image399.png"/><Relationship Id="rId18" Type="http://schemas.openxmlformats.org/officeDocument/2006/relationships/image" Target="../media/image400.png"/><Relationship Id="rId19" Type="http://schemas.openxmlformats.org/officeDocument/2006/relationships/image" Target="../media/image401.png"/><Relationship Id="rId20" Type="http://schemas.openxmlformats.org/officeDocument/2006/relationships/image" Target="../media/image402.png"/><Relationship Id="rId21" Type="http://schemas.openxmlformats.org/officeDocument/2006/relationships/image" Target="../media/image403.png"/><Relationship Id="rId22" Type="http://schemas.openxmlformats.org/officeDocument/2006/relationships/image" Target="../media/image404.png"/></Relationships>
</file>

<file path=ppt/charts/_rels/chart63.xml.rels><?xml version='1.0' encoding='UTF-8' standalone='yes'?>
<Relationships xmlns="http://schemas.openxmlformats.org/package/2006/relationships"><Relationship Id="rId2" Type="http://schemas.openxmlformats.org/officeDocument/2006/relationships/image" Target="../media/image405.png"/><Relationship Id="rId3" Type="http://schemas.openxmlformats.org/officeDocument/2006/relationships/image" Target="../media/image406.png"/><Relationship Id="rId4" Type="http://schemas.openxmlformats.org/officeDocument/2006/relationships/image" Target="../media/image407.png"/><Relationship Id="rId5" Type="http://schemas.openxmlformats.org/officeDocument/2006/relationships/image" Target="../media/image408.png"/><Relationship Id="rId6" Type="http://schemas.openxmlformats.org/officeDocument/2006/relationships/image" Target="../media/image409.png"/><Relationship Id="rId7" Type="http://schemas.openxmlformats.org/officeDocument/2006/relationships/image" Target="../media/image410.png"/><Relationship Id="rId8" Type="http://schemas.openxmlformats.org/officeDocument/2006/relationships/image" Target="../media/image411.png"/><Relationship Id="rId9" Type="http://schemas.openxmlformats.org/officeDocument/2006/relationships/image" Target="../media/image412.png"/><Relationship Id="rId10" Type="http://schemas.openxmlformats.org/officeDocument/2006/relationships/image" Target="../media/image413.png"/><Relationship Id="rId11" Type="http://schemas.openxmlformats.org/officeDocument/2006/relationships/image" Target="../media/image414.png"/><Relationship Id="rId12" Type="http://schemas.openxmlformats.org/officeDocument/2006/relationships/image" Target="../media/image415.png"/><Relationship Id="rId13" Type="http://schemas.openxmlformats.org/officeDocument/2006/relationships/image" Target="../media/image416.png"/></Relationships>
</file>

<file path=ppt/charts/_rels/chart64.xml.rels><?xml version='1.0' encoding='UTF-8' standalone='yes'?>
<Relationships xmlns="http://schemas.openxmlformats.org/package/2006/relationships"><Relationship Id="rId2" Type="http://schemas.openxmlformats.org/officeDocument/2006/relationships/image" Target="../media/image421.png"/><Relationship Id="rId3" Type="http://schemas.openxmlformats.org/officeDocument/2006/relationships/image" Target="../media/image422.png"/><Relationship Id="rId4" Type="http://schemas.openxmlformats.org/officeDocument/2006/relationships/image" Target="../media/image423.png"/><Relationship Id="rId5" Type="http://schemas.openxmlformats.org/officeDocument/2006/relationships/image" Target="../media/image424.png"/><Relationship Id="rId6" Type="http://schemas.openxmlformats.org/officeDocument/2006/relationships/image" Target="../media/image425.png"/><Relationship Id="rId7" Type="http://schemas.openxmlformats.org/officeDocument/2006/relationships/image" Target="../media/image426.png"/><Relationship Id="rId8" Type="http://schemas.openxmlformats.org/officeDocument/2006/relationships/image" Target="../media/image427.png"/><Relationship Id="rId9" Type="http://schemas.openxmlformats.org/officeDocument/2006/relationships/image" Target="../media/image428.png"/><Relationship Id="rId10" Type="http://schemas.openxmlformats.org/officeDocument/2006/relationships/image" Target="../media/image429.png"/><Relationship Id="rId11" Type="http://schemas.openxmlformats.org/officeDocument/2006/relationships/image" Target="../media/image430.png"/><Relationship Id="rId12" Type="http://schemas.openxmlformats.org/officeDocument/2006/relationships/image" Target="../media/image431.png"/><Relationship Id="rId13" Type="http://schemas.openxmlformats.org/officeDocument/2006/relationships/image" Target="../media/image432.png"/></Relationships>
</file>

<file path=ppt/charts/_rels/chart68.xml.rels><?xml version='1.0' encoding='UTF-8' standalone='yes'?>
<Relationships xmlns="http://schemas.openxmlformats.org/package/2006/relationships"><Relationship Id="rId2" Type="http://schemas.openxmlformats.org/officeDocument/2006/relationships/image" Target="../media/image433.png"/><Relationship Id="rId3" Type="http://schemas.openxmlformats.org/officeDocument/2006/relationships/image" Target="../media/image434.png"/><Relationship Id="rId4" Type="http://schemas.openxmlformats.org/officeDocument/2006/relationships/image" Target="../media/image435.png"/><Relationship Id="rId5" Type="http://schemas.openxmlformats.org/officeDocument/2006/relationships/image" Target="../media/image436.png"/><Relationship Id="rId6" Type="http://schemas.openxmlformats.org/officeDocument/2006/relationships/image" Target="../media/image437.png"/><Relationship Id="rId7" Type="http://schemas.openxmlformats.org/officeDocument/2006/relationships/image" Target="../media/image438.png"/></Relationships>
</file>

<file path=ppt/charts/_rels/chart73.xml.rels><?xml version='1.0' encoding='UTF-8' standalone='yes'?>
<Relationships xmlns="http://schemas.openxmlformats.org/package/2006/relationships"><Relationship Id="rId2" Type="http://schemas.openxmlformats.org/officeDocument/2006/relationships/image" Target="../media/image439.png"/></Relationships>
</file>

<file path=ppt/charts/_rels/chart75.xml.rels><?xml version='1.0' encoding='UTF-8' standalone='yes'?>
<Relationships xmlns="http://schemas.openxmlformats.org/package/2006/relationships"><Relationship Id="rId2" Type="http://schemas.openxmlformats.org/officeDocument/2006/relationships/image" Target="../media/image440.png"/></Relationships>
</file>

<file path=ppt/charts/_rels/chart77.xml.rels><?xml version='1.0' encoding='UTF-8' standalone='yes'?>
<Relationships xmlns="http://schemas.openxmlformats.org/package/2006/relationships"><Relationship Id="rId2" Type="http://schemas.openxmlformats.org/officeDocument/2006/relationships/image" Target="../media/image441.png"/><Relationship Id="rId3" Type="http://schemas.openxmlformats.org/officeDocument/2006/relationships/image" Target="../media/image442.png"/><Relationship Id="rId4" Type="http://schemas.openxmlformats.org/officeDocument/2006/relationships/image" Target="../media/image443.png"/><Relationship Id="rId5" Type="http://schemas.openxmlformats.org/officeDocument/2006/relationships/image" Target="../media/image444.png"/><Relationship Id="rId6" Type="http://schemas.openxmlformats.org/officeDocument/2006/relationships/image" Target="../media/image445.png"/><Relationship Id="rId7" Type="http://schemas.openxmlformats.org/officeDocument/2006/relationships/image" Target="../media/image446.png"/><Relationship Id="rId8" Type="http://schemas.openxmlformats.org/officeDocument/2006/relationships/image" Target="../media/image447.png"/><Relationship Id="rId9" Type="http://schemas.openxmlformats.org/officeDocument/2006/relationships/image" Target="../media/image448.png"/><Relationship Id="rId10" Type="http://schemas.openxmlformats.org/officeDocument/2006/relationships/image" Target="../media/image449.png"/><Relationship Id="rId11" Type="http://schemas.openxmlformats.org/officeDocument/2006/relationships/image" Target="../media/image450.png"/></Relationships>
</file>

<file path=ppt/charts/_rels/chart78.xml.rels><?xml version='1.0' encoding='UTF-8' standalone='yes'?>
<Relationships xmlns="http://schemas.openxmlformats.org/package/2006/relationships"><Relationship Id="rId2" Type="http://schemas.openxmlformats.org/officeDocument/2006/relationships/image" Target="../media/image451.png"/><Relationship Id="rId3" Type="http://schemas.openxmlformats.org/officeDocument/2006/relationships/image" Target="../media/image452.png"/><Relationship Id="rId4" Type="http://schemas.openxmlformats.org/officeDocument/2006/relationships/image" Target="../media/image453.png"/><Relationship Id="rId5" Type="http://schemas.openxmlformats.org/officeDocument/2006/relationships/image" Target="../media/image454.png"/><Relationship Id="rId6" Type="http://schemas.openxmlformats.org/officeDocument/2006/relationships/image" Target="../media/image455.png"/><Relationship Id="rId7" Type="http://schemas.openxmlformats.org/officeDocument/2006/relationships/image" Target="../media/image456.png"/><Relationship Id="rId8" Type="http://schemas.openxmlformats.org/officeDocument/2006/relationships/image" Target="../media/image457.png"/><Relationship Id="rId9" Type="http://schemas.openxmlformats.org/officeDocument/2006/relationships/image" Target="../media/image458.png"/><Relationship Id="rId10" Type="http://schemas.openxmlformats.org/officeDocument/2006/relationships/image" Target="../media/image459.png"/><Relationship Id="rId11" Type="http://schemas.openxmlformats.org/officeDocument/2006/relationships/image" Target="../media/image460.png"/><Relationship Id="rId12" Type="http://schemas.openxmlformats.org/officeDocument/2006/relationships/image" Target="../media/image461.png"/><Relationship Id="rId13" Type="http://schemas.openxmlformats.org/officeDocument/2006/relationships/image" Target="../media/image462.png"/><Relationship Id="rId14" Type="http://schemas.openxmlformats.org/officeDocument/2006/relationships/image" Target="../media/image463.png"/><Relationship Id="rId15" Type="http://schemas.openxmlformats.org/officeDocument/2006/relationships/image" Target="../media/image464.png"/><Relationship Id="rId16" Type="http://schemas.openxmlformats.org/officeDocument/2006/relationships/image" Target="../media/image465.png"/><Relationship Id="rId17" Type="http://schemas.openxmlformats.org/officeDocument/2006/relationships/image" Target="../media/image466.png"/><Relationship Id="rId18" Type="http://schemas.openxmlformats.org/officeDocument/2006/relationships/image" Target="../media/image467.png"/><Relationship Id="rId19" Type="http://schemas.openxmlformats.org/officeDocument/2006/relationships/image" Target="../media/image468.png"/><Relationship Id="rId20" Type="http://schemas.openxmlformats.org/officeDocument/2006/relationships/image" Target="../media/image469.png"/><Relationship Id="rId21" Type="http://schemas.openxmlformats.org/officeDocument/2006/relationships/image" Target="../media/image470.png"/><Relationship Id="rId22" Type="http://schemas.openxmlformats.org/officeDocument/2006/relationships/image" Target="../media/image471.png"/><Relationship Id="rId23" Type="http://schemas.openxmlformats.org/officeDocument/2006/relationships/image" Target="../media/image472.png"/></Relationships>
</file>

<file path=ppt/charts/_rels/chart79.xml.rels><?xml version='1.0' encoding='UTF-8' standalone='yes'?>
<Relationships xmlns="http://schemas.openxmlformats.org/package/2006/relationships"><Relationship Id="rId2" Type="http://schemas.openxmlformats.org/officeDocument/2006/relationships/image" Target="../media/image473.png"/><Relationship Id="rId3" Type="http://schemas.openxmlformats.org/officeDocument/2006/relationships/image" Target="../media/image474.png"/></Relationships>
</file>

<file path=ppt/charts/_rels/chart80.xml.rels><?xml version='1.0' encoding='UTF-8' standalone='yes'?>
<Relationships xmlns="http://schemas.openxmlformats.org/package/2006/relationships"><Relationship Id="rId2" Type="http://schemas.openxmlformats.org/officeDocument/2006/relationships/image" Target="../media/image475.png"/><Relationship Id="rId3" Type="http://schemas.openxmlformats.org/officeDocument/2006/relationships/image" Target="../media/image476.png"/></Relationships>
</file>

<file path=ppt/charts/_rels/chart81.xml.rels><?xml version='1.0' encoding='UTF-8' standalone='yes'?>
<Relationships xmlns="http://schemas.openxmlformats.org/package/2006/relationships"><Relationship Id="rId2" Type="http://schemas.openxmlformats.org/officeDocument/2006/relationships/image" Target="../media/image477.png"/><Relationship Id="rId3" Type="http://schemas.openxmlformats.org/officeDocument/2006/relationships/image" Target="../media/image478.png"/><Relationship Id="rId4" Type="http://schemas.openxmlformats.org/officeDocument/2006/relationships/image" Target="../media/image479.png"/></Relationships>
</file>

<file path=ppt/charts/_rels/chart83.xml.rels><?xml version='1.0' encoding='UTF-8' standalone='yes'?>
<Relationships xmlns="http://schemas.openxmlformats.org/package/2006/relationships"><Relationship Id="rId2" Type="http://schemas.openxmlformats.org/officeDocument/2006/relationships/image" Target="../media/image480.png"/><Relationship Id="rId3" Type="http://schemas.openxmlformats.org/officeDocument/2006/relationships/image" Target="../media/image481.png"/><Relationship Id="rId4" Type="http://schemas.openxmlformats.org/officeDocument/2006/relationships/image" Target="../media/image482.png"/><Relationship Id="rId5" Type="http://schemas.openxmlformats.org/officeDocument/2006/relationships/image" Target="../media/image483.png"/></Relationships>
</file>

<file path=ppt/charts/_rels/chart84.xml.rels><?xml version='1.0' encoding='UTF-8' standalone='yes'?>
<Relationships xmlns="http://schemas.openxmlformats.org/package/2006/relationships"><Relationship Id="rId2" Type="http://schemas.openxmlformats.org/officeDocument/2006/relationships/image" Target="../media/image484.png"/><Relationship Id="rId3" Type="http://schemas.openxmlformats.org/officeDocument/2006/relationships/image" Target="../media/image485.png"/><Relationship Id="rId4" Type="http://schemas.openxmlformats.org/officeDocument/2006/relationships/image" Target="../media/image486.png"/><Relationship Id="rId5" Type="http://schemas.openxmlformats.org/officeDocument/2006/relationships/image" Target="../media/image487.png"/></Relationships>
</file>

<file path=ppt/charts/_rels/chart85.xml.rels><?xml version='1.0' encoding='UTF-8' standalone='yes'?>
<Relationships xmlns="http://schemas.openxmlformats.org/package/2006/relationships"><Relationship Id="rId2" Type="http://schemas.openxmlformats.org/officeDocument/2006/relationships/image" Target="../media/image488.png"/><Relationship Id="rId3" Type="http://schemas.openxmlformats.org/officeDocument/2006/relationships/image" Target="../media/image489.png"/><Relationship Id="rId4" Type="http://schemas.openxmlformats.org/officeDocument/2006/relationships/image" Target="../media/image490.png"/><Relationship Id="rId5" Type="http://schemas.openxmlformats.org/officeDocument/2006/relationships/image" Target="../media/image491.png"/><Relationship Id="rId6" Type="http://schemas.openxmlformats.org/officeDocument/2006/relationships/image" Target="../media/image492.png"/><Relationship Id="rId7" Type="http://schemas.openxmlformats.org/officeDocument/2006/relationships/image" Target="../media/image493.png"/><Relationship Id="rId8" Type="http://schemas.openxmlformats.org/officeDocument/2006/relationships/image" Target="../media/image494.png"/><Relationship Id="rId9" Type="http://schemas.openxmlformats.org/officeDocument/2006/relationships/image" Target="../media/image495.png"/><Relationship Id="rId10" Type="http://schemas.openxmlformats.org/officeDocument/2006/relationships/image" Target="../media/image496.png"/><Relationship Id="rId11" Type="http://schemas.openxmlformats.org/officeDocument/2006/relationships/image" Target="../media/image497.png"/><Relationship Id="rId12" Type="http://schemas.openxmlformats.org/officeDocument/2006/relationships/image" Target="../media/image498.png"/><Relationship Id="rId13" Type="http://schemas.openxmlformats.org/officeDocument/2006/relationships/image" Target="../media/image499.png"/><Relationship Id="rId14" Type="http://schemas.openxmlformats.org/officeDocument/2006/relationships/image" Target="../media/image500.png"/><Relationship Id="rId15" Type="http://schemas.openxmlformats.org/officeDocument/2006/relationships/image" Target="../media/image501.png"/><Relationship Id="rId16" Type="http://schemas.openxmlformats.org/officeDocument/2006/relationships/image" Target="../media/image502.png"/><Relationship Id="rId17" Type="http://schemas.openxmlformats.org/officeDocument/2006/relationships/image" Target="../media/image503.png"/><Relationship Id="rId18" Type="http://schemas.openxmlformats.org/officeDocument/2006/relationships/image" Target="../media/image504.png"/><Relationship Id="rId19" Type="http://schemas.openxmlformats.org/officeDocument/2006/relationships/image" Target="../media/image505.png"/><Relationship Id="rId20" Type="http://schemas.openxmlformats.org/officeDocument/2006/relationships/image" Target="../media/image506.png"/><Relationship Id="rId21" Type="http://schemas.openxmlformats.org/officeDocument/2006/relationships/image" Target="../media/image507.png"/><Relationship Id="rId22" Type="http://schemas.openxmlformats.org/officeDocument/2006/relationships/image" Target="../media/image508.png"/><Relationship Id="rId23" Type="http://schemas.openxmlformats.org/officeDocument/2006/relationships/image" Target="../media/image509.png"/><Relationship Id="rId24" Type="http://schemas.openxmlformats.org/officeDocument/2006/relationships/image" Target="../media/image510.png"/><Relationship Id="rId25" Type="http://schemas.openxmlformats.org/officeDocument/2006/relationships/image" Target="../media/image511.png"/><Relationship Id="rId26" Type="http://schemas.openxmlformats.org/officeDocument/2006/relationships/image" Target="../media/image512.png"/><Relationship Id="rId27" Type="http://schemas.openxmlformats.org/officeDocument/2006/relationships/image" Target="../media/image513.png"/><Relationship Id="rId28" Type="http://schemas.openxmlformats.org/officeDocument/2006/relationships/image" Target="../media/image514.png"/><Relationship Id="rId29" Type="http://schemas.openxmlformats.org/officeDocument/2006/relationships/image" Target="../media/image515.png"/><Relationship Id="rId30" Type="http://schemas.openxmlformats.org/officeDocument/2006/relationships/image" Target="../media/image516.png"/><Relationship Id="rId31" Type="http://schemas.openxmlformats.org/officeDocument/2006/relationships/image" Target="../media/image517.png"/><Relationship Id="rId32" Type="http://schemas.openxmlformats.org/officeDocument/2006/relationships/image" Target="../media/image518.png"/><Relationship Id="rId33" Type="http://schemas.openxmlformats.org/officeDocument/2006/relationships/image" Target="../media/image519.png"/></Relationships>
</file>

<file path=ppt/charts/_rels/chart86.xml.rels><?xml version='1.0' encoding='UTF-8' standalone='yes'?>
<Relationships xmlns="http://schemas.openxmlformats.org/package/2006/relationships"><Relationship Id="rId2" Type="http://schemas.openxmlformats.org/officeDocument/2006/relationships/image" Target="../media/image520.png"/><Relationship Id="rId3" Type="http://schemas.openxmlformats.org/officeDocument/2006/relationships/image" Target="../media/image521.png"/><Relationship Id="rId4" Type="http://schemas.openxmlformats.org/officeDocument/2006/relationships/image" Target="../media/image522.png"/><Relationship Id="rId5" Type="http://schemas.openxmlformats.org/officeDocument/2006/relationships/image" Target="../media/image523.png"/><Relationship Id="rId6" Type="http://schemas.openxmlformats.org/officeDocument/2006/relationships/image" Target="../media/image524.png"/><Relationship Id="rId7" Type="http://schemas.openxmlformats.org/officeDocument/2006/relationships/image" Target="../media/image525.png"/><Relationship Id="rId8" Type="http://schemas.openxmlformats.org/officeDocument/2006/relationships/image" Target="../media/image526.png"/><Relationship Id="rId9" Type="http://schemas.openxmlformats.org/officeDocument/2006/relationships/image" Target="../media/image527.png"/><Relationship Id="rId10" Type="http://schemas.openxmlformats.org/officeDocument/2006/relationships/image" Target="../media/image528.png"/><Relationship Id="rId11" Type="http://schemas.openxmlformats.org/officeDocument/2006/relationships/image" Target="../media/image529.png"/><Relationship Id="rId12" Type="http://schemas.openxmlformats.org/officeDocument/2006/relationships/image" Target="../media/image530.png"/><Relationship Id="rId13" Type="http://schemas.openxmlformats.org/officeDocument/2006/relationships/image" Target="../media/image531.png"/><Relationship Id="rId14" Type="http://schemas.openxmlformats.org/officeDocument/2006/relationships/image" Target="../media/image532.png"/><Relationship Id="rId15" Type="http://schemas.openxmlformats.org/officeDocument/2006/relationships/image" Target="../media/image533.png"/><Relationship Id="rId16" Type="http://schemas.openxmlformats.org/officeDocument/2006/relationships/image" Target="../media/image534.png"/><Relationship Id="rId17" Type="http://schemas.openxmlformats.org/officeDocument/2006/relationships/image" Target="../media/image535.png"/><Relationship Id="rId18" Type="http://schemas.openxmlformats.org/officeDocument/2006/relationships/image" Target="../media/image536.png"/><Relationship Id="rId19" Type="http://schemas.openxmlformats.org/officeDocument/2006/relationships/image" Target="../media/image537.png"/><Relationship Id="rId20" Type="http://schemas.openxmlformats.org/officeDocument/2006/relationships/image" Target="../media/image538.png"/><Relationship Id="rId21" Type="http://schemas.openxmlformats.org/officeDocument/2006/relationships/image" Target="../media/image539.png"/><Relationship Id="rId22" Type="http://schemas.openxmlformats.org/officeDocument/2006/relationships/image" Target="../media/image540.png"/><Relationship Id="rId23" Type="http://schemas.openxmlformats.org/officeDocument/2006/relationships/image" Target="../media/image541.png"/><Relationship Id="rId24" Type="http://schemas.openxmlformats.org/officeDocument/2006/relationships/image" Target="../media/image542.png"/><Relationship Id="rId25" Type="http://schemas.openxmlformats.org/officeDocument/2006/relationships/image" Target="../media/image543.png"/><Relationship Id="rId26" Type="http://schemas.openxmlformats.org/officeDocument/2006/relationships/image" Target="../media/image544.png"/><Relationship Id="rId27" Type="http://schemas.openxmlformats.org/officeDocument/2006/relationships/image" Target="../media/image545.png"/><Relationship Id="rId28" Type="http://schemas.openxmlformats.org/officeDocument/2006/relationships/image" Target="../media/image546.png"/><Relationship Id="rId29" Type="http://schemas.openxmlformats.org/officeDocument/2006/relationships/image" Target="../media/image547.png"/><Relationship Id="rId30" Type="http://schemas.openxmlformats.org/officeDocument/2006/relationships/image" Target="../media/image548.png"/><Relationship Id="rId31" Type="http://schemas.openxmlformats.org/officeDocument/2006/relationships/image" Target="../media/image549.png"/><Relationship Id="rId32" Type="http://schemas.openxmlformats.org/officeDocument/2006/relationships/image" Target="../media/image550.png"/><Relationship Id="rId33" Type="http://schemas.openxmlformats.org/officeDocument/2006/relationships/image" Target="../media/image551.png"/></Relationships>
</file>

<file path=ppt/charts/_rels/chart87.xml.rels><?xml version='1.0' encoding='UTF-8' standalone='yes'?>
<Relationships xmlns="http://schemas.openxmlformats.org/package/2006/relationships"><Relationship Id="rId2" Type="http://schemas.openxmlformats.org/officeDocument/2006/relationships/image" Target="../media/image556.png"/><Relationship Id="rId3" Type="http://schemas.openxmlformats.org/officeDocument/2006/relationships/image" Target="../media/image557.png"/><Relationship Id="rId4" Type="http://schemas.openxmlformats.org/officeDocument/2006/relationships/image" Target="../media/image558.png"/><Relationship Id="rId5" Type="http://schemas.openxmlformats.org/officeDocument/2006/relationships/image" Target="../media/image559.png"/><Relationship Id="rId6" Type="http://schemas.openxmlformats.org/officeDocument/2006/relationships/image" Target="../media/image560.png"/><Relationship Id="rId7" Type="http://schemas.openxmlformats.org/officeDocument/2006/relationships/image" Target="../media/image561.png"/></Relationships>
</file>

<file path=ppt/charts/_rels/chart92.xml.rels><?xml version='1.0' encoding='UTF-8' standalone='yes'?>
<Relationships xmlns="http://schemas.openxmlformats.org/package/2006/relationships"><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image" Target="../media/image570.png"/></Relationships>
</file>

<file path=ppt/charts/_rels/chart93.xml.rels><?xml version='1.0' encoding='UTF-8' standalone='yes'?>
<Relationships xmlns="http://schemas.openxmlformats.org/package/2006/relationships"><Relationship Id="rId2" Type="http://schemas.openxmlformats.org/officeDocument/2006/relationships/image" Target="../media/image583.png"/><Relationship Id="rId3" Type="http://schemas.openxmlformats.org/officeDocument/2006/relationships/image" Target="../media/image584.png"/><Relationship Id="rId4" Type="http://schemas.openxmlformats.org/officeDocument/2006/relationships/image" Target="../media/image585.png"/><Relationship Id="rId5" Type="http://schemas.openxmlformats.org/officeDocument/2006/relationships/image" Target="../media/image586.png"/><Relationship Id="rId6" Type="http://schemas.openxmlformats.org/officeDocument/2006/relationships/image" Target="../media/image587.png"/><Relationship Id="rId7" Type="http://schemas.openxmlformats.org/officeDocument/2006/relationships/image" Target="../media/image588.png"/><Relationship Id="rId8" Type="http://schemas.openxmlformats.org/officeDocument/2006/relationships/image" Target="../media/image589.png"/><Relationship Id="rId9" Type="http://schemas.openxmlformats.org/officeDocument/2006/relationships/image" Target="../media/image590.png"/></Relationships>
</file>

<file path=ppt/charts/_rels/chart100.xml.rels><?xml version='1.0' encoding='UTF-8' standalone='yes'?>
<Relationships xmlns="http://schemas.openxmlformats.org/package/2006/relationships"><Relationship Id="rId2" Type="http://schemas.openxmlformats.org/officeDocument/2006/relationships/image" Target="../media/image591.png"/><Relationship Id="rId3" Type="http://schemas.openxmlformats.org/officeDocument/2006/relationships/image" Target="../media/image592.png"/><Relationship Id="rId4" Type="http://schemas.openxmlformats.org/officeDocument/2006/relationships/image" Target="../media/image593.png"/><Relationship Id="rId5" Type="http://schemas.openxmlformats.org/officeDocument/2006/relationships/image" Target="../media/image594.png"/><Relationship Id="rId6" Type="http://schemas.openxmlformats.org/officeDocument/2006/relationships/image" Target="../media/image595.png"/><Relationship Id="rId7" Type="http://schemas.openxmlformats.org/officeDocument/2006/relationships/image" Target="../media/image596.png"/><Relationship Id="rId8" Type="http://schemas.openxmlformats.org/officeDocument/2006/relationships/image" Target="../media/image597.png"/><Relationship Id="rId9" Type="http://schemas.openxmlformats.org/officeDocument/2006/relationships/image" Target="../media/image598.png"/><Relationship Id="rId10" Type="http://schemas.openxmlformats.org/officeDocument/2006/relationships/image" Target="../media/image599.png"/><Relationship Id="rId11" Type="http://schemas.openxmlformats.org/officeDocument/2006/relationships/image" Target="../media/image600.png"/><Relationship Id="rId12" Type="http://schemas.openxmlformats.org/officeDocument/2006/relationships/image" Target="../media/image601.png"/><Relationship Id="rId13" Type="http://schemas.openxmlformats.org/officeDocument/2006/relationships/image" Target="../media/image602.png"/><Relationship Id="rId14" Type="http://schemas.openxmlformats.org/officeDocument/2006/relationships/image" Target="../media/image603.png"/><Relationship Id="rId15" Type="http://schemas.openxmlformats.org/officeDocument/2006/relationships/image" Target="../media/image604.png"/></Relationships>
</file>

<file path=ppt/charts/_rels/chart101.xml.rels><?xml version='1.0' encoding='UTF-8' standalone='yes'?>
<Relationships xmlns="http://schemas.openxmlformats.org/package/2006/relationships"><Relationship Id="rId2" Type="http://schemas.openxmlformats.org/officeDocument/2006/relationships/image" Target="../media/image615.png"/><Relationship Id="rId3" Type="http://schemas.openxmlformats.org/officeDocument/2006/relationships/image" Target="../media/image616.png"/><Relationship Id="rId4" Type="http://schemas.openxmlformats.org/officeDocument/2006/relationships/image" Target="../media/image617.png"/><Relationship Id="rId5" Type="http://schemas.openxmlformats.org/officeDocument/2006/relationships/image" Target="../media/image618.png"/><Relationship Id="rId6" Type="http://schemas.openxmlformats.org/officeDocument/2006/relationships/image" Target="../media/image619.png"/><Relationship Id="rId7" Type="http://schemas.openxmlformats.org/officeDocument/2006/relationships/image" Target="../media/image620.png"/><Relationship Id="rId8" Type="http://schemas.openxmlformats.org/officeDocument/2006/relationships/image" Target="../media/image621.png"/><Relationship Id="rId9" Type="http://schemas.openxmlformats.org/officeDocument/2006/relationships/image" Target="../media/image622.png"/></Relationships>
</file>

<file path=ppt/charts/_rels/chart107.xml.rels><?xml version='1.0' encoding='UTF-8' standalone='yes'?>
<Relationships xmlns="http://schemas.openxmlformats.org/package/2006/relationships"><Relationship Id="rId2" Type="http://schemas.openxmlformats.org/officeDocument/2006/relationships/image" Target="../media/image623.png"/><Relationship Id="rId3" Type="http://schemas.openxmlformats.org/officeDocument/2006/relationships/image" Target="../media/image624.png"/><Relationship Id="rId4" Type="http://schemas.openxmlformats.org/officeDocument/2006/relationships/image" Target="../media/image625.png"/><Relationship Id="rId5" Type="http://schemas.openxmlformats.org/officeDocument/2006/relationships/image" Target="../media/image626.png"/><Relationship Id="rId6" Type="http://schemas.openxmlformats.org/officeDocument/2006/relationships/image" Target="../media/image627.png"/><Relationship Id="rId7" Type="http://schemas.openxmlformats.org/officeDocument/2006/relationships/image" Target="../media/image628.png"/><Relationship Id="rId8" Type="http://schemas.openxmlformats.org/officeDocument/2006/relationships/image" Target="../media/image629.png"/><Relationship Id="rId9" Type="http://schemas.openxmlformats.org/officeDocument/2006/relationships/image" Target="../media/image630.png"/><Relationship Id="rId10" Type="http://schemas.openxmlformats.org/officeDocument/2006/relationships/image" Target="../media/image631.png"/><Relationship Id="rId11" Type="http://schemas.openxmlformats.org/officeDocument/2006/relationships/image" Target="../media/image632.png"/><Relationship Id="rId12" Type="http://schemas.openxmlformats.org/officeDocument/2006/relationships/image" Target="../media/image633.png"/><Relationship Id="rId13" Type="http://schemas.openxmlformats.org/officeDocument/2006/relationships/image" Target="../media/image634.png"/></Relationships>
</file>

<file path=ppt/charts/_rels/chart108.xml.rels><?xml version='1.0' encoding='UTF-8' standalone='yes'?>
<Relationships xmlns="http://schemas.openxmlformats.org/package/2006/relationships"><Relationship Id="rId2" Type="http://schemas.openxmlformats.org/officeDocument/2006/relationships/image" Target="../media/image641.png"/><Relationship Id="rId3" Type="http://schemas.openxmlformats.org/officeDocument/2006/relationships/image" Target="../media/image642.png"/><Relationship Id="rId4" Type="http://schemas.openxmlformats.org/officeDocument/2006/relationships/image" Target="../media/image643.png"/><Relationship Id="rId5" Type="http://schemas.openxmlformats.org/officeDocument/2006/relationships/image" Target="../media/image644.png"/><Relationship Id="rId6" Type="http://schemas.openxmlformats.org/officeDocument/2006/relationships/image" Target="../media/image645.png"/><Relationship Id="rId7" Type="http://schemas.openxmlformats.org/officeDocument/2006/relationships/image" Target="../media/image646.png"/></Relationships>
</file>

<file path=ppt/charts/_rels/chart113.xml.rels><?xml version='1.0' encoding='UTF-8' standalone='yes'?>
<Relationships xmlns="http://schemas.openxmlformats.org/package/2006/relationships"><Relationship Id="rId2" Type="http://schemas.openxmlformats.org/officeDocument/2006/relationships/image" Target="../media/image647.png"/><Relationship Id="rId3" Type="http://schemas.openxmlformats.org/officeDocument/2006/relationships/image" Target="../media/image648.png"/><Relationship Id="rId4" Type="http://schemas.openxmlformats.org/officeDocument/2006/relationships/image" Target="../media/image649.png"/><Relationship Id="rId5" Type="http://schemas.openxmlformats.org/officeDocument/2006/relationships/image" Target="../media/image650.png"/><Relationship Id="rId6" Type="http://schemas.openxmlformats.org/officeDocument/2006/relationships/image" Target="../media/image651.png"/><Relationship Id="rId7" Type="http://schemas.openxmlformats.org/officeDocument/2006/relationships/image" Target="../media/image652.png"/><Relationship Id="rId8" Type="http://schemas.openxmlformats.org/officeDocument/2006/relationships/image" Target="../media/image653.png"/><Relationship Id="rId9" Type="http://schemas.openxmlformats.org/officeDocument/2006/relationships/image" Target="../media/image654.png"/><Relationship Id="rId10" Type="http://schemas.openxmlformats.org/officeDocument/2006/relationships/image" Target="../media/image655.png"/></Relationships>
</file>

<file path=ppt/charts/_rels/chart114.xml.rels><?xml version='1.0' encoding='UTF-8' standalone='yes'?>
<Relationships xmlns="http://schemas.openxmlformats.org/package/2006/relationships"><Relationship Id="rId2" Type="http://schemas.openxmlformats.org/officeDocument/2006/relationships/image" Target="../media/image666.png"/><Relationship Id="rId3" Type="http://schemas.openxmlformats.org/officeDocument/2006/relationships/image" Target="../media/image667.png"/><Relationship Id="rId4" Type="http://schemas.openxmlformats.org/officeDocument/2006/relationships/image" Target="../media/image668.png"/><Relationship Id="rId5" Type="http://schemas.openxmlformats.org/officeDocument/2006/relationships/image" Target="../media/image669.png"/><Relationship Id="rId6" Type="http://schemas.openxmlformats.org/officeDocument/2006/relationships/image" Target="../media/image670.png"/><Relationship Id="rId7" Type="http://schemas.openxmlformats.org/officeDocument/2006/relationships/image" Target="../media/image671.png"/><Relationship Id="rId8" Type="http://schemas.openxmlformats.org/officeDocument/2006/relationships/image" Target="../media/image672.png"/><Relationship Id="rId9" Type="http://schemas.openxmlformats.org/officeDocument/2006/relationships/image" Target="../media/image673.png"/></Relationships>
</file>

<file path=ppt/charts/_rels/chart120.xml.rels><?xml version='1.0' encoding='UTF-8' standalone='yes'?>
<Relationships xmlns="http://schemas.openxmlformats.org/package/2006/relationships"><Relationship Id="rId2" Type="http://schemas.openxmlformats.org/officeDocument/2006/relationships/image" Target="../media/image674.png"/><Relationship Id="rId3" Type="http://schemas.openxmlformats.org/officeDocument/2006/relationships/image" Target="../media/image675.png"/><Relationship Id="rId4" Type="http://schemas.openxmlformats.org/officeDocument/2006/relationships/image" Target="../media/image676.png"/><Relationship Id="rId5" Type="http://schemas.openxmlformats.org/officeDocument/2006/relationships/image" Target="../media/image677.png"/><Relationship Id="rId6" Type="http://schemas.openxmlformats.org/officeDocument/2006/relationships/image" Target="../media/image678.png"/><Relationship Id="rId7" Type="http://schemas.openxmlformats.org/officeDocument/2006/relationships/image" Target="../media/image679.png"/><Relationship Id="rId8" Type="http://schemas.openxmlformats.org/officeDocument/2006/relationships/image" Target="../media/image680.png"/><Relationship Id="rId9" Type="http://schemas.openxmlformats.org/officeDocument/2006/relationships/image" Target="../media/image681.png"/><Relationship Id="rId10" Type="http://schemas.openxmlformats.org/officeDocument/2006/relationships/image" Target="../media/image682.png"/><Relationship Id="rId11" Type="http://schemas.openxmlformats.org/officeDocument/2006/relationships/image" Target="../media/image683.png"/></Relationships>
</file>

<file path=ppt/charts/_rels/chart121.xml.rels><?xml version='1.0' encoding='UTF-8' standalone='yes'?>
<Relationships xmlns="http://schemas.openxmlformats.org/package/2006/relationships"><Relationship Id="rId2" Type="http://schemas.openxmlformats.org/officeDocument/2006/relationships/image" Target="../media/image697.png"/><Relationship Id="rId3" Type="http://schemas.openxmlformats.org/officeDocument/2006/relationships/image" Target="../media/image698.png"/><Relationship Id="rId4" Type="http://schemas.openxmlformats.org/officeDocument/2006/relationships/image" Target="../media/image699.png"/><Relationship Id="rId5" Type="http://schemas.openxmlformats.org/officeDocument/2006/relationships/image" Target="../media/image700.png"/><Relationship Id="rId6" Type="http://schemas.openxmlformats.org/officeDocument/2006/relationships/image" Target="../media/image701.png"/><Relationship Id="rId7" Type="http://schemas.openxmlformats.org/officeDocument/2006/relationships/image" Target="../media/image702.png"/><Relationship Id="rId8" Type="http://schemas.openxmlformats.org/officeDocument/2006/relationships/image" Target="../media/image703.png"/><Relationship Id="rId9" Type="http://schemas.openxmlformats.org/officeDocument/2006/relationships/image" Target="../media/image704.png"/><Relationship Id="rId10" Type="http://schemas.openxmlformats.org/officeDocument/2006/relationships/image" Target="../media/image705.png"/><Relationship Id="rId11" Type="http://schemas.openxmlformats.org/officeDocument/2006/relationships/image" Target="../media/image706.png"/></Relationships>
</file>

<file path=ppt/charts/_rels/chart128.xml.rels><?xml version='1.0' encoding='UTF-8' standalone='yes'?>
<Relationships xmlns="http://schemas.openxmlformats.org/package/2006/relationships"><Relationship Id="rId2" Type="http://schemas.openxmlformats.org/officeDocument/2006/relationships/image" Target="../media/image707.png"/><Relationship Id="rId3" Type="http://schemas.openxmlformats.org/officeDocument/2006/relationships/image" Target="../media/image708.png"/><Relationship Id="rId4" Type="http://schemas.openxmlformats.org/officeDocument/2006/relationships/image" Target="../media/image709.png"/><Relationship Id="rId5" Type="http://schemas.openxmlformats.org/officeDocument/2006/relationships/image" Target="../media/image710.png"/><Relationship Id="rId6" Type="http://schemas.openxmlformats.org/officeDocument/2006/relationships/image" Target="../media/image711.png"/><Relationship Id="rId7" Type="http://schemas.openxmlformats.org/officeDocument/2006/relationships/image" Target="../media/image712.png"/><Relationship Id="rId8" Type="http://schemas.openxmlformats.org/officeDocument/2006/relationships/image" Target="../media/image713.png"/><Relationship Id="rId9" Type="http://schemas.openxmlformats.org/officeDocument/2006/relationships/image" Target="../media/image714.png"/><Relationship Id="rId10" Type="http://schemas.openxmlformats.org/officeDocument/2006/relationships/image" Target="../media/image715.png"/><Relationship Id="rId11" Type="http://schemas.openxmlformats.org/officeDocument/2006/relationships/image" Target="../media/image716.png"/><Relationship Id="rId12" Type="http://schemas.openxmlformats.org/officeDocument/2006/relationships/image" Target="../media/image717.png"/><Relationship Id="rId13" Type="http://schemas.openxmlformats.org/officeDocument/2006/relationships/image" Target="../media/image718.png"/><Relationship Id="rId14" Type="http://schemas.openxmlformats.org/officeDocument/2006/relationships/image" Target="../media/image719.png"/><Relationship Id="rId15" Type="http://schemas.openxmlformats.org/officeDocument/2006/relationships/image" Target="../media/image720.png"/><Relationship Id="rId16" Type="http://schemas.openxmlformats.org/officeDocument/2006/relationships/image" Target="../media/image721.png"/></Relationships>
</file>

<file path=ppt/charts/_rels/chart129.xml.rels><?xml version='1.0' encoding='UTF-8' standalone='yes'?>
<Relationships xmlns="http://schemas.openxmlformats.org/package/2006/relationships"><Relationship Id="rId2" Type="http://schemas.openxmlformats.org/officeDocument/2006/relationships/image" Target="../media/image729.png"/><Relationship Id="rId3" Type="http://schemas.openxmlformats.org/officeDocument/2006/relationships/image" Target="../media/image730.png"/><Relationship Id="rId4" Type="http://schemas.openxmlformats.org/officeDocument/2006/relationships/image" Target="../media/image731.png"/><Relationship Id="rId5" Type="http://schemas.openxmlformats.org/officeDocument/2006/relationships/image" Target="../media/image732.png"/><Relationship Id="rId6" Type="http://schemas.openxmlformats.org/officeDocument/2006/relationships/image" Target="../media/image733.png"/><Relationship Id="rId7" Type="http://schemas.openxmlformats.org/officeDocument/2006/relationships/image" Target="../media/image734.png"/><Relationship Id="rId8" Type="http://schemas.openxmlformats.org/officeDocument/2006/relationships/image" Target="../media/image735.png"/><Relationship Id="rId9" Type="http://schemas.openxmlformats.org/officeDocument/2006/relationships/image" Target="../media/image736.png"/></Relationships>
</file>

<file path=ppt/charts/_rels/chart135.xml.rels><?xml version='1.0' encoding='UTF-8' standalone='yes'?>
<Relationships xmlns="http://schemas.openxmlformats.org/package/2006/relationships"><Relationship Id="rId2" Type="http://schemas.openxmlformats.org/officeDocument/2006/relationships/image" Target="../media/image737.png"/><Relationship Id="rId3" Type="http://schemas.openxmlformats.org/officeDocument/2006/relationships/image" Target="../media/image738.png"/><Relationship Id="rId4" Type="http://schemas.openxmlformats.org/officeDocument/2006/relationships/image" Target="../media/image739.png"/><Relationship Id="rId5" Type="http://schemas.openxmlformats.org/officeDocument/2006/relationships/image" Target="../media/image740.png"/><Relationship Id="rId6" Type="http://schemas.openxmlformats.org/officeDocument/2006/relationships/image" Target="../media/image741.png"/><Relationship Id="rId7" Type="http://schemas.openxmlformats.org/officeDocument/2006/relationships/image" Target="../media/image742.png"/><Relationship Id="rId8" Type="http://schemas.openxmlformats.org/officeDocument/2006/relationships/image" Target="../media/image743.png"/><Relationship Id="rId9" Type="http://schemas.openxmlformats.org/officeDocument/2006/relationships/image" Target="../media/image744.png"/><Relationship Id="rId10" Type="http://schemas.openxmlformats.org/officeDocument/2006/relationships/image" Target="../media/image745.png"/><Relationship Id="rId11" Type="http://schemas.openxmlformats.org/officeDocument/2006/relationships/image" Target="../media/image746.png"/><Relationship Id="rId12" Type="http://schemas.openxmlformats.org/officeDocument/2006/relationships/image" Target="../media/image747.png"/><Relationship Id="rId13" Type="http://schemas.openxmlformats.org/officeDocument/2006/relationships/image" Target="../media/image748.png"/></Relationships>
</file>

<file path=ppt/charts/_rels/chart136.xml.rels><?xml version='1.0' encoding='UTF-8' standalone='yes'?>
<Relationships xmlns="http://schemas.openxmlformats.org/package/2006/relationships"><Relationship Id="rId2" Type="http://schemas.openxmlformats.org/officeDocument/2006/relationships/image" Target="../media/image754.png"/><Relationship Id="rId3" Type="http://schemas.openxmlformats.org/officeDocument/2006/relationships/image" Target="../media/image755.png"/></Relationships>
</file>

<file path=ppt/charts/_rels/chart140.xml.rels><?xml version='1.0' encoding='UTF-8' standalone='yes'?>
<Relationships xmlns="http://schemas.openxmlformats.org/package/2006/relationships"><Relationship Id="rId2" Type="http://schemas.openxmlformats.org/officeDocument/2006/relationships/image" Target="../media/image756.png"/><Relationship Id="rId3" Type="http://schemas.openxmlformats.org/officeDocument/2006/relationships/image" Target="../media/image757.png"/><Relationship Id="rId4" Type="http://schemas.openxmlformats.org/officeDocument/2006/relationships/image" Target="../media/image758.png"/><Relationship Id="rId5" Type="http://schemas.openxmlformats.org/officeDocument/2006/relationships/image" Target="../media/image759.png"/><Relationship Id="rId6" Type="http://schemas.openxmlformats.org/officeDocument/2006/relationships/image" Target="../media/image760.png"/><Relationship Id="rId7" Type="http://schemas.openxmlformats.org/officeDocument/2006/relationships/image" Target="../media/image761.png"/></Relationships>
</file>

<file path=ppt/charts/_rels/chart181.xml.rels><?xml version='1.0' encoding='UTF-8' standalone='yes'?>
<Relationships xmlns="http://schemas.openxmlformats.org/package/2006/relationships"><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image" Target="../media/image765.png"/><Relationship Id="rId6" Type="http://schemas.openxmlformats.org/officeDocument/2006/relationships/image" Target="../media/image766.png"/><Relationship Id="rId7" Type="http://schemas.openxmlformats.org/officeDocument/2006/relationships/image" Target="../media/image767.png"/><Relationship Id="rId8" Type="http://schemas.openxmlformats.org/officeDocument/2006/relationships/image" Target="../media/image768.png"/><Relationship Id="rId9" Type="http://schemas.openxmlformats.org/officeDocument/2006/relationships/image" Target="../media/image769.png"/><Relationship Id="rId10" Type="http://schemas.openxmlformats.org/officeDocument/2006/relationships/image" Target="../media/image770.png"/><Relationship Id="rId11" Type="http://schemas.openxmlformats.org/officeDocument/2006/relationships/image" Target="../media/image771.png"/></Relationships>
</file>

<file path=ppt/charts/_rels/chart182.xml.rels><?xml version='1.0' encoding='UTF-8' standalone='yes'?>
<Relationships xmlns="http://schemas.openxmlformats.org/package/2006/relationships"><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image" Target="../media/image775.png"/><Relationship Id="rId6" Type="http://schemas.openxmlformats.org/officeDocument/2006/relationships/image" Target="../media/image776.png"/><Relationship Id="rId7" Type="http://schemas.openxmlformats.org/officeDocument/2006/relationships/image" Target="../media/image777.png"/><Relationship Id="rId8" Type="http://schemas.openxmlformats.org/officeDocument/2006/relationships/image" Target="../media/image778.png"/><Relationship Id="rId9" Type="http://schemas.openxmlformats.org/officeDocument/2006/relationships/image" Target="../media/image779.png"/><Relationship Id="rId10" Type="http://schemas.openxmlformats.org/officeDocument/2006/relationships/image" Target="../media/image780.png"/><Relationship Id="rId11" Type="http://schemas.openxmlformats.org/officeDocument/2006/relationships/image" Target="../media/image781.png"/><Relationship Id="rId12" Type="http://schemas.openxmlformats.org/officeDocument/2006/relationships/image" Target="../media/image782.png"/></Relationships>
</file>

<file path=ppt/charts/_rels/chart183.xml.rels><?xml version='1.0' encoding='UTF-8' standalone='yes'?>
<Relationships xmlns="http://schemas.openxmlformats.org/package/2006/relationships"><Relationship Id="rId2" Type="http://schemas.openxmlformats.org/officeDocument/2006/relationships/image" Target="../media/image783.png"/><Relationship Id="rId3" Type="http://schemas.openxmlformats.org/officeDocument/2006/relationships/image" Target="../media/image784.png"/><Relationship Id="rId4" Type="http://schemas.openxmlformats.org/officeDocument/2006/relationships/image" Target="../media/image785.png"/><Relationship Id="rId5" Type="http://schemas.openxmlformats.org/officeDocument/2006/relationships/image" Target="../media/image786.png"/><Relationship Id="rId6" Type="http://schemas.openxmlformats.org/officeDocument/2006/relationships/image" Target="../media/image787.png"/><Relationship Id="rId7" Type="http://schemas.openxmlformats.org/officeDocument/2006/relationships/image" Target="../media/image788.png"/><Relationship Id="rId8" Type="http://schemas.openxmlformats.org/officeDocument/2006/relationships/image" Target="../media/image789.png"/><Relationship Id="rId9" Type="http://schemas.openxmlformats.org/officeDocument/2006/relationships/image" Target="../media/image790.png"/><Relationship Id="rId10" Type="http://schemas.openxmlformats.org/officeDocument/2006/relationships/image" Target="../media/image791.png"/><Relationship Id="rId11" Type="http://schemas.openxmlformats.org/officeDocument/2006/relationships/image" Target="../media/image792.png"/></Relationships>
</file>

<file path=ppt/charts/_rels/chart184.xml.rels><?xml version='1.0' encoding='UTF-8' standalone='yes'?>
<Relationships xmlns="http://schemas.openxmlformats.org/package/2006/relationships"><Relationship Id="rId2" Type="http://schemas.openxmlformats.org/officeDocument/2006/relationships/image" Target="../media/image793.png"/><Relationship Id="rId3" Type="http://schemas.openxmlformats.org/officeDocument/2006/relationships/image" Target="../media/image794.png"/><Relationship Id="rId4" Type="http://schemas.openxmlformats.org/officeDocument/2006/relationships/image" Target="../media/image795.png"/><Relationship Id="rId5" Type="http://schemas.openxmlformats.org/officeDocument/2006/relationships/image" Target="../media/image796.png"/><Relationship Id="rId6" Type="http://schemas.openxmlformats.org/officeDocument/2006/relationships/image" Target="../media/image797.png"/><Relationship Id="rId7" Type="http://schemas.openxmlformats.org/officeDocument/2006/relationships/image" Target="../media/image798.png"/><Relationship Id="rId8" Type="http://schemas.openxmlformats.org/officeDocument/2006/relationships/image" Target="../media/image799.png"/><Relationship Id="rId9" Type="http://schemas.openxmlformats.org/officeDocument/2006/relationships/image" Target="../media/image800.png"/><Relationship Id="rId10" Type="http://schemas.openxmlformats.org/officeDocument/2006/relationships/image" Target="../media/image801.png"/><Relationship Id="rId11" Type="http://schemas.openxmlformats.org/officeDocument/2006/relationships/image" Target="../media/image802.png"/><Relationship Id="rId12" Type="http://schemas.openxmlformats.org/officeDocument/2006/relationships/image" Target="../media/image803.png"/></Relationships>
</file>

<file path=ppt/charts/_rels/chart185.xml.rels><?xml version='1.0' encoding='UTF-8' standalone='yes'?>
<Relationships xmlns="http://schemas.openxmlformats.org/package/2006/relationships"><Relationship Id="rId2" Type="http://schemas.openxmlformats.org/officeDocument/2006/relationships/image" Target="../media/image804.png"/><Relationship Id="rId3" Type="http://schemas.openxmlformats.org/officeDocument/2006/relationships/image" Target="../media/image805.png"/><Relationship Id="rId4" Type="http://schemas.openxmlformats.org/officeDocument/2006/relationships/image" Target="../media/image806.png"/><Relationship Id="rId5" Type="http://schemas.openxmlformats.org/officeDocument/2006/relationships/image" Target="../media/image807.png"/><Relationship Id="rId6" Type="http://schemas.openxmlformats.org/officeDocument/2006/relationships/image" Target="../media/image808.png"/><Relationship Id="rId7" Type="http://schemas.openxmlformats.org/officeDocument/2006/relationships/image" Target="../media/image809.png"/><Relationship Id="rId8" Type="http://schemas.openxmlformats.org/officeDocument/2006/relationships/image" Target="../media/image810.png"/><Relationship Id="rId9" Type="http://schemas.openxmlformats.org/officeDocument/2006/relationships/image" Target="../media/image811.png"/><Relationship Id="rId10" Type="http://schemas.openxmlformats.org/officeDocument/2006/relationships/image" Target="../media/image812.png"/><Relationship Id="rId11" Type="http://schemas.openxmlformats.org/officeDocument/2006/relationships/image" Target="../media/image813.png"/></Relationships>
</file>

<file path=ppt/charts/_rels/chart186.xml.rels><?xml version='1.0' encoding='UTF-8' standalone='yes'?>
<Relationships xmlns="http://schemas.openxmlformats.org/package/2006/relationships"><Relationship Id="rId2" Type="http://schemas.openxmlformats.org/officeDocument/2006/relationships/image" Target="../media/image814.png"/><Relationship Id="rId3" Type="http://schemas.openxmlformats.org/officeDocument/2006/relationships/image" Target="../media/image815.png"/><Relationship Id="rId4" Type="http://schemas.openxmlformats.org/officeDocument/2006/relationships/image" Target="../media/image816.png"/><Relationship Id="rId5" Type="http://schemas.openxmlformats.org/officeDocument/2006/relationships/image" Target="../media/image817.png"/><Relationship Id="rId6" Type="http://schemas.openxmlformats.org/officeDocument/2006/relationships/image" Target="../media/image818.png"/><Relationship Id="rId7" Type="http://schemas.openxmlformats.org/officeDocument/2006/relationships/image" Target="../media/image819.png"/><Relationship Id="rId8" Type="http://schemas.openxmlformats.org/officeDocument/2006/relationships/image" Target="../media/image820.png"/><Relationship Id="rId9" Type="http://schemas.openxmlformats.org/officeDocument/2006/relationships/image" Target="../media/image821.png"/><Relationship Id="rId10" Type="http://schemas.openxmlformats.org/officeDocument/2006/relationships/image" Target="../media/image822.png"/></Relationships>
</file>

<file path=ppt/charts/_rels/chart187.xml.rels><?xml version='1.0' encoding='UTF-8' standalone='yes'?>
<Relationships xmlns="http://schemas.openxmlformats.org/package/2006/relationships"><Relationship Id="rId2" Type="http://schemas.openxmlformats.org/officeDocument/2006/relationships/image" Target="../media/image823.png"/><Relationship Id="rId3" Type="http://schemas.openxmlformats.org/officeDocument/2006/relationships/image" Target="../media/image824.png"/><Relationship Id="rId4" Type="http://schemas.openxmlformats.org/officeDocument/2006/relationships/image" Target="../media/image825.png"/><Relationship Id="rId5" Type="http://schemas.openxmlformats.org/officeDocument/2006/relationships/image" Target="../media/image826.png"/><Relationship Id="rId6" Type="http://schemas.openxmlformats.org/officeDocument/2006/relationships/image" Target="../media/image827.png"/><Relationship Id="rId7" Type="http://schemas.openxmlformats.org/officeDocument/2006/relationships/image" Target="../media/image828.png"/><Relationship Id="rId8" Type="http://schemas.openxmlformats.org/officeDocument/2006/relationships/image" Target="../media/image829.png"/><Relationship Id="rId9" Type="http://schemas.openxmlformats.org/officeDocument/2006/relationships/image" Target="../media/image830.png"/><Relationship Id="rId10" Type="http://schemas.openxmlformats.org/officeDocument/2006/relationships/image" Target="../media/image831.png"/><Relationship Id="rId11" Type="http://schemas.openxmlformats.org/officeDocument/2006/relationships/image" Target="../media/image832.png"/><Relationship Id="rId12" Type="http://schemas.openxmlformats.org/officeDocument/2006/relationships/image" Target="../media/image833.png"/></Relationships>
</file>

<file path=ppt/charts/_rels/chart188.xml.rels><?xml version='1.0' encoding='UTF-8' standalone='yes'?>
<Relationships xmlns="http://schemas.openxmlformats.org/package/2006/relationships"><Relationship Id="rId2" Type="http://schemas.openxmlformats.org/officeDocument/2006/relationships/image" Target="../media/image834.png"/><Relationship Id="rId3" Type="http://schemas.openxmlformats.org/officeDocument/2006/relationships/image" Target="../media/image835.png"/><Relationship Id="rId4" Type="http://schemas.openxmlformats.org/officeDocument/2006/relationships/image" Target="../media/image836.png"/><Relationship Id="rId5" Type="http://schemas.openxmlformats.org/officeDocument/2006/relationships/image" Target="../media/image837.png"/></Relationships>
</file>

<file path=ppt/charts/_rels/chart189.xml.rels><?xml version='1.0' encoding='UTF-8' standalone='yes'?>
<Relationships xmlns="http://schemas.openxmlformats.org/package/2006/relationships"><Relationship Id="rId2" Type="http://schemas.openxmlformats.org/officeDocument/2006/relationships/image" Target="../media/image838.png"/><Relationship Id="rId3" Type="http://schemas.openxmlformats.org/officeDocument/2006/relationships/image" Target="../media/image839.png"/><Relationship Id="rId4" Type="http://schemas.openxmlformats.org/officeDocument/2006/relationships/image" Target="../media/image840.png"/><Relationship Id="rId5" Type="http://schemas.openxmlformats.org/officeDocument/2006/relationships/image" Target="../media/image841.png"/><Relationship Id="rId6" Type="http://schemas.openxmlformats.org/officeDocument/2006/relationships/image" Target="../media/image842.png"/></Relationships>
</file>

<file path=ppt/charts/_rels/chart190.xml.rels><?xml version='1.0' encoding='UTF-8' standalone='yes'?>
<Relationships xmlns="http://schemas.openxmlformats.org/package/2006/relationships"><Relationship Id="rId2" Type="http://schemas.openxmlformats.org/officeDocument/2006/relationships/image" Target="../media/image843.png"/><Relationship Id="rId3" Type="http://schemas.openxmlformats.org/officeDocument/2006/relationships/image" Target="../media/image844.png"/><Relationship Id="rId4" Type="http://schemas.openxmlformats.org/officeDocument/2006/relationships/image" Target="../media/image845.png"/></Relationships>
</file>

<file path=ppt/charts/_rels/chart191.xml.rels><?xml version='1.0' encoding='UTF-8' standalone='yes'?>
<Relationships xmlns="http://schemas.openxmlformats.org/package/2006/relationships"><Relationship Id="rId2" Type="http://schemas.openxmlformats.org/officeDocument/2006/relationships/image" Target="../media/image846.png"/><Relationship Id="rId3" Type="http://schemas.openxmlformats.org/officeDocument/2006/relationships/image" Target="../media/image847.png"/><Relationship Id="rId4" Type="http://schemas.openxmlformats.org/officeDocument/2006/relationships/image" Target="../media/image848.png"/><Relationship Id="rId5" Type="http://schemas.openxmlformats.org/officeDocument/2006/relationships/image" Target="../media/image849.png"/><Relationship Id="rId6" Type="http://schemas.openxmlformats.org/officeDocument/2006/relationships/image" Target="../media/image850.png"/><Relationship Id="rId7" Type="http://schemas.openxmlformats.org/officeDocument/2006/relationships/image" Target="../media/image851.png"/><Relationship Id="rId8" Type="http://schemas.openxmlformats.org/officeDocument/2006/relationships/image" Target="../media/image852.png"/><Relationship Id="rId9" Type="http://schemas.openxmlformats.org/officeDocument/2006/relationships/image" Target="../media/image853.png"/><Relationship Id="rId10" Type="http://schemas.openxmlformats.org/officeDocument/2006/relationships/image" Target="../media/image854.png"/><Relationship Id="rId11" Type="http://schemas.openxmlformats.org/officeDocument/2006/relationships/image" Target="../media/image855.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4.236636625455881</c:v>
                </c:pt>
                <c:pt idx="1">
                  <c:v>7.401973782730953</c:v>
                </c:pt>
                <c:pt idx="2">
                  <c:v>6.336322894760915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9.770605393204859"/>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346858.623</c:v>
                </c:pt>
                <c:pt idx="2">
                  <c:v>0.0</c:v>
                </c:pt>
                <c:pt idx="3">
                  <c:v>426829.51599999995</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346858.623</c:v>
                </c:pt>
                <c:pt idx="1">
                  <c:v>79970.89299999992</c:v>
                </c:pt>
                <c:pt idx="2">
                  <c:v>426829.51599999995</c:v>
                </c:pt>
                <c:pt idx="3">
                  <c:v>444890.606</c:v>
                </c:pt>
                <c:pt idx="4">
                  <c:v>871720.122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4.876337662923702</c:v>
                </c:pt>
                <c:pt idx="1">
                  <c:v>8.005379799890267</c:v>
                </c:pt>
                <c:pt idx="2">
                  <c:v>6.95212799259608</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567101335855153"/>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1379.273</c:v>
                </c:pt>
                <c:pt idx="2">
                  <c:v>0.0</c:v>
                </c:pt>
                <c:pt idx="3">
                  <c:v>1749.999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1379.273</c:v>
                </c:pt>
                <c:pt idx="1">
                  <c:v>370.7260000000001</c:v>
                </c:pt>
                <c:pt idx="2">
                  <c:v>1749.999</c:v>
                </c:pt>
                <c:pt idx="3">
                  <c:v>2030.0000000000002</c:v>
                </c:pt>
                <c:pt idx="4">
                  <c:v>3779.9990000000003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1379.273</c:v>
                </c:pt>
                <c:pt idx="1">
                  <c:v>1435.716</c:v>
                </c:pt>
                <c:pt idx="2">
                  <c:v>1494.626</c:v>
                </c:pt>
                <c:pt idx="3">
                  <c:v>1556.104</c:v>
                </c:pt>
                <c:pt idx="4">
                  <c:v>1620.289</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346858.623</c:v>
                </c:pt>
                <c:pt idx="1">
                  <c:v>358799.532</c:v>
                </c:pt>
                <c:pt idx="2">
                  <c:v>371216.062</c:v>
                </c:pt>
                <c:pt idx="3">
                  <c:v>384129.118</c:v>
                </c:pt>
                <c:pt idx="4">
                  <c:v>397560.57</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912"/>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46379"/>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1"/>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1749.999</c:v>
                </c:pt>
                <c:pt idx="1">
                  <c:v>1890.095</c:v>
                </c:pt>
                <c:pt idx="2">
                  <c:v>2041.4040000000002</c:v>
                </c:pt>
                <c:pt idx="3">
                  <c:v>2204.824</c:v>
                </c:pt>
                <c:pt idx="4">
                  <c:v>2381.329</c:v>
                </c:pt>
                <c:pt idx="5">
                  <c:v>2571.962</c:v>
                </c:pt>
                <c:pt idx="6">
                  <c:v>2777.861</c:v>
                </c:pt>
                <c:pt idx="7">
                  <c:v>3000.24</c:v>
                </c:pt>
                <c:pt idx="8">
                  <c:v>3240.42</c:v>
                </c:pt>
                <c:pt idx="9">
                  <c:v>3499.8289999999997</c:v>
                </c:pt>
                <c:pt idx="10">
                  <c:v>3779.9990000000003</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426829.51599999995</c:v>
                </c:pt>
                <c:pt idx="1">
                  <c:v>458280.92</c:v>
                </c:pt>
                <c:pt idx="2">
                  <c:v>492085.017</c:v>
                </c:pt>
                <c:pt idx="3">
                  <c:v>528419.4369999999</c:v>
                </c:pt>
                <c:pt idx="4">
                  <c:v>567475.811</c:v>
                </c:pt>
                <c:pt idx="5">
                  <c:v>609461.076</c:v>
                </c:pt>
                <c:pt idx="6">
                  <c:v>654596.979</c:v>
                </c:pt>
                <c:pt idx="7">
                  <c:v>703123.409</c:v>
                </c:pt>
                <c:pt idx="8">
                  <c:v>755296.3319999999</c:v>
                </c:pt>
                <c:pt idx="9">
                  <c:v>811396.715</c:v>
                </c:pt>
                <c:pt idx="10">
                  <c:v>871720.122</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4460"/>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236254"/>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China</c:v>
                </c:pt>
                <c:pt idx="1">
                  <c:v>Malaysia</c:v>
                </c:pt>
                <c:pt idx="2">
                  <c:v>Spain</c:v>
                </c:pt>
                <c:pt idx="3">
                  <c:v>Thailand</c:v>
                </c:pt>
                <c:pt idx="4">
                  <c:v>Brazil</c:v>
                </c:pt>
                <c:pt idx="5">
                  <c:v>France</c:v>
                </c:pt>
                <c:pt idx="6">
                  <c:v>Netherlands</c:v>
                </c:pt>
                <c:pt idx="7">
                  <c:v>Germany</c:v>
                </c:pt>
                <c:pt idx="8">
                  <c:v>Saudi Arabia</c:v>
                </c:pt>
                <c:pt idx="9">
                  <c:v>India</c:v>
                </c:pt>
              </c:strCache>
            </c:strRef>
          </c:cat>
          <c:val>
            <c:numRef>
              <c:numCache>
                <c:formatCode>General</c:formatCode>
                <c:ptCount val="10"/>
                <c:pt idx="0">
                  <c:v>101.02618973846648</c:v>
                </c:pt>
                <c:pt idx="1">
                  <c:v>103.81926377503386</c:v>
                </c:pt>
                <c:pt idx="2">
                  <c:v>109.2439602556784</c:v>
                </c:pt>
                <c:pt idx="3">
                  <c:v>111.57250704903281</c:v>
                </c:pt>
                <c:pt idx="4">
                  <c:v>111.91283732375422</c:v>
                </c:pt>
                <c:pt idx="5">
                  <c:v>114.74418895870515</c:v>
                </c:pt>
                <c:pt idx="6">
                  <c:v>117.77154154994108</c:v>
                </c:pt>
                <c:pt idx="7">
                  <c:v>119.92213894130528</c:v>
                </c:pt>
                <c:pt idx="8">
                  <c:v>120.16817176900263</c:v>
                </c:pt>
                <c:pt idx="9">
                  <c:v>122.7300053310484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UAE</c:v>
                </c:pt>
                <c:pt idx="1">
                  <c:v>Japan</c:v>
                </c:pt>
                <c:pt idx="2">
                  <c:v>France</c:v>
                </c:pt>
                <c:pt idx="3">
                  <c:v>U.K.</c:v>
                </c:pt>
                <c:pt idx="4">
                  <c:v>Brazil</c:v>
                </c:pt>
                <c:pt idx="5">
                  <c:v>India</c:v>
                </c:pt>
                <c:pt idx="6">
                  <c:v>China</c:v>
                </c:pt>
                <c:pt idx="7">
                  <c:v>Canada</c:v>
                </c:pt>
                <c:pt idx="8">
                  <c:v>Germany</c:v>
                </c:pt>
                <c:pt idx="9">
                  <c:v>U.S.</c:v>
                </c:pt>
              </c:strCache>
            </c:strRef>
          </c:cat>
          <c:val>
            <c:numRef>
              <c:numCache>
                <c:formatCode>General</c:formatCode>
                <c:ptCount val="10"/>
                <c:pt idx="0">
                  <c:v>2.8847290640394085</c:v>
                </c:pt>
                <c:pt idx="1">
                  <c:v>3.137733990147783</c:v>
                </c:pt>
                <c:pt idx="2">
                  <c:v>3.476600985221675</c:v>
                </c:pt>
                <c:pt idx="3">
                  <c:v>3.7025615763546784</c:v>
                </c:pt>
                <c:pt idx="4">
                  <c:v>5.833251231527094</c:v>
                </c:pt>
                <c:pt idx="5">
                  <c:v>6.521724137931033</c:v>
                </c:pt>
                <c:pt idx="6">
                  <c:v>7.606650246305417</c:v>
                </c:pt>
                <c:pt idx="7">
                  <c:v>9.460689655172411</c:v>
                </c:pt>
                <c:pt idx="8">
                  <c:v>13.11064039408867</c:v>
                </c:pt>
                <c:pt idx="9">
                  <c:v>18.263448275862064</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2224.518</c:v>
                </c:pt>
                <c:pt idx="1">
                  <c:v>435.577</c:v>
                </c:pt>
                <c:pt idx="2">
                  <c:v>1119.904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0.0961653008455564</c:v>
                </c:pt>
                <c:pt idx="1">
                  <c:v>0.0976853008455564</c:v>
                </c:pt>
                <c:pt idx="2">
                  <c:v>0.1010353008455564</c:v>
                </c:pt>
                <c:pt idx="3">
                  <c:v>0.1040853008455564</c:v>
                </c:pt>
                <c:pt idx="4">
                  <c:v>0.10341530084555639</c:v>
                </c:pt>
                <c:pt idx="5">
                  <c:v>0.1008953008455564</c:v>
                </c:pt>
                <c:pt idx="6">
                  <c:v>0.09944530084555639</c:v>
                </c:pt>
                <c:pt idx="7">
                  <c:v>0.1013253008455564</c:v>
                </c:pt>
                <c:pt idx="8">
                  <c:v>0.1007553008455564</c:v>
                </c:pt>
                <c:pt idx="9">
                  <c:v>0.0990653008455564</c:v>
                </c:pt>
                <c:pt idx="10">
                  <c:v>0.09689530084555639</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0.08453950098304254</c:v>
                </c:pt>
                <c:pt idx="1">
                  <c:v>0.08220950098304254</c:v>
                </c:pt>
                <c:pt idx="2">
                  <c:v>0.08020950098304254</c:v>
                </c:pt>
                <c:pt idx="3">
                  <c:v>0.07786950098304254</c:v>
                </c:pt>
                <c:pt idx="4">
                  <c:v>0.07720950098304255</c:v>
                </c:pt>
                <c:pt idx="5">
                  <c:v>0.07720950098304255</c:v>
                </c:pt>
                <c:pt idx="6">
                  <c:v>0.07953950098304255</c:v>
                </c:pt>
                <c:pt idx="7">
                  <c:v>0.08120950098304254</c:v>
                </c:pt>
                <c:pt idx="8">
                  <c:v>0.08120950098304254</c:v>
                </c:pt>
                <c:pt idx="9">
                  <c:v>0.08024950098304254</c:v>
                </c:pt>
                <c:pt idx="10">
                  <c:v>0.07915950098304254</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0.05166457587721818</c:v>
                </c:pt>
                <c:pt idx="1">
                  <c:v>0.052595211441505946</c:v>
                </c:pt>
                <c:pt idx="2">
                  <c:v>0.054624164653736935</c:v>
                </c:pt>
                <c:pt idx="3">
                  <c:v>0.055814707447690654</c:v>
                </c:pt>
                <c:pt idx="4">
                  <c:v>0.05781850834737333</c:v>
                </c:pt>
                <c:pt idx="5">
                  <c:v>0.0608032494364404</c:v>
                </c:pt>
                <c:pt idx="6">
                  <c:v>0.06204409685549076</c:v>
                </c:pt>
                <c:pt idx="7">
                  <c:v>0.06393890440079739</c:v>
                </c:pt>
                <c:pt idx="8">
                  <c:v>0.06520490413239606</c:v>
                </c:pt>
                <c:pt idx="9">
                  <c:v>0.06704102294842329</c:v>
                </c:pt>
                <c:pt idx="10">
                  <c:v>0.0690615920564715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19.469178181201507</c:v>
                </c:pt>
                <c:pt idx="1">
                  <c:v>22.36165233317856</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22.160651373509978</c:v>
                </c:pt>
                <c:pt idx="1">
                  <c:v>21.895319286893784</c:v>
                </c:pt>
              </c:numCache>
            </c:numRef>
          </c:val>
        </c:ser>
        <c:ser>
          <c:idx val="2"/>
          <c:order val="2"/>
          <c:tx>
            <c:strRef>
              <c:strCache>
                <c:ptCount val="1"/>
                <c:pt idx="0">
                  <c:v>North America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24.127871700419142</c:v>
                </c:pt>
                <c:pt idx="1">
                  <c:v>20.23305021287555</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18.297036187160025</c:v>
                </c:pt>
                <c:pt idx="1">
                  <c:v>18.975072942046875</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8.332804238402295</c:v>
                </c:pt>
                <c:pt idx="1">
                  <c:v>8.90638841992912</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7.612458319307046</c:v>
                </c:pt>
                <c:pt idx="1">
                  <c:v>7.6285168050761145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33.000018857153634</c:v>
                </c:pt>
                <c:pt idx="1">
                  <c:v>30.166674647268426</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27.000015428580245</c:v>
                </c:pt>
                <c:pt idx="1">
                  <c:v>28.493393781321107</c:v>
                </c:pt>
              </c:numCache>
            </c:numRef>
          </c:val>
        </c:ser>
        <c:ser>
          <c:idx val="2"/>
          <c:order val="2"/>
          <c:tx>
            <c:strRef>
              <c:strCache>
                <c:ptCount val="1"/>
                <c:pt idx="0">
                  <c:v>South Asia &amp; Pacific</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11.999949714256978</c:v>
                </c:pt>
                <c:pt idx="1">
                  <c:v>13.041723026910853</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12.999950285685877</c:v>
                </c:pt>
                <c:pt idx="1">
                  <c:v>12.755506019975138</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8.000004571431184</c:v>
                </c:pt>
                <c:pt idx="1">
                  <c:v>8.60415571538511</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7.000061142892082</c:v>
                </c:pt>
                <c:pt idx="1">
                  <c:v>6.938546809139368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90854.786</c:v>
                </c:pt>
                <c:pt idx="1">
                  <c:v>92482.111</c:v>
                </c:pt>
                <c:pt idx="2">
                  <c:v>94139.159</c:v>
                </c:pt>
                <c:pt idx="3">
                  <c:v>95826.483</c:v>
                </c:pt>
                <c:pt idx="4">
                  <c:v>97544.648</c:v>
                </c:pt>
                <c:pt idx="5">
                  <c:v>102984.878</c:v>
                </c:pt>
                <c:pt idx="6">
                  <c:v>108724.927</c:v>
                </c:pt>
                <c:pt idx="7">
                  <c:v>114774.033</c:v>
                </c:pt>
                <c:pt idx="8">
                  <c:v>121148.009</c:v>
                </c:pt>
                <c:pt idx="9">
                  <c:v>127863.549</c:v>
                </c:pt>
                <c:pt idx="10">
                  <c:v>134938.303</c:v>
                </c:pt>
                <c:pt idx="11">
                  <c:v>142390.556</c:v>
                </c:pt>
                <c:pt idx="12">
                  <c:v>150239.731</c:v>
                </c:pt>
                <c:pt idx="13">
                  <c:v>158505.711</c:v>
                </c:pt>
                <c:pt idx="14">
                  <c:v>167210.462</c:v>
                </c:pt>
                <c:pt idx="15">
                  <c:v>176375.57</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77136.522</c:v>
                </c:pt>
                <c:pt idx="1">
                  <c:v>79745.447</c:v>
                </c:pt>
                <c:pt idx="2">
                  <c:v>82452.123</c:v>
                </c:pt>
                <c:pt idx="3">
                  <c:v>85260.459</c:v>
                </c:pt>
                <c:pt idx="4">
                  <c:v>88174.496</c:v>
                </c:pt>
                <c:pt idx="5">
                  <c:v>94588.201</c:v>
                </c:pt>
                <c:pt idx="6">
                  <c:v>101465.032</c:v>
                </c:pt>
                <c:pt idx="7">
                  <c:v>108842.825</c:v>
                </c:pt>
                <c:pt idx="8">
                  <c:v>116757.871</c:v>
                </c:pt>
                <c:pt idx="9">
                  <c:v>125249.151</c:v>
                </c:pt>
                <c:pt idx="10">
                  <c:v>134358.614</c:v>
                </c:pt>
                <c:pt idx="11">
                  <c:v>144131.008</c:v>
                </c:pt>
                <c:pt idx="12">
                  <c:v>154614.549</c:v>
                </c:pt>
                <c:pt idx="13">
                  <c:v>165860.431</c:v>
                </c:pt>
                <c:pt idx="14">
                  <c:v>177924.696</c:v>
                </c:pt>
                <c:pt idx="15">
                  <c:v>190865.904</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62812.178</c:v>
                </c:pt>
                <c:pt idx="1">
                  <c:v>65932.391</c:v>
                </c:pt>
                <c:pt idx="2">
                  <c:v>69214.566</c:v>
                </c:pt>
                <c:pt idx="3">
                  <c:v>72667.392</c:v>
                </c:pt>
                <c:pt idx="4">
                  <c:v>76300.033</c:v>
                </c:pt>
                <c:pt idx="5">
                  <c:v>83100.199</c:v>
                </c:pt>
                <c:pt idx="6">
                  <c:v>90500.035</c:v>
                </c:pt>
                <c:pt idx="7">
                  <c:v>98558.27</c:v>
                </c:pt>
                <c:pt idx="8">
                  <c:v>107333.166</c:v>
                </c:pt>
                <c:pt idx="9">
                  <c:v>116888.22</c:v>
                </c:pt>
                <c:pt idx="10">
                  <c:v>127292.643</c:v>
                </c:pt>
                <c:pt idx="11">
                  <c:v>138621.544</c:v>
                </c:pt>
                <c:pt idx="12">
                  <c:v>150956.872</c:v>
                </c:pt>
                <c:pt idx="13">
                  <c:v>164387.293</c:v>
                </c:pt>
                <c:pt idx="14">
                  <c:v>179010.447</c:v>
                </c:pt>
                <c:pt idx="15">
                  <c:v>194931.023</c:v>
                </c:pt>
              </c:numCache>
            </c:numRef>
          </c:val>
        </c:ser>
        <c:ser>
          <c:idx val="3"/>
          <c:order val="3"/>
          <c:tx>
            <c:strRef>
              <c:strCache>
                <c:ptCount val="1"/>
                <c:pt idx="0">
                  <c:v>East Asia</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61970.453</c:v>
                </c:pt>
                <c:pt idx="1">
                  <c:v>64429.815</c:v>
                </c:pt>
                <c:pt idx="2">
                  <c:v>66988.175</c:v>
                </c:pt>
                <c:pt idx="3">
                  <c:v>69649.562</c:v>
                </c:pt>
                <c:pt idx="4">
                  <c:v>72418.18</c:v>
                </c:pt>
                <c:pt idx="5">
                  <c:v>78097.151</c:v>
                </c:pt>
                <c:pt idx="6">
                  <c:v>84215.089</c:v>
                </c:pt>
                <c:pt idx="7">
                  <c:v>90804.966</c:v>
                </c:pt>
                <c:pt idx="8">
                  <c:v>97902.431</c:v>
                </c:pt>
                <c:pt idx="9">
                  <c:v>105545.863</c:v>
                </c:pt>
                <c:pt idx="10">
                  <c:v>113776.601</c:v>
                </c:pt>
                <c:pt idx="11">
                  <c:v>122638.852</c:v>
                </c:pt>
                <c:pt idx="12">
                  <c:v>132180.312</c:v>
                </c:pt>
                <c:pt idx="13">
                  <c:v>142451.756</c:v>
                </c:pt>
                <c:pt idx="14">
                  <c:v>153508.723</c:v>
                </c:pt>
                <c:pt idx="15">
                  <c:v>165409.529</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27795.957</c:v>
                </c:pt>
                <c:pt idx="1">
                  <c:v>28986.931</c:v>
                </c:pt>
                <c:pt idx="2">
                  <c:v>30229.71</c:v>
                </c:pt>
                <c:pt idx="3">
                  <c:v>31526.581</c:v>
                </c:pt>
                <c:pt idx="4">
                  <c:v>32879.934</c:v>
                </c:pt>
                <c:pt idx="5">
                  <c:v>35566.868</c:v>
                </c:pt>
                <c:pt idx="6">
                  <c:v>38468.054</c:v>
                </c:pt>
                <c:pt idx="7">
                  <c:v>41602.754</c:v>
                </c:pt>
                <c:pt idx="8">
                  <c:v>44989.43</c:v>
                </c:pt>
                <c:pt idx="9">
                  <c:v>48648.015</c:v>
                </c:pt>
                <c:pt idx="10">
                  <c:v>52600.056</c:v>
                </c:pt>
                <c:pt idx="11">
                  <c:v>56868.681</c:v>
                </c:pt>
                <c:pt idx="12">
                  <c:v>61478.917</c:v>
                </c:pt>
                <c:pt idx="13">
                  <c:v>66457.528</c:v>
                </c:pt>
                <c:pt idx="14">
                  <c:v>71833.828</c:v>
                </c:pt>
                <c:pt idx="15">
                  <c:v>77638.78</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26288.727</c:v>
                </c:pt>
                <c:pt idx="1">
                  <c:v>27222.837</c:v>
                </c:pt>
                <c:pt idx="2">
                  <c:v>28192.329</c:v>
                </c:pt>
                <c:pt idx="3">
                  <c:v>29198.641</c:v>
                </c:pt>
                <c:pt idx="4">
                  <c:v>30243.279</c:v>
                </c:pt>
                <c:pt idx="5">
                  <c:v>32492.219</c:v>
                </c:pt>
                <c:pt idx="6">
                  <c:v>34907.783</c:v>
                </c:pt>
                <c:pt idx="7">
                  <c:v>37502.169</c:v>
                </c:pt>
                <c:pt idx="8">
                  <c:v>40288.53</c:v>
                </c:pt>
                <c:pt idx="9">
                  <c:v>43281.013</c:v>
                </c:pt>
                <c:pt idx="10">
                  <c:v>46494.859</c:v>
                </c:pt>
                <c:pt idx="11">
                  <c:v>49946.338</c:v>
                </c:pt>
                <c:pt idx="12">
                  <c:v>53653.028</c:v>
                </c:pt>
                <c:pt idx="13">
                  <c:v>57633.613</c:v>
                </c:pt>
                <c:pt idx="14">
                  <c:v>61908.559</c:v>
                </c:pt>
                <c:pt idx="15">
                  <c:v>66499.316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474.565</c:v>
                </c:pt>
                <c:pt idx="1">
                  <c:v>489.969</c:v>
                </c:pt>
                <c:pt idx="2">
                  <c:v>505.878</c:v>
                </c:pt>
                <c:pt idx="3">
                  <c:v>522.308</c:v>
                </c:pt>
                <c:pt idx="4">
                  <c:v>539.277</c:v>
                </c:pt>
                <c:pt idx="5">
                  <c:v>577.5</c:v>
                </c:pt>
                <c:pt idx="6">
                  <c:v>618.414</c:v>
                </c:pt>
                <c:pt idx="7">
                  <c:v>662.168</c:v>
                </c:pt>
                <c:pt idx="8">
                  <c:v>708.949</c:v>
                </c:pt>
                <c:pt idx="9">
                  <c:v>758.968</c:v>
                </c:pt>
                <c:pt idx="10">
                  <c:v>812.439</c:v>
                </c:pt>
                <c:pt idx="11">
                  <c:v>869.596</c:v>
                </c:pt>
                <c:pt idx="12">
                  <c:v>930.689</c:v>
                </c:pt>
                <c:pt idx="13">
                  <c:v>995.979</c:v>
                </c:pt>
                <c:pt idx="14">
                  <c:v>1065.751</c:v>
                </c:pt>
                <c:pt idx="15">
                  <c:v>1140.3</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362.67</c:v>
                </c:pt>
                <c:pt idx="1">
                  <c:v>379.498</c:v>
                </c:pt>
                <c:pt idx="2">
                  <c:v>397.16</c:v>
                </c:pt>
                <c:pt idx="3">
                  <c:v>415.692</c:v>
                </c:pt>
                <c:pt idx="4">
                  <c:v>435.149</c:v>
                </c:pt>
                <c:pt idx="5">
                  <c:v>472.5</c:v>
                </c:pt>
                <c:pt idx="6">
                  <c:v>513.049</c:v>
                </c:pt>
                <c:pt idx="7">
                  <c:v>557.083</c:v>
                </c:pt>
                <c:pt idx="8">
                  <c:v>604.909</c:v>
                </c:pt>
                <c:pt idx="9">
                  <c:v>656.849</c:v>
                </c:pt>
                <c:pt idx="10">
                  <c:v>713.265</c:v>
                </c:pt>
                <c:pt idx="11">
                  <c:v>774.531</c:v>
                </c:pt>
                <c:pt idx="12">
                  <c:v>841.068</c:v>
                </c:pt>
                <c:pt idx="13">
                  <c:v>913.332</c:v>
                </c:pt>
                <c:pt idx="14">
                  <c:v>991.816</c:v>
                </c:pt>
                <c:pt idx="15">
                  <c:v>1077.05</c:v>
                </c:pt>
              </c:numCache>
            </c:numRef>
          </c:val>
        </c:ser>
        <c:ser>
          <c:idx val="2"/>
          <c:order val="2"/>
          <c:tx>
            <c:strRef>
              <c:strCache>
                <c:ptCount val="1"/>
                <c:pt idx="0">
                  <c:v>East Asia</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180.412</c:v>
                </c:pt>
                <c:pt idx="1">
                  <c:v>187.598</c:v>
                </c:pt>
                <c:pt idx="2">
                  <c:v>195.072</c:v>
                </c:pt>
                <c:pt idx="3">
                  <c:v>202.846</c:v>
                </c:pt>
                <c:pt idx="4">
                  <c:v>210.934</c:v>
                </c:pt>
                <c:pt idx="5">
                  <c:v>227.499</c:v>
                </c:pt>
                <c:pt idx="6">
                  <c:v>245.346</c:v>
                </c:pt>
                <c:pt idx="7">
                  <c:v>264.569</c:v>
                </c:pt>
                <c:pt idx="8">
                  <c:v>285.272</c:v>
                </c:pt>
                <c:pt idx="9">
                  <c:v>307.568</c:v>
                </c:pt>
                <c:pt idx="10">
                  <c:v>331.575</c:v>
                </c:pt>
                <c:pt idx="11">
                  <c:v>357.424</c:v>
                </c:pt>
                <c:pt idx="12">
                  <c:v>385.252</c:v>
                </c:pt>
                <c:pt idx="13">
                  <c:v>415.208</c:v>
                </c:pt>
                <c:pt idx="14">
                  <c:v>447.454</c:v>
                </c:pt>
                <c:pt idx="15">
                  <c:v>482.158</c:v>
                </c:pt>
              </c:numCache>
            </c:numRef>
          </c:val>
        </c:ser>
        <c:ser>
          <c:idx val="3"/>
          <c:order val="3"/>
          <c:tx>
            <c:strRef>
              <c:strCache>
                <c:ptCount val="1"/>
                <c:pt idx="0">
                  <c:v>South Asia &amp; Pacific</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158.678</c:v>
                </c:pt>
                <c:pt idx="1">
                  <c:v>166.568</c:v>
                </c:pt>
                <c:pt idx="2">
                  <c:v>174.872</c:v>
                </c:pt>
                <c:pt idx="3">
                  <c:v>183.609</c:v>
                </c:pt>
                <c:pt idx="4">
                  <c:v>192.802</c:v>
                </c:pt>
                <c:pt idx="5">
                  <c:v>209.999</c:v>
                </c:pt>
                <c:pt idx="6">
                  <c:v>228.717</c:v>
                </c:pt>
                <c:pt idx="7">
                  <c:v>249.1</c:v>
                </c:pt>
                <c:pt idx="8">
                  <c:v>271.298</c:v>
                </c:pt>
                <c:pt idx="9">
                  <c:v>295.471</c:v>
                </c:pt>
                <c:pt idx="10">
                  <c:v>321.794</c:v>
                </c:pt>
                <c:pt idx="11">
                  <c:v>350.463</c:v>
                </c:pt>
                <c:pt idx="12">
                  <c:v>381.68</c:v>
                </c:pt>
                <c:pt idx="13">
                  <c:v>415.672</c:v>
                </c:pt>
                <c:pt idx="14">
                  <c:v>452.682</c:v>
                </c:pt>
                <c:pt idx="15">
                  <c:v>492.977</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106.042</c:v>
                </c:pt>
                <c:pt idx="1">
                  <c:v>111.28</c:v>
                </c:pt>
                <c:pt idx="2">
                  <c:v>116.781</c:v>
                </c:pt>
                <c:pt idx="3">
                  <c:v>122.555</c:v>
                </c:pt>
                <c:pt idx="4">
                  <c:v>128.618</c:v>
                </c:pt>
                <c:pt idx="5">
                  <c:v>140.0</c:v>
                </c:pt>
                <c:pt idx="6">
                  <c:v>152.369</c:v>
                </c:pt>
                <c:pt idx="7">
                  <c:v>165.816</c:v>
                </c:pt>
                <c:pt idx="8">
                  <c:v>180.436</c:v>
                </c:pt>
                <c:pt idx="9">
                  <c:v>196.33</c:v>
                </c:pt>
                <c:pt idx="10">
                  <c:v>213.605</c:v>
                </c:pt>
                <c:pt idx="11">
                  <c:v>232.382</c:v>
                </c:pt>
                <c:pt idx="12">
                  <c:v>252.788</c:v>
                </c:pt>
                <c:pt idx="13">
                  <c:v>274.962</c:v>
                </c:pt>
                <c:pt idx="14">
                  <c:v>299.055</c:v>
                </c:pt>
                <c:pt idx="15">
                  <c:v>325.237</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96.906</c:v>
                </c:pt>
                <c:pt idx="1">
                  <c:v>100.803</c:v>
                </c:pt>
                <c:pt idx="2">
                  <c:v>104.863</c:v>
                </c:pt>
                <c:pt idx="3">
                  <c:v>109.094</c:v>
                </c:pt>
                <c:pt idx="4">
                  <c:v>113.509</c:v>
                </c:pt>
                <c:pt idx="5">
                  <c:v>122.501</c:v>
                </c:pt>
                <c:pt idx="6">
                  <c:v>132.2</c:v>
                </c:pt>
                <c:pt idx="7">
                  <c:v>142.668</c:v>
                </c:pt>
                <c:pt idx="8">
                  <c:v>153.96</c:v>
                </c:pt>
                <c:pt idx="9">
                  <c:v>166.143</c:v>
                </c:pt>
                <c:pt idx="10">
                  <c:v>179.284</c:v>
                </c:pt>
                <c:pt idx="11">
                  <c:v>193.465</c:v>
                </c:pt>
                <c:pt idx="12">
                  <c:v>208.763</c:v>
                </c:pt>
                <c:pt idx="13">
                  <c:v>225.267</c:v>
                </c:pt>
                <c:pt idx="14">
                  <c:v>243.071</c:v>
                </c:pt>
                <c:pt idx="15">
                  <c:v>262.277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Mineral Ceramide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59.216782256926834</c:v>
                </c:pt>
                <c:pt idx="1">
                  <c:v>59.26724204195709</c:v>
                </c:pt>
                <c:pt idx="2">
                  <c:v>60.6545987000112</c:v>
                </c:pt>
                <c:pt idx="3">
                  <c:v>57.722774084795034</c:v>
                </c:pt>
                <c:pt idx="4">
                  <c:v>58.52142426071213</c:v>
                </c:pt>
                <c:pt idx="5">
                  <c:v>58.68025958081206</c:v>
                </c:pt>
              </c:numCache>
            </c:numRef>
          </c:val>
        </c:ser>
        <c:ser>
          <c:idx val="1"/>
          <c:order val="1"/>
          <c:tx>
            <c:strRef>
              <c:strCache>
                <c:ptCount val="1"/>
                <c:pt idx="0">
                  <c:v>Chemical Ceramide Sunscreen</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14.123617396874295</c:v>
                </c:pt>
                <c:pt idx="1">
                  <c:v>10.840710005319199</c:v>
                </c:pt>
                <c:pt idx="2">
                  <c:v>11.23760261159205</c:v>
                </c:pt>
                <c:pt idx="3">
                  <c:v>11.38795521900616</c:v>
                </c:pt>
                <c:pt idx="4">
                  <c:v>10.966064713801588</c:v>
                </c:pt>
                <c:pt idx="5">
                  <c:v>11.825221432956239</c:v>
                </c:pt>
              </c:numCache>
            </c:numRef>
          </c:val>
        </c:ser>
        <c:ser>
          <c:idx val="2"/>
          <c:order val="2"/>
          <c:tx>
            <c:strRef>
              <c:strCache>
                <c:ptCount val="1"/>
                <c:pt idx="0">
                  <c:v>Hybrid Ceramide Sunscreen</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26.659600346198857</c:v>
                </c:pt>
                <c:pt idx="1">
                  <c:v>29.892047952723704</c:v>
                </c:pt>
                <c:pt idx="2">
                  <c:v>28.107798688396752</c:v>
                </c:pt>
                <c:pt idx="3">
                  <c:v>30.889270696198807</c:v>
                </c:pt>
                <c:pt idx="4">
                  <c:v>30.512511025486283</c:v>
                </c:pt>
                <c:pt idx="5">
                  <c:v>29.4945189862317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Mineral Ceramide Sunscreen</c:v>
                </c:pt>
              </c:strCache>
            </c:strRef>
          </c:tx>
          <c:spPr>
            <a:solidFill>
              <a:srgbClr val="3D85C6"/>
            </a:solidFill>
          </c:spPr>
          <c:invertIfNegative val="0"/>
          <c:xVal>
            <c:numRef>
              <c:numCache>
                <c:formatCode>General</c:formatCode>
                <c:ptCount val="1"/>
                <c:pt idx="0">
                  <c:v>101.13713683559689</c:v>
                </c:pt>
              </c:numCache>
            </c:numRef>
          </c:xVal>
          <c:yVal>
            <c:numRef>
              <c:numCache>
                <c:formatCode>General</c:formatCode>
                <c:ptCount val="1"/>
                <c:pt idx="0">
                  <c:v>175.0679286102449</c:v>
                </c:pt>
              </c:numCache>
            </c:numRef>
          </c:yVal>
          <c:bubbleSize>
            <c:numRef>
              <c:numCache>
                <c:formatCode>General</c:formatCode>
                <c:ptCount val="1"/>
                <c:pt idx="0">
                  <c:v>2224.518</c:v>
                </c:pt>
              </c:numCache>
            </c:numRef>
          </c:bubbleSize>
          <c:bubble3D val="0"/>
        </c:ser>
        <c:ser>
          <c:idx val="1"/>
          <c:order val="1"/>
          <c:tx>
            <c:strRef>
              <c:strCache>
                <c:ptCount val="1"/>
                <c:pt idx="0">
                  <c:v>Chemical Ceramide Sunscreen</c:v>
                </c:pt>
              </c:strCache>
            </c:strRef>
          </c:tx>
          <c:spPr>
            <a:solidFill>
              <a:srgbClr val="9E7E0A"/>
            </a:solidFill>
          </c:spPr>
          <c:invertIfNegative val="0"/>
          <c:xVal>
            <c:numRef>
              <c:numCache>
                <c:formatCode>General</c:formatCode>
                <c:ptCount val="1"/>
                <c:pt idx="0">
                  <c:v>101.91219169018042</c:v>
                </c:pt>
              </c:numCache>
            </c:numRef>
          </c:xVal>
          <c:yVal>
            <c:numRef>
              <c:numCache>
                <c:formatCode>General</c:formatCode>
                <c:ptCount val="1"/>
                <c:pt idx="0">
                  <c:v>34.0834480476846</c:v>
                </c:pt>
              </c:numCache>
            </c:numRef>
          </c:yVal>
          <c:bubbleSize>
            <c:numRef>
              <c:numCache>
                <c:formatCode>General</c:formatCode>
                <c:ptCount val="1"/>
                <c:pt idx="0">
                  <c:v>435.577</c:v>
                </c:pt>
              </c:numCache>
            </c:numRef>
          </c:bubbleSize>
          <c:bubble3D val="0"/>
        </c:ser>
        <c:ser>
          <c:idx val="2"/>
          <c:order val="2"/>
          <c:tx>
            <c:strRef>
              <c:strCache>
                <c:ptCount val="1"/>
                <c:pt idx="0">
                  <c:v>Hybrid Ceramide Sunscreen</c:v>
                </c:pt>
              </c:strCache>
            </c:strRef>
          </c:tx>
          <c:spPr>
            <a:solidFill>
              <a:srgbClr val="008189"/>
            </a:solidFill>
          </c:spPr>
          <c:invertIfNegative val="0"/>
          <c:xVal>
            <c:numRef>
              <c:numCache>
                <c:formatCode>General</c:formatCode>
                <c:ptCount val="1"/>
                <c:pt idx="0">
                  <c:v>97.0495224441236</c:v>
                </c:pt>
              </c:numCache>
            </c:numRef>
          </c:xVal>
          <c:yVal>
            <c:numRef>
              <c:numCache>
                <c:formatCode>General</c:formatCode>
                <c:ptCount val="1"/>
                <c:pt idx="0">
                  <c:v>90.84862334207048</c:v>
                </c:pt>
              </c:numCache>
            </c:numRef>
          </c:yVal>
          <c:bubbleSize>
            <c:numRef>
              <c:numCache>
                <c:formatCode>General</c:formatCode>
                <c:ptCount val="1"/>
                <c:pt idx="0">
                  <c:v>1119.904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1021.229</c:v>
                </c:pt>
                <c:pt idx="2">
                  <c:v>1193.391</c:v>
                </c:pt>
                <c:pt idx="3">
                  <c:v>1394.511</c:v>
                </c:pt>
                <c:pt idx="4">
                  <c:v>1629.459</c:v>
                </c:pt>
                <c:pt idx="5">
                  <c:v>1903.913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1021.229</c:v>
                </c:pt>
                <c:pt idx="1">
                  <c:v>172.16200000000003</c:v>
                </c:pt>
                <c:pt idx="2">
                  <c:v>201.1199999999999</c:v>
                </c:pt>
                <c:pt idx="3">
                  <c:v>234.9480000000001</c:v>
                </c:pt>
                <c:pt idx="4">
                  <c:v>274.45399999999995</c:v>
                </c:pt>
                <c:pt idx="5">
                  <c:v>320.605</c:v>
                </c:pt>
                <c:pt idx="6">
                  <c:v>2224.518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198.82</c:v>
                </c:pt>
                <c:pt idx="2">
                  <c:v>232.63</c:v>
                </c:pt>
                <c:pt idx="3">
                  <c:v>272.159</c:v>
                </c:pt>
                <c:pt idx="4">
                  <c:v>318.378</c:v>
                </c:pt>
                <c:pt idx="5">
                  <c:v>372.413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198.82</c:v>
                </c:pt>
                <c:pt idx="1">
                  <c:v>33.81</c:v>
                </c:pt>
                <c:pt idx="2">
                  <c:v>39.528999999999996</c:v>
                </c:pt>
                <c:pt idx="3">
                  <c:v>46.218999999999994</c:v>
                </c:pt>
                <c:pt idx="4">
                  <c:v>54.035000000000025</c:v>
                </c:pt>
                <c:pt idx="5">
                  <c:v>63.16399999999999</c:v>
                </c:pt>
                <c:pt idx="6">
                  <c:v>435.577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529.95</c:v>
                </c:pt>
                <c:pt idx="2">
                  <c:v>615.383</c:v>
                </c:pt>
                <c:pt idx="3">
                  <c:v>714.659</c:v>
                </c:pt>
                <c:pt idx="4">
                  <c:v>830.024</c:v>
                </c:pt>
                <c:pt idx="5">
                  <c:v>964.094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529.95</c:v>
                </c:pt>
                <c:pt idx="1">
                  <c:v>85.43299999999999</c:v>
                </c:pt>
                <c:pt idx="2">
                  <c:v>99.27599999999995</c:v>
                </c:pt>
                <c:pt idx="3">
                  <c:v>115.36500000000001</c:v>
                </c:pt>
                <c:pt idx="4">
                  <c:v>134.07000000000005</c:v>
                </c:pt>
                <c:pt idx="5">
                  <c:v>155.80999999999995</c:v>
                </c:pt>
                <c:pt idx="6">
                  <c:v>1119.904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Mineral Ceramide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58.088355242218185</c:v>
                </c:pt>
                <c:pt idx="1">
                  <c:v>58.35597620341497</c:v>
                </c:pt>
                <c:pt idx="2">
                  <c:v>58.84969810838575</c:v>
                </c:pt>
              </c:numCache>
            </c:numRef>
          </c:val>
        </c:ser>
        <c:ser>
          <c:idx val="1"/>
          <c:order val="1"/>
          <c:tx>
            <c:strRef>
              <c:strCache>
                <c:ptCount val="1"/>
                <c:pt idx="0">
                  <c:v>Hybrid Ceramide Sunscreen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30.641287112848577</c:v>
                </c:pt>
                <c:pt idx="1">
                  <c:v>30.28287444735683</c:v>
                </c:pt>
                <c:pt idx="2">
                  <c:v>29.627097784946503</c:v>
                </c:pt>
              </c:numCache>
            </c:numRef>
          </c:val>
        </c:ser>
        <c:ser>
          <c:idx val="2"/>
          <c:order val="2"/>
          <c:tx>
            <c:strRef>
              <c:strCache>
                <c:ptCount val="1"/>
                <c:pt idx="0">
                  <c:v>Chemical Ceramide Sunscreen</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11.270357644933236</c:v>
                </c:pt>
                <c:pt idx="1">
                  <c:v>11.3611493492282</c:v>
                </c:pt>
                <c:pt idx="2">
                  <c:v>11.523204106667754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Cream-based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10.728733362056149</c:v>
                </c:pt>
                <c:pt idx="1">
                  <c:v>10.064660539852477</c:v>
                </c:pt>
                <c:pt idx="2">
                  <c:v>10.972336868827231</c:v>
                </c:pt>
                <c:pt idx="3">
                  <c:v>10.342470338372786</c:v>
                </c:pt>
                <c:pt idx="4">
                  <c:v>10.15941692586231</c:v>
                </c:pt>
                <c:pt idx="5">
                  <c:v>10.534069981583793</c:v>
                </c:pt>
              </c:numCache>
            </c:numRef>
          </c:val>
        </c:ser>
        <c:ser>
          <c:idx val="1"/>
          <c:order val="1"/>
          <c:tx>
            <c:strRef>
              <c:strCache>
                <c:ptCount val="1"/>
                <c:pt idx="0">
                  <c:v>Lotion-based Sunscreen</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23.644467490477624</c:v>
                </c:pt>
                <c:pt idx="1">
                  <c:v>22.680691311259174</c:v>
                </c:pt>
                <c:pt idx="2">
                  <c:v>25.282376316477173</c:v>
                </c:pt>
                <c:pt idx="3">
                  <c:v>20.766080364804036</c:v>
                </c:pt>
                <c:pt idx="4">
                  <c:v>20.55577735481176</c:v>
                </c:pt>
                <c:pt idx="5">
                  <c:v>19.989739542225728</c:v>
                </c:pt>
              </c:numCache>
            </c:numRef>
          </c:val>
        </c:ser>
        <c:ser>
          <c:idx val="2"/>
          <c:order val="2"/>
          <c:tx>
            <c:strRef>
              <c:strCache>
                <c:ptCount val="1"/>
                <c:pt idx="0">
                  <c:v>Gel-based Sunscreen</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11.59194286956157</c:v>
                </c:pt>
                <c:pt idx="1">
                  <c:v>11.759424665705316</c:v>
                </c:pt>
                <c:pt idx="2">
                  <c:v>12.309865230899415</c:v>
                </c:pt>
                <c:pt idx="3">
                  <c:v>12.001371260728188</c:v>
                </c:pt>
                <c:pt idx="4">
                  <c:v>11.164291351376445</c:v>
                </c:pt>
                <c:pt idx="5">
                  <c:v>12.480136806103657</c:v>
                </c:pt>
              </c:numCache>
            </c:numRef>
          </c:val>
        </c:ser>
        <c:ser>
          <c:idx val="3"/>
          <c:order val="3"/>
          <c:tx>
            <c:strRef>
              <c:strCache>
                <c:ptCount val="1"/>
                <c:pt idx="0">
                  <c:v>Stick-based Sunscreen</c:v>
                </c:pt>
              </c:strCache>
            </c:strRef>
          </c:tx>
          <c:spPr>
            <a:solidFill>
              <a:srgbClr val="40315E"/>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32.40009608162362</c:v>
                </c:pt>
                <c:pt idx="1">
                  <c:v>30.64841946027051</c:v>
                </c:pt>
                <c:pt idx="2">
                  <c:v>28.87850040857976</c:v>
                </c:pt>
                <c:pt idx="3">
                  <c:v>33.29485959791227</c:v>
                </c:pt>
                <c:pt idx="4">
                  <c:v>34.93468269811058</c:v>
                </c:pt>
                <c:pt idx="5">
                  <c:v>32.40322722090678</c:v>
                </c:pt>
              </c:numCache>
            </c:numRef>
          </c:val>
        </c:ser>
        <c:ser>
          <c:idx val="4"/>
          <c:order val="4"/>
          <c:tx>
            <c:strRef>
              <c:strCache>
                <c:ptCount val="1"/>
                <c:pt idx="0">
                  <c:v>Other Forms</c:v>
                </c:pt>
              </c:strCache>
            </c:strRef>
          </c:tx>
          <c:spPr>
            <a:solidFill>
              <a:srgbClr val="A35313"/>
            </a:solidFill>
            <a:ln>
              <a:noFill/>
            </a:ln>
          </c:spPr>
          <c:dLbls>
            <c:dLbl>
              <c:idx val="0"/>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21.63476019628103</c:v>
                </c:pt>
                <c:pt idx="1">
                  <c:v>24.846804022912522</c:v>
                </c:pt>
                <c:pt idx="2">
                  <c:v>22.55692117521642</c:v>
                </c:pt>
                <c:pt idx="3">
                  <c:v>23.595218438182712</c:v>
                </c:pt>
                <c:pt idx="4">
                  <c:v>23.18583166983891</c:v>
                </c:pt>
                <c:pt idx="5">
                  <c:v>24.592826449180038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Cream-based Sunscreen</c:v>
                </c:pt>
              </c:strCache>
            </c:strRef>
          </c:tx>
          <c:spPr>
            <a:solidFill>
              <a:srgbClr val="3D85C6"/>
            </a:solidFill>
          </c:spPr>
          <c:invertIfNegative val="0"/>
          <c:xVal>
            <c:numRef>
              <c:numCache>
                <c:formatCode>General</c:formatCode>
                <c:ptCount val="1"/>
                <c:pt idx="0">
                  <c:v>121.19006710520155</c:v>
                </c:pt>
              </c:numCache>
            </c:numRef>
          </c:xVal>
          <c:yVal>
            <c:numRef>
              <c:numCache>
                <c:formatCode>General</c:formatCode>
                <c:ptCount val="1"/>
                <c:pt idx="0">
                  <c:v>44.630311217320696</c:v>
                </c:pt>
              </c:numCache>
            </c:numRef>
          </c:yVal>
          <c:bubbleSize>
            <c:numRef>
              <c:numCache>
                <c:formatCode>General</c:formatCode>
                <c:ptCount val="1"/>
                <c:pt idx="0">
                  <c:v>394.30499999999995</c:v>
                </c:pt>
              </c:numCache>
            </c:numRef>
          </c:bubbleSize>
          <c:bubble3D val="0"/>
        </c:ser>
        <c:ser>
          <c:idx val="1"/>
          <c:order val="1"/>
          <c:tx>
            <c:strRef>
              <c:strCache>
                <c:ptCount val="1"/>
                <c:pt idx="0">
                  <c:v>Lotion-based Sunscreen</c:v>
                </c:pt>
              </c:strCache>
            </c:strRef>
          </c:tx>
          <c:spPr>
            <a:solidFill>
              <a:srgbClr val="9E7E0A"/>
            </a:solidFill>
          </c:spPr>
          <c:invertIfNegative val="0"/>
          <c:xVal>
            <c:numRef>
              <c:numCache>
                <c:formatCode>General</c:formatCode>
                <c:ptCount val="1"/>
                <c:pt idx="0">
                  <c:v>98.8690704981258</c:v>
                </c:pt>
              </c:numCache>
            </c:numRef>
          </c:xVal>
          <c:yVal>
            <c:numRef>
              <c:numCache>
                <c:formatCode>General</c:formatCode>
                <c:ptCount val="1"/>
                <c:pt idx="0">
                  <c:v>107.96406169374954</c:v>
                </c:pt>
              </c:numCache>
            </c:numRef>
          </c:yVal>
          <c:bubbleSize>
            <c:numRef>
              <c:numCache>
                <c:formatCode>General</c:formatCode>
                <c:ptCount val="1"/>
                <c:pt idx="0">
                  <c:v>809.392</c:v>
                </c:pt>
              </c:numCache>
            </c:numRef>
          </c:bubbleSize>
          <c:bubble3D val="0"/>
        </c:ser>
        <c:ser>
          <c:idx val="2"/>
          <c:order val="2"/>
          <c:tx>
            <c:strRef>
              <c:strCache>
                <c:ptCount val="1"/>
                <c:pt idx="0">
                  <c:v>Gel-based Sunscreen</c:v>
                </c:pt>
              </c:strCache>
            </c:strRef>
          </c:tx>
          <c:spPr>
            <a:solidFill>
              <a:srgbClr val="008189"/>
            </a:solidFill>
          </c:spPr>
          <c:invertIfNegative val="0"/>
          <c:xVal>
            <c:numRef>
              <c:numCache>
                <c:formatCode>General</c:formatCode>
                <c:ptCount val="1"/>
                <c:pt idx="0">
                  <c:v>70.2839116900846</c:v>
                </c:pt>
              </c:numCache>
            </c:numRef>
          </c:xVal>
          <c:yVal>
            <c:numRef>
              <c:numCache>
                <c:formatCode>General</c:formatCode>
                <c:ptCount val="1"/>
                <c:pt idx="0">
                  <c:v>74.3271853298202</c:v>
                </c:pt>
              </c:numCache>
            </c:numRef>
          </c:yVal>
          <c:bubbleSize>
            <c:numRef>
              <c:numCache>
                <c:formatCode>General</c:formatCode>
                <c:ptCount val="1"/>
                <c:pt idx="0">
                  <c:v>449.722</c:v>
                </c:pt>
              </c:numCache>
            </c:numRef>
          </c:bubbleSize>
          <c:bubble3D val="0"/>
        </c:ser>
        <c:ser>
          <c:idx val="3"/>
          <c:order val="3"/>
          <c:tx>
            <c:strRef>
              <c:strCache>
                <c:ptCount val="1"/>
                <c:pt idx="0">
                  <c:v>Stick-based Sunscreen</c:v>
                </c:pt>
              </c:strCache>
            </c:strRef>
          </c:tx>
          <c:spPr>
            <a:solidFill>
              <a:srgbClr val="40315E"/>
            </a:solidFill>
          </c:spPr>
          <c:invertIfNegative val="0"/>
          <c:xVal>
            <c:numRef>
              <c:numCache>
                <c:formatCode>General</c:formatCode>
                <c:ptCount val="1"/>
                <c:pt idx="0">
                  <c:v>111.4957456691129</c:v>
                </c:pt>
              </c:numCache>
            </c:numRef>
          </c:xVal>
          <c:yVal>
            <c:numRef>
              <c:numCache>
                <c:formatCode>General</c:formatCode>
                <c:ptCount val="1"/>
                <c:pt idx="0">
                  <c:v>149.92437138535507</c:v>
                </c:pt>
              </c:numCache>
            </c:numRef>
          </c:yVal>
          <c:bubbleSize>
            <c:numRef>
              <c:numCache>
                <c:formatCode>General</c:formatCode>
                <c:ptCount val="1"/>
                <c:pt idx="0">
                  <c:v>1233.792</c:v>
                </c:pt>
              </c:numCache>
            </c:numRef>
          </c:bubbleSize>
          <c:bubble3D val="0"/>
        </c:ser>
        <c:ser>
          <c:idx val="4"/>
          <c:order val="4"/>
          <c:tx>
            <c:strRef>
              <c:strCache>
                <c:ptCount val="1"/>
                <c:pt idx="0">
                  <c:v>Other Forms</c:v>
                </c:pt>
              </c:strCache>
            </c:strRef>
          </c:tx>
          <c:spPr>
            <a:solidFill>
              <a:srgbClr val="A35313"/>
            </a:solidFill>
          </c:spPr>
          <c:invertIfNegative val="0"/>
          <c:xVal>
            <c:numRef>
              <c:numCache>
                <c:formatCode>General</c:formatCode>
                <c:ptCount val="1"/>
                <c:pt idx="0">
                  <c:v>94.35106036800897</c:v>
                </c:pt>
              </c:numCache>
            </c:numRef>
          </c:xVal>
          <c:yVal>
            <c:numRef>
              <c:numCache>
                <c:formatCode>General</c:formatCode>
                <c:ptCount val="1"/>
                <c:pt idx="0">
                  <c:v>123.15407037375448</c:v>
                </c:pt>
              </c:numCache>
            </c:numRef>
          </c:yVal>
          <c:bubbleSize>
            <c:numRef>
              <c:numCache>
                <c:formatCode>General</c:formatCode>
                <c:ptCount val="1"/>
                <c:pt idx="0">
                  <c:v>892.788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5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156.206</c:v>
                </c:pt>
                <c:pt idx="2">
                  <c:v>188.466</c:v>
                </c:pt>
                <c:pt idx="3">
                  <c:v>227.08499999999998</c:v>
                </c:pt>
                <c:pt idx="4">
                  <c:v>273.25800000000004</c:v>
                </c:pt>
                <c:pt idx="5">
                  <c:v>328.43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156.206</c:v>
                </c:pt>
                <c:pt idx="1">
                  <c:v>32.26000000000002</c:v>
                </c:pt>
                <c:pt idx="2">
                  <c:v>38.61899999999997</c:v>
                </c:pt>
                <c:pt idx="3">
                  <c:v>46.17300000000006</c:v>
                </c:pt>
                <c:pt idx="4">
                  <c:v>55.17199999999997</c:v>
                </c:pt>
                <c:pt idx="5">
                  <c:v>65.87499999999994</c:v>
                </c:pt>
                <c:pt idx="6">
                  <c:v>394.30499999999995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377.874</c:v>
                </c:pt>
                <c:pt idx="2">
                  <c:v>440.08000000000004</c:v>
                </c:pt>
                <c:pt idx="3">
                  <c:v>512.529</c:v>
                </c:pt>
                <c:pt idx="4">
                  <c:v>596.87</c:v>
                </c:pt>
                <c:pt idx="5">
                  <c:v>695.067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377.874</c:v>
                </c:pt>
                <c:pt idx="1">
                  <c:v>62.20600000000002</c:v>
                </c:pt>
                <c:pt idx="2">
                  <c:v>72.44899999999996</c:v>
                </c:pt>
                <c:pt idx="3">
                  <c:v>84.34100000000001</c:v>
                </c:pt>
                <c:pt idx="4">
                  <c:v>98.197</c:v>
                </c:pt>
                <c:pt idx="5">
                  <c:v>114.32500000000005</c:v>
                </c:pt>
                <c:pt idx="6">
                  <c:v>809.392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260.145</c:v>
                </c:pt>
                <c:pt idx="2">
                  <c:v>291.123</c:v>
                </c:pt>
                <c:pt idx="3">
                  <c:v>325.337</c:v>
                </c:pt>
                <c:pt idx="4">
                  <c:v>363.026</c:v>
                </c:pt>
                <c:pt idx="5">
                  <c:v>404.41999999999996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260.145</c:v>
                </c:pt>
                <c:pt idx="1">
                  <c:v>30.97800000000001</c:v>
                </c:pt>
                <c:pt idx="2">
                  <c:v>34.214</c:v>
                </c:pt>
                <c:pt idx="3">
                  <c:v>37.68900000000002</c:v>
                </c:pt>
                <c:pt idx="4">
                  <c:v>41.39399999999995</c:v>
                </c:pt>
                <c:pt idx="5">
                  <c:v>45.30200000000002</c:v>
                </c:pt>
                <c:pt idx="6">
                  <c:v>449.722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524.735</c:v>
                </c:pt>
                <c:pt idx="2">
                  <c:v>623.115</c:v>
                </c:pt>
                <c:pt idx="3">
                  <c:v>739.58</c:v>
                </c:pt>
                <c:pt idx="4">
                  <c:v>877.489</c:v>
                </c:pt>
                <c:pt idx="5">
                  <c:v>1040.69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524.735</c:v>
                </c:pt>
                <c:pt idx="1">
                  <c:v>98.38</c:v>
                </c:pt>
                <c:pt idx="2">
                  <c:v>116.46500000000003</c:v>
                </c:pt>
                <c:pt idx="3">
                  <c:v>137.909</c:v>
                </c:pt>
                <c:pt idx="4">
                  <c:v>163.20100000000002</c:v>
                </c:pt>
                <c:pt idx="5">
                  <c:v>193.10199999999986</c:v>
                </c:pt>
                <c:pt idx="6">
                  <c:v>1233.792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431.039</c:v>
                </c:pt>
                <c:pt idx="2">
                  <c:v>498.62</c:v>
                </c:pt>
                <c:pt idx="3">
                  <c:v>576.798</c:v>
                </c:pt>
                <c:pt idx="4">
                  <c:v>667.2180000000001</c:v>
                </c:pt>
                <c:pt idx="5">
                  <c:v>771.813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431.039</c:v>
                </c:pt>
                <c:pt idx="1">
                  <c:v>67.58100000000002</c:v>
                </c:pt>
                <c:pt idx="2">
                  <c:v>78.178</c:v>
                </c:pt>
                <c:pt idx="3">
                  <c:v>90.42000000000007</c:v>
                </c:pt>
                <c:pt idx="4">
                  <c:v>104.59499999999991</c:v>
                </c:pt>
                <c:pt idx="5">
                  <c:v>120.97500000000002</c:v>
                </c:pt>
                <c:pt idx="6">
                  <c:v>892.788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Stick-based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28.62421000048576</c:v>
                </c:pt>
                <c:pt idx="1">
                  <c:v>29.984874277071015</c:v>
                </c:pt>
                <c:pt idx="2">
                  <c:v>32.64000863492292</c:v>
                </c:pt>
              </c:numCache>
            </c:numRef>
          </c:val>
        </c:ser>
        <c:ser>
          <c:idx val="1"/>
          <c:order val="1"/>
          <c:tx>
            <c:strRef>
              <c:strCache>
                <c:ptCount val="1"/>
                <c:pt idx="0">
                  <c:v>Other Forms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25.15151097715971</c:v>
                </c:pt>
                <c:pt idx="1">
                  <c:v>24.630814074750898</c:v>
                </c:pt>
                <c:pt idx="2">
                  <c:v>23.61873640707313</c:v>
                </c:pt>
              </c:numCache>
            </c:numRef>
          </c:val>
        </c:ser>
        <c:ser>
          <c:idx val="2"/>
          <c:order val="2"/>
          <c:tx>
            <c:strRef>
              <c:strCache>
                <c:ptCount val="1"/>
                <c:pt idx="0">
                  <c:v>Lotion-based Sunscreen</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21.676056879240004</c:v>
                </c:pt>
                <c:pt idx="1">
                  <c:v>21.59281233874991</c:v>
                </c:pt>
                <c:pt idx="2">
                  <c:v>21.412492437167316</c:v>
                </c:pt>
              </c:numCache>
            </c:numRef>
          </c:val>
        </c:ser>
        <c:ser>
          <c:idx val="3"/>
          <c:order val="3"/>
          <c:tx>
            <c:strRef>
              <c:strCache>
                <c:ptCount val="1"/>
                <c:pt idx="0">
                  <c:v>Gel-based Sunscreen</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16.400234036336535</c:v>
                </c:pt>
                <c:pt idx="1">
                  <c:v>14.865437065964038</c:v>
                </c:pt>
                <c:pt idx="2">
                  <c:v>11.897410554870518</c:v>
                </c:pt>
              </c:numCache>
            </c:numRef>
          </c:val>
        </c:ser>
        <c:ser>
          <c:idx val="4"/>
          <c:order val="4"/>
          <c:tx>
            <c:strRef>
              <c:strCache>
                <c:ptCount val="1"/>
                <c:pt idx="0">
                  <c:v>Cream-based Sunscreen</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8.14798810677799</c:v>
                </c:pt>
                <c:pt idx="1">
                  <c:v>8.92606224346414</c:v>
                </c:pt>
                <c:pt idx="2">
                  <c:v>10.43135196596613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Below SPF 30</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14.667698654475995</c:v>
                </c:pt>
                <c:pt idx="1">
                  <c:v>13.00897499362004</c:v>
                </c:pt>
                <c:pt idx="2">
                  <c:v>14.22500508132189</c:v>
                </c:pt>
                <c:pt idx="3">
                  <c:v>12.93366627652</c:v>
                </c:pt>
                <c:pt idx="4">
                  <c:v>12.689754421800286</c:v>
                </c:pt>
                <c:pt idx="5">
                  <c:v>13.01446987634833</c:v>
                </c:pt>
              </c:numCache>
            </c:numRef>
          </c:val>
        </c:ser>
        <c:ser>
          <c:idx val="1"/>
          <c:order val="1"/>
          <c:tx>
            <c:strRef>
              <c:strCache>
                <c:ptCount val="1"/>
                <c:pt idx="0">
                  <c:v>SPF 30–49</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17.601238385371193</c:v>
                </c:pt>
                <c:pt idx="1">
                  <c:v>17.23789113784717</c:v>
                </c:pt>
                <c:pt idx="2">
                  <c:v>14.524077169724444</c:v>
                </c:pt>
                <c:pt idx="3">
                  <c:v>18.18888102284691</c:v>
                </c:pt>
                <c:pt idx="4">
                  <c:v>17.239589619794806</c:v>
                </c:pt>
                <c:pt idx="5">
                  <c:v>16.461282118740684</c:v>
                </c:pt>
              </c:numCache>
            </c:numRef>
          </c:val>
        </c:ser>
        <c:ser>
          <c:idx val="2"/>
          <c:order val="2"/>
          <c:tx>
            <c:strRef>
              <c:strCache>
                <c:ptCount val="1"/>
                <c:pt idx="0">
                  <c:v>SPF 50</c:v>
                </c:pt>
              </c:strCache>
            </c:strRef>
          </c:tx>
          <c:spPr>
            <a:solidFill>
              <a:srgbClr val="008189"/>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40.88806872123747</c:v>
                </c:pt>
                <c:pt idx="1">
                  <c:v>39.430938054403406</c:v>
                </c:pt>
                <c:pt idx="2">
                  <c:v>42.61383198038817</c:v>
                </c:pt>
                <c:pt idx="3">
                  <c:v>39.37627921789455</c:v>
                </c:pt>
                <c:pt idx="4">
                  <c:v>40.48047908639339</c:v>
                </c:pt>
                <c:pt idx="5">
                  <c:v>36.96395685345962</c:v>
                </c:pt>
              </c:numCache>
            </c:numRef>
          </c:val>
        </c:ser>
        <c:ser>
          <c:idx val="3"/>
          <c:order val="3"/>
          <c:tx>
            <c:strRef>
              <c:strCache>
                <c:ptCount val="1"/>
                <c:pt idx="0">
                  <c:v>Above SPF 50</c:v>
                </c:pt>
              </c:strCache>
            </c:strRef>
          </c:tx>
          <c:spPr>
            <a:solidFill>
              <a:srgbClr val="40315E"/>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26.842994238915345</c:v>
                </c:pt>
                <c:pt idx="1">
                  <c:v>30.322195814129394</c:v>
                </c:pt>
                <c:pt idx="2">
                  <c:v>28.63708576856549</c:v>
                </c:pt>
                <c:pt idx="3">
                  <c:v>29.501173482738547</c:v>
                </c:pt>
                <c:pt idx="4">
                  <c:v>29.590176872011508</c:v>
                </c:pt>
                <c:pt idx="5">
                  <c:v>33.56029115145137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Below SPF 30</c:v>
                </c:pt>
              </c:strCache>
            </c:strRef>
          </c:tx>
          <c:spPr>
            <a:solidFill>
              <a:srgbClr val="3D85C6"/>
            </a:solidFill>
          </c:spPr>
          <c:invertIfNegative val="0"/>
          <c:xVal>
            <c:numRef>
              <c:numCache>
                <c:formatCode>General</c:formatCode>
                <c:ptCount val="1"/>
                <c:pt idx="0">
                  <c:v>121.18168541314837</c:v>
                </c:pt>
              </c:numCache>
            </c:numRef>
          </c:xVal>
          <c:yVal>
            <c:numRef>
              <c:numCache>
                <c:formatCode>General</c:formatCode>
                <c:ptCount val="1"/>
                <c:pt idx="0">
                  <c:v>45.11522578012902</c:v>
                </c:pt>
              </c:numCache>
            </c:numRef>
          </c:yVal>
          <c:bubbleSize>
            <c:numRef>
              <c:numCache>
                <c:formatCode>General</c:formatCode>
                <c:ptCount val="1"/>
                <c:pt idx="0">
                  <c:v>498.206</c:v>
                </c:pt>
              </c:numCache>
            </c:numRef>
          </c:bubbleSize>
          <c:bubble3D val="0"/>
        </c:ser>
        <c:ser>
          <c:idx val="1"/>
          <c:order val="1"/>
          <c:tx>
            <c:strRef>
              <c:strCache>
                <c:ptCount val="1"/>
                <c:pt idx="0">
                  <c:v>SPF 30–49</c:v>
                </c:pt>
              </c:strCache>
            </c:strRef>
          </c:tx>
          <c:spPr>
            <a:solidFill>
              <a:srgbClr val="9E7E0A"/>
            </a:solidFill>
          </c:spPr>
          <c:invertIfNegative val="0"/>
          <c:xVal>
            <c:numRef>
              <c:numCache>
                <c:formatCode>General</c:formatCode>
                <c:ptCount val="1"/>
                <c:pt idx="0">
                  <c:v>85.29247914321562</c:v>
                </c:pt>
              </c:numCache>
            </c:numRef>
          </c:xVal>
          <c:yVal>
            <c:numRef>
              <c:numCache>
                <c:formatCode>General</c:formatCode>
                <c:ptCount val="1"/>
                <c:pt idx="0">
                  <c:v>75.01672858098777</c:v>
                </c:pt>
              </c:numCache>
            </c:numRef>
          </c:yVal>
          <c:bubbleSize>
            <c:numRef>
              <c:numCache>
                <c:formatCode>General</c:formatCode>
                <c:ptCount val="1"/>
                <c:pt idx="0">
                  <c:v>635.311</c:v>
                </c:pt>
              </c:numCache>
            </c:numRef>
          </c:bubbleSize>
          <c:bubble3D val="0"/>
        </c:ser>
        <c:ser>
          <c:idx val="2"/>
          <c:order val="2"/>
          <c:tx>
            <c:strRef>
              <c:strCache>
                <c:ptCount val="1"/>
                <c:pt idx="0">
                  <c:v>SPF 50</c:v>
                </c:pt>
              </c:strCache>
            </c:strRef>
          </c:tx>
          <c:spPr>
            <a:solidFill>
              <a:srgbClr val="008189"/>
            </a:solidFill>
          </c:spPr>
          <c:invertIfNegative val="0"/>
          <c:xVal>
            <c:numRef>
              <c:numCache>
                <c:formatCode>General</c:formatCode>
                <c:ptCount val="1"/>
                <c:pt idx="0">
                  <c:v>83.98275892540617</c:v>
                </c:pt>
              </c:numCache>
            </c:numRef>
          </c:xVal>
          <c:yVal>
            <c:numRef>
              <c:numCache>
                <c:formatCode>General</c:formatCode>
                <c:ptCount val="1"/>
                <c:pt idx="0">
                  <c:v>177.9788445593398</c:v>
                </c:pt>
              </c:numCache>
            </c:numRef>
          </c:yVal>
          <c:bubbleSize>
            <c:numRef>
              <c:numCache>
                <c:formatCode>General</c:formatCode>
                <c:ptCount val="1"/>
                <c:pt idx="0">
                  <c:v>1492.561</c:v>
                </c:pt>
              </c:numCache>
            </c:numRef>
          </c:bubbleSize>
          <c:bubble3D val="0"/>
        </c:ser>
        <c:ser>
          <c:idx val="3"/>
          <c:order val="3"/>
          <c:tx>
            <c:strRef>
              <c:strCache>
                <c:ptCount val="1"/>
                <c:pt idx="0">
                  <c:v>Above SPF 50</c:v>
                </c:pt>
              </c:strCache>
            </c:strRef>
          </c:tx>
          <c:spPr>
            <a:solidFill>
              <a:srgbClr val="40315E"/>
            </a:solidFill>
          </c:spPr>
          <c:invertIfNegative val="0"/>
          <c:xVal>
            <c:numRef>
              <c:numCache>
                <c:formatCode>General</c:formatCode>
                <c:ptCount val="1"/>
                <c:pt idx="0">
                  <c:v>124.64495738675305</c:v>
                </c:pt>
              </c:numCache>
            </c:numRef>
          </c:xVal>
          <c:yVal>
            <c:numRef>
              <c:numCache>
                <c:formatCode>General</c:formatCode>
                <c:ptCount val="1"/>
                <c:pt idx="0">
                  <c:v>101.88920107954348</c:v>
                </c:pt>
              </c:numCache>
            </c:numRef>
          </c:yVal>
          <c:bubbleSize>
            <c:numRef>
              <c:numCache>
                <c:formatCode>General</c:formatCode>
                <c:ptCount val="1"/>
                <c:pt idx="0">
                  <c:v>1153.921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197.379</c:v>
                </c:pt>
                <c:pt idx="2">
                  <c:v>236.957</c:v>
                </c:pt>
                <c:pt idx="3">
                  <c:v>284.789</c:v>
                </c:pt>
                <c:pt idx="4">
                  <c:v>342.688</c:v>
                </c:pt>
                <c:pt idx="5">
                  <c:v>412.905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197.379</c:v>
                </c:pt>
                <c:pt idx="1">
                  <c:v>39.578</c:v>
                </c:pt>
                <c:pt idx="2">
                  <c:v>47.831999999999994</c:v>
                </c:pt>
                <c:pt idx="3">
                  <c:v>57.899</c:v>
                </c:pt>
                <c:pt idx="4">
                  <c:v>70.21699999999998</c:v>
                </c:pt>
                <c:pt idx="5">
                  <c:v>85.30100000000004</c:v>
                </c:pt>
                <c:pt idx="6">
                  <c:v>498.206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328.198</c:v>
                </c:pt>
                <c:pt idx="2">
                  <c:v>375.932</c:v>
                </c:pt>
                <c:pt idx="3">
                  <c:v>429.924</c:v>
                </c:pt>
                <c:pt idx="4">
                  <c:v>490.778</c:v>
                </c:pt>
                <c:pt idx="5">
                  <c:v>559.065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328.198</c:v>
                </c:pt>
                <c:pt idx="1">
                  <c:v>47.73400000000004</c:v>
                </c:pt>
                <c:pt idx="2">
                  <c:v>53.99199999999996</c:v>
                </c:pt>
                <c:pt idx="3">
                  <c:v>60.85400000000004</c:v>
                </c:pt>
                <c:pt idx="4">
                  <c:v>68.28700000000003</c:v>
                </c:pt>
                <c:pt idx="5">
                  <c:v>76.24599999999998</c:v>
                </c:pt>
                <c:pt idx="6">
                  <c:v>635.311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778.657</c:v>
                </c:pt>
                <c:pt idx="2">
                  <c:v>890.682</c:v>
                </c:pt>
                <c:pt idx="3">
                  <c:v>1016.95</c:v>
                </c:pt>
                <c:pt idx="4">
                  <c:v>1158.683</c:v>
                </c:pt>
                <c:pt idx="5">
                  <c:v>1316.946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778.657</c:v>
                </c:pt>
                <c:pt idx="1">
                  <c:v>112.02499999999998</c:v>
                </c:pt>
                <c:pt idx="2">
                  <c:v>126.26800000000003</c:v>
                </c:pt>
                <c:pt idx="3">
                  <c:v>141.73299999999995</c:v>
                </c:pt>
                <c:pt idx="4">
                  <c:v>158.26299999999992</c:v>
                </c:pt>
                <c:pt idx="5">
                  <c:v>175.615</c:v>
                </c:pt>
                <c:pt idx="6">
                  <c:v>1492.561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445.765</c:v>
                </c:pt>
                <c:pt idx="2">
                  <c:v>537.833</c:v>
                </c:pt>
                <c:pt idx="3">
                  <c:v>649.666</c:v>
                </c:pt>
                <c:pt idx="4">
                  <c:v>785.712</c:v>
                </c:pt>
                <c:pt idx="5">
                  <c:v>951.504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445.765</c:v>
                </c:pt>
                <c:pt idx="1">
                  <c:v>92.06799999999998</c:v>
                </c:pt>
                <c:pt idx="2">
                  <c:v>111.83300000000008</c:v>
                </c:pt>
                <c:pt idx="3">
                  <c:v>136.04599999999994</c:v>
                </c:pt>
                <c:pt idx="4">
                  <c:v>165.79200000000003</c:v>
                </c:pt>
                <c:pt idx="5">
                  <c:v>202.41700000000003</c:v>
                </c:pt>
                <c:pt idx="6">
                  <c:v>1153.921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50</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46.4214118597261</c:v>
                </c:pt>
                <c:pt idx="1">
                  <c:v>44.49471113983495</c:v>
                </c:pt>
                <c:pt idx="2">
                  <c:v>39.48575118670666</c:v>
                </c:pt>
              </c:numCache>
            </c:numRef>
          </c:val>
        </c:ser>
        <c:ser>
          <c:idx val="1"/>
          <c:order val="1"/>
          <c:tx>
            <c:strRef>
              <c:strCache>
                <c:ptCount val="1"/>
                <c:pt idx="0">
                  <c:v>Above SPF 50</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23.5181142529434</c:v>
                </c:pt>
                <c:pt idx="1">
                  <c:v>25.47230026988587</c:v>
                </c:pt>
                <c:pt idx="2">
                  <c:v>30.52701865794144</c:v>
                </c:pt>
              </c:numCache>
            </c:numRef>
          </c:val>
        </c:ser>
        <c:ser>
          <c:idx val="2"/>
          <c:order val="2"/>
          <c:tx>
            <c:strRef>
              <c:strCache>
                <c:ptCount val="1"/>
                <c:pt idx="0">
                  <c:v>30–49</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19.515643386044673</c:v>
                </c:pt>
                <c:pt idx="1">
                  <c:v>18.754182145246943</c:v>
                </c:pt>
                <c:pt idx="2">
                  <c:v>16.807173758511578</c:v>
                </c:pt>
              </c:numCache>
            </c:numRef>
          </c:val>
        </c:ser>
        <c:ser>
          <c:idx val="3"/>
          <c:order val="3"/>
          <c:tx>
            <c:strRef>
              <c:strCache>
                <c:ptCount val="1"/>
                <c:pt idx="0">
                  <c:v>Below SPF 30</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10.544830501285823</c:v>
                </c:pt>
                <c:pt idx="1">
                  <c:v>11.278806445032256</c:v>
                </c:pt>
                <c:pt idx="2">
                  <c:v>13.180056396840317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Regular Ingredients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43.21309150249545</c:v>
                </c:pt>
                <c:pt idx="1">
                  <c:v>41.626875171029134</c:v>
                </c:pt>
                <c:pt idx="2">
                  <c:v>42.29090878923507</c:v>
                </c:pt>
                <c:pt idx="3">
                  <c:v>42.86690859816989</c:v>
                </c:pt>
                <c:pt idx="4">
                  <c:v>43.60995311266887</c:v>
                </c:pt>
                <c:pt idx="5">
                  <c:v>47.09813207050777</c:v>
                </c:pt>
              </c:numCache>
            </c:numRef>
          </c:val>
        </c:ser>
        <c:ser>
          <c:idx val="1"/>
          <c:order val="1"/>
          <c:tx>
            <c:strRef>
              <c:strCache>
                <c:ptCount val="1"/>
                <c:pt idx="0">
                  <c:v>Niche Ingredients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21.892884240707346</c:v>
                </c:pt>
                <c:pt idx="1">
                  <c:v>19.038731755612062</c:v>
                </c:pt>
                <c:pt idx="2">
                  <c:v>20.925920548865722</c:v>
                </c:pt>
                <c:pt idx="3">
                  <c:v>20.170515054454878</c:v>
                </c:pt>
                <c:pt idx="4">
                  <c:v>19.946056357643567</c:v>
                </c:pt>
                <c:pt idx="5">
                  <c:v>18.228273261422434</c:v>
                </c:pt>
              </c:numCache>
            </c:numRef>
          </c:val>
        </c:ser>
        <c:ser>
          <c:idx val="2"/>
          <c:order val="2"/>
          <c:tx>
            <c:strRef>
              <c:strCache>
                <c:ptCount val="1"/>
                <c:pt idx="0">
                  <c:v>Emerging Ingredients</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34.89402425679721</c:v>
                </c:pt>
                <c:pt idx="1">
                  <c:v>39.33439307335882</c:v>
                </c:pt>
                <c:pt idx="2">
                  <c:v>36.78317066189921</c:v>
                </c:pt>
                <c:pt idx="3">
                  <c:v>36.96257634737523</c:v>
                </c:pt>
                <c:pt idx="4">
                  <c:v>36.44399052968757</c:v>
                </c:pt>
                <c:pt idx="5">
                  <c:v>34.67359466806981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Regular Ingredients</c:v>
                </c:pt>
              </c:strCache>
            </c:strRef>
          </c:tx>
          <c:spPr>
            <a:solidFill>
              <a:srgbClr val="3D85C6"/>
            </a:solidFill>
          </c:spPr>
          <c:invertIfNegative val="0"/>
          <c:xVal>
            <c:numRef>
              <c:numCache>
                <c:formatCode>General</c:formatCode>
                <c:ptCount val="1"/>
                <c:pt idx="0">
                  <c:v>97.92545449841674</c:v>
                </c:pt>
              </c:numCache>
            </c:numRef>
          </c:xVal>
          <c:yVal>
            <c:numRef>
              <c:numCache>
                <c:formatCode>General</c:formatCode>
                <c:ptCount val="1"/>
                <c:pt idx="0">
                  <c:v>134.65293408739092</c:v>
                </c:pt>
              </c:numCache>
            </c:numRef>
          </c:yVal>
          <c:bubbleSize>
            <c:numRef>
              <c:numCache>
                <c:formatCode>General</c:formatCode>
                <c:ptCount val="1"/>
                <c:pt idx="0">
                  <c:v>1670.718</c:v>
                </c:pt>
              </c:numCache>
            </c:numRef>
          </c:bubbleSize>
          <c:bubble3D val="0"/>
        </c:ser>
        <c:ser>
          <c:idx val="1"/>
          <c:order val="1"/>
          <c:tx>
            <c:strRef>
              <c:strCache>
                <c:ptCount val="1"/>
                <c:pt idx="0">
                  <c:v>Niche Ingredients</c:v>
                </c:pt>
              </c:strCache>
            </c:strRef>
          </c:tx>
          <c:spPr>
            <a:solidFill>
              <a:srgbClr val="9E7E0A"/>
            </a:solidFill>
          </c:spPr>
          <c:invertIfNegative val="0"/>
          <c:xVal>
            <c:numRef>
              <c:numCache>
                <c:formatCode>General</c:formatCode>
                <c:ptCount val="1"/>
                <c:pt idx="0">
                  <c:v>86.09523981450043</c:v>
                </c:pt>
              </c:numCache>
            </c:numRef>
          </c:xVal>
          <c:yVal>
            <c:numRef>
              <c:numCache>
                <c:formatCode>General</c:formatCode>
                <c:ptCount val="1"/>
                <c:pt idx="0">
                  <c:v>65.3484373419642</c:v>
                </c:pt>
              </c:numCache>
            </c:numRef>
          </c:yVal>
          <c:bubbleSize>
            <c:numRef>
              <c:numCache>
                <c:formatCode>General</c:formatCode>
                <c:ptCount val="1"/>
                <c:pt idx="0">
                  <c:v>742.3589999999999</c:v>
                </c:pt>
              </c:numCache>
            </c:numRef>
          </c:bubbleSize>
          <c:bubble3D val="0"/>
        </c:ser>
        <c:ser>
          <c:idx val="2"/>
          <c:order val="2"/>
          <c:tx>
            <c:strRef>
              <c:strCache>
                <c:ptCount val="1"/>
                <c:pt idx="0">
                  <c:v>Emerging Ingredients</c:v>
                </c:pt>
              </c:strCache>
            </c:strRef>
          </c:tx>
          <c:spPr>
            <a:solidFill>
              <a:srgbClr val="008189"/>
            </a:solidFill>
          </c:spPr>
          <c:invertIfNegative val="0"/>
          <c:xVal>
            <c:numRef>
              <c:numCache>
                <c:formatCode>General</c:formatCode>
                <c:ptCount val="1"/>
                <c:pt idx="0">
                  <c:v>111.03565296850229</c:v>
                </c:pt>
              </c:numCache>
            </c:numRef>
          </c:xVal>
          <c:yVal>
            <c:numRef>
              <c:numCache>
                <c:formatCode>General</c:formatCode>
                <c:ptCount val="1"/>
                <c:pt idx="0">
                  <c:v>99.9986285706449</c:v>
                </c:pt>
              </c:numCache>
            </c:numRef>
          </c:yVal>
          <c:bubbleSize>
            <c:numRef>
              <c:numCache>
                <c:formatCode>General</c:formatCode>
                <c:ptCount val="1"/>
                <c:pt idx="0">
                  <c:v>1366.922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785.475</c:v>
                </c:pt>
                <c:pt idx="2">
                  <c:v>913.495</c:v>
                </c:pt>
                <c:pt idx="3">
                  <c:v>1062.3509999999999</c:v>
                </c:pt>
                <c:pt idx="4">
                  <c:v>1235.435</c:v>
                </c:pt>
                <c:pt idx="5">
                  <c:v>1436.7060000000001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785.475</c:v>
                </c:pt>
                <c:pt idx="1">
                  <c:v>128.01999999999998</c:v>
                </c:pt>
                <c:pt idx="2">
                  <c:v>148.85599999999988</c:v>
                </c:pt>
                <c:pt idx="3">
                  <c:v>173.08400000000006</c:v>
                </c:pt>
                <c:pt idx="4">
                  <c:v>201.27100000000019</c:v>
                </c:pt>
                <c:pt idx="5">
                  <c:v>234.01199999999994</c:v>
                </c:pt>
                <c:pt idx="6">
                  <c:v>1670.718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381.199</c:v>
                </c:pt>
                <c:pt idx="2">
                  <c:v>436.201</c:v>
                </c:pt>
                <c:pt idx="3">
                  <c:v>498.787</c:v>
                </c:pt>
                <c:pt idx="4">
                  <c:v>569.942</c:v>
                </c:pt>
                <c:pt idx="5">
                  <c:v>650.7360000000001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381.199</c:v>
                </c:pt>
                <c:pt idx="1">
                  <c:v>55.00200000000001</c:v>
                </c:pt>
                <c:pt idx="2">
                  <c:v>62.585999999999956</c:v>
                </c:pt>
                <c:pt idx="3">
                  <c:v>71.15500000000003</c:v>
                </c:pt>
                <c:pt idx="4">
                  <c:v>80.7940000000001</c:v>
                </c:pt>
                <c:pt idx="5">
                  <c:v>91.62299999999982</c:v>
                </c:pt>
                <c:pt idx="6">
                  <c:v>742.3589999999999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583.325</c:v>
                </c:pt>
                <c:pt idx="2">
                  <c:v>691.708</c:v>
                </c:pt>
                <c:pt idx="3">
                  <c:v>820.191</c:v>
                </c:pt>
                <c:pt idx="4">
                  <c:v>972.484</c:v>
                </c:pt>
                <c:pt idx="5">
                  <c:v>1152.978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583.325</c:v>
                </c:pt>
                <c:pt idx="1">
                  <c:v>108.38299999999992</c:v>
                </c:pt>
                <c:pt idx="2">
                  <c:v>128.48300000000006</c:v>
                </c:pt>
                <c:pt idx="3">
                  <c:v>152.293</c:v>
                </c:pt>
                <c:pt idx="4">
                  <c:v>180.49400000000003</c:v>
                </c:pt>
                <c:pt idx="5">
                  <c:v>213.94399999999996</c:v>
                </c:pt>
                <c:pt idx="6">
                  <c:v>1366.922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Regular Ingredients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45.22172187811985</c:v>
                </c:pt>
                <c:pt idx="1">
                  <c:v>44.88431136246363</c:v>
                </c:pt>
                <c:pt idx="2">
                  <c:v>44.19890058171973</c:v>
                </c:pt>
              </c:numCache>
            </c:numRef>
          </c:val>
        </c:ser>
        <c:ser>
          <c:idx val="1"/>
          <c:order val="1"/>
          <c:tx>
            <c:strRef>
              <c:strCache>
                <c:ptCount val="1"/>
                <c:pt idx="0">
                  <c:v>Emerging Ingredients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31.985401004732207</c:v>
                </c:pt>
                <c:pt idx="1">
                  <c:v>33.33287619021497</c:v>
                </c:pt>
                <c:pt idx="2">
                  <c:v>36.161967238615674</c:v>
                </c:pt>
              </c:numCache>
            </c:numRef>
          </c:val>
        </c:ser>
        <c:ser>
          <c:idx val="2"/>
          <c:order val="2"/>
          <c:tx>
            <c:strRef>
              <c:strCache>
                <c:ptCount val="1"/>
                <c:pt idx="0">
                  <c:v>Niche Ingredients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22.792877117147945</c:v>
                </c:pt>
                <c:pt idx="1">
                  <c:v>21.782812447321394</c:v>
                </c:pt>
                <c:pt idx="2">
                  <c:v>19.639132179664596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Facial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41.675022971896134</c:v>
                </c:pt>
                <c:pt idx="1">
                  <c:v>37.77921946150038</c:v>
                </c:pt>
                <c:pt idx="2">
                  <c:v>38.293878770029735</c:v>
                </c:pt>
                <c:pt idx="3">
                  <c:v>40.12864697541671</c:v>
                </c:pt>
                <c:pt idx="4">
                  <c:v>39.95246274546214</c:v>
                </c:pt>
                <c:pt idx="5">
                  <c:v>39.12847496272911</c:v>
                </c:pt>
              </c:numCache>
            </c:numRef>
          </c:val>
        </c:ser>
        <c:ser>
          <c:idx val="1"/>
          <c:order val="1"/>
          <c:tx>
            <c:strRef>
              <c:strCache>
                <c:ptCount val="1"/>
                <c:pt idx="0">
                  <c:v>Body Sunscreen</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21.952363341047825</c:v>
                </c:pt>
                <c:pt idx="1">
                  <c:v>26.45209493384824</c:v>
                </c:pt>
                <c:pt idx="2">
                  <c:v>23.946092359765885</c:v>
                </c:pt>
                <c:pt idx="3">
                  <c:v>24.282674445258095</c:v>
                </c:pt>
                <c:pt idx="4">
                  <c:v>24.100273896290794</c:v>
                </c:pt>
                <c:pt idx="5">
                  <c:v>26.057616416732436</c:v>
                </c:pt>
              </c:numCache>
            </c:numRef>
          </c:val>
        </c:ser>
        <c:ser>
          <c:idx val="2"/>
          <c:order val="2"/>
          <c:tx>
            <c:strRef>
              <c:strCache>
                <c:ptCount val="1"/>
                <c:pt idx="0">
                  <c:v>Face &amp; Body Sunscreen</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18.21776213697732</c:v>
                </c:pt>
                <c:pt idx="1">
                  <c:v>19.620461386619606</c:v>
                </c:pt>
                <c:pt idx="2">
                  <c:v>17.58946237540391</c:v>
                </c:pt>
                <c:pt idx="3">
                  <c:v>15.776598096868618</c:v>
                </c:pt>
                <c:pt idx="4">
                  <c:v>16.27779583120561</c:v>
                </c:pt>
                <c:pt idx="5">
                  <c:v>17.276681575024117</c:v>
                </c:pt>
              </c:numCache>
            </c:numRef>
          </c:val>
        </c:ser>
        <c:ser>
          <c:idx val="3"/>
          <c:order val="3"/>
          <c:tx>
            <c:strRef>
              <c:strCache>
                <c:ptCount val="1"/>
                <c:pt idx="0">
                  <c:v>Lip Sunscreen</c:v>
                </c:pt>
              </c:strCache>
            </c:strRef>
          </c:tx>
          <c:spPr>
            <a:solidFill>
              <a:srgbClr val="40315E"/>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18.154851550078735</c:v>
                </c:pt>
                <c:pt idx="1">
                  <c:v>16.148224218031775</c:v>
                </c:pt>
                <c:pt idx="2">
                  <c:v>20.17056649480046</c:v>
                </c:pt>
                <c:pt idx="3">
                  <c:v>19.812080482456583</c:v>
                </c:pt>
                <c:pt idx="4">
                  <c:v>19.669467527041455</c:v>
                </c:pt>
                <c:pt idx="5">
                  <c:v>17.53722704551434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Facial Sunscreen</c:v>
                </c:pt>
              </c:strCache>
            </c:strRef>
          </c:tx>
          <c:spPr>
            <a:solidFill>
              <a:srgbClr val="3D85C6"/>
            </a:solidFill>
          </c:spPr>
          <c:invertIfNegative val="0"/>
          <c:xVal>
            <c:numRef>
              <c:numCache>
                <c:formatCode>General</c:formatCode>
                <c:ptCount val="1"/>
                <c:pt idx="0">
                  <c:v>103.52854843622559</c:v>
                </c:pt>
              </c:numCache>
            </c:numRef>
          </c:xVal>
          <c:yVal>
            <c:numRef>
              <c:numCache>
                <c:formatCode>General</c:formatCode>
                <c:ptCount val="1"/>
                <c:pt idx="0">
                  <c:v>153.72328784187874</c:v>
                </c:pt>
              </c:numCache>
            </c:numRef>
          </c:yVal>
          <c:bubbleSize>
            <c:numRef>
              <c:numCache>
                <c:formatCode>General</c:formatCode>
                <c:ptCount val="1"/>
                <c:pt idx="0">
                  <c:v>1491.128</c:v>
                </c:pt>
              </c:numCache>
            </c:numRef>
          </c:bubbleSize>
          <c:bubble3D val="0"/>
        </c:ser>
        <c:ser>
          <c:idx val="1"/>
          <c:order val="1"/>
          <c:tx>
            <c:strRef>
              <c:strCache>
                <c:ptCount val="1"/>
                <c:pt idx="0">
                  <c:v>Body Sunscreen</c:v>
                </c:pt>
              </c:strCache>
            </c:strRef>
          </c:tx>
          <c:spPr>
            <a:solidFill>
              <a:srgbClr val="9E7E0A"/>
            </a:solidFill>
          </c:spPr>
          <c:invertIfNegative val="0"/>
          <c:xVal>
            <c:numRef>
              <c:numCache>
                <c:formatCode>General</c:formatCode>
                <c:ptCount val="1"/>
                <c:pt idx="0">
                  <c:v>92.89629393299572</c:v>
                </c:pt>
              </c:numCache>
            </c:numRef>
          </c:xVal>
          <c:yVal>
            <c:numRef>
              <c:numCache>
                <c:formatCode>General</c:formatCode>
                <c:ptCount val="1"/>
                <c:pt idx="0">
                  <c:v>104.35914534808303</c:v>
                </c:pt>
              </c:numCache>
            </c:numRef>
          </c:yVal>
          <c:bubbleSize>
            <c:numRef>
              <c:numCache>
                <c:formatCode>General</c:formatCode>
                <c:ptCount val="1"/>
                <c:pt idx="0">
                  <c:v>935.481</c:v>
                </c:pt>
              </c:numCache>
            </c:numRef>
          </c:bubbleSize>
          <c:bubble3D val="0"/>
        </c:ser>
        <c:ser>
          <c:idx val="2"/>
          <c:order val="2"/>
          <c:tx>
            <c:strRef>
              <c:strCache>
                <c:ptCount val="1"/>
                <c:pt idx="0">
                  <c:v>Face &amp; Body Sunscreen</c:v>
                </c:pt>
              </c:strCache>
            </c:strRef>
          </c:tx>
          <c:spPr>
            <a:solidFill>
              <a:srgbClr val="008189"/>
            </a:solidFill>
          </c:spPr>
          <c:invertIfNegative val="0"/>
          <c:xVal>
            <c:numRef>
              <c:numCache>
                <c:formatCode>General</c:formatCode>
                <c:ptCount val="1"/>
                <c:pt idx="0">
                  <c:v>102.95777782794784</c:v>
                </c:pt>
              </c:numCache>
            </c:numRef>
          </c:xVal>
          <c:yVal>
            <c:numRef>
              <c:numCache>
                <c:formatCode>General</c:formatCode>
                <c:ptCount val="1"/>
                <c:pt idx="0">
                  <c:v>66.93123824642186</c:v>
                </c:pt>
              </c:numCache>
            </c:numRef>
          </c:yVal>
          <c:bubbleSize>
            <c:numRef>
              <c:numCache>
                <c:formatCode>General</c:formatCode>
                <c:ptCount val="1"/>
                <c:pt idx="0">
                  <c:v>646.504</c:v>
                </c:pt>
              </c:numCache>
            </c:numRef>
          </c:bubbleSize>
          <c:bubble3D val="0"/>
        </c:ser>
        <c:ser>
          <c:idx val="3"/>
          <c:order val="3"/>
          <c:tx>
            <c:strRef>
              <c:strCache>
                <c:ptCount val="1"/>
                <c:pt idx="0">
                  <c:v>Lip Sunscreen</c:v>
                </c:pt>
              </c:strCache>
            </c:strRef>
          </c:tx>
          <c:spPr>
            <a:solidFill>
              <a:srgbClr val="40315E"/>
            </a:solidFill>
          </c:spPr>
          <c:invertIfNegative val="0"/>
          <c:xVal>
            <c:numRef>
              <c:numCache>
                <c:formatCode>General</c:formatCode>
                <c:ptCount val="1"/>
                <c:pt idx="0">
                  <c:v>99.66937761761619</c:v>
                </c:pt>
              </c:numCache>
            </c:numRef>
          </c:xVal>
          <c:yVal>
            <c:numRef>
              <c:numCache>
                <c:formatCode>General</c:formatCode>
                <c:ptCount val="1"/>
                <c:pt idx="0">
                  <c:v>74.98632856361631</c:v>
                </c:pt>
              </c:numCache>
            </c:numRef>
          </c:yVal>
          <c:bubbleSize>
            <c:numRef>
              <c:numCache>
                <c:formatCode>General</c:formatCode>
                <c:ptCount val="1"/>
                <c:pt idx="0">
                  <c:v>706.886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672.539</c:v>
                </c:pt>
                <c:pt idx="2">
                  <c:v>787.8</c:v>
                </c:pt>
                <c:pt idx="3">
                  <c:v>923.223</c:v>
                </c:pt>
                <c:pt idx="4">
                  <c:v>1082.492</c:v>
                </c:pt>
                <c:pt idx="5">
                  <c:v>1270.024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672.539</c:v>
                </c:pt>
                <c:pt idx="1">
                  <c:v>115.26099999999997</c:v>
                </c:pt>
                <c:pt idx="2">
                  <c:v>135.423</c:v>
                </c:pt>
                <c:pt idx="3">
                  <c:v>159.269</c:v>
                </c:pt>
                <c:pt idx="4">
                  <c:v>187.53199999999993</c:v>
                </c:pt>
                <c:pt idx="5">
                  <c:v>221.10400000000004</c:v>
                </c:pt>
                <c:pt idx="6">
                  <c:v>1491.128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456.571</c:v>
                </c:pt>
                <c:pt idx="2">
                  <c:v>528.302</c:v>
                </c:pt>
                <c:pt idx="3">
                  <c:v>610.696</c:v>
                </c:pt>
                <c:pt idx="4">
                  <c:v>705.092</c:v>
                </c:pt>
                <c:pt idx="5">
                  <c:v>812.89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456.571</c:v>
                </c:pt>
                <c:pt idx="1">
                  <c:v>71.731</c:v>
                </c:pt>
                <c:pt idx="2">
                  <c:v>82.394</c:v>
                </c:pt>
                <c:pt idx="3">
                  <c:v>94.39599999999996</c:v>
                </c:pt>
                <c:pt idx="4">
                  <c:v>107.798</c:v>
                </c:pt>
                <c:pt idx="5">
                  <c:v>122.59100000000001</c:v>
                </c:pt>
                <c:pt idx="6">
                  <c:v>935.481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292.824</c:v>
                </c:pt>
                <c:pt idx="2">
                  <c:v>342.766</c:v>
                </c:pt>
                <c:pt idx="3">
                  <c:v>401.379</c:v>
                </c:pt>
                <c:pt idx="4">
                  <c:v>470.226</c:v>
                </c:pt>
                <c:pt idx="5">
                  <c:v>551.179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292.824</c:v>
                </c:pt>
                <c:pt idx="1">
                  <c:v>49.94200000000001</c:v>
                </c:pt>
                <c:pt idx="2">
                  <c:v>58.613</c:v>
                </c:pt>
                <c:pt idx="3">
                  <c:v>68.84699999999998</c:v>
                </c:pt>
                <c:pt idx="4">
                  <c:v>80.95299999999997</c:v>
                </c:pt>
                <c:pt idx="5">
                  <c:v>95.32500000000005</c:v>
                </c:pt>
                <c:pt idx="6">
                  <c:v>646.504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328.065</c:v>
                </c:pt>
                <c:pt idx="2">
                  <c:v>382.536</c:v>
                </c:pt>
                <c:pt idx="3">
                  <c:v>446.031</c:v>
                </c:pt>
                <c:pt idx="4">
                  <c:v>520.051</c:v>
                </c:pt>
                <c:pt idx="5">
                  <c:v>606.327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328.065</c:v>
                </c:pt>
                <c:pt idx="1">
                  <c:v>54.471000000000004</c:v>
                </c:pt>
                <c:pt idx="2">
                  <c:v>63.495000000000005</c:v>
                </c:pt>
                <c:pt idx="3">
                  <c:v>74.02000000000004</c:v>
                </c:pt>
                <c:pt idx="4">
                  <c:v>86.27599999999995</c:v>
                </c:pt>
                <c:pt idx="5">
                  <c:v>100.55899999999997</c:v>
                </c:pt>
                <c:pt idx="6">
                  <c:v>706.886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Facial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38.09187883761953</c:v>
                </c:pt>
                <c:pt idx="1">
                  <c:v>38.430821960469686</c:v>
                </c:pt>
                <c:pt idx="2">
                  <c:v>39.44784112376749</c:v>
                </c:pt>
              </c:numCache>
            </c:numRef>
          </c:val>
        </c:ser>
        <c:ser>
          <c:idx val="1"/>
          <c:order val="1"/>
          <c:tx>
            <c:strRef>
              <c:strCache>
                <c:ptCount val="1"/>
                <c:pt idx="0">
                  <c:v>Body Sunscreen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26.53339839176146</c:v>
                </c:pt>
                <c:pt idx="1">
                  <c:v>26.089786337020758</c:v>
                </c:pt>
                <c:pt idx="2">
                  <c:v>24.748181150312476</c:v>
                </c:pt>
              </c:numCache>
            </c:numRef>
          </c:val>
        </c:ser>
        <c:ser>
          <c:idx val="2"/>
          <c:order val="2"/>
          <c:tx>
            <c:strRef>
              <c:strCache>
                <c:ptCount val="1"/>
                <c:pt idx="0">
                  <c:v>Lip Sunscreen</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18.764378045535583</c:v>
                </c:pt>
                <c:pt idx="1">
                  <c:v>18.746582140904078</c:v>
                </c:pt>
                <c:pt idx="2">
                  <c:v>18.700692777961052</c:v>
                </c:pt>
              </c:numCache>
            </c:numRef>
          </c:val>
        </c:ser>
        <c:ser>
          <c:idx val="3"/>
          <c:order val="3"/>
          <c:tx>
            <c:strRef>
              <c:strCache>
                <c:ptCount val="1"/>
                <c:pt idx="0">
                  <c:v>Face &amp; Body Sunscreen</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16.610344725083433</c:v>
                </c:pt>
                <c:pt idx="1">
                  <c:v>16.732809561605464</c:v>
                </c:pt>
                <c:pt idx="2">
                  <c:v>17.103284947958983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Up to 30 g/ml</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24.10314286041094</c:v>
                </c:pt>
                <c:pt idx="1">
                  <c:v>25.48203310201484</c:v>
                </c:pt>
                <c:pt idx="2">
                  <c:v>30.544136984142124</c:v>
                </c:pt>
                <c:pt idx="3">
                  <c:v>25.854553052170793</c:v>
                </c:pt>
                <c:pt idx="4">
                  <c:v>24.546864119585905</c:v>
                </c:pt>
                <c:pt idx="5">
                  <c:v>27.70797158642463</c:v>
                </c:pt>
              </c:numCache>
            </c:numRef>
          </c:val>
        </c:ser>
        <c:ser>
          <c:idx val="1"/>
          <c:order val="1"/>
          <c:tx>
            <c:strRef>
              <c:strCache>
                <c:ptCount val="1"/>
                <c:pt idx="0">
                  <c:v>Above 30–50 g/ml</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24.677726220751346</c:v>
                </c:pt>
                <c:pt idx="1">
                  <c:v>23.636302142745137</c:v>
                </c:pt>
                <c:pt idx="2">
                  <c:v>22.18754018392311</c:v>
                </c:pt>
                <c:pt idx="3">
                  <c:v>25.569549897865418</c:v>
                </c:pt>
                <c:pt idx="4">
                  <c:v>21.894155331693053</c:v>
                </c:pt>
                <c:pt idx="5">
                  <c:v>23.054020871700427</c:v>
                </c:pt>
              </c:numCache>
            </c:numRef>
          </c:val>
        </c:ser>
        <c:ser>
          <c:idx val="2"/>
          <c:order val="2"/>
          <c:tx>
            <c:strRef>
              <c:strCache>
                <c:ptCount val="1"/>
                <c:pt idx="0">
                  <c:v>Above 50–100 g/ml</c:v>
                </c:pt>
              </c:strCache>
            </c:strRef>
          </c:tx>
          <c:spPr>
            <a:solidFill>
              <a:srgbClr val="008189"/>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6.156468161523885</c:v>
                </c:pt>
                <c:pt idx="1">
                  <c:v>4.722709900780047</c:v>
                </c:pt>
                <c:pt idx="2">
                  <c:v>5.593187295450869</c:v>
                </c:pt>
                <c:pt idx="3">
                  <c:v>4.772433602379016</c:v>
                </c:pt>
                <c:pt idx="4">
                  <c:v>5.676988069263265</c:v>
                </c:pt>
                <c:pt idx="5">
                  <c:v>5.483030781373324</c:v>
                </c:pt>
              </c:numCache>
            </c:numRef>
          </c:val>
        </c:ser>
        <c:ser>
          <c:idx val="3"/>
          <c:order val="3"/>
          <c:tx>
            <c:strRef>
              <c:strCache>
                <c:ptCount val="1"/>
                <c:pt idx="0">
                  <c:v>Above 100–200 g/ml</c:v>
                </c:pt>
              </c:strCache>
            </c:strRef>
          </c:tx>
          <c:spPr>
            <a:solidFill>
              <a:srgbClr val="40315E"/>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18.92922368335767</c:v>
                </c:pt>
                <c:pt idx="1">
                  <c:v>21.33213625755987</c:v>
                </c:pt>
                <c:pt idx="2">
                  <c:v>19.445907772970685</c:v>
                </c:pt>
                <c:pt idx="3">
                  <c:v>19.69361653789122</c:v>
                </c:pt>
                <c:pt idx="4">
                  <c:v>19.886170558469896</c:v>
                </c:pt>
                <c:pt idx="5">
                  <c:v>16.740769972814174</c:v>
                </c:pt>
              </c:numCache>
            </c:numRef>
          </c:val>
        </c:ser>
        <c:ser>
          <c:idx val="4"/>
          <c:order val="4"/>
          <c:tx>
            <c:strRef>
              <c:strCache>
                <c:ptCount val="1"/>
                <c:pt idx="0">
                  <c:v>Above 200 g/ml</c:v>
                </c:pt>
              </c:strCache>
            </c:strRef>
          </c:tx>
          <c:spPr>
            <a:solidFill>
              <a:srgbClr val="A35313"/>
            </a:solidFill>
            <a:ln>
              <a:noFill/>
            </a:ln>
          </c:spPr>
          <c:dLbls>
            <c:dLbl>
              <c:idx val="0"/>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26.13343907395616</c:v>
                </c:pt>
                <c:pt idx="1">
                  <c:v>24.826818596900107</c:v>
                </c:pt>
                <c:pt idx="2">
                  <c:v>22.229227763513208</c:v>
                </c:pt>
                <c:pt idx="3">
                  <c:v>24.109846909693555</c:v>
                </c:pt>
                <c:pt idx="4">
                  <c:v>27.995821920987886</c:v>
                </c:pt>
                <c:pt idx="5">
                  <c:v>27.01420678768745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Up to 30 g/ml</c:v>
                </c:pt>
              </c:strCache>
            </c:strRef>
          </c:tx>
          <c:spPr>
            <a:solidFill>
              <a:srgbClr val="3D85C6"/>
            </a:solidFill>
          </c:spPr>
          <c:invertIfNegative val="0"/>
          <c:xVal>
            <c:numRef>
              <c:numCache>
                <c:formatCode>General</c:formatCode>
                <c:ptCount val="1"/>
                <c:pt idx="0">
                  <c:v>100.03345910277692</c:v>
                </c:pt>
              </c:numCache>
            </c:numRef>
          </c:xVal>
          <c:yVal>
            <c:numRef>
              <c:numCache>
                <c:formatCode>General</c:formatCode>
                <c:ptCount val="1"/>
                <c:pt idx="0">
                  <c:v>132.3955042260024</c:v>
                </c:pt>
              </c:numCache>
            </c:numRef>
          </c:yVal>
          <c:bubbleSize>
            <c:numRef>
              <c:numCache>
                <c:formatCode>General</c:formatCode>
                <c:ptCount val="1"/>
                <c:pt idx="0">
                  <c:v>1001.158</c:v>
                </c:pt>
              </c:numCache>
            </c:numRef>
          </c:bubbleSize>
          <c:bubble3D val="0"/>
        </c:ser>
        <c:ser>
          <c:idx val="1"/>
          <c:order val="1"/>
          <c:tx>
            <c:strRef>
              <c:strCache>
                <c:ptCount val="1"/>
                <c:pt idx="0">
                  <c:v>Above 30–50 g/ml</c:v>
                </c:pt>
              </c:strCache>
            </c:strRef>
          </c:tx>
          <c:spPr>
            <a:solidFill>
              <a:srgbClr val="9E7E0A"/>
            </a:solidFill>
          </c:spPr>
          <c:invertIfNegative val="0"/>
          <c:xVal>
            <c:numRef>
              <c:numCache>
                <c:formatCode>General</c:formatCode>
                <c:ptCount val="1"/>
                <c:pt idx="0">
                  <c:v>88.86303675145237</c:v>
                </c:pt>
              </c:numCache>
            </c:numRef>
          </c:xVal>
          <c:yVal>
            <c:numRef>
              <c:numCache>
                <c:formatCode>General</c:formatCode>
                <c:ptCount val="1"/>
                <c:pt idx="0">
                  <c:v>125.5026431443675</c:v>
                </c:pt>
              </c:numCache>
            </c:numRef>
          </c:yVal>
          <c:bubbleSize>
            <c:numRef>
              <c:numCache>
                <c:formatCode>General</c:formatCode>
                <c:ptCount val="1"/>
                <c:pt idx="0">
                  <c:v>873.325</c:v>
                </c:pt>
              </c:numCache>
            </c:numRef>
          </c:bubbleSize>
          <c:bubble3D val="0"/>
        </c:ser>
        <c:ser>
          <c:idx val="2"/>
          <c:order val="2"/>
          <c:tx>
            <c:strRef>
              <c:strCache>
                <c:ptCount val="1"/>
                <c:pt idx="0">
                  <c:v>Above 50–100 g/ml</c:v>
                </c:pt>
              </c:strCache>
            </c:strRef>
          </c:tx>
          <c:spPr>
            <a:solidFill>
              <a:srgbClr val="008189"/>
            </a:solidFill>
          </c:spPr>
          <c:invertIfNegative val="0"/>
          <c:xVal>
            <c:numRef>
              <c:numCache>
                <c:formatCode>General</c:formatCode>
                <c:ptCount val="1"/>
                <c:pt idx="0">
                  <c:v>65.46542839291487</c:v>
                </c:pt>
              </c:numCache>
            </c:numRef>
          </c:xVal>
          <c:yVal>
            <c:numRef>
              <c:numCache>
                <c:formatCode>General</c:formatCode>
                <c:ptCount val="1"/>
                <c:pt idx="0">
                  <c:v>35.25830586188906</c:v>
                </c:pt>
              </c:numCache>
            </c:numRef>
          </c:yVal>
          <c:bubbleSize>
            <c:numRef>
              <c:numCache>
                <c:formatCode>General</c:formatCode>
                <c:ptCount val="1"/>
                <c:pt idx="0">
                  <c:v>205.669</c:v>
                </c:pt>
              </c:numCache>
            </c:numRef>
          </c:bubbleSize>
          <c:bubble3D val="0"/>
        </c:ser>
        <c:ser>
          <c:idx val="3"/>
          <c:order val="3"/>
          <c:tx>
            <c:strRef>
              <c:strCache>
                <c:ptCount val="1"/>
                <c:pt idx="0">
                  <c:v>Above 100–200 g/ml</c:v>
                </c:pt>
              </c:strCache>
            </c:strRef>
          </c:tx>
          <c:spPr>
            <a:solidFill>
              <a:srgbClr val="40315E"/>
            </a:solidFill>
          </c:spPr>
          <c:invertIfNegative val="0"/>
          <c:xVal>
            <c:numRef>
              <c:numCache>
                <c:formatCode>General</c:formatCode>
                <c:ptCount val="1"/>
                <c:pt idx="0">
                  <c:v>127.10985681226055</c:v>
                </c:pt>
              </c:numCache>
            </c:numRef>
          </c:xVal>
          <c:yVal>
            <c:numRef>
              <c:numCache>
                <c:formatCode>General</c:formatCode>
                <c:ptCount val="1"/>
                <c:pt idx="0">
                  <c:v>77.50918714810693</c:v>
                </c:pt>
              </c:numCache>
            </c:numRef>
          </c:yVal>
          <c:bubbleSize>
            <c:numRef>
              <c:numCache>
                <c:formatCode>General</c:formatCode>
                <c:ptCount val="1"/>
                <c:pt idx="0">
                  <c:v>714.951</c:v>
                </c:pt>
              </c:numCache>
            </c:numRef>
          </c:bubbleSize>
          <c:bubble3D val="0"/>
        </c:ser>
        <c:ser>
          <c:idx val="4"/>
          <c:order val="4"/>
          <c:tx>
            <c:strRef>
              <c:strCache>
                <c:ptCount val="1"/>
                <c:pt idx="0">
                  <c:v>Above 200 g/ml</c:v>
                </c:pt>
              </c:strCache>
            </c:strRef>
          </c:tx>
          <c:spPr>
            <a:solidFill>
              <a:srgbClr val="A35313"/>
            </a:solidFill>
          </c:spPr>
          <c:invertIfNegative val="0"/>
          <c:xVal>
            <c:numRef>
              <c:numCache>
                <c:formatCode>General</c:formatCode>
                <c:ptCount val="1"/>
                <c:pt idx="0">
                  <c:v>100.98040474793069</c:v>
                </c:pt>
              </c:numCache>
            </c:numRef>
          </c:xVal>
          <c:yVal>
            <c:numRef>
              <c:numCache>
                <c:formatCode>General</c:formatCode>
                <c:ptCount val="1"/>
                <c:pt idx="0">
                  <c:v>129.33435961963406</c:v>
                </c:pt>
              </c:numCache>
            </c:numRef>
          </c:yVal>
          <c:bubbleSize>
            <c:numRef>
              <c:numCache>
                <c:formatCode>General</c:formatCode>
                <c:ptCount val="1"/>
                <c:pt idx="0">
                  <c:v>984.896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463.384</c:v>
                </c:pt>
                <c:pt idx="2">
                  <c:v>540.594</c:v>
                </c:pt>
                <c:pt idx="3">
                  <c:v>630.657</c:v>
                </c:pt>
                <c:pt idx="4">
                  <c:v>735.705</c:v>
                </c:pt>
                <c:pt idx="5">
                  <c:v>858.231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463.384</c:v>
                </c:pt>
                <c:pt idx="1">
                  <c:v>77.21000000000004</c:v>
                </c:pt>
                <c:pt idx="2">
                  <c:v>90.06299999999999</c:v>
                </c:pt>
                <c:pt idx="3">
                  <c:v>105.048</c:v>
                </c:pt>
                <c:pt idx="4">
                  <c:v>122.52599999999995</c:v>
                </c:pt>
                <c:pt idx="5">
                  <c:v>142.92700000000002</c:v>
                </c:pt>
                <c:pt idx="6">
                  <c:v>1001.158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439.259</c:v>
                </c:pt>
                <c:pt idx="2">
                  <c:v>504.746</c:v>
                </c:pt>
                <c:pt idx="3">
                  <c:v>579.581</c:v>
                </c:pt>
                <c:pt idx="4">
                  <c:v>665.015</c:v>
                </c:pt>
                <c:pt idx="5">
                  <c:v>762.42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439.259</c:v>
                </c:pt>
                <c:pt idx="1">
                  <c:v>65.48699999999997</c:v>
                </c:pt>
                <c:pt idx="2">
                  <c:v>74.83500000000004</c:v>
                </c:pt>
                <c:pt idx="3">
                  <c:v>85.43399999999997</c:v>
                </c:pt>
                <c:pt idx="4">
                  <c:v>97.40499999999997</c:v>
                </c:pt>
                <c:pt idx="5">
                  <c:v>110.90500000000009</c:v>
                </c:pt>
                <c:pt idx="6">
                  <c:v>873.325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123.404</c:v>
                </c:pt>
                <c:pt idx="2">
                  <c:v>137.797</c:v>
                </c:pt>
                <c:pt idx="3">
                  <c:v>153.333</c:v>
                </c:pt>
                <c:pt idx="4">
                  <c:v>169.926</c:v>
                </c:pt>
                <c:pt idx="5">
                  <c:v>187.453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123.404</c:v>
                </c:pt>
                <c:pt idx="1">
                  <c:v>14.393</c:v>
                </c:pt>
                <c:pt idx="2">
                  <c:v>15.536000000000001</c:v>
                </c:pt>
                <c:pt idx="3">
                  <c:v>16.59299999999999</c:v>
                </c:pt>
                <c:pt idx="4">
                  <c:v>17.527000000000015</c:v>
                </c:pt>
                <c:pt idx="5">
                  <c:v>18.216000000000008</c:v>
                </c:pt>
                <c:pt idx="6">
                  <c:v>205.669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271.282</c:v>
                </c:pt>
                <c:pt idx="2">
                  <c:v>329.491</c:v>
                </c:pt>
                <c:pt idx="3">
                  <c:v>400.063</c:v>
                </c:pt>
                <c:pt idx="4">
                  <c:v>485.61</c:v>
                </c:pt>
                <c:pt idx="5">
                  <c:v>589.297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271.282</c:v>
                </c:pt>
                <c:pt idx="1">
                  <c:v>58.209</c:v>
                </c:pt>
                <c:pt idx="2">
                  <c:v>70.572</c:v>
                </c:pt>
                <c:pt idx="3">
                  <c:v>85.54700000000003</c:v>
                </c:pt>
                <c:pt idx="4">
                  <c:v>103.68700000000001</c:v>
                </c:pt>
                <c:pt idx="5">
                  <c:v>125.654</c:v>
                </c:pt>
                <c:pt idx="6">
                  <c:v>714.951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452.67</c:v>
                </c:pt>
                <c:pt idx="2">
                  <c:v>528.776</c:v>
                </c:pt>
                <c:pt idx="3">
                  <c:v>617.695</c:v>
                </c:pt>
                <c:pt idx="4">
                  <c:v>721.605</c:v>
                </c:pt>
                <c:pt idx="5">
                  <c:v>843.019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452.67</c:v>
                </c:pt>
                <c:pt idx="1">
                  <c:v>76.10599999999994</c:v>
                </c:pt>
                <c:pt idx="2">
                  <c:v>88.9190000000001</c:v>
                </c:pt>
                <c:pt idx="3">
                  <c:v>103.90999999999997</c:v>
                </c:pt>
                <c:pt idx="4">
                  <c:v>121.41399999999999</c:v>
                </c:pt>
                <c:pt idx="5">
                  <c:v>141.87699999999995</c:v>
                </c:pt>
                <c:pt idx="6">
                  <c:v>984.896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Up to 30 g/ml</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26.471554217330436</c:v>
                </c:pt>
                <c:pt idx="1">
                  <c:v>26.47910084520048</c:v>
                </c:pt>
                <c:pt idx="2">
                  <c:v>26.485668382451955</c:v>
                </c:pt>
              </c:numCache>
            </c:numRef>
          </c:val>
        </c:ser>
        <c:ser>
          <c:idx val="1"/>
          <c:order val="1"/>
          <c:tx>
            <c:strRef>
              <c:strCache>
                <c:ptCount val="1"/>
                <c:pt idx="0">
                  <c:v>200 g/ml</c:v>
                </c:pt>
              </c:strCache>
            </c:strRef>
          </c:tx>
          <c:spPr>
            <a:solidFill>
              <a:srgbClr val="9E7E0A"/>
            </a:solidFill>
            <a:ln>
              <a:noFill/>
            </a:ln>
          </c:spPr>
          <c:dLbls>
            <c:dLbl>
              <c:idx val="0"/>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25.781625537511427</c:v>
                </c:pt>
                <c:pt idx="1">
                  <c:v>25.866871923926816</c:v>
                </c:pt>
                <c:pt idx="2">
                  <c:v>26.05545662842768</c:v>
                </c:pt>
              </c:numCache>
            </c:numRef>
          </c:val>
        </c:ser>
        <c:ser>
          <c:idx val="2"/>
          <c:order val="2"/>
          <c:tx>
            <c:strRef>
              <c:strCache>
                <c:ptCount val="1"/>
                <c:pt idx="0">
                  <c:v>30–50 g/ml</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25.991446218406367</c:v>
                </c:pt>
                <c:pt idx="1">
                  <c:v>25.1005286288735</c:v>
                </c:pt>
                <c:pt idx="2">
                  <c:v>23.103842090963518</c:v>
                </c:pt>
              </c:numCache>
            </c:numRef>
          </c:val>
        </c:ser>
        <c:ser>
          <c:idx val="3"/>
          <c:order val="3"/>
          <c:tx>
            <c:strRef>
              <c:strCache>
                <c:ptCount val="1"/>
                <c:pt idx="0">
                  <c:v>100–200 g/ml</c:v>
                </c:pt>
              </c:strCache>
            </c:strRef>
          </c:tx>
          <c:spPr>
            <a:solidFill>
              <a:srgbClr val="40315E"/>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13.990558794379357</c:v>
                </c:pt>
                <c:pt idx="1">
                  <c:v>15.501837429621387</c:v>
                </c:pt>
                <c:pt idx="2">
                  <c:v>18.914052622765247</c:v>
                </c:pt>
              </c:numCache>
            </c:numRef>
          </c:val>
        </c:ser>
        <c:ser>
          <c:idx val="4"/>
          <c:order val="4"/>
          <c:tx>
            <c:strRef>
              <c:strCache>
                <c:ptCount val="1"/>
                <c:pt idx="0">
                  <c:v>50–100 g/ml</c:v>
                </c:pt>
              </c:strCache>
            </c:strRef>
          </c:tx>
          <c:spPr>
            <a:solidFill>
              <a:srgbClr val="A35313"/>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7.764815232372417</c:v>
                </c:pt>
                <c:pt idx="1">
                  <c:v>7.051661172377813</c:v>
                </c:pt>
                <c:pt idx="2">
                  <c:v>5.440980275391608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Mass Market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65.58409620363204</c:v>
                </c:pt>
                <c:pt idx="1">
                  <c:v>66.92411994945225</c:v>
                </c:pt>
                <c:pt idx="2">
                  <c:v>69.10224449246928</c:v>
                </c:pt>
                <c:pt idx="3">
                  <c:v>61.19981256732059</c:v>
                </c:pt>
                <c:pt idx="4">
                  <c:v>66.3361032449747</c:v>
                </c:pt>
                <c:pt idx="5">
                  <c:v>67.23134262913268</c:v>
                </c:pt>
              </c:numCache>
            </c:numRef>
          </c:val>
        </c:ser>
        <c:ser>
          <c:idx val="1"/>
          <c:order val="1"/>
          <c:tx>
            <c:strRef>
              <c:strCache>
                <c:ptCount val="1"/>
                <c:pt idx="0">
                  <c:v>Masstige</c:v>
                </c:pt>
              </c:strCache>
            </c:strRef>
          </c:tx>
          <c:spPr>
            <a:solidFill>
              <a:srgbClr val="9E7E0A"/>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7.2595004518123964</c:v>
                </c:pt>
                <c:pt idx="1">
                  <c:v>8.032911384621062</c:v>
                </c:pt>
                <c:pt idx="2">
                  <c:v>7.789147955649393</c:v>
                </c:pt>
                <c:pt idx="3">
                  <c:v>10.651612549875551</c:v>
                </c:pt>
                <c:pt idx="4">
                  <c:v>8.281973910217724</c:v>
                </c:pt>
                <c:pt idx="5">
                  <c:v>7.746031746031747</c:v>
                </c:pt>
              </c:numCache>
            </c:numRef>
          </c:val>
        </c:ser>
        <c:ser>
          <c:idx val="2"/>
          <c:order val="2"/>
          <c:tx>
            <c:strRef>
              <c:strCache>
                <c:ptCount val="1"/>
                <c:pt idx="0">
                  <c:v>Premium</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12.511581267133604</c:v>
                </c:pt>
                <c:pt idx="1">
                  <c:v>12.46906102319232</c:v>
                </c:pt>
                <c:pt idx="2">
                  <c:v>11.01236524126946</c:v>
                </c:pt>
                <c:pt idx="3">
                  <c:v>14.398846193635809</c:v>
                </c:pt>
                <c:pt idx="4">
                  <c:v>10.937932315120005</c:v>
                </c:pt>
                <c:pt idx="5">
                  <c:v>11.287117425238973</c:v>
                </c:pt>
              </c:numCache>
            </c:numRef>
          </c:val>
        </c:ser>
        <c:ser>
          <c:idx val="3"/>
          <c:order val="3"/>
          <c:tx>
            <c:strRef>
              <c:strCache>
                <c:ptCount val="1"/>
                <c:pt idx="0">
                  <c:v>Prestige / Luxury</c:v>
                </c:pt>
              </c:strCache>
            </c:strRef>
          </c:tx>
          <c:spPr>
            <a:solidFill>
              <a:srgbClr val="40315E"/>
            </a:solidFill>
            <a:ln>
              <a:noFill/>
            </a:ln>
          </c:spPr>
          <c:dLbls>
            <c:dLbl>
              <c:idx val="0"/>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14.644822077421962</c:v>
                </c:pt>
                <c:pt idx="1">
                  <c:v>12.573907642734378</c:v>
                </c:pt>
                <c:pt idx="2">
                  <c:v>12.096242310611876</c:v>
                </c:pt>
                <c:pt idx="3">
                  <c:v>13.749728689168053</c:v>
                </c:pt>
                <c:pt idx="4">
                  <c:v>14.443990529687573</c:v>
                </c:pt>
                <c:pt idx="5">
                  <c:v>13.7355081995966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Mass Market</c:v>
                </c:pt>
              </c:strCache>
            </c:strRef>
          </c:tx>
          <c:spPr>
            <a:solidFill>
              <a:srgbClr val="3D85C6"/>
            </a:solidFill>
          </c:spPr>
          <c:invertIfNegative val="0"/>
          <c:xVal>
            <c:numRef>
              <c:numCache>
                <c:formatCode>General</c:formatCode>
                <c:ptCount val="1"/>
                <c:pt idx="0">
                  <c:v>97.91123936103358</c:v>
                </c:pt>
              </c:numCache>
            </c:numRef>
          </c:xVal>
          <c:yVal>
            <c:numRef>
              <c:numCache>
                <c:formatCode>General</c:formatCode>
                <c:ptCount val="1"/>
                <c:pt idx="0">
                  <c:v>269.2904395945369</c:v>
                </c:pt>
              </c:numCache>
            </c:numRef>
          </c:yVal>
          <c:bubbleSize>
            <c:numRef>
              <c:numCache>
                <c:formatCode>General</c:formatCode>
                <c:ptCount val="1"/>
                <c:pt idx="0">
                  <c:v>2505.669</c:v>
                </c:pt>
              </c:numCache>
            </c:numRef>
          </c:bubbleSize>
          <c:bubble3D val="0"/>
        </c:ser>
        <c:ser>
          <c:idx val="1"/>
          <c:order val="1"/>
          <c:tx>
            <c:strRef>
              <c:strCache>
                <c:ptCount val="1"/>
                <c:pt idx="0">
                  <c:v>Masstige</c:v>
                </c:pt>
              </c:strCache>
            </c:strRef>
          </c:tx>
          <c:spPr>
            <a:solidFill>
              <a:srgbClr val="9E7E0A"/>
            </a:solidFill>
          </c:spPr>
          <c:invertIfNegative val="0"/>
          <c:xVal>
            <c:numRef>
              <c:numCache>
                <c:formatCode>General</c:formatCode>
                <c:ptCount val="1"/>
                <c:pt idx="0">
                  <c:v>74.0583415718731</c:v>
                </c:pt>
              </c:numCache>
            </c:numRef>
          </c:xVal>
          <c:yVal>
            <c:numRef>
              <c:numCache>
                <c:formatCode>General</c:formatCode>
                <c:ptCount val="1"/>
                <c:pt idx="0">
                  <c:v>40.18836582192333</c:v>
                </c:pt>
              </c:numCache>
            </c:numRef>
          </c:yVal>
          <c:bubbleSize>
            <c:numRef>
              <c:numCache>
                <c:formatCode>General</c:formatCode>
                <c:ptCount val="1"/>
                <c:pt idx="0">
                  <c:v>312.761</c:v>
                </c:pt>
              </c:numCache>
            </c:numRef>
          </c:bubbleSize>
          <c:bubble3D val="0"/>
        </c:ser>
        <c:ser>
          <c:idx val="2"/>
          <c:order val="2"/>
          <c:tx>
            <c:strRef>
              <c:strCache>
                <c:ptCount val="1"/>
                <c:pt idx="0">
                  <c:v>Premium</c:v>
                </c:pt>
              </c:strCache>
            </c:strRef>
          </c:tx>
          <c:spPr>
            <a:solidFill>
              <a:srgbClr val="008189"/>
            </a:solidFill>
          </c:spPr>
          <c:invertIfNegative val="0"/>
          <c:xVal>
            <c:numRef>
              <c:numCache>
                <c:formatCode>General</c:formatCode>
                <c:ptCount val="1"/>
                <c:pt idx="0">
                  <c:v>95.44013864792929</c:v>
                </c:pt>
              </c:numCache>
            </c:numRef>
          </c:xVal>
          <c:yVal>
            <c:numRef>
              <c:numCache>
                <c:formatCode>General</c:formatCode>
                <c:ptCount val="1"/>
                <c:pt idx="0">
                  <c:v>48.59797062741179</c:v>
                </c:pt>
              </c:numCache>
            </c:numRef>
          </c:yVal>
          <c:bubbleSize>
            <c:numRef>
              <c:numCache>
                <c:formatCode>General</c:formatCode>
                <c:ptCount val="1"/>
                <c:pt idx="0">
                  <c:v>443.963</c:v>
                </c:pt>
              </c:numCache>
            </c:numRef>
          </c:bubbleSize>
          <c:bubble3D val="0"/>
        </c:ser>
        <c:ser>
          <c:idx val="3"/>
          <c:order val="3"/>
          <c:tx>
            <c:strRef>
              <c:strCache>
                <c:ptCount val="1"/>
                <c:pt idx="0">
                  <c:v>Prestige / Luxury</c:v>
                </c:pt>
              </c:strCache>
            </c:strRef>
          </c:tx>
          <c:spPr>
            <a:solidFill>
              <a:srgbClr val="40315E"/>
            </a:solidFill>
          </c:spPr>
          <c:invertIfNegative val="0"/>
          <c:xVal>
            <c:numRef>
              <c:numCache>
                <c:formatCode>General</c:formatCode>
                <c:ptCount val="1"/>
                <c:pt idx="0">
                  <c:v>136.5576542814228</c:v>
                </c:pt>
              </c:numCache>
            </c:numRef>
          </c:xVal>
          <c:yVal>
            <c:numRef>
              <c:numCache>
                <c:formatCode>General</c:formatCode>
                <c:ptCount val="1"/>
                <c:pt idx="0">
                  <c:v>41.92322395612797</c:v>
                </c:pt>
              </c:numCache>
            </c:numRef>
          </c:yVal>
          <c:bubbleSize>
            <c:numRef>
              <c:numCache>
                <c:formatCode>General</c:formatCode>
                <c:ptCount val="1"/>
                <c:pt idx="0">
                  <c:v>517.606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1178.145</c:v>
                </c:pt>
                <c:pt idx="2">
                  <c:v>1370.603</c:v>
                </c:pt>
                <c:pt idx="3">
                  <c:v>1594.218</c:v>
                </c:pt>
                <c:pt idx="4">
                  <c:v>1853.968</c:v>
                </c:pt>
                <c:pt idx="5">
                  <c:v>2155.575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1178.145</c:v>
                </c:pt>
                <c:pt idx="1">
                  <c:v>192.45800000000008</c:v>
                </c:pt>
                <c:pt idx="2">
                  <c:v>223.615</c:v>
                </c:pt>
                <c:pt idx="3">
                  <c:v>259.75</c:v>
                </c:pt>
                <c:pt idx="4">
                  <c:v>301.60699999999974</c:v>
                </c:pt>
                <c:pt idx="5">
                  <c:v>350.09400000000005</c:v>
                </c:pt>
                <c:pt idx="6">
                  <c:v>2505.669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175.824</c:v>
                </c:pt>
                <c:pt idx="2">
                  <c:v>198.731</c:v>
                </c:pt>
                <c:pt idx="3">
                  <c:v>223.934</c:v>
                </c:pt>
                <c:pt idx="4">
                  <c:v>251.43</c:v>
                </c:pt>
                <c:pt idx="5">
                  <c:v>281.12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175.824</c:v>
                </c:pt>
                <c:pt idx="1">
                  <c:v>22.906999999999982</c:v>
                </c:pt>
                <c:pt idx="2">
                  <c:v>25.203000000000003</c:v>
                </c:pt>
                <c:pt idx="3">
                  <c:v>27.49600000000001</c:v>
                </c:pt>
                <c:pt idx="4">
                  <c:v>29.689999999999998</c:v>
                </c:pt>
                <c:pt idx="5">
                  <c:v>31.64100000000002</c:v>
                </c:pt>
                <c:pt idx="6">
                  <c:v>312.761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212.616</c:v>
                </c:pt>
                <c:pt idx="2">
                  <c:v>246.532</c:v>
                </c:pt>
                <c:pt idx="3">
                  <c:v>285.761</c:v>
                </c:pt>
                <c:pt idx="4">
                  <c:v>331.108</c:v>
                </c:pt>
                <c:pt idx="5">
                  <c:v>383.494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212.616</c:v>
                </c:pt>
                <c:pt idx="1">
                  <c:v>33.916</c:v>
                </c:pt>
                <c:pt idx="2">
                  <c:v>39.22900000000001</c:v>
                </c:pt>
                <c:pt idx="3">
                  <c:v>45.34699999999998</c:v>
                </c:pt>
                <c:pt idx="4">
                  <c:v>52.386000000000024</c:v>
                </c:pt>
                <c:pt idx="5">
                  <c:v>60.468999999999994</c:v>
                </c:pt>
                <c:pt idx="6">
                  <c:v>443.963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183.414</c:v>
                </c:pt>
                <c:pt idx="2">
                  <c:v>225.538</c:v>
                </c:pt>
                <c:pt idx="3">
                  <c:v>277.416</c:v>
                </c:pt>
                <c:pt idx="4">
                  <c:v>341.355</c:v>
                </c:pt>
                <c:pt idx="5">
                  <c:v>420.231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183.414</c:v>
                </c:pt>
                <c:pt idx="1">
                  <c:v>42.124000000000024</c:v>
                </c:pt>
                <c:pt idx="2">
                  <c:v>51.877999999999986</c:v>
                </c:pt>
                <c:pt idx="3">
                  <c:v>63.93900000000002</c:v>
                </c:pt>
                <c:pt idx="4">
                  <c:v>78.87599999999998</c:v>
                </c:pt>
                <c:pt idx="5">
                  <c:v>97.375</c:v>
                </c:pt>
                <c:pt idx="6">
                  <c:v>517.606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Mass Market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67.73524893186483</c:v>
                </c:pt>
                <c:pt idx="1">
                  <c:v>67.32260989863423</c:v>
                </c:pt>
                <c:pt idx="2">
                  <c:v>66.28755721893049</c:v>
                </c:pt>
              </c:numCache>
            </c:numRef>
          </c:val>
        </c:ser>
        <c:ser>
          <c:idx val="1"/>
          <c:order val="1"/>
          <c:tx>
            <c:strRef>
              <c:strCache>
                <c:ptCount val="1"/>
                <c:pt idx="0">
                  <c:v>Prestige / Luxury</c:v>
                </c:pt>
              </c:strCache>
            </c:strRef>
          </c:tx>
          <c:spPr>
            <a:solidFill>
              <a:srgbClr val="9E7E0A"/>
            </a:solidFill>
            <a:ln>
              <a:noFill/>
            </a:ln>
          </c:spPr>
          <c:dLbls>
            <c:dLbl>
              <c:idx val="0"/>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9.194263934696032</c:v>
                </c:pt>
                <c:pt idx="1">
                  <c:v>10.480805989031992</c:v>
                </c:pt>
                <c:pt idx="2">
                  <c:v>13.693284045842342</c:v>
                </c:pt>
              </c:numCache>
            </c:numRef>
          </c:val>
        </c:ser>
        <c:ser>
          <c:idx val="2"/>
          <c:order val="2"/>
          <c:tx>
            <c:strRef>
              <c:strCache>
                <c:ptCount val="1"/>
                <c:pt idx="0">
                  <c:v>Premium</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12.31793850818511</c:v>
                </c:pt>
                <c:pt idx="1">
                  <c:v>12.149492656852948</c:v>
                </c:pt>
                <c:pt idx="2">
                  <c:v>11.745056017210588</c:v>
                </c:pt>
              </c:numCache>
            </c:numRef>
          </c:val>
        </c:ser>
        <c:ser>
          <c:idx val="3"/>
          <c:order val="3"/>
          <c:tx>
            <c:strRef>
              <c:strCache>
                <c:ptCount val="1"/>
                <c:pt idx="0">
                  <c:v>Masstige</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10.752548625254029</c:v>
                </c:pt>
                <c:pt idx="1">
                  <c:v>10.047091455480832</c:v>
                </c:pt>
                <c:pt idx="2">
                  <c:v>8.274102718016593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Online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30.088417970313824</c:v>
                </c:pt>
                <c:pt idx="1">
                  <c:v>30.408594348121525</c:v>
                </c:pt>
                <c:pt idx="2">
                  <c:v>33.69559356061706</c:v>
                </c:pt>
                <c:pt idx="3">
                  <c:v>30.300805108554762</c:v>
                </c:pt>
                <c:pt idx="4">
                  <c:v>29.99684322919084</c:v>
                </c:pt>
                <c:pt idx="5">
                  <c:v>29.368236429009908</c:v>
                </c:pt>
              </c:numCache>
            </c:numRef>
          </c:val>
        </c:ser>
        <c:ser>
          <c:idx val="1"/>
          <c:order val="1"/>
          <c:tx>
            <c:strRef>
              <c:strCache>
                <c:ptCount val="1"/>
                <c:pt idx="0">
                  <c:v>Offline</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69.91158202968617</c:v>
                </c:pt>
                <c:pt idx="1">
                  <c:v>69.59140565187847</c:v>
                </c:pt>
                <c:pt idx="2">
                  <c:v>66.30440643938294</c:v>
                </c:pt>
                <c:pt idx="3">
                  <c:v>69.69919489144525</c:v>
                </c:pt>
                <c:pt idx="4">
                  <c:v>70.00315677080916</c:v>
                </c:pt>
                <c:pt idx="5">
                  <c:v>70.63176357099009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Online</c:v>
                </c:pt>
              </c:strCache>
            </c:strRef>
          </c:tx>
          <c:spPr>
            <a:solidFill>
              <a:srgbClr val="3D85C6"/>
            </a:solidFill>
          </c:spPr>
          <c:invertIfNegative val="0"/>
          <c:xVal>
            <c:numRef>
              <c:numCache>
                <c:formatCode>General</c:formatCode>
                <c:ptCount val="1"/>
                <c:pt idx="0">
                  <c:v>85.58588630048844</c:v>
                </c:pt>
              </c:numCache>
            </c:numRef>
          </c:xVal>
          <c:yVal>
            <c:numRef>
              <c:numCache>
                <c:formatCode>General</c:formatCode>
                <c:ptCount val="1"/>
                <c:pt idx="0">
                  <c:v>67.60621006069145</c:v>
                </c:pt>
              </c:numCache>
            </c:numRef>
          </c:yVal>
          <c:bubbleSize>
            <c:numRef>
              <c:numCache>
                <c:formatCode>General</c:formatCode>
                <c:ptCount val="1"/>
                <c:pt idx="0">
                  <c:v>1147.624</c:v>
                </c:pt>
              </c:numCache>
            </c:numRef>
          </c:bubbleSize>
          <c:bubble3D val="0"/>
        </c:ser>
        <c:ser>
          <c:idx val="1"/>
          <c:order val="1"/>
          <c:tx>
            <c:strRef>
              <c:strCache>
                <c:ptCount val="1"/>
                <c:pt idx="0">
                  <c:v>Offline</c:v>
                </c:pt>
              </c:strCache>
            </c:strRef>
          </c:tx>
          <c:spPr>
            <a:solidFill>
              <a:srgbClr val="9E7E0A"/>
            </a:solidFill>
          </c:spPr>
          <c:invertIfNegative val="0"/>
          <c:xVal>
            <c:numRef>
              <c:numCache>
                <c:formatCode>General</c:formatCode>
                <c:ptCount val="1"/>
                <c:pt idx="0">
                  <c:v>106.85752407764275</c:v>
                </c:pt>
              </c:numCache>
            </c:numRef>
          </c:xVal>
          <c:yVal>
            <c:numRef>
              <c:numCache>
                <c:formatCode>General</c:formatCode>
                <c:ptCount val="1"/>
                <c:pt idx="0">
                  <c:v>132.39378993930853</c:v>
                </c:pt>
              </c:numCache>
            </c:numRef>
          </c:yVal>
          <c:bubbleSize>
            <c:numRef>
              <c:numCache>
                <c:formatCode>General</c:formatCode>
                <c:ptCount val="1"/>
                <c:pt idx="0">
                  <c:v>2632.375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8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591.554</c:v>
                </c:pt>
                <c:pt idx="2">
                  <c:v>676.895</c:v>
                </c:pt>
                <c:pt idx="3">
                  <c:v>773.749</c:v>
                </c:pt>
                <c:pt idx="4">
                  <c:v>883.485</c:v>
                </c:pt>
                <c:pt idx="5">
                  <c:v>1007.59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591.554</c:v>
                </c:pt>
                <c:pt idx="1">
                  <c:v>85.34100000000001</c:v>
                </c:pt>
                <c:pt idx="2">
                  <c:v>96.85400000000004</c:v>
                </c:pt>
                <c:pt idx="3">
                  <c:v>109.73599999999999</c:v>
                </c:pt>
                <c:pt idx="4">
                  <c:v>124.10500000000002</c:v>
                </c:pt>
                <c:pt idx="5">
                  <c:v>140.034</c:v>
                </c:pt>
                <c:pt idx="6">
                  <c:v>1147.624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1158.4450000000002</c:v>
                </c:pt>
                <c:pt idx="2">
                  <c:v>1364.509</c:v>
                </c:pt>
                <c:pt idx="3">
                  <c:v>1607.58</c:v>
                </c:pt>
                <c:pt idx="4">
                  <c:v>1894.376</c:v>
                </c:pt>
                <c:pt idx="5">
                  <c:v>2232.83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1158.4450000000002</c:v>
                </c:pt>
                <c:pt idx="1">
                  <c:v>206.06399999999985</c:v>
                </c:pt>
                <c:pt idx="2">
                  <c:v>243.0709999999999</c:v>
                </c:pt>
                <c:pt idx="3">
                  <c:v>286.79600000000005</c:v>
                </c:pt>
                <c:pt idx="4">
                  <c:v>338.45399999999995</c:v>
                </c:pt>
                <c:pt idx="5">
                  <c:v>399.5450000000001</c:v>
                </c:pt>
                <c:pt idx="6">
                  <c:v>2632.375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Offline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64.66863340324939</c:v>
                </c:pt>
                <c:pt idx="1">
                  <c:v>66.19689496965427</c:v>
                </c:pt>
                <c:pt idx="2">
                  <c:v>69.63956868771659</c:v>
                </c:pt>
              </c:numCache>
            </c:numRef>
          </c:val>
        </c:ser>
        <c:ser>
          <c:idx val="1"/>
          <c:order val="1"/>
          <c:tx>
            <c:strRef>
              <c:strCache>
                <c:ptCount val="1"/>
                <c:pt idx="0">
                  <c:v>Online</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35.331366596750605</c:v>
                </c:pt>
                <c:pt idx="1">
                  <c:v>33.803105030345726</c:v>
                </c:pt>
                <c:pt idx="2">
                  <c:v>30.36043131228342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SPF 50</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45.3394436121148</c:v>
                </c:pt>
                <c:pt idx="1">
                  <c:v>45.42372710857614</c:v>
                </c:pt>
                <c:pt idx="2">
                  <c:v>42.518728181903946</c:v>
                </c:pt>
              </c:numCache>
            </c:numRef>
          </c:val>
        </c:ser>
        <c:ser>
          <c:idx val="1"/>
          <c:order val="1"/>
          <c:tx>
            <c:strRef>
              <c:strCache>
                <c:ptCount val="1"/>
                <c:pt idx="0">
                  <c:v>Above SPF 50</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25.44921320368575</c:v>
                </c:pt>
                <c:pt idx="1">
                  <c:v>25.005155442890263</c:v>
                </c:pt>
                <c:pt idx="2">
                  <c:v>25.692046419473535</c:v>
                </c:pt>
              </c:numCache>
            </c:numRef>
          </c:val>
        </c:ser>
        <c:ser>
          <c:idx val="2"/>
          <c:order val="2"/>
          <c:tx>
            <c:strRef>
              <c:strCache>
                <c:ptCount val="1"/>
                <c:pt idx="0">
                  <c:v>SPF 30–49</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17.986839399547605</c:v>
                </c:pt>
                <c:pt idx="1">
                  <c:v>17.779990845945306</c:v>
                </c:pt>
                <c:pt idx="2">
                  <c:v>20.598169638645153</c:v>
                </c:pt>
              </c:numCache>
            </c:numRef>
          </c:val>
        </c:ser>
        <c:ser>
          <c:idx val="3"/>
          <c:order val="3"/>
          <c:tx>
            <c:strRef>
              <c:strCache>
                <c:ptCount val="1"/>
                <c:pt idx="0">
                  <c:v>Below SPF 30</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11.224503784651843</c:v>
                </c:pt>
                <c:pt idx="1">
                  <c:v>11.791126602588283</c:v>
                </c:pt>
                <c:pt idx="2">
                  <c:v>11.191055759977356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Mineral Ceramide Sunscreen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Regular Ingredients</c:v>
                </c:pt>
                <c:pt idx="1">
                  <c:v>Niche Ingredients</c:v>
                </c:pt>
                <c:pt idx="2">
                  <c:v>Emerging Ingredients</c:v>
                </c:pt>
              </c:strCache>
            </c:strRef>
          </c:cat>
          <c:val>
            <c:numRef>
              <c:numCache>
                <c:formatCode>General</c:formatCode>
                <c:ptCount val="3"/>
                <c:pt idx="0">
                  <c:v>57.153878667203074</c:v>
                </c:pt>
                <c:pt idx="1">
                  <c:v>60.90650814928684</c:v>
                </c:pt>
                <c:pt idx="2">
                  <c:v>58.30807578635544</c:v>
                </c:pt>
              </c:numCache>
            </c:numRef>
          </c:val>
        </c:ser>
        <c:ser>
          <c:idx val="1"/>
          <c:order val="1"/>
          <c:tx>
            <c:strRef>
              <c:strCache>
                <c:ptCount val="1"/>
                <c:pt idx="0">
                  <c:v>Hybrid Ceramide Sunscreen</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Regular Ingredients</c:v>
                </c:pt>
                <c:pt idx="1">
                  <c:v>Niche Ingredients</c:v>
                </c:pt>
                <c:pt idx="2">
                  <c:v>Emerging Ingredients</c:v>
                </c:pt>
              </c:strCache>
            </c:strRef>
          </c:cat>
          <c:val>
            <c:numRef>
              <c:numCache>
                <c:formatCode>General</c:formatCode>
                <c:ptCount val="3"/>
                <c:pt idx="0">
                  <c:v>31.827197775616316</c:v>
                </c:pt>
                <c:pt idx="1">
                  <c:v>28.634650143363434</c:v>
                </c:pt>
                <c:pt idx="2">
                  <c:v>29.280297056181475</c:v>
                </c:pt>
              </c:numCache>
            </c:numRef>
          </c:val>
        </c:ser>
        <c:ser>
          <c:idx val="2"/>
          <c:order val="2"/>
          <c:tx>
            <c:strRef>
              <c:strCache>
                <c:ptCount val="1"/>
                <c:pt idx="0">
                  <c:v>Chemical Ceramide Sunscreen</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Regular Ingredients</c:v>
                </c:pt>
                <c:pt idx="1">
                  <c:v>Niche Ingredients</c:v>
                </c:pt>
                <c:pt idx="2">
                  <c:v>Emerging Ingredients</c:v>
                </c:pt>
              </c:strCache>
            </c:strRef>
          </c:cat>
          <c:val>
            <c:numRef>
              <c:numCache>
                <c:formatCode>General</c:formatCode>
                <c:ptCount val="3"/>
                <c:pt idx="0">
                  <c:v>11.018923557180614</c:v>
                </c:pt>
                <c:pt idx="1">
                  <c:v>10.458841707349704</c:v>
                </c:pt>
                <c:pt idx="2">
                  <c:v>12.411627157463093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Facial Sunscreen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Cream-based Sunscreen</c:v>
                </c:pt>
                <c:pt idx="1">
                  <c:v>Lotion-based Sunscreen</c:v>
                </c:pt>
                <c:pt idx="2">
                  <c:v>Gel-based Sunscreen</c:v>
                </c:pt>
                <c:pt idx="3">
                  <c:v>Stick-based Sunscreen</c:v>
                </c:pt>
                <c:pt idx="4">
                  <c:v>Other Forms</c:v>
                </c:pt>
              </c:strCache>
            </c:strRef>
          </c:cat>
          <c:val>
            <c:numRef>
              <c:numCache>
                <c:formatCode>General</c:formatCode>
                <c:ptCount val="5"/>
                <c:pt idx="0">
                  <c:v>40.20229826189943</c:v>
                </c:pt>
                <c:pt idx="1">
                  <c:v>38.99761033352123</c:v>
                </c:pt>
                <c:pt idx="2">
                  <c:v>37.78762694794462</c:v>
                </c:pt>
                <c:pt idx="3">
                  <c:v>39.73384610107216</c:v>
                </c:pt>
                <c:pt idx="4">
                  <c:v>36.093885211710365</c:v>
                </c:pt>
              </c:numCache>
            </c:numRef>
          </c:val>
        </c:ser>
        <c:ser>
          <c:idx val="1"/>
          <c:order val="1"/>
          <c:tx>
            <c:strRef>
              <c:strCache>
                <c:ptCount val="1"/>
                <c:pt idx="0">
                  <c:v>Body Sunscreen</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Cream-based Sunscreen</c:v>
                </c:pt>
                <c:pt idx="1">
                  <c:v>Lotion-based Sunscreen</c:v>
                </c:pt>
                <c:pt idx="2">
                  <c:v>Gel-based Sunscreen</c:v>
                </c:pt>
                <c:pt idx="3">
                  <c:v>Stick-based Sunscreen</c:v>
                </c:pt>
                <c:pt idx="4">
                  <c:v>Other Forms</c:v>
                </c:pt>
              </c:strCache>
            </c:strRef>
          </c:cat>
          <c:val>
            <c:numRef>
              <c:numCache>
                <c:formatCode>General</c:formatCode>
                <c:ptCount val="5"/>
                <c:pt idx="0">
                  <c:v>26.308376812522006</c:v>
                </c:pt>
                <c:pt idx="1">
                  <c:v>24.759114738393713</c:v>
                </c:pt>
                <c:pt idx="2">
                  <c:v>25.485688805516897</c:v>
                </c:pt>
                <c:pt idx="3">
                  <c:v>27.09353691584689</c:v>
                </c:pt>
                <c:pt idx="4">
                  <c:v>26.32001429111654</c:v>
                </c:pt>
              </c:numCache>
            </c:numRef>
          </c:val>
        </c:ser>
        <c:ser>
          <c:idx val="2"/>
          <c:order val="2"/>
          <c:tx>
            <c:strRef>
              <c:strCache>
                <c:ptCount val="1"/>
                <c:pt idx="0">
                  <c:v>Lip Sunscreen</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Cream-based Sunscreen</c:v>
                </c:pt>
                <c:pt idx="1">
                  <c:v>Lotion-based Sunscreen</c:v>
                </c:pt>
                <c:pt idx="2">
                  <c:v>Gel-based Sunscreen</c:v>
                </c:pt>
                <c:pt idx="3">
                  <c:v>Stick-based Sunscreen</c:v>
                </c:pt>
                <c:pt idx="4">
                  <c:v>Other Forms</c:v>
                </c:pt>
              </c:strCache>
            </c:strRef>
          </c:cat>
          <c:val>
            <c:numRef>
              <c:numCache>
                <c:formatCode>General</c:formatCode>
                <c:ptCount val="5"/>
                <c:pt idx="0">
                  <c:v>17.34707595787587</c:v>
                </c:pt>
                <c:pt idx="1">
                  <c:v>18.807707269825897</c:v>
                </c:pt>
                <c:pt idx="2">
                  <c:v>20.278612778977955</c:v>
                </c:pt>
                <c:pt idx="3">
                  <c:v>17.168889380143078</c:v>
                </c:pt>
                <c:pt idx="4">
                  <c:v>20.19548205838478</c:v>
                </c:pt>
              </c:numCache>
            </c:numRef>
          </c:val>
        </c:ser>
        <c:ser>
          <c:idx val="3"/>
          <c:order val="3"/>
          <c:tx>
            <c:strRef>
              <c:strCache>
                <c:ptCount val="1"/>
                <c:pt idx="0">
                  <c:v>Face &amp; Body Sunscreen</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Cream-based Sunscreen</c:v>
                </c:pt>
                <c:pt idx="1">
                  <c:v>Lotion-based Sunscreen</c:v>
                </c:pt>
                <c:pt idx="2">
                  <c:v>Gel-based Sunscreen</c:v>
                </c:pt>
                <c:pt idx="3">
                  <c:v>Stick-based Sunscreen</c:v>
                </c:pt>
                <c:pt idx="4">
                  <c:v>Other Forms</c:v>
                </c:pt>
              </c:strCache>
            </c:strRef>
          </c:cat>
          <c:val>
            <c:numRef>
              <c:numCache>
                <c:formatCode>General</c:formatCode>
                <c:ptCount val="5"/>
                <c:pt idx="0">
                  <c:v>16.142248967702695</c:v>
                </c:pt>
                <c:pt idx="1">
                  <c:v>17.43556765825917</c:v>
                </c:pt>
                <c:pt idx="2">
                  <c:v>16.448071467560524</c:v>
                </c:pt>
                <c:pt idx="3">
                  <c:v>16.00372760293787</c:v>
                </c:pt>
                <c:pt idx="4">
                  <c:v>17.390618438788316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Mass Market</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Up to 30 g/ml</c:v>
                </c:pt>
                <c:pt idx="1">
                  <c:v>Above 30–50 g/ml</c:v>
                </c:pt>
                <c:pt idx="2">
                  <c:v>Above 50–100 g/ml</c:v>
                </c:pt>
                <c:pt idx="3">
                  <c:v>Above 100–200 g/ml</c:v>
                </c:pt>
                <c:pt idx="4">
                  <c:v>Above 200 g/ml</c:v>
                </c:pt>
              </c:strCache>
            </c:strRef>
          </c:cat>
          <c:val>
            <c:numRef>
              <c:numCache>
                <c:formatCode>General</c:formatCode>
                <c:ptCount val="5"/>
                <c:pt idx="0">
                  <c:v>67.52391660426301</c:v>
                </c:pt>
                <c:pt idx="1">
                  <c:v>68.9524858910119</c:v>
                </c:pt>
                <c:pt idx="2">
                  <c:v>65.43903150525088</c:v>
                </c:pt>
                <c:pt idx="3">
                  <c:v>69.54644981974477</c:v>
                </c:pt>
                <c:pt idx="4">
                  <c:v>64.71527760902558</c:v>
                </c:pt>
              </c:numCache>
            </c:numRef>
          </c:val>
        </c:ser>
        <c:ser>
          <c:idx val="1"/>
          <c:order val="1"/>
          <c:tx>
            <c:strRef>
              <c:strCache>
                <c:ptCount val="1"/>
                <c:pt idx="0">
                  <c:v>Premium</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Up to 30 g/ml</c:v>
                </c:pt>
                <c:pt idx="1">
                  <c:v>Above 30–50 g/ml</c:v>
                </c:pt>
                <c:pt idx="2">
                  <c:v>Above 50–100 g/ml</c:v>
                </c:pt>
                <c:pt idx="3">
                  <c:v>Above 100–200 g/ml</c:v>
                </c:pt>
                <c:pt idx="4">
                  <c:v>Above 200 g/ml</c:v>
                </c:pt>
              </c:strCache>
            </c:strRef>
          </c:cat>
          <c:val>
            <c:numRef>
              <c:numCache>
                <c:formatCode>General</c:formatCode>
                <c:ptCount val="5"/>
                <c:pt idx="0">
                  <c:v>11.987327922379208</c:v>
                </c:pt>
                <c:pt idx="1">
                  <c:v>11.724745537370891</c:v>
                </c:pt>
                <c:pt idx="2">
                  <c:v>12.2552832879554</c:v>
                </c:pt>
                <c:pt idx="3">
                  <c:v>11.74571110504936</c:v>
                </c:pt>
                <c:pt idx="4">
                  <c:v>12.94124404366104</c:v>
                </c:pt>
              </c:numCache>
            </c:numRef>
          </c:val>
        </c:ser>
        <c:ser>
          <c:idx val="2"/>
          <c:order val="2"/>
          <c:tx>
            <c:strRef>
              <c:strCache>
                <c:ptCount val="1"/>
                <c:pt idx="0">
                  <c:v>Prestige / Luxury</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Up to 30 g/ml</c:v>
                </c:pt>
                <c:pt idx="1">
                  <c:v>Above 30–50 g/ml</c:v>
                </c:pt>
                <c:pt idx="2">
                  <c:v>Above 50–100 g/ml</c:v>
                </c:pt>
                <c:pt idx="3">
                  <c:v>Above 100–200 g/ml</c:v>
                </c:pt>
                <c:pt idx="4">
                  <c:v>Above 200 g/ml</c:v>
                </c:pt>
              </c:strCache>
            </c:strRef>
          </c:cat>
          <c:val>
            <c:numRef>
              <c:numCache>
                <c:formatCode>General</c:formatCode>
                <c:ptCount val="5"/>
                <c:pt idx="0">
                  <c:v>10.994408488910853</c:v>
                </c:pt>
                <c:pt idx="1">
                  <c:v>8.960317261570053</c:v>
                </c:pt>
                <c:pt idx="2">
                  <c:v>11.631336704265525</c:v>
                </c:pt>
                <c:pt idx="3">
                  <c:v>9.833309987393193</c:v>
                </c:pt>
                <c:pt idx="4">
                  <c:v>11.50531624652892</c:v>
                </c:pt>
              </c:numCache>
            </c:numRef>
          </c:val>
        </c:ser>
        <c:ser>
          <c:idx val="3"/>
          <c:order val="3"/>
          <c:tx>
            <c:strRef>
              <c:strCache>
                <c:ptCount val="1"/>
                <c:pt idx="0">
                  <c:v>Masstige</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Up to 30 g/ml</c:v>
                </c:pt>
                <c:pt idx="1">
                  <c:v>Above 30–50 g/ml</c:v>
                </c:pt>
                <c:pt idx="2">
                  <c:v>Above 50–100 g/ml</c:v>
                </c:pt>
                <c:pt idx="3">
                  <c:v>Above 100–200 g/ml</c:v>
                </c:pt>
                <c:pt idx="4">
                  <c:v>Above 200 g/ml</c:v>
                </c:pt>
              </c:strCache>
            </c:strRef>
          </c:cat>
          <c:val>
            <c:numRef>
              <c:numCache>
                <c:formatCode>General</c:formatCode>
                <c:ptCount val="5"/>
                <c:pt idx="0">
                  <c:v>9.494346984446924</c:v>
                </c:pt>
                <c:pt idx="1">
                  <c:v>10.362451310047147</c:v>
                </c:pt>
                <c:pt idx="2">
                  <c:v>10.674348502528199</c:v>
                </c:pt>
                <c:pt idx="3">
                  <c:v>8.874529087812682</c:v>
                </c:pt>
                <c:pt idx="4">
                  <c:v>10.838162100784457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2.53806788534785</c:v>
                </c:pt>
                <c:pt idx="1">
                  <c:v>5.527705940472916</c:v>
                </c:pt>
                <c:pt idx="2">
                  <c:v>4.5215981108701175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296571841424249"/>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90854.786</c:v>
                </c:pt>
                <c:pt idx="2">
                  <c:v>0.0</c:v>
                </c:pt>
                <c:pt idx="3">
                  <c:v>102984.878</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90854.786</c:v>
                </c:pt>
                <c:pt idx="1">
                  <c:v>12130.092000000004</c:v>
                </c:pt>
                <c:pt idx="2">
                  <c:v>102984.878</c:v>
                </c:pt>
                <c:pt idx="3">
                  <c:v>73390.69200000001</c:v>
                </c:pt>
                <c:pt idx="4">
                  <c:v>176375.57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4.004290747036721</c:v>
                </c:pt>
                <c:pt idx="1">
                  <c:v>7.0401511229153835</c:v>
                </c:pt>
                <c:pt idx="2">
                  <c:v>6.018477041556181</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9.292999482248307"/>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474.56499999999994</c:v>
                </c:pt>
                <c:pt idx="2">
                  <c:v>0.0</c:v>
                </c:pt>
                <c:pt idx="3">
                  <c:v>577.5</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474.56499999999994</c:v>
                </c:pt>
                <c:pt idx="1">
                  <c:v>102.93500000000006</c:v>
                </c:pt>
                <c:pt idx="2">
                  <c:v>577.5</c:v>
                </c:pt>
                <c:pt idx="3">
                  <c:v>562.8</c:v>
                </c:pt>
                <c:pt idx="4">
                  <c:v>1140.3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474.56499999999994</c:v>
                </c:pt>
                <c:pt idx="1">
                  <c:v>489.96900000000005</c:v>
                </c:pt>
                <c:pt idx="2">
                  <c:v>505.87800000000004</c:v>
                </c:pt>
                <c:pt idx="3">
                  <c:v>522.308</c:v>
                </c:pt>
                <c:pt idx="4">
                  <c:v>539.277</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90854.786</c:v>
                </c:pt>
                <c:pt idx="1">
                  <c:v>92482.111</c:v>
                </c:pt>
                <c:pt idx="2">
                  <c:v>94139.159</c:v>
                </c:pt>
                <c:pt idx="3">
                  <c:v>95826.483</c:v>
                </c:pt>
                <c:pt idx="4">
                  <c:v>97544.648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636"/>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38441"/>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577.5</c:v>
                </c:pt>
                <c:pt idx="1">
                  <c:v>618.414</c:v>
                </c:pt>
                <c:pt idx="2">
                  <c:v>662.168</c:v>
                </c:pt>
                <c:pt idx="3">
                  <c:v>708.949</c:v>
                </c:pt>
                <c:pt idx="4">
                  <c:v>758.9680000000001</c:v>
                </c:pt>
                <c:pt idx="5">
                  <c:v>812.439</c:v>
                </c:pt>
                <c:pt idx="6">
                  <c:v>869.596</c:v>
                </c:pt>
                <c:pt idx="7">
                  <c:v>930.6890000000001</c:v>
                </c:pt>
                <c:pt idx="8">
                  <c:v>995.9789999999999</c:v>
                </c:pt>
                <c:pt idx="9">
                  <c:v>1065.751</c:v>
                </c:pt>
                <c:pt idx="10">
                  <c:v>1140.3</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102984.878</c:v>
                </c:pt>
                <c:pt idx="1">
                  <c:v>108724.927</c:v>
                </c:pt>
                <c:pt idx="2">
                  <c:v>114774.033</c:v>
                </c:pt>
                <c:pt idx="3">
                  <c:v>121148.00899999999</c:v>
                </c:pt>
                <c:pt idx="4">
                  <c:v>127863.549</c:v>
                </c:pt>
                <c:pt idx="5">
                  <c:v>134938.303</c:v>
                </c:pt>
                <c:pt idx="6">
                  <c:v>142390.556</c:v>
                </c:pt>
                <c:pt idx="7">
                  <c:v>150239.731</c:v>
                </c:pt>
                <c:pt idx="8">
                  <c:v>158505.711</c:v>
                </c:pt>
                <c:pt idx="9">
                  <c:v>167210.462</c:v>
                </c:pt>
                <c:pt idx="10">
                  <c:v>176375.57</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346"/>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72672"/>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U.S.</c:v>
                </c:pt>
                <c:pt idx="1">
                  <c:v>Canada</c:v>
                </c:pt>
              </c:strCache>
            </c:strRef>
          </c:cat>
          <c:val>
            <c:numRef>
              <c:numCache>
                <c:formatCode>General</c:formatCode>
                <c:ptCount val="2"/>
                <c:pt idx="0">
                  <c:v>96.63553160400349</c:v>
                </c:pt>
                <c:pt idx="1">
                  <c:v>107.2353755218574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34.124378109452735</c:v>
                </c:pt>
                <c:pt idx="1">
                  <c:v>65.87562189054727</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669.131</c:v>
                </c:pt>
                <c:pt idx="1">
                  <c:v>134.843</c:v>
                </c:pt>
                <c:pt idx="2">
                  <c:v>336.326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0.08014565001679243</c:v>
                </c:pt>
                <c:pt idx="1">
                  <c:v>0.08224382660427437</c:v>
                </c:pt>
                <c:pt idx="2">
                  <c:v>0.08358767384459513</c:v>
                </c:pt>
                <c:pt idx="3">
                  <c:v>0.08567317262792311</c:v>
                </c:pt>
                <c:pt idx="4">
                  <c:v>0.08659865233116287</c:v>
                </c:pt>
                <c:pt idx="5">
                  <c:v>0.08822141126287096</c:v>
                </c:pt>
                <c:pt idx="6">
                  <c:v>0.09042101028358465</c:v>
                </c:pt>
                <c:pt idx="7">
                  <c:v>0.09133381218267045</c:v>
                </c:pt>
                <c:pt idx="8">
                  <c:v>0.09217054725683244</c:v>
                </c:pt>
                <c:pt idx="9">
                  <c:v>0.09316575488291903</c:v>
                </c:pt>
                <c:pt idx="10">
                  <c:v>0.09516250903716922</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0.07145646094876701</c:v>
                </c:pt>
                <c:pt idx="1">
                  <c:v>0.07206646094876701</c:v>
                </c:pt>
                <c:pt idx="2">
                  <c:v>0.07412646094876701</c:v>
                </c:pt>
                <c:pt idx="3">
                  <c:v>0.07560646094876702</c:v>
                </c:pt>
                <c:pt idx="4">
                  <c:v>0.07443646094876702</c:v>
                </c:pt>
                <c:pt idx="5">
                  <c:v>0.07257646094876702</c:v>
                </c:pt>
                <c:pt idx="6">
                  <c:v>0.06992646094876702</c:v>
                </c:pt>
                <c:pt idx="7">
                  <c:v>0.06810646094876702</c:v>
                </c:pt>
                <c:pt idx="8">
                  <c:v>0.06686646094876703</c:v>
                </c:pt>
                <c:pt idx="9">
                  <c:v>0.06547646094876702</c:v>
                </c:pt>
                <c:pt idx="10">
                  <c:v>0.06431646094876702</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0.05388365055528846</c:v>
                </c:pt>
                <c:pt idx="1">
                  <c:v>0.05272365055528845</c:v>
                </c:pt>
                <c:pt idx="2">
                  <c:v>0.051353650555288455</c:v>
                </c:pt>
                <c:pt idx="3">
                  <c:v>0.05104365055528845</c:v>
                </c:pt>
                <c:pt idx="4">
                  <c:v>0.05370365055528846</c:v>
                </c:pt>
                <c:pt idx="5">
                  <c:v>0.05452365055528845</c:v>
                </c:pt>
                <c:pt idx="6">
                  <c:v>0.054643650555288456</c:v>
                </c:pt>
                <c:pt idx="7">
                  <c:v>0.054003650555288454</c:v>
                </c:pt>
                <c:pt idx="8">
                  <c:v>0.05305365055528845</c:v>
                </c:pt>
                <c:pt idx="9">
                  <c:v>0.05170365055528846</c:v>
                </c:pt>
                <c:pt idx="10">
                  <c:v>0.05054365055528845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70.02305522952602</c:v>
                </c:pt>
                <c:pt idx="1">
                  <c:v>68.88583322508894</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29.976944770473974</c:v>
                </c:pt>
                <c:pt idx="1">
                  <c:v>31.114166774911055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68.93575757575758</c:v>
                </c:pt>
                <c:pt idx="1">
                  <c:v>67.42541436464089</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31.064242424242423</c:v>
                </c:pt>
                <c:pt idx="1">
                  <c:v>32.574585635359114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quot;;&quot;MMMMMMMM&quot;;&quot;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64132.808</c:v>
                </c:pt>
                <c:pt idx="1">
                  <c:v>65177.428</c:v>
                </c:pt>
                <c:pt idx="2">
                  <c:v>66239.063</c:v>
                </c:pt>
                <c:pt idx="3">
                  <c:v>67317.99</c:v>
                </c:pt>
                <c:pt idx="4">
                  <c:v>68414.492</c:v>
                </c:pt>
                <c:pt idx="5">
                  <c:v>72113.158</c:v>
                </c:pt>
                <c:pt idx="6">
                  <c:v>76010.038</c:v>
                </c:pt>
                <c:pt idx="7">
                  <c:v>80109.424</c:v>
                </c:pt>
                <c:pt idx="8">
                  <c:v>84421.246</c:v>
                </c:pt>
                <c:pt idx="9">
                  <c:v>88955.971</c:v>
                </c:pt>
                <c:pt idx="10">
                  <c:v>93724.65</c:v>
                </c:pt>
                <c:pt idx="11">
                  <c:v>98738.688</c:v>
                </c:pt>
                <c:pt idx="12">
                  <c:v>104010.192</c:v>
                </c:pt>
                <c:pt idx="13">
                  <c:v>109551.489</c:v>
                </c:pt>
                <c:pt idx="14">
                  <c:v>115376.252</c:v>
                </c:pt>
                <c:pt idx="15">
                  <c:v>121497.781</c:v>
                </c:pt>
              </c:numCache>
            </c:numRef>
          </c:val>
        </c:ser>
        <c:ser>
          <c:idx val="1"/>
          <c:order val="1"/>
          <c:tx>
            <c:strRef>
              <c:strCache>
                <c:ptCount val="1"/>
                <c:pt idx="0">
                  <c:v>Canada</c:v>
                </c:pt>
              </c:strCache>
            </c:strRef>
          </c:tx>
          <c:spPr>
            <a:solidFill>
              <a:srgbClr val="9E7E0A"/>
            </a:solidFill>
            <a:ln>
              <a:noFill/>
            </a:ln>
          </c:spPr>
          <c:dLbls>
            <c:dLbl>
              <c:idx val="0"/>
              <c:numFmt formatCode="&quot;MMMMMMMM&quot;;&quot;MMMMMMMM&quot;;&quot;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quot;;&quot;MMMMMMMM&quot;;&quot;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quot;;&quot;MMMMMMMM&quot;;&quot;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quot;;&quot;MMMMMMMM&quot;;&quot;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quot;;&quot;MMMMMMMM&quot;;&quot;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quot;;&quot;MMMMMMMM&quot;;&quot;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26721.978</c:v>
                </c:pt>
                <c:pt idx="1">
                  <c:v>27304.683</c:v>
                </c:pt>
                <c:pt idx="2">
                  <c:v>27900.096</c:v>
                </c:pt>
                <c:pt idx="3">
                  <c:v>28508.493</c:v>
                </c:pt>
                <c:pt idx="4">
                  <c:v>29130.156</c:v>
                </c:pt>
                <c:pt idx="5">
                  <c:v>30871.72</c:v>
                </c:pt>
                <c:pt idx="6">
                  <c:v>32714.889</c:v>
                </c:pt>
                <c:pt idx="7">
                  <c:v>34664.609</c:v>
                </c:pt>
                <c:pt idx="8">
                  <c:v>36726.763</c:v>
                </c:pt>
                <c:pt idx="9">
                  <c:v>38907.578</c:v>
                </c:pt>
                <c:pt idx="10">
                  <c:v>41213.653</c:v>
                </c:pt>
                <c:pt idx="11">
                  <c:v>43651.868</c:v>
                </c:pt>
                <c:pt idx="12">
                  <c:v>46229.539</c:v>
                </c:pt>
                <c:pt idx="13">
                  <c:v>48954.222</c:v>
                </c:pt>
                <c:pt idx="14">
                  <c:v>51834.21</c:v>
                </c:pt>
                <c:pt idx="15">
                  <c:v>54877.789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330.687</c:v>
                </c:pt>
                <c:pt idx="1">
                  <c:v>340.693</c:v>
                </c:pt>
                <c:pt idx="2">
                  <c:v>351.002</c:v>
                </c:pt>
                <c:pt idx="3">
                  <c:v>361.622</c:v>
                </c:pt>
                <c:pt idx="4">
                  <c:v>372.564</c:v>
                </c:pt>
                <c:pt idx="5">
                  <c:v>398.104</c:v>
                </c:pt>
                <c:pt idx="6">
                  <c:v>425.385</c:v>
                </c:pt>
                <c:pt idx="7">
                  <c:v>454.491</c:v>
                </c:pt>
                <c:pt idx="8">
                  <c:v>485.536</c:v>
                </c:pt>
                <c:pt idx="9">
                  <c:v>518.65</c:v>
                </c:pt>
                <c:pt idx="10">
                  <c:v>553.965</c:v>
                </c:pt>
                <c:pt idx="11">
                  <c:v>591.622</c:v>
                </c:pt>
                <c:pt idx="12">
                  <c:v>631.775</c:v>
                </c:pt>
                <c:pt idx="13">
                  <c:v>674.581</c:v>
                </c:pt>
                <c:pt idx="14">
                  <c:v>720.214</c:v>
                </c:pt>
                <c:pt idx="15">
                  <c:v>768.852</c:v>
                </c:pt>
              </c:numCache>
            </c:numRef>
          </c:val>
        </c:ser>
        <c:ser>
          <c:idx val="1"/>
          <c:order val="1"/>
          <c:tx>
            <c:strRef>
              <c:strCache>
                <c:ptCount val="1"/>
                <c:pt idx="0">
                  <c:v>Canada</c:v>
                </c:pt>
              </c:strCache>
            </c:strRef>
          </c:tx>
          <c:spPr>
            <a:solidFill>
              <a:srgbClr val="9E7E0A"/>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143.878</c:v>
                </c:pt>
                <c:pt idx="1">
                  <c:v>149.276</c:v>
                </c:pt>
                <c:pt idx="2">
                  <c:v>154.876</c:v>
                </c:pt>
                <c:pt idx="3">
                  <c:v>160.686</c:v>
                </c:pt>
                <c:pt idx="4">
                  <c:v>166.713</c:v>
                </c:pt>
                <c:pt idx="5">
                  <c:v>179.396</c:v>
                </c:pt>
                <c:pt idx="6">
                  <c:v>193.029</c:v>
                </c:pt>
                <c:pt idx="7">
                  <c:v>207.677</c:v>
                </c:pt>
                <c:pt idx="8">
                  <c:v>223.413</c:v>
                </c:pt>
                <c:pt idx="9">
                  <c:v>240.318</c:v>
                </c:pt>
                <c:pt idx="10">
                  <c:v>258.474</c:v>
                </c:pt>
                <c:pt idx="11">
                  <c:v>277.974</c:v>
                </c:pt>
                <c:pt idx="12">
                  <c:v>298.914</c:v>
                </c:pt>
                <c:pt idx="13">
                  <c:v>321.398</c:v>
                </c:pt>
                <c:pt idx="14">
                  <c:v>345.537</c:v>
                </c:pt>
                <c:pt idx="15">
                  <c:v>371.448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Mineral Ceramide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54.78263444681356</c:v>
                </c:pt>
                <c:pt idx="1">
                  <c:v>60.56328135974154</c:v>
                </c:pt>
              </c:numCache>
            </c:numRef>
          </c:val>
        </c:ser>
        <c:ser>
          <c:idx val="1"/>
          <c:order val="1"/>
          <c:tx>
            <c:strRef>
              <c:strCache>
                <c:ptCount val="1"/>
                <c:pt idx="0">
                  <c:v>Chemical Ceramide Sunscreen</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12.934784949710323</c:v>
                </c:pt>
                <c:pt idx="1">
                  <c:v>11.289168786710576</c:v>
                </c:pt>
              </c:numCache>
            </c:numRef>
          </c:val>
        </c:ser>
        <c:ser>
          <c:idx val="2"/>
          <c:order val="2"/>
          <c:tx>
            <c:strRef>
              <c:strCache>
                <c:ptCount val="1"/>
                <c:pt idx="0">
                  <c:v>Hybrid Ceramide Sunscreen</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32.28258060347613</c:v>
                </c:pt>
                <c:pt idx="1">
                  <c:v>28.147549853547886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Mineral Ceramide Sunscreen</c:v>
                </c:pt>
              </c:strCache>
            </c:strRef>
          </c:tx>
          <c:spPr>
            <a:solidFill>
              <a:srgbClr val="3D85C6"/>
            </a:solidFill>
          </c:spPr>
          <c:invertIfNegative val="0"/>
          <c:xVal>
            <c:numRef>
              <c:numCache>
                <c:formatCode>General</c:formatCode>
                <c:ptCount val="1"/>
                <c:pt idx="0">
                  <c:v>101.04687140842692</c:v>
                </c:pt>
              </c:numCache>
            </c:numRef>
          </c:xVal>
          <c:yVal>
            <c:numRef>
              <c:numCache>
                <c:formatCode>General</c:formatCode>
                <c:ptCount val="1"/>
                <c:pt idx="0">
                  <c:v>174.83324675324675</c:v>
                </c:pt>
              </c:numCache>
            </c:numRef>
          </c:yVal>
          <c:bubbleSize>
            <c:numRef>
              <c:numCache>
                <c:formatCode>General</c:formatCode>
                <c:ptCount val="1"/>
                <c:pt idx="0">
                  <c:v>669.131</c:v>
                </c:pt>
              </c:numCache>
            </c:numRef>
          </c:bubbleSize>
          <c:bubble3D val="0"/>
        </c:ser>
        <c:ser>
          <c:idx val="1"/>
          <c:order val="1"/>
          <c:tx>
            <c:strRef>
              <c:strCache>
                <c:ptCount val="1"/>
                <c:pt idx="0">
                  <c:v>Chemical Ceramide Sunscreen</c:v>
                </c:pt>
              </c:strCache>
            </c:strRef>
          </c:tx>
          <c:spPr>
            <a:solidFill>
              <a:srgbClr val="9E7E0A"/>
            </a:solidFill>
          </c:spPr>
          <c:invertIfNegative val="0"/>
          <c:xVal>
            <c:numRef>
              <c:numCache>
                <c:formatCode>General</c:formatCode>
                <c:ptCount val="1"/>
                <c:pt idx="0">
                  <c:v>102.79242086269034</c:v>
                </c:pt>
              </c:numCache>
            </c:numRef>
          </c:xVal>
          <c:yVal>
            <c:numRef>
              <c:numCache>
                <c:formatCode>General</c:formatCode>
                <c:ptCount val="1"/>
                <c:pt idx="0">
                  <c:v>34.83064935064936</c:v>
                </c:pt>
              </c:numCache>
            </c:numRef>
          </c:yVal>
          <c:bubbleSize>
            <c:numRef>
              <c:numCache>
                <c:formatCode>General</c:formatCode>
                <c:ptCount val="1"/>
                <c:pt idx="0">
                  <c:v>134.843</c:v>
                </c:pt>
              </c:numCache>
            </c:numRef>
          </c:bubbleSize>
          <c:bubble3D val="0"/>
        </c:ser>
        <c:ser>
          <c:idx val="2"/>
          <c:order val="2"/>
          <c:tx>
            <c:strRef>
              <c:strCache>
                <c:ptCount val="1"/>
                <c:pt idx="0">
                  <c:v>Hybrid Ceramide Sunscreen</c:v>
                </c:pt>
              </c:strCache>
            </c:strRef>
          </c:tx>
          <c:spPr>
            <a:solidFill>
              <a:srgbClr val="008189"/>
            </a:solidFill>
          </c:spPr>
          <c:invertIfNegative val="0"/>
          <c:xVal>
            <c:numRef>
              <c:numCache>
                <c:formatCode>General</c:formatCode>
                <c:ptCount val="1"/>
                <c:pt idx="0">
                  <c:v>96.85287235887351</c:v>
                </c:pt>
              </c:numCache>
            </c:numRef>
          </c:xVal>
          <c:yVal>
            <c:numRef>
              <c:numCache>
                <c:formatCode>General</c:formatCode>
                <c:ptCount val="1"/>
                <c:pt idx="0">
                  <c:v>90.3361038961039</c:v>
                </c:pt>
              </c:numCache>
            </c:numRef>
          </c:yVal>
          <c:bubbleSize>
            <c:numRef>
              <c:numCache>
                <c:formatCode>General</c:formatCode>
                <c:ptCount val="1"/>
                <c:pt idx="0">
                  <c:v>336.326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336.554</c:v>
                </c:pt>
                <c:pt idx="2">
                  <c:v>386.462</c:v>
                </c:pt>
                <c:pt idx="3">
                  <c:v>443.587</c:v>
                </c:pt>
                <c:pt idx="4">
                  <c:v>508.945</c:v>
                </c:pt>
                <c:pt idx="5">
                  <c:v>583.689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336.554</c:v>
                </c:pt>
                <c:pt idx="1">
                  <c:v>49.908000000000015</c:v>
                </c:pt>
                <c:pt idx="2">
                  <c:v>57.125</c:v>
                </c:pt>
                <c:pt idx="3">
                  <c:v>65.358</c:v>
                </c:pt>
                <c:pt idx="4">
                  <c:v>74.74399999999997</c:v>
                </c:pt>
                <c:pt idx="5">
                  <c:v>85.44200000000001</c:v>
                </c:pt>
                <c:pt idx="6">
                  <c:v>669.131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67.049</c:v>
                </c:pt>
                <c:pt idx="2">
                  <c:v>77.173</c:v>
                </c:pt>
                <c:pt idx="3">
                  <c:v>88.786</c:v>
                </c:pt>
                <c:pt idx="4">
                  <c:v>102.102</c:v>
                </c:pt>
                <c:pt idx="5">
                  <c:v>117.362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67.049</c:v>
                </c:pt>
                <c:pt idx="1">
                  <c:v>10.123999999999995</c:v>
                </c:pt>
                <c:pt idx="2">
                  <c:v>11.613</c:v>
                </c:pt>
                <c:pt idx="3">
                  <c:v>13.316000000000003</c:v>
                </c:pt>
                <c:pt idx="4">
                  <c:v>15.259999999999991</c:v>
                </c:pt>
                <c:pt idx="5">
                  <c:v>17.480999999999995</c:v>
                </c:pt>
                <c:pt idx="6">
                  <c:v>134.843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173.897</c:v>
                </c:pt>
                <c:pt idx="2">
                  <c:v>198.533</c:v>
                </c:pt>
                <c:pt idx="3">
                  <c:v>226.595</c:v>
                </c:pt>
                <c:pt idx="4">
                  <c:v>258.549</c:v>
                </c:pt>
                <c:pt idx="5">
                  <c:v>294.928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173.897</c:v>
                </c:pt>
                <c:pt idx="1">
                  <c:v>24.635999999999996</c:v>
                </c:pt>
                <c:pt idx="2">
                  <c:v>28.062000000000012</c:v>
                </c:pt>
                <c:pt idx="3">
                  <c:v>31.95399999999998</c:v>
                </c:pt>
                <c:pt idx="4">
                  <c:v>36.37900000000002</c:v>
                </c:pt>
                <c:pt idx="5">
                  <c:v>41.398000000000025</c:v>
                </c:pt>
                <c:pt idx="6">
                  <c:v>336.326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Mineral Ceramide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58.05211088049056</c:v>
                </c:pt>
                <c:pt idx="1">
                  <c:v>58.277748917748916</c:v>
                </c:pt>
                <c:pt idx="2">
                  <c:v>58.68025958081206</c:v>
                </c:pt>
              </c:numCache>
            </c:numRef>
          </c:val>
        </c:ser>
        <c:ser>
          <c:idx val="1"/>
          <c:order val="1"/>
          <c:tx>
            <c:strRef>
              <c:strCache>
                <c:ptCount val="1"/>
                <c:pt idx="0">
                  <c:v>Hybrid Ceramide Sunscreen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30.452308956623437</c:v>
                </c:pt>
                <c:pt idx="1">
                  <c:v>30.11203463203463</c:v>
                </c:pt>
                <c:pt idx="2">
                  <c:v>29.4945189862317</c:v>
                </c:pt>
              </c:numCache>
            </c:numRef>
          </c:val>
        </c:ser>
        <c:ser>
          <c:idx val="2"/>
          <c:order val="2"/>
          <c:tx>
            <c:strRef>
              <c:strCache>
                <c:ptCount val="1"/>
                <c:pt idx="0">
                  <c:v>Chemical Ceramide Sunscreen</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11.495580162886013</c:v>
                </c:pt>
                <c:pt idx="1">
                  <c:v>11.610216450216452</c:v>
                </c:pt>
                <c:pt idx="2">
                  <c:v>11.825221432956239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Cream-based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11.594624281191445</c:v>
                </c:pt>
                <c:pt idx="1">
                  <c:v>10.021694682461641</c:v>
                </c:pt>
              </c:numCache>
            </c:numRef>
          </c:val>
        </c:ser>
        <c:ser>
          <c:idx val="1"/>
          <c:order val="1"/>
          <c:tx>
            <c:strRef>
              <c:strCache>
                <c:ptCount val="1"/>
                <c:pt idx="0">
                  <c:v>Lotion-based Sunscreen</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24.4077232883203</c:v>
                </c:pt>
                <c:pt idx="1">
                  <c:v>17.855321960533367</c:v>
                </c:pt>
              </c:numCache>
            </c:numRef>
          </c:val>
        </c:ser>
        <c:ser>
          <c:idx val="2"/>
          <c:order val="2"/>
          <c:tx>
            <c:strRef>
              <c:strCache>
                <c:ptCount val="1"/>
                <c:pt idx="0">
                  <c:v>Gel-based Sunscreen</c:v>
                </c:pt>
              </c:strCache>
            </c:strRef>
          </c:tx>
          <c:spPr>
            <a:solidFill>
              <a:srgbClr val="008189"/>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11.575509896405418</c:v>
                </c:pt>
                <c:pt idx="1">
                  <c:v>12.917180419638626</c:v>
                </c:pt>
              </c:numCache>
            </c:numRef>
          </c:val>
        </c:ser>
        <c:ser>
          <c:idx val="3"/>
          <c:order val="3"/>
          <c:tx>
            <c:strRef>
              <c:strCache>
                <c:ptCount val="1"/>
                <c:pt idx="0">
                  <c:v>Stick-based Sunscreen</c:v>
                </c:pt>
              </c:strCache>
            </c:strRef>
          </c:tx>
          <c:spPr>
            <a:solidFill>
              <a:srgbClr val="40315E"/>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27.519598974822856</c:v>
                </c:pt>
                <c:pt idx="1">
                  <c:v>34.76260710773985</c:v>
                </c:pt>
              </c:numCache>
            </c:numRef>
          </c:val>
        </c:ser>
        <c:ser>
          <c:idx val="4"/>
          <c:order val="4"/>
          <c:tx>
            <c:strRef>
              <c:strCache>
                <c:ptCount val="1"/>
                <c:pt idx="0">
                  <c:v>Other Forms</c:v>
                </c:pt>
              </c:strCache>
            </c:strRef>
          </c:tx>
          <c:spPr>
            <a:solidFill>
              <a:srgbClr val="A35313"/>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24.902543559259975</c:v>
                </c:pt>
                <c:pt idx="1">
                  <c:v>24.443195829626504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Cream-based Sunscreen</c:v>
                </c:pt>
              </c:strCache>
            </c:strRef>
          </c:tx>
          <c:spPr>
            <a:solidFill>
              <a:srgbClr val="3D85C6"/>
            </a:solidFill>
          </c:spPr>
          <c:invertIfNegative val="0"/>
          <c:xVal>
            <c:numRef>
              <c:numCache>
                <c:formatCode>General</c:formatCode>
                <c:ptCount val="1"/>
                <c:pt idx="0">
                  <c:v>125.01065407074456</c:v>
                </c:pt>
              </c:numCache>
            </c:numRef>
          </c:xVal>
          <c:yVal>
            <c:numRef>
              <c:numCache>
                <c:formatCode>General</c:formatCode>
                <c:ptCount val="1"/>
                <c:pt idx="0">
                  <c:v>44.741125541125534</c:v>
                </c:pt>
              </c:numCache>
            </c:numRef>
          </c:yVal>
          <c:bubbleSize>
            <c:numRef>
              <c:numCache>
                <c:formatCode>General</c:formatCode>
                <c:ptCount val="1"/>
                <c:pt idx="0">
                  <c:v>120.12</c:v>
                </c:pt>
              </c:numCache>
            </c:numRef>
          </c:bubbleSize>
          <c:bubble3D val="0"/>
        </c:ser>
        <c:ser>
          <c:idx val="1"/>
          <c:order val="1"/>
          <c:tx>
            <c:strRef>
              <c:strCache>
                <c:ptCount val="1"/>
                <c:pt idx="0">
                  <c:v>Lotion-based Sunscreen</c:v>
                </c:pt>
              </c:strCache>
            </c:strRef>
          </c:tx>
          <c:spPr>
            <a:solidFill>
              <a:srgbClr val="9E7E0A"/>
            </a:solidFill>
          </c:spPr>
          <c:invertIfNegative val="0"/>
          <c:xVal>
            <c:numRef>
              <c:numCache>
                <c:formatCode>General</c:formatCode>
                <c:ptCount val="1"/>
                <c:pt idx="0">
                  <c:v>99.413502689514</c:v>
                </c:pt>
              </c:numCache>
            </c:numRef>
          </c:xVal>
          <c:yVal>
            <c:numRef>
              <c:numCache>
                <c:formatCode>General</c:formatCode>
                <c:ptCount val="1"/>
                <c:pt idx="0">
                  <c:v>100.33506493506492</c:v>
                </c:pt>
              </c:numCache>
            </c:numRef>
          </c:yVal>
          <c:bubbleSize>
            <c:numRef>
              <c:numCache>
                <c:formatCode>General</c:formatCode>
                <c:ptCount val="1"/>
                <c:pt idx="0">
                  <c:v>227.943</c:v>
                </c:pt>
              </c:numCache>
            </c:numRef>
          </c:bubbleSize>
          <c:bubble3D val="0"/>
        </c:ser>
        <c:ser>
          <c:idx val="2"/>
          <c:order val="2"/>
          <c:tx>
            <c:strRef>
              <c:strCache>
                <c:ptCount val="1"/>
                <c:pt idx="0">
                  <c:v>Gel-based Sunscreen</c:v>
                </c:pt>
              </c:strCache>
            </c:strRef>
          </c:tx>
          <c:spPr>
            <a:solidFill>
              <a:srgbClr val="008189"/>
            </a:solidFill>
          </c:spPr>
          <c:invertIfNegative val="0"/>
          <c:xVal>
            <c:numRef>
              <c:numCache>
                <c:formatCode>General</c:formatCode>
                <c:ptCount val="1"/>
                <c:pt idx="0">
                  <c:v>66.82193856160814</c:v>
                </c:pt>
              </c:numCache>
            </c:numRef>
          </c:xVal>
          <c:yVal>
            <c:numRef>
              <c:numCache>
                <c:formatCode>General</c:formatCode>
                <c:ptCount val="1"/>
                <c:pt idx="0">
                  <c:v>77.8051948051948</c:v>
                </c:pt>
              </c:numCache>
            </c:numRef>
          </c:yVal>
          <c:bubbleSize>
            <c:numRef>
              <c:numCache>
                <c:formatCode>General</c:formatCode>
                <c:ptCount val="1"/>
                <c:pt idx="0">
                  <c:v>142.311</c:v>
                </c:pt>
              </c:numCache>
            </c:numRef>
          </c:bubbleSize>
          <c:bubble3D val="0"/>
        </c:ser>
        <c:ser>
          <c:idx val="3"/>
          <c:order val="3"/>
          <c:tx>
            <c:strRef>
              <c:strCache>
                <c:ptCount val="1"/>
                <c:pt idx="0">
                  <c:v>Stick-based Sunscreen</c:v>
                </c:pt>
              </c:strCache>
            </c:strRef>
          </c:tx>
          <c:spPr>
            <a:solidFill>
              <a:srgbClr val="40315E"/>
            </a:solidFill>
          </c:spPr>
          <c:invertIfNegative val="0"/>
          <c:xVal>
            <c:numRef>
              <c:numCache>
                <c:formatCode>General</c:formatCode>
                <c:ptCount val="1"/>
                <c:pt idx="0">
                  <c:v>112.92512507623536</c:v>
                </c:pt>
              </c:numCache>
            </c:numRef>
          </c:xVal>
          <c:yVal>
            <c:numRef>
              <c:numCache>
                <c:formatCode>General</c:formatCode>
                <c:ptCount val="1"/>
                <c:pt idx="0">
                  <c:v>148.86580086580085</c:v>
                </c:pt>
              </c:numCache>
            </c:numRef>
          </c:yVal>
          <c:bubbleSize>
            <c:numRef>
              <c:numCache>
                <c:formatCode>General</c:formatCode>
                <c:ptCount val="1"/>
                <c:pt idx="0">
                  <c:v>369.494</c:v>
                </c:pt>
              </c:numCache>
            </c:numRef>
          </c:bubbleSize>
          <c:bubble3D val="0"/>
        </c:ser>
        <c:ser>
          <c:idx val="4"/>
          <c:order val="4"/>
          <c:tx>
            <c:strRef>
              <c:strCache>
                <c:ptCount val="1"/>
                <c:pt idx="0">
                  <c:v>Other Forms</c:v>
                </c:pt>
              </c:strCache>
            </c:strRef>
          </c:tx>
          <c:spPr>
            <a:solidFill>
              <a:srgbClr val="A35313"/>
            </a:solidFill>
          </c:spPr>
          <c:invertIfNegative val="0"/>
          <c:xVal>
            <c:numRef>
              <c:numCache>
                <c:formatCode>General</c:formatCode>
                <c:ptCount val="1"/>
                <c:pt idx="0">
                  <c:v>93.61084700818174</c:v>
                </c:pt>
              </c:numCache>
            </c:numRef>
          </c:xVal>
          <c:yVal>
            <c:numRef>
              <c:numCache>
                <c:formatCode>General</c:formatCode>
                <c:ptCount val="1"/>
                <c:pt idx="0">
                  <c:v>128.25281385281386</c:v>
                </c:pt>
              </c:numCache>
            </c:numRef>
          </c:yVal>
          <c:bubbleSize>
            <c:numRef>
              <c:numCache>
                <c:formatCode>General</c:formatCode>
                <c:ptCount val="1"/>
                <c:pt idx="0">
                  <c:v>280.432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51.676</c:v>
                </c:pt>
                <c:pt idx="2">
                  <c:v>61.375</c:v>
                </c:pt>
                <c:pt idx="3">
                  <c:v>72.76599999999999</c:v>
                </c:pt>
                <c:pt idx="4">
                  <c:v>86.131</c:v>
                </c:pt>
                <c:pt idx="5">
                  <c:v>101.791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51.676</c:v>
                </c:pt>
                <c:pt idx="1">
                  <c:v>9.698999999999998</c:v>
                </c:pt>
                <c:pt idx="2">
                  <c:v>11.390999999999991</c:v>
                </c:pt>
                <c:pt idx="3">
                  <c:v>13.365000000000009</c:v>
                </c:pt>
                <c:pt idx="4">
                  <c:v>15.659999999999997</c:v>
                </c:pt>
                <c:pt idx="5">
                  <c:v>18.329000000000008</c:v>
                </c:pt>
                <c:pt idx="6">
                  <c:v>120.12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115.887</c:v>
                </c:pt>
                <c:pt idx="2">
                  <c:v>132.779</c:v>
                </c:pt>
                <c:pt idx="3">
                  <c:v>152.077</c:v>
                </c:pt>
                <c:pt idx="4">
                  <c:v>174.108</c:v>
                </c:pt>
                <c:pt idx="5">
                  <c:v>199.255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115.887</c:v>
                </c:pt>
                <c:pt idx="1">
                  <c:v>16.891999999999996</c:v>
                </c:pt>
                <c:pt idx="2">
                  <c:v>19.298000000000002</c:v>
                </c:pt>
                <c:pt idx="3">
                  <c:v>22.031000000000006</c:v>
                </c:pt>
                <c:pt idx="4">
                  <c:v>25.14699999999999</c:v>
                </c:pt>
                <c:pt idx="5">
                  <c:v>28.688000000000017</c:v>
                </c:pt>
                <c:pt idx="6">
                  <c:v>227.943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89.86500000000001</c:v>
                </c:pt>
                <c:pt idx="2">
                  <c:v>98.89699999999999</c:v>
                </c:pt>
                <c:pt idx="3">
                  <c:v>108.643</c:v>
                </c:pt>
                <c:pt idx="4">
                  <c:v>119.12</c:v>
                </c:pt>
                <c:pt idx="5">
                  <c:v>130.343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89.86500000000001</c:v>
                </c:pt>
                <c:pt idx="1">
                  <c:v>9.031999999999982</c:v>
                </c:pt>
                <c:pt idx="2">
                  <c:v>9.74600000000001</c:v>
                </c:pt>
                <c:pt idx="3">
                  <c:v>10.477000000000004</c:v>
                </c:pt>
                <c:pt idx="4">
                  <c:v>11.222999999999985</c:v>
                </c:pt>
                <c:pt idx="5">
                  <c:v>11.968000000000018</c:v>
                </c:pt>
                <c:pt idx="6">
                  <c:v>142.311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171.94</c:v>
                </c:pt>
                <c:pt idx="2">
                  <c:v>200.691</c:v>
                </c:pt>
                <c:pt idx="3">
                  <c:v>234.054</c:v>
                </c:pt>
                <c:pt idx="4">
                  <c:v>272.746</c:v>
                </c:pt>
                <c:pt idx="5">
                  <c:v>317.579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171.94</c:v>
                </c:pt>
                <c:pt idx="1">
                  <c:v>28.751000000000005</c:v>
                </c:pt>
                <c:pt idx="2">
                  <c:v>33.363</c:v>
                </c:pt>
                <c:pt idx="3">
                  <c:v>38.69199999999998</c:v>
                </c:pt>
                <c:pt idx="4">
                  <c:v>44.83300000000003</c:v>
                </c:pt>
                <c:pt idx="5">
                  <c:v>51.91500000000002</c:v>
                </c:pt>
                <c:pt idx="6">
                  <c:v>369.494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148.132</c:v>
                </c:pt>
                <c:pt idx="2">
                  <c:v>168.426</c:v>
                </c:pt>
                <c:pt idx="3">
                  <c:v>191.428</c:v>
                </c:pt>
                <c:pt idx="4">
                  <c:v>217.49099999999999</c:v>
                </c:pt>
                <c:pt idx="5">
                  <c:v>247.01100000000002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148.132</c:v>
                </c:pt>
                <c:pt idx="1">
                  <c:v>20.293999999999983</c:v>
                </c:pt>
                <c:pt idx="2">
                  <c:v>23.00200000000001</c:v>
                </c:pt>
                <c:pt idx="3">
                  <c:v>26.062999999999988</c:v>
                </c:pt>
                <c:pt idx="4">
                  <c:v>29.52000000000004</c:v>
                </c:pt>
                <c:pt idx="5">
                  <c:v>33.42099999999999</c:v>
                </c:pt>
                <c:pt idx="6">
                  <c:v>280.432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Stick-based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28.416760612350256</c:v>
                </c:pt>
                <c:pt idx="1">
                  <c:v>29.773160173160168</c:v>
                </c:pt>
                <c:pt idx="2">
                  <c:v>32.40322722090678</c:v>
                </c:pt>
              </c:numCache>
            </c:numRef>
          </c:val>
        </c:ser>
        <c:ser>
          <c:idx val="1"/>
          <c:order val="1"/>
          <c:tx>
            <c:strRef>
              <c:strCache>
                <c:ptCount val="1"/>
                <c:pt idx="0">
                  <c:v>Other Forms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26.19683288906683</c:v>
                </c:pt>
                <c:pt idx="1">
                  <c:v>25.650562770562768</c:v>
                </c:pt>
                <c:pt idx="2">
                  <c:v>24.592826449180038</c:v>
                </c:pt>
              </c:numCache>
            </c:numRef>
          </c:val>
        </c:ser>
        <c:ser>
          <c:idx val="2"/>
          <c:order val="2"/>
          <c:tx>
            <c:strRef>
              <c:strCache>
                <c:ptCount val="1"/>
                <c:pt idx="0">
                  <c:v>Lotion-based Sunscreen</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20.101566697923364</c:v>
                </c:pt>
                <c:pt idx="1">
                  <c:v>20.067012987012983</c:v>
                </c:pt>
                <c:pt idx="2">
                  <c:v>19.989739542225728</c:v>
                </c:pt>
              </c:numCache>
            </c:numRef>
          </c:val>
        </c:ser>
        <c:ser>
          <c:idx val="3"/>
          <c:order val="3"/>
          <c:tx>
            <c:strRef>
              <c:strCache>
                <c:ptCount val="1"/>
                <c:pt idx="0">
                  <c:v>Gel-based Sunscreen</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17.1462286515019</c:v>
                </c:pt>
                <c:pt idx="1">
                  <c:v>15.561038961038959</c:v>
                </c:pt>
                <c:pt idx="2">
                  <c:v>12.480136806103657</c:v>
                </c:pt>
              </c:numCache>
            </c:numRef>
          </c:val>
        </c:ser>
        <c:ser>
          <c:idx val="4"/>
          <c:order val="4"/>
          <c:tx>
            <c:strRef>
              <c:strCache>
                <c:ptCount val="1"/>
                <c:pt idx="0">
                  <c:v>Cream-based Sunscreen</c:v>
                </c:pt>
              </c:strCache>
            </c:strRef>
          </c:tx>
          <c:spPr>
            <a:solidFill>
              <a:srgbClr val="A35313"/>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8.13861114915765</c:v>
                </c:pt>
                <c:pt idx="1">
                  <c:v>8.948225108225106</c:v>
                </c:pt>
                <c:pt idx="2">
                  <c:v>10.534069981583793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Below SPF 30</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12.560304537916478</c:v>
                </c:pt>
                <c:pt idx="1">
                  <c:v>13.233886365646441</c:v>
                </c:pt>
              </c:numCache>
            </c:numRef>
          </c:val>
        </c:ser>
        <c:ser>
          <c:idx val="1"/>
          <c:order val="1"/>
          <c:tx>
            <c:strRef>
              <c:strCache>
                <c:ptCount val="1"/>
                <c:pt idx="0">
                  <c:v>SPF 30–49</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20.12637031293748</c:v>
                </c:pt>
                <c:pt idx="1">
                  <c:v>14.690603653238854</c:v>
                </c:pt>
              </c:numCache>
            </c:numRef>
          </c:val>
        </c:ser>
        <c:ser>
          <c:idx val="2"/>
          <c:order val="2"/>
          <c:tx>
            <c:strRef>
              <c:strCache>
                <c:ptCount val="1"/>
                <c:pt idx="0">
                  <c:v>SPF 50</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31.559733798539767</c:v>
                </c:pt>
                <c:pt idx="1">
                  <c:v>39.57484665449267</c:v>
                </c:pt>
              </c:numCache>
            </c:numRef>
          </c:val>
        </c:ser>
        <c:ser>
          <c:idx val="3"/>
          <c:order val="3"/>
          <c:tx>
            <c:strRef>
              <c:strCache>
                <c:ptCount val="1"/>
                <c:pt idx="0">
                  <c:v>Above SPF 50</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35.75359135060628</c:v>
                </c:pt>
                <c:pt idx="1">
                  <c:v>32.500663326622025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Below SPF 30</c:v>
                </c:pt>
              </c:strCache>
            </c:strRef>
          </c:tx>
          <c:spPr>
            <a:solidFill>
              <a:srgbClr val="3D85C6"/>
            </a:solidFill>
          </c:spPr>
          <c:invertIfNegative val="0"/>
          <c:xVal>
            <c:numRef>
              <c:numCache>
                <c:formatCode>General</c:formatCode>
                <c:ptCount val="1"/>
                <c:pt idx="0">
                  <c:v>122.91046561961411</c:v>
                </c:pt>
              </c:numCache>
            </c:numRef>
          </c:xVal>
          <c:yVal>
            <c:numRef>
              <c:numCache>
                <c:formatCode>General</c:formatCode>
                <c:ptCount val="1"/>
                <c:pt idx="0">
                  <c:v>44.826320346320344</c:v>
                </c:pt>
              </c:numCache>
            </c:numRef>
          </c:yVal>
          <c:bubbleSize>
            <c:numRef>
              <c:numCache>
                <c:formatCode>General</c:formatCode>
                <c:ptCount val="1"/>
                <c:pt idx="0">
                  <c:v>148.404</c:v>
                </c:pt>
              </c:numCache>
            </c:numRef>
          </c:bubbleSize>
          <c:bubble3D val="0"/>
        </c:ser>
        <c:ser>
          <c:idx val="1"/>
          <c:order val="1"/>
          <c:tx>
            <c:strRef>
              <c:strCache>
                <c:ptCount val="1"/>
                <c:pt idx="0">
                  <c:v>SPF 30–49</c:v>
                </c:pt>
              </c:strCache>
            </c:strRef>
          </c:tx>
          <c:spPr>
            <a:solidFill>
              <a:srgbClr val="9E7E0A"/>
            </a:solidFill>
          </c:spPr>
          <c:invertIfNegative val="0"/>
          <c:xVal>
            <c:numRef>
              <c:numCache>
                <c:formatCode>General</c:formatCode>
                <c:ptCount val="1"/>
                <c:pt idx="0">
                  <c:v>82.96900843732307</c:v>
                </c:pt>
              </c:numCache>
            </c:numRef>
          </c:xVal>
          <c:yVal>
            <c:numRef>
              <c:numCache>
                <c:formatCode>General</c:formatCode>
                <c:ptCount val="1"/>
                <c:pt idx="0">
                  <c:v>73.69627705627705</c:v>
                </c:pt>
              </c:numCache>
            </c:numRef>
          </c:yVal>
          <c:bubbleSize>
            <c:numRef>
              <c:numCache>
                <c:formatCode>General</c:formatCode>
                <c:ptCount val="1"/>
                <c:pt idx="0">
                  <c:v>187.708</c:v>
                </c:pt>
              </c:numCache>
            </c:numRef>
          </c:bubbleSize>
          <c:bubble3D val="0"/>
        </c:ser>
        <c:ser>
          <c:idx val="2"/>
          <c:order val="2"/>
          <c:tx>
            <c:strRef>
              <c:strCache>
                <c:ptCount val="1"/>
                <c:pt idx="0">
                  <c:v>SPF 50</c:v>
                </c:pt>
              </c:strCache>
            </c:strRef>
          </c:tx>
          <c:spPr>
            <a:solidFill>
              <a:srgbClr val="008189"/>
            </a:solidFill>
          </c:spPr>
          <c:invertIfNegative val="0"/>
          <c:xVal>
            <c:numRef>
              <c:numCache>
                <c:formatCode>General</c:formatCode>
                <c:ptCount val="1"/>
                <c:pt idx="0">
                  <c:v>79.64822416371834</c:v>
                </c:pt>
              </c:numCache>
            </c:numRef>
          </c:xVal>
          <c:yVal>
            <c:numRef>
              <c:numCache>
                <c:formatCode>General</c:formatCode>
                <c:ptCount val="1"/>
                <c:pt idx="0">
                  <c:v>169.18580086580087</c:v>
                </c:pt>
              </c:numCache>
            </c:numRef>
          </c:yVal>
          <c:bubbleSize>
            <c:numRef>
              <c:numCache>
                <c:formatCode>General</c:formatCode>
                <c:ptCount val="1"/>
                <c:pt idx="0">
                  <c:v>421.5</c:v>
                </c:pt>
              </c:numCache>
            </c:numRef>
          </c:bubbleSize>
          <c:bubble3D val="0"/>
        </c:ser>
        <c:ser>
          <c:idx val="3"/>
          <c:order val="3"/>
          <c:tx>
            <c:strRef>
              <c:strCache>
                <c:ptCount val="1"/>
                <c:pt idx="0">
                  <c:v>Above SPF 50</c:v>
                </c:pt>
              </c:strCache>
            </c:strRef>
          </c:tx>
          <c:spPr>
            <a:solidFill>
              <a:srgbClr val="40315E"/>
            </a:solidFill>
          </c:spPr>
          <c:invertIfNegative val="0"/>
          <c:xVal>
            <c:numRef>
              <c:numCache>
                <c:formatCode>General</c:formatCode>
                <c:ptCount val="1"/>
                <c:pt idx="0">
                  <c:v>127.38924992902803</c:v>
                </c:pt>
              </c:numCache>
            </c:numRef>
          </c:xVal>
          <c:yVal>
            <c:numRef>
              <c:numCache>
                <c:formatCode>General</c:formatCode>
                <c:ptCount val="1"/>
                <c:pt idx="0">
                  <c:v>112.29160173160173</c:v>
                </c:pt>
              </c:numCache>
            </c:numRef>
          </c:yVal>
          <c:bubbleSize>
            <c:numRef>
              <c:numCache>
                <c:formatCode>General</c:formatCode>
                <c:ptCount val="1"/>
                <c:pt idx="0">
                  <c:v>382.688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6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64.718</c:v>
                </c:pt>
                <c:pt idx="2">
                  <c:v>76.295</c:v>
                </c:pt>
                <c:pt idx="3">
                  <c:v>90.0</c:v>
                </c:pt>
                <c:pt idx="4">
                  <c:v>106.24</c:v>
                </c:pt>
                <c:pt idx="5">
                  <c:v>125.511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64.718</c:v>
                </c:pt>
                <c:pt idx="1">
                  <c:v>11.576999999999998</c:v>
                </c:pt>
                <c:pt idx="2">
                  <c:v>13.704999999999998</c:v>
                </c:pt>
                <c:pt idx="3">
                  <c:v>16.239999999999995</c:v>
                </c:pt>
                <c:pt idx="4">
                  <c:v>19.271</c:v>
                </c:pt>
                <c:pt idx="5">
                  <c:v>22.893</c:v>
                </c:pt>
                <c:pt idx="6">
                  <c:v>148.404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106.399</c:v>
                </c:pt>
                <c:pt idx="2">
                  <c:v>119.758</c:v>
                </c:pt>
                <c:pt idx="3">
                  <c:v>134.511</c:v>
                </c:pt>
                <c:pt idx="4">
                  <c:v>150.728</c:v>
                </c:pt>
                <c:pt idx="5">
                  <c:v>168.458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106.399</c:v>
                </c:pt>
                <c:pt idx="1">
                  <c:v>13.358999999999995</c:v>
                </c:pt>
                <c:pt idx="2">
                  <c:v>14.753</c:v>
                </c:pt>
                <c:pt idx="3">
                  <c:v>16.217000000000013</c:v>
                </c:pt>
                <c:pt idx="4">
                  <c:v>17.72999999999999</c:v>
                </c:pt>
                <c:pt idx="5">
                  <c:v>19.25</c:v>
                </c:pt>
                <c:pt idx="6">
                  <c:v>187.708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244.262</c:v>
                </c:pt>
                <c:pt idx="2">
                  <c:v>273.887</c:v>
                </c:pt>
                <c:pt idx="3">
                  <c:v>306.383</c:v>
                </c:pt>
                <c:pt idx="4">
                  <c:v>341.831</c:v>
                </c:pt>
                <c:pt idx="5">
                  <c:v>380.232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244.262</c:v>
                </c:pt>
                <c:pt idx="1">
                  <c:v>29.625</c:v>
                </c:pt>
                <c:pt idx="2">
                  <c:v>32.49599999999998</c:v>
                </c:pt>
                <c:pt idx="3">
                  <c:v>35.448000000000036</c:v>
                </c:pt>
                <c:pt idx="4">
                  <c:v>38.40100000000001</c:v>
                </c:pt>
                <c:pt idx="5">
                  <c:v>41.26799999999997</c:v>
                </c:pt>
                <c:pt idx="6">
                  <c:v>421.5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162.121</c:v>
                </c:pt>
                <c:pt idx="2">
                  <c:v>192.228</c:v>
                </c:pt>
                <c:pt idx="3">
                  <c:v>228.074</c:v>
                </c:pt>
                <c:pt idx="4">
                  <c:v>270.797</c:v>
                </c:pt>
                <c:pt idx="5">
                  <c:v>321.778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162.121</c:v>
                </c:pt>
                <c:pt idx="1">
                  <c:v>30.107</c:v>
                </c:pt>
                <c:pt idx="2">
                  <c:v>35.846000000000004</c:v>
                </c:pt>
                <c:pt idx="3">
                  <c:v>42.72300000000001</c:v>
                </c:pt>
                <c:pt idx="4">
                  <c:v>50.980999999999995</c:v>
                </c:pt>
                <c:pt idx="5">
                  <c:v>60.90999999999997</c:v>
                </c:pt>
                <c:pt idx="6">
                  <c:v>382.688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50</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44.40550820224838</c:v>
                </c:pt>
                <c:pt idx="1">
                  <c:v>42.29645021645022</c:v>
                </c:pt>
                <c:pt idx="2">
                  <c:v>36.96395685345962</c:v>
                </c:pt>
              </c:numCache>
            </c:numRef>
          </c:val>
        </c:ser>
        <c:ser>
          <c:idx val="1"/>
          <c:order val="1"/>
          <c:tx>
            <c:strRef>
              <c:strCache>
                <c:ptCount val="1"/>
                <c:pt idx="0">
                  <c:v>Above SPF 50</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25.9203691801966</c:v>
                </c:pt>
                <c:pt idx="1">
                  <c:v>28.072900432900433</c:v>
                </c:pt>
                <c:pt idx="2">
                  <c:v>33.56029115145137</c:v>
                </c:pt>
              </c:numCache>
            </c:numRef>
          </c:val>
        </c:ser>
        <c:ser>
          <c:idx val="2"/>
          <c:order val="2"/>
          <c:tx>
            <c:strRef>
              <c:strCache>
                <c:ptCount val="1"/>
                <c:pt idx="0">
                  <c:v>30–49</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19.17650901351764</c:v>
                </c:pt>
                <c:pt idx="1">
                  <c:v>18.424069264069264</c:v>
                </c:pt>
                <c:pt idx="2">
                  <c:v>16.461282118740684</c:v>
                </c:pt>
              </c:numCache>
            </c:numRef>
          </c:val>
        </c:ser>
        <c:ser>
          <c:idx val="3"/>
          <c:order val="3"/>
          <c:tx>
            <c:strRef>
              <c:strCache>
                <c:ptCount val="1"/>
                <c:pt idx="0">
                  <c:v>Below SPF 30</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10.497613604037381</c:v>
                </c:pt>
                <c:pt idx="1">
                  <c:v>11.206580086580086</c:v>
                </c:pt>
                <c:pt idx="2">
                  <c:v>13.01446987634833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Regular Ingredients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44.10200081841873</c:v>
                </c:pt>
                <c:pt idx="1">
                  <c:v>48.54562386519122</c:v>
                </c:pt>
              </c:numCache>
            </c:numRef>
          </c:val>
        </c:ser>
        <c:ser>
          <c:idx val="1"/>
          <c:order val="1"/>
          <c:tx>
            <c:strRef>
              <c:strCache>
                <c:ptCount val="1"/>
                <c:pt idx="0">
                  <c:v>Niche Ingredients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20.83952531713726</c:v>
                </c:pt>
                <c:pt idx="1">
                  <c:v>16.966724415101996</c:v>
                </c:pt>
              </c:numCache>
            </c:numRef>
          </c:val>
        </c:ser>
        <c:ser>
          <c:idx val="2"/>
          <c:order val="2"/>
          <c:tx>
            <c:strRef>
              <c:strCache>
                <c:ptCount val="1"/>
                <c:pt idx="0">
                  <c:v>Emerging Ingredients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35.05847386444401</c:v>
                </c:pt>
                <c:pt idx="1">
                  <c:v>34.48765171970678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Regular Ingredients</c:v>
                </c:pt>
              </c:strCache>
            </c:strRef>
          </c:tx>
          <c:spPr>
            <a:solidFill>
              <a:srgbClr val="3D85C6"/>
            </a:solidFill>
          </c:spPr>
          <c:invertIfNegative val="0"/>
          <c:xVal>
            <c:numRef>
              <c:numCache>
                <c:formatCode>General</c:formatCode>
                <c:ptCount val="1"/>
                <c:pt idx="0">
                  <c:v>97.73060881648532</c:v>
                </c:pt>
              </c:numCache>
            </c:numRef>
          </c:xVal>
          <c:yVal>
            <c:numRef>
              <c:numCache>
                <c:formatCode>General</c:formatCode>
                <c:ptCount val="1"/>
                <c:pt idx="0">
                  <c:v>143.42077922077925</c:v>
                </c:pt>
              </c:numCache>
            </c:numRef>
          </c:yVal>
          <c:bubbleSize>
            <c:numRef>
              <c:numCache>
                <c:formatCode>General</c:formatCode>
                <c:ptCount val="1"/>
                <c:pt idx="0">
                  <c:v>537.0600000000001</c:v>
                </c:pt>
              </c:numCache>
            </c:numRef>
          </c:bubbleSize>
          <c:bubble3D val="0"/>
        </c:ser>
        <c:ser>
          <c:idx val="1"/>
          <c:order val="1"/>
          <c:tx>
            <c:strRef>
              <c:strCache>
                <c:ptCount val="1"/>
                <c:pt idx="0">
                  <c:v>Niche Ingredients</c:v>
                </c:pt>
              </c:strCache>
            </c:strRef>
          </c:tx>
          <c:spPr>
            <a:solidFill>
              <a:srgbClr val="9E7E0A"/>
            </a:solidFill>
          </c:spPr>
          <c:invertIfNegative val="0"/>
          <c:xVal>
            <c:numRef>
              <c:numCache>
                <c:formatCode>General</c:formatCode>
                <c:ptCount val="1"/>
                <c:pt idx="0">
                  <c:v>84.35551782984525</c:v>
                </c:pt>
              </c:numCache>
            </c:numRef>
          </c:xVal>
          <c:yVal>
            <c:numRef>
              <c:numCache>
                <c:formatCode>General</c:formatCode>
                <c:ptCount val="1"/>
                <c:pt idx="0">
                  <c:v>60.64363636363637</c:v>
                </c:pt>
              </c:numCache>
            </c:numRef>
          </c:yVal>
          <c:bubbleSize>
            <c:numRef>
              <c:numCache>
                <c:formatCode>General</c:formatCode>
                <c:ptCount val="1"/>
                <c:pt idx="0">
                  <c:v>207.857</c:v>
                </c:pt>
              </c:numCache>
            </c:numRef>
          </c:bubbleSize>
          <c:bubble3D val="0"/>
        </c:ser>
        <c:ser>
          <c:idx val="2"/>
          <c:order val="2"/>
          <c:tx>
            <c:strRef>
              <c:strCache>
                <c:ptCount val="1"/>
                <c:pt idx="0">
                  <c:v>Emerging Ingredients</c:v>
                </c:pt>
              </c:strCache>
            </c:strRef>
          </c:tx>
          <c:spPr>
            <a:solidFill>
              <a:srgbClr val="008189"/>
            </a:solidFill>
          </c:spPr>
          <c:invertIfNegative val="0"/>
          <c:xVal>
            <c:numRef>
              <c:numCache>
                <c:formatCode>General</c:formatCode>
                <c:ptCount val="1"/>
                <c:pt idx="0">
                  <c:v>112.3522277741795</c:v>
                </c:pt>
              </c:numCache>
            </c:numRef>
          </c:xVal>
          <c:yVal>
            <c:numRef>
              <c:numCache>
                <c:formatCode>General</c:formatCode>
                <c:ptCount val="1"/>
                <c:pt idx="0">
                  <c:v>95.9355844155844</c:v>
                </c:pt>
              </c:numCache>
            </c:numRef>
          </c:yVal>
          <c:bubbleSize>
            <c:numRef>
              <c:numCache>
                <c:formatCode>General</c:formatCode>
                <c:ptCount val="1"/>
                <c:pt idx="0">
                  <c:v>395.383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276.08500000000004</c:v>
                </c:pt>
                <c:pt idx="2">
                  <c:v>315.644</c:v>
                </c:pt>
                <c:pt idx="3">
                  <c:v>360.72</c:v>
                </c:pt>
                <c:pt idx="4">
                  <c:v>412.065</c:v>
                </c:pt>
                <c:pt idx="5">
                  <c:v>470.52700000000004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276.08500000000004</c:v>
                </c:pt>
                <c:pt idx="1">
                  <c:v>39.55899999999997</c:v>
                </c:pt>
                <c:pt idx="2">
                  <c:v>45.07600000000002</c:v>
                </c:pt>
                <c:pt idx="3">
                  <c:v>51.34499999999997</c:v>
                </c:pt>
                <c:pt idx="4">
                  <c:v>58.462000000000046</c:v>
                </c:pt>
                <c:pt idx="5">
                  <c:v>66.53300000000002</c:v>
                </c:pt>
                <c:pt idx="6">
                  <c:v>537.0600000000001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116.739</c:v>
                </c:pt>
                <c:pt idx="2">
                  <c:v>131.299</c:v>
                </c:pt>
                <c:pt idx="3">
                  <c:v>147.52499999999998</c:v>
                </c:pt>
                <c:pt idx="4">
                  <c:v>165.577</c:v>
                </c:pt>
                <c:pt idx="5">
                  <c:v>185.625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116.739</c:v>
                </c:pt>
                <c:pt idx="1">
                  <c:v>14.560000000000002</c:v>
                </c:pt>
                <c:pt idx="2">
                  <c:v>16.22599999999997</c:v>
                </c:pt>
                <c:pt idx="3">
                  <c:v>18.05200000000002</c:v>
                </c:pt>
                <c:pt idx="4">
                  <c:v>20.048000000000002</c:v>
                </c:pt>
                <c:pt idx="5">
                  <c:v>22.232</c:v>
                </c:pt>
                <c:pt idx="6">
                  <c:v>207.857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184.676</c:v>
                </c:pt>
                <c:pt idx="2">
                  <c:v>215.225</c:v>
                </c:pt>
                <c:pt idx="3">
                  <c:v>250.723</c:v>
                </c:pt>
                <c:pt idx="4">
                  <c:v>291.954</c:v>
                </c:pt>
                <c:pt idx="5">
                  <c:v>339.827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184.676</c:v>
                </c:pt>
                <c:pt idx="1">
                  <c:v>30.549000000000007</c:v>
                </c:pt>
                <c:pt idx="2">
                  <c:v>35.49800000000002</c:v>
                </c:pt>
                <c:pt idx="3">
                  <c:v>41.230999999999995</c:v>
                </c:pt>
                <c:pt idx="4">
                  <c:v>47.87299999999999</c:v>
                </c:pt>
                <c:pt idx="5">
                  <c:v>55.55599999999998</c:v>
                </c:pt>
                <c:pt idx="6">
                  <c:v>395.383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Regular Ingredients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48.148936394382226</c:v>
                </c:pt>
                <c:pt idx="1">
                  <c:v>47.806926406926415</c:v>
                </c:pt>
                <c:pt idx="2">
                  <c:v>47.09813207050777</c:v>
                </c:pt>
              </c:numCache>
            </c:numRef>
          </c:val>
        </c:ser>
        <c:ser>
          <c:idx val="1"/>
          <c:order val="1"/>
          <c:tx>
            <c:strRef>
              <c:strCache>
                <c:ptCount val="1"/>
                <c:pt idx="0">
                  <c:v>Emerging Ingredients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30.697586210529643</c:v>
                </c:pt>
                <c:pt idx="1">
                  <c:v>31.978528138528134</c:v>
                </c:pt>
                <c:pt idx="2">
                  <c:v>34.67359466806981</c:v>
                </c:pt>
              </c:numCache>
            </c:numRef>
          </c:val>
        </c:ser>
        <c:ser>
          <c:idx val="2"/>
          <c:order val="2"/>
          <c:tx>
            <c:strRef>
              <c:strCache>
                <c:ptCount val="1"/>
                <c:pt idx="0">
                  <c:v>Niche Ingredients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21.15347739508813</c:v>
                </c:pt>
                <c:pt idx="1">
                  <c:v>20.214545454545455</c:v>
                </c:pt>
                <c:pt idx="2">
                  <c:v>18.228273261422434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Facial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36.132379229394154</c:v>
                </c:pt>
                <c:pt idx="1">
                  <c:v>40.575949597581854</c:v>
                </c:pt>
              </c:numCache>
            </c:numRef>
          </c:val>
        </c:ser>
        <c:ser>
          <c:idx val="1"/>
          <c:order val="1"/>
          <c:tx>
            <c:strRef>
              <c:strCache>
                <c:ptCount val="1"/>
                <c:pt idx="0">
                  <c:v>Body Sunscreen</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25.10337920785682</c:v>
                </c:pt>
                <c:pt idx="1">
                  <c:v>26.51862777231509</c:v>
                </c:pt>
              </c:numCache>
            </c:numRef>
          </c:val>
        </c:ser>
        <c:ser>
          <c:idx val="2"/>
          <c:order val="2"/>
          <c:tx>
            <c:strRef>
              <c:strCache>
                <c:ptCount val="1"/>
                <c:pt idx="0">
                  <c:v>Face &amp; Body Sunscreen</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21.097973336779308</c:v>
                </c:pt>
                <c:pt idx="1">
                  <c:v>15.43053799690968</c:v>
                </c:pt>
              </c:numCache>
            </c:numRef>
          </c:val>
        </c:ser>
        <c:ser>
          <c:idx val="3"/>
          <c:order val="3"/>
          <c:tx>
            <c:strRef>
              <c:strCache>
                <c:ptCount val="1"/>
                <c:pt idx="0">
                  <c:v>Lip Sunscreen</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17.666268225969716</c:v>
                </c:pt>
                <c:pt idx="1">
                  <c:v>17.474884633193387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Facial Sunscreen</c:v>
                </c:pt>
              </c:strCache>
            </c:strRef>
          </c:tx>
          <c:spPr>
            <a:solidFill>
              <a:srgbClr val="3D85C6"/>
            </a:solidFill>
          </c:spPr>
          <c:invertIfNegative val="0"/>
          <c:xVal>
            <c:numRef>
              <c:numCache>
                <c:formatCode>General</c:formatCode>
                <c:ptCount val="1"/>
                <c:pt idx="0">
                  <c:v>103.54725482471754</c:v>
                </c:pt>
              </c:numCache>
            </c:numRef>
          </c:xVal>
          <c:yVal>
            <c:numRef>
              <c:numCache>
                <c:formatCode>General</c:formatCode>
                <c:ptCount val="1"/>
                <c:pt idx="0">
                  <c:v>152.90874458874458</c:v>
                </c:pt>
              </c:numCache>
            </c:numRef>
          </c:yVal>
          <c:bubbleSize>
            <c:numRef>
              <c:numCache>
                <c:formatCode>General</c:formatCode>
                <c:ptCount val="1"/>
                <c:pt idx="0">
                  <c:v>446.182</c:v>
                </c:pt>
              </c:numCache>
            </c:numRef>
          </c:bubbleSize>
          <c:bubble3D val="0"/>
        </c:ser>
        <c:ser>
          <c:idx val="1"/>
          <c:order val="1"/>
          <c:tx>
            <c:strRef>
              <c:strCache>
                <c:ptCount val="1"/>
                <c:pt idx="0">
                  <c:v>Body Sunscreen</c:v>
                </c:pt>
              </c:strCache>
            </c:strRef>
          </c:tx>
          <c:spPr>
            <a:solidFill>
              <a:srgbClr val="9E7E0A"/>
            </a:solidFill>
          </c:spPr>
          <c:invertIfNegative val="0"/>
          <c:xVal>
            <c:numRef>
              <c:numCache>
                <c:formatCode>General</c:formatCode>
                <c:ptCount val="1"/>
                <c:pt idx="0">
                  <c:v>92.14185864458895</c:v>
                </c:pt>
              </c:numCache>
            </c:numRef>
          </c:xVal>
          <c:yVal>
            <c:numRef>
              <c:numCache>
                <c:formatCode>General</c:formatCode>
                <c:ptCount val="1"/>
                <c:pt idx="0">
                  <c:v>109.77385281385281</c:v>
                </c:pt>
              </c:numCache>
            </c:numRef>
          </c:yVal>
          <c:bubbleSize>
            <c:numRef>
              <c:numCache>
                <c:formatCode>General</c:formatCode>
                <c:ptCount val="1"/>
                <c:pt idx="0">
                  <c:v>297.135</c:v>
                </c:pt>
              </c:numCache>
            </c:numRef>
          </c:bubbleSize>
          <c:bubble3D val="0"/>
        </c:ser>
        <c:ser>
          <c:idx val="2"/>
          <c:order val="2"/>
          <c:tx>
            <c:strRef>
              <c:strCache>
                <c:ptCount val="1"/>
                <c:pt idx="0">
                  <c:v>Face &amp; Body Sunscreen</c:v>
                </c:pt>
              </c:strCache>
            </c:strRef>
          </c:tx>
          <c:spPr>
            <a:solidFill>
              <a:srgbClr val="008189"/>
            </a:solidFill>
          </c:spPr>
          <c:invertIfNegative val="0"/>
          <c:xVal>
            <c:numRef>
              <c:numCache>
                <c:formatCode>General</c:formatCode>
                <c:ptCount val="1"/>
                <c:pt idx="0">
                  <c:v>104.36368252678517</c:v>
                </c:pt>
              </c:numCache>
            </c:numRef>
          </c:xVal>
          <c:yVal>
            <c:numRef>
              <c:numCache>
                <c:formatCode>General</c:formatCode>
                <c:ptCount val="1"/>
                <c:pt idx="0">
                  <c:v>67.1542857142857</c:v>
                </c:pt>
              </c:numCache>
            </c:numRef>
          </c:yVal>
          <c:bubbleSize>
            <c:numRef>
              <c:numCache>
                <c:formatCode>General</c:formatCode>
                <c:ptCount val="1"/>
                <c:pt idx="0">
                  <c:v>197.006</c:v>
                </c:pt>
              </c:numCache>
            </c:numRef>
          </c:bubbleSize>
          <c:bubble3D val="0"/>
        </c:ser>
        <c:ser>
          <c:idx val="3"/>
          <c:order val="3"/>
          <c:tx>
            <c:strRef>
              <c:strCache>
                <c:ptCount val="1"/>
                <c:pt idx="0">
                  <c:v>Lip Sunscreen</c:v>
                </c:pt>
              </c:strCache>
            </c:strRef>
          </c:tx>
          <c:spPr>
            <a:solidFill>
              <a:srgbClr val="40315E"/>
            </a:solidFill>
          </c:spPr>
          <c:invertIfNegative val="0"/>
          <c:xVal>
            <c:numRef>
              <c:numCache>
                <c:formatCode>General</c:formatCode>
                <c:ptCount val="1"/>
                <c:pt idx="0">
                  <c:v>99.96920715502573</c:v>
                </c:pt>
              </c:numCache>
            </c:numRef>
          </c:xVal>
          <c:yVal>
            <c:numRef>
              <c:numCache>
                <c:formatCode>General</c:formatCode>
                <c:ptCount val="1"/>
                <c:pt idx="0">
                  <c:v>70.16311688311688</c:v>
                </c:pt>
              </c:numCache>
            </c:numRef>
          </c:yVal>
          <c:bubbleSize>
            <c:numRef>
              <c:numCache>
                <c:formatCode>General</c:formatCode>
                <c:ptCount val="1"/>
                <c:pt idx="0">
                  <c:v>199.977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220.762</c:v>
                </c:pt>
                <c:pt idx="2">
                  <c:v>254.041</c:v>
                </c:pt>
                <c:pt idx="3">
                  <c:v>292.358</c:v>
                </c:pt>
                <c:pt idx="4">
                  <c:v>336.503</c:v>
                </c:pt>
                <c:pt idx="5">
                  <c:v>387.408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220.762</c:v>
                </c:pt>
                <c:pt idx="1">
                  <c:v>33.278999999999996</c:v>
                </c:pt>
                <c:pt idx="2">
                  <c:v>38.31700000000001</c:v>
                </c:pt>
                <c:pt idx="3">
                  <c:v>44.14499999999998</c:v>
                </c:pt>
                <c:pt idx="4">
                  <c:v>50.90500000000003</c:v>
                </c:pt>
                <c:pt idx="5">
                  <c:v>58.774</c:v>
                </c:pt>
                <c:pt idx="6">
                  <c:v>446.182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158.486</c:v>
                </c:pt>
                <c:pt idx="2">
                  <c:v>180.287</c:v>
                </c:pt>
                <c:pt idx="3">
                  <c:v>204.808</c:v>
                </c:pt>
                <c:pt idx="4">
                  <c:v>232.303</c:v>
                </c:pt>
                <c:pt idx="5">
                  <c:v>263.011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158.486</c:v>
                </c:pt>
                <c:pt idx="1">
                  <c:v>21.801000000000016</c:v>
                </c:pt>
                <c:pt idx="2">
                  <c:v>24.520999999999987</c:v>
                </c:pt>
                <c:pt idx="3">
                  <c:v>27.495000000000005</c:v>
                </c:pt>
                <c:pt idx="4">
                  <c:v>30.708000000000027</c:v>
                </c:pt>
                <c:pt idx="5">
                  <c:v>34.12399999999997</c:v>
                </c:pt>
                <c:pt idx="6">
                  <c:v>297.135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96.954</c:v>
                </c:pt>
                <c:pt idx="2">
                  <c:v>111.693</c:v>
                </c:pt>
                <c:pt idx="3">
                  <c:v>128.68</c:v>
                </c:pt>
                <c:pt idx="4">
                  <c:v>148.27</c:v>
                </c:pt>
                <c:pt idx="5">
                  <c:v>170.882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96.954</c:v>
                </c:pt>
                <c:pt idx="1">
                  <c:v>14.739000000000004</c:v>
                </c:pt>
                <c:pt idx="2">
                  <c:v>16.98700000000001</c:v>
                </c:pt>
                <c:pt idx="3">
                  <c:v>19.590000000000003</c:v>
                </c:pt>
                <c:pt idx="4">
                  <c:v>22.611999999999995</c:v>
                </c:pt>
                <c:pt idx="5">
                  <c:v>26.123999999999995</c:v>
                </c:pt>
                <c:pt idx="6">
                  <c:v>197.006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101.298</c:v>
                </c:pt>
                <c:pt idx="2">
                  <c:v>116.147</c:v>
                </c:pt>
                <c:pt idx="3">
                  <c:v>133.122</c:v>
                </c:pt>
                <c:pt idx="4">
                  <c:v>152.52</c:v>
                </c:pt>
                <c:pt idx="5">
                  <c:v>174.678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101.298</c:v>
                </c:pt>
                <c:pt idx="1">
                  <c:v>14.849000000000004</c:v>
                </c:pt>
                <c:pt idx="2">
                  <c:v>16.97500000000001</c:v>
                </c:pt>
                <c:pt idx="3">
                  <c:v>19.397999999999996</c:v>
                </c:pt>
                <c:pt idx="4">
                  <c:v>22.157999999999987</c:v>
                </c:pt>
                <c:pt idx="5">
                  <c:v>25.299000000000007</c:v>
                </c:pt>
                <c:pt idx="6">
                  <c:v>199.977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Facial Sunscreen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37.94359044598738</c:v>
                </c:pt>
                <c:pt idx="1">
                  <c:v>38.227186147186146</c:v>
                </c:pt>
                <c:pt idx="2">
                  <c:v>39.12847496272911</c:v>
                </c:pt>
              </c:numCache>
            </c:numRef>
          </c:val>
        </c:ser>
        <c:ser>
          <c:idx val="1"/>
          <c:order val="1"/>
          <c:tx>
            <c:strRef>
              <c:strCache>
                <c:ptCount val="1"/>
                <c:pt idx="0">
                  <c:v>Body Sunscreen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27.899023316089473</c:v>
                </c:pt>
                <c:pt idx="1">
                  <c:v>27.443463203463203</c:v>
                </c:pt>
                <c:pt idx="2">
                  <c:v>26.057616416732436</c:v>
                </c:pt>
              </c:numCache>
            </c:numRef>
          </c:val>
        </c:ser>
        <c:ser>
          <c:idx val="2"/>
          <c:order val="2"/>
          <c:tx>
            <c:strRef>
              <c:strCache>
                <c:ptCount val="1"/>
                <c:pt idx="0">
                  <c:v>Lip Sunscreen</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17.541327320809586</c:v>
                </c:pt>
                <c:pt idx="1">
                  <c:v>17.54077922077922</c:v>
                </c:pt>
                <c:pt idx="2">
                  <c:v>17.53722704551434</c:v>
                </c:pt>
              </c:numCache>
            </c:numRef>
          </c:val>
        </c:ser>
        <c:ser>
          <c:idx val="3"/>
          <c:order val="3"/>
          <c:tx>
            <c:strRef>
              <c:strCache>
                <c:ptCount val="1"/>
                <c:pt idx="0">
                  <c:v>Face &amp; Body Sunscreen</c:v>
                </c:pt>
              </c:strCache>
            </c:strRef>
          </c:tx>
          <c:spPr>
            <a:solidFill>
              <a:srgbClr val="40315E"/>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16.616058917113566</c:v>
                </c:pt>
                <c:pt idx="1">
                  <c:v>16.788571428571426</c:v>
                </c:pt>
                <c:pt idx="2">
                  <c:v>17.276681575024117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Up to 30 g/ml</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29.624873468157055</c:v>
                </c:pt>
                <c:pt idx="1">
                  <c:v>26.781877396429998</c:v>
                </c:pt>
              </c:numCache>
            </c:numRef>
          </c:val>
        </c:ser>
        <c:ser>
          <c:idx val="1"/>
          <c:order val="1"/>
          <c:tx>
            <c:strRef>
              <c:strCache>
                <c:ptCount val="1"/>
                <c:pt idx="0">
                  <c:v>Above 30–50 g/ml</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22.701158708621392</c:v>
                </c:pt>
                <c:pt idx="1">
                  <c:v>23.224495741703212</c:v>
                </c:pt>
              </c:numCache>
            </c:numRef>
          </c:val>
        </c:ser>
        <c:ser>
          <c:idx val="2"/>
          <c:order val="2"/>
          <c:tx>
            <c:strRef>
              <c:strCache>
                <c:ptCount val="1"/>
                <c:pt idx="0">
                  <c:v>Above 50–100 g/ml</c:v>
                </c:pt>
              </c:strCache>
            </c:strRef>
          </c:tx>
          <c:spPr>
            <a:solidFill>
              <a:srgbClr val="008189"/>
            </a:solidFill>
            <a:ln>
              <a:noFill/>
            </a:ln>
          </c:spPr>
          <c:dLbls>
            <c:dLbl>
              <c:idx val="0"/>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6.666612823329242</c:v>
                </c:pt>
                <c:pt idx="1">
                  <c:v>4.911218283882983</c:v>
                </c:pt>
              </c:numCache>
            </c:numRef>
          </c:val>
        </c:ser>
        <c:ser>
          <c:idx val="3"/>
          <c:order val="3"/>
          <c:tx>
            <c:strRef>
              <c:strCache>
                <c:ptCount val="1"/>
                <c:pt idx="0">
                  <c:v>Above 100–200 g/ml</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17.28855721393035</c:v>
                </c:pt>
                <c:pt idx="1">
                  <c:v>16.476122842887836</c:v>
                </c:pt>
              </c:numCache>
            </c:numRef>
          </c:val>
        </c:ser>
        <c:ser>
          <c:idx val="4"/>
          <c:order val="4"/>
          <c:tx>
            <c:strRef>
              <c:strCache>
                <c:ptCount val="1"/>
                <c:pt idx="0">
                  <c:v>Above 200 g/ml</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23.718797785961964</c:v>
                </c:pt>
                <c:pt idx="1">
                  <c:v>28.60628573509596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Up to 30 g/ml</c:v>
                </c:pt>
              </c:strCache>
            </c:strRef>
          </c:tx>
          <c:spPr>
            <a:solidFill>
              <a:srgbClr val="3D85C6"/>
            </a:solidFill>
          </c:spPr>
          <c:invertIfNegative val="0"/>
          <c:xVal>
            <c:numRef>
              <c:numCache>
                <c:formatCode>General</c:formatCode>
                <c:ptCount val="1"/>
                <c:pt idx="0">
                  <c:v>101.11384956115496</c:v>
                </c:pt>
              </c:numCache>
            </c:numRef>
          </c:xVal>
          <c:yVal>
            <c:numRef>
              <c:numCache>
                <c:formatCode>General</c:formatCode>
                <c:ptCount val="1"/>
                <c:pt idx="0">
                  <c:v>137.52900432900432</c:v>
                </c:pt>
              </c:numCache>
            </c:numRef>
          </c:yVal>
          <c:bubbleSize>
            <c:numRef>
              <c:numCache>
                <c:formatCode>General</c:formatCode>
                <c:ptCount val="1"/>
                <c:pt idx="0">
                  <c:v>315.954</c:v>
                </c:pt>
              </c:numCache>
            </c:numRef>
          </c:bubbleSize>
          <c:bubble3D val="0"/>
        </c:ser>
        <c:ser>
          <c:idx val="1"/>
          <c:order val="1"/>
          <c:tx>
            <c:strRef>
              <c:strCache>
                <c:ptCount val="1"/>
                <c:pt idx="0">
                  <c:v>Above 30–50 g/ml</c:v>
                </c:pt>
              </c:strCache>
            </c:strRef>
          </c:tx>
          <c:spPr>
            <a:solidFill>
              <a:srgbClr val="9E7E0A"/>
            </a:solidFill>
          </c:spPr>
          <c:invertIfNegative val="0"/>
          <c:xVal>
            <c:numRef>
              <c:numCache>
                <c:formatCode>General</c:formatCode>
                <c:ptCount val="1"/>
                <c:pt idx="0">
                  <c:v>88.32146136959561</c:v>
                </c:pt>
              </c:numCache>
            </c:numRef>
          </c:xVal>
          <c:yVal>
            <c:numRef>
              <c:numCache>
                <c:formatCode>General</c:formatCode>
                <c:ptCount val="1"/>
                <c:pt idx="0">
                  <c:v>124.5099567099567</c:v>
                </c:pt>
              </c:numCache>
            </c:numRef>
          </c:yVal>
          <c:bubbleSize>
            <c:numRef>
              <c:numCache>
                <c:formatCode>General</c:formatCode>
                <c:ptCount val="1"/>
                <c:pt idx="0">
                  <c:v>262.885</c:v>
                </c:pt>
              </c:numCache>
            </c:numRef>
          </c:bubbleSize>
          <c:bubble3D val="0"/>
        </c:ser>
        <c:ser>
          <c:idx val="2"/>
          <c:order val="2"/>
          <c:tx>
            <c:strRef>
              <c:strCache>
                <c:ptCount val="1"/>
                <c:pt idx="0">
                  <c:v>Above 50–100 g/ml</c:v>
                </c:pt>
              </c:strCache>
            </c:strRef>
          </c:tx>
          <c:spPr>
            <a:solidFill>
              <a:srgbClr val="008189"/>
            </a:solidFill>
          </c:spPr>
          <c:invertIfNegative val="0"/>
          <c:xVal>
            <c:numRef>
              <c:numCache>
                <c:formatCode>General</c:formatCode>
                <c:ptCount val="1"/>
                <c:pt idx="0">
                  <c:v>62.267528524586325</c:v>
                </c:pt>
              </c:numCache>
            </c:numRef>
          </c:xVal>
          <c:yVal>
            <c:numRef>
              <c:numCache>
                <c:formatCode>General</c:formatCode>
                <c:ptCount val="1"/>
                <c:pt idx="0">
                  <c:v>35.24761904761905</c:v>
                </c:pt>
              </c:numCache>
            </c:numRef>
          </c:yVal>
          <c:bubbleSize>
            <c:numRef>
              <c:numCache>
                <c:formatCode>General</c:formatCode>
                <c:ptCount val="1"/>
                <c:pt idx="0">
                  <c:v>62.523</c:v>
                </c:pt>
              </c:numCache>
            </c:numRef>
          </c:bubbleSize>
          <c:bubble3D val="0"/>
        </c:ser>
        <c:ser>
          <c:idx val="3"/>
          <c:order val="3"/>
          <c:tx>
            <c:strRef>
              <c:strCache>
                <c:ptCount val="1"/>
                <c:pt idx="0">
                  <c:v>Above 100–200 g/ml</c:v>
                </c:pt>
              </c:strCache>
            </c:strRef>
          </c:tx>
          <c:spPr>
            <a:solidFill>
              <a:srgbClr val="40315E"/>
            </a:solidFill>
          </c:spPr>
          <c:invertIfNegative val="0"/>
          <c:xVal>
            <c:numRef>
              <c:numCache>
                <c:formatCode>General</c:formatCode>
                <c:ptCount val="1"/>
                <c:pt idx="0">
                  <c:v>130.15760772832397</c:v>
                </c:pt>
              </c:numCache>
            </c:numRef>
          </c:xVal>
          <c:yVal>
            <c:numRef>
              <c:numCache>
                <c:formatCode>General</c:formatCode>
                <c:ptCount val="1"/>
                <c:pt idx="0">
                  <c:v>68.77748917748917</c:v>
                </c:pt>
              </c:numCache>
            </c:numRef>
          </c:yVal>
          <c:bubbleSize>
            <c:numRef>
              <c:numCache>
                <c:formatCode>General</c:formatCode>
                <c:ptCount val="1"/>
                <c:pt idx="0">
                  <c:v>190.895</c:v>
                </c:pt>
              </c:numCache>
            </c:numRef>
          </c:bubbleSize>
          <c:bubble3D val="0"/>
        </c:ser>
        <c:ser>
          <c:idx val="4"/>
          <c:order val="4"/>
          <c:tx>
            <c:strRef>
              <c:strCache>
                <c:ptCount val="1"/>
                <c:pt idx="0">
                  <c:v>Above 200 g/ml</c:v>
                </c:pt>
              </c:strCache>
            </c:strRef>
          </c:tx>
          <c:spPr>
            <a:solidFill>
              <a:srgbClr val="A35313"/>
            </a:solidFill>
          </c:spPr>
          <c:invertIfNegative val="0"/>
          <c:xVal>
            <c:numRef>
              <c:numCache>
                <c:formatCode>General</c:formatCode>
                <c:ptCount val="1"/>
                <c:pt idx="0">
                  <c:v>101.28366706586718</c:v>
                </c:pt>
              </c:numCache>
            </c:numRef>
          </c:xVal>
          <c:yVal>
            <c:numRef>
              <c:numCache>
                <c:formatCode>General</c:formatCode>
                <c:ptCount val="1"/>
                <c:pt idx="0">
                  <c:v>133.93593073593073</c:v>
                </c:pt>
              </c:numCache>
            </c:numRef>
          </c:yVal>
          <c:bubbleSize>
            <c:numRef>
              <c:numCache>
                <c:formatCode>General</c:formatCode>
                <c:ptCount val="1"/>
                <c:pt idx="0">
                  <c:v>308.043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158.846</c:v>
                </c:pt>
                <c:pt idx="2">
                  <c:v>182.386</c:v>
                </c:pt>
                <c:pt idx="3">
                  <c:v>209.346</c:v>
                </c:pt>
                <c:pt idx="4">
                  <c:v>240.211</c:v>
                </c:pt>
                <c:pt idx="5">
                  <c:v>275.536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158.846</c:v>
                </c:pt>
                <c:pt idx="1">
                  <c:v>23.539999999999992</c:v>
                </c:pt>
                <c:pt idx="2">
                  <c:v>26.960000000000008</c:v>
                </c:pt>
                <c:pt idx="3">
                  <c:v>30.86500000000001</c:v>
                </c:pt>
                <c:pt idx="4">
                  <c:v>35.32499999999999</c:v>
                </c:pt>
                <c:pt idx="5">
                  <c:v>40.418000000000006</c:v>
                </c:pt>
                <c:pt idx="6">
                  <c:v>315.954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143.809</c:v>
                </c:pt>
                <c:pt idx="2">
                  <c:v>162.602</c:v>
                </c:pt>
                <c:pt idx="3">
                  <c:v>183.661</c:v>
                </c:pt>
                <c:pt idx="4">
                  <c:v>207.223</c:v>
                </c:pt>
                <c:pt idx="5">
                  <c:v>233.542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143.809</c:v>
                </c:pt>
                <c:pt idx="1">
                  <c:v>18.793000000000006</c:v>
                </c:pt>
                <c:pt idx="2">
                  <c:v>21.058999999999997</c:v>
                </c:pt>
                <c:pt idx="3">
                  <c:v>23.562000000000012</c:v>
                </c:pt>
                <c:pt idx="4">
                  <c:v>26.31899999999999</c:v>
                </c:pt>
                <c:pt idx="5">
                  <c:v>29.34299999999999</c:v>
                </c:pt>
                <c:pt idx="6">
                  <c:v>262.885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40.711</c:v>
                </c:pt>
                <c:pt idx="2">
                  <c:v>44.75</c:v>
                </c:pt>
                <c:pt idx="3">
                  <c:v>49.001</c:v>
                </c:pt>
                <c:pt idx="4">
                  <c:v>53.424</c:v>
                </c:pt>
                <c:pt idx="5">
                  <c:v>57.96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40.711</c:v>
                </c:pt>
                <c:pt idx="1">
                  <c:v>4.0390000000000015</c:v>
                </c:pt>
                <c:pt idx="2">
                  <c:v>4.250999999999998</c:v>
                </c:pt>
                <c:pt idx="3">
                  <c:v>4.423000000000002</c:v>
                </c:pt>
                <c:pt idx="4">
                  <c:v>4.536000000000001</c:v>
                </c:pt>
                <c:pt idx="5">
                  <c:v>4.563000000000002</c:v>
                </c:pt>
                <c:pt idx="6">
                  <c:v>62.523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79.438</c:v>
                </c:pt>
                <c:pt idx="2">
                  <c:v>94.779</c:v>
                </c:pt>
                <c:pt idx="3">
                  <c:v>113.01</c:v>
                </c:pt>
                <c:pt idx="4">
                  <c:v>134.665</c:v>
                </c:pt>
                <c:pt idx="5">
                  <c:v>160.378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79.438</c:v>
                </c:pt>
                <c:pt idx="1">
                  <c:v>15.340999999999994</c:v>
                </c:pt>
                <c:pt idx="2">
                  <c:v>18.23100000000001</c:v>
                </c:pt>
                <c:pt idx="3">
                  <c:v>21.654999999999987</c:v>
                </c:pt>
                <c:pt idx="4">
                  <c:v>25.712999999999994</c:v>
                </c:pt>
                <c:pt idx="5">
                  <c:v>30.517000000000024</c:v>
                </c:pt>
                <c:pt idx="6">
                  <c:v>190.895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154.696</c:v>
                </c:pt>
                <c:pt idx="2">
                  <c:v>177.651</c:v>
                </c:pt>
                <c:pt idx="3">
                  <c:v>203.95</c:v>
                </c:pt>
                <c:pt idx="4">
                  <c:v>234.073</c:v>
                </c:pt>
                <c:pt idx="5">
                  <c:v>268.563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154.696</c:v>
                </c:pt>
                <c:pt idx="1">
                  <c:v>22.955000000000013</c:v>
                </c:pt>
                <c:pt idx="2">
                  <c:v>26.298999999999978</c:v>
                </c:pt>
                <c:pt idx="3">
                  <c:v>30.12300000000002</c:v>
                </c:pt>
                <c:pt idx="4">
                  <c:v>34.48999999999998</c:v>
                </c:pt>
                <c:pt idx="5">
                  <c:v>39.48000000000002</c:v>
                </c:pt>
                <c:pt idx="6">
                  <c:v>308.043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Up to 30 g/ml</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27.415422544856877</c:v>
                </c:pt>
                <c:pt idx="1">
                  <c:v>27.505800865800868</c:v>
                </c:pt>
                <c:pt idx="2">
                  <c:v>27.70797158642463</c:v>
                </c:pt>
              </c:numCache>
            </c:numRef>
          </c:val>
        </c:ser>
        <c:ser>
          <c:idx val="1"/>
          <c:order val="1"/>
          <c:tx>
            <c:strRef>
              <c:strCache>
                <c:ptCount val="1"/>
                <c:pt idx="0">
                  <c:v>200 g/ml</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26.690969624814304</c:v>
                </c:pt>
                <c:pt idx="1">
                  <c:v>26.787186147186148</c:v>
                </c:pt>
                <c:pt idx="2">
                  <c:v>27.01420678768745</c:v>
                </c:pt>
              </c:numCache>
            </c:numRef>
          </c:val>
        </c:ser>
        <c:ser>
          <c:idx val="2"/>
          <c:order val="2"/>
          <c:tx>
            <c:strRef>
              <c:strCache>
                <c:ptCount val="1"/>
                <c:pt idx="0">
                  <c:v>30–50 g/ml</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25.72145017015583</c:v>
                </c:pt>
                <c:pt idx="1">
                  <c:v>24.90199134199134</c:v>
                </c:pt>
                <c:pt idx="2">
                  <c:v>23.054020871700427</c:v>
                </c:pt>
              </c:numCache>
            </c:numRef>
          </c:val>
        </c:ser>
        <c:ser>
          <c:idx val="3"/>
          <c:order val="3"/>
          <c:tx>
            <c:strRef>
              <c:strCache>
                <c:ptCount val="1"/>
                <c:pt idx="0">
                  <c:v>100–200 g/ml</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12.436231074773742</c:v>
                </c:pt>
                <c:pt idx="1">
                  <c:v>13.755497835497835</c:v>
                </c:pt>
                <c:pt idx="2">
                  <c:v>16.740769972814174</c:v>
                </c:pt>
              </c:numCache>
            </c:numRef>
          </c:val>
        </c:ser>
        <c:ser>
          <c:idx val="4"/>
          <c:order val="4"/>
          <c:tx>
            <c:strRef>
              <c:strCache>
                <c:ptCount val="1"/>
                <c:pt idx="0">
                  <c:v>50–100 g/ml</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7.7359265853992625</c:v>
                </c:pt>
                <c:pt idx="1">
                  <c:v>7.0495238095238095</c:v>
                </c:pt>
                <c:pt idx="2">
                  <c:v>5.483030781373324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Mass Market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67.37255282031401</c:v>
                </c:pt>
                <c:pt idx="1">
                  <c:v>67.1631211208399</c:v>
                </c:pt>
              </c:numCache>
            </c:numRef>
          </c:val>
        </c:ser>
        <c:ser>
          <c:idx val="1"/>
          <c:order val="1"/>
          <c:tx>
            <c:strRef>
              <c:strCache>
                <c:ptCount val="1"/>
                <c:pt idx="0">
                  <c:v>Masstige</c:v>
                </c:pt>
              </c:strCache>
            </c:strRef>
          </c:tx>
          <c:spPr>
            <a:solidFill>
              <a:srgbClr val="9E7E0A"/>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7.112704873898905</c:v>
                </c:pt>
                <c:pt idx="1">
                  <c:v>8.052004807167048</c:v>
                </c:pt>
              </c:numCache>
            </c:numRef>
          </c:val>
        </c:ser>
        <c:ser>
          <c:idx val="2"/>
          <c:order val="2"/>
          <c:tx>
            <c:strRef>
              <c:strCache>
                <c:ptCount val="1"/>
                <c:pt idx="0">
                  <c:v>Premium</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10.036667312786717</c:v>
                </c:pt>
                <c:pt idx="1">
                  <c:v>11.89123524423426</c:v>
                </c:pt>
              </c:numCache>
            </c:numRef>
          </c:val>
        </c:ser>
        <c:ser>
          <c:idx val="3"/>
          <c:order val="3"/>
          <c:tx>
            <c:strRef>
              <c:strCache>
                <c:ptCount val="1"/>
                <c:pt idx="0">
                  <c:v>Prestige / Luxury</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15.478074993000368</c:v>
                </c:pt>
                <c:pt idx="1">
                  <c:v>12.893638827758785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Mass Market</c:v>
                </c:pt>
              </c:strCache>
            </c:strRef>
          </c:tx>
          <c:spPr>
            <a:solidFill>
              <a:srgbClr val="3D85C6"/>
            </a:solidFill>
          </c:spPr>
          <c:invertIfNegative val="0"/>
          <c:xVal>
            <c:numRef>
              <c:numCache>
                <c:formatCode>General</c:formatCode>
                <c:ptCount val="1"/>
                <c:pt idx="0">
                  <c:v>97.40819857012994</c:v>
                </c:pt>
              </c:numCache>
            </c:numRef>
          </c:xVal>
          <c:yVal>
            <c:numRef>
              <c:numCache>
                <c:formatCode>General</c:formatCode>
                <c:ptCount val="1"/>
                <c:pt idx="0">
                  <c:v>273.55290043290046</c:v>
                </c:pt>
              </c:numCache>
            </c:numRef>
          </c:yVal>
          <c:bubbleSize>
            <c:numRef>
              <c:numCache>
                <c:formatCode>General</c:formatCode>
                <c:ptCount val="1"/>
                <c:pt idx="0">
                  <c:v>766.639</c:v>
                </c:pt>
              </c:numCache>
            </c:numRef>
          </c:bubbleSize>
          <c:bubble3D val="0"/>
        </c:ser>
        <c:ser>
          <c:idx val="1"/>
          <c:order val="1"/>
          <c:tx>
            <c:strRef>
              <c:strCache>
                <c:ptCount val="1"/>
                <c:pt idx="0">
                  <c:v>Masstige</c:v>
                </c:pt>
              </c:strCache>
            </c:strRef>
          </c:tx>
          <c:spPr>
            <a:solidFill>
              <a:srgbClr val="9E7E0A"/>
            </a:solidFill>
          </c:spPr>
          <c:invertIfNegative val="0"/>
          <c:xVal>
            <c:numRef>
              <c:numCache>
                <c:formatCode>General</c:formatCode>
                <c:ptCount val="1"/>
                <c:pt idx="0">
                  <c:v>69.98203691787953</c:v>
                </c:pt>
              </c:numCache>
            </c:numRef>
          </c:xVal>
          <c:yVal>
            <c:numRef>
              <c:numCache>
                <c:formatCode>General</c:formatCode>
                <c:ptCount val="1"/>
                <c:pt idx="0">
                  <c:v>37.82164502164502</c:v>
                </c:pt>
              </c:numCache>
            </c:numRef>
          </c:yVal>
          <c:bubbleSize>
            <c:numRef>
              <c:numCache>
                <c:formatCode>General</c:formatCode>
                <c:ptCount val="1"/>
                <c:pt idx="0">
                  <c:v>88.328</c:v>
                </c:pt>
              </c:numCache>
            </c:numRef>
          </c:bubbleSize>
          <c:bubble3D val="0"/>
        </c:ser>
        <c:ser>
          <c:idx val="2"/>
          <c:order val="2"/>
          <c:tx>
            <c:strRef>
              <c:strCache>
                <c:ptCount val="1"/>
                <c:pt idx="0">
                  <c:v>Premium</c:v>
                </c:pt>
              </c:strCache>
            </c:strRef>
          </c:tx>
          <c:spPr>
            <a:solidFill>
              <a:srgbClr val="008189"/>
            </a:solidFill>
          </c:spPr>
          <c:invertIfNegative val="0"/>
          <c:xVal>
            <c:numRef>
              <c:numCache>
                <c:formatCode>General</c:formatCode>
                <c:ptCount val="1"/>
                <c:pt idx="0">
                  <c:v>94.94596035570032</c:v>
                </c:pt>
              </c:numCache>
            </c:numRef>
          </c:xVal>
          <c:yVal>
            <c:numRef>
              <c:numCache>
                <c:formatCode>General</c:formatCode>
                <c:ptCount val="1"/>
                <c:pt idx="0">
                  <c:v>46.67705627705628</c:v>
                </c:pt>
              </c:numCache>
            </c:numRef>
          </c:yVal>
          <c:bubbleSize>
            <c:numRef>
              <c:numCache>
                <c:formatCode>General</c:formatCode>
                <c:ptCount val="1"/>
                <c:pt idx="0">
                  <c:v>128.707</c:v>
                </c:pt>
              </c:numCache>
            </c:numRef>
          </c:bubbleSize>
          <c:bubble3D val="0"/>
        </c:ser>
        <c:ser>
          <c:idx val="3"/>
          <c:order val="3"/>
          <c:tx>
            <c:strRef>
              <c:strCache>
                <c:ptCount val="1"/>
                <c:pt idx="0">
                  <c:v>Prestige / Luxury</c:v>
                </c:pt>
              </c:strCache>
            </c:strRef>
          </c:tx>
          <c:spPr>
            <a:solidFill>
              <a:srgbClr val="40315E"/>
            </a:solidFill>
          </c:spPr>
          <c:invertIfNegative val="0"/>
          <c:xVal>
            <c:numRef>
              <c:numCache>
                <c:formatCode>General</c:formatCode>
                <c:ptCount val="1"/>
                <c:pt idx="0">
                  <c:v>141.58542804887634</c:v>
                </c:pt>
              </c:numCache>
            </c:numRef>
          </c:xVal>
          <c:yVal>
            <c:numRef>
              <c:numCache>
                <c:formatCode>General</c:formatCode>
                <c:ptCount val="1"/>
                <c:pt idx="0">
                  <c:v>41.948398268398265</c:v>
                </c:pt>
              </c:numCache>
            </c:numRef>
          </c:yVal>
          <c:bubbleSize>
            <c:numRef>
              <c:numCache>
                <c:formatCode>General</c:formatCode>
                <c:ptCount val="1"/>
                <c:pt idx="0">
                  <c:v>156.626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394.942</c:v>
                </c:pt>
                <c:pt idx="2">
                  <c:v>451.501</c:v>
                </c:pt>
                <c:pt idx="3">
                  <c:v>515.865</c:v>
                </c:pt>
                <c:pt idx="4">
                  <c:v>589.058</c:v>
                </c:pt>
                <c:pt idx="5">
                  <c:v>672.225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394.942</c:v>
                </c:pt>
                <c:pt idx="1">
                  <c:v>56.55899999999997</c:v>
                </c:pt>
                <c:pt idx="2">
                  <c:v>64.36400000000003</c:v>
                </c:pt>
                <c:pt idx="3">
                  <c:v>73.19299999999998</c:v>
                </c:pt>
                <c:pt idx="4">
                  <c:v>83.16700000000003</c:v>
                </c:pt>
                <c:pt idx="5">
                  <c:v>94.41399999999999</c:v>
                </c:pt>
                <c:pt idx="6">
                  <c:v>766.639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54.605</c:v>
                </c:pt>
                <c:pt idx="2">
                  <c:v>60.608</c:v>
                </c:pt>
                <c:pt idx="3">
                  <c:v>67.037</c:v>
                </c:pt>
                <c:pt idx="4">
                  <c:v>73.851</c:v>
                </c:pt>
                <c:pt idx="5">
                  <c:v>80.984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54.605</c:v>
                </c:pt>
                <c:pt idx="1">
                  <c:v>6.003</c:v>
                </c:pt>
                <c:pt idx="2">
                  <c:v>6.429000000000009</c:v>
                </c:pt>
                <c:pt idx="3">
                  <c:v>6.813999999999993</c:v>
                </c:pt>
                <c:pt idx="4">
                  <c:v>7.132999999999996</c:v>
                </c:pt>
                <c:pt idx="5">
                  <c:v>7.344000000000008</c:v>
                </c:pt>
                <c:pt idx="6">
                  <c:v>88.328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67.39</c:v>
                </c:pt>
                <c:pt idx="2">
                  <c:v>76.82</c:v>
                </c:pt>
                <c:pt idx="3">
                  <c:v>87.505</c:v>
                </c:pt>
                <c:pt idx="4">
                  <c:v>99.599</c:v>
                </c:pt>
                <c:pt idx="5">
                  <c:v>113.27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67.39</c:v>
                </c:pt>
                <c:pt idx="1">
                  <c:v>9.429999999999993</c:v>
                </c:pt>
                <c:pt idx="2">
                  <c:v>10.685000000000002</c:v>
                </c:pt>
                <c:pt idx="3">
                  <c:v>12.094000000000008</c:v>
                </c:pt>
                <c:pt idx="4">
                  <c:v>13.670999999999992</c:v>
                </c:pt>
                <c:pt idx="5">
                  <c:v>15.436999999999998</c:v>
                </c:pt>
                <c:pt idx="6">
                  <c:v>128.707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60.563</c:v>
                </c:pt>
                <c:pt idx="2">
                  <c:v>73.239</c:v>
                </c:pt>
                <c:pt idx="3">
                  <c:v>88.561</c:v>
                </c:pt>
                <c:pt idx="4">
                  <c:v>107.088</c:v>
                </c:pt>
                <c:pt idx="5">
                  <c:v>129.5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60.563</c:v>
                </c:pt>
                <c:pt idx="1">
                  <c:v>12.676000000000002</c:v>
                </c:pt>
                <c:pt idx="2">
                  <c:v>15.322000000000003</c:v>
                </c:pt>
                <c:pt idx="3">
                  <c:v>18.526999999999987</c:v>
                </c:pt>
                <c:pt idx="4">
                  <c:v>22.412000000000006</c:v>
                </c:pt>
                <c:pt idx="5">
                  <c:v>27.126000000000005</c:v>
                </c:pt>
                <c:pt idx="6">
                  <c:v>156.626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Mass Market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68.84557436810553</c:v>
                </c:pt>
                <c:pt idx="1">
                  <c:v>68.38822510822511</c:v>
                </c:pt>
                <c:pt idx="2">
                  <c:v>67.23134262913268</c:v>
                </c:pt>
              </c:numCache>
            </c:numRef>
          </c:val>
        </c:ser>
        <c:ser>
          <c:idx val="1"/>
          <c:order val="1"/>
          <c:tx>
            <c:strRef>
              <c:strCache>
                <c:ptCount val="1"/>
                <c:pt idx="0">
                  <c:v>Prestige / Luxury</c:v>
                </c:pt>
              </c:strCache>
            </c:strRef>
          </c:tx>
          <c:spPr>
            <a:solidFill>
              <a:srgbClr val="9E7E0A"/>
            </a:solidFill>
            <a:ln>
              <a:noFill/>
            </a:ln>
          </c:spPr>
          <c:dLbls>
            <c:dLbl>
              <c:idx val="0"/>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9.187150337677663</c:v>
                </c:pt>
                <c:pt idx="1">
                  <c:v>10.487099567099566</c:v>
                </c:pt>
                <c:pt idx="2">
                  <c:v>13.7355081995966</c:v>
                </c:pt>
              </c:numCache>
            </c:numRef>
          </c:val>
        </c:ser>
        <c:ser>
          <c:idx val="2"/>
          <c:order val="2"/>
          <c:tx>
            <c:strRef>
              <c:strCache>
                <c:ptCount val="1"/>
                <c:pt idx="0">
                  <c:v>Premium</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11.824723694330599</c:v>
                </c:pt>
                <c:pt idx="1">
                  <c:v>11.66926406926407</c:v>
                </c:pt>
                <c:pt idx="2">
                  <c:v>11.287117425238973</c:v>
                </c:pt>
              </c:numCache>
            </c:numRef>
          </c:val>
        </c:ser>
        <c:ser>
          <c:idx val="3"/>
          <c:order val="3"/>
          <c:tx>
            <c:strRef>
              <c:strCache>
                <c:ptCount val="1"/>
                <c:pt idx="0">
                  <c:v>Masstige</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10.142551599886215</c:v>
                </c:pt>
                <c:pt idx="1">
                  <c:v>9.455411255411255</c:v>
                </c:pt>
                <c:pt idx="2">
                  <c:v>7.746031746031747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Online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29.35915659796257</c:v>
                </c:pt>
                <c:pt idx="1">
                  <c:v>29.3726230796044</c:v>
                </c:pt>
              </c:numCache>
            </c:numRef>
          </c:val>
        </c:ser>
        <c:ser>
          <c:idx val="1"/>
          <c:order val="1"/>
          <c:tx>
            <c:strRef>
              <c:strCache>
                <c:ptCount val="1"/>
                <c:pt idx="0">
                  <c:v>Offline</c:v>
                </c:pt>
              </c:strCache>
            </c:strRef>
          </c:tx>
          <c:spPr>
            <a:solidFill>
              <a:srgbClr val="9E7E0A"/>
            </a:solidFill>
            <a:ln>
              <a:noFill/>
            </a:ln>
          </c:spPr>
          <c:dLbls>
            <c:dLbl>
              <c:idx val="0"/>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70.64084340203743</c:v>
                </c:pt>
                <c:pt idx="1">
                  <c:v>70.6273769203956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Online</c:v>
                </c:pt>
              </c:strCache>
            </c:strRef>
          </c:tx>
          <c:spPr>
            <a:solidFill>
              <a:srgbClr val="3D85C6"/>
            </a:solidFill>
          </c:spPr>
          <c:invertIfNegative val="0"/>
          <c:xVal>
            <c:numRef>
              <c:numCache>
                <c:formatCode>General</c:formatCode>
                <c:ptCount val="1"/>
                <c:pt idx="0">
                  <c:v>84.46794429796908</c:v>
                </c:pt>
              </c:numCache>
            </c:numRef>
          </c:xVal>
          <c:yVal>
            <c:numRef>
              <c:numCache>
                <c:formatCode>General</c:formatCode>
                <c:ptCount val="1"/>
                <c:pt idx="0">
                  <c:v>65.08813852813853</c:v>
                </c:pt>
              </c:numCache>
            </c:numRef>
          </c:yVal>
          <c:bubbleSize>
            <c:numRef>
              <c:numCache>
                <c:formatCode>General</c:formatCode>
                <c:ptCount val="1"/>
                <c:pt idx="0">
                  <c:v>334.88599999999997</c:v>
                </c:pt>
              </c:numCache>
            </c:numRef>
          </c:bubbleSize>
          <c:bubble3D val="0"/>
        </c:ser>
        <c:ser>
          <c:idx val="1"/>
          <c:order val="1"/>
          <c:tx>
            <c:strRef>
              <c:strCache>
                <c:ptCount val="1"/>
                <c:pt idx="0">
                  <c:v>Offline</c:v>
                </c:pt>
              </c:strCache>
            </c:strRef>
          </c:tx>
          <c:spPr>
            <a:solidFill>
              <a:srgbClr val="9E7E0A"/>
            </a:solidFill>
          </c:spPr>
          <c:invertIfNegative val="0"/>
          <c:xVal>
            <c:numRef>
              <c:numCache>
                <c:formatCode>General</c:formatCode>
                <c:ptCount val="1"/>
                <c:pt idx="0">
                  <c:v>107.01089320662773</c:v>
                </c:pt>
              </c:numCache>
            </c:numRef>
          </c:xVal>
          <c:yVal>
            <c:numRef>
              <c:numCache>
                <c:formatCode>General</c:formatCode>
                <c:ptCount val="1"/>
                <c:pt idx="0">
                  <c:v>134.91186147186147</c:v>
                </c:pt>
              </c:numCache>
            </c:numRef>
          </c:yVal>
          <c:bubbleSize>
            <c:numRef>
              <c:numCache>
                <c:formatCode>General</c:formatCode>
                <c:ptCount val="1"/>
                <c:pt idx="0">
                  <c:v>805.414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187.942</c:v>
                </c:pt>
                <c:pt idx="2">
                  <c:v>211.54999999999998</c:v>
                </c:pt>
                <c:pt idx="3">
                  <c:v>237.809</c:v>
                </c:pt>
                <c:pt idx="4">
                  <c:v>266.95799999999997</c:v>
                </c:pt>
                <c:pt idx="5">
                  <c:v>299.236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187.942</c:v>
                </c:pt>
                <c:pt idx="1">
                  <c:v>23.607999999999976</c:v>
                </c:pt>
                <c:pt idx="2">
                  <c:v>26.259000000000015</c:v>
                </c:pt>
                <c:pt idx="3">
                  <c:v>29.148999999999972</c:v>
                </c:pt>
                <c:pt idx="4">
                  <c:v>32.27800000000002</c:v>
                </c:pt>
                <c:pt idx="5">
                  <c:v>35.64999999999998</c:v>
                </c:pt>
                <c:pt idx="6">
                  <c:v>334.88599999999997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389.558</c:v>
                </c:pt>
                <c:pt idx="2">
                  <c:v>450.618</c:v>
                </c:pt>
                <c:pt idx="3">
                  <c:v>521.159</c:v>
                </c:pt>
                <c:pt idx="4">
                  <c:v>602.6379999999999</c:v>
                </c:pt>
                <c:pt idx="5">
                  <c:v>696.743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389.558</c:v>
                </c:pt>
                <c:pt idx="1">
                  <c:v>61.06</c:v>
                </c:pt>
                <c:pt idx="2">
                  <c:v>70.541</c:v>
                </c:pt>
                <c:pt idx="3">
                  <c:v>81.47899999999993</c:v>
                </c:pt>
                <c:pt idx="4">
                  <c:v>94.10500000000013</c:v>
                </c:pt>
                <c:pt idx="5">
                  <c:v>108.67099999999994</c:v>
                </c:pt>
                <c:pt idx="6">
                  <c:v>805.414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Offline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66.04216492998852</c:v>
                </c:pt>
                <c:pt idx="1">
                  <c:v>67.45593073593074</c:v>
                </c:pt>
                <c:pt idx="2">
                  <c:v>70.63176357099009</c:v>
                </c:pt>
              </c:numCache>
            </c:numRef>
          </c:val>
        </c:ser>
        <c:ser>
          <c:idx val="1"/>
          <c:order val="1"/>
          <c:tx>
            <c:strRef>
              <c:strCache>
                <c:ptCount val="1"/>
                <c:pt idx="0">
                  <c:v>Online</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33.957835070011484</c:v>
                </c:pt>
                <c:pt idx="1">
                  <c:v>32.544069264069265</c:v>
                </c:pt>
                <c:pt idx="2">
                  <c:v>29.368236429009908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SPF 50</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45.46224380040053</c:v>
                </c:pt>
                <c:pt idx="1">
                  <c:v>44.27060806276006</c:v>
                </c:pt>
                <c:pt idx="2">
                  <c:v>35.40831641718948</c:v>
                </c:pt>
              </c:numCache>
            </c:numRef>
          </c:val>
        </c:ser>
        <c:ser>
          <c:idx val="1"/>
          <c:order val="1"/>
          <c:tx>
            <c:strRef>
              <c:strCache>
                <c:ptCount val="1"/>
                <c:pt idx="0">
                  <c:v>Above SPF 50</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26.593057874813553</c:v>
                </c:pt>
                <c:pt idx="1">
                  <c:v>28.318095721039832</c:v>
                </c:pt>
                <c:pt idx="2">
                  <c:v>30.842395210958212</c:v>
                </c:pt>
              </c:numCache>
            </c:numRef>
          </c:val>
        </c:ser>
        <c:ser>
          <c:idx val="2"/>
          <c:order val="2"/>
          <c:tx>
            <c:strRef>
              <c:strCache>
                <c:ptCount val="1"/>
                <c:pt idx="0">
                  <c:v>SPF 30–49</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17.555875134450936</c:v>
                </c:pt>
                <c:pt idx="1">
                  <c:v>16.55654819609539</c:v>
                </c:pt>
                <c:pt idx="2">
                  <c:v>20.824971103584307</c:v>
                </c:pt>
              </c:numCache>
            </c:numRef>
          </c:val>
        </c:ser>
        <c:ser>
          <c:idx val="3"/>
          <c:order val="3"/>
          <c:tx>
            <c:strRef>
              <c:strCache>
                <c:ptCount val="1"/>
                <c:pt idx="0">
                  <c:v>Below SPF 30</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Mineral Ceramide Sunscreen</c:v>
                </c:pt>
                <c:pt idx="1">
                  <c:v>Chemical Ceramide Sunscreen</c:v>
                </c:pt>
                <c:pt idx="2">
                  <c:v>Hybrid Ceramide Sunscreen</c:v>
                </c:pt>
              </c:strCache>
            </c:strRef>
          </c:cat>
          <c:val>
            <c:numRef>
              <c:numCache>
                <c:formatCode>General</c:formatCode>
                <c:ptCount val="3"/>
                <c:pt idx="0">
                  <c:v>10.388823190334984</c:v>
                </c:pt>
                <c:pt idx="1">
                  <c:v>10.854748020104697</c:v>
                </c:pt>
                <c:pt idx="2">
                  <c:v>12.924317268267998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Mineral Ceramide Sunscreen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Regular Ingredients</c:v>
                </c:pt>
                <c:pt idx="1">
                  <c:v>Niche Ingredients</c:v>
                </c:pt>
                <c:pt idx="2">
                  <c:v>Emerging Ingredients</c:v>
                </c:pt>
              </c:strCache>
            </c:strRef>
          </c:cat>
          <c:val>
            <c:numRef>
              <c:numCache>
                <c:formatCode>General</c:formatCode>
                <c:ptCount val="3"/>
                <c:pt idx="0">
                  <c:v>53.59453213853654</c:v>
                </c:pt>
                <c:pt idx="1">
                  <c:v>68.26253437154678</c:v>
                </c:pt>
                <c:pt idx="2">
                  <c:v>58.96791661026127</c:v>
                </c:pt>
              </c:numCache>
            </c:numRef>
          </c:val>
        </c:ser>
        <c:ser>
          <c:idx val="1"/>
          <c:order val="1"/>
          <c:tx>
            <c:strRef>
              <c:strCache>
                <c:ptCount val="1"/>
                <c:pt idx="0">
                  <c:v>Hybrid Ceramide Sunscreen</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Regular Ingredients</c:v>
                </c:pt>
                <c:pt idx="1">
                  <c:v>Niche Ingredients</c:v>
                </c:pt>
                <c:pt idx="2">
                  <c:v>Emerging Ingredients</c:v>
                </c:pt>
              </c:strCache>
            </c:strRef>
          </c:cat>
          <c:val>
            <c:numRef>
              <c:numCache>
                <c:formatCode>General</c:formatCode>
                <c:ptCount val="3"/>
                <c:pt idx="0">
                  <c:v>34.09770868497497</c:v>
                </c:pt>
                <c:pt idx="1">
                  <c:v>21.8710114015025</c:v>
                </c:pt>
                <c:pt idx="2">
                  <c:v>29.362393393799923</c:v>
                </c:pt>
              </c:numCache>
            </c:numRef>
          </c:val>
        </c:ser>
        <c:ser>
          <c:idx val="2"/>
          <c:order val="2"/>
          <c:tx>
            <c:strRef>
              <c:strCache>
                <c:ptCount val="1"/>
                <c:pt idx="0">
                  <c:v>Chemical Ceramide Sunscreen</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Regular Ingredients</c:v>
                </c:pt>
                <c:pt idx="1">
                  <c:v>Niche Ingredients</c:v>
                </c:pt>
                <c:pt idx="2">
                  <c:v>Emerging Ingredients</c:v>
                </c:pt>
              </c:strCache>
            </c:strRef>
          </c:cat>
          <c:val>
            <c:numRef>
              <c:numCache>
                <c:formatCode>General</c:formatCode>
                <c:ptCount val="3"/>
                <c:pt idx="0">
                  <c:v>12.307759176488483</c:v>
                </c:pt>
                <c:pt idx="1">
                  <c:v>9.86645422695072</c:v>
                </c:pt>
                <c:pt idx="2">
                  <c:v>11.669689995938812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Facial Sunscreen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Cream-based Sunscreen</c:v>
                </c:pt>
                <c:pt idx="1">
                  <c:v>Lotion-based Sunscreen</c:v>
                </c:pt>
                <c:pt idx="2">
                  <c:v>Gel-based Sunscreen</c:v>
                </c:pt>
                <c:pt idx="3">
                  <c:v>Stick-based Sunscreen</c:v>
                </c:pt>
                <c:pt idx="4">
                  <c:v>Other Forms</c:v>
                </c:pt>
              </c:strCache>
            </c:strRef>
          </c:cat>
          <c:val>
            <c:numRef>
              <c:numCache>
                <c:formatCode>General</c:formatCode>
                <c:ptCount val="5"/>
                <c:pt idx="0">
                  <c:v>46.634801455220995</c:v>
                </c:pt>
                <c:pt idx="1">
                  <c:v>37.30929863316306</c:v>
                </c:pt>
                <c:pt idx="2">
                  <c:v>36.82230926733732</c:v>
                </c:pt>
                <c:pt idx="3">
                  <c:v>35.80609514947074</c:v>
                </c:pt>
                <c:pt idx="4">
                  <c:v>39.67542462128372</c:v>
                </c:pt>
              </c:numCache>
            </c:numRef>
          </c:val>
        </c:ser>
        <c:ser>
          <c:idx val="1"/>
          <c:order val="1"/>
          <c:tx>
            <c:strRef>
              <c:strCache>
                <c:ptCount val="1"/>
                <c:pt idx="0">
                  <c:v>Body Sunscreen</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Cream-based Sunscreen</c:v>
                </c:pt>
                <c:pt idx="1">
                  <c:v>Lotion-based Sunscreen</c:v>
                </c:pt>
                <c:pt idx="2">
                  <c:v>Gel-based Sunscreen</c:v>
                </c:pt>
                <c:pt idx="3">
                  <c:v>Stick-based Sunscreen</c:v>
                </c:pt>
                <c:pt idx="4">
                  <c:v>Other Forms</c:v>
                </c:pt>
              </c:strCache>
            </c:strRef>
          </c:cat>
          <c:val>
            <c:numRef>
              <c:numCache>
                <c:formatCode>General</c:formatCode>
                <c:ptCount val="5"/>
                <c:pt idx="0">
                  <c:v>22.538509172536575</c:v>
                </c:pt>
                <c:pt idx="1">
                  <c:v>25.963861659533343</c:v>
                </c:pt>
                <c:pt idx="2">
                  <c:v>26.91734176088312</c:v>
                </c:pt>
                <c:pt idx="3">
                  <c:v>31.27602652087938</c:v>
                </c:pt>
                <c:pt idx="4">
                  <c:v>26.182728917451996</c:v>
                </c:pt>
              </c:numCache>
            </c:numRef>
          </c:val>
        </c:ser>
        <c:ser>
          <c:idx val="2"/>
          <c:order val="2"/>
          <c:tx>
            <c:strRef>
              <c:strCache>
                <c:ptCount val="1"/>
                <c:pt idx="0">
                  <c:v>Lip Sunscreen</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Cream-based Sunscreen</c:v>
                </c:pt>
                <c:pt idx="1">
                  <c:v>Lotion-based Sunscreen</c:v>
                </c:pt>
                <c:pt idx="2">
                  <c:v>Gel-based Sunscreen</c:v>
                </c:pt>
                <c:pt idx="3">
                  <c:v>Stick-based Sunscreen</c:v>
                </c:pt>
                <c:pt idx="4">
                  <c:v>Other Forms</c:v>
                </c:pt>
              </c:strCache>
            </c:strRef>
          </c:cat>
          <c:val>
            <c:numRef>
              <c:numCache>
                <c:formatCode>General</c:formatCode>
                <c:ptCount val="5"/>
                <c:pt idx="0">
                  <c:v>12.779626906107284</c:v>
                </c:pt>
                <c:pt idx="1">
                  <c:v>18.257282893828528</c:v>
                </c:pt>
                <c:pt idx="2">
                  <c:v>20.003560936526306</c:v>
                </c:pt>
                <c:pt idx="3">
                  <c:v>16.9524252646272</c:v>
                </c:pt>
                <c:pt idx="4">
                  <c:v>17.830043474738748</c:v>
                </c:pt>
              </c:numCache>
            </c:numRef>
          </c:val>
        </c:ser>
        <c:ser>
          <c:idx val="3"/>
          <c:order val="3"/>
          <c:tx>
            <c:strRef>
              <c:strCache>
                <c:ptCount val="1"/>
                <c:pt idx="0">
                  <c:v>Face &amp; Body Sunscreen</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Cream-based Sunscreen</c:v>
                </c:pt>
                <c:pt idx="1">
                  <c:v>Lotion-based Sunscreen</c:v>
                </c:pt>
                <c:pt idx="2">
                  <c:v>Gel-based Sunscreen</c:v>
                </c:pt>
                <c:pt idx="3">
                  <c:v>Stick-based Sunscreen</c:v>
                </c:pt>
                <c:pt idx="4">
                  <c:v>Other Forms</c:v>
                </c:pt>
              </c:strCache>
            </c:strRef>
          </c:cat>
          <c:val>
            <c:numRef>
              <c:numCache>
                <c:formatCode>General</c:formatCode>
                <c:ptCount val="5"/>
                <c:pt idx="0">
                  <c:v>18.04706246613515</c:v>
                </c:pt>
                <c:pt idx="1">
                  <c:v>18.46955681347508</c:v>
                </c:pt>
                <c:pt idx="2">
                  <c:v>16.256788035253273</c:v>
                </c:pt>
                <c:pt idx="3">
                  <c:v>15.965453065022682</c:v>
                </c:pt>
                <c:pt idx="4">
                  <c:v>16.31180298652553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Mass Market</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Up to 30 g/ml</c:v>
                </c:pt>
                <c:pt idx="1">
                  <c:v>Above 30–50 g/ml</c:v>
                </c:pt>
                <c:pt idx="2">
                  <c:v>Above 50–100 g/ml</c:v>
                </c:pt>
                <c:pt idx="3">
                  <c:v>Above 100–200 g/ml</c:v>
                </c:pt>
                <c:pt idx="4">
                  <c:v>Above 200 g/ml</c:v>
                </c:pt>
              </c:strCache>
            </c:strRef>
          </c:cat>
          <c:val>
            <c:numRef>
              <c:numCache>
                <c:formatCode>General</c:formatCode>
                <c:ptCount val="5"/>
                <c:pt idx="0">
                  <c:v>64.39003815015802</c:v>
                </c:pt>
                <c:pt idx="1">
                  <c:v>72.11548490727414</c:v>
                </c:pt>
                <c:pt idx="2">
                  <c:v>67.86863501265015</c:v>
                </c:pt>
                <c:pt idx="3">
                  <c:v>72.87913692611754</c:v>
                </c:pt>
                <c:pt idx="4">
                  <c:v>66.86124309124406</c:v>
                </c:pt>
              </c:numCache>
            </c:numRef>
          </c:val>
        </c:ser>
        <c:ser>
          <c:idx val="1"/>
          <c:order val="1"/>
          <c:tx>
            <c:strRef>
              <c:strCache>
                <c:ptCount val="1"/>
                <c:pt idx="0">
                  <c:v>Premium</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Up to 30 g/ml</c:v>
                </c:pt>
                <c:pt idx="1">
                  <c:v>Above 30–50 g/ml</c:v>
                </c:pt>
                <c:pt idx="2">
                  <c:v>Above 50–100 g/ml</c:v>
                </c:pt>
                <c:pt idx="3">
                  <c:v>Above 100–200 g/ml</c:v>
                </c:pt>
                <c:pt idx="4">
                  <c:v>Above 200 g/ml</c:v>
                </c:pt>
              </c:strCache>
            </c:strRef>
          </c:cat>
          <c:val>
            <c:numRef>
              <c:numCache>
                <c:formatCode>General</c:formatCode>
                <c:ptCount val="5"/>
                <c:pt idx="0">
                  <c:v>13.948100676126563</c:v>
                </c:pt>
                <c:pt idx="1">
                  <c:v>9.881719757181303</c:v>
                </c:pt>
                <c:pt idx="2">
                  <c:v>10.834909483923264</c:v>
                </c:pt>
                <c:pt idx="3">
                  <c:v>10.21060714780266</c:v>
                </c:pt>
                <c:pt idx="4">
                  <c:v>11.95901612851094</c:v>
                </c:pt>
              </c:numCache>
            </c:numRef>
          </c:val>
        </c:ser>
        <c:ser>
          <c:idx val="2"/>
          <c:order val="2"/>
          <c:tx>
            <c:strRef>
              <c:strCache>
                <c:ptCount val="1"/>
                <c:pt idx="0">
                  <c:v>Masstige</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Up to 30 g/ml</c:v>
                </c:pt>
                <c:pt idx="1">
                  <c:v>Above 30–50 g/ml</c:v>
                </c:pt>
                <c:pt idx="2">
                  <c:v>Above 50–100 g/ml</c:v>
                </c:pt>
                <c:pt idx="3">
                  <c:v>Above 100–200 g/ml</c:v>
                </c:pt>
                <c:pt idx="4">
                  <c:v>Above 200 g/ml</c:v>
                </c:pt>
              </c:strCache>
            </c:strRef>
          </c:cat>
          <c:val>
            <c:numRef>
              <c:numCache>
                <c:formatCode>General</c:formatCode>
                <c:ptCount val="5"/>
                <c:pt idx="0">
                  <c:v>9.52620777356685</c:v>
                </c:pt>
                <c:pt idx="1">
                  <c:v>9.534736563962424</c:v>
                </c:pt>
                <c:pt idx="2">
                  <c:v>9.439709169511925</c:v>
                </c:pt>
                <c:pt idx="3">
                  <c:v>6.486901569797449</c:v>
                </c:pt>
                <c:pt idx="4">
                  <c:v>10.836807912343643</c:v>
                </c:pt>
              </c:numCache>
            </c:numRef>
          </c:val>
        </c:ser>
        <c:ser>
          <c:idx val="3"/>
          <c:order val="3"/>
          <c:tx>
            <c:strRef>
              <c:strCache>
                <c:ptCount val="1"/>
                <c:pt idx="0">
                  <c:v>Prestige / Luxury</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Up to 30 g/ml</c:v>
                </c:pt>
                <c:pt idx="1">
                  <c:v>Above 30–50 g/ml</c:v>
                </c:pt>
                <c:pt idx="2">
                  <c:v>Above 50–100 g/ml</c:v>
                </c:pt>
                <c:pt idx="3">
                  <c:v>Above 100–200 g/ml</c:v>
                </c:pt>
                <c:pt idx="4">
                  <c:v>Above 200 g/ml</c:v>
                </c:pt>
              </c:strCache>
            </c:strRef>
          </c:cat>
          <c:val>
            <c:numRef>
              <c:numCache>
                <c:formatCode>General</c:formatCode>
                <c:ptCount val="5"/>
                <c:pt idx="0">
                  <c:v>12.135653400148572</c:v>
                </c:pt>
                <c:pt idx="1">
                  <c:v>8.468058771582147</c:v>
                </c:pt>
                <c:pt idx="2">
                  <c:v>11.856746333914666</c:v>
                </c:pt>
                <c:pt idx="3">
                  <c:v>10.423354356282335</c:v>
                </c:pt>
                <c:pt idx="4">
                  <c:v>10.342932867901354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(Units)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64132.808000000005</c:v>
                </c:pt>
                <c:pt idx="1">
                  <c:v>65177.428</c:v>
                </c:pt>
                <c:pt idx="2">
                  <c:v>66239.063</c:v>
                </c:pt>
                <c:pt idx="3">
                  <c:v>67317.98999999999</c:v>
                </c:pt>
                <c:pt idx="4">
                  <c:v>68414.492</c:v>
                </c:pt>
                <c:pt idx="5">
                  <c:v>72113.158</c:v>
                </c:pt>
                <c:pt idx="6">
                  <c:v>76010.038</c:v>
                </c:pt>
                <c:pt idx="7">
                  <c:v>80109.424</c:v>
                </c:pt>
                <c:pt idx="8">
                  <c:v>84421.246</c:v>
                </c:pt>
                <c:pt idx="9">
                  <c:v>88955.971</c:v>
                </c:pt>
                <c:pt idx="10">
                  <c:v>93724.65</c:v>
                </c:pt>
                <c:pt idx="11">
                  <c:v>98738.68800000001</c:v>
                </c:pt>
                <c:pt idx="12">
                  <c:v>104010.19199999998</c:v>
                </c:pt>
                <c:pt idx="13">
                  <c:v>109551.489</c:v>
                </c:pt>
                <c:pt idx="14">
                  <c:v>115376.25199999998</c:v>
                </c:pt>
                <c:pt idx="15">
                  <c:v>121497.78100000002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0.07401973782730953</c:v>
                </c:pt>
                <c:pt idx="1">
                  <c:v>0.055277059404729156</c:v>
                </c:pt>
                <c:pt idx="2">
                  <c:v>0.05355056209641629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9992664606686787"/>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72113.158</c:v>
                </c:pt>
                <c:pt idx="2">
                  <c:v>76010.038</c:v>
                </c:pt>
                <c:pt idx="3">
                  <c:v>80109.424</c:v>
                </c:pt>
                <c:pt idx="4">
                  <c:v>84421.246</c:v>
                </c:pt>
                <c:pt idx="5">
                  <c:v>88955.971</c:v>
                </c:pt>
                <c:pt idx="6">
                  <c:v>93724.65</c:v>
                </c:pt>
                <c:pt idx="7">
                  <c:v>98738.68800000001</c:v>
                </c:pt>
                <c:pt idx="8">
                  <c:v>104010.19199999998</c:v>
                </c:pt>
                <c:pt idx="9">
                  <c:v>109551.489</c:v>
                </c:pt>
                <c:pt idx="10">
                  <c:v>115376.25199999998</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72113.158</c:v>
                </c:pt>
                <c:pt idx="1">
                  <c:v>3896.8800000000047</c:v>
                </c:pt>
                <c:pt idx="2">
                  <c:v>4099.385999999999</c:v>
                </c:pt>
                <c:pt idx="3">
                  <c:v>4311.822</c:v>
                </c:pt>
                <c:pt idx="4">
                  <c:v>4534.725000000006</c:v>
                </c:pt>
                <c:pt idx="5">
                  <c:v>4768.678999999989</c:v>
                </c:pt>
                <c:pt idx="6">
                  <c:v>5014.038000000015</c:v>
                </c:pt>
                <c:pt idx="7">
                  <c:v>5271.503999999972</c:v>
                </c:pt>
                <c:pt idx="8">
                  <c:v>5541.2970000000205</c:v>
                </c:pt>
                <c:pt idx="9">
                  <c:v>5824.762999999977</c:v>
                </c:pt>
                <c:pt idx="10">
                  <c:v>6121.529000000039</c:v>
                </c:pt>
                <c:pt idx="11">
                  <c:v>121497.78100000002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70.02305522952602</c:v>
                </c:pt>
                <c:pt idx="1">
                  <c:v>16.895072926493675</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29.976944770473978</c:v>
                </c:pt>
                <c:pt idx="1">
                  <c:v>83.10492707350633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330.687</c:v>
                </c:pt>
                <c:pt idx="1">
                  <c:v>340.693</c:v>
                </c:pt>
                <c:pt idx="2">
                  <c:v>351.00199999999995</c:v>
                </c:pt>
                <c:pt idx="3">
                  <c:v>361.62199999999996</c:v>
                </c:pt>
                <c:pt idx="4">
                  <c:v>372.564</c:v>
                </c:pt>
                <c:pt idx="5">
                  <c:v>398.104</c:v>
                </c:pt>
                <c:pt idx="6">
                  <c:v>425.385</c:v>
                </c:pt>
                <c:pt idx="7">
                  <c:v>454.491</c:v>
                </c:pt>
                <c:pt idx="8">
                  <c:v>485.53599999999994</c:v>
                </c:pt>
                <c:pt idx="9">
                  <c:v>518.65</c:v>
                </c:pt>
                <c:pt idx="10">
                  <c:v>553.9649999999999</c:v>
                </c:pt>
                <c:pt idx="11">
                  <c:v>591.622</c:v>
                </c:pt>
                <c:pt idx="12">
                  <c:v>631.775</c:v>
                </c:pt>
                <c:pt idx="13">
                  <c:v>674.581</c:v>
                </c:pt>
                <c:pt idx="14">
                  <c:v>720.214</c:v>
                </c:pt>
                <c:pt idx="15">
                  <c:v>768.852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0.08005379799890268</c:v>
                </c:pt>
                <c:pt idx="1">
                  <c:v>0.07040151122915383</c:v>
                </c:pt>
                <c:pt idx="2">
                  <c:v>0.06803287463354502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807262729851862"/>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398.104</c:v>
                </c:pt>
                <c:pt idx="2">
                  <c:v>425.385</c:v>
                </c:pt>
                <c:pt idx="3">
                  <c:v>454.491</c:v>
                </c:pt>
                <c:pt idx="4">
                  <c:v>485.53599999999994</c:v>
                </c:pt>
                <c:pt idx="5">
                  <c:v>518.65</c:v>
                </c:pt>
                <c:pt idx="6">
                  <c:v>553.9649999999999</c:v>
                </c:pt>
                <c:pt idx="7">
                  <c:v>591.622</c:v>
                </c:pt>
                <c:pt idx="8">
                  <c:v>631.775</c:v>
                </c:pt>
                <c:pt idx="9">
                  <c:v>674.581</c:v>
                </c:pt>
                <c:pt idx="10">
                  <c:v>720.214</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398.104</c:v>
                </c:pt>
                <c:pt idx="1">
                  <c:v>27.281000000000006</c:v>
                </c:pt>
                <c:pt idx="2">
                  <c:v>29.105999999999995</c:v>
                </c:pt>
                <c:pt idx="3">
                  <c:v>31.04499999999996</c:v>
                </c:pt>
                <c:pt idx="4">
                  <c:v>33.11400000000003</c:v>
                </c:pt>
                <c:pt idx="5">
                  <c:v>35.31499999999994</c:v>
                </c:pt>
                <c:pt idx="6">
                  <c:v>37.65700000000004</c:v>
                </c:pt>
                <c:pt idx="7">
                  <c:v>40.15300000000002</c:v>
                </c:pt>
                <c:pt idx="8">
                  <c:v>42.80600000000004</c:v>
                </c:pt>
                <c:pt idx="9">
                  <c:v>45.63300000000004</c:v>
                </c:pt>
                <c:pt idx="10">
                  <c:v>48.63799999999992</c:v>
                </c:pt>
                <c:pt idx="11">
                  <c:v>768.852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68.93575757575758</c:v>
                </c:pt>
                <c:pt idx="1">
                  <c:v>22.748812999321714</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31.064242424242423</c:v>
                </c:pt>
                <c:pt idx="1">
                  <c:v>77.25118700067829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9EC6DE"/>
              </a:solidFill>
            </c:spPr>
          </c:dPt>
          <c:dPt>
            <c:idx val="3"/>
            <c:spPr>
              <a:solidFill>
                <a:srgbClr val="569CC6"/>
              </a:solidFill>
            </c:spPr>
          </c:dPt>
          <c:dPt>
            <c:idx val="4"/>
            <c:spPr>
              <a:solidFill>
                <a:srgbClr val="0E72AE"/>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  </c:v>
                </c:pt>
                <c:pt idx="2">
                  <c:v>Chemical Ceramide Sun…</c:v>
                </c:pt>
                <c:pt idx="3">
                  <c:v>Hybrid Ceramide Sunsc…</c:v>
                </c:pt>
                <c:pt idx="4">
                  <c:v>Mineral Ceramide Suns…</c:v>
                </c:pt>
              </c:strCache>
            </c:strRef>
          </c:cat>
          <c:val>
            <c:numRef>
              <c:numCache>
                <c:formatCode>General</c:formatCode>
                <c:ptCount val="5"/>
                <c:pt idx="2">
                  <c:v>44.301</c:v>
                </c:pt>
                <c:pt idx="3">
                  <c:v>114.861</c:v>
                </c:pt>
                <c:pt idx="4">
                  <c:v>238.942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20.18228000000005"/>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9DABB6"/>
              </a:solidFill>
            </c:spPr>
          </c:dPt>
          <c:dPt>
            <c:idx val="1"/>
            <c:spPr>
              <a:solidFill>
                <a:srgbClr val="788C9B"/>
              </a:solidFill>
            </c:spPr>
          </c:dPt>
          <c:dPt>
            <c:idx val="2"/>
            <c:spPr>
              <a:solidFill>
                <a:srgbClr val="546C80"/>
              </a:solidFill>
            </c:spPr>
          </c:dPt>
          <c:dPt>
            <c:idx val="3"/>
            <c:spPr>
              <a:solidFill>
                <a:srgbClr val="2F4D65"/>
              </a:solidFill>
            </c:spPr>
          </c:dPt>
          <c:dPt>
            <c:idx val="4"/>
            <c:spPr>
              <a:solidFill>
                <a:srgbClr val="0B2E4A"/>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Cream-based Sunscreen</c:v>
                </c:pt>
                <c:pt idx="1">
                  <c:v>Gel-based Sunscreen</c:v>
                </c:pt>
                <c:pt idx="2">
                  <c:v>Lotion-based Sunscreen</c:v>
                </c:pt>
                <c:pt idx="3">
                  <c:v>Other Forms</c:v>
                </c:pt>
                <c:pt idx="4">
                  <c:v>Stick-based Sunscreen</c:v>
                </c:pt>
              </c:strCache>
            </c:strRef>
          </c:cat>
          <c:val>
            <c:numRef>
              <c:numCache>
                <c:formatCode>General</c:formatCode>
                <c:ptCount val="5"/>
                <c:pt idx="0">
                  <c:v>33.984</c:v>
                </c:pt>
                <c:pt idx="1">
                  <c:v>64.37</c:v>
                </c:pt>
                <c:pt idx="2">
                  <c:v>71.034</c:v>
                </c:pt>
                <c:pt idx="3">
                  <c:v>101.983</c:v>
                </c:pt>
                <c:pt idx="4">
                  <c:v>126.733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69.8222200000000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C5B1E6"/>
              </a:solidFill>
            </c:spPr>
          </c:dPt>
          <c:dPt>
            <c:idx val="2"/>
            <c:spPr>
              <a:solidFill>
                <a:srgbClr val="A88ADA"/>
              </a:solidFill>
            </c:spPr>
          </c:dPt>
          <c:dPt>
            <c:idx val="3"/>
            <c:spPr>
              <a:solidFill>
                <a:srgbClr val="8B63CE"/>
              </a:solidFill>
            </c:spPr>
          </c:dPt>
          <c:dPt>
            <c:idx val="4"/>
            <c:spPr>
              <a:solidFill>
                <a:srgbClr val="6F3CC2"/>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Below SPF 30</c:v>
                </c:pt>
                <c:pt idx="2">
                  <c:v>30–49</c:v>
                </c:pt>
                <c:pt idx="3">
                  <c:v>Above SPF 50</c:v>
                </c:pt>
                <c:pt idx="4">
                  <c:v>50</c:v>
                </c:pt>
              </c:strCache>
            </c:strRef>
          </c:cat>
          <c:val>
            <c:numRef>
              <c:numCache>
                <c:formatCode>General</c:formatCode>
                <c:ptCount val="5"/>
                <c:pt idx="1">
                  <c:v>45.209</c:v>
                </c:pt>
                <c:pt idx="2">
                  <c:v>65.561</c:v>
                </c:pt>
                <c:pt idx="3">
                  <c:v>108.069</c:v>
                </c:pt>
                <c:pt idx="4">
                  <c:v>179.265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40.215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DABAA0"/>
              </a:solidFill>
            </c:spPr>
          </c:dPt>
          <c:dPt>
            <c:idx val="3"/>
            <c:spPr>
              <a:solidFill>
                <a:srgbClr val="BE8659"/>
              </a:solidFill>
            </c:spPr>
          </c:dPt>
          <c:dPt>
            <c:idx val="4"/>
            <c:spPr>
              <a:solidFill>
                <a:srgbClr val="A35313"/>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  </c:v>
                </c:pt>
                <c:pt idx="2">
                  <c:v>Niche Ingredients</c:v>
                </c:pt>
                <c:pt idx="3">
                  <c:v>Emerging Ingredients</c:v>
                </c:pt>
                <c:pt idx="4">
                  <c:v>Regular Ingredients</c:v>
                </c:pt>
              </c:strCache>
            </c:strRef>
          </c:cat>
          <c:val>
            <c:numRef>
              <c:numCache>
                <c:formatCode>General</c:formatCode>
                <c:ptCount val="5"/>
                <c:pt idx="2">
                  <c:v>75.402</c:v>
                </c:pt>
                <c:pt idx="3">
                  <c:v>126.362</c:v>
                </c:pt>
                <c:pt idx="4">
                  <c:v>196.34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63.09560000000005"/>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DCC599"/>
              </a:solidFill>
            </c:spPr>
          </c:dPt>
          <c:dPt>
            <c:idx val="2"/>
            <c:spPr>
              <a:solidFill>
                <a:srgbClr val="CAA865"/>
              </a:solidFill>
            </c:spPr>
          </c:dPt>
          <c:dPt>
            <c:idx val="3"/>
            <c:spPr>
              <a:solidFill>
                <a:srgbClr val="B98B32"/>
              </a:solidFill>
            </c:spPr>
          </c:dPt>
          <c:dPt>
            <c:idx val="4"/>
            <c:spPr>
              <a:solidFill>
                <a:srgbClr val="A86F00"/>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Face &amp; Body Sunscreen</c:v>
                </c:pt>
                <c:pt idx="2">
                  <c:v>Lip Sunscreen</c:v>
                </c:pt>
                <c:pt idx="3">
                  <c:v>Body Sunscreen</c:v>
                </c:pt>
                <c:pt idx="4">
                  <c:v>Facial Sunscreen</c:v>
                </c:pt>
              </c:strCache>
            </c:strRef>
          </c:cat>
          <c:val>
            <c:numRef>
              <c:numCache>
                <c:formatCode>General</c:formatCode>
                <c:ptCount val="5"/>
                <c:pt idx="1">
                  <c:v>59.969</c:v>
                </c:pt>
                <c:pt idx="2">
                  <c:v>69.572</c:v>
                </c:pt>
                <c:pt idx="3">
                  <c:v>111.063</c:v>
                </c:pt>
                <c:pt idx="4">
                  <c:v>157.5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11.05"/>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E59999"/>
              </a:solidFill>
            </c:spPr>
          </c:dPt>
          <c:dPt>
            <c:idx val="1"/>
            <c:spPr>
              <a:solidFill>
                <a:srgbClr val="DC7272"/>
              </a:solidFill>
            </c:spPr>
          </c:dPt>
          <c:dPt>
            <c:idx val="2"/>
            <c:spPr>
              <a:solidFill>
                <a:srgbClr val="D24C4C"/>
              </a:solidFill>
            </c:spPr>
          </c:dPt>
          <c:dPt>
            <c:idx val="3"/>
            <c:spPr>
              <a:solidFill>
                <a:srgbClr val="C92626"/>
              </a:solidFill>
            </c:spPr>
          </c:dPt>
          <c:dPt>
            <c:idx val="4"/>
            <c:spPr>
              <a:solidFill>
                <a:srgbClr val="C00000"/>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50–100 g/ml</c:v>
                </c:pt>
                <c:pt idx="1">
                  <c:v>100–200 g/ml</c:v>
                </c:pt>
                <c:pt idx="2">
                  <c:v>30–50 g/ml</c:v>
                </c:pt>
                <c:pt idx="3">
                  <c:v>Up to 30 g/ml</c:v>
                </c:pt>
                <c:pt idx="4">
                  <c:v>200 g/ml</c:v>
                </c:pt>
              </c:strCache>
            </c:strRef>
          </c:cat>
          <c:val>
            <c:numRef>
              <c:numCache>
                <c:formatCode>General</c:formatCode>
                <c:ptCount val="5"/>
                <c:pt idx="0">
                  <c:v>25.295</c:v>
                </c:pt>
                <c:pt idx="1">
                  <c:v>53.998</c:v>
                </c:pt>
                <c:pt idx="2">
                  <c:v>99.946</c:v>
                </c:pt>
                <c:pt idx="3">
                  <c:v>106.135</c:v>
                </c:pt>
                <c:pt idx="4">
                  <c:v>112.73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51.05820000000003"/>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C4C9CF"/>
              </a:solidFill>
            </c:spPr>
          </c:dPt>
          <c:dPt>
            <c:idx val="2"/>
            <c:spPr>
              <a:solidFill>
                <a:srgbClr val="A6AFB8"/>
              </a:solidFill>
            </c:spPr>
          </c:dPt>
          <c:dPt>
            <c:idx val="3"/>
            <c:spPr>
              <a:solidFill>
                <a:srgbClr val="8994A0"/>
              </a:solidFill>
            </c:spPr>
          </c:dPt>
          <c:dPt>
            <c:idx val="4"/>
            <c:spPr>
              <a:solidFill>
                <a:srgbClr val="6C7A89"/>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Masstige</c:v>
                </c:pt>
                <c:pt idx="2">
                  <c:v>Prestige / Luxury</c:v>
                </c:pt>
                <c:pt idx="3">
                  <c:v>Premium</c:v>
                </c:pt>
                <c:pt idx="4">
                  <c:v>Mass Market</c:v>
                </c:pt>
              </c:strCache>
            </c:strRef>
          </c:cat>
          <c:val>
            <c:numRef>
              <c:numCache>
                <c:formatCode>General</c:formatCode>
                <c:ptCount val="5"/>
                <c:pt idx="1">
                  <c:v>38.961</c:v>
                </c:pt>
                <c:pt idx="2">
                  <c:v>39.182</c:v>
                </c:pt>
                <c:pt idx="3">
                  <c:v>48.704</c:v>
                </c:pt>
                <c:pt idx="4">
                  <c:v>271.257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63.48438000000004"/>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9EC6DE"/>
              </a:solidFill>
            </c:spPr>
          </c:dPt>
          <c:dPt>
            <c:idx val="4"/>
            <c:spPr>
              <a:solidFill>
                <a:srgbClr val="0E72AE"/>
              </a:solidFill>
            </c:spPr>
          </c:dPt>
          <c:dLbls>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  </c:v>
                </c:pt>
                <c:pt idx="2">
                  <c:v>   </c:v>
                </c:pt>
                <c:pt idx="3">
                  <c:v>Online</c:v>
                </c:pt>
                <c:pt idx="4">
                  <c:v>Offline</c:v>
                </c:pt>
              </c:strCache>
            </c:strRef>
          </c:cat>
          <c:val>
            <c:numRef>
              <c:numCache>
                <c:formatCode>General</c:formatCode>
                <c:ptCount val="5"/>
                <c:pt idx="3">
                  <c:v>129.697</c:v>
                </c:pt>
                <c:pt idx="4">
                  <c:v>268.407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59.66537999999997"/>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Mineral Ceramide Sunscreen</c:v>
                </c:pt>
                <c:pt idx="2">
                  <c:v>Chemical Ceramide Sunscreen</c:v>
                </c:pt>
                <c:pt idx="3">
                  <c:v>Hybrid Ceramide Sunscreen</c:v>
                </c:pt>
                <c:pt idx="4">
                  <c:v>2036 Total</c:v>
                </c:pt>
              </c:strCache>
            </c:strRef>
          </c:cat>
          <c:val>
            <c:numRef>
              <c:numCache>
                <c:formatCode>General</c:formatCode>
                <c:ptCount val="5"/>
                <c:pt idx="0">
                  <c:v>0.0</c:v>
                </c:pt>
                <c:pt idx="1">
                  <c:v>398.104</c:v>
                </c:pt>
                <c:pt idx="2">
                  <c:v>624.804</c:v>
                </c:pt>
                <c:pt idx="3">
                  <c:v>667.3</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Mineral Ceramide Sunscreen</c:v>
                </c:pt>
                <c:pt idx="2">
                  <c:v>Chemical Ceramide Sunscreen</c:v>
                </c:pt>
                <c:pt idx="3">
                  <c:v>Hybrid Ceramide Sunscreen</c:v>
                </c:pt>
                <c:pt idx="4">
                  <c:v>2036 Total</c:v>
                </c:pt>
              </c:strCache>
            </c:strRef>
          </c:cat>
          <c:val>
            <c:numRef>
              <c:numCache>
                <c:formatCode>General</c:formatCode>
                <c:ptCount val="5"/>
                <c:pt idx="0">
                  <c:v>398.104</c:v>
                </c:pt>
                <c:pt idx="1">
                  <c:v>226.7</c:v>
                </c:pt>
                <c:pt idx="2">
                  <c:v>42.495999999999995</c:v>
                </c:pt>
                <c:pt idx="3">
                  <c:v>101.552</c:v>
                </c:pt>
                <c:pt idx="4">
                  <c:v>768.852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Mineral Ceramide Sunscreen</c:v>
                </c:pt>
                <c:pt idx="1">
                  <c:v>Chemical Ceramide Sunscreen</c:v>
                </c:pt>
                <c:pt idx="2">
                  <c:v>Hybrid Ceramide Sunscreen</c:v>
                </c:pt>
                <c:pt idx="3">
                  <c:v>Total Absolute $ Opportunity</c:v>
                </c:pt>
              </c:strCache>
            </c:strRef>
          </c:cat>
          <c:val>
            <c:numRef>
              <c:numCache>
                <c:formatCode>General</c:formatCode>
                <c:ptCount val="4"/>
                <c:pt idx="0">
                  <c:v>0.0</c:v>
                </c:pt>
                <c:pt idx="1">
                  <c:v>226.7</c:v>
                </c:pt>
                <c:pt idx="2">
                  <c:v>269.19599999999997</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Mineral Ceramide Sunscreen</c:v>
                </c:pt>
                <c:pt idx="1">
                  <c:v>Chemical Ceramide Sunscreen</c:v>
                </c:pt>
                <c:pt idx="2">
                  <c:v>Hybrid Ceramide Sunscreen</c:v>
                </c:pt>
                <c:pt idx="3">
                  <c:v>Total Absolute $ Opportunity</c:v>
                </c:pt>
              </c:strCache>
            </c:strRef>
          </c:cat>
          <c:val>
            <c:numRef>
              <c:numCache>
                <c:formatCode>General</c:formatCode>
                <c:ptCount val="4"/>
                <c:pt idx="0">
                  <c:v>226.7</c:v>
                </c:pt>
                <c:pt idx="1">
                  <c:v>42.495999999999995</c:v>
                </c:pt>
                <c:pt idx="2">
                  <c:v>101.552</c:v>
                </c:pt>
                <c:pt idx="3">
                  <c:v>370.748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Cream-based Sunscreen</c:v>
                </c:pt>
                <c:pt idx="2">
                  <c:v>Lotion-based Sunscreen</c:v>
                </c:pt>
                <c:pt idx="3">
                  <c:v>Gel-based Sunscreen</c:v>
                </c:pt>
                <c:pt idx="4">
                  <c:v>Stick-based Sunscreen</c:v>
                </c:pt>
                <c:pt idx="5">
                  <c:v>Other Forms</c:v>
                </c:pt>
                <c:pt idx="6">
                  <c:v>2036 Total</c:v>
                </c:pt>
              </c:strCache>
            </c:strRef>
          </c:cat>
          <c:val>
            <c:numRef>
              <c:numCache>
                <c:formatCode>General</c:formatCode>
                <c:ptCount val="7"/>
                <c:pt idx="0">
                  <c:v>0.0</c:v>
                </c:pt>
                <c:pt idx="1">
                  <c:v>398.104</c:v>
                </c:pt>
                <c:pt idx="2">
                  <c:v>441.17199999999997</c:v>
                </c:pt>
                <c:pt idx="3">
                  <c:v>507.419</c:v>
                </c:pt>
                <c:pt idx="4">
                  <c:v>542.3629999999999</c:v>
                </c:pt>
                <c:pt idx="5">
                  <c:v>682.903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Cream-based Sunscreen</c:v>
                </c:pt>
                <c:pt idx="2">
                  <c:v>Lotion-based Sunscreen</c:v>
                </c:pt>
                <c:pt idx="3">
                  <c:v>Gel-based Sunscreen</c:v>
                </c:pt>
                <c:pt idx="4">
                  <c:v>Stick-based Sunscreen</c:v>
                </c:pt>
                <c:pt idx="5">
                  <c:v>Other Forms</c:v>
                </c:pt>
                <c:pt idx="6">
                  <c:v>2036 Total</c:v>
                </c:pt>
              </c:strCache>
            </c:strRef>
          </c:cat>
          <c:val>
            <c:numRef>
              <c:numCache>
                <c:formatCode>General</c:formatCode>
                <c:ptCount val="7"/>
                <c:pt idx="0">
                  <c:v>398.104</c:v>
                </c:pt>
                <c:pt idx="1">
                  <c:v>43.06799999999999</c:v>
                </c:pt>
                <c:pt idx="2">
                  <c:v>66.247</c:v>
                </c:pt>
                <c:pt idx="3">
                  <c:v>34.94399999999999</c:v>
                </c:pt>
                <c:pt idx="4">
                  <c:v>140.54000000000002</c:v>
                </c:pt>
                <c:pt idx="5">
                  <c:v>85.94899999999998</c:v>
                </c:pt>
                <c:pt idx="6">
                  <c:v>768.8520000000001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Cream-based Sunscreen</c:v>
                </c:pt>
                <c:pt idx="1">
                  <c:v>Lotion-based Sunscreen</c:v>
                </c:pt>
                <c:pt idx="2">
                  <c:v>Gel-based Sunscreen</c:v>
                </c:pt>
                <c:pt idx="3">
                  <c:v>Stick-based Sunscreen</c:v>
                </c:pt>
                <c:pt idx="4">
                  <c:v>Other Forms</c:v>
                </c:pt>
                <c:pt idx="5">
                  <c:v>Total Absolute $ Opportunity</c:v>
                </c:pt>
              </c:strCache>
            </c:strRef>
          </c:cat>
          <c:val>
            <c:numRef>
              <c:numCache>
                <c:formatCode>General</c:formatCode>
                <c:ptCount val="6"/>
                <c:pt idx="0">
                  <c:v>0.0</c:v>
                </c:pt>
                <c:pt idx="1">
                  <c:v>43.06799999999999</c:v>
                </c:pt>
                <c:pt idx="2">
                  <c:v>109.315</c:v>
                </c:pt>
                <c:pt idx="3">
                  <c:v>144.259</c:v>
                </c:pt>
                <c:pt idx="4">
                  <c:v>284.799</c:v>
                </c:pt>
                <c:pt idx="5">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Cream-based Sunscreen</c:v>
                </c:pt>
                <c:pt idx="1">
                  <c:v>Lotion-based Sunscreen</c:v>
                </c:pt>
                <c:pt idx="2">
                  <c:v>Gel-based Sunscreen</c:v>
                </c:pt>
                <c:pt idx="3">
                  <c:v>Stick-based Sunscreen</c:v>
                </c:pt>
                <c:pt idx="4">
                  <c:v>Other Forms</c:v>
                </c:pt>
                <c:pt idx="5">
                  <c:v>Total Absolute $ Opportunity</c:v>
                </c:pt>
              </c:strCache>
            </c:strRef>
          </c:cat>
          <c:val>
            <c:numRef>
              <c:numCache>
                <c:formatCode>General</c:formatCode>
                <c:ptCount val="6"/>
                <c:pt idx="0">
                  <c:v>43.06799999999999</c:v>
                </c:pt>
                <c:pt idx="1">
                  <c:v>66.247</c:v>
                </c:pt>
                <c:pt idx="2">
                  <c:v>34.94399999999999</c:v>
                </c:pt>
                <c:pt idx="3">
                  <c:v>140.54000000000002</c:v>
                </c:pt>
                <c:pt idx="4">
                  <c:v>85.94899999999998</c:v>
                </c:pt>
                <c:pt idx="5">
                  <c:v>370.74799999999993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Below SPF 30</c:v>
                </c:pt>
                <c:pt idx="2">
                  <c:v>SPF 30–49</c:v>
                </c:pt>
                <c:pt idx="3">
                  <c:v>SPF 50</c:v>
                </c:pt>
                <c:pt idx="4">
                  <c:v>Above SPF 50</c:v>
                </c:pt>
                <c:pt idx="5">
                  <c:v>2036 Total</c:v>
                </c:pt>
              </c:strCache>
            </c:strRef>
          </c:cat>
          <c:val>
            <c:numRef>
              <c:numCache>
                <c:formatCode>General</c:formatCode>
                <c:ptCount val="6"/>
                <c:pt idx="0">
                  <c:v>0.0</c:v>
                </c:pt>
                <c:pt idx="1">
                  <c:v>398.104</c:v>
                </c:pt>
                <c:pt idx="2">
                  <c:v>454.644</c:v>
                </c:pt>
                <c:pt idx="3">
                  <c:v>502.032</c:v>
                </c:pt>
                <c:pt idx="4">
                  <c:v>627.039</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Below SPF 30</c:v>
                </c:pt>
                <c:pt idx="2">
                  <c:v>SPF 30–49</c:v>
                </c:pt>
                <c:pt idx="3">
                  <c:v>SPF 50</c:v>
                </c:pt>
                <c:pt idx="4">
                  <c:v>Above SPF 50</c:v>
                </c:pt>
                <c:pt idx="5">
                  <c:v>2036 Total</c:v>
                </c:pt>
              </c:strCache>
            </c:strRef>
          </c:cat>
          <c:val>
            <c:numRef>
              <c:numCache>
                <c:formatCode>General</c:formatCode>
                <c:ptCount val="6"/>
                <c:pt idx="0">
                  <c:v>398.104</c:v>
                </c:pt>
                <c:pt idx="1">
                  <c:v>56.53999999999999</c:v>
                </c:pt>
                <c:pt idx="2">
                  <c:v>47.38799999999999</c:v>
                </c:pt>
                <c:pt idx="3">
                  <c:v>125.007</c:v>
                </c:pt>
                <c:pt idx="4">
                  <c:v>141.813</c:v>
                </c:pt>
                <c:pt idx="5">
                  <c:v>768.8520000000001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Below SPF 30</c:v>
                </c:pt>
                <c:pt idx="1">
                  <c:v>SPF 30–49</c:v>
                </c:pt>
                <c:pt idx="2">
                  <c:v>SPF 50</c:v>
                </c:pt>
                <c:pt idx="3">
                  <c:v>Above SPF 50</c:v>
                </c:pt>
                <c:pt idx="4">
                  <c:v>Total Absolute $ Opportunity</c:v>
                </c:pt>
              </c:strCache>
            </c:strRef>
          </c:cat>
          <c:val>
            <c:numRef>
              <c:numCache>
                <c:formatCode>General</c:formatCode>
                <c:ptCount val="5"/>
                <c:pt idx="0">
                  <c:v>0.0</c:v>
                </c:pt>
                <c:pt idx="1">
                  <c:v>56.53999999999999</c:v>
                </c:pt>
                <c:pt idx="2">
                  <c:v>103.92799999999998</c:v>
                </c:pt>
                <c:pt idx="3">
                  <c:v>228.935</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Below SPF 30</c:v>
                </c:pt>
                <c:pt idx="1">
                  <c:v>SPF 30–49</c:v>
                </c:pt>
                <c:pt idx="2">
                  <c:v>SPF 50</c:v>
                </c:pt>
                <c:pt idx="3">
                  <c:v>Above SPF 50</c:v>
                </c:pt>
                <c:pt idx="4">
                  <c:v>Total Absolute $ Opportunity</c:v>
                </c:pt>
              </c:strCache>
            </c:strRef>
          </c:cat>
          <c:val>
            <c:numRef>
              <c:numCache>
                <c:formatCode>General</c:formatCode>
                <c:ptCount val="5"/>
                <c:pt idx="0">
                  <c:v>56.53999999999999</c:v>
                </c:pt>
                <c:pt idx="1">
                  <c:v>47.38799999999999</c:v>
                </c:pt>
                <c:pt idx="2">
                  <c:v>125.007</c:v>
                </c:pt>
                <c:pt idx="3">
                  <c:v>141.813</c:v>
                </c:pt>
                <c:pt idx="4">
                  <c:v>370.748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Regular Ingredients</c:v>
                </c:pt>
                <c:pt idx="2">
                  <c:v>Niche Ingredients</c:v>
                </c:pt>
                <c:pt idx="3">
                  <c:v>Emerging Ingredients</c:v>
                </c:pt>
                <c:pt idx="4">
                  <c:v>2036 Total</c:v>
                </c:pt>
              </c:strCache>
            </c:strRef>
          </c:cat>
          <c:val>
            <c:numRef>
              <c:numCache>
                <c:formatCode>General</c:formatCode>
                <c:ptCount val="5"/>
                <c:pt idx="0">
                  <c:v>0.0</c:v>
                </c:pt>
                <c:pt idx="1">
                  <c:v>398.10400000000004</c:v>
                </c:pt>
                <c:pt idx="2">
                  <c:v>575.008</c:v>
                </c:pt>
                <c:pt idx="3">
                  <c:v>630.0550000000001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Regular Ingredients</c:v>
                </c:pt>
                <c:pt idx="2">
                  <c:v>Niche Ingredients</c:v>
                </c:pt>
                <c:pt idx="3">
                  <c:v>Emerging Ingredients</c:v>
                </c:pt>
                <c:pt idx="4">
                  <c:v>2036 Total</c:v>
                </c:pt>
              </c:strCache>
            </c:strRef>
          </c:cat>
          <c:val>
            <c:numRef>
              <c:numCache>
                <c:formatCode>General</c:formatCode>
                <c:ptCount val="5"/>
                <c:pt idx="0">
                  <c:v>398.10400000000004</c:v>
                </c:pt>
                <c:pt idx="1">
                  <c:v>176.90400000000002</c:v>
                </c:pt>
                <c:pt idx="2">
                  <c:v>55.04700000000001</c:v>
                </c:pt>
                <c:pt idx="3">
                  <c:v>138.797</c:v>
                </c:pt>
                <c:pt idx="4">
                  <c:v>768.8520000000001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Regular Ingredients</c:v>
                </c:pt>
                <c:pt idx="1">
                  <c:v>Niche Ingredients</c:v>
                </c:pt>
                <c:pt idx="2">
                  <c:v>Emerging Ingredients</c:v>
                </c:pt>
                <c:pt idx="3">
                  <c:v>Total Absolute $ Opportunity</c:v>
                </c:pt>
              </c:strCache>
            </c:strRef>
          </c:cat>
          <c:val>
            <c:numRef>
              <c:numCache>
                <c:formatCode>General</c:formatCode>
                <c:ptCount val="4"/>
                <c:pt idx="0">
                  <c:v>0.0</c:v>
                </c:pt>
                <c:pt idx="1">
                  <c:v>176.90400000000002</c:v>
                </c:pt>
                <c:pt idx="2">
                  <c:v>231.95100000000002</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Regular Ingredients</c:v>
                </c:pt>
                <c:pt idx="1">
                  <c:v>Niche Ingredients</c:v>
                </c:pt>
                <c:pt idx="2">
                  <c:v>Emerging Ingredients</c:v>
                </c:pt>
                <c:pt idx="3">
                  <c:v>Total Absolute $ Opportunity</c:v>
                </c:pt>
              </c:strCache>
            </c:strRef>
          </c:cat>
          <c:val>
            <c:numRef>
              <c:numCache>
                <c:formatCode>General</c:formatCode>
                <c:ptCount val="4"/>
                <c:pt idx="0">
                  <c:v>176.90400000000002</c:v>
                </c:pt>
                <c:pt idx="1">
                  <c:v>55.04700000000001</c:v>
                </c:pt>
                <c:pt idx="2">
                  <c:v>138.797</c:v>
                </c:pt>
                <c:pt idx="3">
                  <c:v>370.74800000000005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Facial Sunscreen</c:v>
                </c:pt>
                <c:pt idx="2">
                  <c:v>Body Sunscreen</c:v>
                </c:pt>
                <c:pt idx="3">
                  <c:v>Face &amp; Body Sunscreen</c:v>
                </c:pt>
                <c:pt idx="4">
                  <c:v>Lip Sunscreen</c:v>
                </c:pt>
                <c:pt idx="5">
                  <c:v>2036 Total</c:v>
                </c:pt>
              </c:strCache>
            </c:strRef>
          </c:cat>
          <c:val>
            <c:numRef>
              <c:numCache>
                <c:formatCode>General</c:formatCode>
                <c:ptCount val="6"/>
                <c:pt idx="0">
                  <c:v>0.0</c:v>
                </c:pt>
                <c:pt idx="1">
                  <c:v>398.104</c:v>
                </c:pt>
                <c:pt idx="2">
                  <c:v>552.573</c:v>
                </c:pt>
                <c:pt idx="3">
                  <c:v>645.399</c:v>
                </c:pt>
                <c:pt idx="4">
                  <c:v>704.068</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Facial Sunscreen</c:v>
                </c:pt>
                <c:pt idx="2">
                  <c:v>Body Sunscreen</c:v>
                </c:pt>
                <c:pt idx="3">
                  <c:v>Face &amp; Body Sunscreen</c:v>
                </c:pt>
                <c:pt idx="4">
                  <c:v>Lip Sunscreen</c:v>
                </c:pt>
                <c:pt idx="5">
                  <c:v>2036 Total</c:v>
                </c:pt>
              </c:strCache>
            </c:strRef>
          </c:cat>
          <c:val>
            <c:numRef>
              <c:numCache>
                <c:formatCode>General</c:formatCode>
                <c:ptCount val="6"/>
                <c:pt idx="0">
                  <c:v>398.104</c:v>
                </c:pt>
                <c:pt idx="1">
                  <c:v>154.469</c:v>
                </c:pt>
                <c:pt idx="2">
                  <c:v>92.82600000000001</c:v>
                </c:pt>
                <c:pt idx="3">
                  <c:v>58.669000000000004</c:v>
                </c:pt>
                <c:pt idx="4">
                  <c:v>64.78399999999999</c:v>
                </c:pt>
                <c:pt idx="5">
                  <c:v>768.852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Facial Sunscreen</c:v>
                </c:pt>
                <c:pt idx="1">
                  <c:v>Body Sunscreen</c:v>
                </c:pt>
                <c:pt idx="2">
                  <c:v>Face &amp; Body Sunscreen</c:v>
                </c:pt>
                <c:pt idx="3">
                  <c:v>Lip Sunscreen</c:v>
                </c:pt>
                <c:pt idx="4">
                  <c:v>Total Absolute $ Opportunity</c:v>
                </c:pt>
              </c:strCache>
            </c:strRef>
          </c:cat>
          <c:val>
            <c:numRef>
              <c:numCache>
                <c:formatCode>General</c:formatCode>
                <c:ptCount val="5"/>
                <c:pt idx="0">
                  <c:v>0.0</c:v>
                </c:pt>
                <c:pt idx="1">
                  <c:v>154.469</c:v>
                </c:pt>
                <c:pt idx="2">
                  <c:v>247.29500000000002</c:v>
                </c:pt>
                <c:pt idx="3">
                  <c:v>305.964</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Facial Sunscreen</c:v>
                </c:pt>
                <c:pt idx="1">
                  <c:v>Body Sunscreen</c:v>
                </c:pt>
                <c:pt idx="2">
                  <c:v>Face &amp; Body Sunscreen</c:v>
                </c:pt>
                <c:pt idx="3">
                  <c:v>Lip Sunscreen</c:v>
                </c:pt>
                <c:pt idx="4">
                  <c:v>Total Absolute $ Opportunity</c:v>
                </c:pt>
              </c:strCache>
            </c:strRef>
          </c:cat>
          <c:val>
            <c:numRef>
              <c:numCache>
                <c:formatCode>General</c:formatCode>
                <c:ptCount val="5"/>
                <c:pt idx="0">
                  <c:v>154.469</c:v>
                </c:pt>
                <c:pt idx="1">
                  <c:v>92.82600000000001</c:v>
                </c:pt>
                <c:pt idx="2">
                  <c:v>58.669000000000004</c:v>
                </c:pt>
                <c:pt idx="3">
                  <c:v>64.78399999999999</c:v>
                </c:pt>
                <c:pt idx="4">
                  <c:v>370.748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Up to 30 g/ml</c:v>
                </c:pt>
                <c:pt idx="2">
                  <c:v>Above 30–50 g/ml</c:v>
                </c:pt>
                <c:pt idx="3">
                  <c:v>Above 50–100 g/ml</c:v>
                </c:pt>
                <c:pt idx="4">
                  <c:v>Above 100–200 g/ml</c:v>
                </c:pt>
                <c:pt idx="5">
                  <c:v>Above 200 g/ml</c:v>
                </c:pt>
                <c:pt idx="6">
                  <c:v>2036 Total</c:v>
                </c:pt>
              </c:strCache>
            </c:strRef>
          </c:cat>
          <c:val>
            <c:numRef>
              <c:numCache>
                <c:formatCode>General</c:formatCode>
                <c:ptCount val="7"/>
                <c:pt idx="0">
                  <c:v>0.0</c:v>
                </c:pt>
                <c:pt idx="1">
                  <c:v>398.10400000000004</c:v>
                </c:pt>
                <c:pt idx="2">
                  <c:v>497.88200000000006</c:v>
                </c:pt>
                <c:pt idx="3">
                  <c:v>576.498</c:v>
                </c:pt>
                <c:pt idx="4">
                  <c:v>588.9630000000001</c:v>
                </c:pt>
                <c:pt idx="5">
                  <c:v>661.642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Up to 30 g/ml</c:v>
                </c:pt>
                <c:pt idx="2">
                  <c:v>Above 30–50 g/ml</c:v>
                </c:pt>
                <c:pt idx="3">
                  <c:v>Above 50–100 g/ml</c:v>
                </c:pt>
                <c:pt idx="4">
                  <c:v>Above 100–200 g/ml</c:v>
                </c:pt>
                <c:pt idx="5">
                  <c:v>Above 200 g/ml</c:v>
                </c:pt>
                <c:pt idx="6">
                  <c:v>2036 Total</c:v>
                </c:pt>
              </c:strCache>
            </c:strRef>
          </c:cat>
          <c:val>
            <c:numRef>
              <c:numCache>
                <c:formatCode>General</c:formatCode>
                <c:ptCount val="7"/>
                <c:pt idx="0">
                  <c:v>398.10400000000004</c:v>
                </c:pt>
                <c:pt idx="1">
                  <c:v>99.778</c:v>
                </c:pt>
                <c:pt idx="2">
                  <c:v>78.61600000000001</c:v>
                </c:pt>
                <c:pt idx="3">
                  <c:v>12.464999999999996</c:v>
                </c:pt>
                <c:pt idx="4">
                  <c:v>72.679</c:v>
                </c:pt>
                <c:pt idx="5">
                  <c:v>107.21</c:v>
                </c:pt>
                <c:pt idx="6">
                  <c:v>768.8520000000001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Up to 30 g/ml</c:v>
                </c:pt>
                <c:pt idx="1">
                  <c:v>Above 30–50 g/ml</c:v>
                </c:pt>
                <c:pt idx="2">
                  <c:v>Above 50–100 g/ml</c:v>
                </c:pt>
                <c:pt idx="3">
                  <c:v>Above 100–200 g/ml</c:v>
                </c:pt>
                <c:pt idx="4">
                  <c:v>Above 200 g/ml</c:v>
                </c:pt>
                <c:pt idx="5">
                  <c:v>Total Absolute $ Opportunity</c:v>
                </c:pt>
              </c:strCache>
            </c:strRef>
          </c:cat>
          <c:val>
            <c:numRef>
              <c:numCache>
                <c:formatCode>General</c:formatCode>
                <c:ptCount val="6"/>
                <c:pt idx="0">
                  <c:v>0.0</c:v>
                </c:pt>
                <c:pt idx="1">
                  <c:v>99.778</c:v>
                </c:pt>
                <c:pt idx="2">
                  <c:v>178.394</c:v>
                </c:pt>
                <c:pt idx="3">
                  <c:v>190.859</c:v>
                </c:pt>
                <c:pt idx="4">
                  <c:v>263.538</c:v>
                </c:pt>
                <c:pt idx="5">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Up to 30 g/ml</c:v>
                </c:pt>
                <c:pt idx="1">
                  <c:v>Above 30–50 g/ml</c:v>
                </c:pt>
                <c:pt idx="2">
                  <c:v>Above 50–100 g/ml</c:v>
                </c:pt>
                <c:pt idx="3">
                  <c:v>Above 100–200 g/ml</c:v>
                </c:pt>
                <c:pt idx="4">
                  <c:v>Above 200 g/ml</c:v>
                </c:pt>
                <c:pt idx="5">
                  <c:v>Total Absolute $ Opportunity</c:v>
                </c:pt>
              </c:strCache>
            </c:strRef>
          </c:cat>
          <c:val>
            <c:numRef>
              <c:numCache>
                <c:formatCode>General</c:formatCode>
                <c:ptCount val="6"/>
                <c:pt idx="0">
                  <c:v>99.778</c:v>
                </c:pt>
                <c:pt idx="1">
                  <c:v>78.61600000000001</c:v>
                </c:pt>
                <c:pt idx="2">
                  <c:v>12.464999999999996</c:v>
                </c:pt>
                <c:pt idx="3">
                  <c:v>72.679</c:v>
                </c:pt>
                <c:pt idx="4">
                  <c:v>107.21</c:v>
                </c:pt>
                <c:pt idx="5">
                  <c:v>370.748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Mass Market</c:v>
                </c:pt>
                <c:pt idx="2">
                  <c:v>Masstige</c:v>
                </c:pt>
                <c:pt idx="3">
                  <c:v>Premium</c:v>
                </c:pt>
                <c:pt idx="4">
                  <c:v>Prestige / Luxury</c:v>
                </c:pt>
                <c:pt idx="5">
                  <c:v>2036 Total</c:v>
                </c:pt>
              </c:strCache>
            </c:strRef>
          </c:cat>
          <c:val>
            <c:numRef>
              <c:numCache>
                <c:formatCode>General</c:formatCode>
                <c:ptCount val="6"/>
                <c:pt idx="0">
                  <c:v>0.0</c:v>
                </c:pt>
                <c:pt idx="1">
                  <c:v>398.10400000000004</c:v>
                </c:pt>
                <c:pt idx="2">
                  <c:v>643.232</c:v>
                </c:pt>
                <c:pt idx="3">
                  <c:v>666.179</c:v>
                </c:pt>
                <c:pt idx="4">
                  <c:v>708.901</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Mass Market</c:v>
                </c:pt>
                <c:pt idx="2">
                  <c:v>Masstige</c:v>
                </c:pt>
                <c:pt idx="3">
                  <c:v>Premium</c:v>
                </c:pt>
                <c:pt idx="4">
                  <c:v>Prestige / Luxury</c:v>
                </c:pt>
                <c:pt idx="5">
                  <c:v>2036 Total</c:v>
                </c:pt>
              </c:strCache>
            </c:strRef>
          </c:cat>
          <c:val>
            <c:numRef>
              <c:numCache>
                <c:formatCode>General</c:formatCode>
                <c:ptCount val="6"/>
                <c:pt idx="0">
                  <c:v>398.10400000000004</c:v>
                </c:pt>
                <c:pt idx="1">
                  <c:v>245.128</c:v>
                </c:pt>
                <c:pt idx="2">
                  <c:v>22.947000000000003</c:v>
                </c:pt>
                <c:pt idx="3">
                  <c:v>42.722</c:v>
                </c:pt>
                <c:pt idx="4">
                  <c:v>59.95099999999999</c:v>
                </c:pt>
                <c:pt idx="5">
                  <c:v>768.8520000000001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Mass Market</c:v>
                </c:pt>
                <c:pt idx="1">
                  <c:v>Masstige</c:v>
                </c:pt>
                <c:pt idx="2">
                  <c:v>Premium</c:v>
                </c:pt>
                <c:pt idx="3">
                  <c:v>Prestige / Luxury</c:v>
                </c:pt>
                <c:pt idx="4">
                  <c:v>Total Absolute $ Opportunity</c:v>
                </c:pt>
              </c:strCache>
            </c:strRef>
          </c:cat>
          <c:val>
            <c:numRef>
              <c:numCache>
                <c:formatCode>General</c:formatCode>
                <c:ptCount val="5"/>
                <c:pt idx="0">
                  <c:v>0.0</c:v>
                </c:pt>
                <c:pt idx="1">
                  <c:v>245.128</c:v>
                </c:pt>
                <c:pt idx="2">
                  <c:v>268.075</c:v>
                </c:pt>
                <c:pt idx="3">
                  <c:v>310.79699999999997</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Mass Market</c:v>
                </c:pt>
                <c:pt idx="1">
                  <c:v>Masstige</c:v>
                </c:pt>
                <c:pt idx="2">
                  <c:v>Premium</c:v>
                </c:pt>
                <c:pt idx="3">
                  <c:v>Prestige / Luxury</c:v>
                </c:pt>
                <c:pt idx="4">
                  <c:v>Total Absolute $ Opportunity</c:v>
                </c:pt>
              </c:strCache>
            </c:strRef>
          </c:cat>
          <c:val>
            <c:numRef>
              <c:numCache>
                <c:formatCode>General</c:formatCode>
                <c:ptCount val="5"/>
                <c:pt idx="0">
                  <c:v>245.128</c:v>
                </c:pt>
                <c:pt idx="1">
                  <c:v>22.947000000000003</c:v>
                </c:pt>
                <c:pt idx="2">
                  <c:v>42.722</c:v>
                </c:pt>
                <c:pt idx="3">
                  <c:v>59.95099999999999</c:v>
                </c:pt>
                <c:pt idx="4">
                  <c:v>370.74799999999993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Online</c:v>
                </c:pt>
                <c:pt idx="2">
                  <c:v>Offline</c:v>
                </c:pt>
                <c:pt idx="3">
                  <c:v>2036 Total</c:v>
                </c:pt>
              </c:strCache>
            </c:strRef>
          </c:cat>
          <c:val>
            <c:numRef>
              <c:numCache>
                <c:formatCode>General</c:formatCode>
                <c:ptCount val="4"/>
                <c:pt idx="0">
                  <c:v>0.0</c:v>
                </c:pt>
                <c:pt idx="1">
                  <c:v>398.104</c:v>
                </c:pt>
                <c:pt idx="2">
                  <c:v>494.239</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Online</c:v>
                </c:pt>
                <c:pt idx="2">
                  <c:v>Offline</c:v>
                </c:pt>
                <c:pt idx="3">
                  <c:v>2036 Total</c:v>
                </c:pt>
              </c:strCache>
            </c:strRef>
          </c:cat>
          <c:val>
            <c:numRef>
              <c:numCache>
                <c:formatCode>General</c:formatCode>
                <c:ptCount val="4"/>
                <c:pt idx="0">
                  <c:v>398.104</c:v>
                </c:pt>
                <c:pt idx="1">
                  <c:v>96.13499999999999</c:v>
                </c:pt>
                <c:pt idx="2">
                  <c:v>274.613</c:v>
                </c:pt>
                <c:pt idx="3">
                  <c:v>768.852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Online</c:v>
                </c:pt>
                <c:pt idx="1">
                  <c:v>Offline</c:v>
                </c:pt>
                <c:pt idx="2">
                  <c:v>Total Absolute $ Opportunity</c:v>
                </c:pt>
              </c:strCache>
            </c:strRef>
          </c:cat>
          <c:val>
            <c:numRef>
              <c:numCache>
                <c:formatCode>General</c:formatCode>
                <c:ptCount val="3"/>
                <c:pt idx="0">
                  <c:v>0.0</c:v>
                </c:pt>
                <c:pt idx="1">
                  <c:v>96.13499999999999</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Online</c:v>
                </c:pt>
                <c:pt idx="1">
                  <c:v>Offline</c:v>
                </c:pt>
                <c:pt idx="2">
                  <c:v>Total Absolute $ Opportunity</c:v>
                </c:pt>
              </c:strCache>
            </c:strRef>
          </c:cat>
          <c:val>
            <c:numRef>
              <c:numCache>
                <c:formatCode>General</c:formatCode>
                <c:ptCount val="3"/>
                <c:pt idx="0">
                  <c:v>96.13499999999999</c:v>
                </c:pt>
                <c:pt idx="1">
                  <c:v>274.613</c:v>
                </c:pt>
                <c:pt idx="2">
                  <c:v>370.748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Chemical Ceramide Sunscreen</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5019.0</c:v>
                </c:pt>
                <c:pt idx="1">
                  <c:v>5034.0</c:v>
                </c:pt>
                <c:pt idx="2">
                  <c:v>5055.0</c:v>
                </c:pt>
                <c:pt idx="3">
                  <c:v>5087.0</c:v>
                </c:pt>
                <c:pt idx="4">
                  <c:v>5136.0</c:v>
                </c:pt>
                <c:pt idx="5">
                  <c:v>5204.0</c:v>
                </c:pt>
                <c:pt idx="6">
                  <c:v>5246.0</c:v>
                </c:pt>
                <c:pt idx="7">
                  <c:v>5299.0</c:v>
                </c:pt>
                <c:pt idx="8">
                  <c:v>5354.0</c:v>
                </c:pt>
                <c:pt idx="9">
                  <c:v>5402.0</c:v>
                </c:pt>
                <c:pt idx="10">
                  <c:v>5445.0</c:v>
                </c:pt>
                <c:pt idx="11">
                  <c:v>5478.0</c:v>
                </c:pt>
                <c:pt idx="12">
                  <c:v>5505.0</c:v>
                </c:pt>
                <c:pt idx="13">
                  <c:v>5531.0</c:v>
                </c:pt>
                <c:pt idx="14">
                  <c:v>5550.0</c:v>
                </c:pt>
                <c:pt idx="15">
                  <c:v>5561.0</c:v>
                </c:pt>
              </c:numCache>
            </c:numRef>
          </c:val>
          <c:smooth val="0"/>
        </c:ser>
        <c:ser>
          <c:idx val="1"/>
          <c:order val="1"/>
          <c:tx>
            <c:strRef>
              <c:strCache>
                <c:ptCount val="1"/>
                <c:pt idx="0">
                  <c:v>Mineral Ceramide Sunscreen</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3944.0</c:v>
                </c:pt>
                <c:pt idx="1">
                  <c:v>3963.0</c:v>
                </c:pt>
                <c:pt idx="2">
                  <c:v>3986.0</c:v>
                </c:pt>
                <c:pt idx="3">
                  <c:v>4009.0</c:v>
                </c:pt>
                <c:pt idx="4">
                  <c:v>4030.0</c:v>
                </c:pt>
                <c:pt idx="5">
                  <c:v>4047.0</c:v>
                </c:pt>
                <c:pt idx="6">
                  <c:v>4071.0</c:v>
                </c:pt>
                <c:pt idx="7">
                  <c:v>4092.0</c:v>
                </c:pt>
                <c:pt idx="8">
                  <c:v>4108.0</c:v>
                </c:pt>
                <c:pt idx="9">
                  <c:v>4124.0</c:v>
                </c:pt>
                <c:pt idx="10">
                  <c:v>4140.0</c:v>
                </c:pt>
                <c:pt idx="11">
                  <c:v>4160.0</c:v>
                </c:pt>
                <c:pt idx="12">
                  <c:v>4182.0</c:v>
                </c:pt>
                <c:pt idx="13">
                  <c:v>4205.0</c:v>
                </c:pt>
                <c:pt idx="14">
                  <c:v>4226.0</c:v>
                </c:pt>
                <c:pt idx="15">
                  <c:v>4246.0</c:v>
                </c:pt>
              </c:numCache>
            </c:numRef>
          </c:val>
          <c:smooth val="0"/>
        </c:ser>
        <c:ser>
          <c:idx val="2"/>
          <c:order val="2"/>
          <c:tx>
            <c:strRef>
              <c:strCache>
                <c:ptCount val="1"/>
                <c:pt idx="0">
                  <c:v>Hybrid Ceramide Sunscreen</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3749.0</c:v>
                </c:pt>
                <c:pt idx="1">
                  <c:v>3761.0</c:v>
                </c:pt>
                <c:pt idx="2">
                  <c:v>3780.0</c:v>
                </c:pt>
                <c:pt idx="3">
                  <c:v>3809.0</c:v>
                </c:pt>
                <c:pt idx="4">
                  <c:v>3846.0</c:v>
                </c:pt>
                <c:pt idx="5">
                  <c:v>3888.0</c:v>
                </c:pt>
                <c:pt idx="6">
                  <c:v>3892.0</c:v>
                </c:pt>
                <c:pt idx="7">
                  <c:v>3902.0</c:v>
                </c:pt>
                <c:pt idx="8">
                  <c:v>3918.0</c:v>
                </c:pt>
                <c:pt idx="9">
                  <c:v>3940.0</c:v>
                </c:pt>
                <c:pt idx="10">
                  <c:v>3965.0</c:v>
                </c:pt>
                <c:pt idx="11">
                  <c:v>3994.0</c:v>
                </c:pt>
                <c:pt idx="12">
                  <c:v>4028.0</c:v>
                </c:pt>
                <c:pt idx="13">
                  <c:v>4066.0</c:v>
                </c:pt>
                <c:pt idx="14">
                  <c:v>4109.0</c:v>
                </c:pt>
                <c:pt idx="15">
                  <c:v>4156.0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6000.0"/>
          <c:min val="35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C55A11"/>
              </a:solidFill>
            </c:spPr>
          </c:dPt>
          <c:cat>
            <c:strRef>
              <c:strCache>
                <c:ptCount val="3"/>
                <c:pt idx="0">
                  <c:v>Hybrid Ceramide Sunscreen</c:v>
                </c:pt>
                <c:pt idx="1">
                  <c:v>Mineral Ceramide Sunscreen</c:v>
                </c:pt>
                <c:pt idx="2">
                  <c:v>Chemical Ceramide Sunscreen</c:v>
                </c:pt>
              </c:strCache>
            </c:strRef>
          </c:cat>
          <c:val>
            <c:numRef>
              <c:numCache>
                <c:formatCode>General</c:formatCode>
                <c:ptCount val="3"/>
                <c:pt idx="0">
                  <c:v>94.8</c:v>
                </c:pt>
                <c:pt idx="1">
                  <c:v>98.7</c:v>
                </c:pt>
                <c:pt idx="2">
                  <c:v>126.9</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29.0"/>
          <c:min val="92.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7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strCache>
                <c:ptCount val="1"/>
                <c:pt idx="0">
                  <c:v>Base</c:v>
                </c:pt>
              </c:strCache>
            </c:strRef>
          </c:tx>
          <c:spPr>
            <a:noFill/>
          </c:spPr>
          <c:cat>
            <c:strRef>
              <c:strCache>
                <c:ptCount val="3"/>
                <c:pt idx="0">
                  <c:v>Hybrid Ceramide Sunscreen</c:v>
                </c:pt>
                <c:pt idx="1">
                  <c:v>Mineral Ceramide Sunscreen</c:v>
                </c:pt>
                <c:pt idx="2">
                  <c:v>Chemical Ceramide Sunscreen</c:v>
                </c:pt>
              </c:strCache>
            </c:strRef>
          </c:cat>
          <c:val>
            <c:numRef>
              <c:numCache>
                <c:formatCode>General</c:formatCode>
                <c:ptCount val="3"/>
                <c:pt idx="0">
                  <c:v>2851</c:v>
                </c:pt>
                <c:pt idx="1">
                  <c:v>2856</c:v>
                </c:pt>
                <c:pt idx="2">
                  <c:v>3656</c:v>
                </c:pt>
              </c:numCache>
            </c:numRef>
          </c:val>
        </c:ser>
        <c:ser>
          <c:idx val="1"/>
          <c:order val="1"/>
          <c:tx>
            <c:strRef>
              <c:strCache>
                <c:ptCount val="1"/>
                <c:pt idx="0">
                  <c:v>Range</c:v>
                </c:pt>
              </c:strCache>
            </c:strRef>
          </c:tx>
          <c:spPr>
            <a:solidFill>
              <a:srgbClr val="008189"/>
            </a:solidFill>
          </c:spPr>
          <c:cat>
            <c:strRef>
              <c:strCache>
                <c:ptCount val="3"/>
                <c:pt idx="0">
                  <c:v>Hybrid Ceramide Sunscreen</c:v>
                </c:pt>
                <c:pt idx="1">
                  <c:v>Mineral Ceramide Sunscreen</c:v>
                </c:pt>
                <c:pt idx="2">
                  <c:v>Chemical Ceramide Sunscreen</c:v>
                </c:pt>
              </c:strCache>
            </c:strRef>
          </c:cat>
          <c:val>
            <c:numRef>
              <c:numCache>
                <c:formatCode>General</c:formatCode>
                <c:ptCount val="3"/>
                <c:pt idx="0">
                  <c:v>1701</c:v>
                </c:pt>
                <c:pt idx="1">
                  <c:v>1676</c:v>
                </c:pt>
                <c:pt idx="2">
                  <c:v>2268</c:v>
                </c:pt>
              </c:numCache>
            </c:numRef>
          </c:val>
        </c:ser>
        <c:gapWidth val="55"/>
        <c:overlap val="100"/>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6000.0"/>
          <c:min val="2000.0"/>
        </c:scaling>
        <c:delete val="0"/>
        <c:axPos val="b"/>
        <c:majorGridlines>
          <c:spPr>
            <a:ln>
              <a:solidFill>
                <a:srgbClr val="D9DEE4"/>
              </a:solidFill>
            </a:ln>
          </c:spPr>
        </c:majorGridlines>
        <c:numFmt formatCode="#,##0" sourceLinked="0"/>
        <c:majorTickMark val="out"/>
        <c:minorTickMark val="none"/>
        <c:tickLblPos val="none"/>
        <c:spPr>
          <a:ln>
            <a:noFill/>
          </a:ln>
        </c:spPr>
        <c:txPr>
          <a:bodyPr/>
          <a:lstStyle/>
          <a:p>
            <a:pPr>
              <a:defRPr sz="800">
                <a:solidFill>
                  <a:srgbClr val="59636E"/>
                </a:solidFill>
                <a:latin typeface="Calibri"/>
              </a:defRPr>
            </a:pPr>
          </a:p>
        </c:txPr>
        <c:crossAx val="-2068027336"/>
        <c:crosses val="autoZero"/>
        <c:majorUnit val="2000.0"/>
      </c:valAx>
    </c:plotArea>
    <c:dispBlanksAs val="gap"/>
  </c:chart>
  <c:txPr>
    <a:bodyPr/>
    <a:lstStyle/>
    <a:p>
      <a:pPr>
        <a:defRPr sz="1800"/>
      </a:pPr>
      <a:endParaRPr lang="en-US"/>
    </a:p>
  </c:txPr>
</c:chartSpace>
</file>

<file path=ppt/charts/chart18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129.5</c:v>
                </c:pt>
                <c:pt idx="1">
                  <c:v>115.7</c:v>
                </c:pt>
                <c:pt idx="2">
                  <c:v>91.1</c:v>
                </c:pt>
                <c:pt idx="3">
                  <c:v>86.2</c:v>
                </c:pt>
                <c:pt idx="4">
                  <c:v>67.4</c:v>
                </c:pt>
                <c:pt idx="5">
                  <c:v>58.4</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44.2</c:v>
                </c:pt>
                <c:pt idx="1">
                  <c:v>39.6</c:v>
                </c:pt>
                <c:pt idx="2">
                  <c:v>31.1</c:v>
                </c:pt>
                <c:pt idx="3">
                  <c:v>29.1</c:v>
                </c:pt>
                <c:pt idx="4">
                  <c:v>22.5</c:v>
                </c:pt>
                <c:pt idx="5">
                  <c:v>19.9</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75.0"/>
          <c:min val="55.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8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L'Oréal S.A.</c:v>
                </c:pt>
                <c:pt idx="1">
                  <c:v>Company Profile</c:v>
                </c:pt>
                <c:pt idx="2">
                  <c:v>Profile Element</c:v>
                </c:pt>
                <c:pt idx="3">
                  <c:v>Overview</c:v>
                </c:pt>
                <c:pt idx="4">
                  <c:v>Product Portfolio</c:v>
                </c:pt>
                <c:pt idx="5">
                  <c:v>Market Segments — Product Sales</c:v>
                </c:pt>
                <c:pt idx="6">
                  <c:v>Market Segments — Channel Sales</c:v>
                </c:pt>
                <c:pt idx="7">
                  <c:v>Market Segments — Regional Sales</c:v>
                </c:pt>
                <c:pt idx="8">
                  <c:v>Sales Footprint</c:v>
                </c:pt>
                <c:pt idx="9">
                  <c:v>Strategy Overview</c:v>
                </c:pt>
                <c:pt idx="10">
                  <c:v>Others</c:v>
                </c:pt>
              </c:strCache>
            </c:strRef>
          </c:cat>
          <c:val>
            <c:numRef>
              <c:numCache>
                <c:formatCode>General</c:formatCode>
                <c:ptCount val="11"/>
                <c:pt idx="0">
                  <c:v>15.401240790072533</c:v>
                </c:pt>
                <c:pt idx="1">
                  <c:v>13.483170759180723</c:v>
                </c:pt>
                <c:pt idx="2">
                  <c:v>9.29935288364539</c:v>
                </c:pt>
                <c:pt idx="3">
                  <c:v>6.532876475193235</c:v>
                </c:pt>
                <c:pt idx="4">
                  <c:v>6.473319829711896</c:v>
                </c:pt>
                <c:pt idx="5">
                  <c:v>6.433244680872183</c:v>
                </c:pt>
                <c:pt idx="6">
                  <c:v>5.150370028076766</c:v>
                </c:pt>
                <c:pt idx="7">
                  <c:v>3.1015192989370006</c:v>
                </c:pt>
                <c:pt idx="8">
                  <c:v>2.1645981368190896</c:v>
                </c:pt>
                <c:pt idx="9">
                  <c:v>2.1360961810687464</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L'Oréal S.A.</c:v>
                </c:pt>
                <c:pt idx="1">
                  <c:v>Company Profile</c:v>
                </c:pt>
                <c:pt idx="2">
                  <c:v>Profile Element</c:v>
                </c:pt>
                <c:pt idx="3">
                  <c:v>Overview</c:v>
                </c:pt>
                <c:pt idx="4">
                  <c:v>Product Portfolio</c:v>
                </c:pt>
                <c:pt idx="5">
                  <c:v>Market Segments — Product Sales</c:v>
                </c:pt>
                <c:pt idx="6">
                  <c:v>Market Segments — Channel Sales</c:v>
                </c:pt>
                <c:pt idx="7">
                  <c:v>Market Segments — Regional Sales</c:v>
                </c:pt>
                <c:pt idx="8">
                  <c:v>Sales Footprint</c:v>
                </c:pt>
                <c:pt idx="9">
                  <c:v>Strategy Overview</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L'Oréal S.A.</c:v>
                </c:pt>
                <c:pt idx="1">
                  <c:v>Company Profile</c:v>
                </c:pt>
                <c:pt idx="2">
                  <c:v>Profile Element</c:v>
                </c:pt>
                <c:pt idx="3">
                  <c:v>Overview</c:v>
                </c:pt>
                <c:pt idx="4">
                  <c:v>Product Portfolio</c:v>
                </c:pt>
                <c:pt idx="5">
                  <c:v>Market Segments — Product Sales</c:v>
                </c:pt>
                <c:pt idx="6">
                  <c:v>Market Segments — Channel Sales</c:v>
                </c:pt>
                <c:pt idx="7">
                  <c:v>Market Segments — Regional Sales</c:v>
                </c:pt>
                <c:pt idx="8">
                  <c:v>Sales Footprint</c:v>
                </c:pt>
                <c:pt idx="9">
                  <c:v>Strategy Overview</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L'Oréal S.A.</c:v>
                </c:pt>
                <c:pt idx="1">
                  <c:v>Company Profile</c:v>
                </c:pt>
                <c:pt idx="2">
                  <c:v>Profile Element</c:v>
                </c:pt>
                <c:pt idx="3">
                  <c:v>Overview</c:v>
                </c:pt>
                <c:pt idx="4">
                  <c:v>Product Portfolio</c:v>
                </c:pt>
                <c:pt idx="5">
                  <c:v>Market Segments — Product Sales</c:v>
                </c:pt>
                <c:pt idx="6">
                  <c:v>Market Segments — Channel Sales</c:v>
                </c:pt>
                <c:pt idx="7">
                  <c:v>Market Segments — Regional Sales</c:v>
                </c:pt>
                <c:pt idx="8">
                  <c:v>Sales Footprint</c:v>
                </c:pt>
                <c:pt idx="9">
                  <c:v>Strategy Overview</c:v>
                </c:pt>
                <c:pt idx="10">
                  <c:v>Others</c:v>
                </c:pt>
              </c:strCache>
            </c:strRef>
          </c:cat>
          <c:val>
            <c:numRef>
              <c:numCache>
                <c:formatCode>General</c:formatCode>
                <c:ptCount val="11"/>
                <c:pt idx="0">
                  <c:v>16.616982878130067</c:v>
                </c:pt>
                <c:pt idx="1">
                  <c:v>15.838373751146179</c:v>
                </c:pt>
                <c:pt idx="2">
                  <c:v>12.226323321243271</c:v>
                </c:pt>
                <c:pt idx="3">
                  <c:v>7.956018792951126</c:v>
                </c:pt>
                <c:pt idx="4">
                  <c:v>5.814138033935408</c:v>
                </c:pt>
                <c:pt idx="5">
                  <c:v>5.618762435113716</c:v>
                </c:pt>
                <c:pt idx="6">
                  <c:v>5.851259038190951</c:v>
                </c:pt>
                <c:pt idx="7">
                  <c:v>4.7673503513720465</c:v>
                </c:pt>
                <c:pt idx="8">
                  <c:v>3.1905899020099824</c:v>
                </c:pt>
                <c:pt idx="9">
                  <c:v>1.9266097914653113</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L'Oréal S.A.</c:v>
                </c:pt>
                <c:pt idx="1">
                  <c:v>Company Profile</c:v>
                </c:pt>
                <c:pt idx="2">
                  <c:v>Profile Element</c:v>
                </c:pt>
                <c:pt idx="3">
                  <c:v>Overview</c:v>
                </c:pt>
                <c:pt idx="4">
                  <c:v>Product Portfolio</c:v>
                </c:pt>
                <c:pt idx="5">
                  <c:v>Market Segments — Product Sales</c:v>
                </c:pt>
                <c:pt idx="6">
                  <c:v>Market Segments — Channel Sales</c:v>
                </c:pt>
                <c:pt idx="7">
                  <c:v>Market Segments — Regional Sales</c:v>
                </c:pt>
                <c:pt idx="8">
                  <c:v>Sales Footprint</c:v>
                </c:pt>
                <c:pt idx="9">
                  <c:v>Strategy Overview</c:v>
                </c:pt>
                <c:pt idx="10">
                  <c:v>Others</c:v>
                </c:pt>
              </c:strCache>
            </c:strRef>
          </c:cat>
          <c:val>
            <c:numRef>
              <c:numCache>
                <c:formatCode>General</c:formatCode>
                <c:ptCount val="11"/>
                <c:pt idx="0">
                  <c:v>17.07493181467485</c:v>
                </c:pt>
                <c:pt idx="1">
                  <c:v>12.55088526010719</c:v>
                </c:pt>
                <c:pt idx="2">
                  <c:v>8.380043562697717</c:v>
                </c:pt>
                <c:pt idx="3">
                  <c:v>7.444952014860332</c:v>
                </c:pt>
                <c:pt idx="4">
                  <c:v>8.046607083054917</c:v>
                </c:pt>
                <c:pt idx="5">
                  <c:v>6.9192142292565135</c:v>
                </c:pt>
                <c:pt idx="6">
                  <c:v>4.691071174682331</c:v>
                </c:pt>
                <c:pt idx="7">
                  <c:v>2.8651087985998394</c:v>
                </c:pt>
                <c:pt idx="8">
                  <c:v>2.560369933335588</c:v>
                </c:pt>
                <c:pt idx="9">
                  <c:v>2.616980414229504</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L'Oréal S.A.</c:v>
                </c:pt>
                <c:pt idx="1">
                  <c:v>Company Profile</c:v>
                </c:pt>
                <c:pt idx="2">
                  <c:v>Profile Element</c:v>
                </c:pt>
                <c:pt idx="3">
                  <c:v>Overview</c:v>
                </c:pt>
                <c:pt idx="4">
                  <c:v>Product Portfolio</c:v>
                </c:pt>
                <c:pt idx="5">
                  <c:v>Market Segments — Product Sales</c:v>
                </c:pt>
                <c:pt idx="6">
                  <c:v>Market Segments — Channel Sales</c:v>
                </c:pt>
                <c:pt idx="7">
                  <c:v>Market Segments — Regional Sales</c:v>
                </c:pt>
                <c:pt idx="8">
                  <c:v>Sales Footprint</c:v>
                </c:pt>
                <c:pt idx="9">
                  <c:v>Strategy Overview</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L'Oréal S.A.</c:v>
                </c:pt>
                <c:pt idx="1">
                  <c:v>Company Profile</c:v>
                </c:pt>
                <c:pt idx="2">
                  <c:v>Profile Element</c:v>
                </c:pt>
                <c:pt idx="3">
                  <c:v>Overview</c:v>
                </c:pt>
                <c:pt idx="4">
                  <c:v>Product Portfolio</c:v>
                </c:pt>
                <c:pt idx="5">
                  <c:v>Market Segments — Product Sales</c:v>
                </c:pt>
                <c:pt idx="6">
                  <c:v>Market Segments — Channel Sales</c:v>
                </c:pt>
                <c:pt idx="7">
                  <c:v>Market Segments — Regional Sales</c:v>
                </c:pt>
                <c:pt idx="8">
                  <c:v>Sales Footprint</c:v>
                </c:pt>
                <c:pt idx="9">
                  <c:v>Strategy Overview</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Facial Sunscreen</c:v>
                </c:pt>
                <c:pt idx="1">
                  <c:v>Body Sunscreen</c:v>
                </c:pt>
                <c:pt idx="2">
                  <c:v>Face &amp; Body Sunscreen</c:v>
                </c:pt>
                <c:pt idx="3">
                  <c:v>Lip Sunscreen</c:v>
                </c:pt>
              </c:strCache>
            </c:strRef>
          </c:cat>
          <c:val>
            <c:numRef>
              <c:numCache>
                <c:formatCode>General</c:formatCode>
                <c:ptCount val="4"/>
                <c:pt idx="0">
                  <c:v>162.6402310721079</c:v>
                </c:pt>
                <c:pt idx="1">
                  <c:v>90.48252472314041</c:v>
                </c:pt>
                <c:pt idx="2">
                  <c:v>113.89174079462336</c:v>
                </c:pt>
                <c:pt idx="3">
                  <c:v>215.1522512624622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284.0009716664501"/>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193.2684788726404</c:v>
                </c:pt>
                <c:pt idx="1">
                  <c:v>117.64209278080459</c:v>
                </c:pt>
                <c:pt idx="2">
                  <c:v>63.440970242884646</c:v>
                </c:pt>
                <c:pt idx="3">
                  <c:v>71.68344021265891</c:v>
                </c:pt>
                <c:pt idx="4">
                  <c:v>136.13176574334534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255.11439211188534"/>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Mineral Ceramide Sunscreen</c:v>
                </c:pt>
                <c:pt idx="1">
                  <c:v>Hybrid Ceramide Sunscreen</c:v>
                </c:pt>
                <c:pt idx="2">
                  <c:v>Chemical Ceramide Sunscreen</c:v>
                </c:pt>
              </c:strCache>
            </c:strRef>
          </c:cat>
          <c:val>
            <c:numRef>
              <c:numCache>
                <c:formatCode>General</c:formatCode>
                <c:ptCount val="3"/>
                <c:pt idx="0">
                  <c:v>116.84073361684206</c:v>
                </c:pt>
                <c:pt idx="1">
                  <c:v>162.43577472213022</c:v>
                </c:pt>
                <c:pt idx="2">
                  <c:v>302.89023951336156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589.679844</c:v>
                </c:pt>
                <c:pt idx="1">
                  <c:v>530.06453056053</c:v>
                </c:pt>
                <c:pt idx="2">
                  <c:v>387.38043941483386</c:v>
                </c:pt>
                <c:pt idx="3">
                  <c:v>248.17782561768595</c:v>
                </c:pt>
                <c:pt idx="4">
                  <c:v>196.89512678111168</c:v>
                </c:pt>
              </c:numCache>
            </c:numRef>
          </c:val>
        </c:ser>
        <c:ser>
          <c:idx val="1"/>
          <c:order val="1"/>
          <c:tx>
            <c:strRef>
              <c:strCache>
                <c:ptCount val="1"/>
                <c:pt idx="0">
                  <c:v>SOM</c:v>
                </c:pt>
              </c:strCache>
            </c:strRef>
          </c:tx>
          <c:spPr>
            <a:solidFill>
              <a:srgbClr val="0E72AE"/>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193.2684788726404</c:v>
                </c:pt>
                <c:pt idx="1">
                  <c:v>117.64209278080459</c:v>
                </c:pt>
                <c:pt idx="2">
                  <c:v>63.440970242884646</c:v>
                </c:pt>
                <c:pt idx="3">
                  <c:v>71.68344021265891</c:v>
                </c:pt>
                <c:pt idx="4">
                  <c:v>136.13176574334534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54.79020032"/>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Region Global Ceramide Sunscreen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By Product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By Form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By SPF Rating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By Ingredient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By End-use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By Pack Size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By Price Tier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 SPF Rating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 SPF Rating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 SPF Rating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 Product Type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 Product Type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 Product Type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 End-use Application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 End-use Application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 End-use Application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 Price Tier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 Price Tier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 Price Tier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Country North America Ceramide Sunscreen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By Product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By Form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By SPF Rating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SPF Rating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By Ingredient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By End-use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By Pack Size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By Price Tier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Price Tier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 SPF Rating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 SPF Rating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Product Type × SPF Rating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 Product Type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 Product Type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Ingredient Type × Product Type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 End-use Application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 End-use Application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Form Type × End-use Application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 Price Tier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 Price Tier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Pack Size × Price Tier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Overview Key Segments (Value)  (1/2)</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Overview Key Segments (Value)  (2/2)</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Product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Product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Form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Form Type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SPF Rating Segmental</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SPF Rating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Ingredient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Ingredient Type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End-use Application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End-use Application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Pack Size Segmental</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Pack Size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Price Tier Segmental</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Price Tier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Sales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Country Sales Channel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Company Profiles &amp; Strategic Benchmarking L'Oréal S.A. Snapshot</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Company Profiles &amp; Strategic Benchmarking L'Oréal S.A.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Company Profiles &amp; Strategic Benchmarking L'Oréal S.A.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Company Profiles &amp; Strategic Benchmarking L'Oréal S.A.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Competitor Company Profiles &amp; Strategic Benchmarking L'Oréal S.A.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Table of Contents  (1/8)</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Table of Contents  (2/8)</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Table of Contents  (3/8)</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Table of Contents  (4/8)</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Table of Contents  (5/8)</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Table of Contents  (6/8)</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Table of Contents  (7/8)</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Table of Contents  (8/8)</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Ceramide Sunscreen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6.jpg"/><Relationship Id="rId3" Type="http://schemas.openxmlformats.org/officeDocument/2006/relationships/image" Target="../media/image857.png"/><Relationship Id="rId4" Type="http://schemas.openxmlformats.org/officeDocument/2006/relationships/image" Target="../media/image858.png"/><Relationship Id="rId5" Type="http://schemas.openxmlformats.org/officeDocument/2006/relationships/image" Target="../media/image85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9.xml"/><Relationship Id="rId8" Type="http://schemas.openxmlformats.org/officeDocument/2006/relationships/slide" Target="slide28.xml"/><Relationship Id="rId9" Type="http://schemas.openxmlformats.org/officeDocument/2006/relationships/slide" Target="slide29.xml"/><Relationship Id="rId10" Type="http://schemas.openxmlformats.org/officeDocument/2006/relationships/slide" Target="slide40.xml"/><Relationship Id="rId11" Type="http://schemas.openxmlformats.org/officeDocument/2006/relationships/slide" Target="slide48.xml"/><Relationship Id="rId12" Type="http://schemas.openxmlformats.org/officeDocument/2006/relationships/slide" Target="slide100.xml"/><Relationship Id="rId13" Type="http://schemas.openxmlformats.org/officeDocument/2006/relationships/slide" Target="slide117.xml"/><Relationship Id="rId14" Type="http://schemas.openxmlformats.org/officeDocument/2006/relationships/slide" Target="slide118.xml"/><Relationship Id="rId15" Type="http://schemas.openxmlformats.org/officeDocument/2006/relationships/slide" Target="slide128.xml"/><Relationship Id="rId16" Type="http://schemas.openxmlformats.org/officeDocument/2006/relationships/slide" Target="slide136.xml"/><Relationship Id="rId17" Type="http://schemas.openxmlformats.org/officeDocument/2006/relationships/slide" Target="slide188.xml"/><Relationship Id="rId18" Type="http://schemas.openxmlformats.org/officeDocument/2006/relationships/slide" Target="slide205.xml"/><Relationship Id="rId19" Type="http://schemas.openxmlformats.org/officeDocument/2006/relationships/slide" Target="slide206.xml"/><Relationship Id="rId20" Type="http://schemas.openxmlformats.org/officeDocument/2006/relationships/slide" Target="slide211.xml"/><Relationship Id="rId21" Type="http://schemas.openxmlformats.org/officeDocument/2006/relationships/slide" Target="slide236.xml"/><Relationship Id="rId22" Type="http://schemas.openxmlformats.org/officeDocument/2006/relationships/slide" Target="slide237.xml"/><Relationship Id="rId23" Type="http://schemas.openxmlformats.org/officeDocument/2006/relationships/slide" Target="slide250.xml"/><Relationship Id="rId24" Type="http://schemas.openxmlformats.org/officeDocument/2006/relationships/slide" Target="slide254.xml"/><Relationship Id="rId25" Type="http://schemas.openxmlformats.org/officeDocument/2006/relationships/slide" Target="slide255.xml"/><Relationship Id="rId26" Type="http://schemas.openxmlformats.org/officeDocument/2006/relationships/slide" Target="slide263.xml"/><Relationship Id="rId27" Type="http://schemas.openxmlformats.org/officeDocument/2006/relationships/slide" Target="slide276.xml"/><Relationship Id="rId28" Type="http://schemas.openxmlformats.org/officeDocument/2006/relationships/slide" Target="slide264.xml"/><Relationship Id="rId29" Type="http://schemas.openxmlformats.org/officeDocument/2006/relationships/slide" Target="slide27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 Id="rId14" Type="http://schemas.openxmlformats.org/officeDocument/2006/relationships/image" Target="../media/image68.png"/><Relationship Id="rId15" Type="http://schemas.openxmlformats.org/officeDocument/2006/relationships/image" Target="../media/image69.png"/><Relationship Id="rId16" Type="http://schemas.openxmlformats.org/officeDocument/2006/relationships/image" Target="../media/image70.png"/><Relationship Id="rId17" Type="http://schemas.openxmlformats.org/officeDocument/2006/relationships/image" Target="../media/image71.png"/><Relationship Id="rId18" Type="http://schemas.openxmlformats.org/officeDocument/2006/relationships/image" Target="../media/image72.png"/><Relationship Id="rId19" Type="http://schemas.openxmlformats.org/officeDocument/2006/relationships/image" Target="../media/image73.png"/><Relationship Id="rId20" Type="http://schemas.openxmlformats.org/officeDocument/2006/relationships/image" Target="../media/image74.png"/><Relationship Id="rId21" Type="http://schemas.openxmlformats.org/officeDocument/2006/relationships/image" Target="../media/image75.png"/><Relationship Id="rId2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image" Target="../media/image107.png"/><Relationship Id="rId9" Type="http://schemas.openxmlformats.org/officeDocument/2006/relationships/image" Target="../media/image66.png"/><Relationship Id="rId10" Type="http://schemas.openxmlformats.org/officeDocument/2006/relationships/image" Target="../media/image108.png"/><Relationship Id="rId11" Type="http://schemas.openxmlformats.org/officeDocument/2006/relationships/image" Target="../media/image56.png"/><Relationship Id="rId12" Type="http://schemas.openxmlformats.org/officeDocument/2006/relationships/image" Target="../media/image109.png"/><Relationship Id="rId1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notesSlide" Target="../notesSlides/notesSlide26.xml"/><Relationship Id="rId7"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xml"/><Relationship Id="rId4" Type="http://schemas.openxmlformats.org/officeDocument/2006/relationships/notesSlide" Target="../notesSlides/notesSlide29.xml"/><Relationship Id="rId5"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69.png"/><Relationship Id="rId7" Type="http://schemas.openxmlformats.org/officeDocument/2006/relationships/image" Target="../media/image139.png"/><Relationship Id="rId8" Type="http://schemas.openxmlformats.org/officeDocument/2006/relationships/image" Target="../media/image140.png"/><Relationship Id="rId9" Type="http://schemas.openxmlformats.org/officeDocument/2006/relationships/image" Target="../media/image141.png"/><Relationship Id="rId10" Type="http://schemas.openxmlformats.org/officeDocument/2006/relationships/image" Target="../media/image142.png"/><Relationship Id="rId11" Type="http://schemas.openxmlformats.org/officeDocument/2006/relationships/image" Target="../media/image143.png"/><Relationship Id="rId12" Type="http://schemas.openxmlformats.org/officeDocument/2006/relationships/image" Target="../media/image75.png"/><Relationship Id="rId13" Type="http://schemas.openxmlformats.org/officeDocument/2006/relationships/image" Target="../media/image144.png"/><Relationship Id="rId14" Type="http://schemas.openxmlformats.org/officeDocument/2006/relationships/image" Target="../media/image145.png"/><Relationship Id="rId15" Type="http://schemas.openxmlformats.org/officeDocument/2006/relationships/image" Target="../media/image146.png"/><Relationship Id="rId16" Type="http://schemas.openxmlformats.org/officeDocument/2006/relationships/image" Target="../media/image147.png"/><Relationship Id="rId17" Type="http://schemas.openxmlformats.org/officeDocument/2006/relationships/image" Target="../media/image148.png"/><Relationship Id="rId18" Type="http://schemas.openxmlformats.org/officeDocument/2006/relationships/image" Target="../media/image149.png"/><Relationship Id="rId19"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notesSlide" Target="../notesSlides/notesSlide33.xml"/><Relationship Id="rId6"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3.xml"/><Relationship Id="rId4" Type="http://schemas.openxmlformats.org/officeDocument/2006/relationships/chart" Target="../charts/chart24.xml"/><Relationship Id="rId5" Type="http://schemas.openxmlformats.org/officeDocument/2006/relationships/chart" Target="../charts/chart25.xml"/><Relationship Id="rId6" Type="http://schemas.openxmlformats.org/officeDocument/2006/relationships/chart" Target="../charts/chart26.xml"/><Relationship Id="rId7" Type="http://schemas.openxmlformats.org/officeDocument/2006/relationships/notesSlide" Target="../notesSlides/notesSlide34.xml"/><Relationship Id="rId8"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notesSlide" Target="../notesSlides/notesSlide35.xml"/><Relationship Id="rId5"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xml"/><Relationship Id="rId4" Type="http://schemas.openxmlformats.org/officeDocument/2006/relationships/notesSlide" Target="../notesSlides/notesSlide38.xml"/><Relationship Id="rId5"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195.png"/><Relationship Id="rId7" Type="http://schemas.openxmlformats.org/officeDocument/2006/relationships/image" Target="../media/image196.png"/><Relationship Id="rId8" Type="http://schemas.openxmlformats.org/officeDocument/2006/relationships/image" Target="../media/image197.png"/><Relationship Id="rId9" Type="http://schemas.openxmlformats.org/officeDocument/2006/relationships/image" Target="../media/image198.png"/><Relationship Id="rId10" Type="http://schemas.openxmlformats.org/officeDocument/2006/relationships/image" Target="../media/image199.png"/><Relationship Id="rId11" Type="http://schemas.openxmlformats.org/officeDocument/2006/relationships/image" Target="../media/image200.png"/><Relationship Id="rId12" Type="http://schemas.openxmlformats.org/officeDocument/2006/relationships/image" Target="../media/image201.png"/><Relationship Id="rId13" Type="http://schemas.openxmlformats.org/officeDocument/2006/relationships/image" Target="../media/image202.png"/><Relationship Id="rId14" Type="http://schemas.openxmlformats.org/officeDocument/2006/relationships/image" Target="../media/image203.png"/><Relationship Id="rId15" Type="http://schemas.openxmlformats.org/officeDocument/2006/relationships/image" Target="../media/image204.png"/><Relationship Id="rId16" Type="http://schemas.openxmlformats.org/officeDocument/2006/relationships/image" Target="../media/image149.png"/><Relationship Id="rId17"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notesSlide" Target="../notesSlides/notesSlide44.xml"/><Relationship Id="rId6"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1.xml"/><Relationship Id="rId4" Type="http://schemas.openxmlformats.org/officeDocument/2006/relationships/chart" Target="../charts/chart32.xml"/><Relationship Id="rId5" Type="http://schemas.openxmlformats.org/officeDocument/2006/relationships/chart" Target="../charts/chart33.xml"/><Relationship Id="rId6" Type="http://schemas.openxmlformats.org/officeDocument/2006/relationships/chart" Target="../charts/chart34.xml"/><Relationship Id="rId7" Type="http://schemas.openxmlformats.org/officeDocument/2006/relationships/notesSlide" Target="../notesSlides/notesSlide45.xml"/><Relationship Id="rId8"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notesSlide" Target="../notesSlides/notesSlide48.xml"/><Relationship Id="rId5"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 Id="rId4" Type="http://schemas.openxmlformats.org/officeDocument/2006/relationships/image" Target="../media/image238.png"/><Relationship Id="rId5" Type="http://schemas.openxmlformats.org/officeDocument/2006/relationships/image" Target="../media/image239.png"/><Relationship Id="rId6" Type="http://schemas.openxmlformats.org/officeDocument/2006/relationships/image" Target="../media/image66.png"/><Relationship Id="rId7" Type="http://schemas.openxmlformats.org/officeDocument/2006/relationships/image" Target="../media/image240.png"/><Relationship Id="rId8" Type="http://schemas.openxmlformats.org/officeDocument/2006/relationships/image" Target="../media/image241.png"/><Relationship Id="rId9" Type="http://schemas.openxmlformats.org/officeDocument/2006/relationships/image" Target="../media/image69.png"/><Relationship Id="rId10" Type="http://schemas.openxmlformats.org/officeDocument/2006/relationships/image" Target="../media/image242.png"/><Relationship Id="rId11" Type="http://schemas.openxmlformats.org/officeDocument/2006/relationships/image" Target="../media/image243.png"/><Relationship Id="rId12" Type="http://schemas.openxmlformats.org/officeDocument/2006/relationships/image" Target="../media/image244.png"/><Relationship Id="rId13"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6.xml"/><Relationship Id="rId4" Type="http://schemas.openxmlformats.org/officeDocument/2006/relationships/chart" Target="../charts/chart37.xml"/><Relationship Id="rId5" Type="http://schemas.openxmlformats.org/officeDocument/2006/relationships/notesSlide" Target="../notesSlides/notesSlide52.xml"/><Relationship Id="rId6"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chart" Target="../charts/chart39.xml"/><Relationship Id="rId5" Type="http://schemas.openxmlformats.org/officeDocument/2006/relationships/chart" Target="../charts/chart40.xml"/><Relationship Id="rId6" Type="http://schemas.openxmlformats.org/officeDocument/2006/relationships/notesSlide" Target="../notesSlides/notesSlide53.xml"/><Relationship Id="rId7"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xml"/><Relationship Id="rId4" Type="http://schemas.openxmlformats.org/officeDocument/2006/relationships/notesSlide" Target="../notesSlides/notesSlide58.xml"/><Relationship Id="rId5"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 Id="rId4" Type="http://schemas.openxmlformats.org/officeDocument/2006/relationships/image" Target="../media/image272.png"/><Relationship Id="rId5" Type="http://schemas.openxmlformats.org/officeDocument/2006/relationships/image" Target="../media/image273.png"/><Relationship Id="rId6" Type="http://schemas.openxmlformats.org/officeDocument/2006/relationships/image" Target="../media/image274.png"/><Relationship Id="rId7" Type="http://schemas.openxmlformats.org/officeDocument/2006/relationships/image" Target="../media/image275.png"/><Relationship Id="rId8" Type="http://schemas.openxmlformats.org/officeDocument/2006/relationships/image" Target="../media/image276.png"/><Relationship Id="rId9" Type="http://schemas.openxmlformats.org/officeDocument/2006/relationships/image" Target="../media/image89.png"/><Relationship Id="rId10" Type="http://schemas.openxmlformats.org/officeDocument/2006/relationships/image" Target="../media/image277.png"/><Relationship Id="rId11" Type="http://schemas.openxmlformats.org/officeDocument/2006/relationships/image" Target="../media/image278.png"/><Relationship Id="rId12" Type="http://schemas.openxmlformats.org/officeDocument/2006/relationships/image" Target="../media/image279.png"/><Relationship Id="rId13" Type="http://schemas.openxmlformats.org/officeDocument/2006/relationships/image" Target="../media/image280.png"/><Relationship Id="rId14" Type="http://schemas.openxmlformats.org/officeDocument/2006/relationships/image" Target="../media/image281.png"/><Relationship Id="rId15" Type="http://schemas.openxmlformats.org/officeDocument/2006/relationships/image" Target="../media/image109.png"/><Relationship Id="rId16"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notesSlide" Target="../notesSlides/notesSlide64.xml"/><Relationship Id="rId6"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chart" Target="../charts/chart45.xml"/><Relationship Id="rId5" Type="http://schemas.openxmlformats.org/officeDocument/2006/relationships/chart" Target="../charts/chart46.xml"/><Relationship Id="rId6" Type="http://schemas.openxmlformats.org/officeDocument/2006/relationships/chart" Target="../charts/chart47.xml"/><Relationship Id="rId7" Type="http://schemas.openxmlformats.org/officeDocument/2006/relationships/notesSlide" Target="../notesSlides/notesSlide65.xml"/><Relationship Id="rId8"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notesSlide" Target="../notesSlides/notesSlide68.xml"/><Relationship Id="rId5"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 Id="rId4" Type="http://schemas.openxmlformats.org/officeDocument/2006/relationships/image" Target="../media/image316.png"/><Relationship Id="rId5" Type="http://schemas.openxmlformats.org/officeDocument/2006/relationships/image" Target="../media/image317.png"/><Relationship Id="rId6" Type="http://schemas.openxmlformats.org/officeDocument/2006/relationships/image" Target="../media/image279.png"/><Relationship Id="rId7" Type="http://schemas.openxmlformats.org/officeDocument/2006/relationships/image" Target="../media/image318.png"/><Relationship Id="rId8" Type="http://schemas.openxmlformats.org/officeDocument/2006/relationships/image" Target="../media/image319.png"/><Relationship Id="rId9" Type="http://schemas.openxmlformats.org/officeDocument/2006/relationships/image" Target="../media/image320.png"/><Relationship Id="rId10" Type="http://schemas.openxmlformats.org/officeDocument/2006/relationships/image" Target="../media/image105.png"/><Relationship Id="rId11" Type="http://schemas.openxmlformats.org/officeDocument/2006/relationships/image" Target="../media/image321.png"/><Relationship Id="rId12" Type="http://schemas.openxmlformats.org/officeDocument/2006/relationships/image" Target="../media/image322.png"/><Relationship Id="rId13" Type="http://schemas.openxmlformats.org/officeDocument/2006/relationships/image" Target="../media/image323.png"/><Relationship Id="rId14" Type="http://schemas.openxmlformats.org/officeDocument/2006/relationships/image" Target="../media/image324.png"/><Relationship Id="rId15" Type="http://schemas.openxmlformats.org/officeDocument/2006/relationships/image" Target="../media/image325.png"/><Relationship Id="rId16" Type="http://schemas.openxmlformats.org/officeDocument/2006/relationships/image" Target="../media/image326.png"/><Relationship Id="rId17" Type="http://schemas.openxmlformats.org/officeDocument/2006/relationships/image" Target="../media/image327.png"/><Relationship Id="rId18" Type="http://schemas.openxmlformats.org/officeDocument/2006/relationships/image" Target="../media/image328.png"/><Relationship Id="rId19" Type="http://schemas.openxmlformats.org/officeDocument/2006/relationships/image" Target="../media/image329.png"/><Relationship Id="rId20" Type="http://schemas.openxmlformats.org/officeDocument/2006/relationships/image" Target="../media/image330.png"/><Relationship Id="rId21" Type="http://schemas.openxmlformats.org/officeDocument/2006/relationships/image" Target="../media/image331.png"/><Relationship Id="rId22" Type="http://schemas.openxmlformats.org/officeDocument/2006/relationships/image" Target="../media/image332.png"/><Relationship Id="rId23"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chart" Target="../charts/chart50.xml"/><Relationship Id="rId5" Type="http://schemas.openxmlformats.org/officeDocument/2006/relationships/notesSlide" Target="../notesSlides/notesSlide72.xml"/><Relationship Id="rId6"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chart" Target="../charts/chart52.xml"/><Relationship Id="rId5" Type="http://schemas.openxmlformats.org/officeDocument/2006/relationships/chart" Target="../charts/chart53.xml"/><Relationship Id="rId6" Type="http://schemas.openxmlformats.org/officeDocument/2006/relationships/chart" Target="../charts/chart54.xml"/><Relationship Id="rId7" Type="http://schemas.openxmlformats.org/officeDocument/2006/relationships/notesSlide" Target="../notesSlides/notesSlide73.xml"/><Relationship Id="rId8"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notesSlide" Target="../notesSlides/notesSlide74.xml"/><Relationship Id="rId5"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 Id="rId4"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notesSlide" Target="../notesSlides/notesSlide77.xml"/><Relationship Id="rId5"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66.png"/><Relationship Id="rId7" Type="http://schemas.openxmlformats.org/officeDocument/2006/relationships/image" Target="../media/image376.png"/><Relationship Id="rId8" Type="http://schemas.openxmlformats.org/officeDocument/2006/relationships/image" Target="../media/image377.png"/><Relationship Id="rId9" Type="http://schemas.openxmlformats.org/officeDocument/2006/relationships/image" Target="../media/image141.png"/><Relationship Id="rId10" Type="http://schemas.openxmlformats.org/officeDocument/2006/relationships/image" Target="../media/image378.png"/><Relationship Id="rId11" Type="http://schemas.openxmlformats.org/officeDocument/2006/relationships/image" Target="../media/image379.png"/><Relationship Id="rId12" Type="http://schemas.openxmlformats.org/officeDocument/2006/relationships/image" Target="../media/image380.png"/><Relationship Id="rId13" Type="http://schemas.openxmlformats.org/officeDocument/2006/relationships/image" Target="../media/image381.png"/><Relationship Id="rId14" Type="http://schemas.openxmlformats.org/officeDocument/2006/relationships/image" Target="../media/image382.png"/><Relationship Id="rId15" Type="http://schemas.openxmlformats.org/officeDocument/2006/relationships/image" Target="../media/image383.png"/><Relationship Id="rId16"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7.xml"/><Relationship Id="rId4" Type="http://schemas.openxmlformats.org/officeDocument/2006/relationships/chart" Target="../charts/chart58.xml"/><Relationship Id="rId5" Type="http://schemas.openxmlformats.org/officeDocument/2006/relationships/notesSlide" Target="../notesSlides/notesSlide81.xml"/><Relationship Id="rId6"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xml"/><Relationship Id="rId4" Type="http://schemas.openxmlformats.org/officeDocument/2006/relationships/chart" Target="../charts/chart60.xml"/><Relationship Id="rId5" Type="http://schemas.openxmlformats.org/officeDocument/2006/relationships/chart" Target="../charts/chart61.xml"/><Relationship Id="rId6" Type="http://schemas.openxmlformats.org/officeDocument/2006/relationships/chart" Target="../charts/chart62.xml"/><Relationship Id="rId7" Type="http://schemas.openxmlformats.org/officeDocument/2006/relationships/notesSlide" Target="../notesSlides/notesSlide82.xml"/><Relationship Id="rId8"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3.xml"/><Relationship Id="rId4" Type="http://schemas.openxmlformats.org/officeDocument/2006/relationships/notesSlide" Target="../notesSlides/notesSlide85.xml"/><Relationship Id="rId5"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image" Target="../media/image417.png"/><Relationship Id="rId5" Type="http://schemas.openxmlformats.org/officeDocument/2006/relationships/image" Target="../media/image418.png"/><Relationship Id="rId6" Type="http://schemas.openxmlformats.org/officeDocument/2006/relationships/image" Target="../media/image63.png"/><Relationship Id="rId7" Type="http://schemas.openxmlformats.org/officeDocument/2006/relationships/image" Target="../media/image419.png"/><Relationship Id="rId8" Type="http://schemas.openxmlformats.org/officeDocument/2006/relationships/image" Target="../media/image420.png"/><Relationship Id="rId9" Type="http://schemas.openxmlformats.org/officeDocument/2006/relationships/image" Target="../media/image244.png"/><Relationship Id="rId10"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chart" Target="../charts/chart65.xml"/><Relationship Id="rId5" Type="http://schemas.openxmlformats.org/officeDocument/2006/relationships/notesSlide" Target="../notesSlides/notesSlide89.xml"/><Relationship Id="rId6"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chart" Target="../charts/chart67.xml"/><Relationship Id="rId5" Type="http://schemas.openxmlformats.org/officeDocument/2006/relationships/notesSlide" Target="../notesSlides/notesSlide90.xml"/><Relationship Id="rId6"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 Id="rId4"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notesSlide" Target="../notesSlides/notesSlide93.xml"/><Relationship Id="rId5"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 Id="rId4"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notesSlide" Target="../notesSlides/notesSlide99.xml"/><Relationship Id="rId5"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 Id="rId4"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 Id="rId4"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notesSlide" Target="../notesSlides/notesSlide102.xml"/><Relationship Id="rId5"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 Id="rId4"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 Id="rId4"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1.xml"/><Relationship Id="rId4" Type="http://schemas.openxmlformats.org/officeDocument/2006/relationships/notesSlide" Target="../notesSlides/notesSlide105.xml"/><Relationship Id="rId5"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 Id="rId4"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 Id="rId4"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notesSlide" Target="../notesSlides/notesSlide108.xml"/><Relationship Id="rId5"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 Id="rId4"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chart" Target="../charts/chart74.xml"/><Relationship Id="rId5" Type="http://schemas.openxmlformats.org/officeDocument/2006/relationships/notesSlide" Target="../notesSlides/notesSlide111.xml"/><Relationship Id="rId6"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 Id="rId4"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chart" Target="../charts/chart76.xml"/><Relationship Id="rId5" Type="http://schemas.openxmlformats.org/officeDocument/2006/relationships/notesSlide" Target="../notesSlides/notesSlide113.xml"/><Relationship Id="rId6"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7.xml"/><Relationship Id="rId4" Type="http://schemas.openxmlformats.org/officeDocument/2006/relationships/chart" Target="../charts/chart78.xml"/><Relationship Id="rId5" Type="http://schemas.openxmlformats.org/officeDocument/2006/relationships/notesSlide" Target="../notesSlides/notesSlide114.xml"/><Relationship Id="rId6"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9.xml"/><Relationship Id="rId4" Type="http://schemas.openxmlformats.org/officeDocument/2006/relationships/chart" Target="../charts/chart80.xml"/><Relationship Id="rId5" Type="http://schemas.openxmlformats.org/officeDocument/2006/relationships/notesSlide" Target="../notesSlides/notesSlide115.xml"/><Relationship Id="rId6"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 Id="rId4"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notesSlide" Target="../notesSlides/notesSlide117.xml"/><Relationship Id="rId5"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 Id="rId4"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xml"/><Relationship Id="rId4" Type="http://schemas.openxmlformats.org/officeDocument/2006/relationships/notesSlide" Target="../notesSlides/notesSlide119.xml"/><Relationship Id="rId5"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 Id="rId4"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3.xml"/><Relationship Id="rId4" Type="http://schemas.openxmlformats.org/officeDocument/2006/relationships/notesSlide" Target="../notesSlides/notesSlide121.xml"/><Relationship Id="rId5"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4.xml"/><Relationship Id="rId4" Type="http://schemas.openxmlformats.org/officeDocument/2006/relationships/notesSlide" Target="../notesSlides/notesSlide122.xml"/><Relationship Id="rId5"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 Id="rId4"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 Id="rId4"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5.xml"/><Relationship Id="rId4" Type="http://schemas.openxmlformats.org/officeDocument/2006/relationships/chart" Target="../charts/chart86.xml"/><Relationship Id="rId5" Type="http://schemas.openxmlformats.org/officeDocument/2006/relationships/notesSlide" Target="../notesSlides/notesSlide125.xml"/><Relationship Id="rId6"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 Id="rId4" Type="http://schemas.openxmlformats.org/officeDocument/2006/relationships/image" Target="../media/image552.png"/><Relationship Id="rId5" Type="http://schemas.openxmlformats.org/officeDocument/2006/relationships/image" Target="../media/image477.png"/><Relationship Id="rId6" Type="http://schemas.openxmlformats.org/officeDocument/2006/relationships/image" Target="../media/image324.png"/><Relationship Id="rId7" Type="http://schemas.openxmlformats.org/officeDocument/2006/relationships/image" Target="../media/image553.png"/><Relationship Id="rId8" Type="http://schemas.openxmlformats.org/officeDocument/2006/relationships/image" Target="../media/image479.png"/><Relationship Id="rId9" Type="http://schemas.openxmlformats.org/officeDocument/2006/relationships/image" Target="../media/image202.png"/><Relationship Id="rId10" Type="http://schemas.openxmlformats.org/officeDocument/2006/relationships/image" Target="../media/image554.png"/><Relationship Id="rId11" Type="http://schemas.openxmlformats.org/officeDocument/2006/relationships/image" Target="../media/image478.png"/><Relationship Id="rId12" Type="http://schemas.openxmlformats.org/officeDocument/2006/relationships/image" Target="../media/image555.png"/><Relationship Id="rId13"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xml"/><Relationship Id="rId4" Type="http://schemas.openxmlformats.org/officeDocument/2006/relationships/chart" Target="../charts/chart88.xml"/><Relationship Id="rId5" Type="http://schemas.openxmlformats.org/officeDocument/2006/relationships/notesSlide" Target="../notesSlides/notesSlide128.xml"/><Relationship Id="rId6"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9.xml"/><Relationship Id="rId4" Type="http://schemas.openxmlformats.org/officeDocument/2006/relationships/chart" Target="../charts/chart90.xml"/><Relationship Id="rId5" Type="http://schemas.openxmlformats.org/officeDocument/2006/relationships/chart" Target="../charts/chart91.xml"/><Relationship Id="rId6" Type="http://schemas.openxmlformats.org/officeDocument/2006/relationships/notesSlide" Target="../notesSlides/notesSlide129.xml"/><Relationship Id="rId7"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 Id="rId4"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2.xml"/><Relationship Id="rId4" Type="http://schemas.openxmlformats.org/officeDocument/2006/relationships/notesSlide" Target="../notesSlides/notesSlide132.xml"/><Relationship Id="rId5"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 Id="rId4" Type="http://schemas.openxmlformats.org/officeDocument/2006/relationships/image" Target="../media/image571.png"/><Relationship Id="rId5" Type="http://schemas.openxmlformats.org/officeDocument/2006/relationships/image" Target="../media/image572.png"/><Relationship Id="rId6" Type="http://schemas.openxmlformats.org/officeDocument/2006/relationships/image" Target="../media/image279.png"/><Relationship Id="rId7" Type="http://schemas.openxmlformats.org/officeDocument/2006/relationships/image" Target="../media/image573.png"/><Relationship Id="rId8" Type="http://schemas.openxmlformats.org/officeDocument/2006/relationships/image" Target="../media/image574.png"/><Relationship Id="rId9" Type="http://schemas.openxmlformats.org/officeDocument/2006/relationships/image" Target="../media/image575.png"/><Relationship Id="rId10" Type="http://schemas.openxmlformats.org/officeDocument/2006/relationships/image" Target="../media/image576.png"/><Relationship Id="rId11" Type="http://schemas.openxmlformats.org/officeDocument/2006/relationships/image" Target="../media/image577.png"/><Relationship Id="rId12" Type="http://schemas.openxmlformats.org/officeDocument/2006/relationships/image" Target="../media/image60.png"/><Relationship Id="rId13" Type="http://schemas.openxmlformats.org/officeDocument/2006/relationships/image" Target="../media/image578.png"/><Relationship Id="rId14" Type="http://schemas.openxmlformats.org/officeDocument/2006/relationships/image" Target="../media/image579.png"/><Relationship Id="rId15" Type="http://schemas.openxmlformats.org/officeDocument/2006/relationships/image" Target="../media/image580.png"/><Relationship Id="rId16" Type="http://schemas.openxmlformats.org/officeDocument/2006/relationships/image" Target="../media/image581.png"/><Relationship Id="rId17" Type="http://schemas.openxmlformats.org/officeDocument/2006/relationships/image" Target="../media/image582.png"/><Relationship Id="rId18" Type="http://schemas.openxmlformats.org/officeDocument/2006/relationships/image" Target="../media/image72.png"/><Relationship Id="rId19"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chart" Target="../charts/chart94.xml"/><Relationship Id="rId5" Type="http://schemas.openxmlformats.org/officeDocument/2006/relationships/notesSlide" Target="../notesSlides/notesSlide136.xml"/><Relationship Id="rId6"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xml"/><Relationship Id="rId4" Type="http://schemas.openxmlformats.org/officeDocument/2006/relationships/chart" Target="../charts/chart96.xml"/><Relationship Id="rId5" Type="http://schemas.openxmlformats.org/officeDocument/2006/relationships/chart" Target="../charts/chart97.xml"/><Relationship Id="rId6" Type="http://schemas.openxmlformats.org/officeDocument/2006/relationships/chart" Target="../charts/chart98.xml"/><Relationship Id="rId7" Type="http://schemas.openxmlformats.org/officeDocument/2006/relationships/notesSlide" Target="../notesSlides/notesSlide137.xml"/><Relationship Id="rId8"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notesSlide" Target="../notesSlides/notesSlide138.xml"/><Relationship Id="rId5"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 Id="rId4"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xml"/><Relationship Id="rId4" Type="http://schemas.openxmlformats.org/officeDocument/2006/relationships/notesSlide" Target="../notesSlides/notesSlide141.xml"/><Relationship Id="rId5"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 Id="rId4" Type="http://schemas.openxmlformats.org/officeDocument/2006/relationships/image" Target="../media/image605.png"/><Relationship Id="rId5" Type="http://schemas.openxmlformats.org/officeDocument/2006/relationships/image" Target="../media/image606.png"/><Relationship Id="rId6" Type="http://schemas.openxmlformats.org/officeDocument/2006/relationships/image" Target="../media/image146.png"/><Relationship Id="rId7" Type="http://schemas.openxmlformats.org/officeDocument/2006/relationships/image" Target="../media/image607.png"/><Relationship Id="rId8" Type="http://schemas.openxmlformats.org/officeDocument/2006/relationships/image" Target="../media/image608.png"/><Relationship Id="rId9" Type="http://schemas.openxmlformats.org/officeDocument/2006/relationships/image" Target="../media/image609.png"/><Relationship Id="rId10" Type="http://schemas.openxmlformats.org/officeDocument/2006/relationships/image" Target="../media/image199.png"/><Relationship Id="rId11" Type="http://schemas.openxmlformats.org/officeDocument/2006/relationships/image" Target="../media/image610.png"/><Relationship Id="rId12" Type="http://schemas.openxmlformats.org/officeDocument/2006/relationships/image" Target="../media/image611.png"/><Relationship Id="rId13" Type="http://schemas.openxmlformats.org/officeDocument/2006/relationships/image" Target="../media/image612.png"/><Relationship Id="rId14" Type="http://schemas.openxmlformats.org/officeDocument/2006/relationships/image" Target="../media/image433.png"/><Relationship Id="rId15" Type="http://schemas.openxmlformats.org/officeDocument/2006/relationships/image" Target="../media/image613.png"/><Relationship Id="rId16" Type="http://schemas.openxmlformats.org/officeDocument/2006/relationships/image" Target="../media/image614.png"/><Relationship Id="rId17"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1.xml"/><Relationship Id="rId4" Type="http://schemas.openxmlformats.org/officeDocument/2006/relationships/chart" Target="../charts/chart102.xml"/><Relationship Id="rId5" Type="http://schemas.openxmlformats.org/officeDocument/2006/relationships/notesSlide" Target="../notesSlides/notesSlide147.xml"/><Relationship Id="rId6"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3.xml"/><Relationship Id="rId4" Type="http://schemas.openxmlformats.org/officeDocument/2006/relationships/chart" Target="../charts/chart104.xml"/><Relationship Id="rId5" Type="http://schemas.openxmlformats.org/officeDocument/2006/relationships/chart" Target="../charts/chart105.xml"/><Relationship Id="rId6" Type="http://schemas.openxmlformats.org/officeDocument/2006/relationships/chart" Target="../charts/chart106.xml"/><Relationship Id="rId7" Type="http://schemas.openxmlformats.org/officeDocument/2006/relationships/notesSlide" Target="../notesSlides/notesSlide148.xml"/><Relationship Id="rId8"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 Id="rId4"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7.xml"/><Relationship Id="rId4" Type="http://schemas.openxmlformats.org/officeDocument/2006/relationships/notesSlide" Target="../notesSlides/notesSlide151.xml"/><Relationship Id="rId5"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 Id="rId4" Type="http://schemas.openxmlformats.org/officeDocument/2006/relationships/image" Target="../media/image635.png"/><Relationship Id="rId5" Type="http://schemas.openxmlformats.org/officeDocument/2006/relationships/image" Target="../media/image636.png"/><Relationship Id="rId6" Type="http://schemas.openxmlformats.org/officeDocument/2006/relationships/image" Target="../media/image244.png"/><Relationship Id="rId7" Type="http://schemas.openxmlformats.org/officeDocument/2006/relationships/image" Target="../media/image637.png"/><Relationship Id="rId8" Type="http://schemas.openxmlformats.org/officeDocument/2006/relationships/image" Target="../media/image638.png"/><Relationship Id="rId9" Type="http://schemas.openxmlformats.org/officeDocument/2006/relationships/image" Target="../media/image75.png"/><Relationship Id="rId10" Type="http://schemas.openxmlformats.org/officeDocument/2006/relationships/image" Target="../media/image639.png"/><Relationship Id="rId11" Type="http://schemas.openxmlformats.org/officeDocument/2006/relationships/image" Target="../media/image640.png"/><Relationship Id="rId12" Type="http://schemas.openxmlformats.org/officeDocument/2006/relationships/image" Target="../media/image383.png"/><Relationship Id="rId13"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xml"/><Relationship Id="rId4" Type="http://schemas.openxmlformats.org/officeDocument/2006/relationships/chart" Target="../charts/chart109.xml"/><Relationship Id="rId5" Type="http://schemas.openxmlformats.org/officeDocument/2006/relationships/notesSlide" Target="../notesSlides/notesSlide155.xml"/><Relationship Id="rId6"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xml"/><Relationship Id="rId4" Type="http://schemas.openxmlformats.org/officeDocument/2006/relationships/chart" Target="../charts/chart111.xml"/><Relationship Id="rId5" Type="http://schemas.openxmlformats.org/officeDocument/2006/relationships/chart" Target="../charts/chart112.xml"/><Relationship Id="rId6" Type="http://schemas.openxmlformats.org/officeDocument/2006/relationships/notesSlide" Target="../notesSlides/notesSlide156.xml"/><Relationship Id="rId7"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 Id="rId4"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3.xml"/><Relationship Id="rId4" Type="http://schemas.openxmlformats.org/officeDocument/2006/relationships/notesSlide" Target="../notesSlides/notesSlide161.xml"/><Relationship Id="rId5"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656.png"/><Relationship Id="rId5" Type="http://schemas.openxmlformats.org/officeDocument/2006/relationships/image" Target="../media/image657.png"/><Relationship Id="rId6" Type="http://schemas.openxmlformats.org/officeDocument/2006/relationships/image" Target="../media/image658.png"/><Relationship Id="rId7" Type="http://schemas.openxmlformats.org/officeDocument/2006/relationships/image" Target="../media/image659.png"/><Relationship Id="rId8" Type="http://schemas.openxmlformats.org/officeDocument/2006/relationships/image" Target="../media/image660.png"/><Relationship Id="rId9" Type="http://schemas.openxmlformats.org/officeDocument/2006/relationships/image" Target="../media/image661.png"/><Relationship Id="rId10" Type="http://schemas.openxmlformats.org/officeDocument/2006/relationships/image" Target="../media/image662.png"/><Relationship Id="rId11" Type="http://schemas.openxmlformats.org/officeDocument/2006/relationships/image" Target="../media/image663.png"/><Relationship Id="rId12" Type="http://schemas.openxmlformats.org/officeDocument/2006/relationships/image" Target="../media/image60.png"/><Relationship Id="rId13" Type="http://schemas.openxmlformats.org/officeDocument/2006/relationships/image" Target="../media/image664.png"/><Relationship Id="rId14" Type="http://schemas.openxmlformats.org/officeDocument/2006/relationships/image" Target="../media/image665.png"/><Relationship Id="rId15"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4.xml"/><Relationship Id="rId4" Type="http://schemas.openxmlformats.org/officeDocument/2006/relationships/chart" Target="../charts/chart115.xml"/><Relationship Id="rId5" Type="http://schemas.openxmlformats.org/officeDocument/2006/relationships/notesSlide" Target="../notesSlides/notesSlide167.xml"/><Relationship Id="rId6"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6.xml"/><Relationship Id="rId4" Type="http://schemas.openxmlformats.org/officeDocument/2006/relationships/chart" Target="../charts/chart117.xml"/><Relationship Id="rId5" Type="http://schemas.openxmlformats.org/officeDocument/2006/relationships/chart" Target="../charts/chart118.xml"/><Relationship Id="rId6" Type="http://schemas.openxmlformats.org/officeDocument/2006/relationships/chart" Target="../charts/chart119.xml"/><Relationship Id="rId7" Type="http://schemas.openxmlformats.org/officeDocument/2006/relationships/notesSlide" Target="../notesSlides/notesSlide168.xml"/><Relationship Id="rId8"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0.xml"/><Relationship Id="rId4" Type="http://schemas.openxmlformats.org/officeDocument/2006/relationships/notesSlide" Target="../notesSlides/notesSlide171.xml"/><Relationship Id="rId5"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image" Target="../media/image324.png"/><Relationship Id="rId7" Type="http://schemas.openxmlformats.org/officeDocument/2006/relationships/image" Target="../media/image318.png"/><Relationship Id="rId8" Type="http://schemas.openxmlformats.org/officeDocument/2006/relationships/image" Target="../media/image686.png"/><Relationship Id="rId9" Type="http://schemas.openxmlformats.org/officeDocument/2006/relationships/image" Target="../media/image687.png"/><Relationship Id="rId10" Type="http://schemas.openxmlformats.org/officeDocument/2006/relationships/image" Target="../media/image321.png"/><Relationship Id="rId11" Type="http://schemas.openxmlformats.org/officeDocument/2006/relationships/image" Target="../media/image688.png"/><Relationship Id="rId12" Type="http://schemas.openxmlformats.org/officeDocument/2006/relationships/image" Target="../media/image689.png"/><Relationship Id="rId13" Type="http://schemas.openxmlformats.org/officeDocument/2006/relationships/image" Target="../media/image690.png"/><Relationship Id="rId14" Type="http://schemas.openxmlformats.org/officeDocument/2006/relationships/image" Target="../media/image325.png"/><Relationship Id="rId15" Type="http://schemas.openxmlformats.org/officeDocument/2006/relationships/image" Target="../media/image691.png"/><Relationship Id="rId16" Type="http://schemas.openxmlformats.org/officeDocument/2006/relationships/image" Target="../media/image692.png"/><Relationship Id="rId17" Type="http://schemas.openxmlformats.org/officeDocument/2006/relationships/image" Target="../media/image693.png"/><Relationship Id="rId18" Type="http://schemas.openxmlformats.org/officeDocument/2006/relationships/image" Target="../media/image329.png"/><Relationship Id="rId19" Type="http://schemas.openxmlformats.org/officeDocument/2006/relationships/image" Target="../media/image694.png"/><Relationship Id="rId20" Type="http://schemas.openxmlformats.org/officeDocument/2006/relationships/image" Target="../media/image695.png"/><Relationship Id="rId21" Type="http://schemas.openxmlformats.org/officeDocument/2006/relationships/image" Target="../media/image696.png"/><Relationship Id="rId22"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xml"/><Relationship Id="rId4" Type="http://schemas.openxmlformats.org/officeDocument/2006/relationships/chart" Target="../charts/chart122.xml"/><Relationship Id="rId5" Type="http://schemas.openxmlformats.org/officeDocument/2006/relationships/notesSlide" Target="../notesSlides/notesSlide175.xml"/><Relationship Id="rId6"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3.xml"/><Relationship Id="rId4" Type="http://schemas.openxmlformats.org/officeDocument/2006/relationships/chart" Target="../charts/chart124.xml"/><Relationship Id="rId5" Type="http://schemas.openxmlformats.org/officeDocument/2006/relationships/chart" Target="../charts/chart125.xml"/><Relationship Id="rId6" Type="http://schemas.openxmlformats.org/officeDocument/2006/relationships/chart" Target="../charts/chart126.xml"/><Relationship Id="rId7" Type="http://schemas.openxmlformats.org/officeDocument/2006/relationships/notesSlide" Target="../notesSlides/notesSlide176.xml"/><Relationship Id="rId8"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7.xml"/><Relationship Id="rId4" Type="http://schemas.openxmlformats.org/officeDocument/2006/relationships/notesSlide" Target="../notesSlides/notesSlide177.xml"/><Relationship Id="rId5"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8.xml"/><Relationship Id="rId4" Type="http://schemas.openxmlformats.org/officeDocument/2006/relationships/notesSlide" Target="../notesSlides/notesSlide180.xml"/><Relationship Id="rId5"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722.png"/><Relationship Id="rId5" Type="http://schemas.openxmlformats.org/officeDocument/2006/relationships/image" Target="../media/image723.png"/><Relationship Id="rId6" Type="http://schemas.openxmlformats.org/officeDocument/2006/relationships/image" Target="../media/image244.png"/><Relationship Id="rId7" Type="http://schemas.openxmlformats.org/officeDocument/2006/relationships/image" Target="../media/image485.png"/><Relationship Id="rId8" Type="http://schemas.openxmlformats.org/officeDocument/2006/relationships/image" Target="../media/image724.png"/><Relationship Id="rId9" Type="http://schemas.openxmlformats.org/officeDocument/2006/relationships/image" Target="../media/image195.png"/><Relationship Id="rId10" Type="http://schemas.openxmlformats.org/officeDocument/2006/relationships/image" Target="../media/image557.png"/><Relationship Id="rId11" Type="http://schemas.openxmlformats.org/officeDocument/2006/relationships/image" Target="../media/image725.png"/><Relationship Id="rId12" Type="http://schemas.openxmlformats.org/officeDocument/2006/relationships/image" Target="../media/image198.png"/><Relationship Id="rId13" Type="http://schemas.openxmlformats.org/officeDocument/2006/relationships/image" Target="../media/image726.png"/><Relationship Id="rId14" Type="http://schemas.openxmlformats.org/officeDocument/2006/relationships/image" Target="../media/image727.png"/><Relationship Id="rId15" Type="http://schemas.openxmlformats.org/officeDocument/2006/relationships/image" Target="../media/image728.png"/><Relationship Id="rId16"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9.xml"/><Relationship Id="rId4" Type="http://schemas.openxmlformats.org/officeDocument/2006/relationships/chart" Target="../charts/chart130.xml"/><Relationship Id="rId5" Type="http://schemas.openxmlformats.org/officeDocument/2006/relationships/notesSlide" Target="../notesSlides/notesSlide184.xml"/><Relationship Id="rId6"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1.xml"/><Relationship Id="rId4" Type="http://schemas.openxmlformats.org/officeDocument/2006/relationships/chart" Target="../charts/chart132.xml"/><Relationship Id="rId5" Type="http://schemas.openxmlformats.org/officeDocument/2006/relationships/chart" Target="../charts/chart133.xml"/><Relationship Id="rId6" Type="http://schemas.openxmlformats.org/officeDocument/2006/relationships/chart" Target="../charts/chart134.xml"/><Relationship Id="rId7" Type="http://schemas.openxmlformats.org/officeDocument/2006/relationships/notesSlide" Target="../notesSlides/notesSlide185.xml"/><Relationship Id="rId8"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5.xml"/><Relationship Id="rId4" Type="http://schemas.openxmlformats.org/officeDocument/2006/relationships/notesSlide" Target="../notesSlides/notesSlide188.xml"/><Relationship Id="rId5"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 Id="rId4" Type="http://schemas.openxmlformats.org/officeDocument/2006/relationships/image" Target="../media/image749.png"/><Relationship Id="rId5" Type="http://schemas.openxmlformats.org/officeDocument/2006/relationships/image" Target="../media/image750.png"/><Relationship Id="rId6" Type="http://schemas.openxmlformats.org/officeDocument/2006/relationships/image" Target="../media/image751.png"/><Relationship Id="rId7" Type="http://schemas.openxmlformats.org/officeDocument/2006/relationships/image" Target="../media/image752.png"/><Relationship Id="rId8" Type="http://schemas.openxmlformats.org/officeDocument/2006/relationships/image" Target="../media/image753.png"/><Relationship Id="rId9" Type="http://schemas.openxmlformats.org/officeDocument/2006/relationships/image" Target="../media/image383.png"/><Relationship Id="rId10"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6.xml"/><Relationship Id="rId4" Type="http://schemas.openxmlformats.org/officeDocument/2006/relationships/chart" Target="../charts/chart137.xml"/><Relationship Id="rId5" Type="http://schemas.openxmlformats.org/officeDocument/2006/relationships/notesSlide" Target="../notesSlides/notesSlide192.xml"/><Relationship Id="rId6"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8.xml"/><Relationship Id="rId4" Type="http://schemas.openxmlformats.org/officeDocument/2006/relationships/chart" Target="../charts/chart139.xml"/><Relationship Id="rId5" Type="http://schemas.openxmlformats.org/officeDocument/2006/relationships/notesSlide" Target="../notesSlides/notesSlide193.xml"/><Relationship Id="rId6"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 Id="rId4"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0.xml"/><Relationship Id="rId4" Type="http://schemas.openxmlformats.org/officeDocument/2006/relationships/notesSlide" Target="../notesSlides/notesSlide196.xml"/><Relationship Id="rId5"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 Id="rId4"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1.xml"/><Relationship Id="rId4" Type="http://schemas.openxmlformats.org/officeDocument/2006/relationships/notesSlide" Target="../notesSlides/notesSlide202.xml"/><Relationship Id="rId5"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 Id="rId4"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2.xml"/><Relationship Id="rId4" Type="http://schemas.openxmlformats.org/officeDocument/2006/relationships/notesSlide" Target="../notesSlides/notesSlide205.xml"/><Relationship Id="rId5"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3.xml"/><Relationship Id="rId4" Type="http://schemas.openxmlformats.org/officeDocument/2006/relationships/notesSlide" Target="../notesSlides/notesSlide208.xml"/><Relationship Id="rId5"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4.xml"/><Relationship Id="rId4" Type="http://schemas.openxmlformats.org/officeDocument/2006/relationships/notesSlide" Target="../notesSlides/notesSlide211.xml"/><Relationship Id="rId5"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 Id="rId4"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5.xml"/><Relationship Id="rId4" Type="http://schemas.openxmlformats.org/officeDocument/2006/relationships/chart" Target="../charts/chart146.xml"/><Relationship Id="rId5" Type="http://schemas.openxmlformats.org/officeDocument/2006/relationships/chart" Target="../charts/chart147.xml"/><Relationship Id="rId6" Type="http://schemas.openxmlformats.org/officeDocument/2006/relationships/chart" Target="../charts/chart148.xml"/><Relationship Id="rId7" Type="http://schemas.openxmlformats.org/officeDocument/2006/relationships/notesSlide" Target="../notesSlides/notesSlide214.xml"/><Relationship Id="rId8" Type="http://schemas.openxmlformats.org/officeDocument/2006/relationships/image" Target="../media/image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9.xml"/><Relationship Id="rId4" Type="http://schemas.openxmlformats.org/officeDocument/2006/relationships/chart" Target="../charts/chart150.xml"/><Relationship Id="rId5" Type="http://schemas.openxmlformats.org/officeDocument/2006/relationships/chart" Target="../charts/chart151.xml"/><Relationship Id="rId6" Type="http://schemas.openxmlformats.org/officeDocument/2006/relationships/chart" Target="../charts/chart152.xml"/><Relationship Id="rId7" Type="http://schemas.openxmlformats.org/officeDocument/2006/relationships/notesSlide" Target="../notesSlides/notesSlide215.xml"/><Relationship Id="rId8"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3.xml"/><Relationship Id="rId4" Type="http://schemas.openxmlformats.org/officeDocument/2006/relationships/chart" Target="../charts/chart154.xml"/><Relationship Id="rId5" Type="http://schemas.openxmlformats.org/officeDocument/2006/relationships/chart" Target="../charts/chart155.xml"/><Relationship Id="rId6" Type="http://schemas.openxmlformats.org/officeDocument/2006/relationships/chart" Target="../charts/chart156.xml"/><Relationship Id="rId7" Type="http://schemas.openxmlformats.org/officeDocument/2006/relationships/chart" Target="../charts/chart157.xml"/><Relationship Id="rId8" Type="http://schemas.openxmlformats.org/officeDocument/2006/relationships/chart" Target="../charts/chart158.xml"/><Relationship Id="rId9" Type="http://schemas.openxmlformats.org/officeDocument/2006/relationships/chart" Target="../charts/chart159.xml"/><Relationship Id="rId10" Type="http://schemas.openxmlformats.org/officeDocument/2006/relationships/chart" Target="../charts/chart160.xml"/><Relationship Id="rId11" Type="http://schemas.openxmlformats.org/officeDocument/2006/relationships/notesSlide" Target="../notesSlides/notesSlide216.xml"/><Relationship Id="rId12" Type="http://schemas.openxmlformats.org/officeDocument/2006/relationships/image" Target="../media/image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 Id="rId4"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1.xml"/><Relationship Id="rId4" Type="http://schemas.openxmlformats.org/officeDocument/2006/relationships/chart" Target="../charts/chart162.xml"/><Relationship Id="rId5" Type="http://schemas.openxmlformats.org/officeDocument/2006/relationships/notesSlide" Target="../notesSlides/notesSlide218.xml"/><Relationship Id="rId6" Type="http://schemas.openxmlformats.org/officeDocument/2006/relationships/image" Target="../media/image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 Id="rId4"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3.xml"/><Relationship Id="rId4" Type="http://schemas.openxmlformats.org/officeDocument/2006/relationships/chart" Target="../charts/chart164.xml"/><Relationship Id="rId5" Type="http://schemas.openxmlformats.org/officeDocument/2006/relationships/notesSlide" Target="../notesSlides/notesSlide221.xml"/><Relationship Id="rId6" Type="http://schemas.openxmlformats.org/officeDocument/2006/relationships/image" Target="../media/image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 Id="rId4"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5.xml"/><Relationship Id="rId4" Type="http://schemas.openxmlformats.org/officeDocument/2006/relationships/chart" Target="../charts/chart166.xml"/><Relationship Id="rId5" Type="http://schemas.openxmlformats.org/officeDocument/2006/relationships/notesSlide" Target="../notesSlides/notesSlide226.xml"/><Relationship Id="rId6" Type="http://schemas.openxmlformats.org/officeDocument/2006/relationships/image" Target="../media/image2.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 Id="rId4"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7.xml"/><Relationship Id="rId4" Type="http://schemas.openxmlformats.org/officeDocument/2006/relationships/chart" Target="../charts/chart168.xml"/><Relationship Id="rId5" Type="http://schemas.openxmlformats.org/officeDocument/2006/relationships/notesSlide" Target="../notesSlides/notesSlide229.xml"/><Relationship Id="rId6" Type="http://schemas.openxmlformats.org/officeDocument/2006/relationships/image" Target="../media/image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 Id="rId4" Type="http://schemas.openxmlformats.org/officeDocument/2006/relationships/image" Target="../media/image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9.xml"/><Relationship Id="rId4" Type="http://schemas.openxmlformats.org/officeDocument/2006/relationships/chart" Target="../charts/chart170.xml"/><Relationship Id="rId5" Type="http://schemas.openxmlformats.org/officeDocument/2006/relationships/notesSlide" Target="../notesSlides/notesSlide234.xml"/><Relationship Id="rId6" Type="http://schemas.openxmlformats.org/officeDocument/2006/relationships/image" Target="../media/image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 Id="rId4" Type="http://schemas.openxmlformats.org/officeDocument/2006/relationships/image" Target="../media/image2.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1.xml"/><Relationship Id="rId4" Type="http://schemas.openxmlformats.org/officeDocument/2006/relationships/chart" Target="../charts/chart172.xml"/><Relationship Id="rId5" Type="http://schemas.openxmlformats.org/officeDocument/2006/relationships/notesSlide" Target="../notesSlides/notesSlide237.xml"/><Relationship Id="rId6" Type="http://schemas.openxmlformats.org/officeDocument/2006/relationships/image" Target="../media/image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 Id="rId4" Type="http://schemas.openxmlformats.org/officeDocument/2006/relationships/image" Target="../media/image2.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3.xml"/><Relationship Id="rId4" Type="http://schemas.openxmlformats.org/officeDocument/2006/relationships/chart" Target="../charts/chart174.xml"/><Relationship Id="rId5" Type="http://schemas.openxmlformats.org/officeDocument/2006/relationships/notesSlide" Target="../notesSlides/notesSlide240.xml"/><Relationship Id="rId6" Type="http://schemas.openxmlformats.org/officeDocument/2006/relationships/image" Target="../media/image2.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 Id="rId4" Type="http://schemas.openxmlformats.org/officeDocument/2006/relationships/image" Target="../media/image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5.xml"/><Relationship Id="rId4" Type="http://schemas.openxmlformats.org/officeDocument/2006/relationships/chart" Target="../charts/chart176.xml"/><Relationship Id="rId5" Type="http://schemas.openxmlformats.org/officeDocument/2006/relationships/notesSlide" Target="../notesSlides/notesSlide243.xml"/><Relationship Id="rId6" Type="http://schemas.openxmlformats.org/officeDocument/2006/relationships/image" Target="../media/image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 Id="rId4" Type="http://schemas.openxmlformats.org/officeDocument/2006/relationships/image" Target="../media/image2.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8.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 Id="rId4" Type="http://schemas.openxmlformats.org/officeDocument/2006/relationships/image" Target="../media/image2.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7.xml"/><Relationship Id="rId4" Type="http://schemas.openxmlformats.org/officeDocument/2006/relationships/chart" Target="../charts/chart178.xml"/><Relationship Id="rId5" Type="http://schemas.openxmlformats.org/officeDocument/2006/relationships/notesSlide" Target="../notesSlides/notesSlide250.xml"/><Relationship Id="rId6" Type="http://schemas.openxmlformats.org/officeDocument/2006/relationships/image" Target="../media/image2.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9.xml"/><Relationship Id="rId4" Type="http://schemas.openxmlformats.org/officeDocument/2006/relationships/notesSlide" Target="../notesSlides/notesSlide251.xml"/><Relationship Id="rId5" Type="http://schemas.openxmlformats.org/officeDocument/2006/relationships/image" Target="../media/image2.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0.xml"/><Relationship Id="rId4" Type="http://schemas.openxmlformats.org/officeDocument/2006/relationships/notesSlide" Target="../notesSlides/notesSlide252.xml"/><Relationship Id="rId5" Type="http://schemas.openxmlformats.org/officeDocument/2006/relationships/image" Target="../media/image2.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3.xml"/><Relationship Id="rId4" Type="http://schemas.openxmlformats.org/officeDocument/2006/relationships/image" Target="../media/image2.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 Id="rId4" Type="http://schemas.openxmlformats.org/officeDocument/2006/relationships/image" Target="../media/image2.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 Id="rId4" Type="http://schemas.openxmlformats.org/officeDocument/2006/relationships/image" Target="../media/image2.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 Id="rId4" Type="http://schemas.openxmlformats.org/officeDocument/2006/relationships/image" Target="../media/image2.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7.xml"/><Relationship Id="rId4" Type="http://schemas.openxmlformats.org/officeDocument/2006/relationships/image" Target="../media/image2.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8.xml"/><Relationship Id="rId4" Type="http://schemas.openxmlformats.org/officeDocument/2006/relationships/image" Target="../media/image2.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 Id="rId4" Type="http://schemas.openxmlformats.org/officeDocument/2006/relationships/image" Target="../media/image2.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 Id="rId4" Type="http://schemas.openxmlformats.org/officeDocument/2006/relationships/image" Target="../media/image2.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 Id="rId4" Type="http://schemas.openxmlformats.org/officeDocument/2006/relationships/image" Target="../media/image2.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 Id="rId4" Type="http://schemas.openxmlformats.org/officeDocument/2006/relationships/image" Target="../media/image2.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 Id="rId4" Type="http://schemas.openxmlformats.org/officeDocument/2006/relationships/image" Target="../media/image2.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6.xml"/><Relationship Id="rId4" Type="http://schemas.openxmlformats.org/officeDocument/2006/relationships/image" Target="../media/image2.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7.xml"/><Relationship Id="rId4" Type="http://schemas.openxmlformats.org/officeDocument/2006/relationships/image" Target="../media/image2.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8.xml"/><Relationship Id="rId4" Type="http://schemas.openxmlformats.org/officeDocument/2006/relationships/image" Target="../media/image2.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9.xml"/><Relationship Id="rId4" Type="http://schemas.openxmlformats.org/officeDocument/2006/relationships/image" Target="../media/image2.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0.xml"/><Relationship Id="rId4" Type="http://schemas.openxmlformats.org/officeDocument/2006/relationships/image" Target="../media/image2.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1.xml"/><Relationship Id="rId4" Type="http://schemas.openxmlformats.org/officeDocument/2006/relationships/image" Target="../media/image2.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6.xml"/><Relationship Id="rId4" Type="http://schemas.openxmlformats.org/officeDocument/2006/relationships/image" Target="../media/image2.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1.xml"/><Relationship Id="rId4" Type="http://schemas.openxmlformats.org/officeDocument/2006/relationships/notesSlide" Target="../notesSlides/notesSlide287.xml"/><Relationship Id="rId5" Type="http://schemas.openxmlformats.org/officeDocument/2006/relationships/image" Target="../media/image2.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2.xml"/><Relationship Id="rId4" Type="http://schemas.openxmlformats.org/officeDocument/2006/relationships/chart" Target="../charts/chart183.xml"/><Relationship Id="rId5" Type="http://schemas.openxmlformats.org/officeDocument/2006/relationships/chart" Target="../charts/chart184.xml"/><Relationship Id="rId6" Type="http://schemas.openxmlformats.org/officeDocument/2006/relationships/notesSlide" Target="../notesSlides/notesSlide288.xml"/><Relationship Id="rId7" Type="http://schemas.openxmlformats.org/officeDocument/2006/relationships/image" Target="../media/image2.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5.xml"/><Relationship Id="rId4" Type="http://schemas.openxmlformats.org/officeDocument/2006/relationships/chart" Target="../charts/chart186.xml"/><Relationship Id="rId5" Type="http://schemas.openxmlformats.org/officeDocument/2006/relationships/chart" Target="../charts/chart187.xml"/><Relationship Id="rId6" Type="http://schemas.openxmlformats.org/officeDocument/2006/relationships/notesSlide" Target="../notesSlides/notesSlide289.xml"/><Relationship Id="rId7" Type="http://schemas.openxmlformats.org/officeDocument/2006/relationships/image" Target="../media/image2.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0.xml"/><Relationship Id="rId4" Type="http://schemas.openxmlformats.org/officeDocument/2006/relationships/image" Target="../media/image2.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8.xml"/><Relationship Id="rId4" Type="http://schemas.openxmlformats.org/officeDocument/2006/relationships/chart" Target="../charts/chart189.xml"/><Relationship Id="rId5" Type="http://schemas.openxmlformats.org/officeDocument/2006/relationships/chart" Target="../charts/chart190.xml"/><Relationship Id="rId6" Type="http://schemas.openxmlformats.org/officeDocument/2006/relationships/notesSlide" Target="../notesSlides/notesSlide291.xml"/><Relationship Id="rId7" Type="http://schemas.openxmlformats.org/officeDocument/2006/relationships/image" Target="../media/image2.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91.xml"/><Relationship Id="rId4" Type="http://schemas.openxmlformats.org/officeDocument/2006/relationships/notesSlide" Target="../notesSlides/notesSlide292.xml"/><Relationship Id="rId5" Type="http://schemas.openxmlformats.org/officeDocument/2006/relationships/image" Target="../media/image2.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3.xml"/><Relationship Id="rId4" Type="http://schemas.openxmlformats.org/officeDocument/2006/relationships/image" Target="../media/image2.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4.xml"/><Relationship Id="rId4" Type="http://schemas.openxmlformats.org/officeDocument/2006/relationships/image" Target="../media/image2.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5.xml"/><Relationship Id="rId4" Type="http://schemas.openxmlformats.org/officeDocument/2006/relationships/image" Target="../media/image2.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3.xml"/><Relationship Id="rId4" Type="http://schemas.openxmlformats.org/officeDocument/2006/relationships/image" Target="../media/image2.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4.xml"/><Relationship Id="rId4" Type="http://schemas.openxmlformats.org/officeDocument/2006/relationships/image" Target="../media/image2.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5.xml"/><Relationship Id="rId4" Type="http://schemas.openxmlformats.org/officeDocument/2006/relationships/image" Target="../media/image2.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6.xml"/><Relationship Id="rId4" Type="http://schemas.openxmlformats.org/officeDocument/2006/relationships/image" Target="../media/image2.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7.xml"/><Relationship Id="rId4" Type="http://schemas.openxmlformats.org/officeDocument/2006/relationships/image" Target="../media/image2.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8.xml"/><Relationship Id="rId4" Type="http://schemas.openxmlformats.org/officeDocument/2006/relationships/image" Target="../media/image2.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9.xml"/><Relationship Id="rId4" Type="http://schemas.openxmlformats.org/officeDocument/2006/relationships/image" Target="../media/image2.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0.xml"/><Relationship Id="rId4" Type="http://schemas.openxmlformats.org/officeDocument/2006/relationships/image" Target="../media/image2.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1.xml"/><Relationship Id="rId4" Type="http://schemas.openxmlformats.org/officeDocument/2006/relationships/image" Target="../media/image2.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3.xml"/><Relationship Id="rId4" Type="http://schemas.openxmlformats.org/officeDocument/2006/relationships/image" Target="../media/image2.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4.xml"/><Relationship Id="rId4" Type="http://schemas.openxmlformats.org/officeDocument/2006/relationships/image" Target="../media/image2.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5.xml"/><Relationship Id="rId4" Type="http://schemas.openxmlformats.org/officeDocument/2006/relationships/image" Target="../media/image2.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0.png"/><Relationship Id="rId3" Type="http://schemas.openxmlformats.org/officeDocument/2006/relationships/image" Target="../media/image861.png"/><Relationship Id="rId4" Type="http://schemas.openxmlformats.org/officeDocument/2006/relationships/image" Target="../media/image862.png"/><Relationship Id="rId5" Type="http://schemas.openxmlformats.org/officeDocument/2006/relationships/image" Target="../media/image863.png"/><Relationship Id="rId6" Type="http://schemas.openxmlformats.org/officeDocument/2006/relationships/image" Target="../media/image864.png"/><Relationship Id="rId7" Type="http://schemas.openxmlformats.org/officeDocument/2006/relationships/image" Target="../media/image865.png"/><Relationship Id="rId8" Type="http://schemas.openxmlformats.org/officeDocument/2006/relationships/image" Target="../media/image86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5"/>
          <p:cNvSpPr txBox="1"/>
          <p:nvPr userDrawn="1"/>
        </p:nvSpPr>
        <p:spPr>
          <a:xfrm>
            <a:off x="0" y="2"/>
            <a:ext cx="12192000" cy="6824625"/>
          </a:xfrm>
          <a:prstGeom prst="rect">
            <a:avLst/>
          </a:prstGeom>
          <a:solidFill>
            <a:srgbClr val="FFFFFF"/>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4" name="Picture 7"/>
          <p:cNvPicPr>
            <a:picLocks noChangeAspect="1"/>
          </p:cNvPicPr>
          <p:nvPr userDrawn="1"/>
        </p:nvPicPr>
        <p:blipFill>
          <a:blip r:embed="rId2" cstate="print">
            <a:duotone>
              <a:srgbClr val="F8F8F8">
                <a:shade val="45000"/>
                <a:satMod val="135000"/>
              </a:srgb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6" name="TextBox 9"/>
          <p:cNvSpPr txBox="1"/>
          <p:nvPr userDrawn="1"/>
        </p:nvSpPr>
        <p:spPr>
          <a:xfrm>
            <a:off x="829068" y="6616282"/>
            <a:ext cx="1984839" cy="230832"/>
          </a:xfrm>
          <a:prstGeom prst="rect">
            <a:avLst/>
          </a:prstGeom>
          <a:noFill/>
        </p:spPr>
        <p:txBody>
          <a:bodyPr wrap="none" rtlCol="0">
            <a:spAutoFit/>
          </a:bodyPr>
          <a:lstStyle/>
          <a:p>
            <a:r>
              <a:rPr lang="en-US" sz="900" dirty="0">
                <a:solidFill>
                  <a:srgbClr val="FFFFFF"/>
                </a:solidFill>
              </a:rPr>
              <a:t>Source@ Future Market Insights, 2026</a:t>
            </a:r>
            <a:endParaRPr lang="en-IN" sz="900" dirty="0">
              <a:solidFill>
                <a:srgbClr val="FFFFFF"/>
              </a:solidFill>
            </a:endParaRPr>
          </a:p>
        </p:txBody>
      </p:sp>
      <p:sp>
        <p:nvSpPr>
          <p:cNvPr id="7"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8" name="Rectangle 12"/>
          <p:cNvSpPr/>
          <p:nvPr userDrawn="1"/>
        </p:nvSpPr>
        <p:spPr>
          <a:xfrm>
            <a:off x="371630" y="6559883"/>
            <a:ext cx="11448743" cy="57528"/>
          </a:xfrm>
          <a:prstGeom prst="rect">
            <a:avLst/>
          </a:prstGeom>
          <a:solidFill>
            <a:srgbClr val="FFFFFF"/>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9" name="Text Placeholder 4"/>
          <p:cNvSpPr txBox="1">
            <a:spLocks/>
          </p:cNvSpPr>
          <p:nvPr/>
        </p:nvSpPr>
        <p:spPr bwMode="gray">
          <a:xfrm>
            <a:off x="934546" y="262851"/>
            <a:ext cx="5623008" cy="3800000"/>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6000" dirty="0">
                <a:solidFill>
                  <a:srgbClr val="FFFFFF"/>
                </a:solidFill>
                <a:latin typeface="Bell MT" panose="02020503060305020303" pitchFamily="18" charset="0"/>
              </a:rPr>
              <a:t>Ceramide Sunscreen Market</a:t>
            </a:r>
            <a:endParaRPr lang="en-US" sz="1600" dirty="0">
              <a:solidFill>
                <a:srgbClr val="FFFFFF"/>
              </a:solidFill>
              <a:latin typeface="Bell MT" panose="02020503060305020303" pitchFamily="18" charset="0"/>
            </a:endParaRPr>
          </a:p>
        </p:txBody>
      </p:sp>
      <p:sp>
        <p:nvSpPr>
          <p:cNvPr id="9" name="Front Page Subtitle"/>
          <p:cNvSpPr txBox="1">
            <a:spLocks/>
          </p:cNvSpPr>
          <p:nvPr/>
        </p:nvSpPr>
        <p:spPr bwMode="gray">
          <a:xfrm>
            <a:off x="934546" y="4150000"/>
            <a:ext cx="5623008" cy="1650000"/>
          </a:xfrm>
          <a:prstGeom prst="rect">
            <a:avLst/>
          </a:prstGeom>
        </p:spPr>
        <p:txBody>
          <a:bodyPr vert="horz" lIns="0" tIns="77372" rIns="77372" bIns="77372" rtlCol="0" anchor="b">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2400" dirty="0">
                <a:solidFill>
                  <a:srgbClr val="FFFFFF"/>
                </a:solidFill>
                <a:latin typeface="Bell MT" panose="02020503060305020303" pitchFamily="18" charset="0"/>
              </a:rPr>
              <a:t>Global Industry Analysis 2021 – 2025 and Opportunity Assessment 2026 – 2036</a:t>
            </a:r>
          </a:p>
        </p:txBody>
      </p:sp>
      <p:grpSp>
        <p:nvGrpSpPr>
          <p:cNvPr id="10" name="Group 8"/>
          <p:cNvGrpSpPr/>
          <p:nvPr/>
        </p:nvGrpSpPr>
        <p:grpSpPr>
          <a:xfrm>
            <a:off x="9124182" y="262851"/>
            <a:ext cx="2864618" cy="709680"/>
            <a:chOff x="201497" y="6393289"/>
            <a:chExt cx="1281818" cy="338050"/>
          </a:xfrm>
        </p:grpSpPr>
        <p:pic>
          <p:nvPicPr>
            <p:cNvPr id="11"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12"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13" name="Rectangle 3"/>
          <p:cNvSpPr/>
          <p:nvPr/>
        </p:nvSpPr>
        <p:spPr>
          <a:xfrm>
            <a:off x="934546" y="6015689"/>
            <a:ext cx="2551724" cy="400110"/>
          </a:xfrm>
          <a:prstGeom prst="rect">
            <a:avLst/>
          </a:prstGeom>
        </p:spPr>
        <p:txBody>
          <a:bodyPr wrap="none">
            <a:spAutoFit/>
          </a:bodyPr>
          <a:lstStyle/>
          <a:p>
            <a:r>
              <a:rPr lang="en-US" sz="2000" b="1" dirty="0">
                <a:solidFill>
                  <a:srgbClr val="000000">
                    <a:lumMod val="85000"/>
                    <a:lumOff val="15000"/>
                  </a:srgbClr>
                </a:solidFill>
                <a:latin typeface="Bell MT" panose="02020503060305020303" pitchFamily="18" charset="0"/>
              </a:rPr>
              <a:t>Sample Report</a:t>
            </a:r>
            <a:r>
              <a:rPr lang="en-US" sz="1600" b="1" dirty="0">
                <a:solidFill>
                  <a:srgbClr val="000000">
                    <a:lumMod val="85000"/>
                    <a:lumOff val="15000"/>
                  </a:srgbClr>
                </a:solidFill>
                <a:latin typeface="Bell MT" panose="02020503060305020303" pitchFamily="18" charset="0"/>
              </a:rPr>
              <a:t>| </a:t>
            </a:r>
            <a:r>
              <a:rPr lang="en-US" sz="2000" b="1" dirty="0">
                <a:solidFill>
                  <a:srgbClr val="000000">
                    <a:lumMod val="85000"/>
                    <a:lumOff val="15000"/>
                  </a:srgbClr>
                </a:solidFill>
                <a:latin typeface="Bell MT" panose="02020503060305020303" pitchFamily="18" charset="0"/>
              </a:rPr>
              <a:t>2026</a:t>
            </a:r>
          </a:p>
        </p:txBody>
      </p:sp>
      <p:pic>
        <p:nvPicPr>
          <p:cNvPr id="14"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494026"/>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186822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22721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Table of Contents</a:t>
            </a:r>
          </a:p>
        </p:txBody>
      </p:sp>
      <p:sp>
        <p:nvSpPr>
          <p:cNvPr id="14" name="Rounded Rectangle 13">
            <a:hlinkClick action="ppaction://hlinksldjump" r:id="rId7"/>
          </p:cNvPr>
          <p:cNvSpPr/>
          <p:nvPr/>
        </p:nvSpPr>
        <p:spPr>
          <a:xfrm>
            <a:off x="314325" y="258620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List of Figures, List of Tables</a:t>
            </a:r>
          </a:p>
        </p:txBody>
      </p:sp>
      <p:sp>
        <p:nvSpPr>
          <p:cNvPr id="15" name="Rounded Rectangle 14">
            <a:hlinkClick action="ppaction://hlinksldjump" r:id="rId8"/>
          </p:cNvPr>
          <p:cNvSpPr/>
          <p:nvPr/>
        </p:nvSpPr>
        <p:spPr>
          <a:xfrm>
            <a:off x="142875" y="294519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6" name="Rounded Rectangle 15">
            <a:hlinkClick action="ppaction://hlinksldjump" r:id="rId9"/>
          </p:cNvPr>
          <p:cNvSpPr/>
          <p:nvPr/>
        </p:nvSpPr>
        <p:spPr>
          <a:xfrm>
            <a:off x="314325" y="331939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Ceramide Sunscreen Market Global Overview</a:t>
            </a:r>
          </a:p>
        </p:txBody>
      </p:sp>
      <p:sp>
        <p:nvSpPr>
          <p:cNvPr id="17" name="Rounded Rectangle 16">
            <a:hlinkClick action="ppaction://hlinksldjump" r:id="rId10"/>
          </p:cNvPr>
          <p:cNvSpPr/>
          <p:nvPr/>
        </p:nvSpPr>
        <p:spPr>
          <a:xfrm>
            <a:off x="314325" y="367838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Region</a:t>
            </a:r>
          </a:p>
        </p:txBody>
      </p:sp>
      <p:sp>
        <p:nvSpPr>
          <p:cNvPr id="18" name="Rounded Rectangle 17">
            <a:hlinkClick action="ppaction://hlinksldjump" r:id="rId11"/>
          </p:cNvPr>
          <p:cNvSpPr/>
          <p:nvPr/>
        </p:nvSpPr>
        <p:spPr>
          <a:xfrm>
            <a:off x="314325" y="4037373"/>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Global Market Analysis By Segments</a:t>
            </a:r>
          </a:p>
        </p:txBody>
      </p:sp>
      <p:sp>
        <p:nvSpPr>
          <p:cNvPr id="19" name="Rounded Rectangle 18">
            <a:hlinkClick action="ppaction://hlinksldjump" r:id="rId12"/>
          </p:cNvPr>
          <p:cNvSpPr/>
          <p:nvPr/>
        </p:nvSpPr>
        <p:spPr>
          <a:xfrm>
            <a:off x="314325" y="4396362"/>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Cross-sectional Assessment</a:t>
            </a:r>
          </a:p>
        </p:txBody>
      </p:sp>
      <p:sp>
        <p:nvSpPr>
          <p:cNvPr id="20" name="Rounded Rectangle 19">
            <a:hlinkClick action="ppaction://hlinksldjump" r:id="rId13"/>
          </p:cNvPr>
          <p:cNvSpPr/>
          <p:nvPr/>
        </p:nvSpPr>
        <p:spPr>
          <a:xfrm>
            <a:off x="142875" y="475535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North America Market Outlook</a:t>
            </a:r>
          </a:p>
        </p:txBody>
      </p:sp>
      <p:sp>
        <p:nvSpPr>
          <p:cNvPr id="21" name="Rounded Rectangle 20">
            <a:hlinkClick action="ppaction://hlinksldjump" r:id="rId14"/>
          </p:cNvPr>
          <p:cNvSpPr/>
          <p:nvPr/>
        </p:nvSpPr>
        <p:spPr>
          <a:xfrm>
            <a:off x="314325" y="5129552"/>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North America Overview</a:t>
            </a:r>
          </a:p>
        </p:txBody>
      </p:sp>
      <p:sp>
        <p:nvSpPr>
          <p:cNvPr id="22" name="Rounded Rectangle 21">
            <a:hlinkClick action="ppaction://hlinksldjump" r:id="rId15"/>
          </p:cNvPr>
          <p:cNvSpPr/>
          <p:nvPr/>
        </p:nvSpPr>
        <p:spPr>
          <a:xfrm>
            <a:off x="314325" y="5488541"/>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North America Market Analysis By Country</a:t>
            </a:r>
          </a:p>
        </p:txBody>
      </p:sp>
      <p:sp>
        <p:nvSpPr>
          <p:cNvPr id="23" name="Rounded Rectangle 22">
            <a:hlinkClick action="ppaction://hlinksldjump" r:id="rId16"/>
          </p:cNvPr>
          <p:cNvSpPr/>
          <p:nvPr/>
        </p:nvSpPr>
        <p:spPr>
          <a:xfrm>
            <a:off x="314325" y="5847530"/>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North America Market Analysis By Segments</a:t>
            </a:r>
          </a:p>
        </p:txBody>
      </p:sp>
      <p:sp>
        <p:nvSpPr>
          <p:cNvPr id="24" name="Rounded Rectangle 23">
            <a:hlinkClick action="ppaction://hlinksldjump" r:id="rId17"/>
          </p:cNvPr>
          <p:cNvSpPr/>
          <p:nvPr/>
        </p:nvSpPr>
        <p:spPr>
          <a:xfrm>
            <a:off x="314325" y="6206519"/>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Cross-sectional Assessment</a:t>
            </a:r>
          </a:p>
        </p:txBody>
      </p:sp>
      <p:sp>
        <p:nvSpPr>
          <p:cNvPr id="25" name="Rounded Rectangle 24">
            <a:hlinkClick action="ppaction://hlinksldjump" r:id="rId18"/>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6" name="Rounded Rectangle 25">
            <a:hlinkClick action="ppaction://hlinksldjump" r:id="rId19"/>
          </p:cNvPr>
          <p:cNvSpPr/>
          <p:nvPr/>
        </p:nvSpPr>
        <p:spPr>
          <a:xfrm>
            <a:off x="6391275" y="1509238"/>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Ceramide Sunscreen Market Overview (Volume &amp; Value)</a:t>
            </a:r>
          </a:p>
        </p:txBody>
      </p:sp>
      <p:sp>
        <p:nvSpPr>
          <p:cNvPr id="27" name="Rounded Rectangle 26">
            <a:hlinkClick action="ppaction://hlinksldjump" r:id="rId20"/>
          </p:cNvPr>
          <p:cNvSpPr/>
          <p:nvPr/>
        </p:nvSpPr>
        <p:spPr>
          <a:xfrm>
            <a:off x="6391275" y="186822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Segment Overview (Volume &amp; Value)</a:t>
            </a:r>
          </a:p>
        </p:txBody>
      </p:sp>
      <p:sp>
        <p:nvSpPr>
          <p:cNvPr id="28" name="Rounded Rectangle 27">
            <a:hlinkClick action="ppaction://hlinksldjump" r:id="rId21"/>
          </p:cNvPr>
          <p:cNvSpPr/>
          <p:nvPr/>
        </p:nvSpPr>
        <p:spPr>
          <a:xfrm>
            <a:off x="6219825" y="2227216"/>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29" name="Rounded Rectangle 28">
            <a:hlinkClick action="ppaction://hlinksldjump" r:id="rId22"/>
          </p:cNvPr>
          <p:cNvSpPr/>
          <p:nvPr/>
        </p:nvSpPr>
        <p:spPr>
          <a:xfrm>
            <a:off x="6391275" y="260141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Ceramide Sunscreen Market Pricing Analysis</a:t>
            </a:r>
          </a:p>
        </p:txBody>
      </p:sp>
      <p:sp>
        <p:nvSpPr>
          <p:cNvPr id="30" name="Rounded Rectangle 29">
            <a:hlinkClick action="ppaction://hlinksldjump" r:id="rId23"/>
          </p:cNvPr>
          <p:cNvSpPr/>
          <p:nvPr/>
        </p:nvSpPr>
        <p:spPr>
          <a:xfrm>
            <a:off x="6391275" y="296040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Supply Chain Analysis</a:t>
            </a:r>
          </a:p>
        </p:txBody>
      </p:sp>
      <p:sp>
        <p:nvSpPr>
          <p:cNvPr id="31" name="Rounded Rectangle 30">
            <a:hlinkClick action="ppaction://hlinksldjump" r:id="rId24"/>
          </p:cNvPr>
          <p:cNvSpPr/>
          <p:nvPr/>
        </p:nvSpPr>
        <p:spPr>
          <a:xfrm>
            <a:off x="6219825" y="331939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32" name="Rounded Rectangle 31">
            <a:hlinkClick action="ppaction://hlinksldjump" r:id="rId25"/>
          </p:cNvPr>
          <p:cNvSpPr/>
          <p:nvPr/>
        </p:nvSpPr>
        <p:spPr>
          <a:xfrm>
            <a:off x="6391275" y="369359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Market Dynamics &amp; Forces</a:t>
            </a:r>
          </a:p>
        </p:txBody>
      </p:sp>
      <p:sp>
        <p:nvSpPr>
          <p:cNvPr id="33" name="Rounded Rectangle 32">
            <a:hlinkClick action="ppaction://hlinksldjump" r:id="rId26"/>
          </p:cNvPr>
          <p:cNvSpPr/>
          <p:nvPr/>
        </p:nvSpPr>
        <p:spPr>
          <a:xfrm>
            <a:off x="6219825" y="405258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4" name="Rounded Rectangle 33">
            <a:hlinkClick action="ppaction://hlinksldjump" r:id="rId27"/>
          </p:cNvPr>
          <p:cNvSpPr/>
          <p:nvPr/>
        </p:nvSpPr>
        <p:spPr>
          <a:xfrm>
            <a:off x="6391275" y="514476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20. Competitive Landscape</a:t>
            </a:r>
          </a:p>
        </p:txBody>
      </p:sp>
      <p:sp>
        <p:nvSpPr>
          <p:cNvPr id="35" name="Rounded Rectangle 34">
            <a:hlinkClick action="ppaction://hlinksldjump" r:id="rId28"/>
          </p:cNvPr>
          <p:cNvSpPr/>
          <p:nvPr/>
        </p:nvSpPr>
        <p:spPr>
          <a:xfrm>
            <a:off x="6391275" y="442678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18. Market Share by Leading Players</a:t>
            </a:r>
          </a:p>
        </p:txBody>
      </p:sp>
      <p:sp>
        <p:nvSpPr>
          <p:cNvPr id="36" name="Rounded Rectangle 35">
            <a:hlinkClick action="ppaction://hlinksldjump" r:id="rId29"/>
          </p:cNvPr>
          <p:cNvSpPr/>
          <p:nvPr/>
        </p:nvSpPr>
        <p:spPr>
          <a:xfrm>
            <a:off x="6391275" y="47857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19. Company Profiles &amp; Strategic Benchmarking</a:t>
            </a:r>
          </a:p>
        </p:txBody>
      </p:sp>
      <p:sp>
        <p:nvSpPr>
          <p:cNvPr id="37" name="TextBox 3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Ceramide Sunscreen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Ceramide Sunscreen demand, the evidence behind each and what it implies for the global market</a:t>
            </a:r>
          </a:p>
        </p:txBody>
      </p:sp>
      <p:graphicFrame>
        <p:nvGraphicFramePr>
          <p:cNvPr id="10" name="Table 9"/>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Ceramide Sunscreen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product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Ceramide Sunscreen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4661999" cy="186689"/>
          </a:xfrm>
          <a:prstGeom prst="rect">
            <a:avLst/>
          </a:prstGeom>
          <a:noFill/>
        </p:spPr>
        <p:txBody>
          <a:bodyPr wrap="none" lIns="0" rIns="0" tIns="0" bIns="0">
            <a:spAutoFit/>
          </a:bodyPr>
          <a:lstStyle/>
          <a:p>
            <a:r>
              <a:rPr sz="1100" b="0">
                <a:solidFill>
                  <a:srgbClr val="2E2E2E"/>
                </a:solidFill>
                <a:latin typeface="Calibri"/>
              </a:rPr>
              <a:t>Global demand expands at a 8.0% forecast CAGR (2026–2036), accelerating from</a:t>
            </a:r>
          </a:p>
        </p:txBody>
      </p:sp>
      <p:pic>
        <p:nvPicPr>
          <p:cNvPr id="13" name="Picture 12" descr="lock.png"/>
          <p:cNvPicPr>
            <a:picLocks noChangeAspect="1"/>
          </p:cNvPicPr>
          <p:nvPr/>
        </p:nvPicPr>
        <p:blipFill>
          <a:blip r:embed="rId4"/>
          <a:stretch>
            <a:fillRect/>
          </a:stretch>
        </p:blipFill>
        <p:spPr>
          <a:xfrm>
            <a:off x="8394800" y="1751653"/>
            <a:ext cx="128699" cy="187198"/>
          </a:xfrm>
          <a:prstGeom prst="rect">
            <a:avLst/>
          </a:prstGeom>
        </p:spPr>
      </p:pic>
      <p:sp>
        <p:nvSpPr>
          <p:cNvPr id="14" name="TextBox 13"/>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5" name="Picture 14" descr="lock.png"/>
          <p:cNvPicPr>
            <a:picLocks noChangeAspect="1"/>
          </p:cNvPicPr>
          <p:nvPr/>
        </p:nvPicPr>
        <p:blipFill>
          <a:blip r:embed="rId4"/>
          <a:stretch>
            <a:fillRect/>
          </a:stretch>
        </p:blipFill>
        <p:spPr>
          <a:xfrm>
            <a:off x="10214228" y="1689042"/>
            <a:ext cx="330041" cy="480060"/>
          </a:xfrm>
          <a:prstGeom prst="rect">
            <a:avLst/>
          </a:prstGeom>
        </p:spPr>
      </p:pic>
      <p:sp>
        <p:nvSpPr>
          <p:cNvPr id="16" name="TextBox 15"/>
          <p:cNvSpPr txBox="1"/>
          <p:nvPr/>
        </p:nvSpPr>
        <p:spPr>
          <a:xfrm>
            <a:off x="3784750" y="2801893"/>
            <a:ext cx="3008808" cy="186689"/>
          </a:xfrm>
          <a:prstGeom prst="rect">
            <a:avLst/>
          </a:prstGeom>
          <a:noFill/>
        </p:spPr>
        <p:txBody>
          <a:bodyPr wrap="none" lIns="0" rIns="0" tIns="0" bIns="0">
            <a:spAutoFit/>
          </a:bodyPr>
          <a:lstStyle/>
          <a:p>
            <a:r>
              <a:rPr sz="1100" b="0">
                <a:solidFill>
                  <a:srgbClr val="2E2E2E"/>
                </a:solidFill>
                <a:latin typeface="Calibri"/>
              </a:rPr>
              <a:t>Mineral Ceramide Sunscreen leads Product Type, at</a:t>
            </a:r>
          </a:p>
        </p:txBody>
      </p:sp>
      <p:pic>
        <p:nvPicPr>
          <p:cNvPr id="17" name="Picture 16" descr="lock.png"/>
          <p:cNvPicPr>
            <a:picLocks noChangeAspect="1"/>
          </p:cNvPicPr>
          <p:nvPr/>
        </p:nvPicPr>
        <p:blipFill>
          <a:blip r:embed="rId4"/>
          <a:stretch>
            <a:fillRect/>
          </a:stretch>
        </p:blipFill>
        <p:spPr>
          <a:xfrm>
            <a:off x="6741610" y="2792114"/>
            <a:ext cx="128699" cy="187198"/>
          </a:xfrm>
          <a:prstGeom prst="rect">
            <a:avLst/>
          </a:prstGeom>
        </p:spPr>
      </p:pic>
      <p:sp>
        <p:nvSpPr>
          <p:cNvPr id="18" name="TextBox 17"/>
          <p:cNvSpPr txBox="1"/>
          <p:nvPr/>
        </p:nvSpPr>
        <p:spPr>
          <a:xfrm>
            <a:off x="6909106" y="2801893"/>
            <a:ext cx="1603623" cy="186689"/>
          </a:xfrm>
          <a:prstGeom prst="rect">
            <a:avLst/>
          </a:prstGeom>
          <a:noFill/>
        </p:spPr>
        <p:txBody>
          <a:bodyPr wrap="none" lIns="0" rIns="0" tIns="0" bIns="0">
            <a:spAutoFit/>
          </a:bodyPr>
          <a:lstStyle/>
          <a:p>
            <a:r>
              <a:rPr sz="1100" b="0">
                <a:solidFill>
                  <a:srgbClr val="2E2E2E"/>
                </a:solidFill>
                <a:latin typeface="Calibri"/>
              </a:rPr>
              <a:t>of 2036 value, within a mix</a:t>
            </a:r>
          </a:p>
        </p:txBody>
      </p:sp>
      <p:sp>
        <p:nvSpPr>
          <p:cNvPr id="19" name="TextBox 18"/>
          <p:cNvSpPr txBox="1"/>
          <p:nvPr/>
        </p:nvSpPr>
        <p:spPr>
          <a:xfrm>
            <a:off x="3784750" y="2969533"/>
            <a:ext cx="1409079" cy="186689"/>
          </a:xfrm>
          <a:prstGeom prst="rect">
            <a:avLst/>
          </a:prstGeom>
          <a:noFill/>
        </p:spPr>
        <p:txBody>
          <a:bodyPr wrap="none" lIns="0" rIns="0" tIns="0" bIns="0">
            <a:spAutoFit/>
          </a:bodyPr>
          <a:lstStyle/>
          <a:p>
            <a:r>
              <a:rPr sz="1100" b="0">
                <a:solidFill>
                  <a:srgbClr val="2E2E2E"/>
                </a:solidFill>
                <a:latin typeface="Calibri"/>
              </a:rPr>
              <a:t>of 3 tracked categories.</a:t>
            </a:r>
          </a:p>
        </p:txBody>
      </p:sp>
      <p:sp>
        <p:nvSpPr>
          <p:cNvPr id="20" name="TextBox 19"/>
          <p:cNvSpPr txBox="1"/>
          <p:nvPr/>
        </p:nvSpPr>
        <p:spPr>
          <a:xfrm>
            <a:off x="8785375" y="2885713"/>
            <a:ext cx="2119039" cy="186689"/>
          </a:xfrm>
          <a:prstGeom prst="rect">
            <a:avLst/>
          </a:prstGeom>
          <a:noFill/>
        </p:spPr>
        <p:txBody>
          <a:bodyPr wrap="none" lIns="0" rIns="0" tIns="0" bIns="0">
            <a:spAutoFit/>
          </a:bodyPr>
          <a:lstStyle/>
          <a:p>
            <a:r>
              <a:rPr sz="1100" b="0">
                <a:solidFill>
                  <a:srgbClr val="2E2E2E"/>
                </a:solidFill>
                <a:latin typeface="Calibri"/>
              </a:rPr>
              <a:t>Lead: Mineral Ceramide Sunscreen ·</a:t>
            </a:r>
          </a:p>
        </p:txBody>
      </p:sp>
      <p:pic>
        <p:nvPicPr>
          <p:cNvPr id="21" name="Picture 20" descr="lock.png"/>
          <p:cNvPicPr>
            <a:picLocks noChangeAspect="1"/>
          </p:cNvPicPr>
          <p:nvPr/>
        </p:nvPicPr>
        <p:blipFill>
          <a:blip r:embed="rId4"/>
          <a:stretch>
            <a:fillRect/>
          </a:stretch>
        </p:blipFill>
        <p:spPr>
          <a:xfrm>
            <a:off x="10852466" y="2875934"/>
            <a:ext cx="128699" cy="187198"/>
          </a:xfrm>
          <a:prstGeom prst="rect">
            <a:avLst/>
          </a:prstGeom>
        </p:spPr>
      </p:pic>
      <p:sp>
        <p:nvSpPr>
          <p:cNvPr id="22" name="TextBox 21"/>
          <p:cNvSpPr txBox="1"/>
          <p:nvPr/>
        </p:nvSpPr>
        <p:spPr>
          <a:xfrm>
            <a:off x="11019962"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3" name="TextBox 22"/>
          <p:cNvSpPr txBox="1"/>
          <p:nvPr/>
        </p:nvSpPr>
        <p:spPr>
          <a:xfrm>
            <a:off x="3784750" y="3842354"/>
            <a:ext cx="4128531" cy="186689"/>
          </a:xfrm>
          <a:prstGeom prst="rect">
            <a:avLst/>
          </a:prstGeom>
          <a:noFill/>
        </p:spPr>
        <p:txBody>
          <a:bodyPr wrap="none" lIns="0" rIns="0" tIns="0" bIns="0">
            <a:spAutoFit/>
          </a:bodyPr>
          <a:lstStyle/>
          <a:p>
            <a:r>
              <a:rPr sz="1100" b="0">
                <a:solidFill>
                  <a:srgbClr val="2E2E2E"/>
                </a:solidFill>
                <a:latin typeface="Calibri"/>
              </a:rPr>
              <a:t>Facial Sunscreen is the fastest-growing part of End-use Application, at a</a:t>
            </a:r>
          </a:p>
        </p:txBody>
      </p:sp>
      <p:pic>
        <p:nvPicPr>
          <p:cNvPr id="24" name="Picture 23" descr="lock.png"/>
          <p:cNvPicPr>
            <a:picLocks noChangeAspect="1"/>
          </p:cNvPicPr>
          <p:nvPr/>
        </p:nvPicPr>
        <p:blipFill>
          <a:blip r:embed="rId4"/>
          <a:stretch>
            <a:fillRect/>
          </a:stretch>
        </p:blipFill>
        <p:spPr>
          <a:xfrm>
            <a:off x="7861333" y="3832575"/>
            <a:ext cx="128699" cy="187198"/>
          </a:xfrm>
          <a:prstGeom prst="rect">
            <a:avLst/>
          </a:prstGeom>
        </p:spPr>
      </p:pic>
      <p:sp>
        <p:nvSpPr>
          <p:cNvPr id="25" name="TextBox 24"/>
          <p:cNvSpPr txBox="1"/>
          <p:nvPr/>
        </p:nvSpPr>
        <p:spPr>
          <a:xfrm>
            <a:off x="8028829" y="3842354"/>
            <a:ext cx="538410" cy="186689"/>
          </a:xfrm>
          <a:prstGeom prst="rect">
            <a:avLst/>
          </a:prstGeom>
          <a:noFill/>
        </p:spPr>
        <p:txBody>
          <a:bodyPr wrap="none" lIns="0" rIns="0" tIns="0" bIns="0">
            <a:spAutoFit/>
          </a:bodyPr>
          <a:lstStyle/>
          <a:p>
            <a:r>
              <a:rPr sz="1100" b="0">
                <a:solidFill>
                  <a:srgbClr val="2E2E2E"/>
                </a:solidFill>
                <a:latin typeface="Calibri"/>
              </a:rPr>
              <a:t>forecast</a:t>
            </a:r>
          </a:p>
        </p:txBody>
      </p:sp>
      <p:sp>
        <p:nvSpPr>
          <p:cNvPr id="26" name="TextBox 25"/>
          <p:cNvSpPr txBox="1"/>
          <p:nvPr/>
        </p:nvSpPr>
        <p:spPr>
          <a:xfrm>
            <a:off x="3784750" y="4009994"/>
            <a:ext cx="2043169" cy="186689"/>
          </a:xfrm>
          <a:prstGeom prst="rect">
            <a:avLst/>
          </a:prstGeom>
          <a:noFill/>
        </p:spPr>
        <p:txBody>
          <a:bodyPr wrap="none" lIns="0" rIns="0" tIns="0" bIns="0">
            <a:spAutoFit/>
          </a:bodyPr>
          <a:lstStyle/>
          <a:p>
            <a:r>
              <a:rPr sz="1100" b="0">
                <a:solidFill>
                  <a:srgbClr val="2E2E2E"/>
                </a:solidFill>
                <a:latin typeface="Calibri"/>
              </a:rPr>
              <a:t>CAGR outpacing the wider market.</a:t>
            </a:r>
          </a:p>
        </p:txBody>
      </p:sp>
      <p:sp>
        <p:nvSpPr>
          <p:cNvPr id="27" name="TextBox 26"/>
          <p:cNvSpPr txBox="1"/>
          <p:nvPr/>
        </p:nvSpPr>
        <p:spPr>
          <a:xfrm>
            <a:off x="8785375" y="3926174"/>
            <a:ext cx="1554663" cy="186689"/>
          </a:xfrm>
          <a:prstGeom prst="rect">
            <a:avLst/>
          </a:prstGeom>
          <a:noFill/>
        </p:spPr>
        <p:txBody>
          <a:bodyPr wrap="none" lIns="0" rIns="0" tIns="0" bIns="0">
            <a:spAutoFit/>
          </a:bodyPr>
          <a:lstStyle/>
          <a:p>
            <a:r>
              <a:rPr sz="1100" b="0">
                <a:solidFill>
                  <a:srgbClr val="2E2E2E"/>
                </a:solidFill>
                <a:latin typeface="Calibri"/>
              </a:rPr>
              <a:t>Fastest: Facial Sunscreen ·</a:t>
            </a:r>
          </a:p>
        </p:txBody>
      </p:sp>
      <p:pic>
        <p:nvPicPr>
          <p:cNvPr id="28" name="Picture 27" descr="lock.png"/>
          <p:cNvPicPr>
            <a:picLocks noChangeAspect="1"/>
          </p:cNvPicPr>
          <p:nvPr/>
        </p:nvPicPr>
        <p:blipFill>
          <a:blip r:embed="rId4"/>
          <a:stretch>
            <a:fillRect/>
          </a:stretch>
        </p:blipFill>
        <p:spPr>
          <a:xfrm>
            <a:off x="10288089" y="3916395"/>
            <a:ext cx="128699" cy="187198"/>
          </a:xfrm>
          <a:prstGeom prst="rect">
            <a:avLst/>
          </a:prstGeom>
        </p:spPr>
      </p:pic>
      <p:sp>
        <p:nvSpPr>
          <p:cNvPr id="29" name="TextBox 28"/>
          <p:cNvSpPr txBox="1"/>
          <p:nvPr/>
        </p:nvSpPr>
        <p:spPr>
          <a:xfrm>
            <a:off x="10455585"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0" name="TextBox 29"/>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1" name="Picture 30" descr="lock.png"/>
          <p:cNvPicPr>
            <a:picLocks noChangeAspect="1"/>
          </p:cNvPicPr>
          <p:nvPr/>
        </p:nvPicPr>
        <p:blipFill>
          <a:blip r:embed="rId4"/>
          <a:stretch>
            <a:fillRect/>
          </a:stretch>
        </p:blipFill>
        <p:spPr>
          <a:xfrm>
            <a:off x="6406275" y="4873036"/>
            <a:ext cx="128699" cy="187198"/>
          </a:xfrm>
          <a:prstGeom prst="rect">
            <a:avLst/>
          </a:prstGeom>
        </p:spPr>
      </p:pic>
      <p:sp>
        <p:nvSpPr>
          <p:cNvPr id="32" name="TextBox 31"/>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3" name="TextBox 32"/>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4" name="Picture 33" descr="lock.png"/>
          <p:cNvPicPr>
            <a:picLocks noChangeAspect="1"/>
          </p:cNvPicPr>
          <p:nvPr/>
        </p:nvPicPr>
        <p:blipFill>
          <a:blip r:embed="rId4"/>
          <a:stretch>
            <a:fillRect/>
          </a:stretch>
        </p:blipFill>
        <p:spPr>
          <a:xfrm>
            <a:off x="5106956" y="5040676"/>
            <a:ext cx="128699" cy="187198"/>
          </a:xfrm>
          <a:prstGeom prst="rect">
            <a:avLst/>
          </a:prstGeom>
        </p:spPr>
      </p:pic>
      <p:sp>
        <p:nvSpPr>
          <p:cNvPr id="35" name="TextBox 34"/>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6" name="TextBox 35"/>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7" name="Picture 36" descr="lock.png"/>
          <p:cNvPicPr>
            <a:picLocks noChangeAspect="1"/>
          </p:cNvPicPr>
          <p:nvPr/>
        </p:nvPicPr>
        <p:blipFill>
          <a:blip r:embed="rId4"/>
          <a:stretch>
            <a:fillRect/>
          </a:stretch>
        </p:blipFill>
        <p:spPr>
          <a:xfrm>
            <a:off x="10197622" y="4873036"/>
            <a:ext cx="128699" cy="187198"/>
          </a:xfrm>
          <a:prstGeom prst="rect">
            <a:avLst/>
          </a:prstGeom>
        </p:spPr>
      </p:pic>
      <p:sp>
        <p:nvSpPr>
          <p:cNvPr id="38" name="TextBox 37"/>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39" name="TextBox 38"/>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0" name="Picture 39" descr="lock.png"/>
          <p:cNvPicPr>
            <a:picLocks noChangeAspect="1"/>
          </p:cNvPicPr>
          <p:nvPr/>
        </p:nvPicPr>
        <p:blipFill>
          <a:blip r:embed="rId4"/>
          <a:stretch>
            <a:fillRect/>
          </a:stretch>
        </p:blipFill>
        <p:spPr>
          <a:xfrm>
            <a:off x="9248099" y="5040676"/>
            <a:ext cx="128699" cy="187198"/>
          </a:xfrm>
          <a:prstGeom prst="rect">
            <a:avLst/>
          </a:prstGeom>
        </p:spPr>
      </p:pic>
      <p:sp>
        <p:nvSpPr>
          <p:cNvPr id="41" name="TextBox 40"/>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2" name="TextBox 41"/>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3" name="Picture 42" descr="lock.png"/>
          <p:cNvPicPr>
            <a:picLocks noChangeAspect="1"/>
          </p:cNvPicPr>
          <p:nvPr/>
        </p:nvPicPr>
        <p:blipFill>
          <a:blip r:embed="rId4"/>
          <a:stretch>
            <a:fillRect/>
          </a:stretch>
        </p:blipFill>
        <p:spPr>
          <a:xfrm>
            <a:off x="4678579" y="5913497"/>
            <a:ext cx="128699" cy="187198"/>
          </a:xfrm>
          <a:prstGeom prst="rect">
            <a:avLst/>
          </a:prstGeom>
        </p:spPr>
      </p:pic>
      <p:sp>
        <p:nvSpPr>
          <p:cNvPr id="44" name="TextBox 43"/>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5" name="TextBox 44"/>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6" name="TextBox 45"/>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7" name="Picture 46" descr="lock.png"/>
          <p:cNvPicPr>
            <a:picLocks noChangeAspect="1"/>
          </p:cNvPicPr>
          <p:nvPr/>
        </p:nvPicPr>
        <p:blipFill>
          <a:blip r:embed="rId4"/>
          <a:stretch>
            <a:fillRect/>
          </a:stretch>
        </p:blipFill>
        <p:spPr>
          <a:xfrm>
            <a:off x="9591346" y="5997317"/>
            <a:ext cx="128699" cy="187198"/>
          </a:xfrm>
          <a:prstGeom prst="rect">
            <a:avLst/>
          </a:prstGeom>
        </p:spPr>
      </p:pic>
      <p:sp>
        <p:nvSpPr>
          <p:cNvPr id="48" name="TextBox 47"/>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49" name="Picture 48" descr="lock.png"/>
          <p:cNvPicPr>
            <a:picLocks noChangeAspect="1"/>
          </p:cNvPicPr>
          <p:nvPr/>
        </p:nvPicPr>
        <p:blipFill>
          <a:blip r:embed="rId4"/>
          <a:stretch>
            <a:fillRect/>
          </a:stretch>
        </p:blipFill>
        <p:spPr>
          <a:xfrm>
            <a:off x="11052672" y="5997317"/>
            <a:ext cx="128699" cy="187198"/>
          </a:xfrm>
          <a:prstGeom prst="rect">
            <a:avLst/>
          </a:prstGeom>
        </p:spPr>
      </p:pic>
      <p:sp>
        <p:nvSpPr>
          <p:cNvPr id="50" name="TextBox 49"/>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Ceramide Sunscreen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445350"/>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627887"/>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5302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56795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2933026"/>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3298100"/>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66317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4028248"/>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39332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767523"/>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51325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497671"/>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86274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622781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6280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16305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6905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40647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43895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81315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518735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16330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6905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40647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43895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4667250" y="1080276"/>
            <a:ext cx="2857500" cy="365074"/>
          </a:xfrm>
          <a:prstGeom prst="roundRect">
            <a:avLst>
              <a:gd name="adj" fmla="val 17500"/>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Ceramide Sunscreen Market</a:t>
            </a:r>
          </a:p>
        </p:txBody>
      </p:sp>
      <p:sp>
        <p:nvSpPr>
          <p:cNvPr id="55" name="Rounded Rectangle 54"/>
          <p:cNvSpPr/>
          <p:nvPr/>
        </p:nvSpPr>
        <p:spPr>
          <a:xfrm>
            <a:off x="14287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6" name="Rounded Rectangle 55"/>
          <p:cNvSpPr/>
          <p:nvPr/>
        </p:nvSpPr>
        <p:spPr>
          <a:xfrm>
            <a:off x="27622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7" name="Rounded Rectangle 56"/>
          <p:cNvSpPr/>
          <p:nvPr/>
        </p:nvSpPr>
        <p:spPr>
          <a:xfrm>
            <a:off x="276225"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58" name="Rounded Rectangle 57"/>
          <p:cNvSpPr/>
          <p:nvPr/>
        </p:nvSpPr>
        <p:spPr>
          <a:xfrm>
            <a:off x="214312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59" name="Rounded Rectangle 58"/>
          <p:cNvSpPr/>
          <p:nvPr/>
        </p:nvSpPr>
        <p:spPr>
          <a:xfrm>
            <a:off x="227647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0" name="Rounded Rectangle 59"/>
          <p:cNvSpPr/>
          <p:nvPr/>
        </p:nvSpPr>
        <p:spPr>
          <a:xfrm>
            <a:off x="2276475"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1" name="Rounded Rectangle 60"/>
          <p:cNvSpPr/>
          <p:nvPr/>
        </p:nvSpPr>
        <p:spPr>
          <a:xfrm>
            <a:off x="2276475"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LATAM</a:t>
            </a:r>
          </a:p>
        </p:txBody>
      </p:sp>
      <p:sp>
        <p:nvSpPr>
          <p:cNvPr id="62" name="Rounded Rectangle 61"/>
          <p:cNvSpPr/>
          <p:nvPr/>
        </p:nvSpPr>
        <p:spPr>
          <a:xfrm>
            <a:off x="414337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3" name="Rounded Rectangle 62"/>
          <p:cNvSpPr/>
          <p:nvPr/>
        </p:nvSpPr>
        <p:spPr>
          <a:xfrm>
            <a:off x="427672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4" name="Rounded Rectangle 63"/>
          <p:cNvSpPr/>
          <p:nvPr/>
        </p:nvSpPr>
        <p:spPr>
          <a:xfrm>
            <a:off x="4276725" y="263184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5" name="Rounded Rectangle 64"/>
          <p:cNvSpPr/>
          <p:nvPr/>
        </p:nvSpPr>
        <p:spPr>
          <a:xfrm>
            <a:off x="4276725" y="2996914"/>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6" name="Rounded Rectangle 65"/>
          <p:cNvSpPr/>
          <p:nvPr/>
        </p:nvSpPr>
        <p:spPr>
          <a:xfrm>
            <a:off x="4276725" y="336198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67" name="Rounded Rectangle 66"/>
          <p:cNvSpPr/>
          <p:nvPr/>
        </p:nvSpPr>
        <p:spPr>
          <a:xfrm>
            <a:off x="4276725" y="3727062"/>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68" name="Rounded Rectangle 67"/>
          <p:cNvSpPr/>
          <p:nvPr/>
        </p:nvSpPr>
        <p:spPr>
          <a:xfrm>
            <a:off x="4276725" y="409213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69" name="Rounded Rectangle 68"/>
          <p:cNvSpPr/>
          <p:nvPr/>
        </p:nvSpPr>
        <p:spPr>
          <a:xfrm>
            <a:off x="4276725" y="446633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0" name="Rounded Rectangle 69"/>
          <p:cNvSpPr/>
          <p:nvPr/>
        </p:nvSpPr>
        <p:spPr>
          <a:xfrm>
            <a:off x="4276725" y="483141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a:t>
            </a:r>
          </a:p>
        </p:txBody>
      </p:sp>
      <p:sp>
        <p:nvSpPr>
          <p:cNvPr id="71" name="Rounded Rectangle 70"/>
          <p:cNvSpPr/>
          <p:nvPr/>
        </p:nvSpPr>
        <p:spPr>
          <a:xfrm>
            <a:off x="4276725" y="5196485"/>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2" name="Rounded Rectangle 71"/>
          <p:cNvSpPr/>
          <p:nvPr/>
        </p:nvSpPr>
        <p:spPr>
          <a:xfrm>
            <a:off x="4276725" y="556155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3" name="Rounded Rectangle 72"/>
          <p:cNvSpPr/>
          <p:nvPr/>
        </p:nvSpPr>
        <p:spPr>
          <a:xfrm>
            <a:off x="4276725" y="5926633"/>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4" name="Rounded Rectangle 73"/>
          <p:cNvSpPr/>
          <p:nvPr/>
        </p:nvSpPr>
        <p:spPr>
          <a:xfrm>
            <a:off x="4276725" y="629170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5" name="Rounded Rectangle 74"/>
          <p:cNvSpPr/>
          <p:nvPr/>
        </p:nvSpPr>
        <p:spPr>
          <a:xfrm>
            <a:off x="615315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6" name="Rounded Rectangle 75"/>
          <p:cNvSpPr/>
          <p:nvPr/>
        </p:nvSpPr>
        <p:spPr>
          <a:xfrm>
            <a:off x="628650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77" name="Rounded Rectangle 76"/>
          <p:cNvSpPr/>
          <p:nvPr/>
        </p:nvSpPr>
        <p:spPr>
          <a:xfrm>
            <a:off x="628650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78" name="Rounded Rectangle 77"/>
          <p:cNvSpPr/>
          <p:nvPr/>
        </p:nvSpPr>
        <p:spPr>
          <a:xfrm>
            <a:off x="628650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79" name="Rounded Rectangle 78"/>
          <p:cNvSpPr/>
          <p:nvPr/>
        </p:nvSpPr>
        <p:spPr>
          <a:xfrm>
            <a:off x="815340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0" name="Rounded Rectangle 79"/>
          <p:cNvSpPr/>
          <p:nvPr/>
        </p:nvSpPr>
        <p:spPr>
          <a:xfrm>
            <a:off x="828675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1" name="Rounded Rectangle 80"/>
          <p:cNvSpPr/>
          <p:nvPr/>
        </p:nvSpPr>
        <p:spPr>
          <a:xfrm>
            <a:off x="828675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2" name="Rounded Rectangle 81"/>
          <p:cNvSpPr/>
          <p:nvPr/>
        </p:nvSpPr>
        <p:spPr>
          <a:xfrm>
            <a:off x="828675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3" name="Rounded Rectangle 82"/>
          <p:cNvSpPr/>
          <p:nvPr/>
        </p:nvSpPr>
        <p:spPr>
          <a:xfrm>
            <a:off x="8286750"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4" name="Rounded Rectangle 83"/>
          <p:cNvSpPr/>
          <p:nvPr/>
        </p:nvSpPr>
        <p:spPr>
          <a:xfrm>
            <a:off x="8286750" y="37635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5" name="Rounded Rectangle 84"/>
          <p:cNvSpPr/>
          <p:nvPr/>
        </p:nvSpPr>
        <p:spPr>
          <a:xfrm>
            <a:off x="8286750" y="413777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6" name="Rounded Rectangle 85"/>
          <p:cNvSpPr/>
          <p:nvPr/>
        </p:nvSpPr>
        <p:spPr>
          <a:xfrm>
            <a:off x="8286750" y="451197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87" name="Rounded Rectangle 86"/>
          <p:cNvSpPr/>
          <p:nvPr/>
        </p:nvSpPr>
        <p:spPr>
          <a:xfrm>
            <a:off x="8286750" y="4886172"/>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88" name="Rounded Rectangle 87"/>
          <p:cNvSpPr/>
          <p:nvPr/>
        </p:nvSpPr>
        <p:spPr>
          <a:xfrm>
            <a:off x="8286750" y="5260373"/>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East Asia</a:t>
            </a:r>
          </a:p>
        </p:txBody>
      </p:sp>
      <p:sp>
        <p:nvSpPr>
          <p:cNvPr id="89" name="Rounded Rectangle 88"/>
          <p:cNvSpPr/>
          <p:nvPr/>
        </p:nvSpPr>
        <p:spPr>
          <a:xfrm>
            <a:off x="1015365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90" name="Rounded Rectangle 89"/>
          <p:cNvSpPr/>
          <p:nvPr/>
        </p:nvSpPr>
        <p:spPr>
          <a:xfrm>
            <a:off x="1028700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1" name="Rounded Rectangle 90"/>
          <p:cNvSpPr/>
          <p:nvPr/>
        </p:nvSpPr>
        <p:spPr>
          <a:xfrm>
            <a:off x="1028700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2" name="Rounded Rectangle 91"/>
          <p:cNvSpPr/>
          <p:nvPr/>
        </p:nvSpPr>
        <p:spPr>
          <a:xfrm>
            <a:off x="1028700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3" name="Rounded Rectangle 92"/>
          <p:cNvSpPr/>
          <p:nvPr/>
        </p:nvSpPr>
        <p:spPr>
          <a:xfrm>
            <a:off x="10287000"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4" name="Rounded Rectangle 93"/>
          <p:cNvSpPr/>
          <p:nvPr/>
        </p:nvSpPr>
        <p:spPr>
          <a:xfrm>
            <a:off x="10287000" y="37635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GCC</a:t>
            </a:r>
          </a:p>
        </p:txBody>
      </p:sp>
      <p:sp>
        <p:nvSpPr>
          <p:cNvPr id="95" name="Rounded Rectangle 94"/>
          <p:cNvSpPr/>
          <p:nvPr/>
        </p:nvSpPr>
        <p:spPr>
          <a:xfrm>
            <a:off x="10287000" y="413777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96" name="Rounded Rectangle 95"/>
          <p:cNvSpPr/>
          <p:nvPr/>
        </p:nvSpPr>
        <p:spPr>
          <a:xfrm>
            <a:off x="10287000" y="451197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MEA</a:t>
            </a:r>
          </a:p>
        </p:txBody>
      </p:sp>
      <p:sp>
        <p:nvSpPr>
          <p:cNvPr id="97" name="TextBox 9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8 axes and the sub-segments sized under each</a:t>
            </a:r>
          </a:p>
        </p:txBody>
      </p:sp>
      <p:sp>
        <p:nvSpPr>
          <p:cNvPr id="10" name="Rectangle 9"/>
          <p:cNvSpPr/>
          <p:nvPr/>
        </p:nvSpPr>
        <p:spPr>
          <a:xfrm>
            <a:off x="142875" y="102870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Type</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Mineral Ceramide Sunscreen</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Zinc Oxide-based</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Titanium Dioxide-based</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14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561975" y="178879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Zinc Oxide &amp; Titanium Dioxide Combination</a:t>
            </a:r>
          </a:p>
        </p:txBody>
      </p:sp>
      <p:cxnSp>
        <p:nvCxnSpPr>
          <p:cNvPr id="24" name="Connector 23"/>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390525" y="214312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Chemical Ceramide Sunscreen</a:t>
            </a:r>
          </a:p>
        </p:txBody>
      </p:sp>
      <p:cxnSp>
        <p:nvCxnSpPr>
          <p:cNvPr id="27" name="Connector 26"/>
          <p:cNvCxnSpPr/>
          <p:nvPr/>
        </p:nvCxnSpPr>
        <p:spPr>
          <a:xfrm>
            <a:off x="1524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00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390525" y="23202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Hybrid Ceramide Sunscreen</a:t>
            </a:r>
          </a:p>
        </p:txBody>
      </p:sp>
      <p:sp>
        <p:nvSpPr>
          <p:cNvPr id="30" name="Rectangle 29"/>
          <p:cNvSpPr/>
          <p:nvPr/>
        </p:nvSpPr>
        <p:spPr>
          <a:xfrm>
            <a:off x="142875" y="2611755"/>
            <a:ext cx="2876550" cy="111442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42875" y="2611755"/>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075" y="2611755"/>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Pack Size</a:t>
            </a:r>
          </a:p>
        </p:txBody>
      </p:sp>
      <p:sp>
        <p:nvSpPr>
          <p:cNvPr id="33" name="TextBox 32"/>
          <p:cNvSpPr txBox="1"/>
          <p:nvPr/>
        </p:nvSpPr>
        <p:spPr>
          <a:xfrm>
            <a:off x="2000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3905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Up to 30 g/ml</a:t>
            </a:r>
          </a:p>
        </p:txBody>
      </p:sp>
      <p:cxnSp>
        <p:nvCxnSpPr>
          <p:cNvPr id="35" name="Connector 34"/>
          <p:cNvCxnSpPr/>
          <p:nvPr/>
        </p:nvCxnSpPr>
        <p:spPr>
          <a:xfrm>
            <a:off x="1524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0002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390525" y="30175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30–50 g/ml</a:t>
            </a:r>
          </a:p>
        </p:txBody>
      </p:sp>
      <p:cxnSp>
        <p:nvCxnSpPr>
          <p:cNvPr id="38" name="Connector 37"/>
          <p:cNvCxnSpPr/>
          <p:nvPr/>
        </p:nvCxnSpPr>
        <p:spPr>
          <a:xfrm>
            <a:off x="1524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0002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0" name="TextBox 39"/>
          <p:cNvSpPr txBox="1"/>
          <p:nvPr/>
        </p:nvSpPr>
        <p:spPr>
          <a:xfrm>
            <a:off x="390525" y="319468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50–100 g/ml</a:t>
            </a:r>
          </a:p>
        </p:txBody>
      </p:sp>
      <p:cxnSp>
        <p:nvCxnSpPr>
          <p:cNvPr id="41" name="Connector 40"/>
          <p:cNvCxnSpPr/>
          <p:nvPr/>
        </p:nvCxnSpPr>
        <p:spPr>
          <a:xfrm>
            <a:off x="152400" y="33718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00025" y="33718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3" name="TextBox 42"/>
          <p:cNvSpPr txBox="1"/>
          <p:nvPr/>
        </p:nvSpPr>
        <p:spPr>
          <a:xfrm>
            <a:off x="390525" y="337185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100–200 g/ml</a:t>
            </a:r>
          </a:p>
        </p:txBody>
      </p:sp>
      <p:cxnSp>
        <p:nvCxnSpPr>
          <p:cNvPr id="44" name="Connector 43"/>
          <p:cNvCxnSpPr/>
          <p:nvPr/>
        </p:nvCxnSpPr>
        <p:spPr>
          <a:xfrm>
            <a:off x="152400" y="35490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00025" y="35490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6" name="TextBox 45"/>
          <p:cNvSpPr txBox="1"/>
          <p:nvPr/>
        </p:nvSpPr>
        <p:spPr>
          <a:xfrm>
            <a:off x="390525" y="354901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200 g/ml</a:t>
            </a:r>
          </a:p>
        </p:txBody>
      </p:sp>
      <p:sp>
        <p:nvSpPr>
          <p:cNvPr id="47" name="Rectangle 46"/>
          <p:cNvSpPr/>
          <p:nvPr/>
        </p:nvSpPr>
        <p:spPr>
          <a:xfrm>
            <a:off x="3152775" y="1028700"/>
            <a:ext cx="2876550" cy="253174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Form Type</a:t>
            </a:r>
          </a:p>
        </p:txBody>
      </p:sp>
      <p:sp>
        <p:nvSpPr>
          <p:cNvPr id="50" name="TextBox 49"/>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1" name="TextBox 50"/>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Cream-based Sunscreen</a:t>
            </a:r>
          </a:p>
        </p:txBody>
      </p:sp>
      <p:cxnSp>
        <p:nvCxnSpPr>
          <p:cNvPr id="52" name="Connector 51"/>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813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35718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Traditional Cream</a:t>
            </a:r>
          </a:p>
        </p:txBody>
      </p:sp>
      <p:cxnSp>
        <p:nvCxnSpPr>
          <p:cNvPr id="55" name="Connector 54"/>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3813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7" name="TextBox 56"/>
          <p:cNvSpPr txBox="1"/>
          <p:nvPr/>
        </p:nvSpPr>
        <p:spPr>
          <a:xfrm>
            <a:off x="35718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Gel-Cream</a:t>
            </a:r>
          </a:p>
        </p:txBody>
      </p:sp>
      <p:cxnSp>
        <p:nvCxnSpPr>
          <p:cNvPr id="58" name="Connector 57"/>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099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0" name="TextBox 59"/>
          <p:cNvSpPr txBox="1"/>
          <p:nvPr/>
        </p:nvSpPr>
        <p:spPr>
          <a:xfrm>
            <a:off x="3400425" y="178879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Lotion-based Sunscreen</a:t>
            </a:r>
          </a:p>
        </p:txBody>
      </p:sp>
      <p:cxnSp>
        <p:nvCxnSpPr>
          <p:cNvPr id="61" name="Connector 60"/>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33813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3" name="TextBox 62"/>
          <p:cNvSpPr txBox="1"/>
          <p:nvPr/>
        </p:nvSpPr>
        <p:spPr>
          <a:xfrm>
            <a:off x="35718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 Lotion</a:t>
            </a:r>
          </a:p>
        </p:txBody>
      </p:sp>
      <p:cxnSp>
        <p:nvCxnSpPr>
          <p:cNvPr id="64" name="Connector 63"/>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33813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6" name="TextBox 65"/>
          <p:cNvSpPr txBox="1"/>
          <p:nvPr/>
        </p:nvSpPr>
        <p:spPr>
          <a:xfrm>
            <a:off x="35718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Lightweight Fluid / Milk</a:t>
            </a:r>
          </a:p>
        </p:txBody>
      </p:sp>
      <p:cxnSp>
        <p:nvCxnSpPr>
          <p:cNvPr id="67" name="Connector 66"/>
          <p:cNvCxnSpPr/>
          <p:nvPr/>
        </p:nvCxnSpPr>
        <p:spPr>
          <a:xfrm>
            <a:off x="31623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2099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9" name="TextBox 68"/>
          <p:cNvSpPr txBox="1"/>
          <p:nvPr/>
        </p:nvSpPr>
        <p:spPr>
          <a:xfrm>
            <a:off x="3400425" y="23202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Gel-based Sunscreen</a:t>
            </a:r>
          </a:p>
        </p:txBody>
      </p:sp>
      <p:cxnSp>
        <p:nvCxnSpPr>
          <p:cNvPr id="70" name="Connector 69"/>
          <p:cNvCxnSpPr/>
          <p:nvPr/>
        </p:nvCxnSpPr>
        <p:spPr>
          <a:xfrm>
            <a:off x="31623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33813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2" name="TextBox 71"/>
          <p:cNvSpPr txBox="1"/>
          <p:nvPr/>
        </p:nvSpPr>
        <p:spPr>
          <a:xfrm>
            <a:off x="35718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Water-based Gel</a:t>
            </a:r>
          </a:p>
        </p:txBody>
      </p:sp>
      <p:cxnSp>
        <p:nvCxnSpPr>
          <p:cNvPr id="73" name="Connector 72"/>
          <p:cNvCxnSpPr/>
          <p:nvPr/>
        </p:nvCxnSpPr>
        <p:spPr>
          <a:xfrm>
            <a:off x="31623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33813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35718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Oil-free Gel</a:t>
            </a:r>
          </a:p>
        </p:txBody>
      </p:sp>
      <p:cxnSp>
        <p:nvCxnSpPr>
          <p:cNvPr id="76" name="Connector 75"/>
          <p:cNvCxnSpPr/>
          <p:nvPr/>
        </p:nvCxnSpPr>
        <p:spPr>
          <a:xfrm>
            <a:off x="31623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320992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8" name="TextBox 77"/>
          <p:cNvSpPr txBox="1"/>
          <p:nvPr/>
        </p:nvSpPr>
        <p:spPr>
          <a:xfrm>
            <a:off x="3400425" y="285178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Stick-based Sunscreen</a:t>
            </a:r>
          </a:p>
        </p:txBody>
      </p:sp>
      <p:cxnSp>
        <p:nvCxnSpPr>
          <p:cNvPr id="79" name="Connector 78"/>
          <p:cNvCxnSpPr/>
          <p:nvPr/>
        </p:nvCxnSpPr>
        <p:spPr>
          <a:xfrm>
            <a:off x="31623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320992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1" name="TextBox 80"/>
          <p:cNvSpPr txBox="1"/>
          <p:nvPr/>
        </p:nvSpPr>
        <p:spPr>
          <a:xfrm>
            <a:off x="3400425" y="302895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Other Forms</a:t>
            </a:r>
          </a:p>
        </p:txBody>
      </p:sp>
      <p:cxnSp>
        <p:nvCxnSpPr>
          <p:cNvPr id="82" name="Connector 81"/>
          <p:cNvCxnSpPr/>
          <p:nvPr/>
        </p:nvCxnSpPr>
        <p:spPr>
          <a:xfrm>
            <a:off x="31623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33813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4" name="TextBox 83"/>
          <p:cNvSpPr txBox="1"/>
          <p:nvPr/>
        </p:nvSpPr>
        <p:spPr>
          <a:xfrm>
            <a:off x="35718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Spray</a:t>
            </a:r>
          </a:p>
        </p:txBody>
      </p:sp>
      <p:cxnSp>
        <p:nvCxnSpPr>
          <p:cNvPr id="85" name="Connector 84"/>
          <p:cNvCxnSpPr/>
          <p:nvPr/>
        </p:nvCxnSpPr>
        <p:spPr>
          <a:xfrm>
            <a:off x="31623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33813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7" name="TextBox 86"/>
          <p:cNvSpPr txBox="1"/>
          <p:nvPr/>
        </p:nvSpPr>
        <p:spPr>
          <a:xfrm>
            <a:off x="35718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Serum-based Sunscreen</a:t>
            </a:r>
          </a:p>
        </p:txBody>
      </p:sp>
      <p:sp>
        <p:nvSpPr>
          <p:cNvPr id="88" name="Rectangle 87"/>
          <p:cNvSpPr/>
          <p:nvPr/>
        </p:nvSpPr>
        <p:spPr>
          <a:xfrm>
            <a:off x="3152775" y="3674745"/>
            <a:ext cx="2876550" cy="20002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3152775" y="3674745"/>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228975" y="3674745"/>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Sales Channel</a:t>
            </a:r>
          </a:p>
        </p:txBody>
      </p:sp>
      <p:sp>
        <p:nvSpPr>
          <p:cNvPr id="91" name="TextBox 90"/>
          <p:cNvSpPr txBox="1"/>
          <p:nvPr/>
        </p:nvSpPr>
        <p:spPr>
          <a:xfrm>
            <a:off x="3209925" y="39033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3400425" y="390334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Online</a:t>
            </a:r>
          </a:p>
        </p:txBody>
      </p:sp>
      <p:cxnSp>
        <p:nvCxnSpPr>
          <p:cNvPr id="93" name="Connector 92"/>
          <p:cNvCxnSpPr/>
          <p:nvPr/>
        </p:nvCxnSpPr>
        <p:spPr>
          <a:xfrm>
            <a:off x="3162300" y="40805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3381375" y="40805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5" name="TextBox 94"/>
          <p:cNvSpPr txBox="1"/>
          <p:nvPr/>
        </p:nvSpPr>
        <p:spPr>
          <a:xfrm>
            <a:off x="3571875" y="40805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Brand-owned E-commerce Websites</a:t>
            </a:r>
          </a:p>
        </p:txBody>
      </p:sp>
      <p:cxnSp>
        <p:nvCxnSpPr>
          <p:cNvPr id="96" name="Connector 95"/>
          <p:cNvCxnSpPr/>
          <p:nvPr/>
        </p:nvCxnSpPr>
        <p:spPr>
          <a:xfrm>
            <a:off x="3162300" y="42576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3381375" y="42576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8" name="TextBox 97"/>
          <p:cNvSpPr txBox="1"/>
          <p:nvPr/>
        </p:nvSpPr>
        <p:spPr>
          <a:xfrm>
            <a:off x="3571875" y="42576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Third-party E-commerce Marketplaces</a:t>
            </a:r>
          </a:p>
        </p:txBody>
      </p:sp>
      <p:cxnSp>
        <p:nvCxnSpPr>
          <p:cNvPr id="99" name="Connector 98"/>
          <p:cNvCxnSpPr/>
          <p:nvPr/>
        </p:nvCxnSpPr>
        <p:spPr>
          <a:xfrm>
            <a:off x="3162300" y="44348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3381375" y="44348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1" name="TextBox 100"/>
          <p:cNvSpPr txBox="1"/>
          <p:nvPr/>
        </p:nvSpPr>
        <p:spPr>
          <a:xfrm>
            <a:off x="3571875" y="44348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Online Pharmacies</a:t>
            </a:r>
          </a:p>
        </p:txBody>
      </p:sp>
      <p:cxnSp>
        <p:nvCxnSpPr>
          <p:cNvPr id="102" name="Connector 101"/>
          <p:cNvCxnSpPr/>
          <p:nvPr/>
        </p:nvCxnSpPr>
        <p:spPr>
          <a:xfrm>
            <a:off x="3162300" y="46120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3209925" y="46120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4" name="TextBox 103"/>
          <p:cNvSpPr txBox="1"/>
          <p:nvPr/>
        </p:nvSpPr>
        <p:spPr>
          <a:xfrm>
            <a:off x="3400425" y="461200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Offline</a:t>
            </a:r>
          </a:p>
        </p:txBody>
      </p:sp>
      <p:cxnSp>
        <p:nvCxnSpPr>
          <p:cNvPr id="105" name="Connector 104"/>
          <p:cNvCxnSpPr/>
          <p:nvPr/>
        </p:nvCxnSpPr>
        <p:spPr>
          <a:xfrm>
            <a:off x="3162300" y="47891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3381375" y="47891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7" name="TextBox 106"/>
          <p:cNvSpPr txBox="1"/>
          <p:nvPr/>
        </p:nvSpPr>
        <p:spPr>
          <a:xfrm>
            <a:off x="3571875" y="47891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Supermarkets &amp; Hypermarkets</a:t>
            </a:r>
          </a:p>
        </p:txBody>
      </p:sp>
      <p:cxnSp>
        <p:nvCxnSpPr>
          <p:cNvPr id="108" name="Connector 107"/>
          <p:cNvCxnSpPr/>
          <p:nvPr/>
        </p:nvCxnSpPr>
        <p:spPr>
          <a:xfrm>
            <a:off x="3162300" y="49663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3381375" y="49663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3571875" y="49663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Pharmacies &amp; Drugstores</a:t>
            </a:r>
          </a:p>
        </p:txBody>
      </p:sp>
      <p:cxnSp>
        <p:nvCxnSpPr>
          <p:cNvPr id="111" name="Connector 110"/>
          <p:cNvCxnSpPr/>
          <p:nvPr/>
        </p:nvCxnSpPr>
        <p:spPr>
          <a:xfrm>
            <a:off x="3162300" y="51435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3381375" y="51435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3571875" y="51435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Beauty &amp; Cosmetics Specialty Stores</a:t>
            </a:r>
          </a:p>
        </p:txBody>
      </p:sp>
      <p:cxnSp>
        <p:nvCxnSpPr>
          <p:cNvPr id="114" name="Connector 113"/>
          <p:cNvCxnSpPr/>
          <p:nvPr/>
        </p:nvCxnSpPr>
        <p:spPr>
          <a:xfrm>
            <a:off x="3162300" y="53206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3381375" y="53206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6" name="TextBox 115"/>
          <p:cNvSpPr txBox="1"/>
          <p:nvPr/>
        </p:nvSpPr>
        <p:spPr>
          <a:xfrm>
            <a:off x="3571875" y="53206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Department Stores</a:t>
            </a:r>
          </a:p>
        </p:txBody>
      </p:sp>
      <p:cxnSp>
        <p:nvCxnSpPr>
          <p:cNvPr id="117" name="Connector 116"/>
          <p:cNvCxnSpPr/>
          <p:nvPr/>
        </p:nvCxnSpPr>
        <p:spPr>
          <a:xfrm>
            <a:off x="3162300" y="54978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3381375" y="54978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9" name="TextBox 118"/>
          <p:cNvSpPr txBox="1"/>
          <p:nvPr/>
        </p:nvSpPr>
        <p:spPr>
          <a:xfrm>
            <a:off x="3571875" y="54978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Dermatology Clinics</a:t>
            </a:r>
          </a:p>
        </p:txBody>
      </p:sp>
      <p:sp>
        <p:nvSpPr>
          <p:cNvPr id="120" name="Rectangle 119"/>
          <p:cNvSpPr/>
          <p:nvPr/>
        </p:nvSpPr>
        <p:spPr>
          <a:xfrm>
            <a:off x="61626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SPF Rating</a:t>
            </a:r>
          </a:p>
        </p:txBody>
      </p:sp>
      <p:sp>
        <p:nvSpPr>
          <p:cNvPr id="123" name="TextBox 122"/>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4" name="TextBox 123"/>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Below SPF 30</a:t>
            </a:r>
          </a:p>
        </p:txBody>
      </p:sp>
      <p:cxnSp>
        <p:nvCxnSpPr>
          <p:cNvPr id="125" name="Connector 124"/>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7" name="TextBox 126"/>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SPF 30–49</a:t>
            </a:r>
          </a:p>
        </p:txBody>
      </p:sp>
      <p:cxnSp>
        <p:nvCxnSpPr>
          <p:cNvPr id="128" name="Connector 127"/>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0" name="TextBox 129"/>
          <p:cNvSpPr txBox="1"/>
          <p:nvPr/>
        </p:nvSpPr>
        <p:spPr>
          <a:xfrm>
            <a:off x="64103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SPF 50</a:t>
            </a:r>
          </a:p>
        </p:txBody>
      </p:sp>
      <p:cxnSp>
        <p:nvCxnSpPr>
          <p:cNvPr id="131" name="Connector 130"/>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62198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3" name="TextBox 132"/>
          <p:cNvSpPr txBox="1"/>
          <p:nvPr/>
        </p:nvSpPr>
        <p:spPr>
          <a:xfrm>
            <a:off x="64103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SPF 50</a:t>
            </a:r>
          </a:p>
        </p:txBody>
      </p:sp>
      <p:sp>
        <p:nvSpPr>
          <p:cNvPr id="134" name="Rectangle 133"/>
          <p:cNvSpPr/>
          <p:nvPr/>
        </p:nvSpPr>
        <p:spPr>
          <a:xfrm>
            <a:off x="6162675" y="208026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6162675" y="208026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238875" y="208026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End-use Application</a:t>
            </a:r>
          </a:p>
        </p:txBody>
      </p:sp>
      <p:sp>
        <p:nvSpPr>
          <p:cNvPr id="137" name="TextBox 136"/>
          <p:cNvSpPr txBox="1"/>
          <p:nvPr/>
        </p:nvSpPr>
        <p:spPr>
          <a:xfrm>
            <a:off x="62198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8" name="TextBox 137"/>
          <p:cNvSpPr txBox="1"/>
          <p:nvPr/>
        </p:nvSpPr>
        <p:spPr>
          <a:xfrm>
            <a:off x="6410325" y="23088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Facial Sunscreen</a:t>
            </a:r>
          </a:p>
        </p:txBody>
      </p:sp>
      <p:cxnSp>
        <p:nvCxnSpPr>
          <p:cNvPr id="139" name="Connector 138"/>
          <p:cNvCxnSpPr/>
          <p:nvPr/>
        </p:nvCxnSpPr>
        <p:spPr>
          <a:xfrm>
            <a:off x="61722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62198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1" name="TextBox 140"/>
          <p:cNvSpPr txBox="1"/>
          <p:nvPr/>
        </p:nvSpPr>
        <p:spPr>
          <a:xfrm>
            <a:off x="64103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Body Sunscreen</a:t>
            </a:r>
          </a:p>
        </p:txBody>
      </p:sp>
      <p:cxnSp>
        <p:nvCxnSpPr>
          <p:cNvPr id="142" name="Connector 141"/>
          <p:cNvCxnSpPr/>
          <p:nvPr/>
        </p:nvCxnSpPr>
        <p:spPr>
          <a:xfrm>
            <a:off x="61722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62198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4" name="TextBox 143"/>
          <p:cNvSpPr txBox="1"/>
          <p:nvPr/>
        </p:nvSpPr>
        <p:spPr>
          <a:xfrm>
            <a:off x="64103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Face &amp; Body Sunscreen</a:t>
            </a:r>
          </a:p>
        </p:txBody>
      </p:sp>
      <p:cxnSp>
        <p:nvCxnSpPr>
          <p:cNvPr id="145" name="Connector 144"/>
          <p:cNvCxnSpPr/>
          <p:nvPr/>
        </p:nvCxnSpPr>
        <p:spPr>
          <a:xfrm>
            <a:off x="61722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62198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7" name="TextBox 146"/>
          <p:cNvSpPr txBox="1"/>
          <p:nvPr/>
        </p:nvSpPr>
        <p:spPr>
          <a:xfrm>
            <a:off x="64103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Lip Sunscreen</a:t>
            </a:r>
          </a:p>
        </p:txBody>
      </p:sp>
      <p:sp>
        <p:nvSpPr>
          <p:cNvPr id="148" name="Rectangle 147"/>
          <p:cNvSpPr/>
          <p:nvPr/>
        </p:nvSpPr>
        <p:spPr>
          <a:xfrm>
            <a:off x="6162675" y="313182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162675" y="313182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238875" y="313182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Price Tier</a:t>
            </a:r>
          </a:p>
        </p:txBody>
      </p:sp>
      <p:sp>
        <p:nvSpPr>
          <p:cNvPr id="151" name="TextBox 150"/>
          <p:cNvSpPr txBox="1"/>
          <p:nvPr/>
        </p:nvSpPr>
        <p:spPr>
          <a:xfrm>
            <a:off x="6219825" y="33604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2" name="TextBox 151"/>
          <p:cNvSpPr txBox="1"/>
          <p:nvPr/>
        </p:nvSpPr>
        <p:spPr>
          <a:xfrm>
            <a:off x="6410325" y="33604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Mass Market</a:t>
            </a:r>
          </a:p>
        </p:txBody>
      </p:sp>
      <p:cxnSp>
        <p:nvCxnSpPr>
          <p:cNvPr id="153" name="Connector 152"/>
          <p:cNvCxnSpPr/>
          <p:nvPr/>
        </p:nvCxnSpPr>
        <p:spPr>
          <a:xfrm>
            <a:off x="6172200" y="35375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6219825" y="35375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5" name="TextBox 154"/>
          <p:cNvSpPr txBox="1"/>
          <p:nvPr/>
        </p:nvSpPr>
        <p:spPr>
          <a:xfrm>
            <a:off x="6410325" y="353758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Masstige</a:t>
            </a:r>
          </a:p>
        </p:txBody>
      </p:sp>
      <p:cxnSp>
        <p:nvCxnSpPr>
          <p:cNvPr id="156" name="Connector 155"/>
          <p:cNvCxnSpPr/>
          <p:nvPr/>
        </p:nvCxnSpPr>
        <p:spPr>
          <a:xfrm>
            <a:off x="6172200" y="37147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6219825" y="37147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8" name="TextBox 157"/>
          <p:cNvSpPr txBox="1"/>
          <p:nvPr/>
        </p:nvSpPr>
        <p:spPr>
          <a:xfrm>
            <a:off x="6410325" y="371475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Premium</a:t>
            </a:r>
          </a:p>
        </p:txBody>
      </p:sp>
      <p:cxnSp>
        <p:nvCxnSpPr>
          <p:cNvPr id="159" name="Connector 158"/>
          <p:cNvCxnSpPr/>
          <p:nvPr/>
        </p:nvCxnSpPr>
        <p:spPr>
          <a:xfrm>
            <a:off x="6172200" y="38919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6219825" y="38919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1" name="TextBox 160"/>
          <p:cNvSpPr txBox="1"/>
          <p:nvPr/>
        </p:nvSpPr>
        <p:spPr>
          <a:xfrm>
            <a:off x="6410325" y="389191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Prestige / Luxury</a:t>
            </a:r>
          </a:p>
        </p:txBody>
      </p:sp>
      <p:sp>
        <p:nvSpPr>
          <p:cNvPr id="162" name="Rectangle 161"/>
          <p:cNvSpPr/>
          <p:nvPr/>
        </p:nvSpPr>
        <p:spPr>
          <a:xfrm>
            <a:off x="9172575" y="1028700"/>
            <a:ext cx="2876550" cy="394906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Ingredient Type</a:t>
            </a:r>
          </a:p>
        </p:txBody>
      </p:sp>
      <p:sp>
        <p:nvSpPr>
          <p:cNvPr id="165" name="TextBox 164"/>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6" name="TextBox 165"/>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Regular Ingredients</a:t>
            </a:r>
          </a:p>
        </p:txBody>
      </p:sp>
      <p:cxnSp>
        <p:nvCxnSpPr>
          <p:cNvPr id="167" name="Connector 166"/>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94011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9" name="TextBox 168"/>
          <p:cNvSpPr txBox="1"/>
          <p:nvPr/>
        </p:nvSpPr>
        <p:spPr>
          <a:xfrm>
            <a:off x="95916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 NP</a:t>
            </a:r>
          </a:p>
        </p:txBody>
      </p:sp>
      <p:cxnSp>
        <p:nvCxnSpPr>
          <p:cNvPr id="170" name="Connector 169"/>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1" name="TextBox 170"/>
          <p:cNvSpPr txBox="1"/>
          <p:nvPr/>
        </p:nvSpPr>
        <p:spPr>
          <a:xfrm>
            <a:off x="94011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2" name="TextBox 171"/>
          <p:cNvSpPr txBox="1"/>
          <p:nvPr/>
        </p:nvSpPr>
        <p:spPr>
          <a:xfrm>
            <a:off x="95916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 AP</a:t>
            </a:r>
          </a:p>
        </p:txBody>
      </p:sp>
      <p:cxnSp>
        <p:nvCxnSpPr>
          <p:cNvPr id="173" name="Connector 172"/>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94011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5" name="TextBox 174"/>
          <p:cNvSpPr txBox="1"/>
          <p:nvPr/>
        </p:nvSpPr>
        <p:spPr>
          <a:xfrm>
            <a:off x="95916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 EOP</a:t>
            </a:r>
          </a:p>
        </p:txBody>
      </p:sp>
      <p:cxnSp>
        <p:nvCxnSpPr>
          <p:cNvPr id="176" name="Connector 175"/>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94011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8" name="TextBox 177"/>
          <p:cNvSpPr txBox="1"/>
          <p:nvPr/>
        </p:nvSpPr>
        <p:spPr>
          <a:xfrm>
            <a:off x="95916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 NG</a:t>
            </a:r>
          </a:p>
        </p:txBody>
      </p:sp>
      <p:cxnSp>
        <p:nvCxnSpPr>
          <p:cNvPr id="179" name="Connector 178"/>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0" name="TextBox 179"/>
          <p:cNvSpPr txBox="1"/>
          <p:nvPr/>
        </p:nvSpPr>
        <p:spPr>
          <a:xfrm>
            <a:off x="94011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1" name="TextBox 180"/>
          <p:cNvSpPr txBox="1"/>
          <p:nvPr/>
        </p:nvSpPr>
        <p:spPr>
          <a:xfrm>
            <a:off x="95916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 AS</a:t>
            </a:r>
          </a:p>
        </p:txBody>
      </p:sp>
      <p:cxnSp>
        <p:nvCxnSpPr>
          <p:cNvPr id="182" name="Connector 181"/>
          <p:cNvCxnSpPr/>
          <p:nvPr/>
        </p:nvCxnSpPr>
        <p:spPr>
          <a:xfrm>
            <a:off x="91821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3" name="TextBox 182"/>
          <p:cNvSpPr txBox="1"/>
          <p:nvPr/>
        </p:nvSpPr>
        <p:spPr>
          <a:xfrm>
            <a:off x="94011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4" name="TextBox 183"/>
          <p:cNvSpPr txBox="1"/>
          <p:nvPr/>
        </p:nvSpPr>
        <p:spPr>
          <a:xfrm>
            <a:off x="95916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 NS</a:t>
            </a:r>
          </a:p>
        </p:txBody>
      </p:sp>
      <p:cxnSp>
        <p:nvCxnSpPr>
          <p:cNvPr id="185" name="Connector 184"/>
          <p:cNvCxnSpPr/>
          <p:nvPr/>
        </p:nvCxnSpPr>
        <p:spPr>
          <a:xfrm>
            <a:off x="91821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94011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7" name="TextBox 186"/>
          <p:cNvSpPr txBox="1"/>
          <p:nvPr/>
        </p:nvSpPr>
        <p:spPr>
          <a:xfrm>
            <a:off x="95916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Multi-ceramide blends and complexes</a:t>
            </a:r>
          </a:p>
        </p:txBody>
      </p:sp>
      <p:cxnSp>
        <p:nvCxnSpPr>
          <p:cNvPr id="188" name="Connector 187"/>
          <p:cNvCxnSpPr/>
          <p:nvPr/>
        </p:nvCxnSpPr>
        <p:spPr>
          <a:xfrm>
            <a:off x="91821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922972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0" name="TextBox 189"/>
          <p:cNvSpPr txBox="1"/>
          <p:nvPr/>
        </p:nvSpPr>
        <p:spPr>
          <a:xfrm>
            <a:off x="9420225" y="267462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Niche Ingredients</a:t>
            </a:r>
          </a:p>
        </p:txBody>
      </p:sp>
      <p:cxnSp>
        <p:nvCxnSpPr>
          <p:cNvPr id="191" name="Connector 190"/>
          <p:cNvCxnSpPr/>
          <p:nvPr/>
        </p:nvCxnSpPr>
        <p:spPr>
          <a:xfrm>
            <a:off x="91821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2" name="TextBox 191"/>
          <p:cNvSpPr txBox="1"/>
          <p:nvPr/>
        </p:nvSpPr>
        <p:spPr>
          <a:xfrm>
            <a:off x="94011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3" name="TextBox 192"/>
          <p:cNvSpPr txBox="1"/>
          <p:nvPr/>
        </p:nvSpPr>
        <p:spPr>
          <a:xfrm>
            <a:off x="95916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 EOS</a:t>
            </a:r>
          </a:p>
        </p:txBody>
      </p:sp>
      <p:cxnSp>
        <p:nvCxnSpPr>
          <p:cNvPr id="194" name="Connector 193"/>
          <p:cNvCxnSpPr/>
          <p:nvPr/>
        </p:nvCxnSpPr>
        <p:spPr>
          <a:xfrm>
            <a:off x="91821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5" name="TextBox 194"/>
          <p:cNvSpPr txBox="1"/>
          <p:nvPr/>
        </p:nvSpPr>
        <p:spPr>
          <a:xfrm>
            <a:off x="94011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6" name="TextBox 195"/>
          <p:cNvSpPr txBox="1"/>
          <p:nvPr/>
        </p:nvSpPr>
        <p:spPr>
          <a:xfrm>
            <a:off x="95916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 EOH</a:t>
            </a:r>
          </a:p>
        </p:txBody>
      </p:sp>
      <p:cxnSp>
        <p:nvCxnSpPr>
          <p:cNvPr id="197" name="Connector 196"/>
          <p:cNvCxnSpPr/>
          <p:nvPr/>
        </p:nvCxnSpPr>
        <p:spPr>
          <a:xfrm>
            <a:off x="91821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8" name="TextBox 197"/>
          <p:cNvSpPr txBox="1"/>
          <p:nvPr/>
        </p:nvSpPr>
        <p:spPr>
          <a:xfrm>
            <a:off x="94011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9" name="TextBox 198"/>
          <p:cNvSpPr txBox="1"/>
          <p:nvPr/>
        </p:nvSpPr>
        <p:spPr>
          <a:xfrm>
            <a:off x="95916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Specialized ceramide-lipid complexes</a:t>
            </a:r>
          </a:p>
        </p:txBody>
      </p:sp>
      <p:cxnSp>
        <p:nvCxnSpPr>
          <p:cNvPr id="200" name="Connector 199"/>
          <p:cNvCxnSpPr/>
          <p:nvPr/>
        </p:nvCxnSpPr>
        <p:spPr>
          <a:xfrm>
            <a:off x="91821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1" name="TextBox 200"/>
          <p:cNvSpPr txBox="1"/>
          <p:nvPr/>
        </p:nvSpPr>
        <p:spPr>
          <a:xfrm>
            <a:off x="94011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2" name="TextBox 201"/>
          <p:cNvSpPr txBox="1"/>
          <p:nvPr/>
        </p:nvSpPr>
        <p:spPr>
          <a:xfrm>
            <a:off x="95916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Ceramide-based liquid-crystal systems</a:t>
            </a:r>
          </a:p>
        </p:txBody>
      </p:sp>
      <p:cxnSp>
        <p:nvCxnSpPr>
          <p:cNvPr id="203" name="Connector 202"/>
          <p:cNvCxnSpPr/>
          <p:nvPr/>
        </p:nvCxnSpPr>
        <p:spPr>
          <a:xfrm>
            <a:off x="91821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4" name="TextBox 203"/>
          <p:cNvSpPr txBox="1"/>
          <p:nvPr/>
        </p:nvSpPr>
        <p:spPr>
          <a:xfrm>
            <a:off x="922972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5" name="TextBox 204"/>
          <p:cNvSpPr txBox="1"/>
          <p:nvPr/>
        </p:nvSpPr>
        <p:spPr>
          <a:xfrm>
            <a:off x="9420225" y="356044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Emerging Ingredients</a:t>
            </a:r>
          </a:p>
        </p:txBody>
      </p:sp>
      <p:cxnSp>
        <p:nvCxnSpPr>
          <p:cNvPr id="206" name="Connector 205"/>
          <p:cNvCxnSpPr/>
          <p:nvPr/>
        </p:nvCxnSpPr>
        <p:spPr>
          <a:xfrm>
            <a:off x="91821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94011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8" name="TextBox 207"/>
          <p:cNvSpPr txBox="1"/>
          <p:nvPr/>
        </p:nvSpPr>
        <p:spPr>
          <a:xfrm>
            <a:off x="95916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Fermentation-derived ceramides</a:t>
            </a:r>
          </a:p>
        </p:txBody>
      </p:sp>
      <p:cxnSp>
        <p:nvCxnSpPr>
          <p:cNvPr id="209" name="Connector 208"/>
          <p:cNvCxnSpPr/>
          <p:nvPr/>
        </p:nvCxnSpPr>
        <p:spPr>
          <a:xfrm>
            <a:off x="91821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0" name="TextBox 209"/>
          <p:cNvSpPr txBox="1"/>
          <p:nvPr/>
        </p:nvSpPr>
        <p:spPr>
          <a:xfrm>
            <a:off x="94011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1" name="TextBox 210"/>
          <p:cNvSpPr txBox="1"/>
          <p:nvPr/>
        </p:nvSpPr>
        <p:spPr>
          <a:xfrm>
            <a:off x="95916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Biotechnologically produced ceramides</a:t>
            </a:r>
          </a:p>
        </p:txBody>
      </p:sp>
      <p:cxnSp>
        <p:nvCxnSpPr>
          <p:cNvPr id="212" name="Connector 211"/>
          <p:cNvCxnSpPr/>
          <p:nvPr/>
        </p:nvCxnSpPr>
        <p:spPr>
          <a:xfrm>
            <a:off x="91821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3" name="TextBox 212"/>
          <p:cNvSpPr txBox="1"/>
          <p:nvPr/>
        </p:nvSpPr>
        <p:spPr>
          <a:xfrm>
            <a:off x="94011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4" name="TextBox 213"/>
          <p:cNvSpPr txBox="1"/>
          <p:nvPr/>
        </p:nvSpPr>
        <p:spPr>
          <a:xfrm>
            <a:off x="9591675" y="409194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Encapsulated ceramide delivery systems</a:t>
            </a:r>
          </a:p>
        </p:txBody>
      </p:sp>
      <p:cxnSp>
        <p:nvCxnSpPr>
          <p:cNvPr id="215" name="Connector 214"/>
          <p:cNvCxnSpPr/>
          <p:nvPr/>
        </p:nvCxnSpPr>
        <p:spPr>
          <a:xfrm>
            <a:off x="91821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94011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7" name="TextBox 216"/>
          <p:cNvSpPr txBox="1"/>
          <p:nvPr/>
        </p:nvSpPr>
        <p:spPr>
          <a:xfrm>
            <a:off x="9591675" y="44462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Ceramide-loaded liposomal systems</a:t>
            </a:r>
          </a:p>
        </p:txBody>
      </p:sp>
      <p:cxnSp>
        <p:nvCxnSpPr>
          <p:cNvPr id="218" name="Connector 217"/>
          <p:cNvCxnSpPr/>
          <p:nvPr/>
        </p:nvCxnSpPr>
        <p:spPr>
          <a:xfrm>
            <a:off x="91821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94011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0" name="TextBox 219"/>
          <p:cNvSpPr txBox="1"/>
          <p:nvPr/>
        </p:nvSpPr>
        <p:spPr>
          <a:xfrm>
            <a:off x="9591675" y="462343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Advanced ceramide delivery technologies</a:t>
            </a:r>
          </a:p>
        </p:txBody>
      </p:sp>
      <p:sp>
        <p:nvSpPr>
          <p:cNvPr id="221" name="TextBox 2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Ceramide Sunscreen Market profiled and benchmarked in the Competition Assessment section.</a:t>
            </a:r>
          </a:p>
        </p:txBody>
      </p:sp>
      <p:sp>
        <p:nvSpPr>
          <p:cNvPr id="11" name="Rectangle 10"/>
          <p:cNvSpPr/>
          <p:nvPr/>
        </p:nvSpPr>
        <p:spPr>
          <a:xfrm>
            <a:off x="142875" y="1609633"/>
            <a:ext cx="5857875" cy="4545171"/>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160963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167352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188343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188343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L'Oréal S.A. (CeraVe)</a:t>
            </a:r>
          </a:p>
        </p:txBody>
      </p:sp>
      <p:sp>
        <p:nvSpPr>
          <p:cNvPr id="16" name="Rectangle 15"/>
          <p:cNvSpPr/>
          <p:nvPr/>
        </p:nvSpPr>
        <p:spPr>
          <a:xfrm>
            <a:off x="152400" y="235803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235803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35803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35803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Profile — L'Oréal S.A. (CeraVe)</a:t>
            </a:r>
          </a:p>
        </p:txBody>
      </p:sp>
      <p:cxnSp>
        <p:nvCxnSpPr>
          <p:cNvPr id="20" name="Connector 19"/>
          <p:cNvCxnSpPr/>
          <p:nvPr/>
        </p:nvCxnSpPr>
        <p:spPr>
          <a:xfrm>
            <a:off x="152400"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Profile Element</a:t>
            </a:r>
          </a:p>
        </p:txBody>
      </p:sp>
      <p:sp>
        <p:nvSpPr>
          <p:cNvPr id="23" name="Rectangle 22"/>
          <p:cNvSpPr/>
          <p:nvPr/>
        </p:nvSpPr>
        <p:spPr>
          <a:xfrm>
            <a:off x="152400" y="330722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Overview</a:t>
            </a:r>
          </a:p>
        </p:txBody>
      </p:sp>
      <p:cxnSp>
        <p:nvCxnSpPr>
          <p:cNvPr id="27" name="Connector 26"/>
          <p:cNvCxnSpPr/>
          <p:nvPr/>
        </p:nvCxnSpPr>
        <p:spPr>
          <a:xfrm>
            <a:off x="152400"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3375"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9" name="TextBox 28"/>
          <p:cNvSpPr txBox="1"/>
          <p:nvPr/>
        </p:nvSpPr>
        <p:spPr>
          <a:xfrm>
            <a:off x="581025"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Product Portfolio</a:t>
            </a:r>
          </a:p>
        </p:txBody>
      </p:sp>
      <p:sp>
        <p:nvSpPr>
          <p:cNvPr id="30" name="Rectangle 29"/>
          <p:cNvSpPr/>
          <p:nvPr/>
        </p:nvSpPr>
        <p:spPr>
          <a:xfrm>
            <a:off x="152400" y="4256419"/>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52400"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Market Segments — Product Sales</a:t>
            </a:r>
          </a:p>
        </p:txBody>
      </p:sp>
      <p:cxnSp>
        <p:nvCxnSpPr>
          <p:cNvPr id="34" name="Connector 33"/>
          <p:cNvCxnSpPr/>
          <p:nvPr/>
        </p:nvCxnSpPr>
        <p:spPr>
          <a:xfrm>
            <a:off x="152400"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33375"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6" name="TextBox 35"/>
          <p:cNvSpPr txBox="1"/>
          <p:nvPr/>
        </p:nvSpPr>
        <p:spPr>
          <a:xfrm>
            <a:off x="581025"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Market Segments — Channel Sales</a:t>
            </a:r>
          </a:p>
        </p:txBody>
      </p:sp>
      <p:sp>
        <p:nvSpPr>
          <p:cNvPr id="37" name="Rectangle 36"/>
          <p:cNvSpPr/>
          <p:nvPr/>
        </p:nvSpPr>
        <p:spPr>
          <a:xfrm>
            <a:off x="152400" y="5205612"/>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52400"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5205612"/>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0" name="TextBox 39"/>
          <p:cNvSpPr txBox="1"/>
          <p:nvPr/>
        </p:nvSpPr>
        <p:spPr>
          <a:xfrm>
            <a:off x="581025" y="5205612"/>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Market Segments — Regional Sales</a:t>
            </a:r>
          </a:p>
        </p:txBody>
      </p:sp>
      <p:cxnSp>
        <p:nvCxnSpPr>
          <p:cNvPr id="41" name="Connector 40"/>
          <p:cNvCxnSpPr/>
          <p:nvPr/>
        </p:nvCxnSpPr>
        <p:spPr>
          <a:xfrm>
            <a:off x="152400" y="568020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33375" y="5680208"/>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3" name="TextBox 42"/>
          <p:cNvSpPr txBox="1"/>
          <p:nvPr/>
        </p:nvSpPr>
        <p:spPr>
          <a:xfrm>
            <a:off x="581025" y="5680208"/>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Sales Footprint</a:t>
            </a:r>
          </a:p>
        </p:txBody>
      </p:sp>
      <p:sp>
        <p:nvSpPr>
          <p:cNvPr id="44" name="Rectangle 43"/>
          <p:cNvSpPr/>
          <p:nvPr/>
        </p:nvSpPr>
        <p:spPr>
          <a:xfrm>
            <a:off x="6191250" y="1609633"/>
            <a:ext cx="5857875" cy="4545171"/>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91250" y="160963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91250" y="167352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47" name="TextBox 46"/>
          <p:cNvSpPr txBox="1"/>
          <p:nvPr/>
        </p:nvSpPr>
        <p:spPr>
          <a:xfrm>
            <a:off x="6381750" y="188343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8" name="TextBox 47"/>
          <p:cNvSpPr txBox="1"/>
          <p:nvPr/>
        </p:nvSpPr>
        <p:spPr>
          <a:xfrm>
            <a:off x="6629400" y="188343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Strategy Overview — Marketing Strategy</a:t>
            </a:r>
          </a:p>
        </p:txBody>
      </p:sp>
      <p:sp>
        <p:nvSpPr>
          <p:cNvPr id="49" name="Rectangle 48"/>
          <p:cNvSpPr/>
          <p:nvPr/>
        </p:nvSpPr>
        <p:spPr>
          <a:xfrm>
            <a:off x="6200775" y="235803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6200775" y="235803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81750" y="235803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2" name="TextBox 51"/>
          <p:cNvSpPr txBox="1"/>
          <p:nvPr/>
        </p:nvSpPr>
        <p:spPr>
          <a:xfrm>
            <a:off x="6629400" y="235803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Strategy Overview — Product Strategy</a:t>
            </a:r>
          </a:p>
        </p:txBody>
      </p:sp>
      <p:cxnSp>
        <p:nvCxnSpPr>
          <p:cNvPr id="53" name="Connector 52"/>
          <p:cNvCxnSpPr/>
          <p:nvPr/>
        </p:nvCxnSpPr>
        <p:spPr>
          <a:xfrm>
            <a:off x="6200775"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381750"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5" name="TextBox 54"/>
          <p:cNvSpPr txBox="1"/>
          <p:nvPr/>
        </p:nvSpPr>
        <p:spPr>
          <a:xfrm>
            <a:off x="6629400"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Strategy Overview — Channel Strategy</a:t>
            </a:r>
          </a:p>
        </p:txBody>
      </p:sp>
      <p:sp>
        <p:nvSpPr>
          <p:cNvPr id="56" name="Rectangle 55"/>
          <p:cNvSpPr/>
          <p:nvPr/>
        </p:nvSpPr>
        <p:spPr>
          <a:xfrm>
            <a:off x="6200775" y="330722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200775"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81750"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9" name="TextBox 58"/>
          <p:cNvSpPr txBox="1"/>
          <p:nvPr/>
        </p:nvSpPr>
        <p:spPr>
          <a:xfrm>
            <a:off x="6629400"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Strategy Overview — Pricing Strategy</a:t>
            </a:r>
          </a:p>
        </p:txBody>
      </p:sp>
      <p:cxnSp>
        <p:nvCxnSpPr>
          <p:cNvPr id="60" name="Connector 59"/>
          <p:cNvCxnSpPr/>
          <p:nvPr/>
        </p:nvCxnSpPr>
        <p:spPr>
          <a:xfrm>
            <a:off x="6200775"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81750"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2" name="TextBox 61"/>
          <p:cNvSpPr txBox="1"/>
          <p:nvPr/>
        </p:nvSpPr>
        <p:spPr>
          <a:xfrm>
            <a:off x="6629400"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SWOT — Strengths</a:t>
            </a:r>
          </a:p>
        </p:txBody>
      </p:sp>
      <p:sp>
        <p:nvSpPr>
          <p:cNvPr id="63" name="Rectangle 62"/>
          <p:cNvSpPr/>
          <p:nvPr/>
        </p:nvSpPr>
        <p:spPr>
          <a:xfrm>
            <a:off x="6200775" y="4256419"/>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6200775"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381750"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6" name="TextBox 65"/>
          <p:cNvSpPr txBox="1"/>
          <p:nvPr/>
        </p:nvSpPr>
        <p:spPr>
          <a:xfrm>
            <a:off x="6629400"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SWOT — Weaknesses</a:t>
            </a:r>
          </a:p>
        </p:txBody>
      </p:sp>
      <p:cxnSp>
        <p:nvCxnSpPr>
          <p:cNvPr id="67" name="Connector 66"/>
          <p:cNvCxnSpPr/>
          <p:nvPr/>
        </p:nvCxnSpPr>
        <p:spPr>
          <a:xfrm>
            <a:off x="6200775"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381750"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9" name="TextBox 68"/>
          <p:cNvSpPr txBox="1"/>
          <p:nvPr/>
        </p:nvSpPr>
        <p:spPr>
          <a:xfrm>
            <a:off x="6629400"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SWOT — Opportunities</a:t>
            </a:r>
          </a:p>
        </p:txBody>
      </p:sp>
      <p:sp>
        <p:nvSpPr>
          <p:cNvPr id="70" name="Rectangle 69"/>
          <p:cNvSpPr/>
          <p:nvPr/>
        </p:nvSpPr>
        <p:spPr>
          <a:xfrm>
            <a:off x="6200775" y="5205612"/>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6200775"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381750" y="5205612"/>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3" name="TextBox 72"/>
          <p:cNvSpPr txBox="1"/>
          <p:nvPr/>
        </p:nvSpPr>
        <p:spPr>
          <a:xfrm>
            <a:off x="6629400" y="5205612"/>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SWOT — Threats</a:t>
            </a:r>
          </a:p>
        </p:txBody>
      </p:sp>
      <p:cxnSp>
        <p:nvCxnSpPr>
          <p:cNvPr id="74" name="Connector 73"/>
          <p:cNvCxnSpPr/>
          <p:nvPr/>
        </p:nvCxnSpPr>
        <p:spPr>
          <a:xfrm>
            <a:off x="6200775" y="568020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81750" y="5680208"/>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6" name="TextBox 75"/>
          <p:cNvSpPr txBox="1"/>
          <p:nvPr/>
        </p:nvSpPr>
        <p:spPr>
          <a:xfrm>
            <a:off x="6629400" y="5680208"/>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Analyst Comment</a:t>
            </a:r>
          </a:p>
        </p:txBody>
      </p:sp>
      <p:sp>
        <p:nvSpPr>
          <p:cNvPr id="77" name="TextBox 76"/>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78" name="TextBox 7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Supply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tr>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tr>
              <a:tr h="175260">
                <a:tc>
                  <a:txBody>
                    <a:bodyPr wrap="square"/>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Regional Macro Economic Indicators</a:t>
                      </a:r>
                      <a:endParaRPr sz="1100"/>
                    </a:p>
                  </a:txBody>
                  <a:tcPr marL="428625" marR="9525" marT="9525" marB="0" anchor="ctr"/>
                </a:tc>
              </a:tr>
              <a:tr h="175260">
                <a:tc>
                  <a:txBody>
                    <a:bodyPr wrap="square"/>
                    <a:lstStyle/>
                    <a:p>
                      <a:pPr algn="l"/>
                      <a:r>
                        <a:rPr sz="1100" b="0" i="0">
                          <a:solidFill>
                            <a:srgbClr val="000000"/>
                          </a:solidFill>
                          <a:latin typeface="Calibri"/>
                        </a:rPr>
                        <a:t>1.3.1.</a:t>
                      </a:r>
                      <a:r>
                        <a:rPr sz="700" b="0" i="0">
                          <a:solidFill>
                            <a:srgbClr val="000000"/>
                          </a:solidFill>
                          <a:latin typeface="Times New Roman"/>
                        </a:rPr>
                        <a:t>   </a:t>
                      </a:r>
                      <a:r>
                        <a:rPr sz="1100" b="0" i="0">
                          <a:solidFill>
                            <a:srgbClr val="000000"/>
                          </a:solidFill>
                          <a:latin typeface="Calibri"/>
                        </a:rPr>
                        <a:t>Inflation in Specialty Cosmetic Ingredients</a:t>
                      </a:r>
                      <a:endParaRPr sz="1100"/>
                    </a:p>
                  </a:txBody>
                  <a:tcPr marL="771525" marR="9525" marT="9525" marB="0" anchor="ctr"/>
                </a:tc>
              </a:tr>
              <a:tr h="175260">
                <a:tc>
                  <a:txBody>
                    <a:bodyPr wrap="square"/>
                    <a:lstStyle/>
                    <a:p>
                      <a:pPr algn="l"/>
                      <a:r>
                        <a:rPr sz="1100" b="0" i="0">
                          <a:solidFill>
                            <a:srgbClr val="000000"/>
                          </a:solidFill>
                          <a:latin typeface="Calibri"/>
                        </a:rPr>
                        <a:t>1.3.2.</a:t>
                      </a:r>
                      <a:r>
                        <a:rPr sz="700" b="0" i="0">
                          <a:solidFill>
                            <a:srgbClr val="000000"/>
                          </a:solidFill>
                          <a:latin typeface="Times New Roman"/>
                        </a:rPr>
                        <a:t>   </a:t>
                      </a:r>
                      <a:r>
                        <a:rPr sz="1100" b="0" i="0">
                          <a:solidFill>
                            <a:srgbClr val="000000"/>
                          </a:solidFill>
                          <a:latin typeface="Calibri"/>
                        </a:rPr>
                        <a:t>Disposable Income and Premium Skincare Spending</a:t>
                      </a:r>
                      <a:endParaRPr sz="1100"/>
                    </a:p>
                  </a:txBody>
                  <a:tcPr marL="771525" marR="9525" marT="9525" marB="0" anchor="ctr"/>
                </a:tc>
              </a:tr>
              <a:tr h="175260">
                <a:tc>
                  <a:txBody>
                    <a:bodyPr wrap="square"/>
                    <a:lstStyle/>
                    <a:p>
                      <a:pPr algn="l"/>
                      <a:r>
                        <a:rPr sz="1100" b="0" i="0">
                          <a:solidFill>
                            <a:srgbClr val="000000"/>
                          </a:solidFill>
                          <a:latin typeface="Calibri"/>
                        </a:rPr>
                        <a:t>1.3.3.</a:t>
                      </a:r>
                      <a:r>
                        <a:rPr sz="700" b="0" i="0">
                          <a:solidFill>
                            <a:srgbClr val="000000"/>
                          </a:solidFill>
                          <a:latin typeface="Times New Roman"/>
                        </a:rPr>
                        <a:t>   </a:t>
                      </a:r>
                      <a:r>
                        <a:rPr sz="1100" b="0" i="0">
                          <a:solidFill>
                            <a:srgbClr val="000000"/>
                          </a:solidFill>
                          <a:latin typeface="Calibri"/>
                        </a:rPr>
                        <a:t>Foreign Exchange Rate Volatility</a:t>
                      </a:r>
                      <a:endParaRPr sz="1100"/>
                    </a:p>
                  </a:txBody>
                  <a:tcPr marL="771525" marR="9525" marT="9525" marB="0" anchor="ctr"/>
                </a:tc>
              </a:tr>
              <a:tr h="175260">
                <a:tc>
                  <a:txBody>
                    <a:bodyPr wrap="square"/>
                    <a:lstStyle/>
                    <a:p>
                      <a:pPr algn="l"/>
                      <a:r>
                        <a:rPr sz="1100" b="0" i="0">
                          <a:solidFill>
                            <a:srgbClr val="000000"/>
                          </a:solidFill>
                          <a:latin typeface="Calibri"/>
                        </a:rPr>
                        <a:t>1.3.4.</a:t>
                      </a:r>
                      <a:r>
                        <a:rPr sz="700" b="0" i="0">
                          <a:solidFill>
                            <a:srgbClr val="000000"/>
                          </a:solidFill>
                          <a:latin typeface="Times New Roman"/>
                        </a:rPr>
                        <a:t>   </a:t>
                      </a:r>
                      <a:r>
                        <a:rPr sz="1100" b="0" i="0">
                          <a:solidFill>
                            <a:srgbClr val="000000"/>
                          </a:solidFill>
                          <a:latin typeface="Calibri"/>
                        </a:rPr>
                        <a:t>International Trade Costs and Tariffs</a:t>
                      </a:r>
                      <a:endParaRPr sz="1100"/>
                    </a:p>
                  </a:txBody>
                  <a:tcPr marL="771525" marR="9525" marT="9525" marB="0" anchor="ctr"/>
                </a:tc>
              </a:tr>
              <a:tr h="175260">
                <a:tc>
                  <a:txBody>
                    <a:bodyPr wrap="square"/>
                    <a:lstStyle/>
                    <a:p>
                      <a:pPr algn="l"/>
                      <a:r>
                        <a:rPr sz="1100" b="0" i="0">
                          <a:solidFill>
                            <a:srgbClr val="000000"/>
                          </a:solidFill>
                          <a:latin typeface="Calibri"/>
                        </a:rPr>
                        <a:t>1.3.5.</a:t>
                      </a:r>
                      <a:r>
                        <a:rPr sz="700" b="0" i="0">
                          <a:solidFill>
                            <a:srgbClr val="000000"/>
                          </a:solidFill>
                          <a:latin typeface="Times New Roman"/>
                        </a:rPr>
                        <a:t>   </a:t>
                      </a:r>
                      <a:r>
                        <a:rPr sz="1100" b="0" i="0">
                          <a:solidFill>
                            <a:srgbClr val="000000"/>
                          </a:solidFill>
                          <a:latin typeface="Calibri"/>
                        </a:rPr>
                        <a:t>Interest Rates and Business Financing Costs</a:t>
                      </a:r>
                      <a:endParaRPr sz="1100"/>
                    </a:p>
                  </a:txBody>
                  <a:tcPr marL="771525" marR="9525" marT="9525" marB="0" anchor="ctr"/>
                </a:tc>
              </a:tr>
              <a:tr h="175260">
                <a:tc>
                  <a:txBody>
                    <a:bodyPr wrap="square"/>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Regional Micro Economic Indicators</a:t>
                      </a:r>
                      <a:endParaRPr sz="1100"/>
                    </a:p>
                  </a:txBody>
                  <a:tcPr marL="428625" marR="9525" marT="9525" marB="0" anchor="ctr"/>
                </a:tc>
              </a:tr>
              <a:tr h="175260">
                <a:tc>
                  <a:txBody>
                    <a:bodyPr wrap="square"/>
                    <a:lstStyle/>
                    <a:p>
                      <a:pPr algn="l"/>
                      <a:r>
                        <a:rPr sz="1100" b="0" i="0">
                          <a:solidFill>
                            <a:srgbClr val="000000"/>
                          </a:solidFill>
                          <a:latin typeface="Calibri"/>
                        </a:rPr>
                        <a:t>1.4.1.</a:t>
                      </a:r>
                      <a:r>
                        <a:rPr sz="700" b="0" i="0">
                          <a:solidFill>
                            <a:srgbClr val="000000"/>
                          </a:solidFill>
                          <a:latin typeface="Times New Roman"/>
                        </a:rPr>
                        <a:t>   </a:t>
                      </a:r>
                      <a:r>
                        <a:rPr sz="1100" b="0" i="0">
                          <a:solidFill>
                            <a:srgbClr val="000000"/>
                          </a:solidFill>
                          <a:latin typeface="Calibri"/>
                        </a:rPr>
                        <a:t>Ceramide Ingredient Sourcing and Supplier Concentration</a:t>
                      </a:r>
                      <a:endParaRPr sz="1100"/>
                    </a:p>
                  </a:txBody>
                  <a:tcPr marL="771525" marR="9525" marT="9525" marB="0" anchor="ctr"/>
                </a:tc>
              </a:tr>
              <a:tr h="175260">
                <a:tc>
                  <a:txBody>
                    <a:bodyPr wrap="square"/>
                    <a:lstStyle/>
                    <a:p>
                      <a:pPr algn="l"/>
                      <a:r>
                        <a:rPr sz="1100" b="0" i="0">
                          <a:solidFill>
                            <a:srgbClr val="000000"/>
                          </a:solidFill>
                          <a:latin typeface="Calibri"/>
                        </a:rPr>
                        <a:t>1.4.2.</a:t>
                      </a:r>
                      <a:r>
                        <a:rPr sz="700" b="0" i="0">
                          <a:solidFill>
                            <a:srgbClr val="000000"/>
                          </a:solidFill>
                          <a:latin typeface="Times New Roman"/>
                        </a:rPr>
                        <a:t>   </a:t>
                      </a:r>
                      <a:r>
                        <a:rPr sz="1100" b="0" i="0">
                          <a:solidFill>
                            <a:srgbClr val="000000"/>
                          </a:solidFill>
                          <a:latin typeface="Calibri"/>
                        </a:rPr>
                        <a:t>Formulation Cost and Ceramide Loading</a:t>
                      </a:r>
                      <a:endParaRPr sz="1100"/>
                    </a:p>
                  </a:txBody>
                  <a:tcPr marL="771525" marR="9525" marT="9525" marB="0" anchor="ctr"/>
                </a:tc>
              </a:tr>
              <a:tr h="175260">
                <a:tc>
                  <a:txBody>
                    <a:bodyPr wrap="square"/>
                    <a:lstStyle/>
                    <a:p>
                      <a:pPr algn="l"/>
                      <a:r>
                        <a:rPr sz="1100" b="0" i="0">
                          <a:solidFill>
                            <a:srgbClr val="000000"/>
                          </a:solidFill>
                          <a:latin typeface="Calibri"/>
                        </a:rPr>
                        <a:t>1.4.3.</a:t>
                      </a:r>
                      <a:r>
                        <a:rPr sz="700" b="0" i="0">
                          <a:solidFill>
                            <a:srgbClr val="000000"/>
                          </a:solidFill>
                          <a:latin typeface="Times New Roman"/>
                        </a:rPr>
                        <a:t>   </a:t>
                      </a:r>
                      <a:r>
                        <a:rPr sz="1100" b="0" i="0">
                          <a:solidFill>
                            <a:srgbClr val="000000"/>
                          </a:solidFill>
                          <a:latin typeface="Calibri"/>
                        </a:rPr>
                        <a:t>Consumer Price Elasticity and Premium Acceptance</a:t>
                      </a:r>
                      <a:endParaRPr sz="1100"/>
                    </a:p>
                  </a:txBody>
                  <a:tcPr marL="771525" marR="9525" marT="9525" marB="0" anchor="ctr"/>
                </a:tc>
              </a:tr>
              <a:tr h="175260">
                <a:tc>
                  <a:txBody>
                    <a:bodyPr wrap="square"/>
                    <a:lstStyle/>
                    <a:p>
                      <a:pPr algn="l"/>
                      <a:r>
                        <a:rPr sz="1100" b="0" i="0">
                          <a:solidFill>
                            <a:srgbClr val="000000"/>
                          </a:solidFill>
                          <a:latin typeface="Calibri"/>
                        </a:rPr>
                        <a:t>1.4.4.</a:t>
                      </a:r>
                      <a:r>
                        <a:rPr sz="700" b="0" i="0">
                          <a:solidFill>
                            <a:srgbClr val="000000"/>
                          </a:solidFill>
                          <a:latin typeface="Times New Roman"/>
                        </a:rPr>
                        <a:t>   </a:t>
                      </a:r>
                      <a:r>
                        <a:rPr sz="1100" b="0" i="0">
                          <a:solidFill>
                            <a:srgbClr val="000000"/>
                          </a:solidFill>
                          <a:latin typeface="Calibri"/>
                        </a:rPr>
                        <a:t>Brand-Level Pricing Power and Retail Margins</a:t>
                      </a:r>
                      <a:endParaRPr sz="1100"/>
                    </a:p>
                  </a:txBody>
                  <a:tcPr marL="771525" marR="9525" marT="9525" marB="0" anchor="ctr"/>
                </a:tc>
              </a:tr>
              <a:tr h="175260">
                <a:tc>
                  <a:txBody>
                    <a:bodyPr wrap="square"/>
                    <a:lstStyle/>
                    <a:p>
                      <a:pPr algn="l"/>
                      <a:r>
                        <a:rPr sz="1100" b="0" i="0">
                          <a:solidFill>
                            <a:srgbClr val="000000"/>
                          </a:solidFill>
                          <a:latin typeface="Calibri"/>
                        </a:rPr>
                        <a:t>1.4.5.</a:t>
                      </a:r>
                      <a:r>
                        <a:rPr sz="700" b="0" i="0">
                          <a:solidFill>
                            <a:srgbClr val="000000"/>
                          </a:solidFill>
                          <a:latin typeface="Times New Roman"/>
                        </a:rPr>
                        <a:t>   </a:t>
                      </a:r>
                      <a:r>
                        <a:rPr sz="1100" b="0" i="0">
                          <a:solidFill>
                            <a:srgbClr val="000000"/>
                          </a:solidFill>
                          <a:latin typeface="Calibri"/>
                        </a:rPr>
                        <a:t>SKU-Level Differentiation and Competitive Substitution</a:t>
                      </a:r>
                      <a:endParaRPr sz="1100"/>
                    </a:p>
                  </a:txBody>
                  <a:tcPr marL="771525" marR="9525" marT="9525" marB="0" anchor="ctr"/>
                </a:tc>
              </a:tr>
              <a:tr h="175260">
                <a:tc>
                  <a:txBody>
                    <a:bodyPr wrap="square"/>
                    <a:lstStyle/>
                    <a:p>
                      <a:pPr algn="l"/>
                      <a:r>
                        <a:rPr sz="1100" b="0" i="0">
                          <a:solidFill>
                            <a:srgbClr val="0070C0"/>
                          </a:solidFill>
                          <a:latin typeface="Calibri"/>
                        </a:rPr>
                        <a:t>1.5.</a:t>
                      </a:r>
                      <a:r>
                        <a:rPr sz="700" b="0" i="0">
                          <a:solidFill>
                            <a:srgbClr val="0070C0"/>
                          </a:solidFill>
                          <a:latin typeface="Times New Roman"/>
                        </a:rPr>
                        <a:t>    </a:t>
                      </a:r>
                      <a:r>
                        <a:rPr sz="1100" b="0" i="0">
                          <a:solidFill>
                            <a:srgbClr val="0070C0"/>
                          </a:solidFill>
                          <a:latin typeface="Calibri"/>
                        </a:rPr>
                        <a:t>Per Capita Consumption- By Country</a:t>
                      </a:r>
                      <a:endParaRPr sz="1100"/>
                    </a:p>
                  </a:txBody>
                  <a:tcPr marL="428625" marR="9525" marT="9525" marB="0" anchor="ctr"/>
                </a:tc>
              </a:tr>
              <a:tr h="175260">
                <a:tc>
                  <a:txBody>
                    <a:bodyPr wrap="square"/>
                    <a:lstStyle/>
                    <a:p>
                      <a:pPr algn="l"/>
                      <a:r>
                        <a:rPr sz="1100" b="0" i="0">
                          <a:solidFill>
                            <a:srgbClr val="0070C0"/>
                          </a:solidFill>
                          <a:latin typeface="Calibri"/>
                        </a:rPr>
                        <a:t>1.6.</a:t>
                      </a:r>
                      <a:r>
                        <a:rPr sz="700" b="0" i="0">
                          <a:solidFill>
                            <a:srgbClr val="0070C0"/>
                          </a:solidFill>
                          <a:latin typeface="Times New Roman"/>
                        </a:rPr>
                        <a:t>    </a:t>
                      </a:r>
                      <a:r>
                        <a:rPr sz="1100" b="0" i="0">
                          <a:solidFill>
                            <a:srgbClr val="0070C0"/>
                          </a:solidFill>
                          <a:latin typeface="Calibri"/>
                        </a:rPr>
                        <a:t>Per Capita Spending By Country</a:t>
                      </a:r>
                      <a:endParaRPr sz="1100"/>
                    </a:p>
                  </a:txBody>
                  <a:tcPr marL="428625" marR="9525" marT="9525" marB="0" anchor="ctr"/>
                </a:tc>
              </a:tr>
              <a:tr h="175260">
                <a:tc>
                  <a:txBody>
                    <a:bodyPr wrap="square"/>
                    <a:lstStyle/>
                    <a:p>
                      <a:pPr algn="l"/>
                      <a:r>
                        <a:rPr sz="1100" b="1" i="0">
                          <a:solidFill>
                            <a:srgbClr val="000000"/>
                          </a:solidFill>
                          <a:latin typeface="Calibri"/>
                        </a:rPr>
                        <a:t>Section 1: Global Market Outlook</a:t>
                      </a:r>
                      <a:endParaRPr sz="1100"/>
                    </a:p>
                  </a:txBody>
                  <a:tcPr marL="95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Global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(Value- Volume) Analysis 2021-2036, By Product Type</a:t>
                      </a:r>
                      <a:endParaRPr sz="1100"/>
                    </a:p>
                  </a:txBody>
                  <a:tcPr marL="17145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3.5.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3.5.1.</a:t>
                      </a:r>
                      <a:r>
                        <a:rPr sz="700" b="0" i="0">
                          <a:solidFill>
                            <a:srgbClr val="000000"/>
                          </a:solidFill>
                          <a:latin typeface="Times New Roman"/>
                        </a:rPr>
                        <a:t>   </a:t>
                      </a:r>
                      <a:r>
                        <a:rPr sz="1100" b="0" i="0">
                          <a:solidFill>
                            <a:srgbClr val="000000"/>
                          </a:solidFill>
                          <a:latin typeface="Calibri"/>
                        </a:rPr>
                        <a:t>Mineral Ceramide Sunscreen</a:t>
                      </a:r>
                      <a:endParaRPr sz="1100"/>
                    </a:p>
                  </a:txBody>
                  <a:tcPr marL="771525" marR="9525" marT="9525" marB="0" anchor="ctr"/>
                </a:tc>
              </a:tr>
              <a:tr h="175260">
                <a:tc>
                  <a:txBody>
                    <a:bodyPr wrap="square"/>
                    <a:lstStyle/>
                    <a:p>
                      <a:pPr algn="l"/>
                      <a:r>
                        <a:rPr sz="1100" b="0" i="1">
                          <a:solidFill>
                            <a:srgbClr val="000000"/>
                          </a:solidFill>
                          <a:latin typeface="Calibri"/>
                        </a:rPr>
                        <a:t>3.5.1.1.</a:t>
                      </a:r>
                      <a:r>
                        <a:rPr sz="700" b="0" i="1">
                          <a:solidFill>
                            <a:srgbClr val="000000"/>
                          </a:solidFill>
                          <a:latin typeface="Times New Roman"/>
                        </a:rPr>
                        <a:t>    </a:t>
                      </a:r>
                      <a:r>
                        <a:rPr sz="1100" b="0" i="1">
                          <a:solidFill>
                            <a:srgbClr val="000000"/>
                          </a:solidFill>
                          <a:latin typeface="Calibri"/>
                        </a:rPr>
                        <a:t>Zinc Oxide-based</a:t>
                      </a:r>
                      <a:endParaRPr sz="1100"/>
                    </a:p>
                  </a:txBody>
                  <a:tcPr marL="1028700" marR="9525" marT="9525" marB="0" anchor="ctr"/>
                </a:tc>
              </a:tr>
              <a:tr h="175260">
                <a:tc>
                  <a:txBody>
                    <a:bodyPr wrap="square"/>
                    <a:lstStyle/>
                    <a:p>
                      <a:pPr algn="l"/>
                      <a:r>
                        <a:rPr sz="1100" b="0" i="1">
                          <a:solidFill>
                            <a:srgbClr val="000000"/>
                          </a:solidFill>
                          <a:latin typeface="Calibri"/>
                        </a:rPr>
                        <a:t>3.5.1.2.</a:t>
                      </a:r>
                      <a:r>
                        <a:rPr sz="700" b="0" i="1">
                          <a:solidFill>
                            <a:srgbClr val="000000"/>
                          </a:solidFill>
                          <a:latin typeface="Times New Roman"/>
                        </a:rPr>
                        <a:t>    </a:t>
                      </a:r>
                      <a:r>
                        <a:rPr sz="1100" b="0" i="1">
                          <a:solidFill>
                            <a:srgbClr val="000000"/>
                          </a:solidFill>
                          <a:latin typeface="Calibri"/>
                        </a:rPr>
                        <a:t>Titanium Dioxide-based</a:t>
                      </a:r>
                      <a:endParaRPr sz="1100"/>
                    </a:p>
                  </a:txBody>
                  <a:tcPr marL="1028700" marR="9525" marT="9525" marB="0" anchor="ctr"/>
                </a:tc>
              </a:tr>
              <a:tr h="175260">
                <a:tc>
                  <a:txBody>
                    <a:bodyPr wrap="square"/>
                    <a:lstStyle/>
                    <a:p>
                      <a:pPr algn="l"/>
                      <a:r>
                        <a:rPr sz="1100" b="0" i="1">
                          <a:solidFill>
                            <a:srgbClr val="000000"/>
                          </a:solidFill>
                          <a:latin typeface="Calibri"/>
                        </a:rPr>
                        <a:t>3.5.1.3.</a:t>
                      </a:r>
                      <a:r>
                        <a:rPr sz="700" b="0" i="1">
                          <a:solidFill>
                            <a:srgbClr val="000000"/>
                          </a:solidFill>
                          <a:latin typeface="Times New Roman"/>
                        </a:rPr>
                        <a:t>    </a:t>
                      </a:r>
                      <a:r>
                        <a:rPr sz="1100" b="0" i="1">
                          <a:solidFill>
                            <a:srgbClr val="000000"/>
                          </a:solidFill>
                          <a:latin typeface="Calibri"/>
                        </a:rPr>
                        <a:t>Zinc Oxide &amp; Titanium Dioxide Combination</a:t>
                      </a:r>
                      <a:endParaRPr sz="1100"/>
                    </a:p>
                  </a:txBody>
                  <a:tcPr marL="1028700" marR="9525" marT="9525" marB="0" anchor="ctr"/>
                </a:tc>
              </a:tr>
              <a:tr h="175260">
                <a:tc>
                  <a:txBody>
                    <a:bodyPr wrap="square"/>
                    <a:lstStyle/>
                    <a:p>
                      <a:pPr algn="l"/>
                      <a:r>
                        <a:rPr sz="1100" b="0" i="0">
                          <a:solidFill>
                            <a:srgbClr val="000000"/>
                          </a:solidFill>
                          <a:latin typeface="Calibri"/>
                        </a:rPr>
                        <a:t>3.5.2.</a:t>
                      </a:r>
                      <a:r>
                        <a:rPr sz="700" b="0" i="0">
                          <a:solidFill>
                            <a:srgbClr val="000000"/>
                          </a:solidFill>
                          <a:latin typeface="Times New Roman"/>
                        </a:rPr>
                        <a:t>   </a:t>
                      </a:r>
                      <a:r>
                        <a:rPr sz="1100" b="0" i="0">
                          <a:solidFill>
                            <a:srgbClr val="000000"/>
                          </a:solidFill>
                          <a:latin typeface="Calibri"/>
                        </a:rPr>
                        <a:t>Chemical Ceramide Sunscreen</a:t>
                      </a:r>
                      <a:endParaRPr sz="1100"/>
                    </a:p>
                  </a:txBody>
                  <a:tcPr marL="771525" marR="9525" marT="9525" marB="0" anchor="ctr"/>
                </a:tc>
              </a:tr>
              <a:tr h="175260">
                <a:tc>
                  <a:txBody>
                    <a:bodyPr wrap="square"/>
                    <a:lstStyle/>
                    <a:p>
                      <a:pPr algn="l"/>
                      <a:r>
                        <a:rPr sz="1100" b="0" i="0">
                          <a:solidFill>
                            <a:srgbClr val="000000"/>
                          </a:solidFill>
                          <a:latin typeface="Calibri"/>
                        </a:rPr>
                        <a:t>3.5.3.</a:t>
                      </a:r>
                      <a:r>
                        <a:rPr sz="700" b="0" i="0">
                          <a:solidFill>
                            <a:srgbClr val="000000"/>
                          </a:solidFill>
                          <a:latin typeface="Times New Roman"/>
                        </a:rPr>
                        <a:t>   </a:t>
                      </a:r>
                      <a:r>
                        <a:rPr sz="1100" b="0" i="0">
                          <a:solidFill>
                            <a:srgbClr val="000000"/>
                          </a:solidFill>
                          <a:latin typeface="Calibri"/>
                        </a:rPr>
                        <a:t>Hybrid Ceramide Sunscreen</a:t>
                      </a:r>
                      <a:endParaRPr sz="1100"/>
                    </a:p>
                  </a:txBody>
                  <a:tcPr marL="7715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Market (Value- Volume) Analysis 2021–2036, By Form Type</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Cream-based Sunscreen</a:t>
                      </a:r>
                      <a:endParaRPr sz="1100"/>
                    </a:p>
                  </a:txBody>
                  <a:tcPr marL="771525" marR="9525" marT="9525" marB="0" anchor="ctr"/>
                </a:tc>
              </a:tr>
              <a:tr h="175260">
                <a:tc>
                  <a:txBody>
                    <a:bodyPr wrap="square"/>
                    <a:lstStyle/>
                    <a:p>
                      <a:pPr algn="l"/>
                      <a:r>
                        <a:rPr sz="1100" b="0" i="1">
                          <a:solidFill>
                            <a:srgbClr val="000000"/>
                          </a:solidFill>
                          <a:latin typeface="Calibri"/>
                        </a:rPr>
                        <a:t>4.5.1.1.</a:t>
                      </a:r>
                      <a:r>
                        <a:rPr sz="700" b="0" i="1">
                          <a:solidFill>
                            <a:srgbClr val="000000"/>
                          </a:solidFill>
                          <a:latin typeface="Times New Roman"/>
                        </a:rPr>
                        <a:t>    </a:t>
                      </a:r>
                      <a:r>
                        <a:rPr sz="1100" b="0" i="1">
                          <a:solidFill>
                            <a:srgbClr val="000000"/>
                          </a:solidFill>
                          <a:latin typeface="Calibri"/>
                        </a:rPr>
                        <a:t>Traditional Cream</a:t>
                      </a:r>
                      <a:endParaRPr sz="1100"/>
                    </a:p>
                  </a:txBody>
                  <a:tcPr marL="1028700" marR="9525" marT="9525" marB="0" anchor="ctr"/>
                </a:tc>
              </a:tr>
              <a:tr h="175260">
                <a:tc>
                  <a:txBody>
                    <a:bodyPr wrap="square"/>
                    <a:lstStyle/>
                    <a:p>
                      <a:pPr algn="l"/>
                      <a:r>
                        <a:rPr sz="1100" b="0" i="1">
                          <a:solidFill>
                            <a:srgbClr val="000000"/>
                          </a:solidFill>
                          <a:latin typeface="Calibri"/>
                        </a:rPr>
                        <a:t>4.5.1.2.</a:t>
                      </a:r>
                      <a:r>
                        <a:rPr sz="700" b="0" i="1">
                          <a:solidFill>
                            <a:srgbClr val="000000"/>
                          </a:solidFill>
                          <a:latin typeface="Times New Roman"/>
                        </a:rPr>
                        <a:t>    </a:t>
                      </a:r>
                      <a:r>
                        <a:rPr sz="1100" b="0" i="1">
                          <a:solidFill>
                            <a:srgbClr val="000000"/>
                          </a:solidFill>
                          <a:latin typeface="Calibri"/>
                        </a:rPr>
                        <a:t>Gel-Cream</a:t>
                      </a:r>
                      <a:endParaRPr sz="1100"/>
                    </a:p>
                  </a:txBody>
                  <a:tcPr marL="1028700" marR="9525" marT="9525" marB="0" anchor="ctr"/>
                </a:tc>
              </a:tr>
              <a:tr h="175260">
                <a:tc>
                  <a:txBody>
                    <a:bodyPr wrap="square"/>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Lotion-based Sunscreen</a:t>
                      </a:r>
                      <a:endParaRPr sz="1100"/>
                    </a:p>
                  </a:txBody>
                  <a:tcPr marL="771525" marR="9525" marT="9525" marB="0" anchor="ctr"/>
                </a:tc>
              </a:tr>
              <a:tr h="175260">
                <a:tc>
                  <a:txBody>
                    <a:bodyPr wrap="square"/>
                    <a:lstStyle/>
                    <a:p>
                      <a:pPr algn="l"/>
                      <a:r>
                        <a:rPr sz="1100" b="0" i="1">
                          <a:solidFill>
                            <a:srgbClr val="000000"/>
                          </a:solidFill>
                          <a:latin typeface="Calibri"/>
                        </a:rPr>
                        <a:t>4.5.2.1.</a:t>
                      </a:r>
                      <a:r>
                        <a:rPr sz="700" b="0" i="1">
                          <a:solidFill>
                            <a:srgbClr val="000000"/>
                          </a:solidFill>
                          <a:latin typeface="Times New Roman"/>
                        </a:rPr>
                        <a:t>    </a:t>
                      </a:r>
                      <a:r>
                        <a:rPr sz="1100" b="0" i="1">
                          <a:solidFill>
                            <a:srgbClr val="000000"/>
                          </a:solidFill>
                          <a:latin typeface="Calibri"/>
                        </a:rPr>
                        <a:t>Standard Lotion</a:t>
                      </a:r>
                      <a:endParaRPr sz="1100"/>
                    </a:p>
                  </a:txBody>
                  <a:tcPr marL="1028700" marR="9525" marT="9525" marB="0" anchor="ctr"/>
                </a:tc>
              </a:tr>
              <a:tr h="175260">
                <a:tc>
                  <a:txBody>
                    <a:bodyPr wrap="square"/>
                    <a:lstStyle/>
                    <a:p>
                      <a:pPr algn="l"/>
                      <a:r>
                        <a:rPr sz="1100" b="0" i="1">
                          <a:solidFill>
                            <a:srgbClr val="000000"/>
                          </a:solidFill>
                          <a:latin typeface="Calibri"/>
                        </a:rPr>
                        <a:t>4.5.2.2.</a:t>
                      </a:r>
                      <a:r>
                        <a:rPr sz="700" b="0" i="1">
                          <a:solidFill>
                            <a:srgbClr val="000000"/>
                          </a:solidFill>
                          <a:latin typeface="Times New Roman"/>
                        </a:rPr>
                        <a:t>    </a:t>
                      </a:r>
                      <a:r>
                        <a:rPr sz="1100" b="0" i="1">
                          <a:solidFill>
                            <a:srgbClr val="000000"/>
                          </a:solidFill>
                          <a:latin typeface="Calibri"/>
                        </a:rPr>
                        <a:t>Lightweight Fluid / Milk</a:t>
                      </a:r>
                      <a:endParaRPr sz="1100"/>
                    </a:p>
                  </a:txBody>
                  <a:tcPr marL="1028700" marR="9525" marT="9525" marB="0" anchor="ctr"/>
                </a:tc>
              </a:tr>
              <a:tr h="175260">
                <a:tc>
                  <a:txBody>
                    <a:bodyPr wrap="square"/>
                    <a:lstStyle/>
                    <a:p>
                      <a:pPr algn="l"/>
                      <a:r>
                        <a:rPr sz="1100" b="0" i="0">
                          <a:solidFill>
                            <a:srgbClr val="000000"/>
                          </a:solidFill>
                          <a:latin typeface="Calibri"/>
                        </a:rPr>
                        <a:t>4.5.3.</a:t>
                      </a:r>
                      <a:r>
                        <a:rPr sz="700" b="0" i="0">
                          <a:solidFill>
                            <a:srgbClr val="000000"/>
                          </a:solidFill>
                          <a:latin typeface="Times New Roman"/>
                        </a:rPr>
                        <a:t>   </a:t>
                      </a:r>
                      <a:r>
                        <a:rPr sz="1100" b="0" i="0">
                          <a:solidFill>
                            <a:srgbClr val="000000"/>
                          </a:solidFill>
                          <a:latin typeface="Calibri"/>
                        </a:rPr>
                        <a:t>Gel-based Sunscreen</a:t>
                      </a:r>
                      <a:endParaRPr sz="1100"/>
                    </a:p>
                  </a:txBody>
                  <a:tcPr marL="771525" marR="9525" marT="9525" marB="0" anchor="ctr"/>
                </a:tc>
              </a:tr>
              <a:tr h="175260">
                <a:tc>
                  <a:txBody>
                    <a:bodyPr wrap="square"/>
                    <a:lstStyle/>
                    <a:p>
                      <a:pPr algn="l"/>
                      <a:r>
                        <a:rPr sz="1100" b="0" i="1">
                          <a:solidFill>
                            <a:srgbClr val="000000"/>
                          </a:solidFill>
                          <a:latin typeface="Calibri"/>
                        </a:rPr>
                        <a:t>4.5.3.1.</a:t>
                      </a:r>
                      <a:r>
                        <a:rPr sz="700" b="0" i="1">
                          <a:solidFill>
                            <a:srgbClr val="000000"/>
                          </a:solidFill>
                          <a:latin typeface="Times New Roman"/>
                        </a:rPr>
                        <a:t>    </a:t>
                      </a:r>
                      <a:r>
                        <a:rPr sz="1100" b="0" i="1">
                          <a:solidFill>
                            <a:srgbClr val="000000"/>
                          </a:solidFill>
                          <a:latin typeface="Calibri"/>
                        </a:rPr>
                        <a:t>Water-based Gel</a:t>
                      </a:r>
                      <a:endParaRPr sz="1100"/>
                    </a:p>
                  </a:txBody>
                  <a:tcPr marL="1028700" marR="9525" marT="9525" marB="0" anchor="ctr"/>
                </a:tc>
              </a:tr>
              <a:tr h="175260">
                <a:tc>
                  <a:txBody>
                    <a:bodyPr wrap="square"/>
                    <a:lstStyle/>
                    <a:p>
                      <a:pPr algn="l"/>
                      <a:r>
                        <a:rPr sz="1100" b="0" i="1">
                          <a:solidFill>
                            <a:srgbClr val="000000"/>
                          </a:solidFill>
                          <a:latin typeface="Calibri"/>
                        </a:rPr>
                        <a:t>4.5.3.2.</a:t>
                      </a:r>
                      <a:r>
                        <a:rPr sz="700" b="0" i="1">
                          <a:solidFill>
                            <a:srgbClr val="000000"/>
                          </a:solidFill>
                          <a:latin typeface="Times New Roman"/>
                        </a:rPr>
                        <a:t>    </a:t>
                      </a:r>
                      <a:r>
                        <a:rPr sz="1100" b="0" i="1">
                          <a:solidFill>
                            <a:srgbClr val="000000"/>
                          </a:solidFill>
                          <a:latin typeface="Calibri"/>
                        </a:rPr>
                        <a:t>Oil-free Gel</a:t>
                      </a:r>
                      <a:endParaRPr sz="1100"/>
                    </a:p>
                  </a:txBody>
                  <a:tcPr marL="1028700" marR="9525" marT="9525" marB="0" anchor="ctr"/>
                </a:tc>
              </a:tr>
              <a:tr h="175260">
                <a:tc>
                  <a:txBody>
                    <a:bodyPr wrap="square"/>
                    <a:lstStyle/>
                    <a:p>
                      <a:pPr algn="l"/>
                      <a:r>
                        <a:rPr sz="1100" b="0" i="0">
                          <a:solidFill>
                            <a:srgbClr val="000000"/>
                          </a:solidFill>
                          <a:latin typeface="Calibri"/>
                        </a:rPr>
                        <a:t>4.5.4.</a:t>
                      </a:r>
                      <a:r>
                        <a:rPr sz="700" b="0" i="0">
                          <a:solidFill>
                            <a:srgbClr val="000000"/>
                          </a:solidFill>
                          <a:latin typeface="Times New Roman"/>
                        </a:rPr>
                        <a:t>   </a:t>
                      </a:r>
                      <a:r>
                        <a:rPr sz="1100" b="0" i="0">
                          <a:solidFill>
                            <a:srgbClr val="000000"/>
                          </a:solidFill>
                          <a:latin typeface="Calibri"/>
                        </a:rPr>
                        <a:t>Stick-based Sunscreen</a:t>
                      </a:r>
                      <a:endParaRPr sz="1100"/>
                    </a:p>
                  </a:txBody>
                  <a:tcPr marL="771525" marR="9525" marT="9525" marB="0" anchor="ctr"/>
                </a:tc>
              </a:tr>
              <a:tr h="175260">
                <a:tc>
                  <a:txBody>
                    <a:bodyPr wrap="square"/>
                    <a:lstStyle/>
                    <a:p>
                      <a:pPr algn="l"/>
                      <a:r>
                        <a:rPr sz="1100" b="0" i="0">
                          <a:solidFill>
                            <a:srgbClr val="000000"/>
                          </a:solidFill>
                          <a:latin typeface="Calibri"/>
                        </a:rPr>
                        <a:t>4.5.5.</a:t>
                      </a:r>
                      <a:r>
                        <a:rPr sz="700" b="0" i="0">
                          <a:solidFill>
                            <a:srgbClr val="000000"/>
                          </a:solidFill>
                          <a:latin typeface="Times New Roman"/>
                        </a:rPr>
                        <a:t>   </a:t>
                      </a:r>
                      <a:r>
                        <a:rPr sz="1100" b="0" i="0">
                          <a:solidFill>
                            <a:srgbClr val="000000"/>
                          </a:solidFill>
                          <a:latin typeface="Calibri"/>
                        </a:rPr>
                        <a:t>Other Forms</a:t>
                      </a:r>
                      <a:endParaRPr sz="1100"/>
                    </a:p>
                  </a:txBody>
                  <a:tcPr marL="771525" marR="9525" marT="9525" marB="0" anchor="ctr"/>
                </a:tc>
              </a:tr>
              <a:tr h="175260">
                <a:tc>
                  <a:txBody>
                    <a:bodyPr wrap="square"/>
                    <a:lstStyle/>
                    <a:p>
                      <a:pPr algn="l"/>
                      <a:r>
                        <a:rPr sz="1100" b="0" i="1">
                          <a:solidFill>
                            <a:srgbClr val="000000"/>
                          </a:solidFill>
                          <a:latin typeface="Calibri"/>
                        </a:rPr>
                        <a:t>4.5.5.1.</a:t>
                      </a:r>
                      <a:r>
                        <a:rPr sz="700" b="0" i="1">
                          <a:solidFill>
                            <a:srgbClr val="000000"/>
                          </a:solidFill>
                          <a:latin typeface="Times New Roman"/>
                        </a:rPr>
                        <a:t>    </a:t>
                      </a:r>
                      <a:r>
                        <a:rPr sz="1100" b="0" i="1">
                          <a:solidFill>
                            <a:srgbClr val="000000"/>
                          </a:solidFill>
                          <a:latin typeface="Calibri"/>
                        </a:rPr>
                        <a:t>Spray</a:t>
                      </a:r>
                      <a:endParaRPr sz="1100"/>
                    </a:p>
                  </a:txBody>
                  <a:tcPr marL="1028700" marR="9525" marT="9525" marB="0" anchor="ctr"/>
                </a:tc>
              </a:tr>
              <a:tr h="175260">
                <a:tc>
                  <a:txBody>
                    <a:bodyPr wrap="square"/>
                    <a:lstStyle/>
                    <a:p>
                      <a:pPr algn="l"/>
                      <a:r>
                        <a:rPr sz="1100" b="0" i="1">
                          <a:solidFill>
                            <a:srgbClr val="000000"/>
                          </a:solidFill>
                          <a:latin typeface="Calibri"/>
                        </a:rPr>
                        <a:t>4.5.5.2.</a:t>
                      </a:r>
                      <a:r>
                        <a:rPr sz="700" b="0" i="1">
                          <a:solidFill>
                            <a:srgbClr val="000000"/>
                          </a:solidFill>
                          <a:latin typeface="Times New Roman"/>
                        </a:rPr>
                        <a:t>    </a:t>
                      </a:r>
                      <a:r>
                        <a:rPr sz="1100" b="0" i="1">
                          <a:solidFill>
                            <a:srgbClr val="000000"/>
                          </a:solidFill>
                          <a:latin typeface="Calibri"/>
                        </a:rPr>
                        <a:t>Serum-based Sunscreen</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Market (Value- Volume) Analysis 2021–2036, By SPF Rating</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Below SPF 30</a:t>
                      </a:r>
                      <a:endParaRPr sz="1100"/>
                    </a:p>
                  </a:txBody>
                  <a:tcPr marL="771525" marR="9525" marT="9525" marB="0" anchor="ctr"/>
                </a:tc>
              </a:tr>
              <a:tr h="175260">
                <a:tc>
                  <a:txBody>
                    <a:bodyPr wrap="square"/>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SPF 30–49</a:t>
                      </a:r>
                      <a:endParaRPr sz="1100"/>
                    </a:p>
                  </a:txBody>
                  <a:tcPr marL="771525" marR="9525" marT="9525" marB="0" anchor="ctr"/>
                </a:tc>
              </a:tr>
              <a:tr h="175260">
                <a:tc>
                  <a:txBody>
                    <a:bodyPr wrap="square"/>
                    <a:lstStyle/>
                    <a:p>
                      <a:pPr algn="l"/>
                      <a:r>
                        <a:rPr sz="1100" b="0" i="0">
                          <a:solidFill>
                            <a:srgbClr val="000000"/>
                          </a:solidFill>
                          <a:latin typeface="Calibri"/>
                        </a:rPr>
                        <a:t>5.5.3.</a:t>
                      </a:r>
                      <a:r>
                        <a:rPr sz="700" b="0" i="0">
                          <a:solidFill>
                            <a:srgbClr val="000000"/>
                          </a:solidFill>
                          <a:latin typeface="Times New Roman"/>
                        </a:rPr>
                        <a:t>   </a:t>
                      </a:r>
                      <a:r>
                        <a:rPr sz="1100" b="0" i="0">
                          <a:solidFill>
                            <a:srgbClr val="000000"/>
                          </a:solidFill>
                          <a:latin typeface="Calibri"/>
                        </a:rPr>
                        <a:t>SPF 50</a:t>
                      </a:r>
                      <a:endParaRPr sz="1100"/>
                    </a:p>
                  </a:txBody>
                  <a:tcPr marL="771525" marR="9525" marT="9525" marB="0" anchor="ctr"/>
                </a:tc>
              </a:tr>
              <a:tr h="175260">
                <a:tc>
                  <a:txBody>
                    <a:bodyPr wrap="square"/>
                    <a:lstStyle/>
                    <a:p>
                      <a:pPr algn="l"/>
                      <a:r>
                        <a:rPr sz="1100" b="0" i="0">
                          <a:solidFill>
                            <a:srgbClr val="000000"/>
                          </a:solidFill>
                          <a:latin typeface="Calibri"/>
                        </a:rPr>
                        <a:t>5.5.4.</a:t>
                      </a:r>
                      <a:r>
                        <a:rPr sz="700" b="0" i="0">
                          <a:solidFill>
                            <a:srgbClr val="000000"/>
                          </a:solidFill>
                          <a:latin typeface="Times New Roman"/>
                        </a:rPr>
                        <a:t>   </a:t>
                      </a:r>
                      <a:r>
                        <a:rPr sz="1100" b="0" i="0">
                          <a:solidFill>
                            <a:srgbClr val="000000"/>
                          </a:solidFill>
                          <a:latin typeface="Calibri"/>
                        </a:rPr>
                        <a:t>Above SPF 50</a:t>
                      </a:r>
                      <a:endParaRPr sz="1100"/>
                    </a:p>
                  </a:txBody>
                  <a:tcPr marL="7715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(Value- Volume) Analysis 2021–2036, By Ingredient Type</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Regular Ingredients</a:t>
                      </a:r>
                      <a:endParaRPr sz="1100"/>
                    </a:p>
                  </a:txBody>
                  <a:tcPr marL="771525" marR="9525" marT="9525" marB="0" anchor="ctr"/>
                </a:tc>
              </a:tr>
              <a:tr h="175260">
                <a:tc>
                  <a:txBody>
                    <a:bodyPr wrap="square"/>
                    <a:lstStyle/>
                    <a:p>
                      <a:pPr algn="l"/>
                      <a:r>
                        <a:rPr sz="1100" b="0" i="1">
                          <a:solidFill>
                            <a:srgbClr val="000000"/>
                          </a:solidFill>
                          <a:latin typeface="Calibri"/>
                        </a:rPr>
                        <a:t>6.5.1.1.</a:t>
                      </a:r>
                      <a:r>
                        <a:rPr sz="700" b="0" i="1">
                          <a:solidFill>
                            <a:srgbClr val="000000"/>
                          </a:solidFill>
                          <a:latin typeface="Times New Roman"/>
                        </a:rPr>
                        <a:t>    </a:t>
                      </a:r>
                      <a:r>
                        <a:rPr sz="1100" b="0" i="1">
                          <a:solidFill>
                            <a:srgbClr val="000000"/>
                          </a:solidFill>
                          <a:latin typeface="Calibri"/>
                        </a:rPr>
                        <a:t>Ceramide NP</a:t>
                      </a:r>
                      <a:endParaRPr sz="1100"/>
                    </a:p>
                  </a:txBody>
                  <a:tcPr marL="1028700" marR="9525" marT="9525" marB="0" anchor="ctr"/>
                </a:tc>
              </a:tr>
              <a:tr h="175260">
                <a:tc>
                  <a:txBody>
                    <a:bodyPr wrap="square"/>
                    <a:lstStyle/>
                    <a:p>
                      <a:pPr algn="l"/>
                      <a:r>
                        <a:rPr sz="1100" b="0" i="1">
                          <a:solidFill>
                            <a:srgbClr val="000000"/>
                          </a:solidFill>
                          <a:latin typeface="Calibri"/>
                        </a:rPr>
                        <a:t>6.5.1.2.</a:t>
                      </a:r>
                      <a:r>
                        <a:rPr sz="700" b="0" i="1">
                          <a:solidFill>
                            <a:srgbClr val="000000"/>
                          </a:solidFill>
                          <a:latin typeface="Times New Roman"/>
                        </a:rPr>
                        <a:t>    </a:t>
                      </a:r>
                      <a:r>
                        <a:rPr sz="1100" b="0" i="1">
                          <a:solidFill>
                            <a:srgbClr val="000000"/>
                          </a:solidFill>
                          <a:latin typeface="Calibri"/>
                        </a:rPr>
                        <a:t>Ceramide AP</a:t>
                      </a:r>
                      <a:endParaRPr sz="1100"/>
                    </a:p>
                  </a:txBody>
                  <a:tcPr marL="1028700" marR="9525" marT="9525" marB="0" anchor="ctr"/>
                </a:tc>
              </a:tr>
              <a:tr h="175260">
                <a:tc>
                  <a:txBody>
                    <a:bodyPr wrap="square"/>
                    <a:lstStyle/>
                    <a:p>
                      <a:pPr algn="l"/>
                      <a:r>
                        <a:rPr sz="1100" b="0" i="1">
                          <a:solidFill>
                            <a:srgbClr val="000000"/>
                          </a:solidFill>
                          <a:latin typeface="Calibri"/>
                        </a:rPr>
                        <a:t>6.5.1.3.</a:t>
                      </a:r>
                      <a:r>
                        <a:rPr sz="700" b="0" i="1">
                          <a:solidFill>
                            <a:srgbClr val="000000"/>
                          </a:solidFill>
                          <a:latin typeface="Times New Roman"/>
                        </a:rPr>
                        <a:t>    </a:t>
                      </a:r>
                      <a:r>
                        <a:rPr sz="1100" b="0" i="1">
                          <a:solidFill>
                            <a:srgbClr val="000000"/>
                          </a:solidFill>
                          <a:latin typeface="Calibri"/>
                        </a:rPr>
                        <a:t>Ceramide EOP</a:t>
                      </a:r>
                      <a:endParaRPr sz="1100"/>
                    </a:p>
                  </a:txBody>
                  <a:tcPr marL="1028700" marR="9525" marT="9525" marB="0" anchor="ctr"/>
                </a:tc>
              </a:tr>
              <a:tr h="175260">
                <a:tc>
                  <a:txBody>
                    <a:bodyPr wrap="square"/>
                    <a:lstStyle/>
                    <a:p>
                      <a:pPr algn="l"/>
                      <a:r>
                        <a:rPr sz="1100" b="0" i="1">
                          <a:solidFill>
                            <a:srgbClr val="000000"/>
                          </a:solidFill>
                          <a:latin typeface="Calibri"/>
                        </a:rPr>
                        <a:t>6.5.1.4.</a:t>
                      </a:r>
                      <a:r>
                        <a:rPr sz="700" b="0" i="1">
                          <a:solidFill>
                            <a:srgbClr val="000000"/>
                          </a:solidFill>
                          <a:latin typeface="Times New Roman"/>
                        </a:rPr>
                        <a:t>    </a:t>
                      </a:r>
                      <a:r>
                        <a:rPr sz="1100" b="0" i="1">
                          <a:solidFill>
                            <a:srgbClr val="000000"/>
                          </a:solidFill>
                          <a:latin typeface="Calibri"/>
                        </a:rPr>
                        <a:t>Ceramide NG</a:t>
                      </a:r>
                      <a:endParaRPr sz="1100"/>
                    </a:p>
                  </a:txBody>
                  <a:tcPr marL="1028700" marR="9525" marT="9525" marB="0" anchor="ctr"/>
                </a:tc>
              </a:tr>
              <a:tr h="175260">
                <a:tc>
                  <a:txBody>
                    <a:bodyPr wrap="square"/>
                    <a:lstStyle/>
                    <a:p>
                      <a:pPr algn="l"/>
                      <a:r>
                        <a:rPr sz="1100" b="0" i="1">
                          <a:solidFill>
                            <a:srgbClr val="000000"/>
                          </a:solidFill>
                          <a:latin typeface="Calibri"/>
                        </a:rPr>
                        <a:t>6.5.1.5.</a:t>
                      </a:r>
                      <a:r>
                        <a:rPr sz="700" b="0" i="1">
                          <a:solidFill>
                            <a:srgbClr val="000000"/>
                          </a:solidFill>
                          <a:latin typeface="Times New Roman"/>
                        </a:rPr>
                        <a:t>    </a:t>
                      </a:r>
                      <a:r>
                        <a:rPr sz="1100" b="0" i="1">
                          <a:solidFill>
                            <a:srgbClr val="000000"/>
                          </a:solidFill>
                          <a:latin typeface="Calibri"/>
                        </a:rPr>
                        <a:t>Ceramide AS</a:t>
                      </a:r>
                      <a:endParaRPr sz="1100"/>
                    </a:p>
                  </a:txBody>
                  <a:tcPr marL="1028700" marR="9525" marT="9525" marB="0" anchor="ctr"/>
                </a:tc>
              </a:tr>
              <a:tr h="175260">
                <a:tc>
                  <a:txBody>
                    <a:bodyPr wrap="square"/>
                    <a:lstStyle/>
                    <a:p>
                      <a:pPr algn="l"/>
                      <a:r>
                        <a:rPr sz="1100" b="0" i="1">
                          <a:solidFill>
                            <a:srgbClr val="000000"/>
                          </a:solidFill>
                          <a:latin typeface="Calibri"/>
                        </a:rPr>
                        <a:t>6.5.1.6.</a:t>
                      </a:r>
                      <a:r>
                        <a:rPr sz="700" b="0" i="1">
                          <a:solidFill>
                            <a:srgbClr val="000000"/>
                          </a:solidFill>
                          <a:latin typeface="Times New Roman"/>
                        </a:rPr>
                        <a:t>    </a:t>
                      </a:r>
                      <a:r>
                        <a:rPr sz="1100" b="0" i="1">
                          <a:solidFill>
                            <a:srgbClr val="000000"/>
                          </a:solidFill>
                          <a:latin typeface="Calibri"/>
                        </a:rPr>
                        <a:t>Ceramide NS</a:t>
                      </a:r>
                      <a:endParaRPr sz="1100"/>
                    </a:p>
                  </a:txBody>
                  <a:tcPr marL="1028700" marR="9525" marT="9525" marB="0" anchor="ctr"/>
                </a:tc>
              </a:tr>
              <a:tr h="175260">
                <a:tc>
                  <a:txBody>
                    <a:bodyPr wrap="square"/>
                    <a:lstStyle/>
                    <a:p>
                      <a:pPr algn="l"/>
                      <a:r>
                        <a:rPr sz="1100" b="0" i="1">
                          <a:solidFill>
                            <a:srgbClr val="000000"/>
                          </a:solidFill>
                          <a:latin typeface="Calibri"/>
                        </a:rPr>
                        <a:t>6.5.1.7.</a:t>
                      </a:r>
                      <a:r>
                        <a:rPr sz="700" b="0" i="1">
                          <a:solidFill>
                            <a:srgbClr val="000000"/>
                          </a:solidFill>
                          <a:latin typeface="Times New Roman"/>
                        </a:rPr>
                        <a:t>    </a:t>
                      </a:r>
                      <a:r>
                        <a:rPr sz="1100" b="0" i="1">
                          <a:solidFill>
                            <a:srgbClr val="000000"/>
                          </a:solidFill>
                          <a:latin typeface="Calibri"/>
                        </a:rPr>
                        <a:t>Multi-ceramide blends and complexes</a:t>
                      </a:r>
                      <a:endParaRPr sz="1100"/>
                    </a:p>
                  </a:txBody>
                  <a:tcPr marL="1028700" marR="9525" marT="9525" marB="0" anchor="ctr"/>
                </a:tc>
              </a:tr>
              <a:tr h="175260">
                <a:tc>
                  <a:txBody>
                    <a:bodyPr wrap="square"/>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Niche Ingredients</a:t>
                      </a:r>
                      <a:endParaRPr sz="1100"/>
                    </a:p>
                  </a:txBody>
                  <a:tcPr marL="771525" marR="9525" marT="9525" marB="0" anchor="ctr"/>
                </a:tc>
              </a:tr>
              <a:tr h="175260">
                <a:tc>
                  <a:txBody>
                    <a:bodyPr wrap="square"/>
                    <a:lstStyle/>
                    <a:p>
                      <a:pPr algn="l"/>
                      <a:r>
                        <a:rPr sz="1100" b="0" i="1">
                          <a:solidFill>
                            <a:srgbClr val="000000"/>
                          </a:solidFill>
                          <a:latin typeface="Calibri"/>
                        </a:rPr>
                        <a:t>6.5.2.1.</a:t>
                      </a:r>
                      <a:r>
                        <a:rPr sz="700" b="0" i="1">
                          <a:solidFill>
                            <a:srgbClr val="000000"/>
                          </a:solidFill>
                          <a:latin typeface="Times New Roman"/>
                        </a:rPr>
                        <a:t>    </a:t>
                      </a:r>
                      <a:r>
                        <a:rPr sz="1100" b="0" i="1">
                          <a:solidFill>
                            <a:srgbClr val="000000"/>
                          </a:solidFill>
                          <a:latin typeface="Calibri"/>
                        </a:rPr>
                        <a:t>Ceramide EOS</a:t>
                      </a:r>
                      <a:endParaRPr sz="1100"/>
                    </a:p>
                  </a:txBody>
                  <a:tcPr marL="1028700" marR="9525" marT="9525" marB="0" anchor="ctr"/>
                </a:tc>
              </a:tr>
              <a:tr h="175260">
                <a:tc>
                  <a:txBody>
                    <a:bodyPr wrap="square"/>
                    <a:lstStyle/>
                    <a:p>
                      <a:pPr algn="l"/>
                      <a:r>
                        <a:rPr sz="1100" b="0" i="1">
                          <a:solidFill>
                            <a:srgbClr val="000000"/>
                          </a:solidFill>
                          <a:latin typeface="Calibri"/>
                        </a:rPr>
                        <a:t>6.5.2.2.</a:t>
                      </a:r>
                      <a:r>
                        <a:rPr sz="700" b="0" i="1">
                          <a:solidFill>
                            <a:srgbClr val="000000"/>
                          </a:solidFill>
                          <a:latin typeface="Times New Roman"/>
                        </a:rPr>
                        <a:t>    </a:t>
                      </a:r>
                      <a:r>
                        <a:rPr sz="1100" b="0" i="1">
                          <a:solidFill>
                            <a:srgbClr val="000000"/>
                          </a:solidFill>
                          <a:latin typeface="Calibri"/>
                        </a:rPr>
                        <a:t>Ceramide EOH</a:t>
                      </a:r>
                      <a:endParaRPr sz="1100"/>
                    </a:p>
                  </a:txBody>
                  <a:tcPr marL="1028700" marR="9525" marT="9525" marB="0" anchor="ctr"/>
                </a:tc>
              </a:tr>
              <a:tr h="175260">
                <a:tc>
                  <a:txBody>
                    <a:bodyPr wrap="square"/>
                    <a:lstStyle/>
                    <a:p>
                      <a:pPr algn="l"/>
                      <a:r>
                        <a:rPr sz="1100" b="0" i="1">
                          <a:solidFill>
                            <a:srgbClr val="000000"/>
                          </a:solidFill>
                          <a:latin typeface="Calibri"/>
                        </a:rPr>
                        <a:t>6.5.2.3.</a:t>
                      </a:r>
                      <a:r>
                        <a:rPr sz="700" b="0" i="1">
                          <a:solidFill>
                            <a:srgbClr val="000000"/>
                          </a:solidFill>
                          <a:latin typeface="Times New Roman"/>
                        </a:rPr>
                        <a:t>    </a:t>
                      </a:r>
                      <a:r>
                        <a:rPr sz="1100" b="0" i="1">
                          <a:solidFill>
                            <a:srgbClr val="000000"/>
                          </a:solidFill>
                          <a:latin typeface="Calibri"/>
                        </a:rPr>
                        <a:t>Specialized ceramide-lipid complexes</a:t>
                      </a:r>
                      <a:endParaRPr sz="1100"/>
                    </a:p>
                  </a:txBody>
                  <a:tcPr marL="1028700" marR="9525" marT="9525" marB="0" anchor="ctr"/>
                </a:tc>
              </a:tr>
              <a:tr h="175260">
                <a:tc>
                  <a:txBody>
                    <a:bodyPr wrap="square"/>
                    <a:lstStyle/>
                    <a:p>
                      <a:pPr algn="l"/>
                      <a:r>
                        <a:rPr sz="1100" b="0" i="1">
                          <a:solidFill>
                            <a:srgbClr val="000000"/>
                          </a:solidFill>
                          <a:latin typeface="Calibri"/>
                        </a:rPr>
                        <a:t>6.5.2.4.</a:t>
                      </a:r>
                      <a:r>
                        <a:rPr sz="700" b="0" i="1">
                          <a:solidFill>
                            <a:srgbClr val="000000"/>
                          </a:solidFill>
                          <a:latin typeface="Times New Roman"/>
                        </a:rPr>
                        <a:t>    </a:t>
                      </a:r>
                      <a:r>
                        <a:rPr sz="1100" b="0" i="1">
                          <a:solidFill>
                            <a:srgbClr val="000000"/>
                          </a:solidFill>
                          <a:latin typeface="Calibri"/>
                        </a:rPr>
                        <a:t>Ceramide-based liquid-crystal systems</a:t>
                      </a:r>
                      <a:endParaRPr sz="1100"/>
                    </a:p>
                  </a:txBody>
                  <a:tcPr marL="1028700" marR="9525" marT="9525" marB="0" anchor="ctr"/>
                </a:tc>
              </a:tr>
              <a:tr h="175260">
                <a:tc>
                  <a:txBody>
                    <a:bodyPr wrap="square"/>
                    <a:lstStyle/>
                    <a:p>
                      <a:pPr algn="l"/>
                      <a:r>
                        <a:rPr sz="1100" b="0" i="0">
                          <a:solidFill>
                            <a:srgbClr val="000000"/>
                          </a:solidFill>
                          <a:latin typeface="Calibri"/>
                        </a:rPr>
                        <a:t>6.5.3.</a:t>
                      </a:r>
                      <a:r>
                        <a:rPr sz="700" b="0" i="0">
                          <a:solidFill>
                            <a:srgbClr val="000000"/>
                          </a:solidFill>
                          <a:latin typeface="Times New Roman"/>
                        </a:rPr>
                        <a:t>   </a:t>
                      </a:r>
                      <a:r>
                        <a:rPr sz="1100" b="0" i="0">
                          <a:solidFill>
                            <a:srgbClr val="000000"/>
                          </a:solidFill>
                          <a:latin typeface="Calibri"/>
                        </a:rPr>
                        <a:t>Emerging Ingredients</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6.5.3.1.</a:t>
                      </a:r>
                      <a:r>
                        <a:rPr sz="700" b="0" i="1">
                          <a:solidFill>
                            <a:srgbClr val="000000"/>
                          </a:solidFill>
                          <a:latin typeface="Times New Roman"/>
                        </a:rPr>
                        <a:t>    </a:t>
                      </a:r>
                      <a:r>
                        <a:rPr sz="1100" b="0" i="1">
                          <a:solidFill>
                            <a:srgbClr val="000000"/>
                          </a:solidFill>
                          <a:latin typeface="Calibri"/>
                        </a:rPr>
                        <a:t>Fermentation-derived ceramides</a:t>
                      </a:r>
                      <a:endParaRPr sz="1100"/>
                    </a:p>
                  </a:txBody>
                  <a:tcPr marL="1028700" marR="9525" marT="9525" marB="0" anchor="ctr"/>
                </a:tc>
              </a:tr>
              <a:tr h="175260">
                <a:tc>
                  <a:txBody>
                    <a:bodyPr wrap="square"/>
                    <a:lstStyle/>
                    <a:p>
                      <a:pPr algn="l"/>
                      <a:r>
                        <a:rPr sz="1100" b="0" i="1">
                          <a:solidFill>
                            <a:srgbClr val="000000"/>
                          </a:solidFill>
                          <a:latin typeface="Calibri"/>
                        </a:rPr>
                        <a:t>6.5.3.2.</a:t>
                      </a:r>
                      <a:r>
                        <a:rPr sz="700" b="0" i="1">
                          <a:solidFill>
                            <a:srgbClr val="000000"/>
                          </a:solidFill>
                          <a:latin typeface="Times New Roman"/>
                        </a:rPr>
                        <a:t>    </a:t>
                      </a:r>
                      <a:r>
                        <a:rPr sz="1100" b="0" i="1">
                          <a:solidFill>
                            <a:srgbClr val="000000"/>
                          </a:solidFill>
                          <a:latin typeface="Calibri"/>
                        </a:rPr>
                        <a:t>Biotechnologically produced ceramides</a:t>
                      </a:r>
                      <a:endParaRPr sz="1100"/>
                    </a:p>
                  </a:txBody>
                  <a:tcPr marL="1028700" marR="9525" marT="9525" marB="0" anchor="ctr"/>
                </a:tc>
              </a:tr>
              <a:tr h="175260">
                <a:tc>
                  <a:txBody>
                    <a:bodyPr wrap="square"/>
                    <a:lstStyle/>
                    <a:p>
                      <a:pPr algn="l"/>
                      <a:r>
                        <a:rPr sz="1100" b="0" i="1">
                          <a:solidFill>
                            <a:srgbClr val="000000"/>
                          </a:solidFill>
                          <a:latin typeface="Calibri"/>
                        </a:rPr>
                        <a:t>6.5.3.3.</a:t>
                      </a:r>
                      <a:r>
                        <a:rPr sz="700" b="0" i="1">
                          <a:solidFill>
                            <a:srgbClr val="000000"/>
                          </a:solidFill>
                          <a:latin typeface="Times New Roman"/>
                        </a:rPr>
                        <a:t>    </a:t>
                      </a:r>
                      <a:r>
                        <a:rPr sz="1100" b="0" i="1">
                          <a:solidFill>
                            <a:srgbClr val="000000"/>
                          </a:solidFill>
                          <a:latin typeface="Calibri"/>
                        </a:rPr>
                        <a:t>Encapsulated ceramide delivery systems</a:t>
                      </a:r>
                      <a:endParaRPr sz="1100"/>
                    </a:p>
                  </a:txBody>
                  <a:tcPr marL="1028700" marR="9525" marT="9525" marB="0" anchor="ctr"/>
                </a:tc>
              </a:tr>
              <a:tr h="175260">
                <a:tc>
                  <a:txBody>
                    <a:bodyPr wrap="square"/>
                    <a:lstStyle/>
                    <a:p>
                      <a:pPr algn="l"/>
                      <a:r>
                        <a:rPr sz="1100" b="0" i="1">
                          <a:solidFill>
                            <a:srgbClr val="000000"/>
                          </a:solidFill>
                          <a:latin typeface="Calibri"/>
                        </a:rPr>
                        <a:t>6.5.3.4.</a:t>
                      </a:r>
                      <a:r>
                        <a:rPr sz="700" b="0" i="1">
                          <a:solidFill>
                            <a:srgbClr val="000000"/>
                          </a:solidFill>
                          <a:latin typeface="Times New Roman"/>
                        </a:rPr>
                        <a:t>    </a:t>
                      </a:r>
                      <a:r>
                        <a:rPr sz="1100" b="0" i="1">
                          <a:solidFill>
                            <a:srgbClr val="000000"/>
                          </a:solidFill>
                          <a:latin typeface="Calibri"/>
                        </a:rPr>
                        <a:t>Ceramide-loaded liposomal systems</a:t>
                      </a:r>
                      <a:endParaRPr sz="1100"/>
                    </a:p>
                  </a:txBody>
                  <a:tcPr marL="1028700" marR="9525" marT="9525" marB="0" anchor="ctr"/>
                </a:tc>
              </a:tr>
              <a:tr h="175260">
                <a:tc>
                  <a:txBody>
                    <a:bodyPr wrap="square"/>
                    <a:lstStyle/>
                    <a:p>
                      <a:pPr algn="l"/>
                      <a:r>
                        <a:rPr sz="1100" b="0" i="1">
                          <a:solidFill>
                            <a:srgbClr val="000000"/>
                          </a:solidFill>
                          <a:latin typeface="Calibri"/>
                        </a:rPr>
                        <a:t>6.5.3.5.</a:t>
                      </a:r>
                      <a:r>
                        <a:rPr sz="700" b="0" i="1">
                          <a:solidFill>
                            <a:srgbClr val="000000"/>
                          </a:solidFill>
                          <a:latin typeface="Times New Roman"/>
                        </a:rPr>
                        <a:t>    </a:t>
                      </a:r>
                      <a:r>
                        <a:rPr sz="1100" b="0" i="1">
                          <a:solidFill>
                            <a:srgbClr val="000000"/>
                          </a:solidFill>
                          <a:latin typeface="Calibri"/>
                        </a:rPr>
                        <a:t>Advanced ceramide delivery technologies</a:t>
                      </a:r>
                      <a:endParaRPr sz="1100"/>
                    </a:p>
                  </a:txBody>
                  <a:tcPr marL="1028700"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Market (Value- Volume) Analysis 2021–2036, By End-use Application</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7.3.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7.4.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7.5.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7.5.1.</a:t>
                      </a:r>
                      <a:r>
                        <a:rPr sz="700" b="0" i="0">
                          <a:solidFill>
                            <a:srgbClr val="000000"/>
                          </a:solidFill>
                          <a:latin typeface="Times New Roman"/>
                        </a:rPr>
                        <a:t>   </a:t>
                      </a:r>
                      <a:r>
                        <a:rPr sz="1100" b="0" i="0">
                          <a:solidFill>
                            <a:srgbClr val="000000"/>
                          </a:solidFill>
                          <a:latin typeface="Calibri"/>
                        </a:rPr>
                        <a:t>Facial Sunscreen</a:t>
                      </a:r>
                      <a:endParaRPr sz="1100"/>
                    </a:p>
                  </a:txBody>
                  <a:tcPr marL="771525" marR="9525" marT="9525" marB="0" anchor="ctr"/>
                </a:tc>
              </a:tr>
              <a:tr h="175260">
                <a:tc>
                  <a:txBody>
                    <a:bodyPr wrap="square"/>
                    <a:lstStyle/>
                    <a:p>
                      <a:pPr algn="l"/>
                      <a:r>
                        <a:rPr sz="1100" b="0" i="0">
                          <a:solidFill>
                            <a:srgbClr val="000000"/>
                          </a:solidFill>
                          <a:latin typeface="Calibri"/>
                        </a:rPr>
                        <a:t>7.5.2.</a:t>
                      </a:r>
                      <a:r>
                        <a:rPr sz="700" b="0" i="0">
                          <a:solidFill>
                            <a:srgbClr val="000000"/>
                          </a:solidFill>
                          <a:latin typeface="Times New Roman"/>
                        </a:rPr>
                        <a:t>   </a:t>
                      </a:r>
                      <a:r>
                        <a:rPr sz="1100" b="0" i="0">
                          <a:solidFill>
                            <a:srgbClr val="000000"/>
                          </a:solidFill>
                          <a:latin typeface="Calibri"/>
                        </a:rPr>
                        <a:t>Body Sunscreen</a:t>
                      </a:r>
                      <a:endParaRPr sz="1100"/>
                    </a:p>
                  </a:txBody>
                  <a:tcPr marL="771525" marR="9525" marT="9525" marB="0" anchor="ctr"/>
                </a:tc>
              </a:tr>
              <a:tr h="175260">
                <a:tc>
                  <a:txBody>
                    <a:bodyPr wrap="square"/>
                    <a:lstStyle/>
                    <a:p>
                      <a:pPr algn="l"/>
                      <a:r>
                        <a:rPr sz="1100" b="0" i="0">
                          <a:solidFill>
                            <a:srgbClr val="000000"/>
                          </a:solidFill>
                          <a:latin typeface="Calibri"/>
                        </a:rPr>
                        <a:t>7.5.3.</a:t>
                      </a:r>
                      <a:r>
                        <a:rPr sz="700" b="0" i="0">
                          <a:solidFill>
                            <a:srgbClr val="000000"/>
                          </a:solidFill>
                          <a:latin typeface="Times New Roman"/>
                        </a:rPr>
                        <a:t>   </a:t>
                      </a:r>
                      <a:r>
                        <a:rPr sz="1100" b="0" i="0">
                          <a:solidFill>
                            <a:srgbClr val="000000"/>
                          </a:solidFill>
                          <a:latin typeface="Calibri"/>
                        </a:rPr>
                        <a:t>Face &amp; Body Sunscreen</a:t>
                      </a:r>
                      <a:endParaRPr sz="1100"/>
                    </a:p>
                  </a:txBody>
                  <a:tcPr marL="771525" marR="9525" marT="9525" marB="0" anchor="ctr"/>
                </a:tc>
              </a:tr>
              <a:tr h="175260">
                <a:tc>
                  <a:txBody>
                    <a:bodyPr wrap="square"/>
                    <a:lstStyle/>
                    <a:p>
                      <a:pPr algn="l"/>
                      <a:r>
                        <a:rPr sz="1100" b="0" i="0">
                          <a:solidFill>
                            <a:srgbClr val="000000"/>
                          </a:solidFill>
                          <a:latin typeface="Calibri"/>
                        </a:rPr>
                        <a:t>7.5.4.</a:t>
                      </a:r>
                      <a:r>
                        <a:rPr sz="700" b="0" i="0">
                          <a:solidFill>
                            <a:srgbClr val="000000"/>
                          </a:solidFill>
                          <a:latin typeface="Times New Roman"/>
                        </a:rPr>
                        <a:t>   </a:t>
                      </a:r>
                      <a:r>
                        <a:rPr sz="1100" b="0" i="0">
                          <a:solidFill>
                            <a:srgbClr val="000000"/>
                          </a:solidFill>
                          <a:latin typeface="Calibri"/>
                        </a:rPr>
                        <a:t>Lip Sunscreen</a:t>
                      </a:r>
                      <a:endParaRPr sz="1100"/>
                    </a:p>
                  </a:txBody>
                  <a:tcPr marL="771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Global Market (Value- Volume) Analysis 2021–2036, By Pack Size</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8.5.1.</a:t>
                      </a:r>
                      <a:r>
                        <a:rPr sz="700" b="0" i="0">
                          <a:solidFill>
                            <a:srgbClr val="000000"/>
                          </a:solidFill>
                          <a:latin typeface="Times New Roman"/>
                        </a:rPr>
                        <a:t>   </a:t>
                      </a:r>
                      <a:r>
                        <a:rPr sz="1100" b="0" i="0">
                          <a:solidFill>
                            <a:srgbClr val="000000"/>
                          </a:solidFill>
                          <a:latin typeface="Calibri"/>
                        </a:rPr>
                        <a:t>Up to 30 g/ml</a:t>
                      </a:r>
                      <a:endParaRPr sz="1100"/>
                    </a:p>
                  </a:txBody>
                  <a:tcPr marL="771525" marR="9525" marT="9525" marB="0" anchor="ctr"/>
                </a:tc>
              </a:tr>
              <a:tr h="175260">
                <a:tc>
                  <a:txBody>
                    <a:bodyPr wrap="square"/>
                    <a:lstStyle/>
                    <a:p>
                      <a:pPr algn="l"/>
                      <a:r>
                        <a:rPr sz="1100" b="0" i="0">
                          <a:solidFill>
                            <a:srgbClr val="000000"/>
                          </a:solidFill>
                          <a:latin typeface="Calibri"/>
                        </a:rPr>
                        <a:t>8.5.2.</a:t>
                      </a:r>
                      <a:r>
                        <a:rPr sz="700" b="0" i="0">
                          <a:solidFill>
                            <a:srgbClr val="000000"/>
                          </a:solidFill>
                          <a:latin typeface="Times New Roman"/>
                        </a:rPr>
                        <a:t>   </a:t>
                      </a:r>
                      <a:r>
                        <a:rPr sz="1100" b="0" i="0">
                          <a:solidFill>
                            <a:srgbClr val="000000"/>
                          </a:solidFill>
                          <a:latin typeface="Calibri"/>
                        </a:rPr>
                        <a:t>Above 30–50 g/ml</a:t>
                      </a:r>
                      <a:endParaRPr sz="1100"/>
                    </a:p>
                  </a:txBody>
                  <a:tcPr marL="771525" marR="9525" marT="9525" marB="0" anchor="ctr"/>
                </a:tc>
              </a:tr>
              <a:tr h="175260">
                <a:tc>
                  <a:txBody>
                    <a:bodyPr wrap="square"/>
                    <a:lstStyle/>
                    <a:p>
                      <a:pPr algn="l"/>
                      <a:r>
                        <a:rPr sz="1100" b="0" i="0">
                          <a:solidFill>
                            <a:srgbClr val="000000"/>
                          </a:solidFill>
                          <a:latin typeface="Calibri"/>
                        </a:rPr>
                        <a:t>8.5.3.</a:t>
                      </a:r>
                      <a:r>
                        <a:rPr sz="700" b="0" i="0">
                          <a:solidFill>
                            <a:srgbClr val="000000"/>
                          </a:solidFill>
                          <a:latin typeface="Times New Roman"/>
                        </a:rPr>
                        <a:t>   </a:t>
                      </a:r>
                      <a:r>
                        <a:rPr sz="1100" b="0" i="0">
                          <a:solidFill>
                            <a:srgbClr val="000000"/>
                          </a:solidFill>
                          <a:latin typeface="Calibri"/>
                        </a:rPr>
                        <a:t>Above 50–100 g/ml</a:t>
                      </a:r>
                      <a:endParaRPr sz="1100"/>
                    </a:p>
                  </a:txBody>
                  <a:tcPr marL="771525" marR="9525" marT="9525" marB="0" anchor="ctr"/>
                </a:tc>
              </a:tr>
              <a:tr h="175260">
                <a:tc>
                  <a:txBody>
                    <a:bodyPr wrap="square"/>
                    <a:lstStyle/>
                    <a:p>
                      <a:pPr algn="l"/>
                      <a:r>
                        <a:rPr sz="1100" b="0" i="0">
                          <a:solidFill>
                            <a:srgbClr val="000000"/>
                          </a:solidFill>
                          <a:latin typeface="Calibri"/>
                        </a:rPr>
                        <a:t>8.5.4.</a:t>
                      </a:r>
                      <a:r>
                        <a:rPr sz="700" b="0" i="0">
                          <a:solidFill>
                            <a:srgbClr val="000000"/>
                          </a:solidFill>
                          <a:latin typeface="Times New Roman"/>
                        </a:rPr>
                        <a:t>   </a:t>
                      </a:r>
                      <a:r>
                        <a:rPr sz="1100" b="0" i="0">
                          <a:solidFill>
                            <a:srgbClr val="000000"/>
                          </a:solidFill>
                          <a:latin typeface="Calibri"/>
                        </a:rPr>
                        <a:t>Above 100–200 g/ml</a:t>
                      </a:r>
                      <a:endParaRPr sz="1100"/>
                    </a:p>
                  </a:txBody>
                  <a:tcPr marL="771525" marR="9525" marT="9525" marB="0" anchor="ctr"/>
                </a:tc>
              </a:tr>
              <a:tr h="175260">
                <a:tc>
                  <a:txBody>
                    <a:bodyPr wrap="square"/>
                    <a:lstStyle/>
                    <a:p>
                      <a:pPr algn="l"/>
                      <a:r>
                        <a:rPr sz="1100" b="0" i="0">
                          <a:solidFill>
                            <a:srgbClr val="000000"/>
                          </a:solidFill>
                          <a:latin typeface="Calibri"/>
                        </a:rPr>
                        <a:t>8.5.5.</a:t>
                      </a:r>
                      <a:r>
                        <a:rPr sz="700" b="0" i="0">
                          <a:solidFill>
                            <a:srgbClr val="000000"/>
                          </a:solidFill>
                          <a:latin typeface="Times New Roman"/>
                        </a:rPr>
                        <a:t>   </a:t>
                      </a:r>
                      <a:r>
                        <a:rPr sz="1100" b="0" i="0">
                          <a:solidFill>
                            <a:srgbClr val="000000"/>
                          </a:solidFill>
                          <a:latin typeface="Calibri"/>
                        </a:rPr>
                        <a:t>Above 200 g/ml</a:t>
                      </a:r>
                      <a:endParaRPr sz="1100"/>
                    </a:p>
                  </a:txBody>
                  <a:tcPr marL="771525" marR="9525" marT="9525" marB="0" anchor="ctr"/>
                </a:tc>
              </a:tr>
              <a:tr h="35052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Market (Value- Volume) Analysis 2021–2036, By Price Tier (USD per 50 ml / 50 g Equivalent)</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9.5.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9.5.1.</a:t>
                      </a:r>
                      <a:r>
                        <a:rPr sz="700" b="0" i="0">
                          <a:solidFill>
                            <a:srgbClr val="000000"/>
                          </a:solidFill>
                          <a:latin typeface="Times New Roman"/>
                        </a:rPr>
                        <a:t>   </a:t>
                      </a:r>
                      <a:r>
                        <a:rPr sz="1100" b="0" i="0">
                          <a:solidFill>
                            <a:srgbClr val="000000"/>
                          </a:solidFill>
                          <a:latin typeface="Calibri"/>
                        </a:rPr>
                        <a:t>Mass Market (Below USD 10)</a:t>
                      </a:r>
                      <a:endParaRPr sz="1100"/>
                    </a:p>
                  </a:txBody>
                  <a:tcPr marL="771525" marR="9525" marT="9525" marB="0" anchor="ctr"/>
                </a:tc>
              </a:tr>
              <a:tr h="175260">
                <a:tc>
                  <a:txBody>
                    <a:bodyPr wrap="square"/>
                    <a:lstStyle/>
                    <a:p>
                      <a:pPr algn="l"/>
                      <a:r>
                        <a:rPr sz="1100" b="0" i="0">
                          <a:solidFill>
                            <a:srgbClr val="000000"/>
                          </a:solidFill>
                          <a:latin typeface="Calibri"/>
                        </a:rPr>
                        <a:t>9.5.2.</a:t>
                      </a:r>
                      <a:r>
                        <a:rPr sz="700" b="0" i="0">
                          <a:solidFill>
                            <a:srgbClr val="000000"/>
                          </a:solidFill>
                          <a:latin typeface="Times New Roman"/>
                        </a:rPr>
                        <a:t>   </a:t>
                      </a:r>
                      <a:r>
                        <a:rPr sz="1100" b="0" i="0">
                          <a:solidFill>
                            <a:srgbClr val="000000"/>
                          </a:solidFill>
                          <a:latin typeface="Calibri"/>
                        </a:rPr>
                        <a:t>Masstige (USD 10 – Below USD 20)</a:t>
                      </a:r>
                      <a:endParaRPr sz="1100"/>
                    </a:p>
                  </a:txBody>
                  <a:tcPr marL="771525" marR="9525" marT="9525" marB="0" anchor="ctr"/>
                </a:tc>
              </a:tr>
              <a:tr h="175260">
                <a:tc>
                  <a:txBody>
                    <a:bodyPr wrap="square"/>
                    <a:lstStyle/>
                    <a:p>
                      <a:pPr algn="l"/>
                      <a:r>
                        <a:rPr sz="1100" b="0" i="0">
                          <a:solidFill>
                            <a:srgbClr val="000000"/>
                          </a:solidFill>
                          <a:latin typeface="Calibri"/>
                        </a:rPr>
                        <a:t>9.5.3.</a:t>
                      </a:r>
                      <a:r>
                        <a:rPr sz="700" b="0" i="0">
                          <a:solidFill>
                            <a:srgbClr val="000000"/>
                          </a:solidFill>
                          <a:latin typeface="Times New Roman"/>
                        </a:rPr>
                        <a:t>   </a:t>
                      </a:r>
                      <a:r>
                        <a:rPr sz="1100" b="0" i="0">
                          <a:solidFill>
                            <a:srgbClr val="000000"/>
                          </a:solidFill>
                          <a:latin typeface="Calibri"/>
                        </a:rPr>
                        <a:t>Premium (USD 20 – Below USD 35)</a:t>
                      </a:r>
                      <a:endParaRPr sz="1100"/>
                    </a:p>
                  </a:txBody>
                  <a:tcPr marL="771525" marR="9525" marT="9525" marB="0" anchor="ctr"/>
                </a:tc>
              </a:tr>
              <a:tr h="175260">
                <a:tc>
                  <a:txBody>
                    <a:bodyPr wrap="square"/>
                    <a:lstStyle/>
                    <a:p>
                      <a:pPr algn="l"/>
                      <a:r>
                        <a:rPr sz="1100" b="0" i="0">
                          <a:solidFill>
                            <a:srgbClr val="000000"/>
                          </a:solidFill>
                          <a:latin typeface="Calibri"/>
                        </a:rPr>
                        <a:t>9.5.4.</a:t>
                      </a:r>
                      <a:r>
                        <a:rPr sz="700" b="0" i="0">
                          <a:solidFill>
                            <a:srgbClr val="000000"/>
                          </a:solidFill>
                          <a:latin typeface="Times New Roman"/>
                        </a:rPr>
                        <a:t>   </a:t>
                      </a:r>
                      <a:r>
                        <a:rPr sz="1100" b="0" i="0">
                          <a:solidFill>
                            <a:srgbClr val="000000"/>
                          </a:solidFill>
                          <a:latin typeface="Calibri"/>
                        </a:rPr>
                        <a:t>Prestige / Luxury (USD 35 and Above)</a:t>
                      </a:r>
                      <a:endParaRPr sz="1100"/>
                    </a:p>
                  </a:txBody>
                  <a:tcPr marL="7715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Market (Value- Volume) Analysis 2021–2036, By Sales Channel</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10.5.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10.5.1.</a:t>
                      </a:r>
                      <a:r>
                        <a:rPr sz="700" b="0" i="0">
                          <a:solidFill>
                            <a:srgbClr val="000000"/>
                          </a:solidFill>
                          <a:latin typeface="Times New Roman"/>
                        </a:rPr>
                        <a:t> </a:t>
                      </a:r>
                      <a:r>
                        <a:rPr sz="1100" b="0" i="0">
                          <a:solidFill>
                            <a:srgbClr val="000000"/>
                          </a:solidFill>
                          <a:latin typeface="Calibri"/>
                        </a:rPr>
                        <a:t>Online</a:t>
                      </a:r>
                      <a:endParaRPr sz="1100"/>
                    </a:p>
                  </a:txBody>
                  <a:tcPr marL="771525" marR="9525" marT="9525" marB="0" anchor="ctr"/>
                </a:tc>
              </a:tr>
              <a:tr h="175260">
                <a:tc>
                  <a:txBody>
                    <a:bodyPr wrap="square"/>
                    <a:lstStyle/>
                    <a:p>
                      <a:pPr algn="l"/>
                      <a:r>
                        <a:rPr sz="1100" b="0" i="1">
                          <a:solidFill>
                            <a:srgbClr val="000000"/>
                          </a:solidFill>
                          <a:latin typeface="Calibri"/>
                        </a:rPr>
                        <a:t>10.5.1.1.</a:t>
                      </a:r>
                      <a:r>
                        <a:rPr sz="700" b="0" i="1">
                          <a:solidFill>
                            <a:srgbClr val="000000"/>
                          </a:solidFill>
                          <a:latin typeface="Times New Roman"/>
                        </a:rPr>
                        <a:t> </a:t>
                      </a:r>
                      <a:r>
                        <a:rPr sz="1100" b="0" i="1">
                          <a:solidFill>
                            <a:srgbClr val="000000"/>
                          </a:solidFill>
                          <a:latin typeface="Calibri"/>
                        </a:rPr>
                        <a:t>Brand-owned E-commerce Websites</a:t>
                      </a:r>
                      <a:endParaRPr sz="1100"/>
                    </a:p>
                  </a:txBody>
                  <a:tcPr marL="1028700" marR="9525" marT="9525" marB="0" anchor="ctr"/>
                </a:tc>
              </a:tr>
              <a:tr h="175260">
                <a:tc>
                  <a:txBody>
                    <a:bodyPr wrap="square"/>
                    <a:lstStyle/>
                    <a:p>
                      <a:pPr algn="l"/>
                      <a:r>
                        <a:rPr sz="1100" b="0" i="1">
                          <a:solidFill>
                            <a:srgbClr val="000000"/>
                          </a:solidFill>
                          <a:latin typeface="Calibri"/>
                        </a:rPr>
                        <a:t>10.5.1.2.</a:t>
                      </a:r>
                      <a:r>
                        <a:rPr sz="700" b="0" i="1">
                          <a:solidFill>
                            <a:srgbClr val="000000"/>
                          </a:solidFill>
                          <a:latin typeface="Times New Roman"/>
                        </a:rPr>
                        <a:t> </a:t>
                      </a:r>
                      <a:r>
                        <a:rPr sz="1100" b="0" i="1">
                          <a:solidFill>
                            <a:srgbClr val="000000"/>
                          </a:solidFill>
                          <a:latin typeface="Calibri"/>
                        </a:rPr>
                        <a:t>Third-party E-commerce Marketplaces</a:t>
                      </a:r>
                      <a:endParaRPr sz="1100"/>
                    </a:p>
                  </a:txBody>
                  <a:tcPr marL="1028700" marR="9525" marT="9525" marB="0" anchor="ctr"/>
                </a:tc>
              </a:tr>
              <a:tr h="175260">
                <a:tc>
                  <a:txBody>
                    <a:bodyPr wrap="square"/>
                    <a:lstStyle/>
                    <a:p>
                      <a:pPr algn="l"/>
                      <a:r>
                        <a:rPr sz="1100" b="0" i="1">
                          <a:solidFill>
                            <a:srgbClr val="000000"/>
                          </a:solidFill>
                          <a:latin typeface="Calibri"/>
                        </a:rPr>
                        <a:t>10.5.1.3.</a:t>
                      </a:r>
                      <a:r>
                        <a:rPr sz="700" b="0" i="1">
                          <a:solidFill>
                            <a:srgbClr val="000000"/>
                          </a:solidFill>
                          <a:latin typeface="Times New Roman"/>
                        </a:rPr>
                        <a:t> </a:t>
                      </a:r>
                      <a:r>
                        <a:rPr sz="1100" b="0" i="1">
                          <a:solidFill>
                            <a:srgbClr val="000000"/>
                          </a:solidFill>
                          <a:latin typeface="Calibri"/>
                        </a:rPr>
                        <a:t>Online Pharmacies</a:t>
                      </a:r>
                      <a:endParaRPr sz="1100"/>
                    </a:p>
                  </a:txBody>
                  <a:tcPr marL="1028700" marR="9525" marT="9525" marB="0" anchor="ctr"/>
                </a:tc>
              </a:tr>
              <a:tr h="175260">
                <a:tc>
                  <a:txBody>
                    <a:bodyPr wrap="square"/>
                    <a:lstStyle/>
                    <a:p>
                      <a:pPr algn="l"/>
                      <a:r>
                        <a:rPr sz="1100" b="0" i="0">
                          <a:solidFill>
                            <a:srgbClr val="000000"/>
                          </a:solidFill>
                          <a:latin typeface="Calibri"/>
                        </a:rPr>
                        <a:t>10.5.2.</a:t>
                      </a:r>
                      <a:r>
                        <a:rPr sz="700" b="0" i="0">
                          <a:solidFill>
                            <a:srgbClr val="000000"/>
                          </a:solidFill>
                          <a:latin typeface="Times New Roman"/>
                        </a:rPr>
                        <a:t> </a:t>
                      </a:r>
                      <a:r>
                        <a:rPr sz="1100" b="0" i="0">
                          <a:solidFill>
                            <a:srgbClr val="000000"/>
                          </a:solidFill>
                          <a:latin typeface="Calibri"/>
                        </a:rPr>
                        <a:t>Offline</a:t>
                      </a:r>
                      <a:endParaRPr sz="1100"/>
                    </a:p>
                  </a:txBody>
                  <a:tcPr marL="771525" marR="9525" marT="9525" marB="0" anchor="ctr"/>
                </a:tc>
              </a:tr>
              <a:tr h="175260">
                <a:tc>
                  <a:txBody>
                    <a:bodyPr wrap="square"/>
                    <a:lstStyle/>
                    <a:p>
                      <a:pPr algn="l"/>
                      <a:r>
                        <a:rPr sz="1100" b="0" i="1">
                          <a:solidFill>
                            <a:srgbClr val="000000"/>
                          </a:solidFill>
                          <a:latin typeface="Calibri"/>
                        </a:rPr>
                        <a:t>10.5.2.1.</a:t>
                      </a:r>
                      <a:r>
                        <a:rPr sz="700" b="0" i="1">
                          <a:solidFill>
                            <a:srgbClr val="000000"/>
                          </a:solidFill>
                          <a:latin typeface="Times New Roman"/>
                        </a:rPr>
                        <a:t> </a:t>
                      </a:r>
                      <a:r>
                        <a:rPr sz="1100" b="0" i="1">
                          <a:solidFill>
                            <a:srgbClr val="000000"/>
                          </a:solidFill>
                          <a:latin typeface="Calibri"/>
                        </a:rPr>
                        <a:t>Supermarkets &amp; Hypermarkets</a:t>
                      </a:r>
                      <a:endParaRPr sz="1100"/>
                    </a:p>
                  </a:txBody>
                  <a:tcPr marL="1028700" marR="9525" marT="9525" marB="0" anchor="ctr"/>
                </a:tc>
              </a:tr>
              <a:tr h="175260">
                <a:tc>
                  <a:txBody>
                    <a:bodyPr wrap="square"/>
                    <a:lstStyle/>
                    <a:p>
                      <a:pPr algn="l"/>
                      <a:r>
                        <a:rPr sz="1100" b="0" i="1">
                          <a:solidFill>
                            <a:srgbClr val="000000"/>
                          </a:solidFill>
                          <a:latin typeface="Calibri"/>
                        </a:rPr>
                        <a:t>10.5.2.2.</a:t>
                      </a:r>
                      <a:r>
                        <a:rPr sz="700" b="0" i="1">
                          <a:solidFill>
                            <a:srgbClr val="000000"/>
                          </a:solidFill>
                          <a:latin typeface="Times New Roman"/>
                        </a:rPr>
                        <a:t> </a:t>
                      </a:r>
                      <a:r>
                        <a:rPr sz="1100" b="0" i="1">
                          <a:solidFill>
                            <a:srgbClr val="000000"/>
                          </a:solidFill>
                          <a:latin typeface="Calibri"/>
                        </a:rPr>
                        <a:t>Pharmacies &amp; Drugstores</a:t>
                      </a:r>
                      <a:endParaRPr sz="1100"/>
                    </a:p>
                  </a:txBody>
                  <a:tcPr marL="1028700" marR="9525" marT="9525" marB="0" anchor="ctr"/>
                </a:tc>
              </a:tr>
              <a:tr h="175260">
                <a:tc>
                  <a:txBody>
                    <a:bodyPr wrap="square"/>
                    <a:lstStyle/>
                    <a:p>
                      <a:pPr algn="l"/>
                      <a:r>
                        <a:rPr sz="1100" b="0" i="1">
                          <a:solidFill>
                            <a:srgbClr val="000000"/>
                          </a:solidFill>
                          <a:latin typeface="Calibri"/>
                        </a:rPr>
                        <a:t>10.5.2.3.</a:t>
                      </a:r>
                      <a:r>
                        <a:rPr sz="700" b="0" i="1">
                          <a:solidFill>
                            <a:srgbClr val="000000"/>
                          </a:solidFill>
                          <a:latin typeface="Times New Roman"/>
                        </a:rPr>
                        <a:t> </a:t>
                      </a:r>
                      <a:r>
                        <a:rPr sz="1100" b="0" i="1">
                          <a:solidFill>
                            <a:srgbClr val="000000"/>
                          </a:solidFill>
                          <a:latin typeface="Calibri"/>
                        </a:rPr>
                        <a:t>Beauty &amp; Cosmetics Specialty Stores</a:t>
                      </a:r>
                      <a:endParaRPr sz="1100"/>
                    </a:p>
                  </a:txBody>
                  <a:tcPr marL="1028700" marR="9525" marT="9525" marB="0" anchor="ctr"/>
                </a:tc>
              </a:tr>
              <a:tr h="175260">
                <a:tc>
                  <a:txBody>
                    <a:bodyPr wrap="square"/>
                    <a:lstStyle/>
                    <a:p>
                      <a:pPr algn="l"/>
                      <a:r>
                        <a:rPr sz="1100" b="0" i="1">
                          <a:solidFill>
                            <a:srgbClr val="000000"/>
                          </a:solidFill>
                          <a:latin typeface="Calibri"/>
                        </a:rPr>
                        <a:t>10.5.2.4.</a:t>
                      </a:r>
                      <a:r>
                        <a:rPr sz="700" b="0" i="1">
                          <a:solidFill>
                            <a:srgbClr val="000000"/>
                          </a:solidFill>
                          <a:latin typeface="Times New Roman"/>
                        </a:rPr>
                        <a:t> </a:t>
                      </a:r>
                      <a:r>
                        <a:rPr sz="1100" b="0" i="1">
                          <a:solidFill>
                            <a:srgbClr val="000000"/>
                          </a:solidFill>
                          <a:latin typeface="Calibri"/>
                        </a:rPr>
                        <a:t>Department Stores</a:t>
                      </a:r>
                      <a:endParaRPr sz="1100"/>
                    </a:p>
                  </a:txBody>
                  <a:tcPr marL="1028700" marR="9525" marT="9525" marB="0" anchor="ctr"/>
                </a:tc>
              </a:tr>
              <a:tr h="175260">
                <a:tc>
                  <a:txBody>
                    <a:bodyPr wrap="square"/>
                    <a:lstStyle/>
                    <a:p>
                      <a:pPr algn="l"/>
                      <a:r>
                        <a:rPr sz="1100" b="0" i="1">
                          <a:solidFill>
                            <a:srgbClr val="000000"/>
                          </a:solidFill>
                          <a:latin typeface="Calibri"/>
                        </a:rPr>
                        <a:t>10.5.2.5.</a:t>
                      </a:r>
                      <a:r>
                        <a:rPr sz="700" b="0" i="1">
                          <a:solidFill>
                            <a:srgbClr val="000000"/>
                          </a:solidFill>
                          <a:latin typeface="Times New Roman"/>
                        </a:rPr>
                        <a:t> </a:t>
                      </a:r>
                      <a:r>
                        <a:rPr sz="1100" b="0" i="1">
                          <a:solidFill>
                            <a:srgbClr val="000000"/>
                          </a:solidFill>
                          <a:latin typeface="Calibri"/>
                        </a:rPr>
                        <a:t>Dermatology Clinics</a:t>
                      </a:r>
                      <a:endParaRPr sz="1100"/>
                    </a:p>
                  </a:txBody>
                  <a:tcPr marL="1028700"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11.5.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11.5.1.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11.5.1.1.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11.5.1.2.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0">
                          <a:solidFill>
                            <a:srgbClr val="000000"/>
                          </a:solidFill>
                          <a:latin typeface="Calibri"/>
                        </a:rPr>
                        <a:t>11.5.2.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1">
                          <a:solidFill>
                            <a:srgbClr val="000000"/>
                          </a:solidFill>
                          <a:latin typeface="Calibri"/>
                        </a:rPr>
                        <a:t>11.5.2.1.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11.5.2.2.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1">
                          <a:solidFill>
                            <a:srgbClr val="000000"/>
                          </a:solidFill>
                          <a:latin typeface="Calibri"/>
                        </a:rPr>
                        <a:t>11.5.2.3.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tr>
              <a:tr h="175260">
                <a:tc>
                  <a:txBody>
                    <a:bodyPr wrap="square"/>
                    <a:lstStyle/>
                    <a:p>
                      <a:pPr algn="l"/>
                      <a:r>
                        <a:rPr sz="1100" b="0" i="0">
                          <a:solidFill>
                            <a:srgbClr val="000000"/>
                          </a:solidFill>
                          <a:latin typeface="Calibri"/>
                        </a:rPr>
                        <a:t>11.5.3.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1">
                          <a:solidFill>
                            <a:srgbClr val="000000"/>
                          </a:solidFill>
                          <a:latin typeface="Calibri"/>
                        </a:rPr>
                        <a:t>11.5.3.1.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11.5.3.2.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11.5.3.3.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tr>
              <a:tr h="175260">
                <a:tc>
                  <a:txBody>
                    <a:bodyPr wrap="square"/>
                    <a:lstStyle/>
                    <a:p>
                      <a:pPr algn="l"/>
                      <a:r>
                        <a:rPr sz="1100" b="0" i="0">
                          <a:solidFill>
                            <a:srgbClr val="000000"/>
                          </a:solidFill>
                          <a:latin typeface="Calibri"/>
                        </a:rPr>
                        <a:t>11.5.4.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tr>
              <a:tr h="175260">
                <a:tc>
                  <a:txBody>
                    <a:bodyPr wrap="square"/>
                    <a:lstStyle/>
                    <a:p>
                      <a:pPr algn="l"/>
                      <a:r>
                        <a:rPr sz="1100" b="0" i="1">
                          <a:solidFill>
                            <a:srgbClr val="000000"/>
                          </a:solidFill>
                          <a:latin typeface="Calibri"/>
                        </a:rPr>
                        <a:t>11.5.4.1.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11.5.4.2.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tr>
              <a:tr h="175260">
                <a:tc>
                  <a:txBody>
                    <a:bodyPr wrap="square"/>
                    <a:lstStyle/>
                    <a:p>
                      <a:pPr algn="l"/>
                      <a:r>
                        <a:rPr sz="1100" b="0" i="1">
                          <a:solidFill>
                            <a:srgbClr val="000000"/>
                          </a:solidFill>
                          <a:latin typeface="Calibri"/>
                        </a:rPr>
                        <a:t>11.5.4.3.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tr>
              <a:tr h="175260">
                <a:tc>
                  <a:txBody>
                    <a:bodyPr wrap="square"/>
                    <a:lstStyle/>
                    <a:p>
                      <a:pPr algn="l"/>
                      <a:r>
                        <a:rPr sz="1100" b="0" i="1">
                          <a:solidFill>
                            <a:srgbClr val="000000"/>
                          </a:solidFill>
                          <a:latin typeface="Calibri"/>
                        </a:rPr>
                        <a:t>11.5.4.4.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tr>
              <a:tr h="175260">
                <a:tc>
                  <a:txBody>
                    <a:bodyPr wrap="square"/>
                    <a:lstStyle/>
                    <a:p>
                      <a:pPr algn="l"/>
                      <a:r>
                        <a:rPr sz="1100" b="0" i="1">
                          <a:solidFill>
                            <a:srgbClr val="000000"/>
                          </a:solidFill>
                          <a:latin typeface="Calibri"/>
                        </a:rPr>
                        <a:t>11.5.4.5.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tr>
              <a:tr h="175260">
                <a:tc>
                  <a:txBody>
                    <a:bodyPr wrap="square"/>
                    <a:lstStyle/>
                    <a:p>
                      <a:pPr algn="l"/>
                      <a:r>
                        <a:rPr sz="1100" b="0" i="1">
                          <a:solidFill>
                            <a:srgbClr val="000000"/>
                          </a:solidFill>
                          <a:latin typeface="Calibri"/>
                        </a:rPr>
                        <a:t>11.5.4.6.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tr>
              <a:tr h="175260">
                <a:tc>
                  <a:txBody>
                    <a:bodyPr wrap="square"/>
                    <a:lstStyle/>
                    <a:p>
                      <a:pPr algn="l"/>
                      <a:r>
                        <a:rPr sz="1100" b="0" i="1">
                          <a:solidFill>
                            <a:srgbClr val="000000"/>
                          </a:solidFill>
                          <a:latin typeface="Calibri"/>
                        </a:rPr>
                        <a:t>11.5.4.7.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tr>
              <a:tr h="175260">
                <a:tc>
                  <a:txBody>
                    <a:bodyPr wrap="square"/>
                    <a:lstStyle/>
                    <a:p>
                      <a:pPr algn="l"/>
                      <a:r>
                        <a:rPr sz="1100" b="0" i="1">
                          <a:solidFill>
                            <a:srgbClr val="000000"/>
                          </a:solidFill>
                          <a:latin typeface="Calibri"/>
                        </a:rPr>
                        <a:t>11.5.4.8.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tr>
              <a:tr h="175260">
                <a:tc>
                  <a:txBody>
                    <a:bodyPr wrap="square"/>
                    <a:lstStyle/>
                    <a:p>
                      <a:pPr algn="l"/>
                      <a:r>
                        <a:rPr sz="1100" b="0" i="1">
                          <a:solidFill>
                            <a:srgbClr val="000000"/>
                          </a:solidFill>
                          <a:latin typeface="Calibri"/>
                        </a:rPr>
                        <a:t>11.5.4.9.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tr>
              <a:tr h="175260">
                <a:tc>
                  <a:txBody>
                    <a:bodyPr wrap="square"/>
                    <a:lstStyle/>
                    <a:p>
                      <a:pPr algn="l"/>
                      <a:r>
                        <a:rPr sz="1100" b="0" i="0">
                          <a:solidFill>
                            <a:srgbClr val="000000"/>
                          </a:solidFill>
                          <a:latin typeface="Calibri"/>
                        </a:rPr>
                        <a:t>11.5.5.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r h="175260">
                <a:tc>
                  <a:txBody>
                    <a:bodyPr wrap="square"/>
                    <a:lstStyle/>
                    <a:p>
                      <a:pPr algn="l"/>
                      <a:r>
                        <a:rPr sz="1100" b="0" i="1">
                          <a:solidFill>
                            <a:srgbClr val="000000"/>
                          </a:solidFill>
                          <a:latin typeface="Calibri"/>
                        </a:rPr>
                        <a:t>11.5.5.1.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11.5.5.2.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11.5.5.3.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11.5.5.4.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11.5.5.5.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11.5.5.6.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tr>
              <a:tr h="175260">
                <a:tc>
                  <a:txBody>
                    <a:bodyPr wrap="square"/>
                    <a:lstStyle/>
                    <a:p>
                      <a:pPr algn="l"/>
                      <a:r>
                        <a:rPr sz="1100" b="0" i="1">
                          <a:solidFill>
                            <a:srgbClr val="000000"/>
                          </a:solidFill>
                          <a:latin typeface="Calibri"/>
                        </a:rPr>
                        <a:t>11.5.5.7.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tr>
              <a:tr h="175260">
                <a:tc>
                  <a:txBody>
                    <a:bodyPr wrap="square"/>
                    <a:lstStyle/>
                    <a:p>
                      <a:pPr algn="l"/>
                      <a:r>
                        <a:rPr sz="1100" b="0" i="1">
                          <a:solidFill>
                            <a:srgbClr val="000000"/>
                          </a:solidFill>
                          <a:latin typeface="Calibri"/>
                        </a:rPr>
                        <a:t>11.5.5.8.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r h="175260">
                <a:tc>
                  <a:txBody>
                    <a:bodyPr wrap="square"/>
                    <a:lstStyle/>
                    <a:p>
                      <a:pPr algn="l"/>
                      <a:r>
                        <a:rPr sz="1100" b="0" i="1">
                          <a:solidFill>
                            <a:srgbClr val="000000"/>
                          </a:solidFill>
                          <a:latin typeface="Calibri"/>
                        </a:rPr>
                        <a:t>11.5.5.9.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11.5.5.10.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11.5.5.11.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tr>
              <a:tr h="175260">
                <a:tc>
                  <a:txBody>
                    <a:bodyPr wrap="square"/>
                    <a:lstStyle/>
                    <a:p>
                      <a:pPr algn="l"/>
                      <a:r>
                        <a:rPr sz="1100" b="0" i="1">
                          <a:solidFill>
                            <a:srgbClr val="000000"/>
                          </a:solidFill>
                          <a:latin typeface="Calibri"/>
                        </a:rPr>
                        <a:t>11.5.5.12.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tr>
              <a:tr h="175260">
                <a:tc>
                  <a:txBody>
                    <a:bodyPr wrap="square"/>
                    <a:lstStyle/>
                    <a:p>
                      <a:pPr algn="l"/>
                      <a:r>
                        <a:rPr sz="1100" b="0" i="0">
                          <a:solidFill>
                            <a:srgbClr val="000000"/>
                          </a:solidFill>
                          <a:latin typeface="Calibri"/>
                        </a:rPr>
                        <a:t>11.5.6.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1">
                          <a:solidFill>
                            <a:srgbClr val="000000"/>
                          </a:solidFill>
                          <a:latin typeface="Calibri"/>
                        </a:rPr>
                        <a:t>11.5.6.1.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tr>
              <a:tr h="175260">
                <a:tc>
                  <a:txBody>
                    <a:bodyPr wrap="square"/>
                    <a:lstStyle/>
                    <a:p>
                      <a:pPr algn="l"/>
                      <a:r>
                        <a:rPr sz="1100" b="0" i="1">
                          <a:solidFill>
                            <a:srgbClr val="000000"/>
                          </a:solidFill>
                          <a:latin typeface="Calibri"/>
                        </a:rPr>
                        <a:t>11.5.6.2.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tr>
              <a:tr h="175260">
                <a:tc>
                  <a:txBody>
                    <a:bodyPr wrap="square"/>
                    <a:lstStyle/>
                    <a:p>
                      <a:pPr algn="l"/>
                      <a:r>
                        <a:rPr sz="1100" b="0" i="1">
                          <a:solidFill>
                            <a:srgbClr val="000000"/>
                          </a:solidFill>
                          <a:latin typeface="Calibri"/>
                        </a:rPr>
                        <a:t>11.5.6.3.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tr>
              <a:tr h="175260">
                <a:tc>
                  <a:txBody>
                    <a:bodyPr wrap="square"/>
                    <a:lstStyle/>
                    <a:p>
                      <a:pPr algn="l"/>
                      <a:r>
                        <a:rPr sz="1100" b="0" i="1">
                          <a:solidFill>
                            <a:srgbClr val="000000"/>
                          </a:solidFill>
                          <a:latin typeface="Calibri"/>
                        </a:rPr>
                        <a:t>11.5.6.4.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tr>
              <a:tr h="175260">
                <a:tc>
                  <a:txBody>
                    <a:bodyPr wrap="square"/>
                    <a:lstStyle/>
                    <a:p>
                      <a:pPr algn="l"/>
                      <a:r>
                        <a:rPr sz="1100" b="0" i="1">
                          <a:solidFill>
                            <a:srgbClr val="000000"/>
                          </a:solidFill>
                          <a:latin typeface="Calibri"/>
                        </a:rPr>
                        <a:t>11.5.6.5.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tr>
              <a:tr h="175260">
                <a:tc>
                  <a:txBody>
                    <a:bodyPr wrap="square"/>
                    <a:lstStyle/>
                    <a:p>
                      <a:pPr algn="l"/>
                      <a:r>
                        <a:rPr sz="1100" b="0" i="1">
                          <a:solidFill>
                            <a:srgbClr val="000000"/>
                          </a:solidFill>
                          <a:latin typeface="Calibri"/>
                        </a:rPr>
                        <a:t>11.5.6.6.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11.5.6.7.</a:t>
                      </a:r>
                      <a:r>
                        <a:rPr sz="700" b="0" i="1">
                          <a:solidFill>
                            <a:srgbClr val="000000"/>
                          </a:solidFill>
                          <a:latin typeface="Times New Roman"/>
                        </a:rPr>
                        <a:t> </a:t>
                      </a:r>
                      <a:r>
                        <a:rPr sz="1100" b="0" i="1">
                          <a:solidFill>
                            <a:srgbClr val="000000"/>
                          </a:solidFill>
                          <a:latin typeface="Calibri"/>
                        </a:rPr>
                        <a:t>Rest if MEA</a:t>
                      </a:r>
                      <a:endParaRPr sz="1100"/>
                    </a:p>
                  </a:txBody>
                  <a:tcPr marL="1028700" marR="9525" marT="9525" marB="0" anchor="ctr"/>
                </a:tc>
              </a:tr>
              <a:tr h="175260">
                <a:tc>
                  <a:txBody>
                    <a:bodyPr wrap="square"/>
                    <a:lstStyle/>
                    <a:p>
                      <a:pPr algn="l"/>
                      <a:r>
                        <a:rPr sz="1100" b="0" i="1">
                          <a:solidFill>
                            <a:srgbClr val="EE0000"/>
                          </a:solidFill>
                          <a:latin typeface="Calibri"/>
                        </a:rPr>
                        <a:t>Note: Value &amp; Volume (US$ Mn / Units) for all segments will be provided for each region/ Country</a:t>
                      </a:r>
                      <a:endParaRPr sz="1100"/>
                    </a:p>
                  </a:txBody>
                  <a:tcPr marL="95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Product Type × SPF Rating</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Ingredient Type × Product Type</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Form Type × End-use Application</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Pack Size × Price Tier</a:t>
                      </a:r>
                      <a:endParaRPr sz="1100"/>
                    </a:p>
                  </a:txBody>
                  <a:tcPr marL="428625" marR="9525" marT="9525" marB="0" anchor="ctr"/>
                </a:tc>
              </a:tr>
              <a:tr h="175260">
                <a:tc>
                  <a:txBody>
                    <a:bodyPr wrap="square"/>
                    <a:lstStyle/>
                    <a:p>
                      <a:pPr algn="l"/>
                      <a:r>
                        <a:rPr sz="1100" b="0" i="1">
                          <a:solidFill>
                            <a:srgbClr val="EE0000"/>
                          </a:solidFill>
                          <a:latin typeface="Calibri"/>
                        </a:rPr>
                        <a:t>Note: Cross Sectional Assessment shall be provided on custom request</a:t>
                      </a:r>
                      <a:endParaRPr sz="1100"/>
                    </a:p>
                  </a:txBody>
                  <a:tcPr marL="9525" marR="9525" marT="9525" marB="0" anchor="ctr"/>
                </a:tc>
              </a:tr>
              <a:tr h="175260">
                <a:tc>
                  <a:txBody>
                    <a:bodyPr wrap="square"/>
                    <a:lstStyle/>
                    <a:p>
                      <a:pPr algn="l"/>
                      <a:r>
                        <a:rPr sz="1100" b="1" i="0">
                          <a:solidFill>
                            <a:srgbClr val="000000"/>
                          </a:solidFill>
                          <a:latin typeface="Calibri"/>
                        </a:rPr>
                        <a:t>Section 2: Regional and Country Market Outlook</a:t>
                      </a:r>
                      <a:endParaRPr sz="1100"/>
                    </a:p>
                  </a:txBody>
                  <a:tcPr marL="95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SPF Rating</a:t>
                      </a:r>
                      <a:endParaRPr sz="1100"/>
                    </a:p>
                  </a:txBody>
                  <a:tcPr marL="771525" marR="9525" marT="9525" marB="0" anchor="ctr"/>
                </a:tc>
              </a:tr>
              <a:tr h="175260">
                <a:tc>
                  <a:txBody>
                    <a:bodyPr wrap="square"/>
                    <a:lstStyle/>
                    <a:p>
                      <a:pPr algn="l"/>
                      <a:r>
                        <a:rPr sz="1100" b="0" i="0">
                          <a:solidFill>
                            <a:srgbClr val="000000"/>
                          </a:solidFill>
                          <a:latin typeface="Calibri"/>
                        </a:rPr>
                        <a:t>13.4.4.</a:t>
                      </a:r>
                      <a:r>
                        <a:rPr sz="700" b="0" i="0">
                          <a:solidFill>
                            <a:srgbClr val="000000"/>
                          </a:solidFill>
                          <a:latin typeface="Times New Roman"/>
                        </a:rPr>
                        <a:t> </a:t>
                      </a:r>
                      <a:r>
                        <a:rPr sz="1100" b="0" i="0">
                          <a:solidFill>
                            <a:srgbClr val="000000"/>
                          </a:solidFill>
                          <a:latin typeface="Calibri"/>
                        </a:rPr>
                        <a:t>By Ingredient Type</a:t>
                      </a:r>
                      <a:endParaRPr sz="1100"/>
                    </a:p>
                  </a:txBody>
                  <a:tcPr marL="771525" marR="9525" marT="9525" marB="0" anchor="ctr"/>
                </a:tc>
              </a:tr>
              <a:tr h="175260">
                <a:tc>
                  <a:txBody>
                    <a:bodyPr wrap="square"/>
                    <a:lstStyle/>
                    <a:p>
                      <a:pPr algn="l"/>
                      <a:r>
                        <a:rPr sz="1100" b="0" i="0">
                          <a:solidFill>
                            <a:srgbClr val="000000"/>
                          </a:solidFill>
                          <a:latin typeface="Calibri"/>
                        </a:rPr>
                        <a:t>13.4.5.</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13.4.6.</a:t>
                      </a:r>
                      <a:r>
                        <a:rPr sz="700" b="0" i="0">
                          <a:solidFill>
                            <a:srgbClr val="000000"/>
                          </a:solidFill>
                          <a:latin typeface="Times New Roman"/>
                        </a:rPr>
                        <a:t> </a:t>
                      </a:r>
                      <a:r>
                        <a:rPr sz="1100" b="0" i="0">
                          <a:solidFill>
                            <a:srgbClr val="000000"/>
                          </a:solidFill>
                          <a:latin typeface="Calibri"/>
                        </a:rPr>
                        <a:t>By Pack Size</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13.4.7.</a:t>
                      </a:r>
                      <a:r>
                        <a:rPr sz="700" b="0" i="0">
                          <a:solidFill>
                            <a:srgbClr val="000000"/>
                          </a:solidFill>
                          <a:latin typeface="Times New Roman"/>
                        </a:rPr>
                        <a:t> </a:t>
                      </a:r>
                      <a:r>
                        <a:rPr sz="1100" b="0" i="0">
                          <a:solidFill>
                            <a:srgbClr val="000000"/>
                          </a:solidFill>
                          <a:latin typeface="Calibri"/>
                        </a:rPr>
                        <a:t>By Price Tier (USD per 50 ml / 50 g Equivalent)</a:t>
                      </a:r>
                      <a:endParaRPr sz="1100"/>
                    </a:p>
                  </a:txBody>
                  <a:tcPr marL="771525" marR="9525" marT="9525" marB="0" anchor="ctr"/>
                </a:tc>
              </a:tr>
              <a:tr h="175260">
                <a:tc>
                  <a:txBody>
                    <a:bodyPr wrap="square"/>
                    <a:lstStyle/>
                    <a:p>
                      <a:pPr algn="l"/>
                      <a:r>
                        <a:rPr sz="1100" b="0" i="0">
                          <a:solidFill>
                            <a:srgbClr val="000000"/>
                          </a:solidFill>
                          <a:latin typeface="Calibri"/>
                        </a:rPr>
                        <a:t>13.4.8.</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13.4.9.</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14.4.1.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14.4.2.</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14.4.3.</a:t>
                      </a:r>
                      <a:r>
                        <a:rPr sz="700" b="0" i="0">
                          <a:solidFill>
                            <a:srgbClr val="000000"/>
                          </a:solidFill>
                          <a:latin typeface="Times New Roman"/>
                        </a:rPr>
                        <a:t> </a:t>
                      </a:r>
                      <a:r>
                        <a:rPr sz="1100" b="0" i="0">
                          <a:solidFill>
                            <a:srgbClr val="000000"/>
                          </a:solidFill>
                          <a:latin typeface="Calibri"/>
                        </a:rPr>
                        <a:t>By SPF Rating</a:t>
                      </a:r>
                      <a:endParaRPr sz="1100"/>
                    </a:p>
                  </a:txBody>
                  <a:tcPr marL="771525" marR="9525" marT="9525" marB="0" anchor="ctr"/>
                </a:tc>
              </a:tr>
              <a:tr h="175260">
                <a:tc>
                  <a:txBody>
                    <a:bodyPr wrap="square"/>
                    <a:lstStyle/>
                    <a:p>
                      <a:pPr algn="l"/>
                      <a:r>
                        <a:rPr sz="1100" b="0" i="0">
                          <a:solidFill>
                            <a:srgbClr val="000000"/>
                          </a:solidFill>
                          <a:latin typeface="Calibri"/>
                        </a:rPr>
                        <a:t>14.4.4.</a:t>
                      </a:r>
                      <a:r>
                        <a:rPr sz="700" b="0" i="0">
                          <a:solidFill>
                            <a:srgbClr val="000000"/>
                          </a:solidFill>
                          <a:latin typeface="Times New Roman"/>
                        </a:rPr>
                        <a:t> </a:t>
                      </a:r>
                      <a:r>
                        <a:rPr sz="1100" b="0" i="0">
                          <a:solidFill>
                            <a:srgbClr val="000000"/>
                          </a:solidFill>
                          <a:latin typeface="Calibri"/>
                        </a:rPr>
                        <a:t>By Ingredient Type</a:t>
                      </a:r>
                      <a:endParaRPr sz="1100"/>
                    </a:p>
                  </a:txBody>
                  <a:tcPr marL="771525" marR="9525" marT="9525" marB="0" anchor="ctr"/>
                </a:tc>
              </a:tr>
              <a:tr h="175260">
                <a:tc>
                  <a:txBody>
                    <a:bodyPr wrap="square"/>
                    <a:lstStyle/>
                    <a:p>
                      <a:pPr algn="l"/>
                      <a:r>
                        <a:rPr sz="1100" b="0" i="0">
                          <a:solidFill>
                            <a:srgbClr val="000000"/>
                          </a:solidFill>
                          <a:latin typeface="Calibri"/>
                        </a:rPr>
                        <a:t>14.4.5.</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14.4.6.</a:t>
                      </a:r>
                      <a:r>
                        <a:rPr sz="700" b="0" i="0">
                          <a:solidFill>
                            <a:srgbClr val="000000"/>
                          </a:solidFill>
                          <a:latin typeface="Times New Roman"/>
                        </a:rPr>
                        <a:t> </a:t>
                      </a:r>
                      <a:r>
                        <a:rPr sz="1100" b="0" i="0">
                          <a:solidFill>
                            <a:srgbClr val="000000"/>
                          </a:solidFill>
                          <a:latin typeface="Calibri"/>
                        </a:rPr>
                        <a:t>By Pack Size</a:t>
                      </a:r>
                      <a:endParaRPr sz="1100"/>
                    </a:p>
                  </a:txBody>
                  <a:tcPr marL="771525" marR="9525" marT="9525" marB="0" anchor="ctr"/>
                </a:tc>
              </a:tr>
              <a:tr h="175260">
                <a:tc>
                  <a:txBody>
                    <a:bodyPr wrap="square"/>
                    <a:lstStyle/>
                    <a:p>
                      <a:pPr algn="l"/>
                      <a:r>
                        <a:rPr sz="1100" b="0" i="0">
                          <a:solidFill>
                            <a:srgbClr val="000000"/>
                          </a:solidFill>
                          <a:latin typeface="Calibri"/>
                        </a:rPr>
                        <a:t>14.4.7.</a:t>
                      </a:r>
                      <a:r>
                        <a:rPr sz="700" b="0" i="0">
                          <a:solidFill>
                            <a:srgbClr val="000000"/>
                          </a:solidFill>
                          <a:latin typeface="Times New Roman"/>
                        </a:rPr>
                        <a:t> </a:t>
                      </a:r>
                      <a:r>
                        <a:rPr sz="1100" b="0" i="0">
                          <a:solidFill>
                            <a:srgbClr val="000000"/>
                          </a:solidFill>
                          <a:latin typeface="Calibri"/>
                        </a:rPr>
                        <a:t>By Price Tier (USD per 50 ml / 50 g Equivalent)</a:t>
                      </a:r>
                      <a:endParaRPr sz="1100"/>
                    </a:p>
                  </a:txBody>
                  <a:tcPr marL="771525" marR="9525" marT="9525" marB="0" anchor="ctr"/>
                </a:tc>
              </a:tr>
              <a:tr h="175260">
                <a:tc>
                  <a:txBody>
                    <a:bodyPr wrap="square"/>
                    <a:lstStyle/>
                    <a:p>
                      <a:pPr algn="l"/>
                      <a:r>
                        <a:rPr sz="1100" b="0" i="0">
                          <a:solidFill>
                            <a:srgbClr val="000000"/>
                          </a:solidFill>
                          <a:latin typeface="Calibri"/>
                        </a:rPr>
                        <a:t>14.4.8.</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14.4.9.</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SPF Rating</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Ingredient Type</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15.4.6.</a:t>
                      </a:r>
                      <a:r>
                        <a:rPr sz="700" b="0" i="0">
                          <a:solidFill>
                            <a:srgbClr val="000000"/>
                          </a:solidFill>
                          <a:latin typeface="Times New Roman"/>
                        </a:rPr>
                        <a:t> </a:t>
                      </a:r>
                      <a:r>
                        <a:rPr sz="1100" b="0" i="0">
                          <a:solidFill>
                            <a:srgbClr val="000000"/>
                          </a:solidFill>
                          <a:latin typeface="Calibri"/>
                        </a:rPr>
                        <a:t>By Pack Size</a:t>
                      </a:r>
                      <a:endParaRPr sz="1100"/>
                    </a:p>
                  </a:txBody>
                  <a:tcPr marL="771525" marR="9525" marT="9525" marB="0" anchor="ctr"/>
                </a:tc>
              </a:tr>
              <a:tr h="175260">
                <a:tc>
                  <a:txBody>
                    <a:bodyPr wrap="square"/>
                    <a:lstStyle/>
                    <a:p>
                      <a:pPr algn="l"/>
                      <a:r>
                        <a:rPr sz="1100" b="0" i="0">
                          <a:solidFill>
                            <a:srgbClr val="000000"/>
                          </a:solidFill>
                          <a:latin typeface="Calibri"/>
                        </a:rPr>
                        <a:t>15.4.7.</a:t>
                      </a:r>
                      <a:r>
                        <a:rPr sz="700" b="0" i="0">
                          <a:solidFill>
                            <a:srgbClr val="000000"/>
                          </a:solidFill>
                          <a:latin typeface="Times New Roman"/>
                        </a:rPr>
                        <a:t> </a:t>
                      </a:r>
                      <a:r>
                        <a:rPr sz="1100" b="0" i="0">
                          <a:solidFill>
                            <a:srgbClr val="000000"/>
                          </a:solidFill>
                          <a:latin typeface="Calibri"/>
                        </a:rPr>
                        <a:t>By Price Tier (USD per 50 ml / 50 g Equivalent)</a:t>
                      </a:r>
                      <a:endParaRPr sz="1100"/>
                    </a:p>
                  </a:txBody>
                  <a:tcPr marL="771525" marR="9525" marT="9525" marB="0" anchor="ctr"/>
                </a:tc>
              </a:tr>
              <a:tr h="175260">
                <a:tc>
                  <a:txBody>
                    <a:bodyPr wrap="square"/>
                    <a:lstStyle/>
                    <a:p>
                      <a:pPr algn="l"/>
                      <a:r>
                        <a:rPr sz="1100" b="0" i="0">
                          <a:solidFill>
                            <a:srgbClr val="000000"/>
                          </a:solidFill>
                          <a:latin typeface="Calibri"/>
                        </a:rPr>
                        <a:t>15.4.8.</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15.4.9.</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16.4.1.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16.4.2.</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16.4.3.</a:t>
                      </a:r>
                      <a:r>
                        <a:rPr sz="700" b="0" i="0">
                          <a:solidFill>
                            <a:srgbClr val="000000"/>
                          </a:solidFill>
                          <a:latin typeface="Times New Roman"/>
                        </a:rPr>
                        <a:t> </a:t>
                      </a:r>
                      <a:r>
                        <a:rPr sz="1100" b="0" i="0">
                          <a:solidFill>
                            <a:srgbClr val="000000"/>
                          </a:solidFill>
                          <a:latin typeface="Calibri"/>
                        </a:rPr>
                        <a:t>By SPF Rating</a:t>
                      </a:r>
                      <a:endParaRPr sz="1100"/>
                    </a:p>
                  </a:txBody>
                  <a:tcPr marL="771525" marR="9525" marT="9525" marB="0" anchor="ctr"/>
                </a:tc>
              </a:tr>
              <a:tr h="175260">
                <a:tc>
                  <a:txBody>
                    <a:bodyPr wrap="square"/>
                    <a:lstStyle/>
                    <a:p>
                      <a:pPr algn="l"/>
                      <a:r>
                        <a:rPr sz="1100" b="0" i="0">
                          <a:solidFill>
                            <a:srgbClr val="000000"/>
                          </a:solidFill>
                          <a:latin typeface="Calibri"/>
                        </a:rPr>
                        <a:t>16.4.4.</a:t>
                      </a:r>
                      <a:r>
                        <a:rPr sz="700" b="0" i="0">
                          <a:solidFill>
                            <a:srgbClr val="000000"/>
                          </a:solidFill>
                          <a:latin typeface="Times New Roman"/>
                        </a:rPr>
                        <a:t> </a:t>
                      </a:r>
                      <a:r>
                        <a:rPr sz="1100" b="0" i="0">
                          <a:solidFill>
                            <a:srgbClr val="000000"/>
                          </a:solidFill>
                          <a:latin typeface="Calibri"/>
                        </a:rPr>
                        <a:t>By Ingredient Type</a:t>
                      </a:r>
                      <a:endParaRPr sz="1100"/>
                    </a:p>
                  </a:txBody>
                  <a:tcPr marL="771525" marR="9525" marT="9525" marB="0" anchor="ctr"/>
                </a:tc>
              </a:tr>
              <a:tr h="175260">
                <a:tc>
                  <a:txBody>
                    <a:bodyPr wrap="square"/>
                    <a:lstStyle/>
                    <a:p>
                      <a:pPr algn="l"/>
                      <a:r>
                        <a:rPr sz="1100" b="0" i="0">
                          <a:solidFill>
                            <a:srgbClr val="000000"/>
                          </a:solidFill>
                          <a:latin typeface="Calibri"/>
                        </a:rPr>
                        <a:t>16.4.5.</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16.4.6.</a:t>
                      </a:r>
                      <a:r>
                        <a:rPr sz="700" b="0" i="0">
                          <a:solidFill>
                            <a:srgbClr val="000000"/>
                          </a:solidFill>
                          <a:latin typeface="Times New Roman"/>
                        </a:rPr>
                        <a:t> </a:t>
                      </a:r>
                      <a:r>
                        <a:rPr sz="1100" b="0" i="0">
                          <a:solidFill>
                            <a:srgbClr val="000000"/>
                          </a:solidFill>
                          <a:latin typeface="Calibri"/>
                        </a:rPr>
                        <a:t>By Pack Size</a:t>
                      </a:r>
                      <a:endParaRPr sz="1100"/>
                    </a:p>
                  </a:txBody>
                  <a:tcPr marL="771525" marR="9525" marT="9525" marB="0" anchor="ctr"/>
                </a:tc>
              </a:tr>
              <a:tr h="175260">
                <a:tc>
                  <a:txBody>
                    <a:bodyPr wrap="square"/>
                    <a:lstStyle/>
                    <a:p>
                      <a:pPr algn="l"/>
                      <a:r>
                        <a:rPr sz="1100" b="0" i="0">
                          <a:solidFill>
                            <a:srgbClr val="000000"/>
                          </a:solidFill>
                          <a:latin typeface="Calibri"/>
                        </a:rPr>
                        <a:t>16.4.7.</a:t>
                      </a:r>
                      <a:r>
                        <a:rPr sz="700" b="0" i="0">
                          <a:solidFill>
                            <a:srgbClr val="000000"/>
                          </a:solidFill>
                          <a:latin typeface="Times New Roman"/>
                        </a:rPr>
                        <a:t> </a:t>
                      </a:r>
                      <a:r>
                        <a:rPr sz="1100" b="0" i="0">
                          <a:solidFill>
                            <a:srgbClr val="000000"/>
                          </a:solidFill>
                          <a:latin typeface="Calibri"/>
                        </a:rPr>
                        <a:t>By Price Tier (USD per 50 ml / 50 g Equivalent)</a:t>
                      </a:r>
                      <a:endParaRPr sz="1100"/>
                    </a:p>
                  </a:txBody>
                  <a:tcPr marL="771525" marR="9525" marT="9525" marB="0" anchor="ctr"/>
                </a:tc>
              </a:tr>
              <a:tr h="175260">
                <a:tc>
                  <a:txBody>
                    <a:bodyPr wrap="square"/>
                    <a:lstStyle/>
                    <a:p>
                      <a:pPr algn="l"/>
                      <a:r>
                        <a:rPr sz="1100" b="0" i="0">
                          <a:solidFill>
                            <a:srgbClr val="000000"/>
                          </a:solidFill>
                          <a:latin typeface="Calibri"/>
                        </a:rPr>
                        <a:t>16.4.8.</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16.4.9.</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17.4.1.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17.4.2.</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17.4.3.</a:t>
                      </a:r>
                      <a:r>
                        <a:rPr sz="700" b="0" i="0">
                          <a:solidFill>
                            <a:srgbClr val="000000"/>
                          </a:solidFill>
                          <a:latin typeface="Times New Roman"/>
                        </a:rPr>
                        <a:t> </a:t>
                      </a:r>
                      <a:r>
                        <a:rPr sz="1100" b="0" i="0">
                          <a:solidFill>
                            <a:srgbClr val="000000"/>
                          </a:solidFill>
                          <a:latin typeface="Calibri"/>
                        </a:rPr>
                        <a:t>By SPF Rating</a:t>
                      </a:r>
                      <a:endParaRPr sz="1100"/>
                    </a:p>
                  </a:txBody>
                  <a:tcPr marL="771525" marR="9525" marT="9525" marB="0" anchor="ctr"/>
                </a:tc>
              </a:tr>
              <a:tr h="175260">
                <a:tc>
                  <a:txBody>
                    <a:bodyPr wrap="square"/>
                    <a:lstStyle/>
                    <a:p>
                      <a:pPr algn="l"/>
                      <a:r>
                        <a:rPr sz="1100" b="0" i="0">
                          <a:solidFill>
                            <a:srgbClr val="000000"/>
                          </a:solidFill>
                          <a:latin typeface="Calibri"/>
                        </a:rPr>
                        <a:t>17.4.4.</a:t>
                      </a:r>
                      <a:r>
                        <a:rPr sz="700" b="0" i="0">
                          <a:solidFill>
                            <a:srgbClr val="000000"/>
                          </a:solidFill>
                          <a:latin typeface="Times New Roman"/>
                        </a:rPr>
                        <a:t> </a:t>
                      </a:r>
                      <a:r>
                        <a:rPr sz="1100" b="0" i="0">
                          <a:solidFill>
                            <a:srgbClr val="000000"/>
                          </a:solidFill>
                          <a:latin typeface="Calibri"/>
                        </a:rPr>
                        <a:t>By Ingredient Type</a:t>
                      </a:r>
                      <a:endParaRPr sz="1100"/>
                    </a:p>
                  </a:txBody>
                  <a:tcPr marL="771525" marR="9525" marT="9525" marB="0" anchor="ctr"/>
                </a:tc>
              </a:tr>
              <a:tr h="175260">
                <a:tc>
                  <a:txBody>
                    <a:bodyPr wrap="square"/>
                    <a:lstStyle/>
                    <a:p>
                      <a:pPr algn="l"/>
                      <a:r>
                        <a:rPr sz="1100" b="0" i="0">
                          <a:solidFill>
                            <a:srgbClr val="000000"/>
                          </a:solidFill>
                          <a:latin typeface="Calibri"/>
                        </a:rPr>
                        <a:t>17.4.5.</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17.4.6.</a:t>
                      </a:r>
                      <a:r>
                        <a:rPr sz="700" b="0" i="0">
                          <a:solidFill>
                            <a:srgbClr val="000000"/>
                          </a:solidFill>
                          <a:latin typeface="Times New Roman"/>
                        </a:rPr>
                        <a:t> </a:t>
                      </a:r>
                      <a:r>
                        <a:rPr sz="1100" b="0" i="0">
                          <a:solidFill>
                            <a:srgbClr val="000000"/>
                          </a:solidFill>
                          <a:latin typeface="Calibri"/>
                        </a:rPr>
                        <a:t>By Pack Size</a:t>
                      </a:r>
                      <a:endParaRPr sz="1100"/>
                    </a:p>
                  </a:txBody>
                  <a:tcPr marL="771525" marR="9525" marT="9525" marB="0" anchor="ctr"/>
                </a:tc>
              </a:tr>
              <a:tr h="175260">
                <a:tc>
                  <a:txBody>
                    <a:bodyPr wrap="square"/>
                    <a:lstStyle/>
                    <a:p>
                      <a:pPr algn="l"/>
                      <a:r>
                        <a:rPr sz="1100" b="0" i="0">
                          <a:solidFill>
                            <a:srgbClr val="000000"/>
                          </a:solidFill>
                          <a:latin typeface="Calibri"/>
                        </a:rPr>
                        <a:t>17.4.7.</a:t>
                      </a:r>
                      <a:r>
                        <a:rPr sz="700" b="0" i="0">
                          <a:solidFill>
                            <a:srgbClr val="000000"/>
                          </a:solidFill>
                          <a:latin typeface="Times New Roman"/>
                        </a:rPr>
                        <a:t> </a:t>
                      </a:r>
                      <a:r>
                        <a:rPr sz="1100" b="0" i="0">
                          <a:solidFill>
                            <a:srgbClr val="000000"/>
                          </a:solidFill>
                          <a:latin typeface="Calibri"/>
                        </a:rPr>
                        <a:t>By Price Tier (USD per 50 ml / 50 g Equivalent)</a:t>
                      </a:r>
                      <a:endParaRPr sz="1100"/>
                    </a:p>
                  </a:txBody>
                  <a:tcPr marL="771525" marR="9525" marT="9525" marB="0" anchor="ctr"/>
                </a:tc>
              </a:tr>
              <a:tr h="175260">
                <a:tc>
                  <a:txBody>
                    <a:bodyPr wrap="square"/>
                    <a:lstStyle/>
                    <a:p>
                      <a:pPr algn="l"/>
                      <a:r>
                        <a:rPr sz="1100" b="0" i="0">
                          <a:solidFill>
                            <a:srgbClr val="000000"/>
                          </a:solidFill>
                          <a:latin typeface="Calibri"/>
                        </a:rPr>
                        <a:t>17.4.8.</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17.4.9.</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18.4.1.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18.4.2.</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18.4.3.</a:t>
                      </a:r>
                      <a:r>
                        <a:rPr sz="700" b="0" i="0">
                          <a:solidFill>
                            <a:srgbClr val="000000"/>
                          </a:solidFill>
                          <a:latin typeface="Times New Roman"/>
                        </a:rPr>
                        <a:t> </a:t>
                      </a:r>
                      <a:r>
                        <a:rPr sz="1100" b="0" i="0">
                          <a:solidFill>
                            <a:srgbClr val="000000"/>
                          </a:solidFill>
                          <a:latin typeface="Calibri"/>
                        </a:rPr>
                        <a:t>By SPF Rating</a:t>
                      </a:r>
                      <a:endParaRPr sz="1100"/>
                    </a:p>
                  </a:txBody>
                  <a:tcPr marL="771525" marR="9525" marT="9525" marB="0" anchor="ctr"/>
                </a:tc>
              </a:tr>
              <a:tr h="175260">
                <a:tc>
                  <a:txBody>
                    <a:bodyPr wrap="square"/>
                    <a:lstStyle/>
                    <a:p>
                      <a:pPr algn="l"/>
                      <a:r>
                        <a:rPr sz="1100" b="0" i="0">
                          <a:solidFill>
                            <a:srgbClr val="000000"/>
                          </a:solidFill>
                          <a:latin typeface="Calibri"/>
                        </a:rPr>
                        <a:t>18.4.4.</a:t>
                      </a:r>
                      <a:r>
                        <a:rPr sz="700" b="0" i="0">
                          <a:solidFill>
                            <a:srgbClr val="000000"/>
                          </a:solidFill>
                          <a:latin typeface="Times New Roman"/>
                        </a:rPr>
                        <a:t> </a:t>
                      </a:r>
                      <a:r>
                        <a:rPr sz="1100" b="0" i="0">
                          <a:solidFill>
                            <a:srgbClr val="000000"/>
                          </a:solidFill>
                          <a:latin typeface="Calibri"/>
                        </a:rPr>
                        <a:t>By Ingredient Type</a:t>
                      </a:r>
                      <a:endParaRPr sz="1100"/>
                    </a:p>
                  </a:txBody>
                  <a:tcPr marL="771525" marR="9525" marT="9525" marB="0" anchor="ctr"/>
                </a:tc>
              </a:tr>
              <a:tr h="175260">
                <a:tc>
                  <a:txBody>
                    <a:bodyPr wrap="square"/>
                    <a:lstStyle/>
                    <a:p>
                      <a:pPr algn="l"/>
                      <a:r>
                        <a:rPr sz="1100" b="0" i="0">
                          <a:solidFill>
                            <a:srgbClr val="000000"/>
                          </a:solidFill>
                          <a:latin typeface="Calibri"/>
                        </a:rPr>
                        <a:t>18.4.5.</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18.4.6.</a:t>
                      </a:r>
                      <a:r>
                        <a:rPr sz="700" b="0" i="0">
                          <a:solidFill>
                            <a:srgbClr val="000000"/>
                          </a:solidFill>
                          <a:latin typeface="Times New Roman"/>
                        </a:rPr>
                        <a:t> </a:t>
                      </a:r>
                      <a:r>
                        <a:rPr sz="1100" b="0" i="0">
                          <a:solidFill>
                            <a:srgbClr val="000000"/>
                          </a:solidFill>
                          <a:latin typeface="Calibri"/>
                        </a:rPr>
                        <a:t>By Pack Size</a:t>
                      </a:r>
                      <a:endParaRPr sz="1100"/>
                    </a:p>
                  </a:txBody>
                  <a:tcPr marL="771525" marR="9525" marT="9525" marB="0" anchor="ctr"/>
                </a:tc>
              </a:tr>
              <a:tr h="175260">
                <a:tc>
                  <a:txBody>
                    <a:bodyPr wrap="square"/>
                    <a:lstStyle/>
                    <a:p>
                      <a:pPr algn="l"/>
                      <a:r>
                        <a:rPr sz="1100" b="0" i="0">
                          <a:solidFill>
                            <a:srgbClr val="000000"/>
                          </a:solidFill>
                          <a:latin typeface="Calibri"/>
                        </a:rPr>
                        <a:t>18.4.7.</a:t>
                      </a:r>
                      <a:r>
                        <a:rPr sz="700" b="0" i="0">
                          <a:solidFill>
                            <a:srgbClr val="000000"/>
                          </a:solidFill>
                          <a:latin typeface="Times New Roman"/>
                        </a:rPr>
                        <a:t> </a:t>
                      </a:r>
                      <a:r>
                        <a:rPr sz="1100" b="0" i="0">
                          <a:solidFill>
                            <a:srgbClr val="000000"/>
                          </a:solidFill>
                          <a:latin typeface="Calibri"/>
                        </a:rPr>
                        <a:t>By Price Tier (USD per 50 ml / 50 g Equivalent)</a:t>
                      </a:r>
                      <a:endParaRPr sz="1100"/>
                    </a:p>
                  </a:txBody>
                  <a:tcPr marL="771525" marR="9525" marT="9525" marB="0" anchor="ctr"/>
                </a:tc>
              </a:tr>
              <a:tr h="175260">
                <a:tc>
                  <a:txBody>
                    <a:bodyPr wrap="square"/>
                    <a:lstStyle/>
                    <a:p>
                      <a:pPr algn="l"/>
                      <a:r>
                        <a:rPr sz="1100" b="0" i="0">
                          <a:solidFill>
                            <a:srgbClr val="000000"/>
                          </a:solidFill>
                          <a:latin typeface="Calibri"/>
                        </a:rPr>
                        <a:t>18.4.8.</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18.4.9.</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Section 3: Pricing Assessment</a:t>
                      </a:r>
                      <a:endParaRPr sz="1100"/>
                    </a:p>
                  </a:txBody>
                  <a:tcPr marL="95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tr>
              <a:tr h="175260">
                <a:tc>
                  <a:txBody>
                    <a:bodyPr wrap="square"/>
                    <a:lstStyle/>
                    <a:p>
                      <a:pPr algn="l"/>
                      <a:r>
                        <a:rPr sz="1100" b="0" i="0">
                          <a:solidFill>
                            <a:srgbClr val="000000"/>
                          </a:solidFill>
                          <a:latin typeface="Calibri"/>
                        </a:rPr>
                        <a:t>19.1.1.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tr>
              <a:tr h="175260">
                <a:tc>
                  <a:txBody>
                    <a:bodyPr wrap="square"/>
                    <a:lstStyle/>
                    <a:p>
                      <a:pPr algn="l"/>
                      <a:r>
                        <a:rPr sz="1100" b="0" i="0">
                          <a:solidFill>
                            <a:srgbClr val="000000"/>
                          </a:solidFill>
                          <a:latin typeface="Calibri"/>
                        </a:rPr>
                        <a:t>19.1.2.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tr>
              <a:tr h="175260">
                <a:tc>
                  <a:txBody>
                    <a:bodyPr wrap="square"/>
                    <a:lstStyle/>
                    <a:p>
                      <a:pPr algn="l"/>
                      <a:r>
                        <a:rPr sz="1100" b="0" i="0">
                          <a:solidFill>
                            <a:srgbClr val="000000"/>
                          </a:solidFill>
                          <a:latin typeface="Calibri"/>
                        </a:rPr>
                        <a:t>19.1.3.</a:t>
                      </a:r>
                      <a:r>
                        <a:rPr sz="700" b="0" i="0">
                          <a:solidFill>
                            <a:srgbClr val="000000"/>
                          </a:solidFill>
                          <a:latin typeface="Times New Roman"/>
                        </a:rPr>
                        <a:t> </a:t>
                      </a:r>
                      <a:r>
                        <a:rPr sz="1100" b="0" i="0">
                          <a:solidFill>
                            <a:srgbClr val="000000"/>
                          </a:solidFill>
                          <a:latin typeface="Calibri"/>
                        </a:rPr>
                        <a:t>Retail Level Pricing</a:t>
                      </a:r>
                      <a:endParaRPr sz="1100"/>
                    </a:p>
                  </a:txBody>
                  <a:tcPr marL="7715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Segment-wise Price Comparison (Product Type vs Form Type)</a:t>
                      </a:r>
                      <a:endParaRPr sz="1100"/>
                    </a:p>
                  </a:txBody>
                  <a:tcPr marL="428625" marR="9525" marT="9525" marB="0" anchor="ctr"/>
                </a:tc>
              </a:tr>
              <a:tr h="17526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Country-wise Price Comparison (Product Type)</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Price Forecast till 2036</a:t>
                      </a:r>
                      <a:endParaRPr sz="1100"/>
                    </a:p>
                  </a:txBody>
                  <a:tcPr marL="428625" marR="9525" marT="9525" marB="0" anchor="ctr"/>
                </a:tc>
              </a:tr>
              <a:tr h="175260">
                <a:tc>
                  <a:txBody>
                    <a:bodyPr wrap="square"/>
                    <a:lstStyle/>
                    <a:p>
                      <a:pPr algn="l"/>
                      <a:r>
                        <a:rPr sz="1100" b="0" i="0">
                          <a:solidFill>
                            <a:srgbClr val="0070C0"/>
                          </a:solidFill>
                          <a:latin typeface="Calibri"/>
                        </a:rPr>
                        <a:t>19.5.</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tr>
              <a:tr h="175260">
                <a:tc>
                  <a:txBody>
                    <a:bodyPr wrap="square"/>
                    <a:lstStyle/>
                    <a:p>
                      <a:pPr algn="l"/>
                      <a:r>
                        <a:rPr sz="1100" b="0" i="0">
                          <a:solidFill>
                            <a:srgbClr val="0070C0"/>
                          </a:solidFill>
                          <a:latin typeface="Calibri"/>
                        </a:rPr>
                        <a:t>19.6.</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Price Point and Value Proposition Analysis</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Brand-wise Retail Price Benchmarking</a:t>
                      </a:r>
                      <a:endParaRPr sz="1100"/>
                    </a:p>
                  </a:txBody>
                  <a:tcPr marL="4286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Standardized Price Analysis (USD per 50 ml / 50 g Equivalent)</a:t>
                      </a:r>
                      <a:endParaRPr sz="1100"/>
                    </a:p>
                  </a:txBody>
                  <a:tcPr marL="428625" marR="9525" marT="9525" marB="0" anchor="ctr"/>
                </a:tc>
              </a:tr>
              <a:tr h="17526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Price Comparison by Product Type</a:t>
                      </a:r>
                      <a:endParaRPr sz="1100"/>
                    </a:p>
                  </a:txBody>
                  <a:tcPr marL="428625" marR="9525" marT="9525" marB="0" anchor="ctr"/>
                </a:tc>
              </a:tr>
              <a:tr h="17526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Price Premium Assessment by Ceramide Formulation and SPF Rating</a:t>
                      </a:r>
                      <a:endParaRPr sz="1100"/>
                    </a:p>
                  </a:txBody>
                  <a:tcPr marL="428625" marR="9525" marT="9525" marB="0" anchor="ctr"/>
                </a:tc>
              </a:tr>
              <a:tr h="175260">
                <a:tc>
                  <a:txBody>
                    <a:bodyPr wrap="square"/>
                    <a:lstStyle/>
                    <a:p>
                      <a:pPr algn="l"/>
                      <a:r>
                        <a:rPr sz="1100" b="0" i="0">
                          <a:solidFill>
                            <a:srgbClr val="0070C0"/>
                          </a:solidFill>
                          <a:latin typeface="Calibri"/>
                        </a:rPr>
                        <a:t>20.5.</a:t>
                      </a:r>
                      <a:r>
                        <a:rPr sz="700" b="0" i="0">
                          <a:solidFill>
                            <a:srgbClr val="0070C0"/>
                          </a:solidFill>
                          <a:latin typeface="Times New Roman"/>
                        </a:rPr>
                        <a:t>  </a:t>
                      </a:r>
                      <a:r>
                        <a:rPr sz="1100" b="0" i="0">
                          <a:solidFill>
                            <a:srgbClr val="0070C0"/>
                          </a:solidFill>
                          <a:latin typeface="Calibri"/>
                        </a:rPr>
                        <a:t>Country-wise Price Positioning and Competitive Price Gaps</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20.6.</a:t>
                      </a:r>
                      <a:r>
                        <a:rPr sz="700" b="0" i="0">
                          <a:solidFill>
                            <a:srgbClr val="0070C0"/>
                          </a:solidFill>
                          <a:latin typeface="Times New Roman"/>
                        </a:rPr>
                        <a:t>  </a:t>
                      </a:r>
                      <a:r>
                        <a:rPr sz="1100" b="0" i="0">
                          <a:solidFill>
                            <a:srgbClr val="0070C0"/>
                          </a:solidFill>
                          <a:latin typeface="Calibri"/>
                        </a:rPr>
                        <a:t>Price–Pack Size–SPF Value Comparison</a:t>
                      </a:r>
                      <a:endParaRPr sz="1100"/>
                    </a:p>
                  </a:txBody>
                  <a:tcPr marL="428625" marR="9525" marT="9525" marB="0" anchor="ctr"/>
                </a:tc>
              </a:tr>
              <a:tr h="175260">
                <a:tc>
                  <a:txBody>
                    <a:bodyPr wrap="square"/>
                    <a:lstStyle/>
                    <a:p>
                      <a:pPr algn="l"/>
                      <a:r>
                        <a:rPr sz="1100" b="1" i="0">
                          <a:solidFill>
                            <a:srgbClr val="000000"/>
                          </a:solidFill>
                          <a:latin typeface="Calibri"/>
                        </a:rPr>
                        <a:t>Section 4: Voice of Customer and Decision-driver Analysis</a:t>
                      </a:r>
                      <a:endParaRPr sz="1100"/>
                    </a:p>
                  </a:txBody>
                  <a:tcPr marL="95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Consumer Perception Analysis</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Consumer Purchase Behavior</a:t>
                      </a:r>
                      <a:endParaRPr sz="1100"/>
                    </a:p>
                  </a:txBody>
                  <a:tcPr marL="428625" marR="9525" marT="9525" marB="0" anchor="ctr"/>
                </a:tc>
              </a:tr>
              <a:tr h="525780">
                <a:tc>
                  <a:txBody>
                    <a:bodyPr wrap="square"/>
                    <a:lstStyle/>
                    <a:p>
                      <a:pPr algn="l"/>
                      <a:r>
                        <a:rPr sz="1100" b="0" i="0">
                          <a:solidFill>
                            <a:srgbClr val="000000"/>
                          </a:solidFill>
                          <a:latin typeface="Calibri"/>
                        </a:rPr>
                        <a:t>21.1.1.</a:t>
                      </a:r>
                      <a:r>
                        <a:rPr sz="700" b="0" i="0">
                          <a:solidFill>
                            <a:srgbClr val="000000"/>
                          </a:solidFill>
                          <a:latin typeface="Times New Roman"/>
                        </a:rPr>
                        <a:t> </a:t>
                      </a:r>
                      <a:r>
                        <a:rPr sz="1100" b="0" i="0">
                          <a:solidFill>
                            <a:srgbClr val="000000"/>
                          </a:solidFill>
                          <a:latin typeface="Calibri"/>
                        </a:rPr>
                        <a:t>What factors most influence consumer purchasing decisions for ceramide-based sunscreens across facial, body and multifunctional sun-protection products?</a:t>
                      </a:r>
                      <a:endParaRPr sz="1100"/>
                    </a:p>
                  </a:txBody>
                  <a:tcPr marL="771525" marR="9525" marT="9525" marB="0" anchor="ctr"/>
                </a:tc>
              </a:tr>
              <a:tr h="350520">
                <a:tc>
                  <a:txBody>
                    <a:bodyPr wrap="square"/>
                    <a:lstStyle/>
                    <a:p>
                      <a:pPr algn="l"/>
                      <a:r>
                        <a:rPr sz="1100" b="0" i="0">
                          <a:solidFill>
                            <a:srgbClr val="000000"/>
                          </a:solidFill>
                          <a:latin typeface="Calibri"/>
                        </a:rPr>
                        <a:t>21.1.2.</a:t>
                      </a:r>
                      <a:r>
                        <a:rPr sz="700" b="0" i="0">
                          <a:solidFill>
                            <a:srgbClr val="000000"/>
                          </a:solidFill>
                          <a:latin typeface="Times New Roman"/>
                        </a:rPr>
                        <a:t> </a:t>
                      </a:r>
                      <a:r>
                        <a:rPr sz="1100" b="0" i="0">
                          <a:solidFill>
                            <a:srgbClr val="000000"/>
                          </a:solidFill>
                          <a:latin typeface="Calibri"/>
                        </a:rPr>
                        <a:t>What drives consumers to switch between ceramide sunscreen brands, conventional sunscreens and other sun-protection products?</a:t>
                      </a:r>
                      <a:endParaRPr sz="1100"/>
                    </a:p>
                  </a:txBody>
                  <a:tcPr marL="771525" marR="9525" marT="9525" marB="0" anchor="ctr"/>
                </a:tc>
              </a:tr>
              <a:tr h="350520">
                <a:tc>
                  <a:txBody>
                    <a:bodyPr wrap="square"/>
                    <a:lstStyle/>
                    <a:p>
                      <a:pPr algn="l"/>
                      <a:r>
                        <a:rPr sz="1100" b="0" i="0">
                          <a:solidFill>
                            <a:srgbClr val="000000"/>
                          </a:solidFill>
                          <a:latin typeface="Calibri"/>
                        </a:rPr>
                        <a:t>21.1.3.</a:t>
                      </a:r>
                      <a:r>
                        <a:rPr sz="700" b="0" i="0">
                          <a:solidFill>
                            <a:srgbClr val="000000"/>
                          </a:solidFill>
                          <a:latin typeface="Times New Roman"/>
                        </a:rPr>
                        <a:t> </a:t>
                      </a:r>
                      <a:r>
                        <a:rPr sz="1100" b="0" i="0">
                          <a:solidFill>
                            <a:srgbClr val="000000"/>
                          </a:solidFill>
                          <a:latin typeface="Calibri"/>
                        </a:rPr>
                        <a:t>Which domestic and international skincare brands demonstrate strong consumer loyalty and repeat-purchase potential in ceramide sunscreen products?</a:t>
                      </a:r>
                      <a:endParaRPr sz="1100"/>
                    </a:p>
                  </a:txBody>
                  <a:tcPr marL="771525" marR="9525" marT="9525" marB="0" anchor="ctr"/>
                </a:tc>
              </a:tr>
              <a:tr h="350520">
                <a:tc>
                  <a:txBody>
                    <a:bodyPr wrap="square"/>
                    <a:lstStyle/>
                    <a:p>
                      <a:pPr algn="l"/>
                      <a:r>
                        <a:rPr sz="1100" b="0" i="0">
                          <a:solidFill>
                            <a:srgbClr val="000000"/>
                          </a:solidFill>
                          <a:latin typeface="Calibri"/>
                        </a:rPr>
                        <a:t>21.1.4.</a:t>
                      </a:r>
                      <a:r>
                        <a:rPr sz="700" b="0" i="0">
                          <a:solidFill>
                            <a:srgbClr val="000000"/>
                          </a:solidFill>
                          <a:latin typeface="Times New Roman"/>
                        </a:rPr>
                        <a:t> </a:t>
                      </a:r>
                      <a:r>
                        <a:rPr sz="1100" b="0" i="0">
                          <a:solidFill>
                            <a:srgbClr val="000000"/>
                          </a:solidFill>
                          <a:latin typeface="Calibri"/>
                        </a:rPr>
                        <a:t>What price ranges are preferred across consumer demographics, sunscreen formats, SPF levels and ceramide-based formulations?</a:t>
                      </a:r>
                      <a:endParaRPr sz="1100"/>
                    </a:p>
                  </a:txBody>
                  <a:tcPr marL="7715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Ingredient and Formulation Insights</a:t>
                      </a:r>
                      <a:endParaRPr sz="1100"/>
                    </a:p>
                  </a:txBody>
                  <a:tcPr marL="428625" marR="9525" marT="9525" marB="0" anchor="ctr"/>
                </a:tc>
              </a:tr>
              <a:tr h="350520">
                <a:tc>
                  <a:txBody>
                    <a:bodyPr wrap="square"/>
                    <a:lstStyle/>
                    <a:p>
                      <a:pPr algn="l"/>
                      <a:r>
                        <a:rPr sz="1100" b="0" i="0">
                          <a:solidFill>
                            <a:srgbClr val="000000"/>
                          </a:solidFill>
                          <a:latin typeface="Calibri"/>
                        </a:rPr>
                        <a:t>21.2.1.</a:t>
                      </a:r>
                      <a:r>
                        <a:rPr sz="700" b="0" i="0">
                          <a:solidFill>
                            <a:srgbClr val="000000"/>
                          </a:solidFill>
                          <a:latin typeface="Times New Roman"/>
                        </a:rPr>
                        <a:t> </a:t>
                      </a:r>
                      <a:r>
                        <a:rPr sz="1100" b="0" i="0">
                          <a:solidFill>
                            <a:srgbClr val="000000"/>
                          </a:solidFill>
                          <a:latin typeface="Calibri"/>
                        </a:rPr>
                        <a:t>Which ceramide types are most recognized and preferred in sunscreen formulations, including Ceramide NP, Ceramide AP and Ceramide EOP?</a:t>
                      </a:r>
                      <a:endParaRPr sz="1100"/>
                    </a:p>
                  </a:txBody>
                  <a:tcPr marL="771525" marR="9525" marT="9525" marB="0" anchor="ctr"/>
                </a:tc>
              </a:tr>
              <a:tr h="350520">
                <a:tc>
                  <a:txBody>
                    <a:bodyPr wrap="square"/>
                    <a:lstStyle/>
                    <a:p>
                      <a:pPr algn="l"/>
                      <a:r>
                        <a:rPr sz="1100" b="0" i="0">
                          <a:solidFill>
                            <a:srgbClr val="000000"/>
                          </a:solidFill>
                          <a:latin typeface="Calibri"/>
                        </a:rPr>
                        <a:t>21.2.2.</a:t>
                      </a:r>
                      <a:r>
                        <a:rPr sz="700" b="0" i="0">
                          <a:solidFill>
                            <a:srgbClr val="000000"/>
                          </a:solidFill>
                          <a:latin typeface="Times New Roman"/>
                        </a:rPr>
                        <a:t> </a:t>
                      </a:r>
                      <a:r>
                        <a:rPr sz="1100" b="0" i="0">
                          <a:solidFill>
                            <a:srgbClr val="000000"/>
                          </a:solidFill>
                          <a:latin typeface="Calibri"/>
                        </a:rPr>
                        <a:t>How important are single-ceramide formulations versus multi-ceramide complexes in consumer product selection?</a:t>
                      </a:r>
                      <a:endParaRPr sz="1100"/>
                    </a:p>
                  </a:txBody>
                  <a:tcPr marL="771525" marR="9525" marT="9525" marB="0" anchor="ctr"/>
                </a:tc>
              </a:tr>
              <a:tr h="350520">
                <a:tc>
                  <a:txBody>
                    <a:bodyPr wrap="square"/>
                    <a:lstStyle/>
                    <a:p>
                      <a:pPr algn="l"/>
                      <a:r>
                        <a:rPr sz="1100" b="0" i="0">
                          <a:solidFill>
                            <a:srgbClr val="000000"/>
                          </a:solidFill>
                          <a:latin typeface="Calibri"/>
                        </a:rPr>
                        <a:t>21.2.3.</a:t>
                      </a:r>
                      <a:r>
                        <a:rPr sz="700" b="0" i="0">
                          <a:solidFill>
                            <a:srgbClr val="000000"/>
                          </a:solidFill>
                          <a:latin typeface="Times New Roman"/>
                        </a:rPr>
                        <a:t> </a:t>
                      </a:r>
                      <a:r>
                        <a:rPr sz="1100" b="0" i="0">
                          <a:solidFill>
                            <a:srgbClr val="000000"/>
                          </a:solidFill>
                          <a:latin typeface="Calibri"/>
                        </a:rPr>
                        <a:t>How do consumers evaluate ingredient transparency, formulation safety, skin compatibility and the credibility of ceramide-related claims?</a:t>
                      </a:r>
                      <a:endParaRPr sz="1100"/>
                    </a:p>
                  </a:txBody>
                  <a:tcPr marL="771525" marR="9525" marT="9525" marB="0" anchor="ctr"/>
                </a:tc>
              </a:tr>
              <a:tr h="350520">
                <a:tc>
                  <a:txBody>
                    <a:bodyPr wrap="square"/>
                    <a:lstStyle/>
                    <a:p>
                      <a:pPr algn="l"/>
                      <a:r>
                        <a:rPr sz="1100" b="0" i="0">
                          <a:solidFill>
                            <a:srgbClr val="000000"/>
                          </a:solidFill>
                          <a:latin typeface="Calibri"/>
                        </a:rPr>
                        <a:t>21.2.4.</a:t>
                      </a:r>
                      <a:r>
                        <a:rPr sz="700" b="0" i="0">
                          <a:solidFill>
                            <a:srgbClr val="000000"/>
                          </a:solidFill>
                          <a:latin typeface="Times New Roman"/>
                        </a:rPr>
                        <a:t> </a:t>
                      </a:r>
                      <a:r>
                        <a:rPr sz="1100" b="0" i="0">
                          <a:solidFill>
                            <a:srgbClr val="000000"/>
                          </a:solidFill>
                          <a:latin typeface="Calibri"/>
                        </a:rPr>
                        <a:t>How important are formulations combining ceramides with ingredients such as hyaluronic acid, niacinamide, cholesterol and fatty acids?</a:t>
                      </a:r>
                      <a:endParaRPr sz="1100"/>
                    </a:p>
                  </a:txBody>
                  <a:tcPr marL="7715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Sunscreen Performance and Benefits</a:t>
                      </a:r>
                      <a:endParaRPr sz="1100"/>
                    </a:p>
                  </a:txBody>
                  <a:tcPr marL="428625" marR="9525" marT="9525" marB="0" anchor="ctr"/>
                </a:tc>
              </a:tr>
              <a:tr h="525780">
                <a:tc>
                  <a:txBody>
                    <a:bodyPr wrap="square"/>
                    <a:lstStyle/>
                    <a:p>
                      <a:pPr algn="l"/>
                      <a:r>
                        <a:rPr sz="1100" b="0" i="0">
                          <a:solidFill>
                            <a:srgbClr val="000000"/>
                          </a:solidFill>
                          <a:latin typeface="Calibri"/>
                        </a:rPr>
                        <a:t>21.3.1.</a:t>
                      </a:r>
                      <a:r>
                        <a:rPr sz="700" b="0" i="0">
                          <a:solidFill>
                            <a:srgbClr val="000000"/>
                          </a:solidFill>
                          <a:latin typeface="Times New Roman"/>
                        </a:rPr>
                        <a:t> </a:t>
                      </a:r>
                      <a:r>
                        <a:rPr sz="1100" b="0" i="0">
                          <a:solidFill>
                            <a:srgbClr val="000000"/>
                          </a:solidFill>
                          <a:latin typeface="Calibri"/>
                        </a:rPr>
                        <a:t>Which performance attributes most influence ceramide sunscreen purchases, including broad-spectrum protection, water resistance, sweat resistance and wear duration?</a:t>
                      </a:r>
                      <a:endParaRPr sz="1100"/>
                    </a:p>
                  </a:txBody>
                  <a:tcPr marL="771525" marR="9525" marT="9525" marB="0" anchor="ctr"/>
                </a:tc>
              </a:tr>
              <a:tr h="350520">
                <a:tc>
                  <a:txBody>
                    <a:bodyPr wrap="square"/>
                    <a:lstStyle/>
                    <a:p>
                      <a:pPr algn="l"/>
                      <a:r>
                        <a:rPr sz="1100" b="0" i="0">
                          <a:solidFill>
                            <a:srgbClr val="000000"/>
                          </a:solidFill>
                          <a:latin typeface="Calibri"/>
                        </a:rPr>
                        <a:t>21.3.2.</a:t>
                      </a:r>
                      <a:r>
                        <a:rPr sz="700" b="0" i="0">
                          <a:solidFill>
                            <a:srgbClr val="000000"/>
                          </a:solidFill>
                          <a:latin typeface="Times New Roman"/>
                        </a:rPr>
                        <a:t> </a:t>
                      </a:r>
                      <a:r>
                        <a:rPr sz="1100" b="0" i="0">
                          <a:solidFill>
                            <a:srgbClr val="000000"/>
                          </a:solidFill>
                          <a:latin typeface="Calibri"/>
                        </a:rPr>
                        <a:t>Which benefits are most sought after, including skin-barrier support, moisturization, reduced dryness and suitability for sensitive skin?</a:t>
                      </a:r>
                      <a:endParaRPr sz="1100"/>
                    </a:p>
                  </a:txBody>
                  <a:tcPr marL="771525" marR="9525" marT="9525" marB="0" anchor="ctr"/>
                </a:tc>
              </a:tr>
              <a:tr h="350520">
                <a:tc>
                  <a:txBody>
                    <a:bodyPr wrap="square"/>
                    <a:lstStyle/>
                    <a:p>
                      <a:pPr algn="l"/>
                      <a:r>
                        <a:rPr sz="1100" b="0" i="0">
                          <a:solidFill>
                            <a:srgbClr val="000000"/>
                          </a:solidFill>
                          <a:latin typeface="Calibri"/>
                        </a:rPr>
                        <a:t>21.3.3.</a:t>
                      </a:r>
                      <a:r>
                        <a:rPr sz="700" b="0" i="0">
                          <a:solidFill>
                            <a:srgbClr val="000000"/>
                          </a:solidFill>
                          <a:latin typeface="Times New Roman"/>
                        </a:rPr>
                        <a:t> </a:t>
                      </a:r>
                      <a:r>
                        <a:rPr sz="1100" b="0" i="0">
                          <a:solidFill>
                            <a:srgbClr val="000000"/>
                          </a:solidFill>
                          <a:latin typeface="Calibri"/>
                        </a:rPr>
                        <a:t>How important are lightweight textures, non-greasy finishes, low white cast and compatibility with makeup?</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0000"/>
                          </a:solidFill>
                          <a:latin typeface="Calibri"/>
                        </a:rPr>
                        <a:t>21.3.4.</a:t>
                      </a:r>
                      <a:r>
                        <a:rPr sz="700" b="0" i="0">
                          <a:solidFill>
                            <a:srgbClr val="000000"/>
                          </a:solidFill>
                          <a:latin typeface="Times New Roman"/>
                        </a:rPr>
                        <a:t> </a:t>
                      </a:r>
                      <a:r>
                        <a:rPr sz="1100" b="0" i="0">
                          <a:solidFill>
                            <a:srgbClr val="000000"/>
                          </a:solidFill>
                          <a:latin typeface="Calibri"/>
                        </a:rPr>
                        <a:t>How do performance expectations differ between daily facial use, outdoor activities, sports, beach exposure and prolonged sun exposure?</a:t>
                      </a:r>
                      <a:endParaRPr sz="1100"/>
                    </a:p>
                  </a:txBody>
                  <a:tcPr marL="7715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Ceramide Ingredient Complexity and Formulation Preference Analysis</a:t>
                      </a:r>
                      <a:endParaRPr sz="1100"/>
                    </a:p>
                  </a:txBody>
                  <a:tcPr marL="428625" marR="9525" marT="9525" marB="0" anchor="ctr"/>
                </a:tc>
              </a:tr>
              <a:tr h="350520">
                <a:tc>
                  <a:txBody>
                    <a:bodyPr wrap="square"/>
                    <a:lstStyle/>
                    <a:p>
                      <a:pPr algn="l"/>
                      <a:r>
                        <a:rPr sz="1100" b="0" i="0">
                          <a:solidFill>
                            <a:srgbClr val="000000"/>
                          </a:solidFill>
                          <a:latin typeface="Calibri"/>
                        </a:rPr>
                        <a:t>21.4.1.</a:t>
                      </a:r>
                      <a:r>
                        <a:rPr sz="700" b="0" i="0">
                          <a:solidFill>
                            <a:srgbClr val="000000"/>
                          </a:solidFill>
                          <a:latin typeface="Times New Roman"/>
                        </a:rPr>
                        <a:t> </a:t>
                      </a:r>
                      <a:r>
                        <a:rPr sz="1100" b="0" i="0">
                          <a:solidFill>
                            <a:srgbClr val="000000"/>
                          </a:solidFill>
                          <a:latin typeface="Calibri"/>
                        </a:rPr>
                        <a:t>How do consumers respond to sunscreens containing a single ceramide compared with multi-ceramide complexes?</a:t>
                      </a:r>
                      <a:endParaRPr sz="1100"/>
                    </a:p>
                  </a:txBody>
                  <a:tcPr marL="771525" marR="9525" marT="9525" marB="0" anchor="ctr"/>
                </a:tc>
              </a:tr>
              <a:tr h="350520">
                <a:tc>
                  <a:txBody>
                    <a:bodyPr wrap="square"/>
                    <a:lstStyle/>
                    <a:p>
                      <a:pPr algn="l"/>
                      <a:r>
                        <a:rPr sz="1100" b="0" i="0">
                          <a:solidFill>
                            <a:srgbClr val="000000"/>
                          </a:solidFill>
                          <a:latin typeface="Calibri"/>
                        </a:rPr>
                        <a:t>21.4.2.</a:t>
                      </a:r>
                      <a:r>
                        <a:rPr sz="700" b="0" i="0">
                          <a:solidFill>
                            <a:srgbClr val="000000"/>
                          </a:solidFill>
                          <a:latin typeface="Times New Roman"/>
                        </a:rPr>
                        <a:t> </a:t>
                      </a:r>
                      <a:r>
                        <a:rPr sz="1100" b="0" i="0">
                          <a:solidFill>
                            <a:srgbClr val="000000"/>
                          </a:solidFill>
                          <a:latin typeface="Calibri"/>
                        </a:rPr>
                        <a:t>Which ceramide combinations and supporting lipid ingredients are most appealing when supported by credible product claims?</a:t>
                      </a:r>
                      <a:endParaRPr sz="1100"/>
                    </a:p>
                  </a:txBody>
                  <a:tcPr marL="771525" marR="9525" marT="9525" marB="0" anchor="ctr"/>
                </a:tc>
              </a:tr>
              <a:tr h="350520">
                <a:tc>
                  <a:txBody>
                    <a:bodyPr wrap="square"/>
                    <a:lstStyle/>
                    <a:p>
                      <a:pPr algn="l"/>
                      <a:r>
                        <a:rPr sz="1100" b="0" i="0">
                          <a:solidFill>
                            <a:srgbClr val="000000"/>
                          </a:solidFill>
                          <a:latin typeface="Calibri"/>
                        </a:rPr>
                        <a:t>21.4.3.</a:t>
                      </a:r>
                      <a:r>
                        <a:rPr sz="700" b="0" i="0">
                          <a:solidFill>
                            <a:srgbClr val="000000"/>
                          </a:solidFill>
                          <a:latin typeface="Times New Roman"/>
                        </a:rPr>
                        <a:t> </a:t>
                      </a:r>
                      <a:r>
                        <a:rPr sz="1100" b="0" i="0">
                          <a:solidFill>
                            <a:srgbClr val="000000"/>
                          </a:solidFill>
                          <a:latin typeface="Calibri"/>
                        </a:rPr>
                        <a:t>How important is disclosure of ceramide type, ingredient concentration and formulation composition on product packaging?</a:t>
                      </a:r>
                      <a:endParaRPr sz="1100"/>
                    </a:p>
                  </a:txBody>
                  <a:tcPr marL="771525" marR="9525" marT="9525" marB="0" anchor="ctr"/>
                </a:tc>
              </a:tr>
              <a:tr h="350520">
                <a:tc>
                  <a:txBody>
                    <a:bodyPr wrap="square"/>
                    <a:lstStyle/>
                    <a:p>
                      <a:pPr algn="l"/>
                      <a:r>
                        <a:rPr sz="1100" b="0" i="0">
                          <a:solidFill>
                            <a:srgbClr val="000000"/>
                          </a:solidFill>
                          <a:latin typeface="Calibri"/>
                        </a:rPr>
                        <a:t>21.4.4.</a:t>
                      </a:r>
                      <a:r>
                        <a:rPr sz="700" b="0" i="0">
                          <a:solidFill>
                            <a:srgbClr val="000000"/>
                          </a:solidFill>
                          <a:latin typeface="Times New Roman"/>
                        </a:rPr>
                        <a:t> </a:t>
                      </a:r>
                      <a:r>
                        <a:rPr sz="1100" b="0" i="0">
                          <a:solidFill>
                            <a:srgbClr val="000000"/>
                          </a:solidFill>
                          <a:latin typeface="Calibri"/>
                        </a:rPr>
                        <a:t>Do consumers perceive higher value in ceramide sunscreens that combine barrier-support ingredients with broad-spectrum UV filters?</a:t>
                      </a:r>
                      <a:endParaRPr sz="1100"/>
                    </a:p>
                  </a:txBody>
                  <a:tcPr marL="771525" marR="9525" marT="9525" marB="0" anchor="ctr"/>
                </a:tc>
              </a:tr>
              <a:tr h="17526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Consumer Pain Points and White-Space Analysis</a:t>
                      </a:r>
                      <a:endParaRPr sz="1100"/>
                    </a:p>
                  </a:txBody>
                  <a:tcPr marL="428625" marR="9525" marT="9525" marB="0" anchor="ctr"/>
                </a:tc>
              </a:tr>
              <a:tr h="350520">
                <a:tc>
                  <a:txBody>
                    <a:bodyPr wrap="square"/>
                    <a:lstStyle/>
                    <a:p>
                      <a:pPr algn="l"/>
                      <a:r>
                        <a:rPr sz="1100" b="0" i="0">
                          <a:solidFill>
                            <a:srgbClr val="000000"/>
                          </a:solidFill>
                          <a:latin typeface="Calibri"/>
                        </a:rPr>
                        <a:t>21.5.1.</a:t>
                      </a:r>
                      <a:r>
                        <a:rPr sz="700" b="0" i="0">
                          <a:solidFill>
                            <a:srgbClr val="000000"/>
                          </a:solidFill>
                          <a:latin typeface="Times New Roman"/>
                        </a:rPr>
                        <a:t> </a:t>
                      </a:r>
                      <a:r>
                        <a:rPr sz="1100" b="0" i="0">
                          <a:solidFill>
                            <a:srgbClr val="000000"/>
                          </a:solidFill>
                          <a:latin typeface="Calibri"/>
                        </a:rPr>
                        <a:t>Which consumer needs remain insufficiently addressed by current ceramide sunscreen offerings?</a:t>
                      </a:r>
                      <a:endParaRPr sz="1100"/>
                    </a:p>
                  </a:txBody>
                  <a:tcPr marL="771525" marR="9525" marT="9525" marB="0" anchor="ctr"/>
                </a:tc>
              </a:tr>
              <a:tr h="350520">
                <a:tc>
                  <a:txBody>
                    <a:bodyPr wrap="square"/>
                    <a:lstStyle/>
                    <a:p>
                      <a:pPr algn="l"/>
                      <a:r>
                        <a:rPr sz="1100" b="0" i="0">
                          <a:solidFill>
                            <a:srgbClr val="000000"/>
                          </a:solidFill>
                          <a:latin typeface="Calibri"/>
                        </a:rPr>
                        <a:t>21.5.2.</a:t>
                      </a:r>
                      <a:r>
                        <a:rPr sz="700" b="0" i="0">
                          <a:solidFill>
                            <a:srgbClr val="000000"/>
                          </a:solidFill>
                          <a:latin typeface="Times New Roman"/>
                        </a:rPr>
                        <a:t> </a:t>
                      </a:r>
                      <a:r>
                        <a:rPr sz="1100" b="0" i="0">
                          <a:solidFill>
                            <a:srgbClr val="000000"/>
                          </a:solidFill>
                          <a:latin typeface="Calibri"/>
                        </a:rPr>
                        <a:t>What formulation improvements are most desired in terms of texture, skin compatibility, water resistance, packaging and ease of reapplication?</a:t>
                      </a:r>
                      <a:endParaRPr sz="1100"/>
                    </a:p>
                  </a:txBody>
                  <a:tcPr marL="771525" marR="9525" marT="9525" marB="0" anchor="ctr"/>
                </a:tc>
              </a:tr>
              <a:tr h="350520">
                <a:tc>
                  <a:txBody>
                    <a:bodyPr wrap="square"/>
                    <a:lstStyle/>
                    <a:p>
                      <a:pPr algn="l"/>
                      <a:r>
                        <a:rPr sz="1100" b="0" i="0">
                          <a:solidFill>
                            <a:srgbClr val="000000"/>
                          </a:solidFill>
                          <a:latin typeface="Calibri"/>
                        </a:rPr>
                        <a:t>21.5.3.</a:t>
                      </a:r>
                      <a:r>
                        <a:rPr sz="700" b="0" i="0">
                          <a:solidFill>
                            <a:srgbClr val="000000"/>
                          </a:solidFill>
                          <a:latin typeface="Times New Roman"/>
                        </a:rPr>
                        <a:t> </a:t>
                      </a:r>
                      <a:r>
                        <a:rPr sz="1100" b="0" i="0">
                          <a:solidFill>
                            <a:srgbClr val="000000"/>
                          </a:solidFill>
                          <a:latin typeface="Calibri"/>
                        </a:rPr>
                        <a:t>Which product formats, ceramide combinations, price tiers and consumer segments represent the strongest white-space opportunities?</a:t>
                      </a:r>
                      <a:endParaRPr sz="1100"/>
                    </a:p>
                  </a:txBody>
                  <a:tcPr marL="771525" marR="9525" marT="9525" marB="0" anchor="ctr"/>
                </a:tc>
              </a:tr>
              <a:tr h="350520">
                <a:tc>
                  <a:txBody>
                    <a:bodyPr wrap="square"/>
                    <a:lstStyle/>
                    <a:p>
                      <a:pPr algn="l"/>
                      <a:r>
                        <a:rPr sz="1100" b="0" i="0">
                          <a:solidFill>
                            <a:srgbClr val="000000"/>
                          </a:solidFill>
                          <a:latin typeface="Calibri"/>
                        </a:rPr>
                        <a:t>21.5.4.</a:t>
                      </a:r>
                      <a:r>
                        <a:rPr sz="700" b="0" i="0">
                          <a:solidFill>
                            <a:srgbClr val="000000"/>
                          </a:solidFill>
                          <a:latin typeface="Times New Roman"/>
                        </a:rPr>
                        <a:t> </a:t>
                      </a:r>
                      <a:r>
                        <a:rPr sz="1100" b="0" i="0">
                          <a:solidFill>
                            <a:srgbClr val="000000"/>
                          </a:solidFill>
                          <a:latin typeface="Calibri"/>
                        </a:rPr>
                        <a:t>Where do consumers perceive gaps between the promised skin-barrier benefits of ceramide sunscreens and their actual product experience?</a:t>
                      </a:r>
                      <a:endParaRPr sz="1100"/>
                    </a:p>
                  </a:txBody>
                  <a:tcPr marL="7715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Consumer Preference and Purchase Decision Assessment</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Consumer Awareness of Ceramide-based Sun Protection</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Key Consumer Purchase Decision Factors</a:t>
                      </a:r>
                      <a:endParaRPr sz="1100"/>
                    </a:p>
                  </a:txBody>
                  <a:tcPr marL="4286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Consumer Preference by Skin Type</a:t>
                      </a:r>
                      <a:endParaRPr sz="1100"/>
                    </a:p>
                  </a:txBody>
                  <a:tcPr marL="4286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Consumer Perception of Mineral vs. Chemical vs. Hybrid Sunscreens</a:t>
                      </a:r>
                      <a:endParaRPr sz="1100"/>
                    </a:p>
                  </a:txBody>
                  <a:tcPr marL="428625" marR="9525" marT="9525" marB="0" anchor="ctr"/>
                </a:tc>
              </a:tr>
              <a:tr h="175260">
                <a:tc>
                  <a:txBody>
                    <a:bodyPr wrap="square"/>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Purchase Intent and Repeat Purchase Drivers</a:t>
                      </a:r>
                      <a:endParaRPr sz="1100"/>
                    </a:p>
                  </a:txBody>
                  <a:tcPr marL="428625" marR="9525" marT="9525" marB="0" anchor="ctr"/>
                </a:tc>
              </a:tr>
              <a:tr h="175260">
                <a:tc>
                  <a:txBody>
                    <a:bodyPr wrap="square"/>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Consumer Unmet Needs and Product Improvement Opportunities</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Ingredient-driven Consumer Preference and Sunscreen Purchase Decision Analysis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Consumer Preference for Single-Ceramide vs. Multi-Ceramide Formulations</a:t>
                      </a:r>
                      <a:endParaRPr sz="1100"/>
                    </a:p>
                  </a:txBody>
                  <a:tcPr marL="4286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Ingredient Selection Preferences by Skin Type and Skin Concern</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(7/8)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Relative Importance of Ingredients vs. SPF Rating, Texture, Brand and Price in Sunscreen Selection</a:t>
                      </a:r>
                      <a:endParaRPr sz="1100"/>
                    </a:p>
                  </a:txBody>
                  <a:tcPr marL="428625" marR="9525" marT="9525" marB="0" anchor="ctr"/>
                </a:tc>
              </a:tr>
              <a:tr h="350520">
                <a:tc>
                  <a:txBody>
                    <a:bodyPr wrap="square"/>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Impact of Ingredient Transparency, Label Understanding and Dermatologist Recommendations on Brand Selection</a:t>
                      </a:r>
                      <a:endParaRPr sz="1100"/>
                    </a:p>
                  </a:txBody>
                  <a:tcPr marL="428625" marR="9525" marT="9525" marB="0" anchor="ctr"/>
                </a:tc>
              </a:tr>
              <a:tr h="350520">
                <a:tc>
                  <a:txBody>
                    <a:bodyPr wrap="square"/>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Ingredient Combination-based Consumer Willingness-to-Pay and Price Premium Assessment</a:t>
                      </a:r>
                      <a:endParaRPr sz="1100"/>
                    </a:p>
                  </a:txBody>
                  <a:tcPr marL="428625" marR="9525" marT="9525" marB="0" anchor="ctr"/>
                </a:tc>
              </a:tr>
              <a:tr h="350520">
                <a:tc>
                  <a:txBody>
                    <a:bodyPr wrap="square"/>
                    <a:lstStyle/>
                    <a:p>
                      <a:pPr algn="l"/>
                      <a:r>
                        <a:rPr sz="1100" b="0" i="0">
                          <a:solidFill>
                            <a:srgbClr val="0070C0"/>
                          </a:solidFill>
                          <a:latin typeface="Calibri"/>
                        </a:rPr>
                        <a:t>23.6.</a:t>
                      </a:r>
                      <a:r>
                        <a:rPr sz="700" b="0" i="0">
                          <a:solidFill>
                            <a:srgbClr val="0070C0"/>
                          </a:solidFill>
                          <a:latin typeface="Times New Roman"/>
                        </a:rPr>
                        <a:t>  </a:t>
                      </a:r>
                      <a:r>
                        <a:rPr sz="1100" b="0" i="0">
                          <a:solidFill>
                            <a:srgbClr val="0070C0"/>
                          </a:solidFill>
                          <a:latin typeface="Calibri"/>
                        </a:rPr>
                        <a:t>Consumer Preference for Ceramide Sunscreens vs. Conventional Non-Ceramide Sunscreens</a:t>
                      </a:r>
                      <a:endParaRPr sz="1100"/>
                    </a:p>
                  </a:txBody>
                  <a:tcPr marL="428625" marR="9525" marT="9525" marB="0" anchor="ctr"/>
                </a:tc>
              </a:tr>
              <a:tr h="350520">
                <a:tc>
                  <a:txBody>
                    <a:bodyPr wrap="square"/>
                    <a:lstStyle/>
                    <a:p>
                      <a:pPr algn="l"/>
                      <a:r>
                        <a:rPr sz="1100" b="0" i="0">
                          <a:solidFill>
                            <a:srgbClr val="0070C0"/>
                          </a:solidFill>
                          <a:latin typeface="Calibri"/>
                        </a:rPr>
                        <a:t>23.7.</a:t>
                      </a:r>
                      <a:r>
                        <a:rPr sz="700" b="0" i="0">
                          <a:solidFill>
                            <a:srgbClr val="0070C0"/>
                          </a:solidFill>
                          <a:latin typeface="Times New Roman"/>
                        </a:rPr>
                        <a:t>  </a:t>
                      </a:r>
                      <a:r>
                        <a:rPr sz="1100" b="0" i="0">
                          <a:solidFill>
                            <a:srgbClr val="0070C0"/>
                          </a:solidFill>
                          <a:latin typeface="Calibri"/>
                        </a:rPr>
                        <a:t>Ingredient-based Consumer Segmentation and Product Development Opportunity Mapping</a:t>
                      </a:r>
                      <a:endParaRPr sz="1100"/>
                    </a:p>
                  </a:txBody>
                  <a:tcPr marL="428625" marR="9525" marT="9525" marB="0" anchor="ctr"/>
                </a:tc>
              </a:tr>
              <a:tr h="175260">
                <a:tc>
                  <a:txBody>
                    <a:bodyPr wrap="square"/>
                    <a:lstStyle/>
                    <a:p>
                      <a:pPr algn="l"/>
                      <a:r>
                        <a:rPr sz="1100" b="1" i="0">
                          <a:solidFill>
                            <a:srgbClr val="000000"/>
                          </a:solidFill>
                          <a:latin typeface="Calibri"/>
                        </a:rPr>
                        <a:t>Section 5: Market Dynamics</a:t>
                      </a:r>
                      <a:endParaRPr sz="1100"/>
                    </a:p>
                  </a:txBody>
                  <a:tcPr marL="95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tr>
              <a:tr h="175260">
                <a:tc>
                  <a:txBody>
                    <a:bodyPr wrap="square"/>
                    <a:lstStyle/>
                    <a:p>
                      <a:pPr algn="l"/>
                      <a:r>
                        <a:rPr sz="1100" b="0" i="0">
                          <a:solidFill>
                            <a:srgbClr val="000000"/>
                          </a:solidFill>
                          <a:latin typeface="Calibri"/>
                        </a:rPr>
                        <a:t>24.1.1.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tr>
              <a:tr h="175260">
                <a:tc>
                  <a:txBody>
                    <a:bodyPr wrap="square"/>
                    <a:lstStyle/>
                    <a:p>
                      <a:pPr algn="l"/>
                      <a:r>
                        <a:rPr sz="1100" b="0" i="0">
                          <a:solidFill>
                            <a:srgbClr val="000000"/>
                          </a:solidFill>
                          <a:latin typeface="Calibri"/>
                        </a:rPr>
                        <a:t>24.1.2.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tr>
              <a:tr h="175260">
                <a:tc>
                  <a:txBody>
                    <a:bodyPr wrap="square"/>
                    <a:lstStyle/>
                    <a:p>
                      <a:pPr algn="l"/>
                      <a:r>
                        <a:rPr sz="1100" b="0" i="0">
                          <a:solidFill>
                            <a:srgbClr val="000000"/>
                          </a:solidFill>
                          <a:latin typeface="Calibri"/>
                        </a:rPr>
                        <a:t>24.1.3.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Product Launches &amp; Development</a:t>
                      </a:r>
                      <a:endParaRPr sz="1100"/>
                    </a:p>
                  </a:txBody>
                  <a:tcPr marL="4286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Market Dynamics</a:t>
                      </a:r>
                      <a:endParaRPr sz="1100"/>
                    </a:p>
                  </a:txBody>
                  <a:tcPr marL="171450" marR="9525" marT="9525" marB="0" anchor="ctr"/>
                </a:tc>
              </a:tr>
              <a:tr h="175260">
                <a:tc>
                  <a:txBody>
                    <a:bodyPr wrap="square"/>
                    <a:lstStyle/>
                    <a:p>
                      <a:pPr algn="l"/>
                      <a:r>
                        <a:rPr sz="1100" b="0" i="0">
                          <a:solidFill>
                            <a:srgbClr val="0070C0"/>
                          </a:solidFill>
                          <a:latin typeface="Calibri"/>
                        </a:rPr>
                        <a:t>25.1.</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tr>
              <a:tr h="175260">
                <a:tc>
                  <a:txBody>
                    <a:bodyPr wrap="square"/>
                    <a:lstStyle/>
                    <a:p>
                      <a:pPr algn="l"/>
                      <a:r>
                        <a:rPr sz="1100" b="0" i="0">
                          <a:solidFill>
                            <a:srgbClr val="000000"/>
                          </a:solidFill>
                          <a:latin typeface="Calibri"/>
                        </a:rPr>
                        <a:t>25.1.1.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tr>
              <a:tr h="175260">
                <a:tc>
                  <a:txBody>
                    <a:bodyPr wrap="square"/>
                    <a:lstStyle/>
                    <a:p>
                      <a:pPr algn="l"/>
                      <a:r>
                        <a:rPr sz="1100" b="0" i="0">
                          <a:solidFill>
                            <a:srgbClr val="000000"/>
                          </a:solidFill>
                          <a:latin typeface="Calibri"/>
                        </a:rPr>
                        <a:t>25.1.2.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tr>
              <a:tr h="175260">
                <a:tc>
                  <a:txBody>
                    <a:bodyPr wrap="square"/>
                    <a:lstStyle/>
                    <a:p>
                      <a:pPr algn="l"/>
                      <a:r>
                        <a:rPr sz="1100" b="0" i="0">
                          <a:solidFill>
                            <a:srgbClr val="000000"/>
                          </a:solidFill>
                          <a:latin typeface="Calibri"/>
                        </a:rPr>
                        <a:t>25.1.3.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tr>
              <a:tr h="175260">
                <a:tc>
                  <a:txBody>
                    <a:bodyPr wrap="square"/>
                    <a:lstStyle/>
                    <a:p>
                      <a:pPr algn="l"/>
                      <a:r>
                        <a:rPr sz="1100" b="0" i="0">
                          <a:solidFill>
                            <a:srgbClr val="0070C0"/>
                          </a:solidFill>
                          <a:latin typeface="Calibri"/>
                        </a:rPr>
                        <a:t>25.2.</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tr>
              <a:tr h="175260">
                <a:tc>
                  <a:txBody>
                    <a:bodyPr wrap="square"/>
                    <a:lstStyle/>
                    <a:p>
                      <a:pPr algn="l"/>
                      <a:r>
                        <a:rPr sz="1100" b="0" i="0">
                          <a:solidFill>
                            <a:srgbClr val="0070C0"/>
                          </a:solidFill>
                          <a:latin typeface="Calibri"/>
                        </a:rPr>
                        <a:t>25.3.</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tr>
              <a:tr h="175260">
                <a:tc>
                  <a:txBody>
                    <a:bodyPr wrap="square"/>
                    <a:lstStyle/>
                    <a:p>
                      <a:pPr algn="l"/>
                      <a:r>
                        <a:rPr sz="1100" b="0" i="0">
                          <a:solidFill>
                            <a:srgbClr val="0070C0"/>
                          </a:solidFill>
                          <a:latin typeface="Calibri"/>
                        </a:rPr>
                        <a:t>25.4.</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tr>
              <a:tr h="175260">
                <a:tc>
                  <a:txBody>
                    <a:bodyPr wrap="square"/>
                    <a:lstStyle/>
                    <a:p>
                      <a:pPr algn="l"/>
                      <a:r>
                        <a:rPr sz="1100" b="0" i="0">
                          <a:solidFill>
                            <a:srgbClr val="0070C0"/>
                          </a:solidFill>
                          <a:latin typeface="Calibri"/>
                        </a:rPr>
                        <a:t>25.5.</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tr>
              <a:tr h="175260">
                <a:tc>
                  <a:txBody>
                    <a:bodyPr wrap="square"/>
                    <a:lstStyle/>
                    <a:p>
                      <a:pPr algn="l"/>
                      <a:r>
                        <a:rPr sz="1100" b="0" i="0">
                          <a:solidFill>
                            <a:srgbClr val="0070C0"/>
                          </a:solidFill>
                          <a:latin typeface="Calibri"/>
                        </a:rPr>
                        <a:t>25.6.</a:t>
                      </a:r>
                      <a:r>
                        <a:rPr sz="700" b="0" i="0">
                          <a:solidFill>
                            <a:srgbClr val="0070C0"/>
                          </a:solidFill>
                          <a:latin typeface="Times New Roman"/>
                        </a:rPr>
                        <a:t>  </a:t>
                      </a:r>
                      <a:r>
                        <a:rPr sz="1100" b="0" i="0">
                          <a:solidFill>
                            <a:srgbClr val="0070C0"/>
                          </a:solidFill>
                          <a:latin typeface="Calibri"/>
                        </a:rPr>
                        <a:t>Regulations</a:t>
                      </a:r>
                      <a:endParaRPr sz="1100"/>
                    </a:p>
                  </a:txBody>
                  <a:tcPr marL="428625" marR="9525" marT="9525" marB="0" anchor="ctr"/>
                </a:tc>
              </a:tr>
              <a:tr h="175260">
                <a:tc>
                  <a:txBody>
                    <a:bodyPr wrap="square"/>
                    <a:lstStyle/>
                    <a:p>
                      <a:pPr algn="l"/>
                      <a:r>
                        <a:rPr sz="1100" b="0" i="0">
                          <a:solidFill>
                            <a:srgbClr val="0070C0"/>
                          </a:solidFill>
                          <a:latin typeface="Calibri"/>
                        </a:rPr>
                        <a:t>25.7.</a:t>
                      </a:r>
                      <a:r>
                        <a:rPr sz="700" b="0" i="0">
                          <a:solidFill>
                            <a:srgbClr val="0070C0"/>
                          </a:solidFill>
                          <a:latin typeface="Times New Roman"/>
                        </a:rPr>
                        <a:t>  </a:t>
                      </a:r>
                      <a:r>
                        <a:rPr sz="1100" b="0" i="0">
                          <a:solidFill>
                            <a:srgbClr val="0070C0"/>
                          </a:solidFill>
                          <a:latin typeface="Calibri"/>
                        </a:rPr>
                        <a:t>PESTEL Analysis</a:t>
                      </a:r>
                      <a:endParaRPr sz="1100"/>
                    </a:p>
                  </a:txBody>
                  <a:tcPr marL="428625" marR="9525" marT="9525" marB="0" anchor="ctr"/>
                </a:tc>
              </a:tr>
              <a:tr h="175260">
                <a:tc>
                  <a:txBody>
                    <a:bodyPr wrap="square"/>
                    <a:lstStyle/>
                    <a:p>
                      <a:pPr algn="l"/>
                      <a:r>
                        <a:rPr sz="1100" b="0" i="0">
                          <a:solidFill>
                            <a:srgbClr val="0070C0"/>
                          </a:solidFill>
                          <a:latin typeface="Calibri"/>
                        </a:rPr>
                        <a:t>25.8.</a:t>
                      </a:r>
                      <a:r>
                        <a:rPr sz="700" b="0" i="0">
                          <a:solidFill>
                            <a:srgbClr val="0070C0"/>
                          </a:solidFill>
                          <a:latin typeface="Times New Roman"/>
                        </a:rPr>
                        <a:t>  </a:t>
                      </a:r>
                      <a:r>
                        <a:rPr sz="1100" b="0" i="0">
                          <a:solidFill>
                            <a:srgbClr val="0070C0"/>
                          </a:solidFill>
                          <a:latin typeface="Calibri"/>
                        </a:rPr>
                        <a:t>Porter’s Analysis</a:t>
                      </a:r>
                      <a:endParaRPr sz="1100"/>
                    </a:p>
                  </a:txBody>
                  <a:tcPr marL="428625"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Ceramide Formulation and Ingredient Benchmarking</a:t>
                      </a:r>
                      <a:endParaRPr sz="1100"/>
                    </a:p>
                  </a:txBody>
                  <a:tcPr marL="17145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26.1.</a:t>
                      </a:r>
                      <a:r>
                        <a:rPr sz="700" b="0" i="0">
                          <a:solidFill>
                            <a:srgbClr val="0070C0"/>
                          </a:solidFill>
                          <a:latin typeface="Times New Roman"/>
                        </a:rPr>
                        <a:t>  </a:t>
                      </a:r>
                      <a:r>
                        <a:rPr sz="1100" b="0" i="0">
                          <a:solidFill>
                            <a:srgbClr val="0070C0"/>
                          </a:solidFill>
                          <a:latin typeface="Calibri"/>
                        </a:rPr>
                        <a:t>Ceramide Ingredient Landscape by Product Formulation</a:t>
                      </a:r>
                      <a:endParaRPr sz="1100"/>
                    </a:p>
                  </a:txBody>
                  <a:tcPr marL="428625" marR="9525" marT="9525" marB="0" anchor="ctr"/>
                </a:tc>
              </a:tr>
              <a:tr h="175260">
                <a:tc>
                  <a:txBody>
                    <a:bodyPr wrap="square"/>
                    <a:lstStyle/>
                    <a:p>
                      <a:pPr algn="l"/>
                      <a:r>
                        <a:rPr sz="1100" b="0" i="0">
                          <a:solidFill>
                            <a:srgbClr val="0070C0"/>
                          </a:solidFill>
                          <a:latin typeface="Calibri"/>
                        </a:rPr>
                        <a:t>26.2.</a:t>
                      </a:r>
                      <a:r>
                        <a:rPr sz="700" b="0" i="0">
                          <a:solidFill>
                            <a:srgbClr val="0070C0"/>
                          </a:solidFill>
                          <a:latin typeface="Times New Roman"/>
                        </a:rPr>
                        <a:t>  </a:t>
                      </a:r>
                      <a:r>
                        <a:rPr sz="1100" b="0" i="0">
                          <a:solidFill>
                            <a:srgbClr val="0070C0"/>
                          </a:solidFill>
                          <a:latin typeface="Calibri"/>
                        </a:rPr>
                        <a:t>Ceramide Ingredient Mapping by Brand and SKU</a:t>
                      </a:r>
                      <a:endParaRPr sz="1100"/>
                    </a:p>
                  </a:txBody>
                  <a:tcPr marL="428625" marR="9525" marT="9525" marB="0" anchor="ctr"/>
                </a:tc>
              </a:tr>
              <a:tr h="175260">
                <a:tc>
                  <a:txBody>
                    <a:bodyPr wrap="square"/>
                    <a:lstStyle/>
                    <a:p>
                      <a:pPr algn="l"/>
                      <a:r>
                        <a:rPr sz="1100" b="0" i="0">
                          <a:solidFill>
                            <a:srgbClr val="0070C0"/>
                          </a:solidFill>
                          <a:latin typeface="Calibri"/>
                        </a:rPr>
                        <a:t>26.3.</a:t>
                      </a:r>
                      <a:r>
                        <a:rPr sz="700" b="0" i="0">
                          <a:solidFill>
                            <a:srgbClr val="0070C0"/>
                          </a:solidFill>
                          <a:latin typeface="Times New Roman"/>
                        </a:rPr>
                        <a:t>  </a:t>
                      </a:r>
                      <a:r>
                        <a:rPr sz="1100" b="0" i="0">
                          <a:solidFill>
                            <a:srgbClr val="0070C0"/>
                          </a:solidFill>
                          <a:latin typeface="Calibri"/>
                        </a:rPr>
                        <a:t>Complementary Active Ingredient Analysis</a:t>
                      </a:r>
                      <a:endParaRPr sz="1100"/>
                    </a:p>
                  </a:txBody>
                  <a:tcPr marL="428625" marR="9525" marT="9525" marB="0" anchor="ctr"/>
                </a:tc>
              </a:tr>
              <a:tr h="175260">
                <a:tc>
                  <a:txBody>
                    <a:bodyPr wrap="square"/>
                    <a:lstStyle/>
                    <a:p>
                      <a:pPr algn="l"/>
                      <a:r>
                        <a:rPr sz="1100" b="0" i="0">
                          <a:solidFill>
                            <a:srgbClr val="0070C0"/>
                          </a:solidFill>
                          <a:latin typeface="Calibri"/>
                        </a:rPr>
                        <a:t>26.4.</a:t>
                      </a:r>
                      <a:r>
                        <a:rPr sz="700" b="0" i="0">
                          <a:solidFill>
                            <a:srgbClr val="0070C0"/>
                          </a:solidFill>
                          <a:latin typeface="Times New Roman"/>
                        </a:rPr>
                        <a:t>  </a:t>
                      </a:r>
                      <a:r>
                        <a:rPr sz="1100" b="0" i="0">
                          <a:solidFill>
                            <a:srgbClr val="0070C0"/>
                          </a:solidFill>
                          <a:latin typeface="Calibri"/>
                        </a:rPr>
                        <a:t>Ingredient Combination × SPF Rating Assessment</a:t>
                      </a:r>
                      <a:endParaRPr sz="1100"/>
                    </a:p>
                  </a:txBody>
                  <a:tcPr marL="428625" marR="9525" marT="9525" marB="0" anchor="ctr"/>
                </a:tc>
              </a:tr>
              <a:tr h="175260">
                <a:tc>
                  <a:txBody>
                    <a:bodyPr wrap="square"/>
                    <a:lstStyle/>
                    <a:p>
                      <a:pPr algn="l"/>
                      <a:r>
                        <a:rPr sz="1100" b="0" i="0">
                          <a:solidFill>
                            <a:srgbClr val="0070C0"/>
                          </a:solidFill>
                          <a:latin typeface="Calibri"/>
                        </a:rPr>
                        <a:t>26.5.</a:t>
                      </a:r>
                      <a:r>
                        <a:rPr sz="700" b="0" i="0">
                          <a:solidFill>
                            <a:srgbClr val="0070C0"/>
                          </a:solidFill>
                          <a:latin typeface="Times New Roman"/>
                        </a:rPr>
                        <a:t>  </a:t>
                      </a:r>
                      <a:r>
                        <a:rPr sz="1100" b="0" i="0">
                          <a:solidFill>
                            <a:srgbClr val="0070C0"/>
                          </a:solidFill>
                          <a:latin typeface="Calibri"/>
                        </a:rPr>
                        <a:t>Ceramide Formulation Benchmarking Across Leading Brands</a:t>
                      </a:r>
                      <a:endParaRPr sz="1100"/>
                    </a:p>
                  </a:txBody>
                  <a:tcPr marL="428625" marR="9525" marT="9525" marB="0" anchor="ctr"/>
                </a:tc>
              </a:tr>
              <a:tr h="175260">
                <a:tc>
                  <a:txBody>
                    <a:bodyPr wrap="square"/>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Product Innovation and Launch Tracker</a:t>
                      </a:r>
                      <a:endParaRPr sz="1100"/>
                    </a:p>
                  </a:txBody>
                  <a:tcPr marL="171450" marR="9525" marT="9525" marB="0" anchor="ctr"/>
                </a:tc>
              </a:tr>
              <a:tr h="175260">
                <a:tc>
                  <a:txBody>
                    <a:bodyPr wrap="square"/>
                    <a:lstStyle/>
                    <a:p>
                      <a:pPr algn="l"/>
                      <a:r>
                        <a:rPr sz="1100" b="0" i="0">
                          <a:solidFill>
                            <a:srgbClr val="0070C0"/>
                          </a:solidFill>
                          <a:latin typeface="Calibri"/>
                        </a:rPr>
                        <a:t>27.1.</a:t>
                      </a:r>
                      <a:r>
                        <a:rPr sz="700" b="0" i="0">
                          <a:solidFill>
                            <a:srgbClr val="0070C0"/>
                          </a:solidFill>
                          <a:latin typeface="Times New Roman"/>
                        </a:rPr>
                        <a:t>  </a:t>
                      </a:r>
                      <a:r>
                        <a:rPr sz="1100" b="0" i="0">
                          <a:solidFill>
                            <a:srgbClr val="0070C0"/>
                          </a:solidFill>
                          <a:latin typeface="Calibri"/>
                        </a:rPr>
                        <a:t>New Product Launches by Brand and Country</a:t>
                      </a:r>
                      <a:endParaRPr sz="1100"/>
                    </a:p>
                  </a:txBody>
                  <a:tcPr marL="428625" marR="9525" marT="9525" marB="0" anchor="ctr"/>
                </a:tc>
              </a:tr>
              <a:tr h="175260">
                <a:tc>
                  <a:txBody>
                    <a:bodyPr wrap="square"/>
                    <a:lstStyle/>
                    <a:p>
                      <a:pPr algn="l"/>
                      <a:r>
                        <a:rPr sz="1100" b="0" i="0">
                          <a:solidFill>
                            <a:srgbClr val="0070C0"/>
                          </a:solidFill>
                          <a:latin typeface="Calibri"/>
                        </a:rPr>
                        <a:t>27.2.</a:t>
                      </a:r>
                      <a:r>
                        <a:rPr sz="700" b="0" i="0">
                          <a:solidFill>
                            <a:srgbClr val="0070C0"/>
                          </a:solidFill>
                          <a:latin typeface="Times New Roman"/>
                        </a:rPr>
                        <a:t>  </a:t>
                      </a:r>
                      <a:r>
                        <a:rPr sz="1100" b="0" i="0">
                          <a:solidFill>
                            <a:srgbClr val="0070C0"/>
                          </a:solidFill>
                          <a:latin typeface="Calibri"/>
                        </a:rPr>
                        <a:t>Innovation Analysis by Product Form</a:t>
                      </a:r>
                      <a:endParaRPr sz="1100"/>
                    </a:p>
                  </a:txBody>
                  <a:tcPr marL="428625" marR="9525" marT="9525" marB="0" anchor="ctr"/>
                </a:tc>
              </a:tr>
              <a:tr h="175260">
                <a:tc>
                  <a:txBody>
                    <a:bodyPr wrap="square"/>
                    <a:lstStyle/>
                    <a:p>
                      <a:pPr algn="l"/>
                      <a:r>
                        <a:rPr sz="1100" b="0" i="0">
                          <a:solidFill>
                            <a:srgbClr val="0070C0"/>
                          </a:solidFill>
                          <a:latin typeface="Calibri"/>
                        </a:rPr>
                        <a:t>27.3.</a:t>
                      </a:r>
                      <a:r>
                        <a:rPr sz="700" b="0" i="0">
                          <a:solidFill>
                            <a:srgbClr val="0070C0"/>
                          </a:solidFill>
                          <a:latin typeface="Times New Roman"/>
                        </a:rPr>
                        <a:t>  </a:t>
                      </a:r>
                      <a:r>
                        <a:rPr sz="1100" b="0" i="0">
                          <a:solidFill>
                            <a:srgbClr val="0070C0"/>
                          </a:solidFill>
                          <a:latin typeface="Calibri"/>
                        </a:rPr>
                        <a:t>Ceramide Formulation and Ingredient Innovation</a:t>
                      </a:r>
                      <a:endParaRPr sz="1100"/>
                    </a:p>
                  </a:txBody>
                  <a:tcPr marL="428625" marR="9525" marT="9525" marB="0" anchor="ctr"/>
                </a:tc>
              </a:tr>
              <a:tr h="175260">
                <a:tc>
                  <a:txBody>
                    <a:bodyPr wrap="square"/>
                    <a:lstStyle/>
                    <a:p>
                      <a:pPr algn="l"/>
                      <a:r>
                        <a:rPr sz="1100" b="0" i="0">
                          <a:solidFill>
                            <a:srgbClr val="0070C0"/>
                          </a:solidFill>
                          <a:latin typeface="Calibri"/>
                        </a:rPr>
                        <a:t>27.4.</a:t>
                      </a:r>
                      <a:r>
                        <a:rPr sz="700" b="0" i="0">
                          <a:solidFill>
                            <a:srgbClr val="0070C0"/>
                          </a:solidFill>
                          <a:latin typeface="Times New Roman"/>
                        </a:rPr>
                        <a:t>  </a:t>
                      </a:r>
                      <a:r>
                        <a:rPr sz="1100" b="0" i="0">
                          <a:solidFill>
                            <a:srgbClr val="0070C0"/>
                          </a:solidFill>
                          <a:latin typeface="Calibri"/>
                        </a:rPr>
                        <a:t>New Product Launch Benchmarking – Brand × SPF × Form × Price</a:t>
                      </a:r>
                      <a:endParaRPr sz="1100"/>
                    </a:p>
                  </a:txBody>
                  <a:tcPr marL="428625" marR="9525" marT="9525" marB="0" anchor="ctr"/>
                </a:tc>
              </a:tr>
              <a:tr h="175260">
                <a:tc>
                  <a:txBody>
                    <a:bodyPr wrap="square"/>
                    <a:lstStyle/>
                    <a:p>
                      <a:pPr algn="l"/>
                      <a:r>
                        <a:rPr sz="1100" b="0" i="0">
                          <a:solidFill>
                            <a:srgbClr val="0070C0"/>
                          </a:solidFill>
                          <a:latin typeface="Calibri"/>
                        </a:rPr>
                        <a:t>27.5.</a:t>
                      </a:r>
                      <a:r>
                        <a:rPr sz="700" b="0" i="0">
                          <a:solidFill>
                            <a:srgbClr val="0070C0"/>
                          </a:solidFill>
                          <a:latin typeface="Times New Roman"/>
                        </a:rPr>
                        <a:t>  </a:t>
                      </a:r>
                      <a:r>
                        <a:rPr sz="1100" b="0" i="0">
                          <a:solidFill>
                            <a:srgbClr val="0070C0"/>
                          </a:solidFill>
                          <a:latin typeface="Calibri"/>
                        </a:rPr>
                        <a:t>Product Innovation Gaps and Future Development Opportunities</a:t>
                      </a:r>
                      <a:endParaRPr sz="1100"/>
                    </a:p>
                  </a:txBody>
                  <a:tcPr marL="428625" marR="9525" marT="9525" marB="0" anchor="ctr"/>
                </a:tc>
              </a:tr>
              <a:tr h="175260">
                <a:tc>
                  <a:txBody>
                    <a:bodyPr wrap="square"/>
                    <a:lstStyle/>
                    <a:p>
                      <a:pPr algn="l"/>
                      <a:r>
                        <a:rPr sz="1100" b="1" i="0">
                          <a:solidFill>
                            <a:srgbClr val="000000"/>
                          </a:solidFill>
                          <a:latin typeface="Calibri"/>
                        </a:rPr>
                        <a:t>28.</a:t>
                      </a:r>
                      <a:r>
                        <a:rPr sz="700" b="1" i="0">
                          <a:solidFill>
                            <a:srgbClr val="000000"/>
                          </a:solidFill>
                          <a:latin typeface="Times New Roman"/>
                        </a:rPr>
                        <a:t>    </a:t>
                      </a:r>
                      <a:r>
                        <a:rPr sz="1100" b="1" i="0">
                          <a:solidFill>
                            <a:srgbClr val="000000"/>
                          </a:solidFill>
                          <a:latin typeface="Calibri"/>
                        </a:rPr>
                        <a:t>Growth Opportunity and Market Entry Assessment</a:t>
                      </a:r>
                      <a:endParaRPr sz="1100"/>
                    </a:p>
                  </a:txBody>
                  <a:tcPr marL="171450" marR="9525" marT="9525" marB="0" anchor="ctr"/>
                </a:tc>
              </a:tr>
              <a:tr h="175260">
                <a:tc>
                  <a:txBody>
                    <a:bodyPr wrap="square"/>
                    <a:lstStyle/>
                    <a:p>
                      <a:pPr algn="l"/>
                      <a:r>
                        <a:rPr sz="1100" b="0" i="0">
                          <a:solidFill>
                            <a:srgbClr val="0070C0"/>
                          </a:solidFill>
                          <a:latin typeface="Calibri"/>
                        </a:rPr>
                        <a:t>28.1.</a:t>
                      </a:r>
                      <a:r>
                        <a:rPr sz="700" b="0" i="0">
                          <a:solidFill>
                            <a:srgbClr val="0070C0"/>
                          </a:solidFill>
                          <a:latin typeface="Times New Roman"/>
                        </a:rPr>
                        <a:t>  </a:t>
                      </a:r>
                      <a:r>
                        <a:rPr sz="1100" b="0" i="0">
                          <a:solidFill>
                            <a:srgbClr val="0070C0"/>
                          </a:solidFill>
                          <a:latin typeface="Calibri"/>
                        </a:rPr>
                        <a:t>High-potential Country and Regional Market Identification</a:t>
                      </a:r>
                      <a:endParaRPr sz="1100"/>
                    </a:p>
                  </a:txBody>
                  <a:tcPr marL="428625" marR="9525" marT="9525" marB="0" anchor="ctr"/>
                </a:tc>
              </a:tr>
              <a:tr h="175260">
                <a:tc>
                  <a:txBody>
                    <a:bodyPr wrap="square"/>
                    <a:lstStyle/>
                    <a:p>
                      <a:pPr algn="l"/>
                      <a:r>
                        <a:rPr sz="1100" b="0" i="0">
                          <a:solidFill>
                            <a:srgbClr val="0070C0"/>
                          </a:solidFill>
                          <a:latin typeface="Calibri"/>
                        </a:rPr>
                        <a:t>28.2.</a:t>
                      </a:r>
                      <a:r>
                        <a:rPr sz="700" b="0" i="0">
                          <a:solidFill>
                            <a:srgbClr val="0070C0"/>
                          </a:solidFill>
                          <a:latin typeface="Times New Roman"/>
                        </a:rPr>
                        <a:t>  </a:t>
                      </a:r>
                      <a:r>
                        <a:rPr sz="1100" b="0" i="0">
                          <a:solidFill>
                            <a:srgbClr val="0070C0"/>
                          </a:solidFill>
                          <a:latin typeface="Calibri"/>
                        </a:rPr>
                        <a:t>Product Type × SPF Rating Opportunity Matrix</a:t>
                      </a:r>
                      <a:endParaRPr sz="1100"/>
                    </a:p>
                  </a:txBody>
                  <a:tcPr marL="428625" marR="9525" marT="9525" marB="0" anchor="ctr"/>
                </a:tc>
              </a:tr>
              <a:tr h="175260">
                <a:tc>
                  <a:txBody>
                    <a:bodyPr wrap="square"/>
                    <a:lstStyle/>
                    <a:p>
                      <a:pPr algn="l"/>
                      <a:r>
                        <a:rPr sz="1100" b="0" i="0">
                          <a:solidFill>
                            <a:srgbClr val="0070C0"/>
                          </a:solidFill>
                          <a:latin typeface="Calibri"/>
                        </a:rPr>
                        <a:t>28.3.</a:t>
                      </a:r>
                      <a:r>
                        <a:rPr sz="700" b="0" i="0">
                          <a:solidFill>
                            <a:srgbClr val="0070C0"/>
                          </a:solidFill>
                          <a:latin typeface="Times New Roman"/>
                        </a:rPr>
                        <a:t>  </a:t>
                      </a:r>
                      <a:r>
                        <a:rPr sz="1100" b="0" i="0">
                          <a:solidFill>
                            <a:srgbClr val="0070C0"/>
                          </a:solidFill>
                          <a:latin typeface="Calibri"/>
                        </a:rPr>
                        <a:t>Ceramide Ingredient Complexity × Price Tier Opportunity Matrix</a:t>
                      </a:r>
                      <a:endParaRPr sz="1100"/>
                    </a:p>
                  </a:txBody>
                  <a:tcPr marL="428625" marR="9525" marT="9525" marB="0" anchor="ctr"/>
                </a:tc>
              </a:tr>
              <a:tr h="175260">
                <a:tc>
                  <a:txBody>
                    <a:bodyPr wrap="square"/>
                    <a:lstStyle/>
                    <a:p>
                      <a:pPr algn="l"/>
                      <a:r>
                        <a:rPr sz="1100" b="0" i="0">
                          <a:solidFill>
                            <a:srgbClr val="0070C0"/>
                          </a:solidFill>
                          <a:latin typeface="Calibri"/>
                        </a:rPr>
                        <a:t>28.4.</a:t>
                      </a:r>
                      <a:r>
                        <a:rPr sz="700" b="0" i="0">
                          <a:solidFill>
                            <a:srgbClr val="0070C0"/>
                          </a:solidFill>
                          <a:latin typeface="Times New Roman"/>
                        </a:rPr>
                        <a:t>  </a:t>
                      </a:r>
                      <a:r>
                        <a:rPr sz="1100" b="0" i="0">
                          <a:solidFill>
                            <a:srgbClr val="0070C0"/>
                          </a:solidFill>
                          <a:latin typeface="Calibri"/>
                        </a:rPr>
                        <a:t>Product Form × Consumer Skin Type Opportunity Assessment</a:t>
                      </a:r>
                      <a:endParaRPr sz="1100"/>
                    </a:p>
                  </a:txBody>
                  <a:tcPr marL="428625" marR="9525" marT="9525" marB="0" anchor="ctr"/>
                </a:tc>
              </a:tr>
              <a:tr h="175260">
                <a:tc>
                  <a:txBody>
                    <a:bodyPr wrap="square"/>
                    <a:lstStyle/>
                    <a:p>
                      <a:pPr algn="l"/>
                      <a:r>
                        <a:rPr sz="1100" b="0" i="0">
                          <a:solidFill>
                            <a:srgbClr val="0070C0"/>
                          </a:solidFill>
                          <a:latin typeface="Calibri"/>
                        </a:rPr>
                        <a:t>28.5.</a:t>
                      </a:r>
                      <a:r>
                        <a:rPr sz="700" b="0" i="0">
                          <a:solidFill>
                            <a:srgbClr val="0070C0"/>
                          </a:solidFill>
                          <a:latin typeface="Times New Roman"/>
                        </a:rPr>
                        <a:t>  </a:t>
                      </a:r>
                      <a:r>
                        <a:rPr sz="1100" b="0" i="0">
                          <a:solidFill>
                            <a:srgbClr val="0070C0"/>
                          </a:solidFill>
                          <a:latin typeface="Calibri"/>
                        </a:rPr>
                        <a:t>Strategic Recommendations for Product Development, Pricing and Distribution</a:t>
                      </a:r>
                      <a:endParaRPr sz="1100"/>
                    </a:p>
                  </a:txBody>
                  <a:tcPr marL="428625" marR="9525" marT="9525" marB="0" anchor="ctr"/>
                </a:tc>
              </a:tr>
              <a:tr h="175260">
                <a:tc>
                  <a:txBody>
                    <a:bodyPr wrap="square"/>
                    <a:lstStyle/>
                    <a:p>
                      <a:pPr algn="l"/>
                      <a:r>
                        <a:rPr sz="1100" b="1" i="0">
                          <a:solidFill>
                            <a:srgbClr val="000000"/>
                          </a:solidFill>
                          <a:latin typeface="Calibri"/>
                        </a:rPr>
                        <a:t>Section 7: Competition Assessment</a:t>
                      </a:r>
                      <a:endParaRPr sz="1100"/>
                    </a:p>
                  </a:txBody>
                  <a:tcPr marL="9525" marR="9525" marT="9525" marB="0" anchor="ctr"/>
                </a:tc>
              </a:tr>
              <a:tr h="175260">
                <a:tc>
                  <a:txBody>
                    <a:bodyPr wrap="square"/>
                    <a:lstStyle/>
                    <a:p>
                      <a:pPr algn="l"/>
                      <a:r>
                        <a:rPr sz="1100" b="1" i="0">
                          <a:solidFill>
                            <a:srgbClr val="000000"/>
                          </a:solidFill>
                          <a:latin typeface="Calibri"/>
                        </a:rPr>
                        <a:t>29.</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tr>
              <a:tr h="175260">
                <a:tc>
                  <a:txBody>
                    <a:bodyPr wrap="square"/>
                    <a:lstStyle/>
                    <a:p>
                      <a:pPr algn="l"/>
                      <a:r>
                        <a:rPr sz="1100" b="1" i="0">
                          <a:solidFill>
                            <a:srgbClr val="000000"/>
                          </a:solidFill>
                          <a:latin typeface="Calibri"/>
                        </a:rPr>
                        <a:t>30.</a:t>
                      </a:r>
                      <a:r>
                        <a:rPr sz="700" b="1" i="0">
                          <a:solidFill>
                            <a:srgbClr val="000000"/>
                          </a:solidFill>
                          <a:latin typeface="Times New Roman"/>
                        </a:rPr>
                        <a:t>    </a:t>
                      </a:r>
                      <a:r>
                        <a:rPr sz="1100" b="1" i="0">
                          <a:solidFill>
                            <a:srgbClr val="000000"/>
                          </a:solidFill>
                          <a:latin typeface="Calibri"/>
                        </a:rPr>
                        <a:t>Brand Share (%) Analysis, 2023, 2025, 2026</a:t>
                      </a:r>
                      <a:endParaRPr sz="1100"/>
                    </a:p>
                  </a:txBody>
                  <a:tcPr marL="171450" marR="9525" marT="9525" marB="0" anchor="ctr"/>
                </a:tc>
              </a:tr>
              <a:tr h="175260">
                <a:tc>
                  <a:txBody>
                    <a:bodyPr wrap="square"/>
                    <a:lstStyle/>
                    <a:p>
                      <a:pPr algn="l"/>
                      <a:r>
                        <a:rPr sz="1100" b="0" i="0">
                          <a:solidFill>
                            <a:srgbClr val="0070C0"/>
                          </a:solidFill>
                          <a:latin typeface="Calibri"/>
                        </a:rPr>
                        <a:t>30.1.</a:t>
                      </a:r>
                      <a:r>
                        <a:rPr sz="700" b="0" i="0">
                          <a:solidFill>
                            <a:srgbClr val="0070C0"/>
                          </a:solidFill>
                          <a:latin typeface="Times New Roman"/>
                        </a:rPr>
                        <a:t>  </a:t>
                      </a:r>
                      <a:r>
                        <a:rPr sz="1100" b="0" i="0">
                          <a:solidFill>
                            <a:srgbClr val="0070C0"/>
                          </a:solidFill>
                          <a:latin typeface="Calibri"/>
                        </a:rPr>
                        <a:t>By Country</a:t>
                      </a:r>
                      <a:endParaRPr sz="1100"/>
                    </a:p>
                  </a:txBody>
                  <a:tcPr marL="428625" marR="9525" marT="9525" marB="0" anchor="ctr"/>
                </a:tc>
              </a:tr>
              <a:tr h="175260">
                <a:tc>
                  <a:txBody>
                    <a:bodyPr wrap="square"/>
                    <a:lstStyle/>
                    <a:p>
                      <a:pPr algn="l"/>
                      <a:r>
                        <a:rPr sz="1100" b="0" i="0">
                          <a:solidFill>
                            <a:srgbClr val="0070C0"/>
                          </a:solidFill>
                          <a:latin typeface="Calibri"/>
                        </a:rPr>
                        <a:t>30.2.</a:t>
                      </a:r>
                      <a:r>
                        <a:rPr sz="700" b="0" i="0">
                          <a:solidFill>
                            <a:srgbClr val="0070C0"/>
                          </a:solidFill>
                          <a:latin typeface="Times New Roman"/>
                        </a:rPr>
                        <a:t>  </a:t>
                      </a:r>
                      <a:r>
                        <a:rPr sz="1100" b="0" i="0">
                          <a:solidFill>
                            <a:srgbClr val="0070C0"/>
                          </a:solidFill>
                          <a:latin typeface="Calibri"/>
                        </a:rPr>
                        <a:t>By Product Type</a:t>
                      </a:r>
                      <a:endParaRPr sz="1100"/>
                    </a:p>
                  </a:txBody>
                  <a:tcPr marL="428625" marR="9525" marT="9525" marB="0" anchor="ctr"/>
                </a:tc>
              </a:tr>
              <a:tr h="175260">
                <a:tc>
                  <a:txBody>
                    <a:bodyPr wrap="square"/>
                    <a:lstStyle/>
                    <a:p>
                      <a:pPr algn="l"/>
                      <a:r>
                        <a:rPr sz="1100" b="0" i="0">
                          <a:solidFill>
                            <a:srgbClr val="0070C0"/>
                          </a:solidFill>
                          <a:latin typeface="Calibri"/>
                        </a:rPr>
                        <a:t>30.3.</a:t>
                      </a:r>
                      <a:r>
                        <a:rPr sz="700" b="0" i="0">
                          <a:solidFill>
                            <a:srgbClr val="0070C0"/>
                          </a:solidFill>
                          <a:latin typeface="Times New Roman"/>
                        </a:rPr>
                        <a:t>  </a:t>
                      </a:r>
                      <a:r>
                        <a:rPr sz="1100" b="0" i="0">
                          <a:solidFill>
                            <a:srgbClr val="0070C0"/>
                          </a:solidFill>
                          <a:latin typeface="Calibri"/>
                        </a:rPr>
                        <a:t>Sales Channel</a:t>
                      </a:r>
                      <a:endParaRPr sz="1100"/>
                    </a:p>
                  </a:txBody>
                  <a:tcPr marL="428625" marR="9525" marT="9525" marB="0" anchor="ctr"/>
                </a:tc>
              </a:tr>
              <a:tr h="175260">
                <a:tc>
                  <a:txBody>
                    <a:bodyPr wrap="square"/>
                    <a:lstStyle/>
                    <a:p>
                      <a:pPr algn="l"/>
                      <a:r>
                        <a:rPr sz="1100" b="1" i="0">
                          <a:solidFill>
                            <a:srgbClr val="000000"/>
                          </a:solidFill>
                          <a:latin typeface="Calibri"/>
                        </a:rPr>
                        <a:t>31.</a:t>
                      </a:r>
                      <a:r>
                        <a:rPr sz="700" b="1" i="0">
                          <a:solidFill>
                            <a:srgbClr val="000000"/>
                          </a:solidFill>
                          <a:latin typeface="Times New Roman"/>
                        </a:rPr>
                        <a:t>    </a:t>
                      </a:r>
                      <a:r>
                        <a:rPr sz="1100" b="1" i="0">
                          <a:solidFill>
                            <a:srgbClr val="000000"/>
                          </a:solidFill>
                          <a:latin typeface="Calibri"/>
                        </a:rPr>
                        <a:t>Brand Share Breakdown (2026)</a:t>
                      </a:r>
                      <a:endParaRPr sz="1100"/>
                    </a:p>
                  </a:txBody>
                  <a:tcPr marL="171450" marR="9525" marT="9525" marB="0" anchor="ctr"/>
                </a:tc>
              </a:tr>
              <a:tr h="175260">
                <a:tc>
                  <a:txBody>
                    <a:bodyPr wrap="square"/>
                    <a:lstStyle/>
                    <a:p>
                      <a:pPr algn="l"/>
                      <a:r>
                        <a:rPr sz="1100" b="0" i="0">
                          <a:solidFill>
                            <a:srgbClr val="0070C0"/>
                          </a:solidFill>
                          <a:latin typeface="Calibri"/>
                        </a:rPr>
                        <a:t>31.1.</a:t>
                      </a:r>
                      <a:r>
                        <a:rPr sz="700" b="0" i="0">
                          <a:solidFill>
                            <a:srgbClr val="0070C0"/>
                          </a:solidFill>
                          <a:latin typeface="Times New Roman"/>
                        </a:rPr>
                        <a:t>  </a:t>
                      </a:r>
                      <a:r>
                        <a:rPr sz="1100" b="0" i="0">
                          <a:solidFill>
                            <a:srgbClr val="0070C0"/>
                          </a:solidFill>
                          <a:latin typeface="Calibri"/>
                        </a:rPr>
                        <a:t>Top Players (Tier 1)</a:t>
                      </a:r>
                      <a:endParaRPr sz="1100"/>
                    </a:p>
                  </a:txBody>
                  <a:tcPr marL="428625" marR="9525" marT="9525" marB="0" anchor="ctr"/>
                </a:tc>
              </a:tr>
              <a:tr h="175260">
                <a:tc>
                  <a:txBody>
                    <a:bodyPr wrap="square"/>
                    <a:lstStyle/>
                    <a:p>
                      <a:pPr algn="l"/>
                      <a:r>
                        <a:rPr sz="1100" b="0" i="0">
                          <a:solidFill>
                            <a:srgbClr val="0070C0"/>
                          </a:solidFill>
                          <a:latin typeface="Calibri"/>
                        </a:rPr>
                        <a:t>31.2.</a:t>
                      </a:r>
                      <a:r>
                        <a:rPr sz="700" b="0" i="0">
                          <a:solidFill>
                            <a:srgbClr val="0070C0"/>
                          </a:solidFill>
                          <a:latin typeface="Times New Roman"/>
                        </a:rPr>
                        <a:t>  </a:t>
                      </a:r>
                      <a:r>
                        <a:rPr sz="1100" b="0" i="0">
                          <a:solidFill>
                            <a:srgbClr val="0070C0"/>
                          </a:solidFill>
                          <a:latin typeface="Calibri"/>
                        </a:rPr>
                        <a:t>Mid-Sized Players (Tier 2)</a:t>
                      </a:r>
                      <a:endParaRPr sz="1100"/>
                    </a:p>
                  </a:txBody>
                  <a:tcPr marL="428625" marR="9525" marT="9525" marB="0" anchor="ctr"/>
                </a:tc>
              </a:tr>
              <a:tr h="175260">
                <a:tc>
                  <a:txBody>
                    <a:bodyPr wrap="square"/>
                    <a:lstStyle/>
                    <a:p>
                      <a:pPr algn="l"/>
                      <a:r>
                        <a:rPr sz="1100" b="0" i="0">
                          <a:solidFill>
                            <a:srgbClr val="0070C0"/>
                          </a:solidFill>
                          <a:latin typeface="Calibri"/>
                        </a:rPr>
                        <a:t>31.3.</a:t>
                      </a:r>
                      <a:r>
                        <a:rPr sz="700" b="0" i="0">
                          <a:solidFill>
                            <a:srgbClr val="0070C0"/>
                          </a:solidFill>
                          <a:latin typeface="Times New Roman"/>
                        </a:rPr>
                        <a:t>  </a:t>
                      </a:r>
                      <a:r>
                        <a:rPr sz="1100" b="0" i="0">
                          <a:solidFill>
                            <a:srgbClr val="0070C0"/>
                          </a:solidFill>
                          <a:latin typeface="Calibri"/>
                        </a:rPr>
                        <a:t>Emerging/Local Players (Tier 3)</a:t>
                      </a:r>
                      <a:endParaRPr sz="1100"/>
                    </a:p>
                  </a:txBody>
                  <a:tcPr marL="428625" marR="9525" marT="9525" marB="0" anchor="ctr"/>
                </a:tc>
              </a:tr>
              <a:tr h="175260">
                <a:tc>
                  <a:txBody>
                    <a:bodyPr wrap="square"/>
                    <a:lstStyle/>
                    <a:p>
                      <a:pPr algn="l"/>
                      <a:r>
                        <a:rPr sz="1100" b="1" i="0">
                          <a:solidFill>
                            <a:srgbClr val="000000"/>
                          </a:solidFill>
                          <a:latin typeface="Calibri"/>
                        </a:rPr>
                        <a:t>32.</a:t>
                      </a:r>
                      <a:r>
                        <a:rPr sz="700" b="1" i="0">
                          <a:solidFill>
                            <a:srgbClr val="000000"/>
                          </a:solidFill>
                          <a:latin typeface="Times New Roman"/>
                        </a:rPr>
                        <a:t>    </a:t>
                      </a:r>
                      <a:r>
                        <a:rPr sz="1100" b="1" i="0">
                          <a:solidFill>
                            <a:srgbClr val="000000"/>
                          </a:solidFill>
                          <a:latin typeface="Calibri"/>
                        </a:rPr>
                        <a:t>Company Profile- MNCs</a:t>
                      </a:r>
                      <a:endParaRPr sz="1100"/>
                    </a:p>
                  </a:txBody>
                  <a:tcPr marL="171450" marR="9525" marT="9525" marB="0" anchor="ctr"/>
                </a:tc>
              </a:tr>
              <a:tr h="175260">
                <a:tc>
                  <a:txBody>
                    <a:bodyPr wrap="square"/>
                    <a:lstStyle/>
                    <a:p>
                      <a:pPr algn="l"/>
                      <a:r>
                        <a:rPr sz="1100" b="0" i="0">
                          <a:solidFill>
                            <a:srgbClr val="0070C0"/>
                          </a:solidFill>
                          <a:latin typeface="Calibri"/>
                        </a:rPr>
                        <a:t>32.1.</a:t>
                      </a:r>
                      <a:r>
                        <a:rPr sz="700" b="0" i="0">
                          <a:solidFill>
                            <a:srgbClr val="0070C0"/>
                          </a:solidFill>
                          <a:latin typeface="Times New Roman"/>
                        </a:rPr>
                        <a:t>  </a:t>
                      </a:r>
                      <a:r>
                        <a:rPr sz="1100" b="0" i="0">
                          <a:solidFill>
                            <a:srgbClr val="0070C0"/>
                          </a:solidFill>
                          <a:latin typeface="Calibri"/>
                        </a:rPr>
                        <a:t>L'Oréal S.A. (CeraVe)</a:t>
                      </a:r>
                      <a:endParaRPr sz="1100"/>
                    </a:p>
                  </a:txBody>
                  <a:tcPr marL="428625" marR="9525" marT="9525" marB="0" anchor="ctr"/>
                </a:tc>
              </a:tr>
              <a:tr h="175260">
                <a:tc>
                  <a:txBody>
                    <a:bodyPr wrap="square"/>
                    <a:lstStyle/>
                    <a:p>
                      <a:pPr algn="l"/>
                      <a:r>
                        <a:rPr sz="1100" b="0" i="0">
                          <a:solidFill>
                            <a:srgbClr val="000000"/>
                          </a:solidFill>
                          <a:latin typeface="Calibri"/>
                        </a:rPr>
                        <a:t>32.1.1.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(8/8)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32.1.2.</a:t>
                      </a:r>
                      <a:r>
                        <a:rPr sz="700" b="0" i="0">
                          <a:solidFill>
                            <a:srgbClr val="000000"/>
                          </a:solidFill>
                          <a:latin typeface="Times New Roman"/>
                        </a:rPr>
                        <a:t> </a:t>
                      </a:r>
                      <a:r>
                        <a:rPr sz="1100" b="0" i="0">
                          <a:solidFill>
                            <a:srgbClr val="000000"/>
                          </a:solidFill>
                          <a:latin typeface="Calibri"/>
                        </a:rPr>
                        <a:t>Market Segments</a:t>
                      </a:r>
                      <a:endParaRPr sz="1100"/>
                    </a:p>
                  </a:txBody>
                  <a:tcPr marL="771525" marR="9525" marT="9525" marB="0" anchor="ctr"/>
                </a:tc>
              </a:tr>
              <a:tr h="175260">
                <a:tc>
                  <a:txBody>
                    <a:bodyPr wrap="square"/>
                    <a:lstStyle/>
                    <a:p>
                      <a:pPr algn="l"/>
                      <a:r>
                        <a:rPr sz="1100" b="0" i="1">
                          <a:solidFill>
                            <a:srgbClr val="000000"/>
                          </a:solidFill>
                          <a:latin typeface="Calibri"/>
                        </a:rPr>
                        <a:t>32.1.2.1.</a:t>
                      </a:r>
                      <a:r>
                        <a:rPr sz="700" b="0" i="1">
                          <a:solidFill>
                            <a:srgbClr val="000000"/>
                          </a:solidFill>
                          <a:latin typeface="Times New Roman"/>
                        </a:rPr>
                        <a:t> </a:t>
                      </a:r>
                      <a:r>
                        <a:rPr sz="1100" b="0" i="1">
                          <a:solidFill>
                            <a:srgbClr val="000000"/>
                          </a:solidFill>
                          <a:latin typeface="Calibri"/>
                        </a:rPr>
                        <a:t>Product Sales</a:t>
                      </a:r>
                      <a:endParaRPr sz="1100"/>
                    </a:p>
                  </a:txBody>
                  <a:tcPr marL="1028700" marR="9525" marT="9525" marB="0" anchor="ctr"/>
                </a:tc>
              </a:tr>
              <a:tr h="175260">
                <a:tc>
                  <a:txBody>
                    <a:bodyPr wrap="square"/>
                    <a:lstStyle/>
                    <a:p>
                      <a:pPr algn="l"/>
                      <a:r>
                        <a:rPr sz="1100" b="0" i="1">
                          <a:solidFill>
                            <a:srgbClr val="000000"/>
                          </a:solidFill>
                          <a:latin typeface="Calibri"/>
                        </a:rPr>
                        <a:t>32.1.2.2.</a:t>
                      </a:r>
                      <a:r>
                        <a:rPr sz="700" b="0" i="1">
                          <a:solidFill>
                            <a:srgbClr val="000000"/>
                          </a:solidFill>
                          <a:latin typeface="Times New Roman"/>
                        </a:rPr>
                        <a:t> </a:t>
                      </a:r>
                      <a:r>
                        <a:rPr sz="1100" b="0" i="1">
                          <a:solidFill>
                            <a:srgbClr val="000000"/>
                          </a:solidFill>
                          <a:latin typeface="Calibri"/>
                        </a:rPr>
                        <a:t>Channel Sales</a:t>
                      </a:r>
                      <a:endParaRPr sz="1100"/>
                    </a:p>
                  </a:txBody>
                  <a:tcPr marL="1028700" marR="9525" marT="9525" marB="0" anchor="ctr"/>
                </a:tc>
              </a:tr>
              <a:tr h="175260">
                <a:tc>
                  <a:txBody>
                    <a:bodyPr wrap="square"/>
                    <a:lstStyle/>
                    <a:p>
                      <a:pPr algn="l"/>
                      <a:r>
                        <a:rPr sz="1100" b="0" i="1">
                          <a:solidFill>
                            <a:srgbClr val="000000"/>
                          </a:solidFill>
                          <a:latin typeface="Calibri"/>
                        </a:rPr>
                        <a:t>32.1.2.3.</a:t>
                      </a:r>
                      <a:r>
                        <a:rPr sz="700" b="0" i="1">
                          <a:solidFill>
                            <a:srgbClr val="000000"/>
                          </a:solidFill>
                          <a:latin typeface="Times New Roman"/>
                        </a:rPr>
                        <a:t> </a:t>
                      </a:r>
                      <a:r>
                        <a:rPr sz="1100" b="0" i="1">
                          <a:solidFill>
                            <a:srgbClr val="000000"/>
                          </a:solidFill>
                          <a:latin typeface="Calibri"/>
                        </a:rPr>
                        <a:t>Regional Sales</a:t>
                      </a:r>
                      <a:endParaRPr sz="1100"/>
                    </a:p>
                  </a:txBody>
                  <a:tcPr marL="1028700" marR="9525" marT="9525" marB="0" anchor="ctr"/>
                </a:tc>
              </a:tr>
              <a:tr h="175260">
                <a:tc>
                  <a:txBody>
                    <a:bodyPr wrap="square"/>
                    <a:lstStyle/>
                    <a:p>
                      <a:pPr algn="l"/>
                      <a:r>
                        <a:rPr sz="1100" b="0" i="0">
                          <a:solidFill>
                            <a:srgbClr val="000000"/>
                          </a:solidFill>
                          <a:latin typeface="Calibri"/>
                        </a:rPr>
                        <a:t>32.1.3.</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tr>
              <a:tr h="175260">
                <a:tc>
                  <a:txBody>
                    <a:bodyPr wrap="square"/>
                    <a:lstStyle/>
                    <a:p>
                      <a:pPr algn="l"/>
                      <a:r>
                        <a:rPr sz="1100" b="0" i="0">
                          <a:solidFill>
                            <a:srgbClr val="000000"/>
                          </a:solidFill>
                          <a:latin typeface="Calibri"/>
                        </a:rPr>
                        <a:t>32.1.4.</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tr>
              <a:tr h="175260">
                <a:tc>
                  <a:txBody>
                    <a:bodyPr wrap="square"/>
                    <a:lstStyle/>
                    <a:p>
                      <a:pPr algn="l"/>
                      <a:r>
                        <a:rPr sz="1100" b="0" i="1">
                          <a:solidFill>
                            <a:srgbClr val="000000"/>
                          </a:solidFill>
                          <a:latin typeface="Calibri"/>
                        </a:rPr>
                        <a:t>32.1.4.1.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tr>
              <a:tr h="175260">
                <a:tc>
                  <a:txBody>
                    <a:bodyPr wrap="square"/>
                    <a:lstStyle/>
                    <a:p>
                      <a:pPr algn="l"/>
                      <a:r>
                        <a:rPr sz="1100" b="0" i="1">
                          <a:solidFill>
                            <a:srgbClr val="000000"/>
                          </a:solidFill>
                          <a:latin typeface="Calibri"/>
                        </a:rPr>
                        <a:t>32.1.4.2.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tr>
              <a:tr h="175260">
                <a:tc>
                  <a:txBody>
                    <a:bodyPr wrap="square"/>
                    <a:lstStyle/>
                    <a:p>
                      <a:pPr algn="l"/>
                      <a:r>
                        <a:rPr sz="1100" b="0" i="1">
                          <a:solidFill>
                            <a:srgbClr val="000000"/>
                          </a:solidFill>
                          <a:latin typeface="Calibri"/>
                        </a:rPr>
                        <a:t>32.1.4.3.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tr>
              <a:tr h="175260">
                <a:tc>
                  <a:txBody>
                    <a:bodyPr wrap="square"/>
                    <a:lstStyle/>
                    <a:p>
                      <a:pPr algn="l"/>
                      <a:r>
                        <a:rPr sz="1100" b="0" i="1">
                          <a:solidFill>
                            <a:srgbClr val="000000"/>
                          </a:solidFill>
                          <a:latin typeface="Calibri"/>
                        </a:rPr>
                        <a:t>32.1.4.4.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tr>
              <a:tr h="175260">
                <a:tc>
                  <a:txBody>
                    <a:bodyPr wrap="square"/>
                    <a:lstStyle/>
                    <a:p>
                      <a:pPr algn="l"/>
                      <a:r>
                        <a:rPr sz="1100" b="0" i="0">
                          <a:solidFill>
                            <a:srgbClr val="000000"/>
                          </a:solidFill>
                          <a:latin typeface="Calibri"/>
                        </a:rPr>
                        <a:t>32.1.5.</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tr>
              <a:tr h="175260">
                <a:tc>
                  <a:txBody>
                    <a:bodyPr wrap="square"/>
                    <a:lstStyle/>
                    <a:p>
                      <a:pPr algn="l"/>
                      <a:r>
                        <a:rPr sz="1100" b="0" i="0">
                          <a:solidFill>
                            <a:srgbClr val="000000"/>
                          </a:solidFill>
                          <a:latin typeface="Calibri"/>
                        </a:rPr>
                        <a:t>32.1.6.</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tr>
              <a:tr h="175260">
                <a:tc>
                  <a:txBody>
                    <a:bodyPr wrap="square"/>
                    <a:lstStyle/>
                    <a:p>
                      <a:pPr algn="l"/>
                      <a:r>
                        <a:rPr sz="1100" b="0" i="1">
                          <a:solidFill>
                            <a:srgbClr val="EE0000"/>
                          </a:solidFill>
                          <a:latin typeface="Calibri"/>
                        </a:rPr>
                        <a:t>Note: All companies shall be indicated in similar manner</a:t>
                      </a:r>
                      <a:endParaRPr sz="1100"/>
                    </a:p>
                  </a:txBody>
                  <a:tcPr marL="9525" marR="9525" marT="9525" marB="0" anchor="ctr"/>
                </a:tc>
              </a:tr>
              <a:tr h="175260">
                <a:tc>
                  <a:txBody>
                    <a:bodyPr wrap="square"/>
                    <a:lstStyle/>
                    <a:p>
                      <a:pPr algn="l"/>
                      <a:r>
                        <a:rPr sz="1100" b="0" i="0">
                          <a:solidFill>
                            <a:srgbClr val="0070C0"/>
                          </a:solidFill>
                          <a:latin typeface="Calibri"/>
                        </a:rPr>
                        <a:t>32.2.</a:t>
                      </a:r>
                      <a:r>
                        <a:rPr sz="700" b="0" i="0">
                          <a:solidFill>
                            <a:srgbClr val="0070C0"/>
                          </a:solidFill>
                          <a:latin typeface="Times New Roman"/>
                        </a:rPr>
                        <a:t>  </a:t>
                      </a:r>
                      <a:r>
                        <a:rPr sz="1100" b="0" i="0">
                          <a:solidFill>
                            <a:srgbClr val="0070C0"/>
                          </a:solidFill>
                          <a:latin typeface="Calibri"/>
                        </a:rPr>
                        <a:t>Galderma Group AG (Cetaphil)</a:t>
                      </a:r>
                      <a:endParaRPr sz="1100"/>
                    </a:p>
                  </a:txBody>
                  <a:tcPr marL="428625" marR="9525" marT="9525" marB="0" anchor="ctr"/>
                </a:tc>
              </a:tr>
              <a:tr h="175260">
                <a:tc>
                  <a:txBody>
                    <a:bodyPr wrap="square"/>
                    <a:lstStyle/>
                    <a:p>
                      <a:pPr algn="l"/>
                      <a:r>
                        <a:rPr sz="1100" b="0" i="0">
                          <a:solidFill>
                            <a:srgbClr val="0070C0"/>
                          </a:solidFill>
                          <a:latin typeface="Calibri"/>
                        </a:rPr>
                        <a:t>32.3.</a:t>
                      </a:r>
                      <a:r>
                        <a:rPr sz="700" b="0" i="0">
                          <a:solidFill>
                            <a:srgbClr val="0070C0"/>
                          </a:solidFill>
                          <a:latin typeface="Times New Roman"/>
                        </a:rPr>
                        <a:t>  </a:t>
                      </a:r>
                      <a:r>
                        <a:rPr sz="1100" b="0" i="0">
                          <a:solidFill>
                            <a:srgbClr val="0070C0"/>
                          </a:solidFill>
                          <a:latin typeface="Calibri"/>
                        </a:rPr>
                        <a:t>Honasa Consumer Limited (Dr. Sheth's)</a:t>
                      </a:r>
                      <a:endParaRPr sz="1100"/>
                    </a:p>
                  </a:txBody>
                  <a:tcPr marL="428625" marR="9525" marT="9525" marB="0" anchor="ctr"/>
                </a:tc>
              </a:tr>
              <a:tr h="175260">
                <a:tc>
                  <a:txBody>
                    <a:bodyPr wrap="square"/>
                    <a:lstStyle/>
                    <a:p>
                      <a:pPr algn="l"/>
                      <a:r>
                        <a:rPr sz="1100" b="0" i="0">
                          <a:solidFill>
                            <a:srgbClr val="0070C0"/>
                          </a:solidFill>
                          <a:latin typeface="Calibri"/>
                        </a:rPr>
                        <a:t>32.4.</a:t>
                      </a:r>
                      <a:r>
                        <a:rPr sz="700" b="0" i="0">
                          <a:solidFill>
                            <a:srgbClr val="0070C0"/>
                          </a:solidFill>
                          <a:latin typeface="Times New Roman"/>
                        </a:rPr>
                        <a:t>  </a:t>
                      </a:r>
                      <a:r>
                        <a:rPr sz="1100" b="0" i="0">
                          <a:solidFill>
                            <a:srgbClr val="0070C0"/>
                          </a:solidFill>
                          <a:latin typeface="Calibri"/>
                        </a:rPr>
                        <a:t>Unilever PLC (Lakmé)</a:t>
                      </a:r>
                      <a:endParaRPr sz="1100"/>
                    </a:p>
                  </a:txBody>
                  <a:tcPr marL="428625" marR="9525" marT="9525" marB="0" anchor="ctr"/>
                </a:tc>
              </a:tr>
              <a:tr h="175260">
                <a:tc>
                  <a:txBody>
                    <a:bodyPr wrap="square"/>
                    <a:lstStyle/>
                    <a:p>
                      <a:pPr algn="l"/>
                      <a:r>
                        <a:rPr sz="1100" b="0" i="0">
                          <a:solidFill>
                            <a:srgbClr val="0070C0"/>
                          </a:solidFill>
                          <a:latin typeface="Calibri"/>
                        </a:rPr>
                        <a:t>32.5.</a:t>
                      </a:r>
                      <a:r>
                        <a:rPr sz="700" b="0" i="0">
                          <a:solidFill>
                            <a:srgbClr val="0070C0"/>
                          </a:solidFill>
                          <a:latin typeface="Times New Roman"/>
                        </a:rPr>
                        <a:t>  </a:t>
                      </a:r>
                      <a:r>
                        <a:rPr sz="1100" b="0" i="0">
                          <a:solidFill>
                            <a:srgbClr val="0070C0"/>
                          </a:solidFill>
                          <a:latin typeface="Calibri"/>
                        </a:rPr>
                        <a:t>Pharmaceutical Specialties, Inc. (Vanicream)</a:t>
                      </a:r>
                      <a:endParaRPr sz="1100"/>
                    </a:p>
                  </a:txBody>
                  <a:tcPr marL="428625" marR="9525" marT="9525" marB="0" anchor="ctr"/>
                </a:tc>
              </a:tr>
              <a:tr h="175260">
                <a:tc>
                  <a:txBody>
                    <a:bodyPr wrap="square"/>
                    <a:lstStyle/>
                    <a:p>
                      <a:pPr algn="l"/>
                      <a:r>
                        <a:rPr sz="1100" b="0" i="0">
                          <a:solidFill>
                            <a:srgbClr val="0070C0"/>
                          </a:solidFill>
                          <a:latin typeface="Calibri"/>
                        </a:rPr>
                        <a:t>32.6.</a:t>
                      </a:r>
                      <a:r>
                        <a:rPr sz="700" b="0" i="0">
                          <a:solidFill>
                            <a:srgbClr val="0070C0"/>
                          </a:solidFill>
                          <a:latin typeface="Times New Roman"/>
                        </a:rPr>
                        <a:t>  </a:t>
                      </a:r>
                      <a:r>
                        <a:rPr sz="1100" b="0" i="0">
                          <a:solidFill>
                            <a:srgbClr val="0070C0"/>
                          </a:solidFill>
                          <a:latin typeface="Calibri"/>
                        </a:rPr>
                        <a:t>Supergoop!</a:t>
                      </a:r>
                      <a:endParaRPr sz="1100"/>
                    </a:p>
                  </a:txBody>
                  <a:tcPr marL="428625" marR="9525" marT="9525" marB="0" anchor="ctr"/>
                </a:tc>
              </a:tr>
              <a:tr h="175260">
                <a:tc>
                  <a:txBody>
                    <a:bodyPr wrap="square"/>
                    <a:lstStyle/>
                    <a:p>
                      <a:pPr algn="l"/>
                      <a:r>
                        <a:rPr sz="1100" b="0" i="0">
                          <a:solidFill>
                            <a:srgbClr val="0070C0"/>
                          </a:solidFill>
                          <a:latin typeface="Calibri"/>
                        </a:rPr>
                        <a:t>32.7.</a:t>
                      </a:r>
                      <a:r>
                        <a:rPr sz="700" b="0" i="0">
                          <a:solidFill>
                            <a:srgbClr val="0070C0"/>
                          </a:solidFill>
                          <a:latin typeface="Times New Roman"/>
                        </a:rPr>
                        <a:t>  </a:t>
                      </a:r>
                      <a:r>
                        <a:rPr sz="1100" b="0" i="0">
                          <a:solidFill>
                            <a:srgbClr val="0070C0"/>
                          </a:solidFill>
                          <a:latin typeface="Calibri"/>
                        </a:rPr>
                        <a:t>BYOMA</a:t>
                      </a:r>
                      <a:endParaRPr sz="1100"/>
                    </a:p>
                  </a:txBody>
                  <a:tcPr marL="428625" marR="9525" marT="9525" marB="0" anchor="ctr"/>
                </a:tc>
              </a:tr>
              <a:tr h="175260">
                <a:tc>
                  <a:txBody>
                    <a:bodyPr wrap="square"/>
                    <a:lstStyle/>
                    <a:p>
                      <a:pPr algn="l"/>
                      <a:r>
                        <a:rPr sz="1100" b="0" i="0">
                          <a:solidFill>
                            <a:srgbClr val="0070C0"/>
                          </a:solidFill>
                          <a:latin typeface="Calibri"/>
                        </a:rPr>
                        <a:t>32.8.</a:t>
                      </a:r>
                      <a:r>
                        <a:rPr sz="700" b="0" i="0">
                          <a:solidFill>
                            <a:srgbClr val="0070C0"/>
                          </a:solidFill>
                          <a:latin typeface="Times New Roman"/>
                        </a:rPr>
                        <a:t>  </a:t>
                      </a:r>
                      <a:r>
                        <a:rPr sz="1100" b="0" i="0">
                          <a:solidFill>
                            <a:srgbClr val="0070C0"/>
                          </a:solidFill>
                          <a:latin typeface="Calibri"/>
                        </a:rPr>
                        <a:t>HINATURE Inc. (PURITO SEOUL)</a:t>
                      </a:r>
                      <a:endParaRPr sz="1100"/>
                    </a:p>
                  </a:txBody>
                  <a:tcPr marL="428625" marR="9525" marT="9525" marB="0" anchor="ctr"/>
                </a:tc>
              </a:tr>
              <a:tr h="175260">
                <a:tc>
                  <a:txBody>
                    <a:bodyPr wrap="square"/>
                    <a:lstStyle/>
                    <a:p>
                      <a:pPr algn="l"/>
                      <a:r>
                        <a:rPr sz="1100" b="0" i="0">
                          <a:solidFill>
                            <a:srgbClr val="0070C0"/>
                          </a:solidFill>
                          <a:latin typeface="Calibri"/>
                        </a:rPr>
                        <a:t>32.9.</a:t>
                      </a:r>
                      <a:r>
                        <a:rPr sz="700" b="0" i="0">
                          <a:solidFill>
                            <a:srgbClr val="0070C0"/>
                          </a:solidFill>
                          <a:latin typeface="Times New Roman"/>
                        </a:rPr>
                        <a:t>  </a:t>
                      </a:r>
                      <a:r>
                        <a:rPr sz="1100" b="0" i="0">
                          <a:solidFill>
                            <a:srgbClr val="0070C0"/>
                          </a:solidFill>
                          <a:latin typeface="Calibri"/>
                        </a:rPr>
                        <a:t>Goodai Global Inc. (Beauty of Joseon)</a:t>
                      </a:r>
                      <a:endParaRPr sz="1100"/>
                    </a:p>
                  </a:txBody>
                  <a:tcPr marL="428625" marR="9525" marT="9525" marB="0" anchor="ctr"/>
                </a:tc>
              </a:tr>
              <a:tr h="175260">
                <a:tc>
                  <a:txBody>
                    <a:bodyPr wrap="square"/>
                    <a:lstStyle/>
                    <a:p>
                      <a:pPr algn="l"/>
                      <a:r>
                        <a:rPr sz="1100" b="0" i="0">
                          <a:solidFill>
                            <a:srgbClr val="0070C0"/>
                          </a:solidFill>
                          <a:latin typeface="Calibri"/>
                        </a:rPr>
                        <a:t>32.10.</a:t>
                      </a:r>
                      <a:r>
                        <a:rPr sz="700" b="0" i="0">
                          <a:solidFill>
                            <a:srgbClr val="0070C0"/>
                          </a:solidFill>
                          <a:latin typeface="Times New Roman"/>
                        </a:rPr>
                        <a:t> </a:t>
                      </a:r>
                      <a:r>
                        <a:rPr sz="1100" b="0" i="0">
                          <a:solidFill>
                            <a:srgbClr val="0070C0"/>
                          </a:solidFill>
                          <a:latin typeface="Calibri"/>
                        </a:rPr>
                        <a:t>Avant Skincare</a:t>
                      </a:r>
                      <a:endParaRPr sz="1100"/>
                    </a:p>
                  </a:txBody>
                  <a:tcPr marL="428625" marR="9525" marT="9525" marB="0" anchor="ctr"/>
                </a:tc>
              </a:tr>
              <a:tr h="175260">
                <a:tc>
                  <a:txBody>
                    <a:bodyPr wrap="square"/>
                    <a:lstStyle/>
                    <a:p>
                      <a:pPr algn="l"/>
                      <a:r>
                        <a:rPr sz="1100" b="0" i="0">
                          <a:solidFill>
                            <a:srgbClr val="0070C0"/>
                          </a:solidFill>
                          <a:latin typeface="Calibri"/>
                        </a:rPr>
                        <a:t>32.11.</a:t>
                      </a:r>
                      <a:r>
                        <a:rPr sz="700" b="0" i="0">
                          <a:solidFill>
                            <a:srgbClr val="0070C0"/>
                          </a:solidFill>
                          <a:latin typeface="Times New Roman"/>
                        </a:rPr>
                        <a:t> </a:t>
                      </a:r>
                      <a:r>
                        <a:rPr sz="1100" b="0" i="0">
                          <a:solidFill>
                            <a:srgbClr val="0070C0"/>
                          </a:solidFill>
                          <a:latin typeface="Calibri"/>
                        </a:rPr>
                        <a:t>NICHE BEAUTY LAB (Transparent Lab)</a:t>
                      </a:r>
                      <a:endParaRPr sz="1100"/>
                    </a:p>
                  </a:txBody>
                  <a:tcPr marL="428625" marR="9525" marT="9525" marB="0" anchor="ctr"/>
                </a:tc>
              </a:tr>
              <a:tr h="175260">
                <a:tc>
                  <a:txBody>
                    <a:bodyPr wrap="square"/>
                    <a:lstStyle/>
                    <a:p>
                      <a:pPr algn="l"/>
                      <a:r>
                        <a:rPr sz="1100" b="0" i="0">
                          <a:solidFill>
                            <a:srgbClr val="0070C0"/>
                          </a:solidFill>
                          <a:latin typeface="Calibri"/>
                        </a:rPr>
                        <a:t>32.12.</a:t>
                      </a:r>
                      <a:r>
                        <a:rPr sz="700" b="0" i="0">
                          <a:solidFill>
                            <a:srgbClr val="0070C0"/>
                          </a:solidFill>
                          <a:latin typeface="Times New Roman"/>
                        </a:rPr>
                        <a:t> </a:t>
                      </a:r>
                      <a:r>
                        <a:rPr sz="1100" b="0" i="0">
                          <a:solidFill>
                            <a:srgbClr val="0070C0"/>
                          </a:solidFill>
                          <a:latin typeface="Calibri"/>
                        </a:rPr>
                        <a:t>i+m Naturkosmetik Berlin GmbH</a:t>
                      </a:r>
                      <a:endParaRPr sz="1100"/>
                    </a:p>
                  </a:txBody>
                  <a:tcPr marL="428625" marR="9525" marT="9525" marB="0" anchor="ctr"/>
                </a:tc>
              </a:tr>
              <a:tr h="175260">
                <a:tc>
                  <a:txBody>
                    <a:bodyPr wrap="square"/>
                    <a:lstStyle/>
                    <a:p>
                      <a:pPr algn="l"/>
                      <a:r>
                        <a:rPr sz="1100" b="0" i="0">
                          <a:solidFill>
                            <a:srgbClr val="0070C0"/>
                          </a:solidFill>
                          <a:latin typeface="Calibri"/>
                        </a:rPr>
                        <a:t>32.13.</a:t>
                      </a:r>
                      <a:r>
                        <a:rPr sz="700" b="0" i="0">
                          <a:solidFill>
                            <a:srgbClr val="0070C0"/>
                          </a:solidFill>
                          <a:latin typeface="Times New Roman"/>
                        </a:rPr>
                        <a:t> </a:t>
                      </a:r>
                      <a:r>
                        <a:rPr sz="1100" b="0" i="0">
                          <a:solidFill>
                            <a:srgbClr val="0070C0"/>
                          </a:solidFill>
                          <a:latin typeface="Calibri"/>
                        </a:rPr>
                        <a:t>Mintree Premier Lifestyle &amp; Beauty Pvt. Ltd.</a:t>
                      </a:r>
                      <a:endParaRPr sz="1100"/>
                    </a:p>
                  </a:txBody>
                  <a:tcPr marL="428625" marR="9525" marT="9525" marB="0" anchor="ctr"/>
                </a:tc>
              </a:tr>
              <a:tr h="175260">
                <a:tc>
                  <a:txBody>
                    <a:bodyPr wrap="square"/>
                    <a:lstStyle/>
                    <a:p>
                      <a:pPr algn="l"/>
                      <a:r>
                        <a:rPr sz="1100" b="0" i="0">
                          <a:solidFill>
                            <a:srgbClr val="0070C0"/>
                          </a:solidFill>
                          <a:latin typeface="Calibri"/>
                        </a:rPr>
                        <a:t>32.14.</a:t>
                      </a:r>
                      <a:r>
                        <a:rPr sz="700" b="0" i="0">
                          <a:solidFill>
                            <a:srgbClr val="0070C0"/>
                          </a:solidFill>
                          <a:latin typeface="Times New Roman"/>
                        </a:rPr>
                        <a:t> </a:t>
                      </a:r>
                      <a:r>
                        <a:rPr sz="1100" b="0" i="0">
                          <a:solidFill>
                            <a:srgbClr val="0070C0"/>
                          </a:solidFill>
                          <a:latin typeface="Calibri"/>
                        </a:rPr>
                        <a:t>Evonik Industries AG</a:t>
                      </a:r>
                      <a:endParaRPr sz="1100"/>
                    </a:p>
                  </a:txBody>
                  <a:tcPr marL="428625" marR="9525" marT="9525" marB="0" anchor="ctr"/>
                </a:tc>
              </a:tr>
              <a:tr h="175260">
                <a:tc>
                  <a:txBody>
                    <a:bodyPr wrap="square"/>
                    <a:lstStyle/>
                    <a:p>
                      <a:pPr algn="l"/>
                      <a:r>
                        <a:rPr sz="1100" b="0" i="0">
                          <a:solidFill>
                            <a:srgbClr val="0070C0"/>
                          </a:solidFill>
                          <a:latin typeface="Calibri"/>
                        </a:rPr>
                        <a:t>32.15.</a:t>
                      </a:r>
                      <a:r>
                        <a:rPr sz="700" b="0" i="0">
                          <a:solidFill>
                            <a:srgbClr val="0070C0"/>
                          </a:solidFill>
                          <a:latin typeface="Times New Roman"/>
                        </a:rPr>
                        <a:t> </a:t>
                      </a:r>
                      <a:r>
                        <a:rPr sz="1100" b="0" i="0">
                          <a:solidFill>
                            <a:srgbClr val="0070C0"/>
                          </a:solidFill>
                          <a:latin typeface="Calibri"/>
                        </a:rPr>
                        <a:t>Croda International Plc</a:t>
                      </a:r>
                      <a:endParaRPr sz="1100"/>
                    </a:p>
                  </a:txBody>
                  <a:tcPr marL="428625" marR="9525" marT="9525" marB="0" anchor="ctr"/>
                </a:tc>
              </a:tr>
              <a:tr h="175260">
                <a:tc>
                  <a:txBody>
                    <a:bodyPr wrap="square"/>
                    <a:lstStyle/>
                    <a:p>
                      <a:pPr algn="l"/>
                      <a:r>
                        <a:rPr sz="1100" b="0" i="0">
                          <a:solidFill>
                            <a:srgbClr val="0070C0"/>
                          </a:solidFill>
                          <a:latin typeface="Calibri"/>
                        </a:rPr>
                        <a:t>32.16.</a:t>
                      </a:r>
                      <a:r>
                        <a:rPr sz="700" b="0" i="0">
                          <a:solidFill>
                            <a:srgbClr val="0070C0"/>
                          </a:solidFill>
                          <a:latin typeface="Times New Roman"/>
                        </a:rPr>
                        <a:t> </a:t>
                      </a:r>
                      <a:r>
                        <a:rPr sz="1100" b="0" i="0">
                          <a:solidFill>
                            <a:srgbClr val="0070C0"/>
                          </a:solidFill>
                          <a:latin typeface="Calibri"/>
                        </a:rPr>
                        <a:t>Oryza Oil &amp; Fat Chemical Co., Ltd.</a:t>
                      </a:r>
                      <a:endParaRPr sz="1100"/>
                    </a:p>
                  </a:txBody>
                  <a:tcPr marL="428625" marR="9525" marT="9525" marB="0" anchor="ctr"/>
                </a:tc>
              </a:tr>
              <a:tr h="175260">
                <a:tc>
                  <a:txBody>
                    <a:bodyPr wrap="square"/>
                    <a:lstStyle/>
                    <a:p>
                      <a:pPr algn="l"/>
                      <a:r>
                        <a:rPr sz="1100" b="0" i="0">
                          <a:solidFill>
                            <a:srgbClr val="0070C0"/>
                          </a:solidFill>
                          <a:latin typeface="Calibri"/>
                        </a:rPr>
                        <a:t>32.17.</a:t>
                      </a:r>
                      <a:r>
                        <a:rPr sz="700" b="0" i="0">
                          <a:solidFill>
                            <a:srgbClr val="0070C0"/>
                          </a:solidFill>
                          <a:latin typeface="Times New Roman"/>
                        </a:rPr>
                        <a:t> </a:t>
                      </a:r>
                      <a:r>
                        <a:rPr sz="1100" b="0" i="0">
                          <a:solidFill>
                            <a:srgbClr val="0070C0"/>
                          </a:solidFill>
                          <a:latin typeface="Calibri"/>
                        </a:rPr>
                        <a:t>Ichimaru Pharcos Co., Ltd.</a:t>
                      </a:r>
                      <a:endParaRPr sz="1100"/>
                    </a:p>
                  </a:txBody>
                  <a:tcPr marL="428625" marR="9525" marT="9525" marB="0" anchor="ctr"/>
                </a:tc>
              </a:tr>
              <a:tr h="175260">
                <a:tc>
                  <a:txBody>
                    <a:bodyPr wrap="square"/>
                    <a:lstStyle/>
                    <a:p>
                      <a:pPr algn="l"/>
                      <a:r>
                        <a:rPr sz="1100" b="0" i="0">
                          <a:solidFill>
                            <a:srgbClr val="0070C0"/>
                          </a:solidFill>
                          <a:latin typeface="Calibri"/>
                        </a:rPr>
                        <a:t>32.18.</a:t>
                      </a:r>
                      <a:r>
                        <a:rPr sz="700" b="0" i="0">
                          <a:solidFill>
                            <a:srgbClr val="0070C0"/>
                          </a:solidFill>
                          <a:latin typeface="Times New Roman"/>
                        </a:rPr>
                        <a:t> </a:t>
                      </a:r>
                      <a:r>
                        <a:rPr sz="1100" b="0" i="0">
                          <a:solidFill>
                            <a:srgbClr val="0070C0"/>
                          </a:solidFill>
                          <a:latin typeface="Calibri"/>
                        </a:rPr>
                        <a:t>WeDerm Pvt. Ltd.</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192786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32.19.</a:t>
                      </a:r>
                      <a:r>
                        <a:rPr sz="700" b="0" i="0">
                          <a:solidFill>
                            <a:srgbClr val="0070C0"/>
                          </a:solidFill>
                          <a:latin typeface="Times New Roman"/>
                        </a:rPr>
                        <a:t> </a:t>
                      </a:r>
                      <a:r>
                        <a:rPr sz="1100" b="0" i="0">
                          <a:solidFill>
                            <a:srgbClr val="0070C0"/>
                          </a:solidFill>
                          <a:latin typeface="Calibri"/>
                        </a:rPr>
                        <a:t>Risiveda Herbal Products Pvt. Ltd.</a:t>
                      </a:r>
                      <a:endParaRPr sz="1100"/>
                    </a:p>
                  </a:txBody>
                  <a:tcPr marL="428625" marR="9525" marT="9525" marB="0" anchor="ctr"/>
                </a:tc>
              </a:tr>
              <a:tr h="175260">
                <a:tc>
                  <a:txBody>
                    <a:bodyPr wrap="square"/>
                    <a:lstStyle/>
                    <a:p>
                      <a:pPr algn="l"/>
                      <a:r>
                        <a:rPr sz="1100" b="0" i="0">
                          <a:solidFill>
                            <a:srgbClr val="0070C0"/>
                          </a:solidFill>
                          <a:latin typeface="Calibri"/>
                        </a:rPr>
                        <a:t>32.20.</a:t>
                      </a:r>
                      <a:r>
                        <a:rPr sz="700" b="0" i="0">
                          <a:solidFill>
                            <a:srgbClr val="0070C0"/>
                          </a:solidFill>
                          <a:latin typeface="Times New Roman"/>
                        </a:rPr>
                        <a:t> </a:t>
                      </a:r>
                      <a:r>
                        <a:rPr sz="1100" b="0" i="0">
                          <a:solidFill>
                            <a:srgbClr val="0070C0"/>
                          </a:solidFill>
                          <a:latin typeface="Calibri"/>
                        </a:rPr>
                        <a:t>THEONE Cosmetic Co., Ltd.</a:t>
                      </a:r>
                      <a:endParaRPr sz="1100"/>
                    </a:p>
                  </a:txBody>
                  <a:tcPr marL="428625" marR="9525" marT="9525" marB="0" anchor="ctr"/>
                </a:tc>
              </a:tr>
              <a:tr h="175260">
                <a:tc>
                  <a:txBody>
                    <a:bodyPr wrap="square"/>
                    <a:lstStyle/>
                    <a:p>
                      <a:pPr algn="l"/>
                      <a:r>
                        <a:rPr sz="1100" b="0" i="0">
                          <a:solidFill>
                            <a:srgbClr val="0070C0"/>
                          </a:solidFill>
                          <a:latin typeface="Calibri"/>
                        </a:rPr>
                        <a:t>32.21.</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000000"/>
                          </a:solidFill>
                          <a:latin typeface="Calibri"/>
                        </a:rPr>
                        <a:t>33.</a:t>
                      </a:r>
                      <a:r>
                        <a:rPr sz="700" b="1" i="0">
                          <a:solidFill>
                            <a:srgbClr val="000000"/>
                          </a:solidFill>
                          <a:latin typeface="Times New Roman"/>
                        </a:rPr>
                        <a:t>    </a:t>
                      </a:r>
                      <a:r>
                        <a:rPr sz="1100" b="1" i="0">
                          <a:solidFill>
                            <a:srgbClr val="000000"/>
                          </a:solidFill>
                          <a:latin typeface="Calibri"/>
                        </a:rPr>
                        <a:t>Competitive Product and SKU Benchmarking</a:t>
                      </a:r>
                      <a:endParaRPr sz="1100"/>
                    </a:p>
                  </a:txBody>
                  <a:tcPr marL="171450" marR="9525" marT="9525" marB="0" anchor="ctr"/>
                </a:tc>
              </a:tr>
              <a:tr h="175260">
                <a:tc>
                  <a:txBody>
                    <a:bodyPr wrap="square"/>
                    <a:lstStyle/>
                    <a:p>
                      <a:pPr algn="l"/>
                      <a:r>
                        <a:rPr sz="1100" b="0" i="0">
                          <a:solidFill>
                            <a:srgbClr val="0070C0"/>
                          </a:solidFill>
                          <a:latin typeface="Calibri"/>
                        </a:rPr>
                        <a:t>33.1.</a:t>
                      </a:r>
                      <a:r>
                        <a:rPr sz="700" b="0" i="0">
                          <a:solidFill>
                            <a:srgbClr val="0070C0"/>
                          </a:solidFill>
                          <a:latin typeface="Times New Roman"/>
                        </a:rPr>
                        <a:t>  </a:t>
                      </a:r>
                      <a:r>
                        <a:rPr sz="1100" b="0" i="0">
                          <a:solidFill>
                            <a:srgbClr val="0070C0"/>
                          </a:solidFill>
                          <a:latin typeface="Calibri"/>
                        </a:rPr>
                        <a:t>Leading Ceramide Sunscreen Brands – Product Portfolio Mapping</a:t>
                      </a:r>
                      <a:endParaRPr sz="1100"/>
                    </a:p>
                  </a:txBody>
                  <a:tcPr marL="428625" marR="9525" marT="9525" marB="0" anchor="ctr"/>
                </a:tc>
              </a:tr>
              <a:tr h="175260">
                <a:tc>
                  <a:txBody>
                    <a:bodyPr wrap="square"/>
                    <a:lstStyle/>
                    <a:p>
                      <a:pPr algn="l"/>
                      <a:r>
                        <a:rPr sz="1100" b="0" i="0">
                          <a:solidFill>
                            <a:srgbClr val="0070C0"/>
                          </a:solidFill>
                          <a:latin typeface="Calibri"/>
                        </a:rPr>
                        <a:t>33.2.</a:t>
                      </a:r>
                      <a:r>
                        <a:rPr sz="700" b="0" i="0">
                          <a:solidFill>
                            <a:srgbClr val="0070C0"/>
                          </a:solidFill>
                          <a:latin typeface="Times New Roman"/>
                        </a:rPr>
                        <a:t>  </a:t>
                      </a:r>
                      <a:r>
                        <a:rPr sz="1100" b="0" i="0">
                          <a:solidFill>
                            <a:srgbClr val="0070C0"/>
                          </a:solidFill>
                          <a:latin typeface="Calibri"/>
                        </a:rPr>
                        <a:t>Brand-wise SKU Benchmarking</a:t>
                      </a:r>
                      <a:endParaRPr sz="1100"/>
                    </a:p>
                  </a:txBody>
                  <a:tcPr marL="428625" marR="9525" marT="9525" marB="0" anchor="ctr"/>
                </a:tc>
              </a:tr>
              <a:tr h="175260">
                <a:tc>
                  <a:txBody>
                    <a:bodyPr wrap="square"/>
                    <a:lstStyle/>
                    <a:p>
                      <a:pPr algn="l"/>
                      <a:r>
                        <a:rPr sz="1100" b="0" i="0">
                          <a:solidFill>
                            <a:srgbClr val="0070C0"/>
                          </a:solidFill>
                          <a:latin typeface="Calibri"/>
                        </a:rPr>
                        <a:t>33.3.</a:t>
                      </a:r>
                      <a:r>
                        <a:rPr sz="700" b="0" i="0">
                          <a:solidFill>
                            <a:srgbClr val="0070C0"/>
                          </a:solidFill>
                          <a:latin typeface="Times New Roman"/>
                        </a:rPr>
                        <a:t>  </a:t>
                      </a:r>
                      <a:r>
                        <a:rPr sz="1100" b="0" i="0">
                          <a:solidFill>
                            <a:srgbClr val="0070C0"/>
                          </a:solidFill>
                          <a:latin typeface="Calibri"/>
                        </a:rPr>
                        <a:t>Brand Positioning Assessment by Price Tier</a:t>
                      </a:r>
                      <a:endParaRPr sz="1100"/>
                    </a:p>
                  </a:txBody>
                  <a:tcPr marL="428625" marR="9525" marT="9525" marB="0" anchor="ctr"/>
                </a:tc>
              </a:tr>
              <a:tr h="175260">
                <a:tc>
                  <a:txBody>
                    <a:bodyPr wrap="square"/>
                    <a:lstStyle/>
                    <a:p>
                      <a:pPr algn="l"/>
                      <a:r>
                        <a:rPr sz="1100" b="0" i="0">
                          <a:solidFill>
                            <a:srgbClr val="0070C0"/>
                          </a:solidFill>
                          <a:latin typeface="Calibri"/>
                        </a:rPr>
                        <a:t>33.4.</a:t>
                      </a:r>
                      <a:r>
                        <a:rPr sz="700" b="0" i="0">
                          <a:solidFill>
                            <a:srgbClr val="0070C0"/>
                          </a:solidFill>
                          <a:latin typeface="Times New Roman"/>
                        </a:rPr>
                        <a:t>  </a:t>
                      </a:r>
                      <a:r>
                        <a:rPr sz="1100" b="0" i="0">
                          <a:solidFill>
                            <a:srgbClr val="0070C0"/>
                          </a:solidFill>
                          <a:latin typeface="Calibri"/>
                        </a:rPr>
                        <a:t>Regional and Domestic Brand Benchmarking</a:t>
                      </a:r>
                      <a:endParaRPr sz="1100"/>
                    </a:p>
                  </a:txBody>
                  <a:tcPr marL="428625" marR="9525" marT="9525" marB="0" anchor="ctr"/>
                </a:tc>
              </a:tr>
              <a:tr h="175260">
                <a:tc>
                  <a:txBody>
                    <a:bodyPr wrap="square"/>
                    <a:lstStyle/>
                    <a:p>
                      <a:pPr algn="l"/>
                      <a:r>
                        <a:rPr sz="1100" b="0" i="0">
                          <a:solidFill>
                            <a:srgbClr val="0070C0"/>
                          </a:solidFill>
                          <a:latin typeface="Calibri"/>
                        </a:rPr>
                        <a:t>33.5.</a:t>
                      </a:r>
                      <a:r>
                        <a:rPr sz="700" b="0" i="0">
                          <a:solidFill>
                            <a:srgbClr val="0070C0"/>
                          </a:solidFill>
                          <a:latin typeface="Times New Roman"/>
                        </a:rPr>
                        <a:t>  </a:t>
                      </a:r>
                      <a:r>
                        <a:rPr sz="1100" b="0" i="0">
                          <a:solidFill>
                            <a:srgbClr val="0070C0"/>
                          </a:solidFill>
                          <a:latin typeface="Calibri"/>
                        </a:rPr>
                        <a:t>Product Portfolio Gaps and Competitive Whitespace Analysis</a:t>
                      </a:r>
                      <a:endParaRPr sz="1100"/>
                    </a:p>
                  </a:txBody>
                  <a:tcPr marL="428625" marR="9525" marT="9525" marB="0" anchor="ctr"/>
                </a:tc>
              </a:tr>
              <a:tr h="175260">
                <a:tc>
                  <a:txBody>
                    <a:bodyPr wrap="square"/>
                    <a:lstStyle/>
                    <a:p>
                      <a:pPr algn="l"/>
                      <a:r>
                        <a:rPr sz="1100" b="1" i="0">
                          <a:solidFill>
                            <a:srgbClr val="000000"/>
                          </a:solidFill>
                          <a:latin typeface="Calibri"/>
                        </a:rPr>
                        <a:t>34.</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35.</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Product Type,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Form Type,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SPF Rating,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Ingredient Type,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End-use Application,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Pack Size,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11: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Volume and YoY Growth,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Form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SPF Rating,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Ingredient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End-use Application,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Pack Size,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Price Tier,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Product Type,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Form Type,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SPF Rating,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Ingredient Type,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32: Global Market Share by End-use Application, %, 2026 and 2036</a:t>
                      </a:r>
                      <a:endParaRPr sz="1050"/>
                    </a:p>
                  </a:txBody>
                  <a:tcPr marL="9525" marR="9525" marT="9525" marB="0" anchor="ctr"/>
                </a:tc>
              </a:tr>
              <a:tr h="169606">
                <a:tc>
                  <a:txBody>
                    <a:bodyPr wrap="square"/>
                    <a:lstStyle/>
                    <a:p>
                      <a:pPr algn="l"/>
                      <a:r>
                        <a:rPr sz="1050" b="0" i="0">
                          <a:solidFill>
                            <a:srgbClr val="000000"/>
                          </a:solidFill>
                          <a:latin typeface="Calibri"/>
                        </a:rPr>
                        <a:t>Figure 33: Global Market Share by Pack Size, %, 2026 and 2036</a:t>
                      </a:r>
                      <a:endParaRPr sz="1050"/>
                    </a:p>
                  </a:txBody>
                  <a:tcPr marL="9525" marR="9525" marT="9525" marB="0" anchor="ctr"/>
                </a:tc>
              </a:tr>
              <a:tr h="169606">
                <a:tc>
                  <a:txBody>
                    <a:bodyPr wrap="square"/>
                    <a:lstStyle/>
                    <a:p>
                      <a:pPr algn="l"/>
                      <a:r>
                        <a:rPr sz="1050" b="0" i="0">
                          <a:solidFill>
                            <a:srgbClr val="000000"/>
                          </a:solidFill>
                          <a:latin typeface="Calibri"/>
                        </a:rPr>
                        <a:t>Figure 34: Global Market Share by Price Tier, %, 2026 and 2036</a:t>
                      </a:r>
                      <a:endParaRPr sz="1050"/>
                    </a:p>
                  </a:txBody>
                  <a:tcPr marL="9525" marR="9525" marT="9525" marB="0" anchor="ctr"/>
                </a:tc>
              </a:tr>
              <a:tr h="169606">
                <a:tc>
                  <a:txBody>
                    <a:bodyPr wrap="square"/>
                    <a:lstStyle/>
                    <a:p>
                      <a:pPr algn="l"/>
                      <a:r>
                        <a:rPr sz="1050" b="0" i="0">
                          <a:solidFill>
                            <a:srgbClr val="000000"/>
                          </a:solidFill>
                          <a:latin typeface="Calibri"/>
                        </a:rPr>
                        <a:t>Figure 35: Global Market Share by Sales Channel, %, 2026 and 2036</a:t>
                      </a:r>
                      <a:endParaRPr sz="1050"/>
                    </a:p>
                  </a:txBody>
                  <a:tcPr marL="9525" marR="9525" marT="9525" marB="0" anchor="ctr"/>
                </a:tc>
              </a:tr>
              <a:tr h="169606">
                <a:tc>
                  <a:txBody>
                    <a:bodyPr wrap="square"/>
                    <a:lstStyle/>
                    <a:p>
                      <a:pPr algn="l"/>
                      <a:r>
                        <a:rPr sz="1050" b="0" i="0">
                          <a:solidFill>
                            <a:srgbClr val="000000"/>
                          </a:solidFill>
                          <a:latin typeface="Calibri"/>
                        </a:rPr>
                        <a:t>Figure 36: Global Market Absolute $ Opportunity by Product Type, US$ Mn, 2026–2036</a:t>
                      </a:r>
                      <a:endParaRPr sz="1050"/>
                    </a:p>
                  </a:txBody>
                  <a:tcPr marL="9525" marR="9525" marT="9525" marB="0" anchor="ctr"/>
                </a:tc>
              </a:tr>
              <a:tr h="169606">
                <a:tc>
                  <a:txBody>
                    <a:bodyPr wrap="square"/>
                    <a:lstStyle/>
                    <a:p>
                      <a:pPr algn="l"/>
                      <a:r>
                        <a:rPr sz="1050" b="0" i="0">
                          <a:solidFill>
                            <a:srgbClr val="000000"/>
                          </a:solidFill>
                          <a:latin typeface="Calibri"/>
                        </a:rPr>
                        <a:t>Figure 37: Global Market Absolute $ Opportunity by Form Type, US$ Mn, 2026–2036</a:t>
                      </a:r>
                      <a:endParaRPr sz="1050"/>
                    </a:p>
                  </a:txBody>
                  <a:tcPr marL="9525" marR="9525" marT="9525" marB="0" anchor="ctr"/>
                </a:tc>
              </a:tr>
              <a:tr h="169606">
                <a:tc>
                  <a:txBody>
                    <a:bodyPr wrap="square"/>
                    <a:lstStyle/>
                    <a:p>
                      <a:pPr algn="l"/>
                      <a:r>
                        <a:rPr sz="1050" b="0" i="0">
                          <a:solidFill>
                            <a:srgbClr val="000000"/>
                          </a:solidFill>
                          <a:latin typeface="Calibri"/>
                        </a:rPr>
                        <a:t>Figure 38: Global Market Absolute $ Opportunity by SPF Rating, US$ Mn, 2026–2036</a:t>
                      </a:r>
                      <a:endParaRPr sz="1050"/>
                    </a:p>
                  </a:txBody>
                  <a:tcPr marL="9525" marR="9525" marT="9525" marB="0" anchor="ctr"/>
                </a:tc>
              </a:tr>
              <a:tr h="169606">
                <a:tc>
                  <a:txBody>
                    <a:bodyPr wrap="square"/>
                    <a:lstStyle/>
                    <a:p>
                      <a:pPr algn="l"/>
                      <a:r>
                        <a:rPr sz="1050" b="0" i="0">
                          <a:solidFill>
                            <a:srgbClr val="000000"/>
                          </a:solidFill>
                          <a:latin typeface="Calibri"/>
                        </a:rPr>
                        <a:t>Figure 39: Global Market Absolute $ Opportunity by Ingredient Type, US$ Mn, 2026–2036</a:t>
                      </a:r>
                      <a:endParaRPr sz="1050"/>
                    </a:p>
                  </a:txBody>
                  <a:tcPr marL="9525" marR="9525" marT="9525" marB="0" anchor="ctr"/>
                </a:tc>
              </a:tr>
              <a:tr h="169606">
                <a:tc>
                  <a:txBody>
                    <a:bodyPr wrap="square"/>
                    <a:lstStyle/>
                    <a:p>
                      <a:pPr algn="l"/>
                      <a:r>
                        <a:rPr sz="1050" b="0" i="0">
                          <a:solidFill>
                            <a:srgbClr val="000000"/>
                          </a:solidFill>
                          <a:latin typeface="Calibri"/>
                        </a:rPr>
                        <a:t>Figure 40: Global Market Absolute $ Opportunity by End-use Application, US$ Mn, 2026–2036</a:t>
                      </a:r>
                      <a:endParaRPr sz="1050"/>
                    </a:p>
                  </a:txBody>
                  <a:tcPr marL="9525" marR="9525" marT="9525" marB="0" anchor="ctr"/>
                </a:tc>
              </a:tr>
              <a:tr h="169606">
                <a:tc>
                  <a:txBody>
                    <a:bodyPr wrap="square"/>
                    <a:lstStyle/>
                    <a:p>
                      <a:pPr algn="l"/>
                      <a:r>
                        <a:rPr sz="1050" b="0" i="0">
                          <a:solidFill>
                            <a:srgbClr val="000000"/>
                          </a:solidFill>
                          <a:latin typeface="Calibri"/>
                        </a:rPr>
                        <a:t>Figure 41: Global Market Absolute $ Opportunity by Pack Size, US$ Mn, 2026–2036</a:t>
                      </a:r>
                      <a:endParaRPr sz="1050"/>
                    </a:p>
                  </a:txBody>
                  <a:tcPr marL="9525" marR="9525" marT="9525" marB="0" anchor="ctr"/>
                </a:tc>
              </a:tr>
              <a:tr h="169606">
                <a:tc>
                  <a:txBody>
                    <a:bodyPr wrap="square"/>
                    <a:lstStyle/>
                    <a:p>
                      <a:pPr algn="l"/>
                      <a:r>
                        <a:rPr sz="1050" b="0" i="0">
                          <a:solidFill>
                            <a:srgbClr val="000000"/>
                          </a:solidFill>
                          <a:latin typeface="Calibri"/>
                        </a:rPr>
                        <a:t>Figure 42: Global Market Absolute $ Opportunity by Price Tier, US$ Mn, 2026–2036</a:t>
                      </a:r>
                      <a:endParaRPr sz="1050"/>
                    </a:p>
                  </a:txBody>
                  <a:tcPr marL="9525" marR="9525" marT="9525" marB="0" anchor="ctr"/>
                </a:tc>
              </a:tr>
              <a:tr h="169606">
                <a:tc>
                  <a:txBody>
                    <a:bodyPr wrap="square"/>
                    <a:lstStyle/>
                    <a:p>
                      <a:pPr algn="l"/>
                      <a:r>
                        <a:rPr sz="1050" b="0" i="0">
                          <a:solidFill>
                            <a:srgbClr val="000000"/>
                          </a:solidFill>
                          <a:latin typeface="Calibri"/>
                        </a:rPr>
                        <a:t>Figure 43: Global Market Absolute $ Opportunity by Sales Channel, US$ Mn, 2026–2036</a:t>
                      </a:r>
                      <a:endParaRPr sz="1050"/>
                    </a:p>
                  </a:txBody>
                  <a:tcPr marL="9525" marR="9525" marT="9525" marB="0" anchor="ctr"/>
                </a:tc>
              </a:tr>
              <a:tr h="169606">
                <a:tc>
                  <a:txBody>
                    <a:bodyPr wrap="square"/>
                    <a:lstStyle/>
                    <a:p>
                      <a:pPr algn="l"/>
                      <a:r>
                        <a:rPr sz="1050" b="0" i="0">
                          <a:solidFill>
                            <a:srgbClr val="000000"/>
                          </a:solidFill>
                          <a:latin typeface="Calibri"/>
                        </a:rPr>
                        <a:t>Figure 44: Global Market BPS Share Change by Product Type, 2026–2036</a:t>
                      </a:r>
                      <a:endParaRPr sz="1050"/>
                    </a:p>
                  </a:txBody>
                  <a:tcPr marL="9525" marR="9525" marT="9525" marB="0" anchor="ctr"/>
                </a:tc>
              </a:tr>
              <a:tr h="169606">
                <a:tc>
                  <a:txBody>
                    <a:bodyPr wrap="square"/>
                    <a:lstStyle/>
                    <a:p>
                      <a:pPr algn="l"/>
                      <a:r>
                        <a:rPr sz="1050" b="0" i="0">
                          <a:solidFill>
                            <a:srgbClr val="000000"/>
                          </a:solidFill>
                          <a:latin typeface="Calibri"/>
                        </a:rPr>
                        <a:t>Figure 45: Global Market BPS Share Change by Form Type, 2026–2036</a:t>
                      </a:r>
                      <a:endParaRPr sz="1050"/>
                    </a:p>
                  </a:txBody>
                  <a:tcPr marL="9525" marR="9525" marT="9525" marB="0" anchor="ctr"/>
                </a:tc>
              </a:tr>
              <a:tr h="169606">
                <a:tc>
                  <a:txBody>
                    <a:bodyPr wrap="square"/>
                    <a:lstStyle/>
                    <a:p>
                      <a:pPr algn="l"/>
                      <a:r>
                        <a:rPr sz="1050" b="0" i="0">
                          <a:solidFill>
                            <a:srgbClr val="000000"/>
                          </a:solidFill>
                          <a:latin typeface="Calibri"/>
                        </a:rPr>
                        <a:t>Figure 46: Global Market BPS Share Change by SPF Rating, 2026–2036</a:t>
                      </a:r>
                      <a:endParaRPr sz="1050"/>
                    </a:p>
                  </a:txBody>
                  <a:tcPr marL="9525" marR="9525" marT="9525" marB="0" anchor="ctr"/>
                </a:tc>
              </a:tr>
              <a:tr h="169606">
                <a:tc>
                  <a:txBody>
                    <a:bodyPr wrap="square"/>
                    <a:lstStyle/>
                    <a:p>
                      <a:pPr algn="l"/>
                      <a:r>
                        <a:rPr sz="1050" b="0" i="0">
                          <a:solidFill>
                            <a:srgbClr val="000000"/>
                          </a:solidFill>
                          <a:latin typeface="Calibri"/>
                        </a:rPr>
                        <a:t>Figure 47: Global Market BPS Share Change by Ingredient Type, 2026–2036</a:t>
                      </a:r>
                      <a:endParaRPr sz="1050"/>
                    </a:p>
                  </a:txBody>
                  <a:tcPr marL="9525" marR="9525" marT="9525" marB="0" anchor="ctr"/>
                </a:tc>
              </a:tr>
              <a:tr h="169606">
                <a:tc>
                  <a:txBody>
                    <a:bodyPr wrap="square"/>
                    <a:lstStyle/>
                    <a:p>
                      <a:pPr algn="l"/>
                      <a:r>
                        <a:rPr sz="1050" b="0" i="0">
                          <a:solidFill>
                            <a:srgbClr val="000000"/>
                          </a:solidFill>
                          <a:latin typeface="Calibri"/>
                        </a:rPr>
                        <a:t>Figure 48: Global Market BPS Share Change by End-use Application, 2026–2036</a:t>
                      </a:r>
                      <a:endParaRPr sz="1050"/>
                    </a:p>
                  </a:txBody>
                  <a:tcPr marL="9525" marR="9525" marT="9525" marB="0" anchor="ctr"/>
                </a:tc>
              </a:tr>
              <a:tr h="169606">
                <a:tc>
                  <a:txBody>
                    <a:bodyPr wrap="square"/>
                    <a:lstStyle/>
                    <a:p>
                      <a:pPr algn="l"/>
                      <a:r>
                        <a:rPr sz="1050" b="0" i="0">
                          <a:solidFill>
                            <a:srgbClr val="000000"/>
                          </a:solidFill>
                          <a:latin typeface="Calibri"/>
                        </a:rPr>
                        <a:t>Figure 49: Global Market BPS Share Change by Pack Size, 2026–2036</a:t>
                      </a:r>
                      <a:endParaRPr sz="1050"/>
                    </a:p>
                  </a:txBody>
                  <a:tcPr marL="9525" marR="9525" marT="9525" marB="0" anchor="ctr"/>
                </a:tc>
              </a:tr>
              <a:tr h="169606">
                <a:tc>
                  <a:txBody>
                    <a:bodyPr wrap="square"/>
                    <a:lstStyle/>
                    <a:p>
                      <a:pPr algn="l"/>
                      <a:r>
                        <a:rPr sz="1050" b="0" i="0">
                          <a:solidFill>
                            <a:srgbClr val="000000"/>
                          </a:solidFill>
                          <a:latin typeface="Calibri"/>
                        </a:rPr>
                        <a:t>Figure 50: Global Market BPS Share Change by Price Tier, 2026–2036</a:t>
                      </a:r>
                      <a:endParaRPr sz="1050"/>
                    </a:p>
                  </a:txBody>
                  <a:tcPr marL="9525" marR="9525" marT="9525" marB="0" anchor="ctr"/>
                </a:tc>
              </a:tr>
              <a:tr h="169606">
                <a:tc>
                  <a:txBody>
                    <a:bodyPr wrap="square"/>
                    <a:lstStyle/>
                    <a:p>
                      <a:pPr algn="l"/>
                      <a:r>
                        <a:rPr sz="1050" b="0" i="0">
                          <a:solidFill>
                            <a:srgbClr val="000000"/>
                          </a:solidFill>
                          <a:latin typeface="Calibri"/>
                        </a:rPr>
                        <a:t>Figure 51: Global Market BPS Share Change by Sales Channel, 2026–2036</a:t>
                      </a:r>
                      <a:endParaRPr sz="1050"/>
                    </a:p>
                  </a:txBody>
                  <a:tcPr marL="9525" marR="9525" marT="9525" marB="0" anchor="ctr"/>
                </a:tc>
              </a:tr>
              <a:tr h="169606">
                <a:tc>
                  <a:txBody>
                    <a:bodyPr wrap="square"/>
                    <a:lstStyle/>
                    <a:p>
                      <a:pPr algn="l"/>
                      <a:r>
                        <a:rPr sz="1050" b="0" i="0">
                          <a:solidFill>
                            <a:srgbClr val="000000"/>
                          </a:solidFill>
                          <a:latin typeface="Calibri"/>
                        </a:rPr>
                        <a:t>Figure 52: Global Market YoY Growth by Product Type, %, 2026–2036</a:t>
                      </a:r>
                      <a:endParaRPr sz="1050"/>
                    </a:p>
                  </a:txBody>
                  <a:tcPr marL="9525" marR="9525" marT="9525" marB="0" anchor="ctr"/>
                </a:tc>
              </a:tr>
              <a:tr h="169606">
                <a:tc>
                  <a:txBody>
                    <a:bodyPr wrap="square"/>
                    <a:lstStyle/>
                    <a:p>
                      <a:pPr algn="l"/>
                      <a:r>
                        <a:rPr sz="1050" b="0" i="0">
                          <a:solidFill>
                            <a:srgbClr val="000000"/>
                          </a:solidFill>
                          <a:latin typeface="Calibri"/>
                        </a:rPr>
                        <a:t>Figure 53: Global Market YoY Growth by Form Type, %, 2026–2036</a:t>
                      </a:r>
                      <a:endParaRPr sz="1050"/>
                    </a:p>
                  </a:txBody>
                  <a:tcPr marL="9525" marR="9525" marT="9525" marB="0" anchor="ctr"/>
                </a:tc>
              </a:tr>
              <a:tr h="169606">
                <a:tc>
                  <a:txBody>
                    <a:bodyPr wrap="square"/>
                    <a:lstStyle/>
                    <a:p>
                      <a:pPr algn="l"/>
                      <a:r>
                        <a:rPr sz="1050" b="0" i="0">
                          <a:solidFill>
                            <a:srgbClr val="000000"/>
                          </a:solidFill>
                          <a:latin typeface="Calibri"/>
                        </a:rPr>
                        <a:t>Figure 54: Global Market YoY Growth by SPF Rating, %, 2026–2036</a:t>
                      </a:r>
                      <a:endParaRPr sz="1050"/>
                    </a:p>
                  </a:txBody>
                  <a:tcPr marL="9525" marR="9525" marT="9525" marB="0" anchor="ctr"/>
                </a:tc>
              </a:tr>
              <a:tr h="169606">
                <a:tc>
                  <a:txBody>
                    <a:bodyPr wrap="square"/>
                    <a:lstStyle/>
                    <a:p>
                      <a:pPr algn="l"/>
                      <a:r>
                        <a:rPr sz="1050" b="0" i="0">
                          <a:solidFill>
                            <a:srgbClr val="000000"/>
                          </a:solidFill>
                          <a:latin typeface="Calibri"/>
                        </a:rPr>
                        <a:t>Figure 55: Global Market YoY Growth by Ingredient Type, %, 2026–2036</a:t>
                      </a:r>
                      <a:endParaRPr sz="1050"/>
                    </a:p>
                  </a:txBody>
                  <a:tcPr marL="9525" marR="9525" marT="9525" marB="0" anchor="ctr"/>
                </a:tc>
              </a:tr>
              <a:tr h="169606">
                <a:tc>
                  <a:txBody>
                    <a:bodyPr wrap="square"/>
                    <a:lstStyle/>
                    <a:p>
                      <a:pPr algn="l"/>
                      <a:r>
                        <a:rPr sz="1050" b="0" i="0">
                          <a:solidFill>
                            <a:srgbClr val="000000"/>
                          </a:solidFill>
                          <a:latin typeface="Calibri"/>
                        </a:rPr>
                        <a:t>Figure 56: Global Market YoY Growth by End-use Application, %, 2026–2036</a:t>
                      </a:r>
                      <a:endParaRPr sz="1050"/>
                    </a:p>
                  </a:txBody>
                  <a:tcPr marL="9525" marR="9525" marT="9525" marB="0" anchor="ctr"/>
                </a:tc>
              </a:tr>
              <a:tr h="169606">
                <a:tc>
                  <a:txBody>
                    <a:bodyPr wrap="square"/>
                    <a:lstStyle/>
                    <a:p>
                      <a:pPr algn="l"/>
                      <a:r>
                        <a:rPr sz="1050" b="0" i="0">
                          <a:solidFill>
                            <a:srgbClr val="000000"/>
                          </a:solidFill>
                          <a:latin typeface="Calibri"/>
                        </a:rPr>
                        <a:t>Figure 57: Global Market YoY Growth by Pack Size, %, 2026–2036</a:t>
                      </a:r>
                      <a:endParaRPr sz="1050"/>
                    </a:p>
                  </a:txBody>
                  <a:tcPr marL="9525" marR="9525" marT="9525" marB="0" anchor="ctr"/>
                </a:tc>
              </a:tr>
              <a:tr h="169606">
                <a:tc>
                  <a:txBody>
                    <a:bodyPr wrap="square"/>
                    <a:lstStyle/>
                    <a:p>
                      <a:pPr algn="l"/>
                      <a:r>
                        <a:rPr sz="1050" b="0" i="0">
                          <a:solidFill>
                            <a:srgbClr val="000000"/>
                          </a:solidFill>
                          <a:latin typeface="Calibri"/>
                        </a:rPr>
                        <a:t>Figure 58: Global Market YoY Growth by Price Tier, %, 2026–2036</a:t>
                      </a:r>
                      <a:endParaRPr sz="1050"/>
                    </a:p>
                  </a:txBody>
                  <a:tcPr marL="9525" marR="9525" marT="9525" marB="0" anchor="ctr"/>
                </a:tc>
              </a:tr>
              <a:tr h="169606">
                <a:tc>
                  <a:txBody>
                    <a:bodyPr wrap="square"/>
                    <a:lstStyle/>
                    <a:p>
                      <a:pPr algn="l"/>
                      <a:r>
                        <a:rPr sz="1050" b="0" i="0">
                          <a:solidFill>
                            <a:srgbClr val="000000"/>
                          </a:solidFill>
                          <a:latin typeface="Calibri"/>
                        </a:rPr>
                        <a:t>Figure 59: Global Market YoY Growth by Sales Channel, %, 2026–2036</a:t>
                      </a:r>
                      <a:endParaRPr sz="1050"/>
                    </a:p>
                  </a:txBody>
                  <a:tcPr marL="9525" marR="9525" marT="9525" marB="0" anchor="ctr"/>
                </a:tc>
              </a:tr>
              <a:tr h="169606">
                <a:tc>
                  <a:txBody>
                    <a:bodyPr wrap="square"/>
                    <a:lstStyle/>
                    <a:p>
                      <a:pPr algn="l"/>
                      <a:r>
                        <a:rPr sz="1050" b="0" i="0">
                          <a:solidFill>
                            <a:srgbClr val="000000"/>
                          </a:solidFill>
                          <a:latin typeface="Calibri"/>
                        </a:rPr>
                        <a:t>Figure 60: Global Market Attractiveness by Product Type, 2026–2036</a:t>
                      </a:r>
                      <a:endParaRPr sz="1050"/>
                    </a:p>
                  </a:txBody>
                  <a:tcPr marL="9525" marR="9525" marT="9525" marB="0" anchor="ctr"/>
                </a:tc>
              </a:tr>
              <a:tr h="169606">
                <a:tc>
                  <a:txBody>
                    <a:bodyPr wrap="square"/>
                    <a:lstStyle/>
                    <a:p>
                      <a:pPr algn="l"/>
                      <a:r>
                        <a:rPr sz="1050" b="0" i="0">
                          <a:solidFill>
                            <a:srgbClr val="000000"/>
                          </a:solidFill>
                          <a:latin typeface="Calibri"/>
                        </a:rPr>
                        <a:t>Figure 61: Global Market Attractiveness by Form Type, 2026–2036</a:t>
                      </a:r>
                      <a:endParaRPr sz="1050"/>
                    </a:p>
                  </a:txBody>
                  <a:tcPr marL="9525" marR="9525" marT="9525" marB="0" anchor="ctr"/>
                </a:tc>
              </a:tr>
              <a:tr h="169606">
                <a:tc>
                  <a:txBody>
                    <a:bodyPr wrap="square"/>
                    <a:lstStyle/>
                    <a:p>
                      <a:pPr algn="l"/>
                      <a:r>
                        <a:rPr sz="1050" b="0" i="0">
                          <a:solidFill>
                            <a:srgbClr val="000000"/>
                          </a:solidFill>
                          <a:latin typeface="Calibri"/>
                        </a:rPr>
                        <a:t>Figure 62: Global Market Attractiveness by SPF Rating,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63: Global Market Attractiveness by Ingredient Type, 2026–2036</a:t>
                      </a:r>
                      <a:endParaRPr sz="1050"/>
                    </a:p>
                  </a:txBody>
                  <a:tcPr marL="9525" marR="9525" marT="9525" marB="0" anchor="ctr"/>
                </a:tc>
              </a:tr>
              <a:tr h="169606">
                <a:tc>
                  <a:txBody>
                    <a:bodyPr wrap="square"/>
                    <a:lstStyle/>
                    <a:p>
                      <a:pPr algn="l"/>
                      <a:r>
                        <a:rPr sz="1050" b="0" i="0">
                          <a:solidFill>
                            <a:srgbClr val="000000"/>
                          </a:solidFill>
                          <a:latin typeface="Calibri"/>
                        </a:rPr>
                        <a:t>Figure 64: Global Market Attractiveness by End-use Application, 2026–2036</a:t>
                      </a:r>
                      <a:endParaRPr sz="1050"/>
                    </a:p>
                  </a:txBody>
                  <a:tcPr marL="9525" marR="9525" marT="9525" marB="0" anchor="ctr"/>
                </a:tc>
              </a:tr>
              <a:tr h="169606">
                <a:tc>
                  <a:txBody>
                    <a:bodyPr wrap="square"/>
                    <a:lstStyle/>
                    <a:p>
                      <a:pPr algn="l"/>
                      <a:r>
                        <a:rPr sz="1050" b="0" i="0">
                          <a:solidFill>
                            <a:srgbClr val="000000"/>
                          </a:solidFill>
                          <a:latin typeface="Calibri"/>
                        </a:rPr>
                        <a:t>Figure 65: Global Market Attractiveness by Pack Size, 2026–2036</a:t>
                      </a:r>
                      <a:endParaRPr sz="1050"/>
                    </a:p>
                  </a:txBody>
                  <a:tcPr marL="9525" marR="9525" marT="9525" marB="0" anchor="ctr"/>
                </a:tc>
              </a:tr>
              <a:tr h="169606">
                <a:tc>
                  <a:txBody>
                    <a:bodyPr wrap="square"/>
                    <a:lstStyle/>
                    <a:p>
                      <a:pPr algn="l"/>
                      <a:r>
                        <a:rPr sz="1050" b="0" i="0">
                          <a:solidFill>
                            <a:srgbClr val="000000"/>
                          </a:solidFill>
                          <a:latin typeface="Calibri"/>
                        </a:rPr>
                        <a:t>Figure 66: Global Market Attractiveness by Price Tier, 2026–2036</a:t>
                      </a:r>
                      <a:endParaRPr sz="1050"/>
                    </a:p>
                  </a:txBody>
                  <a:tcPr marL="9525" marR="9525" marT="9525" marB="0" anchor="ctr"/>
                </a:tc>
              </a:tr>
              <a:tr h="169606">
                <a:tc>
                  <a:txBody>
                    <a:bodyPr wrap="square"/>
                    <a:lstStyle/>
                    <a:p>
                      <a:pPr algn="l"/>
                      <a:r>
                        <a:rPr sz="1050" b="0" i="0">
                          <a:solidFill>
                            <a:srgbClr val="000000"/>
                          </a:solidFill>
                          <a:latin typeface="Calibri"/>
                        </a:rPr>
                        <a:t>Figure 67: Global Market Attractiveness by Sales Channel, 2026–2036</a:t>
                      </a:r>
                      <a:endParaRPr sz="1050"/>
                    </a:p>
                  </a:txBody>
                  <a:tcPr marL="9525" marR="9525" marT="9525" marB="0" anchor="ctr"/>
                </a:tc>
              </a:tr>
              <a:tr h="169606">
                <a:tc>
                  <a:txBody>
                    <a:bodyPr wrap="square"/>
                    <a:lstStyle/>
                    <a:p>
                      <a:pPr algn="l"/>
                      <a:r>
                        <a:rPr sz="1050" b="0" i="0">
                          <a:solidFill>
                            <a:srgbClr val="000000"/>
                          </a:solidFill>
                          <a:latin typeface="Calibri"/>
                        </a:rPr>
                        <a:t>Figure 68: Global Market Volume by Product Type, Units, 2021–2036</a:t>
                      </a:r>
                      <a:endParaRPr sz="1050"/>
                    </a:p>
                  </a:txBody>
                  <a:tcPr marL="9525" marR="9525" marT="9525" marB="0" anchor="ctr"/>
                </a:tc>
              </a:tr>
              <a:tr h="169606">
                <a:tc>
                  <a:txBody>
                    <a:bodyPr wrap="square"/>
                    <a:lstStyle/>
                    <a:p>
                      <a:pPr algn="l"/>
                      <a:r>
                        <a:rPr sz="1050" b="0" i="0">
                          <a:solidFill>
                            <a:srgbClr val="000000"/>
                          </a:solidFill>
                          <a:latin typeface="Calibri"/>
                        </a:rPr>
                        <a:t>Figure 69: Global Market Volume by Form Type, Units, 2021–2036</a:t>
                      </a:r>
                      <a:endParaRPr sz="1050"/>
                    </a:p>
                  </a:txBody>
                  <a:tcPr marL="9525" marR="9525" marT="9525" marB="0" anchor="ctr"/>
                </a:tc>
              </a:tr>
              <a:tr h="169606">
                <a:tc>
                  <a:txBody>
                    <a:bodyPr wrap="square"/>
                    <a:lstStyle/>
                    <a:p>
                      <a:pPr algn="l"/>
                      <a:r>
                        <a:rPr sz="1050" b="0" i="0">
                          <a:solidFill>
                            <a:srgbClr val="000000"/>
                          </a:solidFill>
                          <a:latin typeface="Calibri"/>
                        </a:rPr>
                        <a:t>Figure 70: Global Market Volume by SPF Rating, Units, 2021–2036</a:t>
                      </a:r>
                      <a:endParaRPr sz="1050"/>
                    </a:p>
                  </a:txBody>
                  <a:tcPr marL="9525" marR="9525" marT="9525" marB="0" anchor="ctr"/>
                </a:tc>
              </a:tr>
              <a:tr h="169606">
                <a:tc>
                  <a:txBody>
                    <a:bodyPr wrap="square"/>
                    <a:lstStyle/>
                    <a:p>
                      <a:pPr algn="l"/>
                      <a:r>
                        <a:rPr sz="1050" b="0" i="0">
                          <a:solidFill>
                            <a:srgbClr val="000000"/>
                          </a:solidFill>
                          <a:latin typeface="Calibri"/>
                        </a:rPr>
                        <a:t>Figure 71: Product Type × Form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72: Product Type × SPF Rating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73: Product Type × Ingredient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74: Product Type × End-use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75: Product Type × Pack Size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76: Product Type × Price Tier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77: Product Type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78: Form Type × SPF Rating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79: Form Type × Ingredient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80: Form Type × End-use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81: Form Type × Pack Size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82: Form Type × Price Tier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83: Form Type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84: SPF Rating × Ingredient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85: SPF Rating × End-use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86: SPF Rating × Pack Size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87: SPF Rating × Price Tier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88: SPF Rating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89: Ingredient Type × End-use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90: Ingredient Type × Pack Size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91: Ingredient Type × Price Tier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92: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93: Global Market Share by Region,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94: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95: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96: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97: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98: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99: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100: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101: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102: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103: Middle East &amp;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104: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105: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106: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107: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108: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109: Middle East &amp;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110: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111: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112: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113: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114: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115: Middle East &amp;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116: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117: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118: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119: U.S.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U.S. Market Value by End-use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121: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122: U.S.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U.S. Market Value by SPF Rating,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124: U.S. Market Value by Ingredient Type, US$ Mn, 2026 and 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125: U.S. Market Value by Pack Size,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126: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127: Germany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128: Germany Market Value by End-use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129: Germany Market Share within Europe, %, 2026 and 2036</a:t>
                      </a:r>
                      <a:endParaRPr sz="1050"/>
                    </a:p>
                  </a:txBody>
                  <a:tcPr marL="9525" marR="9525" marT="9525" marB="0" anchor="ctr"/>
                </a:tc>
              </a:tr>
              <a:tr h="169606">
                <a:tc>
                  <a:txBody>
                    <a:bodyPr wrap="square"/>
                    <a:lstStyle/>
                    <a:p>
                      <a:pPr algn="l"/>
                      <a:r>
                        <a:rPr sz="1050" b="0" i="0">
                          <a:solidFill>
                            <a:srgbClr val="000000"/>
                          </a:solidFill>
                          <a:latin typeface="Calibri"/>
                        </a:rPr>
                        <a:t>Figure 130: Germany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131: Germany Market Value by SPF Rating,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132: Germany Market Value by Ingredient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133: Germany Market Value by Pack Size,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134: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135: Canada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136: Canada Market Value by End-use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137: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138: Canada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139: Canada Market Value by SPF Rating,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140: Canada Market Value by Ingredient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141: Canada Market Value by Pack Size,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142: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143: China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144: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145: India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146: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147: Brazil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148: U.K.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149: U.K.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150: Japan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151: Japan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152: Global Market Average Selling Price Trend, US$/Units, 2021–2036</a:t>
                      </a:r>
                      <a:endParaRPr sz="1050"/>
                    </a:p>
                  </a:txBody>
                  <a:tcPr marL="9525" marR="9525" marT="9525" marB="0" anchor="ctr"/>
                </a:tc>
              </a:tr>
              <a:tr h="169606">
                <a:tc>
                  <a:txBody>
                    <a:bodyPr wrap="square"/>
                    <a:lstStyle/>
                    <a:p>
                      <a:pPr algn="l"/>
                      <a:r>
                        <a:rPr sz="1050" b="0" i="0">
                          <a:solidFill>
                            <a:srgbClr val="000000"/>
                          </a:solidFill>
                          <a:latin typeface="Calibri"/>
                        </a:rPr>
                        <a:t>Figure 153: Global Market Average Selling Price by Region,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154: Global Market Average Selling Price by Product Type,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155: Global Market Average Selling Price by Form Type, US$/Units,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Figure 156: Global Market Average Selling Price by SPF Rating, US$/Units, 2026 and 2036</a:t>
                      </a:r>
                      <a:endParaRPr sz="1050"/>
                    </a:p>
                  </a:txBody>
                  <a:tcPr marL="9525" marR="9525" marT="9525" marB="0" anchor="ctr"/>
                </a:tc>
              </a:tr>
              <a:tr h="170266">
                <a:tc>
                  <a:txBody>
                    <a:bodyPr wrap="square"/>
                    <a:lstStyle/>
                    <a:p>
                      <a:pPr algn="l"/>
                      <a:r>
                        <a:rPr sz="1050" b="0" i="0">
                          <a:solidFill>
                            <a:srgbClr val="000000"/>
                          </a:solidFill>
                          <a:latin typeface="Calibri"/>
                        </a:rPr>
                        <a:t>Figure 157: Global Market Average Selling Price by Ingredient Type, US$/Units, 2026 and 2036</a:t>
                      </a:r>
                      <a:endParaRPr sz="1050"/>
                    </a:p>
                  </a:txBody>
                  <a:tcPr marL="9525" marR="9525" marT="9525" marB="0" anchor="ctr"/>
                </a:tc>
              </a:tr>
              <a:tr h="170266">
                <a:tc>
                  <a:txBody>
                    <a:bodyPr wrap="square"/>
                    <a:lstStyle/>
                    <a:p>
                      <a:pPr algn="l"/>
                      <a:r>
                        <a:rPr sz="1050" b="0" i="0">
                          <a:solidFill>
                            <a:srgbClr val="000000"/>
                          </a:solidFill>
                          <a:latin typeface="Calibri"/>
                        </a:rPr>
                        <a:t>Figure 158: Global Market Average Selling Price by End-use Application, US$/Units, 2026 and 2036</a:t>
                      </a:r>
                      <a:endParaRPr sz="1050"/>
                    </a:p>
                  </a:txBody>
                  <a:tcPr marL="9525" marR="9525" marT="9525" marB="0" anchor="ctr"/>
                </a:tc>
              </a:tr>
              <a:tr h="170266">
                <a:tc>
                  <a:txBody>
                    <a:bodyPr wrap="square"/>
                    <a:lstStyle/>
                    <a:p>
                      <a:pPr algn="l"/>
                      <a:r>
                        <a:rPr sz="1050" b="0" i="0">
                          <a:solidFill>
                            <a:srgbClr val="000000"/>
                          </a:solidFill>
                          <a:latin typeface="Calibri"/>
                        </a:rPr>
                        <a:t>Figure 159: Global Market Average Selling Price by Pack Size, US$/Units, 2026 and 2036</a:t>
                      </a:r>
                      <a:endParaRPr sz="1050"/>
                    </a:p>
                  </a:txBody>
                  <a:tcPr marL="9525" marR="9525" marT="9525" marB="0" anchor="ctr"/>
                </a:tc>
              </a:tr>
              <a:tr h="170266">
                <a:tc>
                  <a:txBody>
                    <a:bodyPr wrap="square"/>
                    <a:lstStyle/>
                    <a:p>
                      <a:pPr algn="l"/>
                      <a:r>
                        <a:rPr sz="1050" b="0" i="0">
                          <a:solidFill>
                            <a:srgbClr val="000000"/>
                          </a:solidFill>
                          <a:latin typeface="Calibri"/>
                        </a:rPr>
                        <a:t>Figure 160: Global Market Average Selling Price by Price Tier, US$/Units, 2026 and 2036</a:t>
                      </a:r>
                      <a:endParaRPr sz="1050"/>
                    </a:p>
                  </a:txBody>
                  <a:tcPr marL="9525" marR="9525" marT="9525" marB="0" anchor="ctr"/>
                </a:tc>
              </a:tr>
              <a:tr h="170266">
                <a:tc>
                  <a:txBody>
                    <a:bodyPr wrap="square"/>
                    <a:lstStyle/>
                    <a:p>
                      <a:pPr algn="l"/>
                      <a:r>
                        <a:rPr sz="1050" b="0" i="0">
                          <a:solidFill>
                            <a:srgbClr val="000000"/>
                          </a:solidFill>
                          <a:latin typeface="Calibri"/>
                        </a:rPr>
                        <a:t>Figure 161: Global Market Average Selling Price by Sales Channel, US$/Units, 2026 and 2036</a:t>
                      </a:r>
                      <a:endParaRPr sz="1050"/>
                    </a:p>
                  </a:txBody>
                  <a:tcPr marL="9525" marR="9525" marT="9525" marB="0" anchor="ctr"/>
                </a:tc>
              </a:tr>
              <a:tr h="170266">
                <a:tc>
                  <a:txBody>
                    <a:bodyPr wrap="square"/>
                    <a:lstStyle/>
                    <a:p>
                      <a:pPr algn="l"/>
                      <a:r>
                        <a:rPr sz="1050" b="0" i="0">
                          <a:solidFill>
                            <a:srgbClr val="000000"/>
                          </a:solidFill>
                          <a:latin typeface="Calibri"/>
                        </a:rPr>
                        <a:t>Figure 162: Global Market Value Chain Structure, 2026</a:t>
                      </a:r>
                      <a:endParaRPr sz="1050"/>
                    </a:p>
                  </a:txBody>
                  <a:tcPr marL="9525" marR="9525" marT="9525" marB="0" anchor="ctr"/>
                </a:tc>
              </a:tr>
              <a:tr h="170266">
                <a:tc>
                  <a:txBody>
                    <a:bodyPr wrap="square"/>
                    <a:lstStyle/>
                    <a:p>
                      <a:pPr algn="l"/>
                      <a:r>
                        <a:rPr sz="1050" b="0" i="0">
                          <a:solidFill>
                            <a:srgbClr val="000000"/>
                          </a:solidFill>
                          <a:latin typeface="Calibri"/>
                        </a:rPr>
                        <a:t>Figure 163: Global Market Margin Distribution across the Value Chain, %, 2026</a:t>
                      </a:r>
                      <a:endParaRPr sz="1050"/>
                    </a:p>
                  </a:txBody>
                  <a:tcPr marL="9525" marR="9525" marT="9525" marB="0" anchor="ctr"/>
                </a:tc>
              </a:tr>
              <a:tr h="170266">
                <a:tc>
                  <a:txBody>
                    <a:bodyPr wrap="square"/>
                    <a:lstStyle/>
                    <a:p>
                      <a:pPr algn="l"/>
                      <a:r>
                        <a:rPr sz="1050" b="0" i="0">
                          <a:solidFill>
                            <a:srgbClr val="000000"/>
                          </a:solidFill>
                          <a:latin typeface="Calibri"/>
                        </a:rPr>
                        <a:t>Figure 164: Global Market Cost Structure Breakdown, %, 2026</a:t>
                      </a:r>
                      <a:endParaRPr sz="1050"/>
                    </a:p>
                  </a:txBody>
                  <a:tcPr marL="9525" marR="9525" marT="9525" marB="0" anchor="ctr"/>
                </a:tc>
              </a:tr>
              <a:tr h="170266">
                <a:tc>
                  <a:txBody>
                    <a:bodyPr wrap="square"/>
                    <a:lstStyle/>
                    <a:p>
                      <a:pPr algn="l"/>
                      <a:r>
                        <a:rPr sz="1050" b="0" i="0">
                          <a:solidFill>
                            <a:srgbClr val="000000"/>
                          </a:solidFill>
                          <a:latin typeface="Calibri"/>
                        </a:rPr>
                        <a:t>Figure 165: Company Market Share in the Global Market, %, 2026</a:t>
                      </a:r>
                      <a:endParaRPr sz="1050"/>
                    </a:p>
                  </a:txBody>
                  <a:tcPr marL="9525" marR="9525" marT="9525" marB="0" anchor="ctr"/>
                </a:tc>
              </a:tr>
              <a:tr h="170266">
                <a:tc>
                  <a:txBody>
                    <a:bodyPr wrap="square"/>
                    <a:lstStyle/>
                    <a:p>
                      <a:pPr algn="l"/>
                      <a:r>
                        <a:rPr sz="1050" b="0" i="0">
                          <a:solidFill>
                            <a:srgbClr val="000000"/>
                          </a:solidFill>
                          <a:latin typeface="Calibri"/>
                        </a:rPr>
                        <a:t>Figure 166: Competitive Positioning of Leading Ceramide Sunscreen Manufacturers, 2026</a:t>
                      </a:r>
                      <a:endParaRPr sz="1050"/>
                    </a:p>
                  </a:txBody>
                  <a:tcPr marL="9525" marR="9525" marT="9525" marB="0" anchor="ctr"/>
                </a:tc>
              </a:tr>
              <a:tr h="170266">
                <a:tc>
                  <a:txBody>
                    <a:bodyPr wrap="square"/>
                    <a:lstStyle/>
                    <a:p>
                      <a:pPr algn="l"/>
                      <a:r>
                        <a:rPr sz="1050" b="0" i="0">
                          <a:solidFill>
                            <a:srgbClr val="000000"/>
                          </a:solidFill>
                          <a:latin typeface="Calibri"/>
                        </a:rPr>
                        <a:t>Figure 167: Company Revenue from the Global Market, US$ Mn, 2026</a:t>
                      </a:r>
                      <a:endParaRPr sz="1050"/>
                    </a:p>
                  </a:txBody>
                  <a:tcPr marL="9525" marR="9525" marT="9525" marB="0" anchor="ctr"/>
                </a:tc>
              </a:tr>
              <a:tr h="170266">
                <a:tc>
                  <a:txBody>
                    <a:bodyPr wrap="square"/>
                    <a:lstStyle/>
                    <a:p>
                      <a:pPr algn="l"/>
                      <a:r>
                        <a:rPr sz="1050" b="0" i="0">
                          <a:solidFill>
                            <a:srgbClr val="000000"/>
                          </a:solidFill>
                          <a:latin typeface="Calibri"/>
                        </a:rPr>
                        <a:t>Figure 168: Global Market Concentration by Company Tier, %, 2026</a:t>
                      </a:r>
                      <a:endParaRPr sz="1050"/>
                    </a:p>
                  </a:txBody>
                  <a:tcPr marL="9525" marR="9525" marT="9525" marB="0" anchor="ctr"/>
                </a:tc>
              </a:tr>
              <a:tr h="170266">
                <a:tc>
                  <a:txBody>
                    <a:bodyPr wrap="square"/>
                    <a:lstStyle/>
                    <a:p>
                      <a:pPr algn="l"/>
                      <a:r>
                        <a:rPr sz="1050" b="0" i="0">
                          <a:solidFill>
                            <a:srgbClr val="000000"/>
                          </a:solidFill>
                          <a:latin typeface="Calibri"/>
                        </a:rPr>
                        <a:t>Figure 169: Global Market Competitive Intensity Assessment, 2026</a:t>
                      </a:r>
                      <a:endParaRPr sz="1050"/>
                    </a:p>
                  </a:txBody>
                  <a:tcPr marL="9525" marR="9525" marT="9525" marB="0" anchor="ctr"/>
                </a:tc>
              </a:tr>
              <a:tr h="170266">
                <a:tc>
                  <a:txBody>
                    <a:bodyPr wrap="square"/>
                    <a:lstStyle/>
                    <a:p>
                      <a:pPr algn="l"/>
                      <a:r>
                        <a:rPr sz="1050" b="0" i="0">
                          <a:solidFill>
                            <a:srgbClr val="000000"/>
                          </a:solidFill>
                          <a:latin typeface="Calibri"/>
                        </a:rPr>
                        <a:t>Figure 170: Company Market Share in the North America Market, %, 2026</a:t>
                      </a:r>
                      <a:endParaRPr sz="1050"/>
                    </a:p>
                  </a:txBody>
                  <a:tcPr marL="9525" marR="9525" marT="9525" marB="0" anchor="ctr"/>
                </a:tc>
              </a:tr>
              <a:tr h="170266">
                <a:tc>
                  <a:txBody>
                    <a:bodyPr wrap="square"/>
                    <a:lstStyle/>
                    <a:p>
                      <a:pPr algn="l"/>
                      <a:r>
                        <a:rPr sz="1050" b="0" i="0">
                          <a:solidFill>
                            <a:srgbClr val="000000"/>
                          </a:solidFill>
                          <a:latin typeface="Calibri"/>
                        </a:rPr>
                        <a:t>Figure 171: Company Market Share in the Latin America Market, %, 2026</a:t>
                      </a:r>
                      <a:endParaRPr sz="1050"/>
                    </a:p>
                  </a:txBody>
                  <a:tcPr marL="9525" marR="9525" marT="9525" marB="0" anchor="ctr"/>
                </a:tc>
              </a:tr>
              <a:tr h="170266">
                <a:tc>
                  <a:txBody>
                    <a:bodyPr wrap="square"/>
                    <a:lstStyle/>
                    <a:p>
                      <a:pPr algn="l"/>
                      <a:r>
                        <a:rPr sz="1050" b="0" i="0">
                          <a:solidFill>
                            <a:srgbClr val="000000"/>
                          </a:solidFill>
                          <a:latin typeface="Calibri"/>
                        </a:rPr>
                        <a:t>Figure 172: Company Market Share in the Europe Market, %, 2026</a:t>
                      </a:r>
                      <a:endParaRPr sz="1050"/>
                    </a:p>
                  </a:txBody>
                  <a:tcPr marL="9525" marR="9525" marT="9525" marB="0" anchor="ctr"/>
                </a:tc>
              </a:tr>
              <a:tr h="170266">
                <a:tc>
                  <a:txBody>
                    <a:bodyPr wrap="square"/>
                    <a:lstStyle/>
                    <a:p>
                      <a:pPr algn="l"/>
                      <a:r>
                        <a:rPr sz="1050" b="0" i="0">
                          <a:solidFill>
                            <a:srgbClr val="000000"/>
                          </a:solidFill>
                          <a:latin typeface="Calibri"/>
                        </a:rPr>
                        <a:t>Figure 173: Company Market Share in the East Asia Market, %, 2026</a:t>
                      </a:r>
                      <a:endParaRPr sz="1050"/>
                    </a:p>
                  </a:txBody>
                  <a:tcPr marL="9525" marR="9525" marT="9525" marB="0" anchor="ctr"/>
                </a:tc>
              </a:tr>
              <a:tr h="170266">
                <a:tc>
                  <a:txBody>
                    <a:bodyPr wrap="square"/>
                    <a:lstStyle/>
                    <a:p>
                      <a:pPr algn="l"/>
                      <a:r>
                        <a:rPr sz="1050" b="0" i="0">
                          <a:solidFill>
                            <a:srgbClr val="000000"/>
                          </a:solidFill>
                          <a:latin typeface="Calibri"/>
                        </a:rPr>
                        <a:t>Figure 174: Company Market Share in the South Asia &amp; Pacific Market, %, 2026</a:t>
                      </a:r>
                      <a:endParaRPr sz="1050"/>
                    </a:p>
                  </a:txBody>
                  <a:tcPr marL="9525" marR="9525" marT="9525" marB="0" anchor="ctr"/>
                </a:tc>
              </a:tr>
              <a:tr h="170266">
                <a:tc>
                  <a:txBody>
                    <a:bodyPr wrap="square"/>
                    <a:lstStyle/>
                    <a:p>
                      <a:pPr algn="l"/>
                      <a:r>
                        <a:rPr sz="1050" b="0" i="0">
                          <a:solidFill>
                            <a:srgbClr val="000000"/>
                          </a:solidFill>
                          <a:latin typeface="Calibri"/>
                        </a:rPr>
                        <a:t>Figure 175: Company Market Share in the Middle East &amp; Africa Market, %, 2026</a:t>
                      </a:r>
                      <a:endParaRPr sz="1050"/>
                    </a:p>
                  </a:txBody>
                  <a:tcPr marL="9525" marR="9525" marT="9525" marB="0" anchor="ctr"/>
                </a:tc>
              </a:tr>
              <a:tr h="170266">
                <a:tc>
                  <a:txBody>
                    <a:bodyPr wrap="square"/>
                    <a:lstStyle/>
                    <a:p>
                      <a:pPr algn="l"/>
                      <a:r>
                        <a:rPr sz="1050" b="0" i="0">
                          <a:solidFill>
                            <a:srgbClr val="000000"/>
                          </a:solidFill>
                          <a:latin typeface="Calibri"/>
                        </a:rPr>
                        <a:t>Figure 176: L'Oréal S.A.: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177: Company Profile: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178: Profile Element: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179: Overview: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180: Product Portfolio: Revenue from the Global Market and Share, US$ Mn and %, 2026</a:t>
                      </a:r>
                      <a:endParaRPr sz="1050"/>
                    </a:p>
                  </a:txBody>
                  <a:tcPr marL="9525" marR="9525" marT="9525" marB="0" anchor="ctr"/>
                </a:tc>
              </a:tr>
              <a:tr h="333720">
                <a:tc>
                  <a:txBody>
                    <a:bodyPr wrap="square"/>
                    <a:lstStyle/>
                    <a:p>
                      <a:pPr algn="l"/>
                      <a:r>
                        <a:rPr sz="1050" b="0" i="0">
                          <a:solidFill>
                            <a:srgbClr val="000000"/>
                          </a:solidFill>
                          <a:latin typeface="Calibri"/>
                        </a:rPr>
                        <a:t>Figure 181: Market Segments — Product Sales: Revenue from the Global Market and Share, US$ Mn and %, 2026</a:t>
                      </a:r>
                      <a:endParaRPr sz="1050"/>
                    </a:p>
                  </a:txBody>
                  <a:tcPr marL="9525" marR="9525" marT="9525" marB="0" anchor="ctr"/>
                </a:tc>
              </a:tr>
              <a:tr h="333720">
                <a:tc>
                  <a:txBody>
                    <a:bodyPr wrap="square"/>
                    <a:lstStyle/>
                    <a:p>
                      <a:pPr algn="l"/>
                      <a:r>
                        <a:rPr sz="1050" b="0" i="0">
                          <a:solidFill>
                            <a:srgbClr val="000000"/>
                          </a:solidFill>
                          <a:latin typeface="Calibri"/>
                        </a:rPr>
                        <a:t>Figure 182: Market Segments — Channel Sales: Revenue from the Global Market and Share, US$ Mn and %, 2026</a:t>
                      </a:r>
                      <a:endParaRPr sz="1050"/>
                    </a:p>
                  </a:txBody>
                  <a:tcPr marL="9525" marR="9525" marT="9525" marB="0" anchor="ctr"/>
                </a:tc>
              </a:tr>
              <a:tr h="333720">
                <a:tc>
                  <a:txBody>
                    <a:bodyPr wrap="square"/>
                    <a:lstStyle/>
                    <a:p>
                      <a:pPr algn="l"/>
                      <a:r>
                        <a:rPr sz="1050" b="0" i="0">
                          <a:solidFill>
                            <a:srgbClr val="000000"/>
                          </a:solidFill>
                          <a:latin typeface="Calibri"/>
                        </a:rPr>
                        <a:t>Figure 183: Market Segments — Regional Sales: Revenue from the Global Market and Share, US$ Mn and %,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2833696"/>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184: Sales Footprint: Revenue from the Global Market and Share, US$ Mn and %, 2026</a:t>
                      </a:r>
                      <a:endParaRPr sz="1050"/>
                    </a:p>
                  </a:txBody>
                  <a:tcPr marL="9525" marR="9525" marT="9525" marB="0" anchor="ctr"/>
                </a:tc>
              </a:tr>
              <a:tr h="166688">
                <a:tc>
                  <a:txBody>
                    <a:bodyPr wrap="square"/>
                    <a:lstStyle/>
                    <a:p>
                      <a:pPr algn="l"/>
                      <a:r>
                        <a:rPr sz="1050" b="0" i="0">
                          <a:solidFill>
                            <a:srgbClr val="000000"/>
                          </a:solidFill>
                          <a:latin typeface="Calibri"/>
                        </a:rPr>
                        <a:t>Figure 185: Strategy Overview: Revenue from the Global Market and Share, US$ Mn and %, 2026</a:t>
                      </a:r>
                      <a:endParaRPr sz="1050"/>
                    </a:p>
                  </a:txBody>
                  <a:tcPr marL="9525" marR="9525" marT="9525" marB="0" anchor="ctr"/>
                </a:tc>
              </a:tr>
              <a:tr h="166688">
                <a:tc>
                  <a:txBody>
                    <a:bodyPr wrap="square"/>
                    <a:lstStyle/>
                    <a:p>
                      <a:pPr algn="l"/>
                      <a:r>
                        <a:rPr sz="1050" b="0" i="0">
                          <a:solidFill>
                            <a:srgbClr val="000000"/>
                          </a:solidFill>
                          <a:latin typeface="Calibri"/>
                        </a:rPr>
                        <a:t>Figure 186: Global Market Value Forecast by Scenario, US$ Mn,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YoY Growth by Scenario, %,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Opportunity Map by Region and Product Type, 2026–2036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Emerging Opportunity Pockets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196: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197: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198: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199: Global Market Unmet Needs Analysis by Product Type,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Right-to-Win Assessment, 2026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69606">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69606">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69606">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69606">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69606">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69606">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69606">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69606">
                <a:tc>
                  <a:txBody>
                    <a:bodyPr wrap="square"/>
                    <a:lstStyle/>
                    <a:p>
                      <a:pPr algn="l"/>
                      <a:r>
                        <a:rPr sz="1050" b="0" i="0">
                          <a:solidFill>
                            <a:srgbClr val="000000"/>
                          </a:solidFill>
                          <a:latin typeface="Calibri"/>
                        </a:rPr>
                        <a:t>Table 11: Global Market Volume and YoY Growth, Units and %, 2021–2036</a:t>
                      </a:r>
                      <a:endParaRPr sz="1050"/>
                    </a:p>
                  </a:txBody>
                  <a:tcPr marL="9525" marR="9525" marT="9525" marB="0" anchor="ctr"/>
                </a:tc>
              </a:tr>
              <a:tr h="169606">
                <a:tc>
                  <a:txBody>
                    <a:bodyPr wrap="square"/>
                    <a:lstStyle/>
                    <a:p>
                      <a:pPr algn="l"/>
                      <a:r>
                        <a:rPr sz="1050" b="0" i="0">
                          <a:solidFill>
                            <a:srgbClr val="000000"/>
                          </a:solidFill>
                          <a:latin typeface="Calibri"/>
                        </a:rPr>
                        <a:t>Table 12: Global Market Volume Forecast, Units, 2026–2036</a:t>
                      </a:r>
                      <a:endParaRPr sz="1050"/>
                    </a:p>
                  </a:txBody>
                  <a:tcPr marL="9525" marR="9525" marT="9525" marB="0" anchor="ctr"/>
                </a:tc>
              </a:tr>
              <a:tr h="169606">
                <a:tc>
                  <a:txBody>
                    <a:bodyPr wrap="square"/>
                    <a:lstStyle/>
                    <a:p>
                      <a:pPr algn="l"/>
                      <a:r>
                        <a:rPr sz="1050" b="0" i="0">
                          <a:solidFill>
                            <a:srgbClr val="000000"/>
                          </a:solidFill>
                          <a:latin typeface="Calibri"/>
                        </a:rPr>
                        <a:t>Table 13: Global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69606">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69606">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69606">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69606">
                <a:tc>
                  <a:txBody>
                    <a:bodyPr wrap="square"/>
                    <a:lstStyle/>
                    <a:p>
                      <a:pPr algn="l"/>
                      <a:r>
                        <a:rPr sz="1050" b="0" i="0">
                          <a:solidFill>
                            <a:srgbClr val="000000"/>
                          </a:solidFill>
                          <a:latin typeface="Calibri"/>
                        </a:rPr>
                        <a:t>Table 20: Global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21: Global Market Value by Form Type, US$ Mn, 2021–2036</a:t>
                      </a:r>
                      <a:endParaRPr sz="1050"/>
                    </a:p>
                  </a:txBody>
                  <a:tcPr marL="9525" marR="9525" marT="9525" marB="0" anchor="ctr"/>
                </a:tc>
              </a:tr>
              <a:tr h="169606">
                <a:tc>
                  <a:txBody>
                    <a:bodyPr wrap="square"/>
                    <a:lstStyle/>
                    <a:p>
                      <a:pPr algn="l"/>
                      <a:r>
                        <a:rPr sz="1050" b="0" i="0">
                          <a:solidFill>
                            <a:srgbClr val="000000"/>
                          </a:solidFill>
                          <a:latin typeface="Calibri"/>
                        </a:rPr>
                        <a:t>Table 22: Global Market Value by SPF Rating, US$ Mn, 2021–2036</a:t>
                      </a:r>
                      <a:endParaRPr sz="1050"/>
                    </a:p>
                  </a:txBody>
                  <a:tcPr marL="9525" marR="9525" marT="9525" marB="0" anchor="ctr"/>
                </a:tc>
              </a:tr>
              <a:tr h="169606">
                <a:tc>
                  <a:txBody>
                    <a:bodyPr wrap="square"/>
                    <a:lstStyle/>
                    <a:p>
                      <a:pPr algn="l"/>
                      <a:r>
                        <a:rPr sz="1050" b="0" i="0">
                          <a:solidFill>
                            <a:srgbClr val="000000"/>
                          </a:solidFill>
                          <a:latin typeface="Calibri"/>
                        </a:rPr>
                        <a:t>Table 23: Global Market Value by Ingredient Type, US$ Mn, 2021–2036</a:t>
                      </a:r>
                      <a:endParaRPr sz="1050"/>
                    </a:p>
                  </a:txBody>
                  <a:tcPr marL="9525" marR="9525" marT="9525" marB="0" anchor="ctr"/>
                </a:tc>
              </a:tr>
              <a:tr h="169606">
                <a:tc>
                  <a:txBody>
                    <a:bodyPr wrap="square"/>
                    <a:lstStyle/>
                    <a:p>
                      <a:pPr algn="l"/>
                      <a:r>
                        <a:rPr sz="1050" b="0" i="0">
                          <a:solidFill>
                            <a:srgbClr val="000000"/>
                          </a:solidFill>
                          <a:latin typeface="Calibri"/>
                        </a:rPr>
                        <a:t>Table 24: Global Market Value by End-use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25: Global Market Value by Pack Size, US$ Mn, 2021–2036</a:t>
                      </a:r>
                      <a:endParaRPr sz="1050"/>
                    </a:p>
                  </a:txBody>
                  <a:tcPr marL="9525" marR="9525" marT="9525" marB="0" anchor="ctr"/>
                </a:tc>
              </a:tr>
              <a:tr h="169606">
                <a:tc>
                  <a:txBody>
                    <a:bodyPr wrap="square"/>
                    <a:lstStyle/>
                    <a:p>
                      <a:pPr algn="l"/>
                      <a:r>
                        <a:rPr sz="1050" b="0" i="0">
                          <a:solidFill>
                            <a:srgbClr val="000000"/>
                          </a:solidFill>
                          <a:latin typeface="Calibri"/>
                        </a:rPr>
                        <a:t>Table 26: Global Market Value by Price Tier, US$ Mn, 2021–2036</a:t>
                      </a:r>
                      <a:endParaRPr sz="1050"/>
                    </a:p>
                  </a:txBody>
                  <a:tcPr marL="9525" marR="9525" marT="9525" marB="0" anchor="ctr"/>
                </a:tc>
              </a:tr>
              <a:tr h="169606">
                <a:tc>
                  <a:txBody>
                    <a:bodyPr wrap="square"/>
                    <a:lstStyle/>
                    <a:p>
                      <a:pPr algn="l"/>
                      <a:r>
                        <a:rPr sz="1050" b="0" i="0">
                          <a:solidFill>
                            <a:srgbClr val="000000"/>
                          </a:solidFill>
                          <a:latin typeface="Calibri"/>
                        </a:rPr>
                        <a:t>Table 27: Global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28: Global Market CAGR and Absolute $ Opportunity by Product Type, %, US$ Mn, 2026–2036</a:t>
                      </a:r>
                      <a:endParaRPr sz="1050"/>
                    </a:p>
                  </a:txBody>
                  <a:tcPr marL="9525" marR="9525" marT="9525" marB="0" anchor="ctr"/>
                </a:tc>
              </a:tr>
              <a:tr h="169606">
                <a:tc>
                  <a:txBody>
                    <a:bodyPr wrap="square"/>
                    <a:lstStyle/>
                    <a:p>
                      <a:pPr algn="l"/>
                      <a:r>
                        <a:rPr sz="1050" b="0" i="0">
                          <a:solidFill>
                            <a:srgbClr val="000000"/>
                          </a:solidFill>
                          <a:latin typeface="Calibri"/>
                        </a:rPr>
                        <a:t>Table 29: Global Market CAGR and Absolute $ Opportunity by Form Type, %, US$ Mn, 2026–2036</a:t>
                      </a:r>
                      <a:endParaRPr sz="1050"/>
                    </a:p>
                  </a:txBody>
                  <a:tcPr marL="9525" marR="9525" marT="9525" marB="0" anchor="ctr"/>
                </a:tc>
              </a:tr>
              <a:tr h="169606">
                <a:tc>
                  <a:txBody>
                    <a:bodyPr wrap="square"/>
                    <a:lstStyle/>
                    <a:p>
                      <a:pPr algn="l"/>
                      <a:r>
                        <a:rPr sz="1050" b="0" i="0">
                          <a:solidFill>
                            <a:srgbClr val="000000"/>
                          </a:solidFill>
                          <a:latin typeface="Calibri"/>
                        </a:rPr>
                        <a:t>Table 30: Global Market CAGR and Absolute $ Opportunity by SPF Rating, %, US$ Mn, 2026–2036</a:t>
                      </a:r>
                      <a:endParaRPr sz="1050"/>
                    </a:p>
                  </a:txBody>
                  <a:tcPr marL="9525" marR="9525" marT="9525" marB="0" anchor="ctr"/>
                </a:tc>
              </a:tr>
              <a:tr h="169606">
                <a:tc>
                  <a:txBody>
                    <a:bodyPr wrap="square"/>
                    <a:lstStyle/>
                    <a:p>
                      <a:pPr algn="l"/>
                      <a:r>
                        <a:rPr sz="1050" b="0" i="0">
                          <a:solidFill>
                            <a:srgbClr val="000000"/>
                          </a:solidFill>
                          <a:latin typeface="Calibri"/>
                        </a:rPr>
                        <a:t>Table 31: Global Market CAGR and Absolute $ Opportunity by Ingredient Type,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332858">
                <a:tc>
                  <a:txBody>
                    <a:bodyPr wrap="square"/>
                    <a:lstStyle/>
                    <a:p>
                      <a:pPr algn="l"/>
                      <a:r>
                        <a:rPr sz="1050" b="0" i="0">
                          <a:solidFill>
                            <a:srgbClr val="000000"/>
                          </a:solidFill>
                          <a:latin typeface="Calibri"/>
                        </a:rPr>
                        <a:t>Table 32: Global Market CAGR and Absolute $ Opportunity by End-use Application, %, US$ Mn, 2026–2036</a:t>
                      </a:r>
                      <a:endParaRPr sz="1050"/>
                    </a:p>
                  </a:txBody>
                  <a:tcPr marL="9525" marR="9525" marT="9525" marB="0" anchor="ctr"/>
                </a:tc>
              </a:tr>
              <a:tr h="169826">
                <a:tc>
                  <a:txBody>
                    <a:bodyPr wrap="square"/>
                    <a:lstStyle/>
                    <a:p>
                      <a:pPr algn="l"/>
                      <a:r>
                        <a:rPr sz="1050" b="0" i="0">
                          <a:solidFill>
                            <a:srgbClr val="000000"/>
                          </a:solidFill>
                          <a:latin typeface="Calibri"/>
                        </a:rPr>
                        <a:t>Table 33: Global Market CAGR and Absolute $ Opportunity by Pack Size, %, US$ Mn, 2026–2036</a:t>
                      </a:r>
                      <a:endParaRPr sz="1050"/>
                    </a:p>
                  </a:txBody>
                  <a:tcPr marL="9525" marR="9525" marT="9525" marB="0" anchor="ctr"/>
                </a:tc>
              </a:tr>
              <a:tr h="169826">
                <a:tc>
                  <a:txBody>
                    <a:bodyPr wrap="square"/>
                    <a:lstStyle/>
                    <a:p>
                      <a:pPr algn="l"/>
                      <a:r>
                        <a:rPr sz="1050" b="0" i="0">
                          <a:solidFill>
                            <a:srgbClr val="000000"/>
                          </a:solidFill>
                          <a:latin typeface="Calibri"/>
                        </a:rPr>
                        <a:t>Table 34: Global Market CAGR and Absolute $ Opportunity by Price Tier, %, US$ Mn, 2026–2036</a:t>
                      </a:r>
                      <a:endParaRPr sz="1050"/>
                    </a:p>
                  </a:txBody>
                  <a:tcPr marL="9525" marR="9525" marT="9525" marB="0" anchor="ctr"/>
                </a:tc>
              </a:tr>
              <a:tr h="169826">
                <a:tc>
                  <a:txBody>
                    <a:bodyPr wrap="square"/>
                    <a:lstStyle/>
                    <a:p>
                      <a:pPr algn="l"/>
                      <a:r>
                        <a:rPr sz="1050" b="0" i="0">
                          <a:solidFill>
                            <a:srgbClr val="000000"/>
                          </a:solidFill>
                          <a:latin typeface="Calibri"/>
                        </a:rPr>
                        <a:t>Table 35: Global Market CAGR and Absolute $ Opportunity by Sales Channel, %, US$ Mn, 2026–2036</a:t>
                      </a:r>
                      <a:endParaRPr sz="1050"/>
                    </a:p>
                  </a:txBody>
                  <a:tcPr marL="9525" marR="9525" marT="9525" marB="0" anchor="ctr"/>
                </a:tc>
              </a:tr>
              <a:tr h="169826">
                <a:tc>
                  <a:txBody>
                    <a:bodyPr wrap="square"/>
                    <a:lstStyle/>
                    <a:p>
                      <a:pPr algn="l"/>
                      <a:r>
                        <a:rPr sz="1050" b="0" i="0">
                          <a:solidFill>
                            <a:srgbClr val="000000"/>
                          </a:solidFill>
                          <a:latin typeface="Calibri"/>
                        </a:rPr>
                        <a:t>Table 36: Global Market Share and BPS Change by Product Type, %, 2025, 2026 and 2036</a:t>
                      </a:r>
                      <a:endParaRPr sz="1050"/>
                    </a:p>
                  </a:txBody>
                  <a:tcPr marL="9525" marR="9525" marT="9525" marB="0" anchor="ctr"/>
                </a:tc>
              </a:tr>
              <a:tr h="169826">
                <a:tc>
                  <a:txBody>
                    <a:bodyPr wrap="square"/>
                    <a:lstStyle/>
                    <a:p>
                      <a:pPr algn="l"/>
                      <a:r>
                        <a:rPr sz="1050" b="0" i="0">
                          <a:solidFill>
                            <a:srgbClr val="000000"/>
                          </a:solidFill>
                          <a:latin typeface="Calibri"/>
                        </a:rPr>
                        <a:t>Table 37: Global Market Share and BPS Change by Form Type, %, 2025, 2026 and 2036</a:t>
                      </a:r>
                      <a:endParaRPr sz="1050"/>
                    </a:p>
                  </a:txBody>
                  <a:tcPr marL="9525" marR="9525" marT="9525" marB="0" anchor="ctr"/>
                </a:tc>
              </a:tr>
              <a:tr h="169826">
                <a:tc>
                  <a:txBody>
                    <a:bodyPr wrap="square"/>
                    <a:lstStyle/>
                    <a:p>
                      <a:pPr algn="l"/>
                      <a:r>
                        <a:rPr sz="1050" b="0" i="0">
                          <a:solidFill>
                            <a:srgbClr val="000000"/>
                          </a:solidFill>
                          <a:latin typeface="Calibri"/>
                        </a:rPr>
                        <a:t>Table 38: Global Market Share and BPS Change by SPF Rating, %, 2025, 2026 and 2036</a:t>
                      </a:r>
                      <a:endParaRPr sz="1050"/>
                    </a:p>
                  </a:txBody>
                  <a:tcPr marL="9525" marR="9525" marT="9525" marB="0" anchor="ctr"/>
                </a:tc>
              </a:tr>
              <a:tr h="169826">
                <a:tc>
                  <a:txBody>
                    <a:bodyPr wrap="square"/>
                    <a:lstStyle/>
                    <a:p>
                      <a:pPr algn="l"/>
                      <a:r>
                        <a:rPr sz="1050" b="0" i="0">
                          <a:solidFill>
                            <a:srgbClr val="000000"/>
                          </a:solidFill>
                          <a:latin typeface="Calibri"/>
                        </a:rPr>
                        <a:t>Table 39: Global Market Share and BPS Change by Ingredient Type, %, 2025, 2026 and 2036</a:t>
                      </a:r>
                      <a:endParaRPr sz="1050"/>
                    </a:p>
                  </a:txBody>
                  <a:tcPr marL="9525" marR="9525" marT="9525" marB="0" anchor="ctr"/>
                </a:tc>
              </a:tr>
              <a:tr h="169826">
                <a:tc>
                  <a:txBody>
                    <a:bodyPr wrap="square"/>
                    <a:lstStyle/>
                    <a:p>
                      <a:pPr algn="l"/>
                      <a:r>
                        <a:rPr sz="1050" b="0" i="0">
                          <a:solidFill>
                            <a:srgbClr val="000000"/>
                          </a:solidFill>
                          <a:latin typeface="Calibri"/>
                        </a:rPr>
                        <a:t>Table 40: Global Market Share and BPS Change by End-use Application, %, 2025, 2026 and 2036</a:t>
                      </a:r>
                      <a:endParaRPr sz="1050"/>
                    </a:p>
                  </a:txBody>
                  <a:tcPr marL="9525" marR="9525" marT="9525" marB="0" anchor="ctr"/>
                </a:tc>
              </a:tr>
              <a:tr h="169826">
                <a:tc>
                  <a:txBody>
                    <a:bodyPr wrap="square"/>
                    <a:lstStyle/>
                    <a:p>
                      <a:pPr algn="l"/>
                      <a:r>
                        <a:rPr sz="1050" b="0" i="0">
                          <a:solidFill>
                            <a:srgbClr val="000000"/>
                          </a:solidFill>
                          <a:latin typeface="Calibri"/>
                        </a:rPr>
                        <a:t>Table 41: Global Market Share and BPS Change by Pack Size, %, 2025, 2026 and 2036</a:t>
                      </a:r>
                      <a:endParaRPr sz="1050"/>
                    </a:p>
                  </a:txBody>
                  <a:tcPr marL="9525" marR="9525" marT="9525" marB="0" anchor="ctr"/>
                </a:tc>
              </a:tr>
              <a:tr h="169826">
                <a:tc>
                  <a:txBody>
                    <a:bodyPr wrap="square"/>
                    <a:lstStyle/>
                    <a:p>
                      <a:pPr algn="l"/>
                      <a:r>
                        <a:rPr sz="1050" b="0" i="0">
                          <a:solidFill>
                            <a:srgbClr val="000000"/>
                          </a:solidFill>
                          <a:latin typeface="Calibri"/>
                        </a:rPr>
                        <a:t>Table 42: Global Market Share and BPS Change by Price Tier, %, 2025, 2026 and 2036</a:t>
                      </a:r>
                      <a:endParaRPr sz="1050"/>
                    </a:p>
                  </a:txBody>
                  <a:tcPr marL="9525" marR="9525" marT="9525" marB="0" anchor="ctr"/>
                </a:tc>
              </a:tr>
              <a:tr h="169826">
                <a:tc>
                  <a:txBody>
                    <a:bodyPr wrap="square"/>
                    <a:lstStyle/>
                    <a:p>
                      <a:pPr algn="l"/>
                      <a:r>
                        <a:rPr sz="1050" b="0" i="0">
                          <a:solidFill>
                            <a:srgbClr val="000000"/>
                          </a:solidFill>
                          <a:latin typeface="Calibri"/>
                        </a:rPr>
                        <a:t>Table 43: Global Market Share and BPS Change by Sales Channel, %, 2025, 2026 and 2036</a:t>
                      </a:r>
                      <a:endParaRPr sz="1050"/>
                    </a:p>
                  </a:txBody>
                  <a:tcPr marL="9525" marR="9525" marT="9525" marB="0" anchor="ctr"/>
                </a:tc>
              </a:tr>
              <a:tr h="169826">
                <a:tc>
                  <a:txBody>
                    <a:bodyPr wrap="square"/>
                    <a:lstStyle/>
                    <a:p>
                      <a:pPr algn="l"/>
                      <a:r>
                        <a:rPr sz="1050" b="0" i="0">
                          <a:solidFill>
                            <a:srgbClr val="000000"/>
                          </a:solidFill>
                          <a:latin typeface="Calibri"/>
                        </a:rPr>
                        <a:t>Table 44: Global Market YoY Growth by Product Type, %, 2026–2036</a:t>
                      </a:r>
                      <a:endParaRPr sz="1050"/>
                    </a:p>
                  </a:txBody>
                  <a:tcPr marL="9525" marR="9525" marT="9525" marB="0" anchor="ctr"/>
                </a:tc>
              </a:tr>
              <a:tr h="169826">
                <a:tc>
                  <a:txBody>
                    <a:bodyPr wrap="square"/>
                    <a:lstStyle/>
                    <a:p>
                      <a:pPr algn="l"/>
                      <a:r>
                        <a:rPr sz="1050" b="0" i="0">
                          <a:solidFill>
                            <a:srgbClr val="000000"/>
                          </a:solidFill>
                          <a:latin typeface="Calibri"/>
                        </a:rPr>
                        <a:t>Table 45: Global Market YoY Growth by Form Type, %, 2026–2036</a:t>
                      </a:r>
                      <a:endParaRPr sz="1050"/>
                    </a:p>
                  </a:txBody>
                  <a:tcPr marL="9525" marR="9525" marT="9525" marB="0" anchor="ctr"/>
                </a:tc>
              </a:tr>
              <a:tr h="169826">
                <a:tc>
                  <a:txBody>
                    <a:bodyPr wrap="square"/>
                    <a:lstStyle/>
                    <a:p>
                      <a:pPr algn="l"/>
                      <a:r>
                        <a:rPr sz="1050" b="0" i="0">
                          <a:solidFill>
                            <a:srgbClr val="000000"/>
                          </a:solidFill>
                          <a:latin typeface="Calibri"/>
                        </a:rPr>
                        <a:t>Table 46: Global Market YoY Growth by SPF Rating, %, 2026–2036</a:t>
                      </a:r>
                      <a:endParaRPr sz="1050"/>
                    </a:p>
                  </a:txBody>
                  <a:tcPr marL="9525" marR="9525" marT="9525" marB="0" anchor="ctr"/>
                </a:tc>
              </a:tr>
              <a:tr h="169826">
                <a:tc>
                  <a:txBody>
                    <a:bodyPr wrap="square"/>
                    <a:lstStyle/>
                    <a:p>
                      <a:pPr algn="l"/>
                      <a:r>
                        <a:rPr sz="1050" b="0" i="0">
                          <a:solidFill>
                            <a:srgbClr val="000000"/>
                          </a:solidFill>
                          <a:latin typeface="Calibri"/>
                        </a:rPr>
                        <a:t>Table 47: Global Market YoY Growth by Ingredient Type, %, 2026–2036</a:t>
                      </a:r>
                      <a:endParaRPr sz="1050"/>
                    </a:p>
                  </a:txBody>
                  <a:tcPr marL="9525" marR="9525" marT="9525" marB="0" anchor="ctr"/>
                </a:tc>
              </a:tr>
              <a:tr h="169826">
                <a:tc>
                  <a:txBody>
                    <a:bodyPr wrap="square"/>
                    <a:lstStyle/>
                    <a:p>
                      <a:pPr algn="l"/>
                      <a:r>
                        <a:rPr sz="1050" b="0" i="0">
                          <a:solidFill>
                            <a:srgbClr val="000000"/>
                          </a:solidFill>
                          <a:latin typeface="Calibri"/>
                        </a:rPr>
                        <a:t>Table 48: Global Market YoY Growth by End-use Application, %, 2026–2036</a:t>
                      </a:r>
                      <a:endParaRPr sz="1050"/>
                    </a:p>
                  </a:txBody>
                  <a:tcPr marL="9525" marR="9525" marT="9525" marB="0" anchor="ctr"/>
                </a:tc>
              </a:tr>
              <a:tr h="169826">
                <a:tc>
                  <a:txBody>
                    <a:bodyPr wrap="square"/>
                    <a:lstStyle/>
                    <a:p>
                      <a:pPr algn="l"/>
                      <a:r>
                        <a:rPr sz="1050" b="0" i="0">
                          <a:solidFill>
                            <a:srgbClr val="000000"/>
                          </a:solidFill>
                          <a:latin typeface="Calibri"/>
                        </a:rPr>
                        <a:t>Table 49: Global Market YoY Growth by Pack Size, %, 2026–2036</a:t>
                      </a:r>
                      <a:endParaRPr sz="1050"/>
                    </a:p>
                  </a:txBody>
                  <a:tcPr marL="9525" marR="9525" marT="9525" marB="0" anchor="ctr"/>
                </a:tc>
              </a:tr>
              <a:tr h="169826">
                <a:tc>
                  <a:txBody>
                    <a:bodyPr wrap="square"/>
                    <a:lstStyle/>
                    <a:p>
                      <a:pPr algn="l"/>
                      <a:r>
                        <a:rPr sz="1050" b="0" i="0">
                          <a:solidFill>
                            <a:srgbClr val="000000"/>
                          </a:solidFill>
                          <a:latin typeface="Calibri"/>
                        </a:rPr>
                        <a:t>Table 50: Global Market YoY Growth by Price Tier, %, 2026–2036</a:t>
                      </a:r>
                      <a:endParaRPr sz="1050"/>
                    </a:p>
                  </a:txBody>
                  <a:tcPr marL="9525" marR="9525" marT="9525" marB="0" anchor="ctr"/>
                </a:tc>
              </a:tr>
              <a:tr h="169826">
                <a:tc>
                  <a:txBody>
                    <a:bodyPr wrap="square"/>
                    <a:lstStyle/>
                    <a:p>
                      <a:pPr algn="l"/>
                      <a:r>
                        <a:rPr sz="1050" b="0" i="0">
                          <a:solidFill>
                            <a:srgbClr val="000000"/>
                          </a:solidFill>
                          <a:latin typeface="Calibri"/>
                        </a:rPr>
                        <a:t>Table 51: Global Market YoY Growth by Sales Channel, %, 2026–2036</a:t>
                      </a:r>
                      <a:endParaRPr sz="1050"/>
                    </a:p>
                  </a:txBody>
                  <a:tcPr marL="9525" marR="9525" marT="9525" marB="0" anchor="ctr"/>
                </a:tc>
              </a:tr>
              <a:tr h="169826">
                <a:tc>
                  <a:txBody>
                    <a:bodyPr wrap="square"/>
                    <a:lstStyle/>
                    <a:p>
                      <a:pPr algn="l"/>
                      <a:r>
                        <a:rPr sz="1050" b="0" i="0">
                          <a:solidFill>
                            <a:srgbClr val="000000"/>
                          </a:solidFill>
                          <a:latin typeface="Calibri"/>
                        </a:rPr>
                        <a:t>Table 52: Global Market Volume by Product Type, Units, 2021–2036</a:t>
                      </a:r>
                      <a:endParaRPr sz="1050"/>
                    </a:p>
                  </a:txBody>
                  <a:tcPr marL="9525" marR="9525" marT="9525" marB="0" anchor="ctr"/>
                </a:tc>
              </a:tr>
              <a:tr h="169826">
                <a:tc>
                  <a:txBody>
                    <a:bodyPr wrap="square"/>
                    <a:lstStyle/>
                    <a:p>
                      <a:pPr algn="l"/>
                      <a:r>
                        <a:rPr sz="1050" b="0" i="0">
                          <a:solidFill>
                            <a:srgbClr val="000000"/>
                          </a:solidFill>
                          <a:latin typeface="Calibri"/>
                        </a:rPr>
                        <a:t>Table 53: Global Market Volume by Form Type, Units, 2021–2036</a:t>
                      </a:r>
                      <a:endParaRPr sz="1050"/>
                    </a:p>
                  </a:txBody>
                  <a:tcPr marL="9525" marR="9525" marT="9525" marB="0" anchor="ctr"/>
                </a:tc>
              </a:tr>
              <a:tr h="169826">
                <a:tc>
                  <a:txBody>
                    <a:bodyPr wrap="square"/>
                    <a:lstStyle/>
                    <a:p>
                      <a:pPr algn="l"/>
                      <a:r>
                        <a:rPr sz="1050" b="0" i="0">
                          <a:solidFill>
                            <a:srgbClr val="000000"/>
                          </a:solidFill>
                          <a:latin typeface="Calibri"/>
                        </a:rPr>
                        <a:t>Table 54: Global Market Volume by SPF Rating, Units, 2021–2036</a:t>
                      </a:r>
                      <a:endParaRPr sz="1050"/>
                    </a:p>
                  </a:txBody>
                  <a:tcPr marL="9525" marR="9525" marT="9525" marB="0" anchor="ctr"/>
                </a:tc>
              </a:tr>
              <a:tr h="169826">
                <a:tc>
                  <a:txBody>
                    <a:bodyPr wrap="square"/>
                    <a:lstStyle/>
                    <a:p>
                      <a:pPr algn="l"/>
                      <a:r>
                        <a:rPr sz="1050" b="0" i="0">
                          <a:solidFill>
                            <a:srgbClr val="000000"/>
                          </a:solidFill>
                          <a:latin typeface="Calibri"/>
                        </a:rPr>
                        <a:t>Table 55: Global Market Volume by Ingredient Type, Units, 2021–2036</a:t>
                      </a:r>
                      <a:endParaRPr sz="1050"/>
                    </a:p>
                  </a:txBody>
                  <a:tcPr marL="9525" marR="9525" marT="9525" marB="0" anchor="ctr"/>
                </a:tc>
              </a:tr>
              <a:tr h="169826">
                <a:tc>
                  <a:txBody>
                    <a:bodyPr wrap="square"/>
                    <a:lstStyle/>
                    <a:p>
                      <a:pPr algn="l"/>
                      <a:r>
                        <a:rPr sz="1050" b="0" i="0">
                          <a:solidFill>
                            <a:srgbClr val="000000"/>
                          </a:solidFill>
                          <a:latin typeface="Calibri"/>
                        </a:rPr>
                        <a:t>Table 56: Global Market Volume by End-use Application, Units, 2021–2036</a:t>
                      </a:r>
                      <a:endParaRPr sz="1050"/>
                    </a:p>
                  </a:txBody>
                  <a:tcPr marL="9525" marR="9525" marT="9525" marB="0" anchor="ctr"/>
                </a:tc>
              </a:tr>
              <a:tr h="169826">
                <a:tc>
                  <a:txBody>
                    <a:bodyPr wrap="square"/>
                    <a:lstStyle/>
                    <a:p>
                      <a:pPr algn="l"/>
                      <a:r>
                        <a:rPr sz="1050" b="0" i="0">
                          <a:solidFill>
                            <a:srgbClr val="000000"/>
                          </a:solidFill>
                          <a:latin typeface="Calibri"/>
                        </a:rPr>
                        <a:t>Table 57: Global Market Volume by Pack Size, Units, 2021–2036</a:t>
                      </a:r>
                      <a:endParaRPr sz="1050"/>
                    </a:p>
                  </a:txBody>
                  <a:tcPr marL="9525" marR="9525" marT="9525" marB="0" anchor="ctr"/>
                </a:tc>
              </a:tr>
              <a:tr h="169826">
                <a:tc>
                  <a:txBody>
                    <a:bodyPr wrap="square"/>
                    <a:lstStyle/>
                    <a:p>
                      <a:pPr algn="l"/>
                      <a:r>
                        <a:rPr sz="1050" b="0" i="0">
                          <a:solidFill>
                            <a:srgbClr val="000000"/>
                          </a:solidFill>
                          <a:latin typeface="Calibri"/>
                        </a:rPr>
                        <a:t>Table 58: Global Market Volume by Price Tier, Units, 2021–2036</a:t>
                      </a:r>
                      <a:endParaRPr sz="1050"/>
                    </a:p>
                  </a:txBody>
                  <a:tcPr marL="9525" marR="9525" marT="9525" marB="0" anchor="ctr"/>
                </a:tc>
              </a:tr>
              <a:tr h="169826">
                <a:tc>
                  <a:txBody>
                    <a:bodyPr wrap="square"/>
                    <a:lstStyle/>
                    <a:p>
                      <a:pPr algn="l"/>
                      <a:r>
                        <a:rPr sz="1050" b="0" i="0">
                          <a:solidFill>
                            <a:srgbClr val="000000"/>
                          </a:solidFill>
                          <a:latin typeface="Calibri"/>
                        </a:rPr>
                        <a:t>Table 59: Global Market Volume by Sales Channel, Units, 2021–2036</a:t>
                      </a:r>
                      <a:endParaRPr sz="1050"/>
                    </a:p>
                  </a:txBody>
                  <a:tcPr marL="9525" marR="9525" marT="9525" marB="0" anchor="ctr"/>
                </a:tc>
              </a:tr>
              <a:tr h="169826">
                <a:tc>
                  <a:txBody>
                    <a:bodyPr wrap="square"/>
                    <a:lstStyle/>
                    <a:p>
                      <a:pPr algn="l"/>
                      <a:r>
                        <a:rPr sz="1050" b="0" i="0">
                          <a:solidFill>
                            <a:srgbClr val="000000"/>
                          </a:solidFill>
                          <a:latin typeface="Calibri"/>
                        </a:rPr>
                        <a:t>Table 60: Global Market Average Selling Price by Product Type, US$/Units, 2021–2036</a:t>
                      </a:r>
                      <a:endParaRPr sz="1050"/>
                    </a:p>
                  </a:txBody>
                  <a:tcPr marL="9525" marR="9525" marT="9525" marB="0" anchor="ctr"/>
                </a:tc>
              </a:tr>
              <a:tr h="169826">
                <a:tc>
                  <a:txBody>
                    <a:bodyPr wrap="square"/>
                    <a:lstStyle/>
                    <a:p>
                      <a:pPr algn="l"/>
                      <a:r>
                        <a:rPr sz="1050" b="0" i="0">
                          <a:solidFill>
                            <a:srgbClr val="000000"/>
                          </a:solidFill>
                          <a:latin typeface="Calibri"/>
                        </a:rPr>
                        <a:t>Table 61: Global Market Average Selling Price by Form Type, US$/Units,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62: Global Market Average Selling Price by SPF Rating, US$/Units, 2021–2036</a:t>
                      </a:r>
                      <a:endParaRPr sz="1050"/>
                    </a:p>
                  </a:txBody>
                  <a:tcPr marL="9525" marR="9525" marT="9525" marB="0" anchor="ctr"/>
                </a:tc>
              </a:tr>
              <a:tr h="169606">
                <a:tc>
                  <a:txBody>
                    <a:bodyPr wrap="square"/>
                    <a:lstStyle/>
                    <a:p>
                      <a:pPr algn="l"/>
                      <a:r>
                        <a:rPr sz="1050" b="0" i="0">
                          <a:solidFill>
                            <a:srgbClr val="000000"/>
                          </a:solidFill>
                          <a:latin typeface="Calibri"/>
                        </a:rPr>
                        <a:t>Table 63: Global Market Average Selling Price by Ingredient Type, US$/Units, 2021–2036</a:t>
                      </a:r>
                      <a:endParaRPr sz="1050"/>
                    </a:p>
                  </a:txBody>
                  <a:tcPr marL="9525" marR="9525" marT="9525" marB="0" anchor="ctr"/>
                </a:tc>
              </a:tr>
              <a:tr h="169606">
                <a:tc>
                  <a:txBody>
                    <a:bodyPr wrap="square"/>
                    <a:lstStyle/>
                    <a:p>
                      <a:pPr algn="l"/>
                      <a:r>
                        <a:rPr sz="1050" b="0" i="0">
                          <a:solidFill>
                            <a:srgbClr val="000000"/>
                          </a:solidFill>
                          <a:latin typeface="Calibri"/>
                        </a:rPr>
                        <a:t>Table 64: Global Market Average Selling Price by End-use Application, US$/Units, 2021–2036</a:t>
                      </a:r>
                      <a:endParaRPr sz="1050"/>
                    </a:p>
                  </a:txBody>
                  <a:tcPr marL="9525" marR="9525" marT="9525" marB="0" anchor="ctr"/>
                </a:tc>
              </a:tr>
              <a:tr h="169606">
                <a:tc>
                  <a:txBody>
                    <a:bodyPr wrap="square"/>
                    <a:lstStyle/>
                    <a:p>
                      <a:pPr algn="l"/>
                      <a:r>
                        <a:rPr sz="1050" b="0" i="0">
                          <a:solidFill>
                            <a:srgbClr val="000000"/>
                          </a:solidFill>
                          <a:latin typeface="Calibri"/>
                        </a:rPr>
                        <a:t>Table 65: Global Market Average Selling Price by Pack Size, US$/Units, 2021–2036</a:t>
                      </a:r>
                      <a:endParaRPr sz="1050"/>
                    </a:p>
                  </a:txBody>
                  <a:tcPr marL="9525" marR="9525" marT="9525" marB="0" anchor="ctr"/>
                </a:tc>
              </a:tr>
              <a:tr h="169606">
                <a:tc>
                  <a:txBody>
                    <a:bodyPr wrap="square"/>
                    <a:lstStyle/>
                    <a:p>
                      <a:pPr algn="l"/>
                      <a:r>
                        <a:rPr sz="1050" b="0" i="0">
                          <a:solidFill>
                            <a:srgbClr val="000000"/>
                          </a:solidFill>
                          <a:latin typeface="Calibri"/>
                        </a:rPr>
                        <a:t>Table 66: Global Market Average Selling Price by Price Tier, US$/Units, 2021–2036</a:t>
                      </a:r>
                      <a:endParaRPr sz="1050"/>
                    </a:p>
                  </a:txBody>
                  <a:tcPr marL="9525" marR="9525" marT="9525" marB="0" anchor="ctr"/>
                </a:tc>
              </a:tr>
              <a:tr h="169606">
                <a:tc>
                  <a:txBody>
                    <a:bodyPr wrap="square"/>
                    <a:lstStyle/>
                    <a:p>
                      <a:pPr algn="l"/>
                      <a:r>
                        <a:rPr sz="1050" b="0" i="0">
                          <a:solidFill>
                            <a:srgbClr val="000000"/>
                          </a:solidFill>
                          <a:latin typeface="Calibri"/>
                        </a:rPr>
                        <a:t>Table 67: Global Market Average Selling Price by Sales Channel, US$/Units, 2021–2036</a:t>
                      </a:r>
                      <a:endParaRPr sz="1050"/>
                    </a:p>
                  </a:txBody>
                  <a:tcPr marL="9525" marR="9525" marT="9525" marB="0" anchor="ctr"/>
                </a:tc>
              </a:tr>
              <a:tr h="169606">
                <a:tc>
                  <a:txBody>
                    <a:bodyPr wrap="square"/>
                    <a:lstStyle/>
                    <a:p>
                      <a:pPr algn="l"/>
                      <a:r>
                        <a:rPr sz="1050" b="0" i="0">
                          <a:solidFill>
                            <a:srgbClr val="000000"/>
                          </a:solidFill>
                          <a:latin typeface="Calibri"/>
                        </a:rPr>
                        <a:t>Table 68: Global Market Attractiveness Index by Product Type, 2026–2036</a:t>
                      </a:r>
                      <a:endParaRPr sz="1050"/>
                    </a:p>
                  </a:txBody>
                  <a:tcPr marL="9525" marR="9525" marT="9525" marB="0" anchor="ctr"/>
                </a:tc>
              </a:tr>
              <a:tr h="169606">
                <a:tc>
                  <a:txBody>
                    <a:bodyPr wrap="square"/>
                    <a:lstStyle/>
                    <a:p>
                      <a:pPr algn="l"/>
                      <a:r>
                        <a:rPr sz="1050" b="0" i="0">
                          <a:solidFill>
                            <a:srgbClr val="000000"/>
                          </a:solidFill>
                          <a:latin typeface="Calibri"/>
                        </a:rPr>
                        <a:t>Table 69: Global Market Attractiveness Index by Form Type, 2026–2036</a:t>
                      </a:r>
                      <a:endParaRPr sz="1050"/>
                    </a:p>
                  </a:txBody>
                  <a:tcPr marL="9525" marR="9525" marT="9525" marB="0" anchor="ctr"/>
                </a:tc>
              </a:tr>
              <a:tr h="169606">
                <a:tc>
                  <a:txBody>
                    <a:bodyPr wrap="square"/>
                    <a:lstStyle/>
                    <a:p>
                      <a:pPr algn="l"/>
                      <a:r>
                        <a:rPr sz="1050" b="0" i="0">
                          <a:solidFill>
                            <a:srgbClr val="000000"/>
                          </a:solidFill>
                          <a:latin typeface="Calibri"/>
                        </a:rPr>
                        <a:t>Table 70: Global Market Attractiveness Index by SPF Rating, 2026–2036</a:t>
                      </a:r>
                      <a:endParaRPr sz="1050"/>
                    </a:p>
                  </a:txBody>
                  <a:tcPr marL="9525" marR="9525" marT="9525" marB="0" anchor="ctr"/>
                </a:tc>
              </a:tr>
              <a:tr h="169606">
                <a:tc>
                  <a:txBody>
                    <a:bodyPr wrap="square"/>
                    <a:lstStyle/>
                    <a:p>
                      <a:pPr algn="l"/>
                      <a:r>
                        <a:rPr sz="1050" b="0" i="0">
                          <a:solidFill>
                            <a:srgbClr val="000000"/>
                          </a:solidFill>
                          <a:latin typeface="Calibri"/>
                        </a:rPr>
                        <a:t>Table 71: Global Market Attractiveness Index by Ingredient Type, 2026–2036</a:t>
                      </a:r>
                      <a:endParaRPr sz="1050"/>
                    </a:p>
                  </a:txBody>
                  <a:tcPr marL="9525" marR="9525" marT="9525" marB="0" anchor="ctr"/>
                </a:tc>
              </a:tr>
              <a:tr h="169606">
                <a:tc>
                  <a:txBody>
                    <a:bodyPr wrap="square"/>
                    <a:lstStyle/>
                    <a:p>
                      <a:pPr algn="l"/>
                      <a:r>
                        <a:rPr sz="1050" b="0" i="0">
                          <a:solidFill>
                            <a:srgbClr val="000000"/>
                          </a:solidFill>
                          <a:latin typeface="Calibri"/>
                        </a:rPr>
                        <a:t>Table 72: Global Market Attractiveness Index by End-use Application, 2026–2036</a:t>
                      </a:r>
                      <a:endParaRPr sz="1050"/>
                    </a:p>
                  </a:txBody>
                  <a:tcPr marL="9525" marR="9525" marT="9525" marB="0" anchor="ctr"/>
                </a:tc>
              </a:tr>
              <a:tr h="169606">
                <a:tc>
                  <a:txBody>
                    <a:bodyPr wrap="square"/>
                    <a:lstStyle/>
                    <a:p>
                      <a:pPr algn="l"/>
                      <a:r>
                        <a:rPr sz="1050" b="0" i="0">
                          <a:solidFill>
                            <a:srgbClr val="000000"/>
                          </a:solidFill>
                          <a:latin typeface="Calibri"/>
                        </a:rPr>
                        <a:t>Table 73: Global Market Attractiveness Index by Pack Size, 2026–2036</a:t>
                      </a:r>
                      <a:endParaRPr sz="1050"/>
                    </a:p>
                  </a:txBody>
                  <a:tcPr marL="9525" marR="9525" marT="9525" marB="0" anchor="ctr"/>
                </a:tc>
              </a:tr>
              <a:tr h="169606">
                <a:tc>
                  <a:txBody>
                    <a:bodyPr wrap="square"/>
                    <a:lstStyle/>
                    <a:p>
                      <a:pPr algn="l"/>
                      <a:r>
                        <a:rPr sz="1050" b="0" i="0">
                          <a:solidFill>
                            <a:srgbClr val="000000"/>
                          </a:solidFill>
                          <a:latin typeface="Calibri"/>
                        </a:rPr>
                        <a:t>Table 74: Global Market Attractiveness Index by Price Tier, 2026–2036</a:t>
                      </a:r>
                      <a:endParaRPr sz="1050"/>
                    </a:p>
                  </a:txBody>
                  <a:tcPr marL="9525" marR="9525" marT="9525" marB="0" anchor="ctr"/>
                </a:tc>
              </a:tr>
              <a:tr h="169606">
                <a:tc>
                  <a:txBody>
                    <a:bodyPr wrap="square"/>
                    <a:lstStyle/>
                    <a:p>
                      <a:pPr algn="l"/>
                      <a:r>
                        <a:rPr sz="1050" b="0" i="0">
                          <a:solidFill>
                            <a:srgbClr val="000000"/>
                          </a:solidFill>
                          <a:latin typeface="Calibri"/>
                        </a:rPr>
                        <a:t>Table 75: Global Market Attractiveness Index by Sales Channel, 2026–2036</a:t>
                      </a:r>
                      <a:endParaRPr sz="1050"/>
                    </a:p>
                  </a:txBody>
                  <a:tcPr marL="9525" marR="9525" marT="9525" marB="0" anchor="ctr"/>
                </a:tc>
              </a:tr>
              <a:tr h="169606">
                <a:tc>
                  <a:txBody>
                    <a:bodyPr wrap="square"/>
                    <a:lstStyle/>
                    <a:p>
                      <a:pPr algn="l"/>
                      <a:r>
                        <a:rPr sz="1050" b="0" i="0">
                          <a:solidFill>
                            <a:srgbClr val="000000"/>
                          </a:solidFill>
                          <a:latin typeface="Calibri"/>
                        </a:rPr>
                        <a:t>Table 76: Global Market Value of Mineral Ceramide Sunscreen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77: Global Market Value of Cream-based Sunscreen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78: Global Market Value of Below SPF 30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79: Global Market Value of Regular Ingredients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80: Global Market Value of Facial Sunscreen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81: Global Market Value of Up to 30 g/ml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82: Global Market Value of Mass Market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83: Global Market Value by Product Type and Form Type, US$ Mn, 2026–2036</a:t>
                      </a:r>
                      <a:endParaRPr sz="1050"/>
                    </a:p>
                  </a:txBody>
                  <a:tcPr marL="9525" marR="9525" marT="9525" marB="0" anchor="ctr"/>
                </a:tc>
              </a:tr>
              <a:tr h="169606">
                <a:tc>
                  <a:txBody>
                    <a:bodyPr wrap="square"/>
                    <a:lstStyle/>
                    <a:p>
                      <a:pPr algn="l"/>
                      <a:r>
                        <a:rPr sz="1050" b="0" i="0">
                          <a:solidFill>
                            <a:srgbClr val="000000"/>
                          </a:solidFill>
                          <a:latin typeface="Calibri"/>
                        </a:rPr>
                        <a:t>Table 84: Global Market Value by Product Type and SPF Rating, US$ Mn, 2026–2036</a:t>
                      </a:r>
                      <a:endParaRPr sz="1050"/>
                    </a:p>
                  </a:txBody>
                  <a:tcPr marL="9525" marR="9525" marT="9525" marB="0" anchor="ctr"/>
                </a:tc>
              </a:tr>
              <a:tr h="169606">
                <a:tc>
                  <a:txBody>
                    <a:bodyPr wrap="square"/>
                    <a:lstStyle/>
                    <a:p>
                      <a:pPr algn="l"/>
                      <a:r>
                        <a:rPr sz="1050" b="0" i="0">
                          <a:solidFill>
                            <a:srgbClr val="000000"/>
                          </a:solidFill>
                          <a:latin typeface="Calibri"/>
                        </a:rPr>
                        <a:t>Table 85: Global Market Value by Product Type and Ingredient Type, US$ Mn, 2026–2036</a:t>
                      </a:r>
                      <a:endParaRPr sz="1050"/>
                    </a:p>
                  </a:txBody>
                  <a:tcPr marL="9525" marR="9525" marT="9525" marB="0" anchor="ctr"/>
                </a:tc>
              </a:tr>
              <a:tr h="169606">
                <a:tc>
                  <a:txBody>
                    <a:bodyPr wrap="square"/>
                    <a:lstStyle/>
                    <a:p>
                      <a:pPr algn="l"/>
                      <a:r>
                        <a:rPr sz="1050" b="0" i="0">
                          <a:solidFill>
                            <a:srgbClr val="000000"/>
                          </a:solidFill>
                          <a:latin typeface="Calibri"/>
                        </a:rPr>
                        <a:t>Table 86: Global Market Value by Product Type and End-use Application, US$ Mn, 2026–2036</a:t>
                      </a:r>
                      <a:endParaRPr sz="1050"/>
                    </a:p>
                  </a:txBody>
                  <a:tcPr marL="9525" marR="9525" marT="9525" marB="0" anchor="ctr"/>
                </a:tc>
              </a:tr>
              <a:tr h="169606">
                <a:tc>
                  <a:txBody>
                    <a:bodyPr wrap="square"/>
                    <a:lstStyle/>
                    <a:p>
                      <a:pPr algn="l"/>
                      <a:r>
                        <a:rPr sz="1050" b="0" i="0">
                          <a:solidFill>
                            <a:srgbClr val="000000"/>
                          </a:solidFill>
                          <a:latin typeface="Calibri"/>
                        </a:rPr>
                        <a:t>Table 87: Global Market Value by Product Type and Pack Size, US$ Mn, 2026–2036</a:t>
                      </a:r>
                      <a:endParaRPr sz="1050"/>
                    </a:p>
                  </a:txBody>
                  <a:tcPr marL="9525" marR="9525" marT="9525" marB="0" anchor="ctr"/>
                </a:tc>
              </a:tr>
              <a:tr h="169606">
                <a:tc>
                  <a:txBody>
                    <a:bodyPr wrap="square"/>
                    <a:lstStyle/>
                    <a:p>
                      <a:pPr algn="l"/>
                      <a:r>
                        <a:rPr sz="1050" b="0" i="0">
                          <a:solidFill>
                            <a:srgbClr val="000000"/>
                          </a:solidFill>
                          <a:latin typeface="Calibri"/>
                        </a:rPr>
                        <a:t>Table 88: Global Market Value by Product Type and Price Tier, US$ Mn, 2026–2036</a:t>
                      </a:r>
                      <a:endParaRPr sz="1050"/>
                    </a:p>
                  </a:txBody>
                  <a:tcPr marL="9525" marR="9525" marT="9525" marB="0" anchor="ctr"/>
                </a:tc>
              </a:tr>
              <a:tr h="169606">
                <a:tc>
                  <a:txBody>
                    <a:bodyPr wrap="square"/>
                    <a:lstStyle/>
                    <a:p>
                      <a:pPr algn="l"/>
                      <a:r>
                        <a:rPr sz="1050" b="0" i="0">
                          <a:solidFill>
                            <a:srgbClr val="000000"/>
                          </a:solidFill>
                          <a:latin typeface="Calibri"/>
                        </a:rPr>
                        <a:t>Table 89: Global Market Value by Product Type and Sales Channel, US$ Mn, 2026–2036</a:t>
                      </a:r>
                      <a:endParaRPr sz="1050"/>
                    </a:p>
                  </a:txBody>
                  <a:tcPr marL="9525" marR="9525" marT="9525" marB="0" anchor="ctr"/>
                </a:tc>
              </a:tr>
              <a:tr h="169606">
                <a:tc>
                  <a:txBody>
                    <a:bodyPr wrap="square"/>
                    <a:lstStyle/>
                    <a:p>
                      <a:pPr algn="l"/>
                      <a:r>
                        <a:rPr sz="1050" b="0" i="0">
                          <a:solidFill>
                            <a:srgbClr val="000000"/>
                          </a:solidFill>
                          <a:latin typeface="Calibri"/>
                        </a:rPr>
                        <a:t>Table 90: Global Market Value by Form Type and SPF Rating, US$ Mn, 2026–2036</a:t>
                      </a:r>
                      <a:endParaRPr sz="1050"/>
                    </a:p>
                  </a:txBody>
                  <a:tcPr marL="9525" marR="9525" marT="9525" marB="0" anchor="ctr"/>
                </a:tc>
              </a:tr>
              <a:tr h="169606">
                <a:tc>
                  <a:txBody>
                    <a:bodyPr wrap="square"/>
                    <a:lstStyle/>
                    <a:p>
                      <a:pPr algn="l"/>
                      <a:r>
                        <a:rPr sz="1050" b="0" i="0">
                          <a:solidFill>
                            <a:srgbClr val="000000"/>
                          </a:solidFill>
                          <a:latin typeface="Calibri"/>
                        </a:rPr>
                        <a:t>Table 91: Global Market Value by Form Type and Ingredient Type, US$ Mn, 2026–2036</a:t>
                      </a:r>
                      <a:endParaRPr sz="1050"/>
                    </a:p>
                  </a:txBody>
                  <a:tcPr marL="9525" marR="9525" marT="9525" marB="0" anchor="ctr"/>
                </a:tc>
              </a:tr>
              <a:tr h="169606">
                <a:tc>
                  <a:txBody>
                    <a:bodyPr wrap="square"/>
                    <a:lstStyle/>
                    <a:p>
                      <a:pPr algn="l"/>
                      <a:r>
                        <a:rPr sz="1050" b="0" i="0">
                          <a:solidFill>
                            <a:srgbClr val="000000"/>
                          </a:solidFill>
                          <a:latin typeface="Calibri"/>
                        </a:rPr>
                        <a:t>Table 92: Global Market Value by Form Type and End-use Application,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93: Global Market Value by Form Type and Pack Size, US$ Mn, 2026–2036</a:t>
                      </a:r>
                      <a:endParaRPr sz="1050"/>
                    </a:p>
                  </a:txBody>
                  <a:tcPr marL="9525" marR="9525" marT="9525" marB="0" anchor="ctr"/>
                </a:tc>
              </a:tr>
              <a:tr h="169826">
                <a:tc>
                  <a:txBody>
                    <a:bodyPr wrap="square"/>
                    <a:lstStyle/>
                    <a:p>
                      <a:pPr algn="l"/>
                      <a:r>
                        <a:rPr sz="1050" b="0" i="0">
                          <a:solidFill>
                            <a:srgbClr val="000000"/>
                          </a:solidFill>
                          <a:latin typeface="Calibri"/>
                        </a:rPr>
                        <a:t>Table 94: Global Market Value by Form Type and Price Tier, US$ Mn, 2026–2036</a:t>
                      </a:r>
                      <a:endParaRPr sz="1050"/>
                    </a:p>
                  </a:txBody>
                  <a:tcPr marL="9525" marR="9525" marT="9525" marB="0" anchor="ctr"/>
                </a:tc>
              </a:tr>
              <a:tr h="169826">
                <a:tc>
                  <a:txBody>
                    <a:bodyPr wrap="square"/>
                    <a:lstStyle/>
                    <a:p>
                      <a:pPr algn="l"/>
                      <a:r>
                        <a:rPr sz="1050" b="0" i="0">
                          <a:solidFill>
                            <a:srgbClr val="000000"/>
                          </a:solidFill>
                          <a:latin typeface="Calibri"/>
                        </a:rPr>
                        <a:t>Table 95: Global Market Value by Form Type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96: Global Market Value by SPF Rating and Ingredient Type, US$ Mn, 2026–2036</a:t>
                      </a:r>
                      <a:endParaRPr sz="1050"/>
                    </a:p>
                  </a:txBody>
                  <a:tcPr marL="9525" marR="9525" marT="9525" marB="0" anchor="ctr"/>
                </a:tc>
              </a:tr>
              <a:tr h="169826">
                <a:tc>
                  <a:txBody>
                    <a:bodyPr wrap="square"/>
                    <a:lstStyle/>
                    <a:p>
                      <a:pPr algn="l"/>
                      <a:r>
                        <a:rPr sz="1050" b="0" i="0">
                          <a:solidFill>
                            <a:srgbClr val="000000"/>
                          </a:solidFill>
                          <a:latin typeface="Calibri"/>
                        </a:rPr>
                        <a:t>Table 97: Global Market Value by SPF Rating and End-use Application, US$ Mn, 2026–2036</a:t>
                      </a:r>
                      <a:endParaRPr sz="1050"/>
                    </a:p>
                  </a:txBody>
                  <a:tcPr marL="9525" marR="9525" marT="9525" marB="0" anchor="ctr"/>
                </a:tc>
              </a:tr>
              <a:tr h="169826">
                <a:tc>
                  <a:txBody>
                    <a:bodyPr wrap="square"/>
                    <a:lstStyle/>
                    <a:p>
                      <a:pPr algn="l"/>
                      <a:r>
                        <a:rPr sz="1050" b="0" i="0">
                          <a:solidFill>
                            <a:srgbClr val="000000"/>
                          </a:solidFill>
                          <a:latin typeface="Calibri"/>
                        </a:rPr>
                        <a:t>Table 98: Global Market Value by SPF Rating and Pack Size, US$ Mn, 2026–2036</a:t>
                      </a:r>
                      <a:endParaRPr sz="1050"/>
                    </a:p>
                  </a:txBody>
                  <a:tcPr marL="9525" marR="9525" marT="9525" marB="0" anchor="ctr"/>
                </a:tc>
              </a:tr>
              <a:tr h="169826">
                <a:tc>
                  <a:txBody>
                    <a:bodyPr wrap="square"/>
                    <a:lstStyle/>
                    <a:p>
                      <a:pPr algn="l"/>
                      <a:r>
                        <a:rPr sz="1050" b="0" i="0">
                          <a:solidFill>
                            <a:srgbClr val="000000"/>
                          </a:solidFill>
                          <a:latin typeface="Calibri"/>
                        </a:rPr>
                        <a:t>Table 99: Global Market Value by SPF Rating and Price Tier, US$ Mn, 2026–2036</a:t>
                      </a:r>
                      <a:endParaRPr sz="1050"/>
                    </a:p>
                  </a:txBody>
                  <a:tcPr marL="9525" marR="9525" marT="9525" marB="0" anchor="ctr"/>
                </a:tc>
              </a:tr>
              <a:tr h="169826">
                <a:tc>
                  <a:txBody>
                    <a:bodyPr wrap="square"/>
                    <a:lstStyle/>
                    <a:p>
                      <a:pPr algn="l"/>
                      <a:r>
                        <a:rPr sz="1050" b="0" i="0">
                          <a:solidFill>
                            <a:srgbClr val="000000"/>
                          </a:solidFill>
                          <a:latin typeface="Calibri"/>
                        </a:rPr>
                        <a:t>Table 100: Global Market Value by SPF Rating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101: Global Market Value by Ingredient Type and End-use Application, US$ Mn, 2026–2036</a:t>
                      </a:r>
                      <a:endParaRPr sz="1050"/>
                    </a:p>
                  </a:txBody>
                  <a:tcPr marL="9525" marR="9525" marT="9525" marB="0" anchor="ctr"/>
                </a:tc>
              </a:tr>
              <a:tr h="169826">
                <a:tc>
                  <a:txBody>
                    <a:bodyPr wrap="square"/>
                    <a:lstStyle/>
                    <a:p>
                      <a:pPr algn="l"/>
                      <a:r>
                        <a:rPr sz="1050" b="0" i="0">
                          <a:solidFill>
                            <a:srgbClr val="000000"/>
                          </a:solidFill>
                          <a:latin typeface="Calibri"/>
                        </a:rPr>
                        <a:t>Table 102: Global Market Value by Ingredient Type and Pack Size, US$ Mn, 2026–2036</a:t>
                      </a:r>
                      <a:endParaRPr sz="1050"/>
                    </a:p>
                  </a:txBody>
                  <a:tcPr marL="9525" marR="9525" marT="9525" marB="0" anchor="ctr"/>
                </a:tc>
              </a:tr>
              <a:tr h="169826">
                <a:tc>
                  <a:txBody>
                    <a:bodyPr wrap="square"/>
                    <a:lstStyle/>
                    <a:p>
                      <a:pPr algn="l"/>
                      <a:r>
                        <a:rPr sz="1050" b="0" i="0">
                          <a:solidFill>
                            <a:srgbClr val="000000"/>
                          </a:solidFill>
                          <a:latin typeface="Calibri"/>
                        </a:rPr>
                        <a:t>Table 103: Global Market Value by Ingredient Type and Price Tier, US$ Mn, 2026–2036</a:t>
                      </a:r>
                      <a:endParaRPr sz="1050"/>
                    </a:p>
                  </a:txBody>
                  <a:tcPr marL="9525" marR="9525" marT="9525" marB="0" anchor="ctr"/>
                </a:tc>
              </a:tr>
              <a:tr h="169826">
                <a:tc>
                  <a:txBody>
                    <a:bodyPr wrap="square"/>
                    <a:lstStyle/>
                    <a:p>
                      <a:pPr algn="l"/>
                      <a:r>
                        <a:rPr sz="1050" b="0" i="0">
                          <a:solidFill>
                            <a:srgbClr val="000000"/>
                          </a:solidFill>
                          <a:latin typeface="Calibri"/>
                        </a:rPr>
                        <a:t>Table 104: Global Market Value by Ingredient Type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105: Global Market Value by End-use Application and Pack Size, US$ Mn, 2026–2036</a:t>
                      </a:r>
                      <a:endParaRPr sz="1050"/>
                    </a:p>
                  </a:txBody>
                  <a:tcPr marL="9525" marR="9525" marT="9525" marB="0" anchor="ctr"/>
                </a:tc>
              </a:tr>
              <a:tr h="169826">
                <a:tc>
                  <a:txBody>
                    <a:bodyPr wrap="square"/>
                    <a:lstStyle/>
                    <a:p>
                      <a:pPr algn="l"/>
                      <a:r>
                        <a:rPr sz="1050" b="0" i="0">
                          <a:solidFill>
                            <a:srgbClr val="000000"/>
                          </a:solidFill>
                          <a:latin typeface="Calibri"/>
                        </a:rPr>
                        <a:t>Table 106: Global Market Value by End-use Application and Price Tier, US$ Mn, 2026–2036</a:t>
                      </a:r>
                      <a:endParaRPr sz="1050"/>
                    </a:p>
                  </a:txBody>
                  <a:tcPr marL="9525" marR="9525" marT="9525" marB="0" anchor="ctr"/>
                </a:tc>
              </a:tr>
              <a:tr h="169826">
                <a:tc>
                  <a:txBody>
                    <a:bodyPr wrap="square"/>
                    <a:lstStyle/>
                    <a:p>
                      <a:pPr algn="l"/>
                      <a:r>
                        <a:rPr sz="1050" b="0" i="0">
                          <a:solidFill>
                            <a:srgbClr val="000000"/>
                          </a:solidFill>
                          <a:latin typeface="Calibri"/>
                        </a:rPr>
                        <a:t>Table 107: Global Market Value by End-use Application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108: Global Market Value by Pack Size and Price Tier, US$ Mn, 2026–2036</a:t>
                      </a:r>
                      <a:endParaRPr sz="1050"/>
                    </a:p>
                  </a:txBody>
                  <a:tcPr marL="9525" marR="9525" marT="9525" marB="0" anchor="ctr"/>
                </a:tc>
              </a:tr>
              <a:tr h="169826">
                <a:tc>
                  <a:txBody>
                    <a:bodyPr wrap="square"/>
                    <a:lstStyle/>
                    <a:p>
                      <a:pPr algn="l"/>
                      <a:r>
                        <a:rPr sz="1050" b="0" i="0">
                          <a:solidFill>
                            <a:srgbClr val="000000"/>
                          </a:solidFill>
                          <a:latin typeface="Calibri"/>
                        </a:rPr>
                        <a:t>Table 109: Global Market Value by Pack Size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110: Global Market Value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111: Global Market CAGR and Absolute $ Opportunity by Region, %, US$ Mn, 2026–2036</a:t>
                      </a:r>
                      <a:endParaRPr sz="1050"/>
                    </a:p>
                  </a:txBody>
                  <a:tcPr marL="9525" marR="9525" marT="9525" marB="0" anchor="ctr"/>
                </a:tc>
              </a:tr>
              <a:tr h="169826">
                <a:tc>
                  <a:txBody>
                    <a:bodyPr wrap="square"/>
                    <a:lstStyle/>
                    <a:p>
                      <a:pPr algn="l"/>
                      <a:r>
                        <a:rPr sz="1050" b="0" i="0">
                          <a:solidFill>
                            <a:srgbClr val="000000"/>
                          </a:solidFill>
                          <a:latin typeface="Calibri"/>
                        </a:rPr>
                        <a:t>Table 112: Global Market Share and BPS Change by Region, %, 2026 and 2036</a:t>
                      </a:r>
                      <a:endParaRPr sz="1050"/>
                    </a:p>
                  </a:txBody>
                  <a:tcPr marL="9525" marR="9525" marT="9525" marB="0" anchor="ctr"/>
                </a:tc>
              </a:tr>
              <a:tr h="169826">
                <a:tc>
                  <a:txBody>
                    <a:bodyPr wrap="square"/>
                    <a:lstStyle/>
                    <a:p>
                      <a:pPr algn="l"/>
                      <a:r>
                        <a:rPr sz="1050" b="0" i="0">
                          <a:solidFill>
                            <a:srgbClr val="000000"/>
                          </a:solidFill>
                          <a:latin typeface="Calibri"/>
                        </a:rPr>
                        <a:t>Table 113: Global Market Volume by Region, Units, 2021–2036</a:t>
                      </a:r>
                      <a:endParaRPr sz="1050"/>
                    </a:p>
                  </a:txBody>
                  <a:tcPr marL="9525" marR="9525" marT="9525" marB="0" anchor="ctr"/>
                </a:tc>
              </a:tr>
              <a:tr h="169826">
                <a:tc>
                  <a:txBody>
                    <a:bodyPr wrap="square"/>
                    <a:lstStyle/>
                    <a:p>
                      <a:pPr algn="l"/>
                      <a:r>
                        <a:rPr sz="1050" b="0" i="0">
                          <a:solidFill>
                            <a:srgbClr val="000000"/>
                          </a:solidFill>
                          <a:latin typeface="Calibri"/>
                        </a:rPr>
                        <a:t>Table 114: North America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115: Latin America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116: Europe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117: East Asia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118: South Asia &amp; Pacific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119: Middle East &amp; Africa Market Value by Country, US$ Mn, 2021–2036</a:t>
                      </a:r>
                      <a:endParaRPr sz="1050"/>
                    </a:p>
                  </a:txBody>
                  <a:tcPr marL="9525" marR="9525" marT="9525" marB="0" anchor="ctr"/>
                </a:tc>
              </a:tr>
              <a:tr h="332858">
                <a:tc>
                  <a:txBody>
                    <a:bodyPr wrap="square"/>
                    <a:lstStyle/>
                    <a:p>
                      <a:pPr algn="l"/>
                      <a:r>
                        <a:rPr sz="1050" b="0" i="0">
                          <a:solidFill>
                            <a:srgbClr val="000000"/>
                          </a:solidFill>
                          <a:latin typeface="Calibri"/>
                        </a:rPr>
                        <a:t>Table 120: North America Market CAGR and Absolute $ Opportunity by Country, %, US$ Mn, 2026–2036</a:t>
                      </a:r>
                      <a:endParaRPr sz="1050"/>
                    </a:p>
                  </a:txBody>
                  <a:tcPr marL="9525" marR="9525" marT="9525" marB="0" anchor="ctr"/>
                </a:tc>
              </a:tr>
              <a:tr h="169826">
                <a:tc>
                  <a:txBody>
                    <a:bodyPr wrap="square"/>
                    <a:lstStyle/>
                    <a:p>
                      <a:pPr algn="l"/>
                      <a:r>
                        <a:rPr sz="1050" b="0" i="0">
                          <a:solidFill>
                            <a:srgbClr val="000000"/>
                          </a:solidFill>
                          <a:latin typeface="Calibri"/>
                        </a:rPr>
                        <a:t>Table 121: Latin America Market CAGR and Absolute $ Opportunity by Country, %, US$ Mn, 2026–2036</a:t>
                      </a:r>
                      <a:endParaRPr sz="1050"/>
                    </a:p>
                  </a:txBody>
                  <a:tcPr marL="9525" marR="9525" marT="9525" marB="0" anchor="ctr"/>
                </a:tc>
              </a:tr>
              <a:tr h="169826">
                <a:tc>
                  <a:txBody>
                    <a:bodyPr wrap="square"/>
                    <a:lstStyle/>
                    <a:p>
                      <a:pPr algn="l"/>
                      <a:r>
                        <a:rPr sz="1050" b="0" i="0">
                          <a:solidFill>
                            <a:srgbClr val="000000"/>
                          </a:solidFill>
                          <a:latin typeface="Calibri"/>
                        </a:rPr>
                        <a:t>Table 122: Europe Market CAGR and Absolute $ Opportunity by Country, %, US$ Mn,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123: East Asia Market CAGR and Absolute $ Opportunity by Country, %, US$ Mn, 2026–2036</a:t>
                      </a:r>
                      <a:endParaRPr sz="1050"/>
                    </a:p>
                  </a:txBody>
                  <a:tcPr marL="9525" marR="9525" marT="9525" marB="0" anchor="ctr"/>
                </a:tc>
              </a:tr>
              <a:tr h="333289">
                <a:tc>
                  <a:txBody>
                    <a:bodyPr wrap="square"/>
                    <a:lstStyle/>
                    <a:p>
                      <a:pPr algn="l"/>
                      <a:r>
                        <a:rPr sz="1050" b="0" i="0">
                          <a:solidFill>
                            <a:srgbClr val="000000"/>
                          </a:solidFill>
                          <a:latin typeface="Calibri"/>
                        </a:rPr>
                        <a:t>Table 124: South Asia &amp; Pacific Market CAGR and Absolute $ Opportunity by Country, %, US$ Mn, 2026–2036</a:t>
                      </a:r>
                      <a:endParaRPr sz="1050"/>
                    </a:p>
                  </a:txBody>
                  <a:tcPr marL="9525" marR="9525" marT="9525" marB="0" anchor="ctr"/>
                </a:tc>
              </a:tr>
              <a:tr h="333289">
                <a:tc>
                  <a:txBody>
                    <a:bodyPr wrap="square"/>
                    <a:lstStyle/>
                    <a:p>
                      <a:pPr algn="l"/>
                      <a:r>
                        <a:rPr sz="1050" b="0" i="0">
                          <a:solidFill>
                            <a:srgbClr val="000000"/>
                          </a:solidFill>
                          <a:latin typeface="Calibri"/>
                        </a:rPr>
                        <a:t>Table 125: Middle East &amp; Africa Market CAGR and Absolute $ Opportunity by Country, %, US$ Mn, 2026–2036</a:t>
                      </a:r>
                      <a:endParaRPr sz="1050"/>
                    </a:p>
                  </a:txBody>
                  <a:tcPr marL="9525" marR="9525" marT="9525" marB="0" anchor="ctr"/>
                </a:tc>
              </a:tr>
              <a:tr h="170045">
                <a:tc>
                  <a:txBody>
                    <a:bodyPr wrap="square"/>
                    <a:lstStyle/>
                    <a:p>
                      <a:pPr algn="l"/>
                      <a:r>
                        <a:rPr sz="1050" b="0" i="0">
                          <a:solidFill>
                            <a:srgbClr val="000000"/>
                          </a:solidFill>
                          <a:latin typeface="Calibri"/>
                        </a:rPr>
                        <a:t>Table 126: North America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127: Latin America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128: Europe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129: East Asia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130: South Asia &amp; Pacific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131: Middle East &amp; Africa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132: North America Market Value by Form Type, US$ Mn, 2021–2036</a:t>
                      </a:r>
                      <a:endParaRPr sz="1050"/>
                    </a:p>
                  </a:txBody>
                  <a:tcPr marL="9525" marR="9525" marT="9525" marB="0" anchor="ctr"/>
                </a:tc>
              </a:tr>
              <a:tr h="170045">
                <a:tc>
                  <a:txBody>
                    <a:bodyPr wrap="square"/>
                    <a:lstStyle/>
                    <a:p>
                      <a:pPr algn="l"/>
                      <a:r>
                        <a:rPr sz="1050" b="0" i="0">
                          <a:solidFill>
                            <a:srgbClr val="000000"/>
                          </a:solidFill>
                          <a:latin typeface="Calibri"/>
                        </a:rPr>
                        <a:t>Table 133: U.S.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134: U.S. Market Historical and Forecast Growth, %, 2021–2036</a:t>
                      </a:r>
                      <a:endParaRPr sz="1050"/>
                    </a:p>
                  </a:txBody>
                  <a:tcPr marL="9525" marR="9525" marT="9525" marB="0" anchor="ctr"/>
                </a:tc>
              </a:tr>
              <a:tr h="170045">
                <a:tc>
                  <a:txBody>
                    <a:bodyPr wrap="square"/>
                    <a:lstStyle/>
                    <a:p>
                      <a:pPr algn="l"/>
                      <a:r>
                        <a:rPr sz="1050" b="0" i="0">
                          <a:solidFill>
                            <a:srgbClr val="000000"/>
                          </a:solidFill>
                          <a:latin typeface="Calibri"/>
                        </a:rPr>
                        <a:t>Table 135: U.S. Market Value by End-use Application, US$ Mn, 2021–2036</a:t>
                      </a:r>
                      <a:endParaRPr sz="1050"/>
                    </a:p>
                  </a:txBody>
                  <a:tcPr marL="9525" marR="9525" marT="9525" marB="0" anchor="ctr"/>
                </a:tc>
              </a:tr>
              <a:tr h="170045">
                <a:tc>
                  <a:txBody>
                    <a:bodyPr wrap="square"/>
                    <a:lstStyle/>
                    <a:p>
                      <a:pPr algn="l"/>
                      <a:r>
                        <a:rPr sz="1050" b="0" i="0">
                          <a:solidFill>
                            <a:srgbClr val="000000"/>
                          </a:solidFill>
                          <a:latin typeface="Calibri"/>
                        </a:rPr>
                        <a:t>Table 136: U.S. Market Share within North America, %, 2025, 2026 and 2036</a:t>
                      </a:r>
                      <a:endParaRPr sz="1050"/>
                    </a:p>
                  </a:txBody>
                  <a:tcPr marL="9525" marR="9525" marT="9525" marB="0" anchor="ctr"/>
                </a:tc>
              </a:tr>
              <a:tr h="170045">
                <a:tc>
                  <a:txBody>
                    <a:bodyPr wrap="square"/>
                    <a:lstStyle/>
                    <a:p>
                      <a:pPr algn="l"/>
                      <a:r>
                        <a:rPr sz="1050" b="0" i="0">
                          <a:solidFill>
                            <a:srgbClr val="000000"/>
                          </a:solidFill>
                          <a:latin typeface="Calibri"/>
                        </a:rPr>
                        <a:t>Table 137: U.S. Market Value by Form Type, US$ Mn, 2021–2036</a:t>
                      </a:r>
                      <a:endParaRPr sz="1050"/>
                    </a:p>
                  </a:txBody>
                  <a:tcPr marL="9525" marR="9525" marT="9525" marB="0" anchor="ctr"/>
                </a:tc>
              </a:tr>
              <a:tr h="170045">
                <a:tc>
                  <a:txBody>
                    <a:bodyPr wrap="square"/>
                    <a:lstStyle/>
                    <a:p>
                      <a:pPr algn="l"/>
                      <a:r>
                        <a:rPr sz="1050" b="0" i="0">
                          <a:solidFill>
                            <a:srgbClr val="000000"/>
                          </a:solidFill>
                          <a:latin typeface="Calibri"/>
                        </a:rPr>
                        <a:t>Table 138: U.S. Market Value by SPF Rating, US$ Mn, 2021–2036</a:t>
                      </a:r>
                      <a:endParaRPr sz="1050"/>
                    </a:p>
                  </a:txBody>
                  <a:tcPr marL="9525" marR="9525" marT="9525" marB="0" anchor="ctr"/>
                </a:tc>
              </a:tr>
              <a:tr h="170045">
                <a:tc>
                  <a:txBody>
                    <a:bodyPr wrap="square"/>
                    <a:lstStyle/>
                    <a:p>
                      <a:pPr algn="l"/>
                      <a:r>
                        <a:rPr sz="1050" b="0" i="0">
                          <a:solidFill>
                            <a:srgbClr val="000000"/>
                          </a:solidFill>
                          <a:latin typeface="Calibri"/>
                        </a:rPr>
                        <a:t>Table 139: U.S. Market Value by Ingredient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140: U.S. Market Value by Pack Size, US$ Mn, 2021–2036</a:t>
                      </a:r>
                      <a:endParaRPr sz="1050"/>
                    </a:p>
                  </a:txBody>
                  <a:tcPr marL="9525" marR="9525" marT="9525" marB="0" anchor="ctr"/>
                </a:tc>
              </a:tr>
              <a:tr h="170045">
                <a:tc>
                  <a:txBody>
                    <a:bodyPr wrap="square"/>
                    <a:lstStyle/>
                    <a:p>
                      <a:pPr algn="l"/>
                      <a:r>
                        <a:rPr sz="1050" b="0" i="0">
                          <a:solidFill>
                            <a:srgbClr val="000000"/>
                          </a:solidFill>
                          <a:latin typeface="Calibri"/>
                        </a:rPr>
                        <a:t>Table 141: Germany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142: Germany Market Historical and Forecast Growth, %, 2021–2036</a:t>
                      </a:r>
                      <a:endParaRPr sz="1050"/>
                    </a:p>
                  </a:txBody>
                  <a:tcPr marL="9525" marR="9525" marT="9525" marB="0" anchor="ctr"/>
                </a:tc>
              </a:tr>
              <a:tr h="170045">
                <a:tc>
                  <a:txBody>
                    <a:bodyPr wrap="square"/>
                    <a:lstStyle/>
                    <a:p>
                      <a:pPr algn="l"/>
                      <a:r>
                        <a:rPr sz="1050" b="0" i="0">
                          <a:solidFill>
                            <a:srgbClr val="000000"/>
                          </a:solidFill>
                          <a:latin typeface="Calibri"/>
                        </a:rPr>
                        <a:t>Table 143: Germany Market Value by End-use Application, US$ Mn, 2021–2036</a:t>
                      </a:r>
                      <a:endParaRPr sz="1050"/>
                    </a:p>
                  </a:txBody>
                  <a:tcPr marL="9525" marR="9525" marT="9525" marB="0" anchor="ctr"/>
                </a:tc>
              </a:tr>
              <a:tr h="170045">
                <a:tc>
                  <a:txBody>
                    <a:bodyPr wrap="square"/>
                    <a:lstStyle/>
                    <a:p>
                      <a:pPr algn="l"/>
                      <a:r>
                        <a:rPr sz="1050" b="0" i="0">
                          <a:solidFill>
                            <a:srgbClr val="000000"/>
                          </a:solidFill>
                          <a:latin typeface="Calibri"/>
                        </a:rPr>
                        <a:t>Table 144: Germany Market Share within Europe, %, 2025, 2026 and 2036</a:t>
                      </a:r>
                      <a:endParaRPr sz="1050"/>
                    </a:p>
                  </a:txBody>
                  <a:tcPr marL="9525" marR="9525" marT="9525" marB="0" anchor="ctr"/>
                </a:tc>
              </a:tr>
              <a:tr h="170045">
                <a:tc>
                  <a:txBody>
                    <a:bodyPr wrap="square"/>
                    <a:lstStyle/>
                    <a:p>
                      <a:pPr algn="l"/>
                      <a:r>
                        <a:rPr sz="1050" b="0" i="0">
                          <a:solidFill>
                            <a:srgbClr val="000000"/>
                          </a:solidFill>
                          <a:latin typeface="Calibri"/>
                        </a:rPr>
                        <a:t>Table 145: Germany Market Value by Form Type, US$ Mn, 2021–2036</a:t>
                      </a:r>
                      <a:endParaRPr sz="1050"/>
                    </a:p>
                  </a:txBody>
                  <a:tcPr marL="9525" marR="9525" marT="9525" marB="0" anchor="ctr"/>
                </a:tc>
              </a:tr>
              <a:tr h="170045">
                <a:tc>
                  <a:txBody>
                    <a:bodyPr wrap="square"/>
                    <a:lstStyle/>
                    <a:p>
                      <a:pPr algn="l"/>
                      <a:r>
                        <a:rPr sz="1050" b="0" i="0">
                          <a:solidFill>
                            <a:srgbClr val="000000"/>
                          </a:solidFill>
                          <a:latin typeface="Calibri"/>
                        </a:rPr>
                        <a:t>Table 146: Germany Market Value by SPF Rating, US$ Mn, 2021–2036</a:t>
                      </a:r>
                      <a:endParaRPr sz="1050"/>
                    </a:p>
                  </a:txBody>
                  <a:tcPr marL="9525" marR="9525" marT="9525" marB="0" anchor="ctr"/>
                </a:tc>
              </a:tr>
              <a:tr h="170045">
                <a:tc>
                  <a:txBody>
                    <a:bodyPr wrap="square"/>
                    <a:lstStyle/>
                    <a:p>
                      <a:pPr algn="l"/>
                      <a:r>
                        <a:rPr sz="1050" b="0" i="0">
                          <a:solidFill>
                            <a:srgbClr val="000000"/>
                          </a:solidFill>
                          <a:latin typeface="Calibri"/>
                        </a:rPr>
                        <a:t>Table 147: Germany Market Value by Ingredient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148: Germany Market Value by Pack Size, US$ Mn, 2021–2036</a:t>
                      </a:r>
                      <a:endParaRPr sz="1050"/>
                    </a:p>
                  </a:txBody>
                  <a:tcPr marL="9525" marR="9525" marT="9525" marB="0" anchor="ctr"/>
                </a:tc>
              </a:tr>
              <a:tr h="170045">
                <a:tc>
                  <a:txBody>
                    <a:bodyPr wrap="square"/>
                    <a:lstStyle/>
                    <a:p>
                      <a:pPr algn="l"/>
                      <a:r>
                        <a:rPr sz="1050" b="0" i="0">
                          <a:solidFill>
                            <a:srgbClr val="000000"/>
                          </a:solidFill>
                          <a:latin typeface="Calibri"/>
                        </a:rPr>
                        <a:t>Table 149: Canada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150: Canada Market Historical and Forecast Growth, %, 2021–2036</a:t>
                      </a:r>
                      <a:endParaRPr sz="1050"/>
                    </a:p>
                  </a:txBody>
                  <a:tcPr marL="9525" marR="9525" marT="9525" marB="0" anchor="ctr"/>
                </a:tc>
              </a:tr>
              <a:tr h="170045">
                <a:tc>
                  <a:txBody>
                    <a:bodyPr wrap="square"/>
                    <a:lstStyle/>
                    <a:p>
                      <a:pPr algn="l"/>
                      <a:r>
                        <a:rPr sz="1050" b="0" i="0">
                          <a:solidFill>
                            <a:srgbClr val="000000"/>
                          </a:solidFill>
                          <a:latin typeface="Calibri"/>
                        </a:rPr>
                        <a:t>Table 151: Canada Market Value by End-use Application, US$ Mn,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152: Canada Market Share within North America, %, 2025, 2026 and 2036</a:t>
                      </a:r>
                      <a:endParaRPr sz="1050"/>
                    </a:p>
                  </a:txBody>
                  <a:tcPr marL="9525" marR="9525" marT="9525" marB="0" anchor="ctr"/>
                </a:tc>
              </a:tr>
              <a:tr h="169826">
                <a:tc>
                  <a:txBody>
                    <a:bodyPr wrap="square"/>
                    <a:lstStyle/>
                    <a:p>
                      <a:pPr algn="l"/>
                      <a:r>
                        <a:rPr sz="1050" b="0" i="0">
                          <a:solidFill>
                            <a:srgbClr val="000000"/>
                          </a:solidFill>
                          <a:latin typeface="Calibri"/>
                        </a:rPr>
                        <a:t>Table 153: Canada Market Value by Form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154: Canada Market Value by SPF Rating, US$ Mn, 2021–2036</a:t>
                      </a:r>
                      <a:endParaRPr sz="1050"/>
                    </a:p>
                  </a:txBody>
                  <a:tcPr marL="9525" marR="9525" marT="9525" marB="0" anchor="ctr"/>
                </a:tc>
              </a:tr>
              <a:tr h="169826">
                <a:tc>
                  <a:txBody>
                    <a:bodyPr wrap="square"/>
                    <a:lstStyle/>
                    <a:p>
                      <a:pPr algn="l"/>
                      <a:r>
                        <a:rPr sz="1050" b="0" i="0">
                          <a:solidFill>
                            <a:srgbClr val="000000"/>
                          </a:solidFill>
                          <a:latin typeface="Calibri"/>
                        </a:rPr>
                        <a:t>Table 155: Canada Market Value by Ingredient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156: Canada Market Value by Pack Size, US$ Mn, 2021–2036</a:t>
                      </a:r>
                      <a:endParaRPr sz="1050"/>
                    </a:p>
                  </a:txBody>
                  <a:tcPr marL="9525" marR="9525" marT="9525" marB="0" anchor="ctr"/>
                </a:tc>
              </a:tr>
              <a:tr h="169826">
                <a:tc>
                  <a:txBody>
                    <a:bodyPr wrap="square"/>
                    <a:lstStyle/>
                    <a:p>
                      <a:pPr algn="l"/>
                      <a:r>
                        <a:rPr sz="1050" b="0" i="0">
                          <a:solidFill>
                            <a:srgbClr val="000000"/>
                          </a:solidFill>
                          <a:latin typeface="Calibri"/>
                        </a:rPr>
                        <a:t>Table 157: China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158: China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159: China Market Value by End-use Application, US$ Mn, 2021–2036</a:t>
                      </a:r>
                      <a:endParaRPr sz="1050"/>
                    </a:p>
                  </a:txBody>
                  <a:tcPr marL="9525" marR="9525" marT="9525" marB="0" anchor="ctr"/>
                </a:tc>
              </a:tr>
              <a:tr h="169826">
                <a:tc>
                  <a:txBody>
                    <a:bodyPr wrap="square"/>
                    <a:lstStyle/>
                    <a:p>
                      <a:pPr algn="l"/>
                      <a:r>
                        <a:rPr sz="1050" b="0" i="0">
                          <a:solidFill>
                            <a:srgbClr val="000000"/>
                          </a:solidFill>
                          <a:latin typeface="Calibri"/>
                        </a:rPr>
                        <a:t>Table 160: India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161: India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162: Brazil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163: Brazil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164: Market Product Price Comparison by Company and Product Type, US$/Units, 2026</a:t>
                      </a:r>
                      <a:endParaRPr sz="1050"/>
                    </a:p>
                  </a:txBody>
                  <a:tcPr marL="9525" marR="9525" marT="9525" marB="0" anchor="ctr"/>
                </a:tc>
              </a:tr>
              <a:tr h="169826">
                <a:tc>
                  <a:txBody>
                    <a:bodyPr wrap="square"/>
                    <a:lstStyle/>
                    <a:p>
                      <a:pPr algn="l"/>
                      <a:r>
                        <a:rPr sz="1050" b="0" i="0">
                          <a:solidFill>
                            <a:srgbClr val="000000"/>
                          </a:solidFill>
                          <a:latin typeface="Calibri"/>
                        </a:rPr>
                        <a:t>Table 165: Global Market Average Selling Price by Region, US$/Units, 2021–2036</a:t>
                      </a:r>
                      <a:endParaRPr sz="1050"/>
                    </a:p>
                  </a:txBody>
                  <a:tcPr marL="9525" marR="9525" marT="9525" marB="0" anchor="ctr"/>
                </a:tc>
              </a:tr>
              <a:tr h="169826">
                <a:tc>
                  <a:txBody>
                    <a:bodyPr wrap="square"/>
                    <a:lstStyle/>
                    <a:p>
                      <a:pPr algn="l"/>
                      <a:r>
                        <a:rPr sz="1050" b="0" i="0">
                          <a:solidFill>
                            <a:srgbClr val="000000"/>
                          </a:solidFill>
                          <a:latin typeface="Calibri"/>
                        </a:rPr>
                        <a:t>Table 166: Global Market Average Selling Price by Product Type, US$/Units, 2021–2036</a:t>
                      </a:r>
                      <a:endParaRPr sz="1050"/>
                    </a:p>
                  </a:txBody>
                  <a:tcPr marL="9525" marR="9525" marT="9525" marB="0" anchor="ctr"/>
                </a:tc>
              </a:tr>
              <a:tr h="169826">
                <a:tc>
                  <a:txBody>
                    <a:bodyPr wrap="square"/>
                    <a:lstStyle/>
                    <a:p>
                      <a:pPr algn="l"/>
                      <a:r>
                        <a:rPr sz="1050" b="0" i="0">
                          <a:solidFill>
                            <a:srgbClr val="000000"/>
                          </a:solidFill>
                          <a:latin typeface="Calibri"/>
                        </a:rPr>
                        <a:t>Table 167: Global Market Average Selling Price by Form Type, US$/Units, 2021–2036</a:t>
                      </a:r>
                      <a:endParaRPr sz="1050"/>
                    </a:p>
                  </a:txBody>
                  <a:tcPr marL="9525" marR="9525" marT="9525" marB="0" anchor="ctr"/>
                </a:tc>
              </a:tr>
              <a:tr h="169826">
                <a:tc>
                  <a:txBody>
                    <a:bodyPr wrap="square"/>
                    <a:lstStyle/>
                    <a:p>
                      <a:pPr algn="l"/>
                      <a:r>
                        <a:rPr sz="1050" b="0" i="0">
                          <a:solidFill>
                            <a:srgbClr val="000000"/>
                          </a:solidFill>
                          <a:latin typeface="Calibri"/>
                        </a:rPr>
                        <a:t>Table 168: Global Market Average Selling Price by SPF Rating, US$/Units, 2021–2036</a:t>
                      </a:r>
                      <a:endParaRPr sz="1050"/>
                    </a:p>
                  </a:txBody>
                  <a:tcPr marL="9525" marR="9525" marT="9525" marB="0" anchor="ctr"/>
                </a:tc>
              </a:tr>
              <a:tr h="169826">
                <a:tc>
                  <a:txBody>
                    <a:bodyPr wrap="square"/>
                    <a:lstStyle/>
                    <a:p>
                      <a:pPr algn="l"/>
                      <a:r>
                        <a:rPr sz="1050" b="0" i="0">
                          <a:solidFill>
                            <a:srgbClr val="000000"/>
                          </a:solidFill>
                          <a:latin typeface="Calibri"/>
                        </a:rPr>
                        <a:t>Table 169: Global Market Average Selling Price by Ingredient Type, US$/Units, 2021–2036</a:t>
                      </a:r>
                      <a:endParaRPr sz="1050"/>
                    </a:p>
                  </a:txBody>
                  <a:tcPr marL="9525" marR="9525" marT="9525" marB="0" anchor="ctr"/>
                </a:tc>
              </a:tr>
              <a:tr h="169826">
                <a:tc>
                  <a:txBody>
                    <a:bodyPr wrap="square"/>
                    <a:lstStyle/>
                    <a:p>
                      <a:pPr algn="l"/>
                      <a:r>
                        <a:rPr sz="1050" b="0" i="0">
                          <a:solidFill>
                            <a:srgbClr val="000000"/>
                          </a:solidFill>
                          <a:latin typeface="Calibri"/>
                        </a:rPr>
                        <a:t>Table 170: Global Market Average Selling Price by End-use Application, US$/Units, 2021–2036</a:t>
                      </a:r>
                      <a:endParaRPr sz="1050"/>
                    </a:p>
                  </a:txBody>
                  <a:tcPr marL="9525" marR="9525" marT="9525" marB="0" anchor="ctr"/>
                </a:tc>
              </a:tr>
              <a:tr h="169826">
                <a:tc>
                  <a:txBody>
                    <a:bodyPr wrap="square"/>
                    <a:lstStyle/>
                    <a:p>
                      <a:pPr algn="l"/>
                      <a:r>
                        <a:rPr sz="1050" b="0" i="0">
                          <a:solidFill>
                            <a:srgbClr val="000000"/>
                          </a:solidFill>
                          <a:latin typeface="Calibri"/>
                        </a:rPr>
                        <a:t>Table 171: Global Market Average Selling Price by Pack Size, US$/Units, 2021–2036</a:t>
                      </a:r>
                      <a:endParaRPr sz="1050"/>
                    </a:p>
                  </a:txBody>
                  <a:tcPr marL="9525" marR="9525" marT="9525" marB="0" anchor="ctr"/>
                </a:tc>
              </a:tr>
              <a:tr h="169826">
                <a:tc>
                  <a:txBody>
                    <a:bodyPr wrap="square"/>
                    <a:lstStyle/>
                    <a:p>
                      <a:pPr algn="l"/>
                      <a:r>
                        <a:rPr sz="1050" b="0" i="0">
                          <a:solidFill>
                            <a:srgbClr val="000000"/>
                          </a:solidFill>
                          <a:latin typeface="Calibri"/>
                        </a:rPr>
                        <a:t>Table 172: Global Market Average Selling Price by Price Tier, US$/Units, 2021–2036</a:t>
                      </a:r>
                      <a:endParaRPr sz="1050"/>
                    </a:p>
                  </a:txBody>
                  <a:tcPr marL="9525" marR="9525" marT="9525" marB="0" anchor="ctr"/>
                </a:tc>
              </a:tr>
              <a:tr h="169826">
                <a:tc>
                  <a:txBody>
                    <a:bodyPr wrap="square"/>
                    <a:lstStyle/>
                    <a:p>
                      <a:pPr algn="l"/>
                      <a:r>
                        <a:rPr sz="1050" b="0" i="0">
                          <a:solidFill>
                            <a:srgbClr val="000000"/>
                          </a:solidFill>
                          <a:latin typeface="Calibri"/>
                        </a:rPr>
                        <a:t>Table 173: Global Market Average Selling Price by Sales Channel, US$/Units, 2021–2036</a:t>
                      </a:r>
                      <a:endParaRPr sz="1050"/>
                    </a:p>
                  </a:txBody>
                  <a:tcPr marL="9525" marR="9525" marT="9525" marB="0" anchor="ctr"/>
                </a:tc>
              </a:tr>
              <a:tr h="169826">
                <a:tc>
                  <a:txBody>
                    <a:bodyPr wrap="square"/>
                    <a:lstStyle/>
                    <a:p>
                      <a:pPr algn="l"/>
                      <a:r>
                        <a:rPr sz="1050" b="0" i="0">
                          <a:solidFill>
                            <a:srgbClr val="000000"/>
                          </a:solidFill>
                          <a:latin typeface="Calibri"/>
                        </a:rPr>
                        <a:t>Table 174: Supplier-to-Customer Relationship Mapping in U.S., 2026</a:t>
                      </a:r>
                      <a:endParaRPr sz="1050"/>
                    </a:p>
                  </a:txBody>
                  <a:tcPr marL="9525" marR="9525" marT="9525" marB="0" anchor="ctr"/>
                </a:tc>
              </a:tr>
              <a:tr h="169826">
                <a:tc>
                  <a:txBody>
                    <a:bodyPr wrap="square"/>
                    <a:lstStyle/>
                    <a:p>
                      <a:pPr algn="l"/>
                      <a:r>
                        <a:rPr sz="1050" b="0" i="0">
                          <a:solidFill>
                            <a:srgbClr val="000000"/>
                          </a:solidFill>
                          <a:latin typeface="Calibri"/>
                        </a:rPr>
                        <a:t>Table 175: Global Market Value Chain Participants by Stage, 2026</a:t>
                      </a:r>
                      <a:endParaRPr sz="1050"/>
                    </a:p>
                  </a:txBody>
                  <a:tcPr marL="9525" marR="9525" marT="9525" marB="0" anchor="ctr"/>
                </a:tc>
              </a:tr>
              <a:tr h="169826">
                <a:tc>
                  <a:txBody>
                    <a:bodyPr wrap="square"/>
                    <a:lstStyle/>
                    <a:p>
                      <a:pPr algn="l"/>
                      <a:r>
                        <a:rPr sz="1050" b="0" i="0">
                          <a:solidFill>
                            <a:srgbClr val="000000"/>
                          </a:solidFill>
                          <a:latin typeface="Calibri"/>
                        </a:rPr>
                        <a:t>Table 176: Global Market Margin Analysis by Value Chain Stage, %, 2026</a:t>
                      </a:r>
                      <a:endParaRPr sz="1050"/>
                    </a:p>
                  </a:txBody>
                  <a:tcPr marL="9525" marR="9525" marT="9525" marB="0" anchor="ctr"/>
                </a:tc>
              </a:tr>
              <a:tr h="169826">
                <a:tc>
                  <a:txBody>
                    <a:bodyPr wrap="square"/>
                    <a:lstStyle/>
                    <a:p>
                      <a:pPr algn="l"/>
                      <a:r>
                        <a:rPr sz="1050" b="0" i="0">
                          <a:solidFill>
                            <a:srgbClr val="000000"/>
                          </a:solidFill>
                          <a:latin typeface="Calibri"/>
                        </a:rPr>
                        <a:t>Table 177: Global Market Cost Structure by Component, %, 2026</a:t>
                      </a:r>
                      <a:endParaRPr sz="1050"/>
                    </a:p>
                  </a:txBody>
                  <a:tcPr marL="9525" marR="9525" marT="9525" marB="0" anchor="ctr"/>
                </a:tc>
              </a:tr>
              <a:tr h="169826">
                <a:tc>
                  <a:txBody>
                    <a:bodyPr wrap="square"/>
                    <a:lstStyle/>
                    <a:p>
                      <a:pPr algn="l"/>
                      <a:r>
                        <a:rPr sz="1050" b="0" i="0">
                          <a:solidFill>
                            <a:srgbClr val="000000"/>
                          </a:solidFill>
                          <a:latin typeface="Calibri"/>
                        </a:rPr>
                        <a:t>Table 178: Global Market Import Value by Leading Country, US$ Mn, 2021–2025</a:t>
                      </a:r>
                      <a:endParaRPr sz="1050"/>
                    </a:p>
                  </a:txBody>
                  <a:tcPr marL="9525" marR="9525" marT="9525" marB="0" anchor="ctr"/>
                </a:tc>
              </a:tr>
              <a:tr h="332858">
                <a:tc>
                  <a:txBody>
                    <a:bodyPr wrap="square"/>
                    <a:lstStyle/>
                    <a:p>
                      <a:pPr algn="l"/>
                      <a:r>
                        <a:rPr sz="1050" b="0" i="0">
                          <a:solidFill>
                            <a:srgbClr val="000000"/>
                          </a:solidFill>
                          <a:latin typeface="Calibri"/>
                        </a:rPr>
                        <a:t>Table 179: Leading Ceramide Sunscreen Manufacturers: Product Portfolio and Geographic Presence, 2026</a:t>
                      </a:r>
                      <a:endParaRPr sz="1050"/>
                    </a:p>
                  </a:txBody>
                  <a:tcPr marL="9525" marR="9525" marT="9525" marB="0" anchor="ctr"/>
                </a:tc>
              </a:tr>
              <a:tr h="169826">
                <a:tc>
                  <a:txBody>
                    <a:bodyPr wrap="square"/>
                    <a:lstStyle/>
                    <a:p>
                      <a:pPr algn="l"/>
                      <a:r>
                        <a:rPr sz="1050" b="0" i="0">
                          <a:solidFill>
                            <a:srgbClr val="000000"/>
                          </a:solidFill>
                          <a:latin typeface="Calibri"/>
                        </a:rPr>
                        <a:t>Table 180: Company Revenue from the Global Market, US$ Mn, 2025–2026</a:t>
                      </a:r>
                      <a:endParaRPr sz="1050"/>
                    </a:p>
                  </a:txBody>
                  <a:tcPr marL="9525" marR="9525" marT="9525" marB="0" anchor="ctr"/>
                </a:tc>
              </a:tr>
              <a:tr h="169826">
                <a:tc>
                  <a:txBody>
                    <a:bodyPr wrap="square"/>
                    <a:lstStyle/>
                    <a:p>
                      <a:pPr algn="l"/>
                      <a:r>
                        <a:rPr sz="1050" b="0" i="0">
                          <a:solidFill>
                            <a:srgbClr val="000000"/>
                          </a:solidFill>
                          <a:latin typeface="Calibri"/>
                        </a:rPr>
                        <a:t>Table 181: Company Market Share in the Global Market by Region, %,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316707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182: Global Market Competitive Benchmarking Matrix, 2026</a:t>
                      </a:r>
                      <a:endParaRPr sz="1050"/>
                    </a:p>
                  </a:txBody>
                  <a:tcPr marL="9525" marR="9525" marT="9525" marB="0" anchor="ctr"/>
                </a:tc>
              </a:tr>
              <a:tr h="166688">
                <a:tc>
                  <a:txBody>
                    <a:bodyPr wrap="square"/>
                    <a:lstStyle/>
                    <a:p>
                      <a:pPr algn="l"/>
                      <a:r>
                        <a:rPr sz="1050" b="0" i="0">
                          <a:solidFill>
                            <a:srgbClr val="000000"/>
                          </a:solidFill>
                          <a:latin typeface="Calibri"/>
                        </a:rPr>
                        <a:t>Table 183: Global Market Mergers, Acquisitions and Partnerships, 2021–2026</a:t>
                      </a:r>
                      <a:endParaRPr sz="1050"/>
                    </a:p>
                  </a:txBody>
                  <a:tcPr marL="9525" marR="9525" marT="9525" marB="0" anchor="ctr"/>
                </a:tc>
              </a:tr>
              <a:tr h="166688">
                <a:tc>
                  <a:txBody>
                    <a:bodyPr wrap="square"/>
                    <a:lstStyle/>
                    <a:p>
                      <a:pPr algn="l"/>
                      <a:r>
                        <a:rPr sz="1050" b="0" i="0">
                          <a:solidFill>
                            <a:srgbClr val="000000"/>
                          </a:solidFill>
                          <a:latin typeface="Calibri"/>
                        </a:rPr>
                        <a:t>Table 184: L'Oréal S.A.: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185: Company Profile: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186: Profile Element: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Overview: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Product Portfolio: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189: Market Segments — Product Sales: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Market Segments — Channel Sales: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Market Segments — Regional Sales: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Sales Footprint: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Strategy Overview: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194: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Opportunity Assessment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Product Type,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Product Type,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311400"/>
            <a:ext cx="7239000" cy="247650"/>
          </a:xfrm>
          <a:prstGeom prst="rect">
            <a:avLst/>
          </a:prstGeom>
          <a:noFill/>
        </p:spPr>
        <p:txBody>
          <a:bodyPr wrap="none" lIns="0" tIns="0">
            <a:spAutoFit/>
          </a:bodyPr>
          <a:lstStyle/>
          <a:p>
            <a:r>
              <a:rPr sz="1400" b="0">
                <a:solidFill>
                  <a:srgbClr val="8FC8F2"/>
                </a:solidFill>
                <a:latin typeface="Calibri"/>
              </a:rPr>
              <a:t>Ceramide Sunscreen Market</a:t>
            </a:r>
          </a:p>
        </p:txBody>
      </p:sp>
      <p:sp>
        <p:nvSpPr>
          <p:cNvPr id="6" name="FMI Breaker Title"/>
          <p:cNvSpPr txBox="1"/>
          <p:nvPr/>
        </p:nvSpPr>
        <p:spPr>
          <a:xfrm>
            <a:off x="914400" y="2616200"/>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321050"/>
            <a:ext cx="5067300" cy="26543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Form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SPF Rating</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Ingredient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End-use Application</a:t>
            </a:r>
          </a:p>
        </p:txBody>
      </p:sp>
      <p:sp>
        <p:nvSpPr>
          <p:cNvPr id="8" name="TextBox 7"/>
          <p:cNvSpPr txBox="1"/>
          <p:nvPr/>
        </p:nvSpPr>
        <p:spPr>
          <a:xfrm>
            <a:off x="6096000" y="3321050"/>
            <a:ext cx="5067300" cy="2418080"/>
          </a:xfrm>
          <a:prstGeom prst="rect">
            <a:avLst/>
          </a:prstGeom>
          <a:noFill/>
        </p:spPr>
        <p:txBody>
          <a:bodyPr wrap="square" lIns="0" rIns="0" tIns="0" bIns="0">
            <a:spAutoFit/>
          </a:bodyPr>
          <a:lstStyle/>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Pack Size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Price Tier</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SPF Rating</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Ingredient Type ×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Form Type × End-use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Pack Size × Price Tier</a:t>
            </a:r>
          </a:p>
        </p:txBody>
      </p:sp>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Summary, By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520926" cy="194310"/>
          </a:xfrm>
          <a:prstGeom prst="rect">
            <a:avLst/>
          </a:prstGeom>
          <a:noFill/>
        </p:spPr>
        <p:txBody>
          <a:bodyPr wrap="none" lIns="0" rIns="0" tIns="0" bIns="0">
            <a:spAutoFit/>
          </a:bodyPr>
          <a:lstStyle/>
          <a:p>
            <a:r>
              <a:rPr sz="1150" b="0">
                <a:solidFill>
                  <a:srgbClr val="2E2E2E"/>
                </a:solidFill>
                <a:latin typeface="Calibri"/>
              </a:rPr>
              <a:t>Global ceramide sunscreen market is projected to register</a:t>
            </a:r>
          </a:p>
        </p:txBody>
      </p:sp>
      <p:pic>
        <p:nvPicPr>
          <p:cNvPr id="35" name="Picture 34" descr="lock.png"/>
          <p:cNvPicPr>
            <a:picLocks noChangeAspect="1"/>
          </p:cNvPicPr>
          <p:nvPr/>
        </p:nvPicPr>
        <p:blipFill>
          <a:blip r:embed="rId6"/>
          <a:stretch>
            <a:fillRect/>
          </a:stretch>
        </p:blipFill>
        <p:spPr>
          <a:xfrm>
            <a:off x="11518705" y="2036763"/>
            <a:ext cx="134549" cy="195707"/>
          </a:xfrm>
          <a:prstGeom prst="rect">
            <a:avLst/>
          </a:prstGeom>
        </p:spPr>
      </p:pic>
      <p:sp>
        <p:nvSpPr>
          <p:cNvPr id="36" name="TextBox 35"/>
          <p:cNvSpPr txBox="1"/>
          <p:nvPr/>
        </p:nvSpPr>
        <p:spPr>
          <a:xfrm>
            <a:off x="11693814"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7" name="TextBox 36"/>
          <p:cNvSpPr txBox="1"/>
          <p:nvPr/>
        </p:nvSpPr>
        <p:spPr>
          <a:xfrm>
            <a:off x="8048625" y="2222247"/>
            <a:ext cx="3769382" cy="194310"/>
          </a:xfrm>
          <a:prstGeom prst="rect">
            <a:avLst/>
          </a:prstGeom>
          <a:noFill/>
        </p:spPr>
        <p:txBody>
          <a:bodyPr wrap="none" lIns="0" rIns="0" tIns="0" bIns="0">
            <a:spAutoFit/>
          </a:bodyPr>
          <a:lstStyle/>
          <a:p>
            <a:r>
              <a:rPr sz="1150" b="0">
                <a:solidFill>
                  <a:srgbClr val="2E2E2E"/>
                </a:solidFill>
                <a:latin typeface="Calibri"/>
              </a:rPr>
              <a:t>increase in volume by the end of forecast period, 2036. Global</a:t>
            </a:r>
          </a:p>
        </p:txBody>
      </p:sp>
      <p:sp>
        <p:nvSpPr>
          <p:cNvPr id="38" name="TextBox 37"/>
          <p:cNvSpPr txBox="1"/>
          <p:nvPr/>
        </p:nvSpPr>
        <p:spPr>
          <a:xfrm>
            <a:off x="8048625" y="2397507"/>
            <a:ext cx="2724212" cy="194310"/>
          </a:xfrm>
          <a:prstGeom prst="rect">
            <a:avLst/>
          </a:prstGeom>
          <a:noFill/>
        </p:spPr>
        <p:txBody>
          <a:bodyPr wrap="none" lIns="0" rIns="0" tIns="0" bIns="0">
            <a:spAutoFit/>
          </a:bodyPr>
          <a:lstStyle/>
          <a:p>
            <a:r>
              <a:rPr sz="1150" b="0">
                <a:solidFill>
                  <a:srgbClr val="2E2E2E"/>
                </a:solidFill>
                <a:latin typeface="Calibri"/>
              </a:rPr>
              <a:t>ceramide sunscreen market volume stood at</a:t>
            </a:r>
          </a:p>
        </p:txBody>
      </p:sp>
      <p:pic>
        <p:nvPicPr>
          <p:cNvPr id="39" name="Picture 38" descr="lock.png"/>
          <p:cNvPicPr>
            <a:picLocks noChangeAspect="1"/>
          </p:cNvPicPr>
          <p:nvPr/>
        </p:nvPicPr>
        <p:blipFill>
          <a:blip r:embed="rId6"/>
          <a:stretch>
            <a:fillRect/>
          </a:stretch>
        </p:blipFill>
        <p:spPr>
          <a:xfrm>
            <a:off x="10721990" y="2387283"/>
            <a:ext cx="134549" cy="195707"/>
          </a:xfrm>
          <a:prstGeom prst="rect">
            <a:avLst/>
          </a:prstGeom>
        </p:spPr>
      </p:pic>
      <p:sp>
        <p:nvSpPr>
          <p:cNvPr id="40" name="TextBox 39"/>
          <p:cNvSpPr txBox="1"/>
          <p:nvPr/>
        </p:nvSpPr>
        <p:spPr>
          <a:xfrm>
            <a:off x="10897100" y="2397507"/>
            <a:ext cx="859792" cy="194310"/>
          </a:xfrm>
          <a:prstGeom prst="rect">
            <a:avLst/>
          </a:prstGeom>
          <a:noFill/>
        </p:spPr>
        <p:txBody>
          <a:bodyPr wrap="none" lIns="0" rIns="0" tIns="0" bIns="0">
            <a:spAutoFit/>
          </a:bodyPr>
          <a:lstStyle/>
          <a:p>
            <a:r>
              <a:rPr sz="1150" b="0">
                <a:solidFill>
                  <a:srgbClr val="2E2E2E"/>
                </a:solidFill>
                <a:latin typeface="Calibri"/>
              </a:rPr>
              <a:t>Units in 2025</a:t>
            </a:r>
          </a:p>
        </p:txBody>
      </p:sp>
      <p:sp>
        <p:nvSpPr>
          <p:cNvPr id="41" name="TextBox 40"/>
          <p:cNvSpPr txBox="1"/>
          <p:nvPr/>
        </p:nvSpPr>
        <p:spPr>
          <a:xfrm>
            <a:off x="8048625" y="2572767"/>
            <a:ext cx="1527001" cy="194310"/>
          </a:xfrm>
          <a:prstGeom prst="rect">
            <a:avLst/>
          </a:prstGeom>
          <a:noFill/>
        </p:spPr>
        <p:txBody>
          <a:bodyPr wrap="none" lIns="0" rIns="0" tIns="0" bIns="0">
            <a:spAutoFit/>
          </a:bodyPr>
          <a:lstStyle/>
          <a:p>
            <a:r>
              <a:rPr sz="1150" b="0">
                <a:solidFill>
                  <a:srgbClr val="2E2E2E"/>
                </a:solidFill>
                <a:latin typeface="Calibri"/>
              </a:rPr>
              <a:t>and is expected to reach</a:t>
            </a:r>
          </a:p>
        </p:txBody>
      </p:sp>
      <p:pic>
        <p:nvPicPr>
          <p:cNvPr id="42" name="Picture 41" descr="lock.png"/>
          <p:cNvPicPr>
            <a:picLocks noChangeAspect="1"/>
          </p:cNvPicPr>
          <p:nvPr/>
        </p:nvPicPr>
        <p:blipFill>
          <a:blip r:embed="rId6"/>
          <a:stretch>
            <a:fillRect/>
          </a:stretch>
        </p:blipFill>
        <p:spPr>
          <a:xfrm>
            <a:off x="9524780" y="2562543"/>
            <a:ext cx="134549" cy="195707"/>
          </a:xfrm>
          <a:prstGeom prst="rect">
            <a:avLst/>
          </a:prstGeom>
        </p:spPr>
      </p:pic>
      <p:sp>
        <p:nvSpPr>
          <p:cNvPr id="43" name="TextBox 42"/>
          <p:cNvSpPr txBox="1"/>
          <p:nvPr/>
        </p:nvSpPr>
        <p:spPr>
          <a:xfrm>
            <a:off x="9699889" y="2572767"/>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44" name="Picture 43" descr="lock.png"/>
          <p:cNvPicPr>
            <a:picLocks noChangeAspect="1"/>
          </p:cNvPicPr>
          <p:nvPr/>
        </p:nvPicPr>
        <p:blipFill>
          <a:blip r:embed="rId6"/>
          <a:stretch>
            <a:fillRect/>
          </a:stretch>
        </p:blipFill>
        <p:spPr>
          <a:xfrm>
            <a:off x="8034545" y="2737803"/>
            <a:ext cx="134549" cy="195707"/>
          </a:xfrm>
          <a:prstGeom prst="rect">
            <a:avLst/>
          </a:prstGeom>
        </p:spPr>
      </p:pic>
      <p:sp>
        <p:nvSpPr>
          <p:cNvPr id="45" name="TextBox 44"/>
          <p:cNvSpPr txBox="1"/>
          <p:nvPr/>
        </p:nvSpPr>
        <p:spPr>
          <a:xfrm>
            <a:off x="8209654" y="274802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8048625" y="2975864"/>
            <a:ext cx="3842122" cy="194310"/>
          </a:xfrm>
          <a:prstGeom prst="rect">
            <a:avLst/>
          </a:prstGeom>
          <a:noFill/>
        </p:spPr>
        <p:txBody>
          <a:bodyPr wrap="none" lIns="0" rIns="0" tIns="0" bIns="0">
            <a:spAutoFit/>
          </a:bodyPr>
          <a:lstStyle/>
          <a:p>
            <a:r>
              <a:rPr sz="1150" b="0">
                <a:solidFill>
                  <a:srgbClr val="2E2E2E"/>
                </a:solidFill>
                <a:latin typeface="Calibri"/>
              </a:rPr>
              <a:t>Value is projected to grow faster than volume over the forecast</a:t>
            </a:r>
          </a:p>
        </p:txBody>
      </p:sp>
      <p:sp>
        <p:nvSpPr>
          <p:cNvPr id="47" name="TextBox 46"/>
          <p:cNvSpPr txBox="1"/>
          <p:nvPr/>
        </p:nvSpPr>
        <p:spPr>
          <a:xfrm>
            <a:off x="8048625" y="3151124"/>
            <a:ext cx="3184897" cy="194310"/>
          </a:xfrm>
          <a:prstGeom prst="rect">
            <a:avLst/>
          </a:prstGeom>
          <a:noFill/>
        </p:spPr>
        <p:txBody>
          <a:bodyPr wrap="none" lIns="0" rIns="0" tIns="0" bIns="0">
            <a:spAutoFit/>
          </a:bodyPr>
          <a:lstStyle/>
          <a:p>
            <a:r>
              <a:rPr sz="1150" b="0">
                <a:solidFill>
                  <a:srgbClr val="2E2E2E"/>
                </a:solidFill>
                <a:latin typeface="Calibri"/>
              </a:rPr>
              <a:t>period, owing to an increase in average selling price.</a:t>
            </a:r>
          </a:p>
        </p:txBody>
      </p:sp>
      <p:sp>
        <p:nvSpPr>
          <p:cNvPr id="48" name="TextBox 47"/>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9" name="Picture 48" descr="lock.png"/>
          <p:cNvPicPr>
            <a:picLocks noChangeAspect="1"/>
          </p:cNvPicPr>
          <p:nvPr/>
        </p:nvPicPr>
        <p:blipFill>
          <a:blip r:embed="rId6"/>
          <a:stretch>
            <a:fillRect/>
          </a:stretch>
        </p:blipFill>
        <p:spPr>
          <a:xfrm>
            <a:off x="10866614" y="4446251"/>
            <a:ext cx="134549" cy="195707"/>
          </a:xfrm>
          <a:prstGeom prst="rect">
            <a:avLst/>
          </a:prstGeom>
        </p:spPr>
      </p:pic>
      <p:sp>
        <p:nvSpPr>
          <p:cNvPr id="50" name="TextBox 49"/>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833849" cy="194310"/>
          </a:xfrm>
          <a:prstGeom prst="rect">
            <a:avLst/>
          </a:prstGeom>
          <a:noFill/>
        </p:spPr>
        <p:txBody>
          <a:bodyPr wrap="none" lIns="0" rIns="0" tIns="0" bIns="0">
            <a:spAutoFit/>
          </a:bodyPr>
          <a:lstStyle/>
          <a:p>
            <a:r>
              <a:rPr sz="1150" b="0">
                <a:solidFill>
                  <a:srgbClr val="2E2E2E"/>
                </a:solidFill>
                <a:latin typeface="Calibri"/>
              </a:rPr>
              <a:t>▪ Demand concentrates in 'Mineral Ceramide Sunscreen' within</a:t>
            </a:r>
          </a:p>
        </p:txBody>
      </p:sp>
      <p:sp>
        <p:nvSpPr>
          <p:cNvPr id="52" name="TextBox 51"/>
          <p:cNvSpPr txBox="1"/>
          <p:nvPr/>
        </p:nvSpPr>
        <p:spPr>
          <a:xfrm>
            <a:off x="8048625" y="4859572"/>
            <a:ext cx="901154" cy="194310"/>
          </a:xfrm>
          <a:prstGeom prst="rect">
            <a:avLst/>
          </a:prstGeom>
          <a:noFill/>
        </p:spPr>
        <p:txBody>
          <a:bodyPr wrap="none" lIns="0" rIns="0" tIns="0" bIns="0">
            <a:spAutoFit/>
          </a:bodyPr>
          <a:lstStyle/>
          <a:p>
            <a:r>
              <a:rPr sz="1150" b="0">
                <a:solidFill>
                  <a:srgbClr val="2E2E2E"/>
                </a:solidFill>
                <a:latin typeface="Calibri"/>
              </a:rPr>
              <a:t>Product Type.</a:t>
            </a:r>
          </a:p>
        </p:txBody>
      </p:sp>
      <p:sp>
        <p:nvSpPr>
          <p:cNvPr id="53" name="TextBox 52"/>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4" name="TextBox 53"/>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(US$/Units)</a:t>
            </a:r>
          </a:p>
        </p:txBody>
      </p:sp>
      <p:cxnSp>
        <p:nvCxnSpPr>
          <p:cNvPr id="12" name="Connector 11"/>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1825625" y="2721939"/>
            <a:ext cx="0" cy="24158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694180" y="296352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94180" y="272193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606550" y="2780312"/>
            <a:ext cx="438150" cy="12092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606550" y="284011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569539"/>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4162425" y="1670329"/>
            <a:ext cx="0" cy="43340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030980" y="210373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0309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3943350" y="1775427"/>
            <a:ext cx="438150" cy="21678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3943350" y="188278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994025" y="1517929"/>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6499225" y="2794031"/>
            <a:ext cx="0" cy="32552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3677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367780" y="279403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280150" y="2873012"/>
            <a:ext cx="438150" cy="16292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6280150" y="295368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330825" y="2641631"/>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4" name="TextBox 43"/>
          <p:cNvSpPr txBox="1"/>
          <p:nvPr/>
        </p:nvSpPr>
        <p:spPr>
          <a:xfrm>
            <a:off x="6572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Mineral Ceramide Suns…</a:t>
            </a:r>
          </a:p>
        </p:txBody>
      </p:sp>
      <p:sp>
        <p:nvSpPr>
          <p:cNvPr id="45" name="TextBox 44"/>
          <p:cNvSpPr txBox="1"/>
          <p:nvPr/>
        </p:nvSpPr>
        <p:spPr>
          <a:xfrm>
            <a:off x="29940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Chemical Ceramide Sun…</a:t>
            </a:r>
          </a:p>
        </p:txBody>
      </p:sp>
      <p:sp>
        <p:nvSpPr>
          <p:cNvPr id="46" name="TextBox 45"/>
          <p:cNvSpPr txBox="1"/>
          <p:nvPr/>
        </p:nvSpPr>
        <p:spPr>
          <a:xfrm>
            <a:off x="53308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Hybrid Ceramide Sunsc…</a:t>
            </a:r>
          </a:p>
        </p:txBody>
      </p:sp>
      <p:sp>
        <p:nvSpPr>
          <p:cNvPr id="47" name="Rounded Rectangle 46"/>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49" name="Connector 48"/>
          <p:cNvCxnSpPr/>
          <p:nvPr/>
        </p:nvCxnSpPr>
        <p:spPr>
          <a:xfrm>
            <a:off x="619125" y="431718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9125" y="472848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9125" y="555107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19125" y="596236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19125" y="4317185"/>
            <a:ext cx="0" cy="1645181"/>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0550" y="431718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472848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90550" y="555107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90550" y="596236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0" name="FMI Scale tick"/>
          <p:cNvSpPr txBox="1"/>
          <p:nvPr/>
        </p:nvSpPr>
        <p:spPr>
          <a:xfrm>
            <a:off x="219075" y="4250510"/>
            <a:ext cx="361950" cy="13335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61" name="FMI Scale tick"/>
          <p:cNvSpPr txBox="1"/>
          <p:nvPr/>
        </p:nvSpPr>
        <p:spPr>
          <a:xfrm>
            <a:off x="219075" y="4661805"/>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62"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63" name="FMI Scale tick"/>
          <p:cNvSpPr txBox="1"/>
          <p:nvPr/>
        </p:nvSpPr>
        <p:spPr>
          <a:xfrm>
            <a:off x="219075" y="5484396"/>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64" name="FMI Scale tick"/>
          <p:cNvSpPr txBox="1"/>
          <p:nvPr/>
        </p:nvSpPr>
        <p:spPr>
          <a:xfrm>
            <a:off x="219075" y="5895691"/>
            <a:ext cx="361950" cy="133350"/>
          </a:xfrm>
          <a:prstGeom prst="rect">
            <a:avLst/>
          </a:prstGeom>
          <a:noFill/>
        </p:spPr>
        <p:txBody>
          <a:bodyPr wrap="none" lIns="0" rIns="0" tIns="0" bIns="0" anchor="ctr">
            <a:spAutoFit/>
          </a:bodyPr>
          <a:lstStyle/>
          <a:p>
            <a:pPr algn="r"/>
            <a:r>
              <a:rPr sz="1100" b="0">
                <a:solidFill>
                  <a:srgbClr val="6C7A89"/>
                </a:solidFill>
                <a:latin typeface="Calibri"/>
              </a:rPr>
              <a:t>-50%</a:t>
            </a:r>
          </a:p>
        </p:txBody>
      </p:sp>
      <p:cxnSp>
        <p:nvCxnSpPr>
          <p:cNvPr id="65" name="Connector 64"/>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MI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8" name="Rectangle 67"/>
          <p:cNvSpPr/>
          <p:nvPr/>
        </p:nvSpPr>
        <p:spPr>
          <a:xfrm>
            <a:off x="2152650" y="5139776"/>
            <a:ext cx="457200" cy="6038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MI Data Label"/>
          <p:cNvSpPr txBox="1"/>
          <p:nvPr/>
        </p:nvSpPr>
        <p:spPr>
          <a:xfrm>
            <a:off x="1793875" y="520968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0" name="Rectangle 69"/>
          <p:cNvSpPr/>
          <p:nvPr/>
        </p:nvSpPr>
        <p:spPr>
          <a:xfrm>
            <a:off x="3327400" y="4702274"/>
            <a:ext cx="457200" cy="43750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MI Data Label"/>
          <p:cNvSpPr txBox="1"/>
          <p:nvPr/>
        </p:nvSpPr>
        <p:spPr>
          <a:xfrm>
            <a:off x="2968625" y="455939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2" name="Rectangle 71"/>
          <p:cNvSpPr/>
          <p:nvPr/>
        </p:nvSpPr>
        <p:spPr>
          <a:xfrm>
            <a:off x="4502150" y="5139776"/>
            <a:ext cx="457200" cy="51538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MI Data Label"/>
          <p:cNvSpPr txBox="1"/>
          <p:nvPr/>
        </p:nvSpPr>
        <p:spPr>
          <a:xfrm>
            <a:off x="4143375" y="56646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4" name="Rectangle 73"/>
          <p:cNvSpPr/>
          <p:nvPr/>
        </p:nvSpPr>
        <p:spPr>
          <a:xfrm>
            <a:off x="5676900" y="5139776"/>
            <a:ext cx="457200" cy="66594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MI Data Label"/>
          <p:cNvSpPr txBox="1"/>
          <p:nvPr/>
        </p:nvSpPr>
        <p:spPr>
          <a:xfrm>
            <a:off x="5318125" y="5815245"/>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6" name="Rectangle 75"/>
          <p:cNvSpPr/>
          <p:nvPr/>
        </p:nvSpPr>
        <p:spPr>
          <a:xfrm>
            <a:off x="6851650" y="5139776"/>
            <a:ext cx="457200" cy="14318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MI Data Label"/>
          <p:cNvSpPr txBox="1"/>
          <p:nvPr/>
        </p:nvSpPr>
        <p:spPr>
          <a:xfrm>
            <a:off x="6492875" y="529248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8" name="TextBox 77"/>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79" name="TextBox 78"/>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80" name="TextBox 79"/>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81" name="TextBox 80"/>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82" name="TextBox 81"/>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83" name="TextBox 82"/>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84" name="Rounded Rectangle 83"/>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86" name="Rectangle 85"/>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88" name="TextBox 8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9" name="Picture 88" descr="lock.png"/>
          <p:cNvPicPr>
            <a:picLocks noChangeAspect="1"/>
          </p:cNvPicPr>
          <p:nvPr/>
        </p:nvPicPr>
        <p:blipFill>
          <a:blip r:embed="rId4"/>
          <a:stretch>
            <a:fillRect/>
          </a:stretch>
        </p:blipFill>
        <p:spPr>
          <a:xfrm>
            <a:off x="1761275" y="2542615"/>
            <a:ext cx="128699" cy="187198"/>
          </a:xfrm>
          <a:prstGeom prst="rect">
            <a:avLst/>
          </a:prstGeom>
        </p:spPr>
      </p:pic>
      <p:pic>
        <p:nvPicPr>
          <p:cNvPr id="90" name="Picture 89" descr="lock.png"/>
          <p:cNvPicPr>
            <a:picLocks noChangeAspect="1"/>
          </p:cNvPicPr>
          <p:nvPr/>
        </p:nvPicPr>
        <p:blipFill>
          <a:blip r:embed="rId4"/>
          <a:stretch>
            <a:fillRect/>
          </a:stretch>
        </p:blipFill>
        <p:spPr>
          <a:xfrm>
            <a:off x="4098075" y="1491005"/>
            <a:ext cx="128699" cy="187198"/>
          </a:xfrm>
          <a:prstGeom prst="rect">
            <a:avLst/>
          </a:prstGeom>
        </p:spPr>
      </p:pic>
      <p:pic>
        <p:nvPicPr>
          <p:cNvPr id="91" name="Picture 90" descr="lock.png"/>
          <p:cNvPicPr>
            <a:picLocks noChangeAspect="1"/>
          </p:cNvPicPr>
          <p:nvPr/>
        </p:nvPicPr>
        <p:blipFill>
          <a:blip r:embed="rId4"/>
          <a:stretch>
            <a:fillRect/>
          </a:stretch>
        </p:blipFill>
        <p:spPr>
          <a:xfrm>
            <a:off x="6434875" y="2614707"/>
            <a:ext cx="128699" cy="187198"/>
          </a:xfrm>
          <a:prstGeom prst="rect">
            <a:avLst/>
          </a:prstGeom>
        </p:spPr>
      </p:pic>
      <p:pic>
        <p:nvPicPr>
          <p:cNvPr id="92" name="Picture 91" descr="lock.png"/>
          <p:cNvPicPr>
            <a:picLocks noChangeAspect="1"/>
          </p:cNvPicPr>
          <p:nvPr/>
        </p:nvPicPr>
        <p:blipFill>
          <a:blip r:embed="rId4"/>
          <a:stretch>
            <a:fillRect/>
          </a:stretch>
        </p:blipFill>
        <p:spPr>
          <a:xfrm>
            <a:off x="1142150" y="4253659"/>
            <a:ext cx="128699" cy="187198"/>
          </a:xfrm>
          <a:prstGeom prst="rect">
            <a:avLst/>
          </a:prstGeom>
        </p:spPr>
      </p:pic>
      <p:pic>
        <p:nvPicPr>
          <p:cNvPr id="93" name="Picture 92" descr="lock.png"/>
          <p:cNvPicPr>
            <a:picLocks noChangeAspect="1"/>
          </p:cNvPicPr>
          <p:nvPr/>
        </p:nvPicPr>
        <p:blipFill>
          <a:blip r:embed="rId4"/>
          <a:stretch>
            <a:fillRect/>
          </a:stretch>
        </p:blipFill>
        <p:spPr>
          <a:xfrm>
            <a:off x="2316900" y="5182756"/>
            <a:ext cx="128699" cy="187198"/>
          </a:xfrm>
          <a:prstGeom prst="rect">
            <a:avLst/>
          </a:prstGeom>
        </p:spPr>
      </p:pic>
      <p:pic>
        <p:nvPicPr>
          <p:cNvPr id="94" name="Picture 93" descr="lock.png"/>
          <p:cNvPicPr>
            <a:picLocks noChangeAspect="1"/>
          </p:cNvPicPr>
          <p:nvPr/>
        </p:nvPicPr>
        <p:blipFill>
          <a:blip r:embed="rId4"/>
          <a:stretch>
            <a:fillRect/>
          </a:stretch>
        </p:blipFill>
        <p:spPr>
          <a:xfrm>
            <a:off x="3491650" y="4532475"/>
            <a:ext cx="128699" cy="187198"/>
          </a:xfrm>
          <a:prstGeom prst="rect">
            <a:avLst/>
          </a:prstGeom>
        </p:spPr>
      </p:pic>
      <p:pic>
        <p:nvPicPr>
          <p:cNvPr id="95" name="Picture 94" descr="lock.png"/>
          <p:cNvPicPr>
            <a:picLocks noChangeAspect="1"/>
          </p:cNvPicPr>
          <p:nvPr/>
        </p:nvPicPr>
        <p:blipFill>
          <a:blip r:embed="rId4"/>
          <a:stretch>
            <a:fillRect/>
          </a:stretch>
        </p:blipFill>
        <p:spPr>
          <a:xfrm>
            <a:off x="4666400" y="5637759"/>
            <a:ext cx="128699" cy="187198"/>
          </a:xfrm>
          <a:prstGeom prst="rect">
            <a:avLst/>
          </a:prstGeom>
        </p:spPr>
      </p:pic>
      <p:pic>
        <p:nvPicPr>
          <p:cNvPr id="96" name="Picture 95" descr="lock.png"/>
          <p:cNvPicPr>
            <a:picLocks noChangeAspect="1"/>
          </p:cNvPicPr>
          <p:nvPr/>
        </p:nvPicPr>
        <p:blipFill>
          <a:blip r:embed="rId4"/>
          <a:stretch>
            <a:fillRect/>
          </a:stretch>
        </p:blipFill>
        <p:spPr>
          <a:xfrm>
            <a:off x="5841150" y="5788321"/>
            <a:ext cx="128699" cy="187198"/>
          </a:xfrm>
          <a:prstGeom prst="rect">
            <a:avLst/>
          </a:prstGeom>
        </p:spPr>
      </p:pic>
      <p:pic>
        <p:nvPicPr>
          <p:cNvPr id="97" name="Picture 96" descr="lock.png"/>
          <p:cNvPicPr>
            <a:picLocks noChangeAspect="1"/>
          </p:cNvPicPr>
          <p:nvPr/>
        </p:nvPicPr>
        <p:blipFill>
          <a:blip r:embed="rId4"/>
          <a:stretch>
            <a:fillRect/>
          </a:stretch>
        </p:blipFill>
        <p:spPr>
          <a:xfrm>
            <a:off x="7015900" y="5265557"/>
            <a:ext cx="128699" cy="187198"/>
          </a:xfrm>
          <a:prstGeom prst="rect">
            <a:avLst/>
          </a:prstGeom>
        </p:spPr>
      </p:pic>
      <p:sp>
        <p:nvSpPr>
          <p:cNvPr id="98" name="TextBox 97"/>
          <p:cNvSpPr txBox="1"/>
          <p:nvPr/>
        </p:nvSpPr>
        <p:spPr>
          <a:xfrm>
            <a:off x="8048625" y="1471995"/>
            <a:ext cx="3848100" cy="194310"/>
          </a:xfrm>
          <a:prstGeom prst="rect">
            <a:avLst/>
          </a:prstGeom>
          <a:noFill/>
        </p:spPr>
        <p:txBody>
          <a:bodyPr wrap="none" lIns="0" rIns="0" tIns="0" bIns="0">
            <a:spAutoFit/>
          </a:bodyPr>
          <a:lstStyle/>
          <a:p>
            <a:r>
              <a:rPr sz="1150" b="0">
                <a:solidFill>
                  <a:srgbClr val="2E2E2E"/>
                </a:solidFill>
                <a:latin typeface="Calibri"/>
              </a:rPr>
              <a:t>Chemical ceramide sunscreen segment is expected to command</a:t>
            </a:r>
          </a:p>
        </p:txBody>
      </p:sp>
      <p:sp>
        <p:nvSpPr>
          <p:cNvPr id="99" name="TextBox 98"/>
          <p:cNvSpPr txBox="1"/>
          <p:nvPr/>
        </p:nvSpPr>
        <p:spPr>
          <a:xfrm>
            <a:off x="8048625" y="1647255"/>
            <a:ext cx="1998526" cy="194310"/>
          </a:xfrm>
          <a:prstGeom prst="rect">
            <a:avLst/>
          </a:prstGeom>
          <a:noFill/>
        </p:spPr>
        <p:txBody>
          <a:bodyPr wrap="none" lIns="0" rIns="0" tIns="0" bIns="0">
            <a:spAutoFit/>
          </a:bodyPr>
          <a:lstStyle/>
          <a:p>
            <a:r>
              <a:rPr sz="1150" b="0">
                <a:solidFill>
                  <a:srgbClr val="2E2E2E"/>
                </a:solidFill>
                <a:latin typeface="Calibri"/>
              </a:rPr>
              <a:t>the highest average price of US$</a:t>
            </a:r>
          </a:p>
        </p:txBody>
      </p:sp>
      <p:pic>
        <p:nvPicPr>
          <p:cNvPr id="100" name="Picture 99" descr="lock.png"/>
          <p:cNvPicPr>
            <a:picLocks noChangeAspect="1"/>
          </p:cNvPicPr>
          <p:nvPr/>
        </p:nvPicPr>
        <p:blipFill>
          <a:blip r:embed="rId4"/>
          <a:stretch>
            <a:fillRect/>
          </a:stretch>
        </p:blipFill>
        <p:spPr>
          <a:xfrm>
            <a:off x="9996305" y="1637031"/>
            <a:ext cx="134549" cy="195707"/>
          </a:xfrm>
          <a:prstGeom prst="rect">
            <a:avLst/>
          </a:prstGeom>
        </p:spPr>
      </p:pic>
      <p:sp>
        <p:nvSpPr>
          <p:cNvPr id="101" name="TextBox 100"/>
          <p:cNvSpPr txBox="1"/>
          <p:nvPr/>
        </p:nvSpPr>
        <p:spPr>
          <a:xfrm>
            <a:off x="10171414"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102" name="TextBox 101"/>
          <p:cNvSpPr txBox="1"/>
          <p:nvPr/>
        </p:nvSpPr>
        <p:spPr>
          <a:xfrm>
            <a:off x="8048625" y="1822515"/>
            <a:ext cx="3335225" cy="194310"/>
          </a:xfrm>
          <a:prstGeom prst="rect">
            <a:avLst/>
          </a:prstGeom>
          <a:noFill/>
        </p:spPr>
        <p:txBody>
          <a:bodyPr wrap="none" lIns="0" rIns="0" tIns="0" bIns="0">
            <a:spAutoFit/>
          </a:bodyPr>
          <a:lstStyle/>
          <a:p>
            <a:r>
              <a:rPr sz="1150" b="0">
                <a:solidFill>
                  <a:srgbClr val="2E2E2E"/>
                </a:solidFill>
                <a:latin typeface="Calibri"/>
              </a:rPr>
              <a:t>selling price of ceramide sunscreen is estimated at US$</a:t>
            </a:r>
          </a:p>
        </p:txBody>
      </p:sp>
      <p:pic>
        <p:nvPicPr>
          <p:cNvPr id="103" name="Picture 102" descr="lock.png"/>
          <p:cNvPicPr>
            <a:picLocks noChangeAspect="1"/>
          </p:cNvPicPr>
          <p:nvPr/>
        </p:nvPicPr>
        <p:blipFill>
          <a:blip r:embed="rId4"/>
          <a:stretch>
            <a:fillRect/>
          </a:stretch>
        </p:blipFill>
        <p:spPr>
          <a:xfrm>
            <a:off x="11333004" y="1812291"/>
            <a:ext cx="134549" cy="195707"/>
          </a:xfrm>
          <a:prstGeom prst="rect">
            <a:avLst/>
          </a:prstGeom>
        </p:spPr>
      </p:pic>
      <p:sp>
        <p:nvSpPr>
          <p:cNvPr id="104" name="TextBox 103"/>
          <p:cNvSpPr txBox="1"/>
          <p:nvPr/>
        </p:nvSpPr>
        <p:spPr>
          <a:xfrm>
            <a:off x="11508114" y="182251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05" name="TextBox 104"/>
          <p:cNvSpPr txBox="1"/>
          <p:nvPr/>
        </p:nvSpPr>
        <p:spPr>
          <a:xfrm>
            <a:off x="8048625" y="1997775"/>
            <a:ext cx="2904492" cy="194310"/>
          </a:xfrm>
          <a:prstGeom prst="rect">
            <a:avLst/>
          </a:prstGeom>
          <a:noFill/>
        </p:spPr>
        <p:txBody>
          <a:bodyPr wrap="none" lIns="0" rIns="0" tIns="0" bIns="0">
            <a:spAutoFit/>
          </a:bodyPr>
          <a:lstStyle/>
          <a:p>
            <a:r>
              <a:rPr sz="1150" b="0">
                <a:solidFill>
                  <a:srgbClr val="2E2E2E"/>
                </a:solidFill>
                <a:latin typeface="Calibri"/>
              </a:rPr>
              <a:t>Unit in 2025 and is projected to increase to US$</a:t>
            </a:r>
          </a:p>
        </p:txBody>
      </p:sp>
      <p:pic>
        <p:nvPicPr>
          <p:cNvPr id="106" name="Picture 105" descr="lock.png"/>
          <p:cNvPicPr>
            <a:picLocks noChangeAspect="1"/>
          </p:cNvPicPr>
          <p:nvPr/>
        </p:nvPicPr>
        <p:blipFill>
          <a:blip r:embed="rId4"/>
          <a:stretch>
            <a:fillRect/>
          </a:stretch>
        </p:blipFill>
        <p:spPr>
          <a:xfrm>
            <a:off x="10902271" y="1987551"/>
            <a:ext cx="134549" cy="195707"/>
          </a:xfrm>
          <a:prstGeom prst="rect">
            <a:avLst/>
          </a:prstGeom>
        </p:spPr>
      </p:pic>
      <p:sp>
        <p:nvSpPr>
          <p:cNvPr id="107" name="TextBox 106"/>
          <p:cNvSpPr txBox="1"/>
          <p:nvPr/>
        </p:nvSpPr>
        <p:spPr>
          <a:xfrm>
            <a:off x="11077380" y="1997775"/>
            <a:ext cx="739130" cy="194310"/>
          </a:xfrm>
          <a:prstGeom prst="rect">
            <a:avLst/>
          </a:prstGeom>
          <a:noFill/>
        </p:spPr>
        <p:txBody>
          <a:bodyPr wrap="none" lIns="0" rIns="0" tIns="0" bIns="0">
            <a:spAutoFit/>
          </a:bodyPr>
          <a:lstStyle/>
          <a:p>
            <a:r>
              <a:rPr sz="1150" b="0">
                <a:solidFill>
                  <a:srgbClr val="2E2E2E"/>
                </a:solidFill>
                <a:latin typeface="Calibri"/>
              </a:rPr>
              <a:t>per Unit by</a:t>
            </a:r>
          </a:p>
        </p:txBody>
      </p:sp>
      <p:sp>
        <p:nvSpPr>
          <p:cNvPr id="108" name="TextBox 107"/>
          <p:cNvSpPr txBox="1"/>
          <p:nvPr/>
        </p:nvSpPr>
        <p:spPr>
          <a:xfrm>
            <a:off x="8048625" y="2173035"/>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109" name="TextBox 108"/>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10" name="TextBox 109"/>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11" name="TextBox 110"/>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12" name="Picture 111" descr="lock.png"/>
          <p:cNvPicPr>
            <a:picLocks noChangeAspect="1"/>
          </p:cNvPicPr>
          <p:nvPr/>
        </p:nvPicPr>
        <p:blipFill>
          <a:blip r:embed="rId4"/>
          <a:stretch>
            <a:fillRect/>
          </a:stretch>
        </p:blipFill>
        <p:spPr>
          <a:xfrm>
            <a:off x="8524680" y="2741169"/>
            <a:ext cx="134549" cy="195707"/>
          </a:xfrm>
          <a:prstGeom prst="rect">
            <a:avLst/>
          </a:prstGeom>
        </p:spPr>
      </p:pic>
      <p:sp>
        <p:nvSpPr>
          <p:cNvPr id="113" name="TextBox 112"/>
          <p:cNvSpPr txBox="1"/>
          <p:nvPr/>
        </p:nvSpPr>
        <p:spPr>
          <a:xfrm>
            <a:off x="8699789" y="2751393"/>
            <a:ext cx="3076500" cy="194310"/>
          </a:xfrm>
          <a:prstGeom prst="rect">
            <a:avLst/>
          </a:prstGeom>
          <a:noFill/>
        </p:spPr>
        <p:txBody>
          <a:bodyPr wrap="none" lIns="0" rIns="0" tIns="0" bIns="0">
            <a:spAutoFit/>
          </a:bodyPr>
          <a:lstStyle/>
          <a:p>
            <a:r>
              <a:rPr sz="1150" b="0">
                <a:solidFill>
                  <a:srgbClr val="2E2E2E"/>
                </a:solidFill>
                <a:latin typeface="Calibri"/>
              </a:rPr>
              <a:t>US$/Units, 2 of 6 regions price above and 4 below.</a:t>
            </a:r>
          </a:p>
        </p:txBody>
      </p:sp>
      <p:sp>
        <p:nvSpPr>
          <p:cNvPr id="114" name="TextBox 113"/>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15" name="Picture 114" descr="lock.png"/>
          <p:cNvPicPr>
            <a:picLocks noChangeAspect="1"/>
          </p:cNvPicPr>
          <p:nvPr/>
        </p:nvPicPr>
        <p:blipFill>
          <a:blip r:embed="rId4"/>
          <a:stretch>
            <a:fillRect/>
          </a:stretch>
        </p:blipFill>
        <p:spPr>
          <a:xfrm>
            <a:off x="10105842" y="2969007"/>
            <a:ext cx="134549" cy="195707"/>
          </a:xfrm>
          <a:prstGeom prst="rect">
            <a:avLst/>
          </a:prstGeom>
        </p:spPr>
      </p:pic>
      <p:sp>
        <p:nvSpPr>
          <p:cNvPr id="116" name="TextBox 115"/>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17" name="TextBox 116"/>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18" name="Picture 117" descr="lock.png"/>
          <p:cNvPicPr>
            <a:picLocks noChangeAspect="1"/>
          </p:cNvPicPr>
          <p:nvPr/>
        </p:nvPicPr>
        <p:blipFill>
          <a:blip r:embed="rId4"/>
          <a:stretch>
            <a:fillRect/>
          </a:stretch>
        </p:blipFill>
        <p:spPr>
          <a:xfrm>
            <a:off x="9651433" y="3144267"/>
            <a:ext cx="134549" cy="195707"/>
          </a:xfrm>
          <a:prstGeom prst="rect">
            <a:avLst/>
          </a:prstGeom>
        </p:spPr>
      </p:pic>
      <p:sp>
        <p:nvSpPr>
          <p:cNvPr id="119" name="TextBox 118"/>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20" name="TextBox 119"/>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1,750</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3,780</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8.0%</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3991062" y="5157531"/>
            <a:ext cx="289830" cy="421571"/>
          </a:xfrm>
          <a:prstGeom prst="rect">
            <a:avLst/>
          </a:prstGeom>
        </p:spPr>
      </p:pic>
      <p:sp>
        <p:nvSpPr>
          <p:cNvPr id="31" name="TextBox 30"/>
          <p:cNvSpPr txBox="1"/>
          <p:nvPr/>
        </p:nvSpPr>
        <p:spPr>
          <a:xfrm>
            <a:off x="8048625" y="2046987"/>
            <a:ext cx="3120714" cy="194310"/>
          </a:xfrm>
          <a:prstGeom prst="rect">
            <a:avLst/>
          </a:prstGeom>
          <a:noFill/>
        </p:spPr>
        <p:txBody>
          <a:bodyPr wrap="none" lIns="0" rIns="0" tIns="0" bIns="0">
            <a:spAutoFit/>
          </a:bodyPr>
          <a:lstStyle/>
          <a:p>
            <a:r>
              <a:rPr sz="1150" b="0">
                <a:solidFill>
                  <a:srgbClr val="2E2E2E"/>
                </a:solidFill>
                <a:latin typeface="Calibri"/>
              </a:rPr>
              <a:t>Ceramide sunscreen market is projected to register</a:t>
            </a:r>
          </a:p>
        </p:txBody>
      </p:sp>
      <p:pic>
        <p:nvPicPr>
          <p:cNvPr id="32" name="Picture 31" descr="lock.png"/>
          <p:cNvPicPr>
            <a:picLocks noChangeAspect="1"/>
          </p:cNvPicPr>
          <p:nvPr/>
        </p:nvPicPr>
        <p:blipFill>
          <a:blip r:embed="rId6"/>
          <a:stretch>
            <a:fillRect/>
          </a:stretch>
        </p:blipFill>
        <p:spPr>
          <a:xfrm>
            <a:off x="11118493" y="2036763"/>
            <a:ext cx="134549" cy="195707"/>
          </a:xfrm>
          <a:prstGeom prst="rect">
            <a:avLst/>
          </a:prstGeom>
        </p:spPr>
      </p:pic>
      <p:sp>
        <p:nvSpPr>
          <p:cNvPr id="33" name="TextBox 32"/>
          <p:cNvSpPr txBox="1"/>
          <p:nvPr/>
        </p:nvSpPr>
        <p:spPr>
          <a:xfrm>
            <a:off x="11293603"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4" name="TextBox 33"/>
          <p:cNvSpPr txBox="1"/>
          <p:nvPr/>
        </p:nvSpPr>
        <p:spPr>
          <a:xfrm>
            <a:off x="8048625" y="2222247"/>
            <a:ext cx="3571986" cy="194310"/>
          </a:xfrm>
          <a:prstGeom prst="rect">
            <a:avLst/>
          </a:prstGeom>
          <a:noFill/>
        </p:spPr>
        <p:txBody>
          <a:bodyPr wrap="none" lIns="0" rIns="0" tIns="0" bIns="0">
            <a:spAutoFit/>
          </a:bodyPr>
          <a:lstStyle/>
          <a:p>
            <a:r>
              <a:rPr sz="1150" b="0">
                <a:solidFill>
                  <a:srgbClr val="2E2E2E"/>
                </a:solidFill>
                <a:latin typeface="Calibri"/>
              </a:rPr>
              <a:t>increase in its revenue by the end of forecast period, 2036.</a:t>
            </a:r>
          </a:p>
        </p:txBody>
      </p:sp>
      <p:sp>
        <p:nvSpPr>
          <p:cNvPr id="35" name="TextBox 34"/>
          <p:cNvSpPr txBox="1"/>
          <p:nvPr/>
        </p:nvSpPr>
        <p:spPr>
          <a:xfrm>
            <a:off x="8048625" y="2397507"/>
            <a:ext cx="3767956" cy="194310"/>
          </a:xfrm>
          <a:prstGeom prst="rect">
            <a:avLst/>
          </a:prstGeom>
          <a:noFill/>
        </p:spPr>
        <p:txBody>
          <a:bodyPr wrap="none" lIns="0" rIns="0" tIns="0" bIns="0">
            <a:spAutoFit/>
          </a:bodyPr>
          <a:lstStyle/>
          <a:p>
            <a:r>
              <a:rPr sz="1150" b="0">
                <a:solidFill>
                  <a:srgbClr val="2E2E2E"/>
                </a:solidFill>
                <a:latin typeface="Calibri"/>
              </a:rPr>
              <a:t>Global ceramide sunscreen market is expected to be valued at</a:t>
            </a:r>
          </a:p>
        </p:txBody>
      </p:sp>
      <p:sp>
        <p:nvSpPr>
          <p:cNvPr id="36" name="TextBox 35"/>
          <p:cNvSpPr txBox="1"/>
          <p:nvPr/>
        </p:nvSpPr>
        <p:spPr>
          <a:xfrm>
            <a:off x="8048625" y="2572767"/>
            <a:ext cx="1714127" cy="194310"/>
          </a:xfrm>
          <a:prstGeom prst="rect">
            <a:avLst/>
          </a:prstGeom>
          <a:noFill/>
        </p:spPr>
        <p:txBody>
          <a:bodyPr wrap="none" lIns="0" rIns="0" tIns="0" bIns="0">
            <a:spAutoFit/>
          </a:bodyPr>
          <a:lstStyle/>
          <a:p>
            <a:r>
              <a:rPr sz="1150" b="0">
                <a:solidFill>
                  <a:srgbClr val="2E2E2E"/>
                </a:solidFill>
                <a:latin typeface="Calibri"/>
              </a:rPr>
              <a:t>US$ 3,780 Mn by 2036 end.</a:t>
            </a:r>
          </a:p>
        </p:txBody>
      </p:sp>
      <p:sp>
        <p:nvSpPr>
          <p:cNvPr id="37" name="TextBox 36"/>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8" name="Picture 37" descr="lock.png"/>
          <p:cNvPicPr>
            <a:picLocks noChangeAspect="1"/>
          </p:cNvPicPr>
          <p:nvPr/>
        </p:nvPicPr>
        <p:blipFill>
          <a:blip r:embed="rId6"/>
          <a:stretch>
            <a:fillRect/>
          </a:stretch>
        </p:blipFill>
        <p:spPr>
          <a:xfrm>
            <a:off x="8034545" y="2965641"/>
            <a:ext cx="134549" cy="195707"/>
          </a:xfrm>
          <a:prstGeom prst="rect">
            <a:avLst/>
          </a:prstGeom>
        </p:spPr>
      </p:pic>
      <p:sp>
        <p:nvSpPr>
          <p:cNvPr id="39" name="TextBox 38"/>
          <p:cNvSpPr txBox="1"/>
          <p:nvPr/>
        </p:nvSpPr>
        <p:spPr>
          <a:xfrm>
            <a:off x="8209654" y="297586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0" name="TextBox 39"/>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1" name="Picture 40" descr="lock.png"/>
          <p:cNvPicPr>
            <a:picLocks noChangeAspect="1"/>
          </p:cNvPicPr>
          <p:nvPr/>
        </p:nvPicPr>
        <p:blipFill>
          <a:blip r:embed="rId6"/>
          <a:stretch>
            <a:fillRect/>
          </a:stretch>
        </p:blipFill>
        <p:spPr>
          <a:xfrm>
            <a:off x="10866614" y="4446251"/>
            <a:ext cx="134549" cy="195707"/>
          </a:xfrm>
          <a:prstGeom prst="rect">
            <a:avLst/>
          </a:prstGeom>
        </p:spPr>
      </p:pic>
      <p:sp>
        <p:nvSpPr>
          <p:cNvPr id="42" name="TextBox 41"/>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3" name="TextBox 42"/>
          <p:cNvSpPr txBox="1"/>
          <p:nvPr/>
        </p:nvSpPr>
        <p:spPr>
          <a:xfrm>
            <a:off x="8048625" y="4684312"/>
            <a:ext cx="3833849" cy="194310"/>
          </a:xfrm>
          <a:prstGeom prst="rect">
            <a:avLst/>
          </a:prstGeom>
          <a:noFill/>
        </p:spPr>
        <p:txBody>
          <a:bodyPr wrap="none" lIns="0" rIns="0" tIns="0" bIns="0">
            <a:spAutoFit/>
          </a:bodyPr>
          <a:lstStyle/>
          <a:p>
            <a:r>
              <a:rPr sz="1150" b="0">
                <a:solidFill>
                  <a:srgbClr val="2E2E2E"/>
                </a:solidFill>
                <a:latin typeface="Calibri"/>
              </a:rPr>
              <a:t>▪ Demand concentrates in 'Mineral Ceramide Sunscreen' within</a:t>
            </a:r>
          </a:p>
        </p:txBody>
      </p:sp>
      <p:sp>
        <p:nvSpPr>
          <p:cNvPr id="44" name="TextBox 43"/>
          <p:cNvSpPr txBox="1"/>
          <p:nvPr/>
        </p:nvSpPr>
        <p:spPr>
          <a:xfrm>
            <a:off x="8048625" y="4859572"/>
            <a:ext cx="901154" cy="194310"/>
          </a:xfrm>
          <a:prstGeom prst="rect">
            <a:avLst/>
          </a:prstGeom>
          <a:noFill/>
        </p:spPr>
        <p:txBody>
          <a:bodyPr wrap="none" lIns="0" rIns="0" tIns="0" bIns="0">
            <a:spAutoFit/>
          </a:bodyPr>
          <a:lstStyle/>
          <a:p>
            <a:r>
              <a:rPr sz="1150" b="0">
                <a:solidFill>
                  <a:srgbClr val="2E2E2E"/>
                </a:solidFill>
                <a:latin typeface="Calibri"/>
              </a:rPr>
              <a:t>Product Type.</a:t>
            </a:r>
          </a:p>
        </p:txBody>
      </p:sp>
      <p:sp>
        <p:nvSpPr>
          <p:cNvPr id="45" name="TextBox 44"/>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46" name="TextBox 45"/>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47"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8.0%</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69984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10351294" y="4022407"/>
            <a:ext cx="157162" cy="228600"/>
          </a:xfrm>
          <a:prstGeom prst="rect">
            <a:avLst/>
          </a:prstGeom>
        </p:spPr>
      </p:pic>
      <p:sp>
        <p:nvSpPr>
          <p:cNvPr id="30" name="TextBox 29"/>
          <p:cNvSpPr txBox="1"/>
          <p:nvPr/>
        </p:nvSpPr>
        <p:spPr>
          <a:xfrm>
            <a:off x="276225" y="4972050"/>
            <a:ext cx="3120714" cy="194310"/>
          </a:xfrm>
          <a:prstGeom prst="rect">
            <a:avLst/>
          </a:prstGeom>
          <a:noFill/>
        </p:spPr>
        <p:txBody>
          <a:bodyPr wrap="none" lIns="0" rIns="0" tIns="0" bIns="0">
            <a:spAutoFit/>
          </a:bodyPr>
          <a:lstStyle/>
          <a:p>
            <a:r>
              <a:rPr sz="1150" b="0">
                <a:solidFill>
                  <a:srgbClr val="2E2E2E"/>
                </a:solidFill>
                <a:latin typeface="Calibri"/>
              </a:rPr>
              <a:t>Ceramide sunscreen market is projected to register</a:t>
            </a:r>
          </a:p>
        </p:txBody>
      </p:sp>
      <p:pic>
        <p:nvPicPr>
          <p:cNvPr id="31" name="Picture 30" descr="lock.png"/>
          <p:cNvPicPr>
            <a:picLocks noChangeAspect="1"/>
          </p:cNvPicPr>
          <p:nvPr/>
        </p:nvPicPr>
        <p:blipFill>
          <a:blip r:embed="rId6"/>
          <a:stretch>
            <a:fillRect/>
          </a:stretch>
        </p:blipFill>
        <p:spPr>
          <a:xfrm>
            <a:off x="3346093" y="4961826"/>
            <a:ext cx="134549" cy="195707"/>
          </a:xfrm>
          <a:prstGeom prst="rect">
            <a:avLst/>
          </a:prstGeom>
        </p:spPr>
      </p:pic>
      <p:sp>
        <p:nvSpPr>
          <p:cNvPr id="32" name="TextBox 31"/>
          <p:cNvSpPr txBox="1"/>
          <p:nvPr/>
        </p:nvSpPr>
        <p:spPr>
          <a:xfrm>
            <a:off x="3521203" y="4972050"/>
            <a:ext cx="8274967"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ceramide sunscreen market is expected to be valued at US$ 3,780 Mn</a:t>
            </a:r>
          </a:p>
        </p:txBody>
      </p:sp>
      <p:sp>
        <p:nvSpPr>
          <p:cNvPr id="33" name="TextBox 32"/>
          <p:cNvSpPr txBox="1"/>
          <p:nvPr/>
        </p:nvSpPr>
        <p:spPr>
          <a:xfrm>
            <a:off x="276225" y="5147310"/>
            <a:ext cx="844959" cy="194310"/>
          </a:xfrm>
          <a:prstGeom prst="rect">
            <a:avLst/>
          </a:prstGeom>
          <a:noFill/>
        </p:spPr>
        <p:txBody>
          <a:bodyPr wrap="none" lIns="0" rIns="0" tIns="0" bIns="0">
            <a:spAutoFit/>
          </a:bodyPr>
          <a:lstStyle/>
          <a:p>
            <a:r>
              <a:rPr sz="1150" b="0">
                <a:solidFill>
                  <a:srgbClr val="2E2E2E"/>
                </a:solidFill>
                <a:latin typeface="Calibri"/>
              </a:rPr>
              <a:t>by 2036 end.</a:t>
            </a:r>
          </a:p>
        </p:txBody>
      </p:sp>
      <p:sp>
        <p:nvSpPr>
          <p:cNvPr id="34" name="TextBox 33"/>
          <p:cNvSpPr txBox="1"/>
          <p:nvPr/>
        </p:nvSpPr>
        <p:spPr>
          <a:xfrm>
            <a:off x="276225" y="5375147"/>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5" name="Picture 34" descr="lock.png"/>
          <p:cNvPicPr>
            <a:picLocks noChangeAspect="1"/>
          </p:cNvPicPr>
          <p:nvPr/>
        </p:nvPicPr>
        <p:blipFill>
          <a:blip r:embed="rId6"/>
          <a:stretch>
            <a:fillRect/>
          </a:stretch>
        </p:blipFill>
        <p:spPr>
          <a:xfrm>
            <a:off x="4037834" y="5364924"/>
            <a:ext cx="134549" cy="195707"/>
          </a:xfrm>
          <a:prstGeom prst="rect">
            <a:avLst/>
          </a:prstGeom>
        </p:spPr>
      </p:pic>
      <p:sp>
        <p:nvSpPr>
          <p:cNvPr id="36" name="TextBox 35"/>
          <p:cNvSpPr txBox="1"/>
          <p:nvPr/>
        </p:nvSpPr>
        <p:spPr>
          <a:xfrm>
            <a:off x="4212943" y="5375147"/>
            <a:ext cx="4933503" cy="194310"/>
          </a:xfrm>
          <a:prstGeom prst="rect">
            <a:avLst/>
          </a:prstGeom>
          <a:noFill/>
        </p:spPr>
        <p:txBody>
          <a:bodyPr wrap="none" lIns="0" rIns="0" tIns="0" bIns="0">
            <a:spAutoFit/>
          </a:bodyPr>
          <a:lstStyle/>
          <a:p>
            <a:r>
              <a:rPr sz="1150" b="0">
                <a:solidFill>
                  <a:srgbClr val="2E2E2E"/>
                </a:solidFill>
                <a:latin typeface="Calibri"/>
              </a:rPr>
              <a:t>Mn from 2025 to 2036. Global ceramide sunscreen market is projected to register</a:t>
            </a:r>
          </a:p>
        </p:txBody>
      </p:sp>
      <p:pic>
        <p:nvPicPr>
          <p:cNvPr id="37" name="Picture 36" descr="lock.png"/>
          <p:cNvPicPr>
            <a:picLocks noChangeAspect="1"/>
          </p:cNvPicPr>
          <p:nvPr/>
        </p:nvPicPr>
        <p:blipFill>
          <a:blip r:embed="rId6"/>
          <a:stretch>
            <a:fillRect/>
          </a:stretch>
        </p:blipFill>
        <p:spPr>
          <a:xfrm>
            <a:off x="9095601" y="5364924"/>
            <a:ext cx="134549" cy="195707"/>
          </a:xfrm>
          <a:prstGeom prst="rect">
            <a:avLst/>
          </a:prstGeom>
        </p:spPr>
      </p:pic>
      <p:sp>
        <p:nvSpPr>
          <p:cNvPr id="38" name="TextBox 37"/>
          <p:cNvSpPr txBox="1"/>
          <p:nvPr/>
        </p:nvSpPr>
        <p:spPr>
          <a:xfrm>
            <a:off x="9270710" y="5375147"/>
            <a:ext cx="2121755" cy="194310"/>
          </a:xfrm>
          <a:prstGeom prst="rect">
            <a:avLst/>
          </a:prstGeom>
          <a:noFill/>
        </p:spPr>
        <p:txBody>
          <a:bodyPr wrap="none" lIns="0" rIns="0" tIns="0" bIns="0">
            <a:spAutoFit/>
          </a:bodyPr>
          <a:lstStyle/>
          <a:p>
            <a:r>
              <a:rPr sz="1150" b="0">
                <a:solidFill>
                  <a:srgbClr val="2E2E2E"/>
                </a:solidFill>
                <a:latin typeface="Calibri"/>
              </a:rPr>
              <a:t>X increase in volume by the end of</a:t>
            </a:r>
          </a:p>
        </p:txBody>
      </p:sp>
      <p:sp>
        <p:nvSpPr>
          <p:cNvPr id="39" name="TextBox 38"/>
          <p:cNvSpPr txBox="1"/>
          <p:nvPr/>
        </p:nvSpPr>
        <p:spPr>
          <a:xfrm>
            <a:off x="276225" y="5550407"/>
            <a:ext cx="1383518" cy="194310"/>
          </a:xfrm>
          <a:prstGeom prst="rect">
            <a:avLst/>
          </a:prstGeom>
          <a:noFill/>
        </p:spPr>
        <p:txBody>
          <a:bodyPr wrap="none" lIns="0" rIns="0" tIns="0" bIns="0">
            <a:spAutoFit/>
          </a:bodyPr>
          <a:lstStyle/>
          <a:p>
            <a:r>
              <a:rPr sz="1150" b="0">
                <a:solidFill>
                  <a:srgbClr val="2E2E2E"/>
                </a:solidFill>
                <a:latin typeface="Calibri"/>
              </a:rPr>
              <a:t>forecast period, 2036.</a:t>
            </a:r>
          </a:p>
        </p:txBody>
      </p:sp>
      <p:sp>
        <p:nvSpPr>
          <p:cNvPr id="40" name="TextBox 39"/>
          <p:cNvSpPr txBox="1"/>
          <p:nvPr/>
        </p:nvSpPr>
        <p:spPr>
          <a:xfrm>
            <a:off x="276225" y="5778245"/>
            <a:ext cx="3140397" cy="194310"/>
          </a:xfrm>
          <a:prstGeom prst="rect">
            <a:avLst/>
          </a:prstGeom>
          <a:noFill/>
        </p:spPr>
        <p:txBody>
          <a:bodyPr wrap="none" lIns="0" rIns="0" tIns="0" bIns="0">
            <a:spAutoFit/>
          </a:bodyPr>
          <a:lstStyle/>
          <a:p>
            <a:r>
              <a:rPr sz="1150" b="0">
                <a:solidFill>
                  <a:srgbClr val="2E2E2E"/>
                </a:solidFill>
                <a:latin typeface="Calibri"/>
              </a:rPr>
              <a:t>Global ceramide sunscreen market volume stood at</a:t>
            </a:r>
          </a:p>
        </p:txBody>
      </p:sp>
      <p:pic>
        <p:nvPicPr>
          <p:cNvPr id="41" name="Picture 40" descr="lock.png"/>
          <p:cNvPicPr>
            <a:picLocks noChangeAspect="1"/>
          </p:cNvPicPr>
          <p:nvPr/>
        </p:nvPicPr>
        <p:blipFill>
          <a:blip r:embed="rId6"/>
          <a:stretch>
            <a:fillRect/>
          </a:stretch>
        </p:blipFill>
        <p:spPr>
          <a:xfrm>
            <a:off x="3365776" y="5768022"/>
            <a:ext cx="134549" cy="195707"/>
          </a:xfrm>
          <a:prstGeom prst="rect">
            <a:avLst/>
          </a:prstGeom>
        </p:spPr>
      </p:pic>
      <p:sp>
        <p:nvSpPr>
          <p:cNvPr id="42" name="TextBox 41"/>
          <p:cNvSpPr txBox="1"/>
          <p:nvPr/>
        </p:nvSpPr>
        <p:spPr>
          <a:xfrm>
            <a:off x="3540885" y="577824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43" name="Picture 42" descr="lock.png"/>
          <p:cNvPicPr>
            <a:picLocks noChangeAspect="1"/>
          </p:cNvPicPr>
          <p:nvPr/>
        </p:nvPicPr>
        <p:blipFill>
          <a:blip r:embed="rId6"/>
          <a:stretch>
            <a:fillRect/>
          </a:stretch>
        </p:blipFill>
        <p:spPr>
          <a:xfrm>
            <a:off x="5833722" y="5768022"/>
            <a:ext cx="134549" cy="195707"/>
          </a:xfrm>
          <a:prstGeom prst="rect">
            <a:avLst/>
          </a:prstGeom>
        </p:spPr>
      </p:pic>
      <p:sp>
        <p:nvSpPr>
          <p:cNvPr id="44" name="TextBox 43"/>
          <p:cNvSpPr txBox="1"/>
          <p:nvPr/>
        </p:nvSpPr>
        <p:spPr>
          <a:xfrm>
            <a:off x="6008832" y="577824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45" name="Picture 44" descr="lock.png"/>
          <p:cNvPicPr>
            <a:picLocks noChangeAspect="1"/>
          </p:cNvPicPr>
          <p:nvPr/>
        </p:nvPicPr>
        <p:blipFill>
          <a:blip r:embed="rId6"/>
          <a:stretch>
            <a:fillRect/>
          </a:stretch>
        </p:blipFill>
        <p:spPr>
          <a:xfrm>
            <a:off x="7922549" y="5768022"/>
            <a:ext cx="134549" cy="195707"/>
          </a:xfrm>
          <a:prstGeom prst="rect">
            <a:avLst/>
          </a:prstGeom>
        </p:spPr>
      </p:pic>
      <p:sp>
        <p:nvSpPr>
          <p:cNvPr id="46" name="TextBox 45"/>
          <p:cNvSpPr txBox="1"/>
          <p:nvPr/>
        </p:nvSpPr>
        <p:spPr>
          <a:xfrm>
            <a:off x="8097658" y="5778245"/>
            <a:ext cx="3395699"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 the</a:t>
            </a:r>
          </a:p>
        </p:txBody>
      </p:sp>
      <p:sp>
        <p:nvSpPr>
          <p:cNvPr id="47" name="TextBox 46"/>
          <p:cNvSpPr txBox="1"/>
          <p:nvPr/>
        </p:nvSpPr>
        <p:spPr>
          <a:xfrm>
            <a:off x="276225" y="5953505"/>
            <a:ext cx="3701206" cy="194310"/>
          </a:xfrm>
          <a:prstGeom prst="rect">
            <a:avLst/>
          </a:prstGeom>
          <a:noFill/>
        </p:spPr>
        <p:txBody>
          <a:bodyPr wrap="none" lIns="0" rIns="0" tIns="0" bIns="0">
            <a:spAutoFit/>
          </a:bodyPr>
          <a:lstStyle/>
          <a:p>
            <a:r>
              <a:rPr sz="1150" b="0">
                <a:solidFill>
                  <a:srgbClr val="2E2E2E"/>
                </a:solidFill>
                <a:latin typeface="Calibri"/>
              </a:rPr>
              <a:t>forecast period, owing to an increase in average selling price.</a:t>
            </a:r>
          </a:p>
        </p:txBody>
      </p:sp>
      <p:sp>
        <p:nvSpPr>
          <p:cNvPr id="48"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26891"/>
                <a:gridCol w="965533"/>
                <a:gridCol w="658971"/>
                <a:gridCol w="12633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Saudi Arabia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374032" cy="1981680"/>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584082" y="1293011"/>
            <a:ext cx="1369293" cy="1981680"/>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20" name="Rectangle 19"/>
          <p:cNvSpPr/>
          <p:nvPr/>
        </p:nvSpPr>
        <p:spPr>
          <a:xfrm>
            <a:off x="4210050" y="3274691"/>
            <a:ext cx="1544154" cy="1471922"/>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1" name="Rectangle 20"/>
          <p:cNvSpPr/>
          <p:nvPr/>
        </p:nvSpPr>
        <p:spPr>
          <a:xfrm>
            <a:off x="4210050" y="4746613"/>
            <a:ext cx="1544154" cy="1131997"/>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754204" y="3274691"/>
            <a:ext cx="1130944" cy="1177603"/>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3" name="Rectangle 22"/>
          <p:cNvSpPr/>
          <p:nvPr/>
        </p:nvSpPr>
        <p:spPr>
          <a:xfrm>
            <a:off x="6885148" y="3274691"/>
            <a:ext cx="1068227" cy="1177603"/>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4" name="Rectangle 23"/>
          <p:cNvSpPr/>
          <p:nvPr/>
        </p:nvSpPr>
        <p:spPr>
          <a:xfrm>
            <a:off x="5754204" y="4452294"/>
            <a:ext cx="1192220" cy="795846"/>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5" name="Rectangle 24"/>
          <p:cNvSpPr/>
          <p:nvPr/>
        </p:nvSpPr>
        <p:spPr>
          <a:xfrm>
            <a:off x="5754204" y="5248140"/>
            <a:ext cx="1192220" cy="630470"/>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6" name="Rectangle 25"/>
          <p:cNvSpPr/>
          <p:nvPr/>
        </p:nvSpPr>
        <p:spPr>
          <a:xfrm>
            <a:off x="6946424" y="4452294"/>
            <a:ext cx="1006951" cy="733454"/>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7" name="Rectangle 26"/>
          <p:cNvSpPr/>
          <p:nvPr/>
        </p:nvSpPr>
        <p:spPr>
          <a:xfrm>
            <a:off x="6946424" y="5185748"/>
            <a:ext cx="1006951" cy="692862"/>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UAE</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54153" y="4513519"/>
            <a:ext cx="332122" cy="483086"/>
          </a:xfrm>
          <a:prstGeom prst="rect">
            <a:avLst/>
          </a:prstGeom>
        </p:spPr>
      </p:pic>
      <p:pic>
        <p:nvPicPr>
          <p:cNvPr id="38" name="Picture 37" descr="lock.png"/>
          <p:cNvPicPr>
            <a:picLocks noChangeAspect="1"/>
          </p:cNvPicPr>
          <p:nvPr/>
        </p:nvPicPr>
        <p:blipFill>
          <a:blip r:embed="rId6"/>
          <a:stretch>
            <a:fillRect/>
          </a:stretch>
        </p:blipFill>
        <p:spPr>
          <a:xfrm>
            <a:off x="5339440" y="2283851"/>
            <a:ext cx="115252" cy="167639"/>
          </a:xfrm>
          <a:prstGeom prst="rect">
            <a:avLst/>
          </a:prstGeom>
        </p:spPr>
      </p:pic>
      <p:pic>
        <p:nvPicPr>
          <p:cNvPr id="39" name="Picture 38" descr="lock.png"/>
          <p:cNvPicPr>
            <a:picLocks noChangeAspect="1"/>
          </p:cNvPicPr>
          <p:nvPr/>
        </p:nvPicPr>
        <p:blipFill>
          <a:blip r:embed="rId6"/>
          <a:stretch>
            <a:fillRect/>
          </a:stretch>
        </p:blipFill>
        <p:spPr>
          <a:xfrm>
            <a:off x="7211102" y="2283851"/>
            <a:ext cx="115252" cy="167639"/>
          </a:xfrm>
          <a:prstGeom prst="rect">
            <a:avLst/>
          </a:prstGeom>
        </p:spPr>
      </p:pic>
      <p:pic>
        <p:nvPicPr>
          <p:cNvPr id="40" name="Picture 39" descr="lock.png"/>
          <p:cNvPicPr>
            <a:picLocks noChangeAspect="1"/>
          </p:cNvPicPr>
          <p:nvPr/>
        </p:nvPicPr>
        <p:blipFill>
          <a:blip r:embed="rId6"/>
          <a:stretch>
            <a:fillRect/>
          </a:stretch>
        </p:blipFill>
        <p:spPr>
          <a:xfrm>
            <a:off x="4924501" y="4010652"/>
            <a:ext cx="115252" cy="167639"/>
          </a:xfrm>
          <a:prstGeom prst="rect">
            <a:avLst/>
          </a:prstGeom>
        </p:spPr>
      </p:pic>
      <p:pic>
        <p:nvPicPr>
          <p:cNvPr id="41" name="Picture 40" descr="lock.png"/>
          <p:cNvPicPr>
            <a:picLocks noChangeAspect="1"/>
          </p:cNvPicPr>
          <p:nvPr/>
        </p:nvPicPr>
        <p:blipFill>
          <a:blip r:embed="rId6"/>
          <a:stretch>
            <a:fillRect/>
          </a:stretch>
        </p:blipFill>
        <p:spPr>
          <a:xfrm>
            <a:off x="4924501" y="5312611"/>
            <a:ext cx="115252" cy="167639"/>
          </a:xfrm>
          <a:prstGeom prst="rect">
            <a:avLst/>
          </a:prstGeom>
        </p:spPr>
      </p:pic>
      <p:pic>
        <p:nvPicPr>
          <p:cNvPr id="42" name="Picture 41" descr="lock.png"/>
          <p:cNvPicPr>
            <a:picLocks noChangeAspect="1"/>
          </p:cNvPicPr>
          <p:nvPr/>
        </p:nvPicPr>
        <p:blipFill>
          <a:blip r:embed="rId6"/>
          <a:stretch>
            <a:fillRect/>
          </a:stretch>
        </p:blipFill>
        <p:spPr>
          <a:xfrm>
            <a:off x="6262050" y="3863492"/>
            <a:ext cx="115252" cy="167639"/>
          </a:xfrm>
          <a:prstGeom prst="rect">
            <a:avLst/>
          </a:prstGeom>
        </p:spPr>
      </p:pic>
      <p:pic>
        <p:nvPicPr>
          <p:cNvPr id="43" name="Picture 42" descr="lock.png"/>
          <p:cNvPicPr>
            <a:picLocks noChangeAspect="1"/>
          </p:cNvPicPr>
          <p:nvPr/>
        </p:nvPicPr>
        <p:blipFill>
          <a:blip r:embed="rId6"/>
          <a:stretch>
            <a:fillRect/>
          </a:stretch>
        </p:blipFill>
        <p:spPr>
          <a:xfrm>
            <a:off x="7361635" y="3863492"/>
            <a:ext cx="115252" cy="167639"/>
          </a:xfrm>
          <a:prstGeom prst="rect">
            <a:avLst/>
          </a:prstGeom>
        </p:spPr>
      </p:pic>
      <p:pic>
        <p:nvPicPr>
          <p:cNvPr id="44" name="Picture 43" descr="lock.png"/>
          <p:cNvPicPr>
            <a:picLocks noChangeAspect="1"/>
          </p:cNvPicPr>
          <p:nvPr/>
        </p:nvPicPr>
        <p:blipFill>
          <a:blip r:embed="rId6"/>
          <a:stretch>
            <a:fillRect/>
          </a:stretch>
        </p:blipFill>
        <p:spPr>
          <a:xfrm>
            <a:off x="6292688" y="4850216"/>
            <a:ext cx="115252" cy="167639"/>
          </a:xfrm>
          <a:prstGeom prst="rect">
            <a:avLst/>
          </a:prstGeom>
        </p:spPr>
      </p:pic>
      <p:pic>
        <p:nvPicPr>
          <p:cNvPr id="45" name="Picture 44" descr="lock.png"/>
          <p:cNvPicPr>
            <a:picLocks noChangeAspect="1"/>
          </p:cNvPicPr>
          <p:nvPr/>
        </p:nvPicPr>
        <p:blipFill>
          <a:blip r:embed="rId6"/>
          <a:stretch>
            <a:fillRect/>
          </a:stretch>
        </p:blipFill>
        <p:spPr>
          <a:xfrm>
            <a:off x="6292688" y="5563375"/>
            <a:ext cx="115252" cy="167639"/>
          </a:xfrm>
          <a:prstGeom prst="rect">
            <a:avLst/>
          </a:prstGeom>
        </p:spPr>
      </p:pic>
      <p:pic>
        <p:nvPicPr>
          <p:cNvPr id="46" name="Picture 45" descr="lock.png"/>
          <p:cNvPicPr>
            <a:picLocks noChangeAspect="1"/>
          </p:cNvPicPr>
          <p:nvPr/>
        </p:nvPicPr>
        <p:blipFill>
          <a:blip r:embed="rId6"/>
          <a:stretch>
            <a:fillRect/>
          </a:stretch>
        </p:blipFill>
        <p:spPr>
          <a:xfrm>
            <a:off x="7392273" y="4819021"/>
            <a:ext cx="115252" cy="167639"/>
          </a:xfrm>
          <a:prstGeom prst="rect">
            <a:avLst/>
          </a:prstGeom>
        </p:spPr>
      </p:pic>
      <p:pic>
        <p:nvPicPr>
          <p:cNvPr id="47" name="Picture 46" descr="lock.png"/>
          <p:cNvPicPr>
            <a:picLocks noChangeAspect="1"/>
          </p:cNvPicPr>
          <p:nvPr/>
        </p:nvPicPr>
        <p:blipFill>
          <a:blip r:embed="rId6"/>
          <a:stretch>
            <a:fillRect/>
          </a:stretch>
        </p:blipFill>
        <p:spPr>
          <a:xfrm>
            <a:off x="7392273" y="5532179"/>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208848" y="4492667"/>
            <a:ext cx="354517" cy="515661"/>
          </a:xfrm>
          <a:prstGeom prst="rect">
            <a:avLst/>
          </a:prstGeom>
        </p:spPr>
      </p:pic>
      <p:sp>
        <p:nvSpPr>
          <p:cNvPr id="50" name="TextBox 49"/>
          <p:cNvSpPr txBox="1"/>
          <p:nvPr/>
        </p:nvSpPr>
        <p:spPr>
          <a:xfrm>
            <a:off x="257175" y="6160574"/>
            <a:ext cx="3471837" cy="186689"/>
          </a:xfrm>
          <a:prstGeom prst="rect">
            <a:avLst/>
          </a:prstGeom>
          <a:noFill/>
        </p:spPr>
        <p:txBody>
          <a:bodyPr wrap="none" lIns="0" rIns="0" tIns="0" bIns="0">
            <a:spAutoFit/>
          </a:bodyPr>
          <a:lstStyle/>
          <a:p>
            <a:r>
              <a:rPr sz="1100" b="0">
                <a:solidFill>
                  <a:srgbClr val="2E2E2E"/>
                </a:solidFill>
                <a:latin typeface="Calibri"/>
              </a:rPr>
              <a:t>The U.S. ceramide sunscreen market is projected to register</a:t>
            </a:r>
          </a:p>
        </p:txBody>
      </p:sp>
      <p:pic>
        <p:nvPicPr>
          <p:cNvPr id="51" name="Picture 50" descr="lock.png"/>
          <p:cNvPicPr>
            <a:picLocks noChangeAspect="1"/>
          </p:cNvPicPr>
          <p:nvPr/>
        </p:nvPicPr>
        <p:blipFill>
          <a:blip r:embed="rId6"/>
          <a:stretch>
            <a:fillRect/>
          </a:stretch>
        </p:blipFill>
        <p:spPr>
          <a:xfrm>
            <a:off x="3677064" y="6150795"/>
            <a:ext cx="128699" cy="187198"/>
          </a:xfrm>
          <a:prstGeom prst="rect">
            <a:avLst/>
          </a:prstGeom>
        </p:spPr>
      </p:pic>
      <p:sp>
        <p:nvSpPr>
          <p:cNvPr id="52" name="TextBox 51"/>
          <p:cNvSpPr txBox="1"/>
          <p:nvPr/>
        </p:nvSpPr>
        <p:spPr>
          <a:xfrm>
            <a:off x="3844560" y="6160574"/>
            <a:ext cx="4298833" cy="186689"/>
          </a:xfrm>
          <a:prstGeom prst="rect">
            <a:avLst/>
          </a:prstGeom>
          <a:noFill/>
        </p:spPr>
        <p:txBody>
          <a:bodyPr wrap="none" lIns="0" rIns="0" tIns="0" bIns="0">
            <a:spAutoFit/>
          </a:bodyPr>
          <a:lstStyle/>
          <a:p>
            <a:r>
              <a:rPr sz="1100" b="0">
                <a:solidFill>
                  <a:srgbClr val="2E2E2E"/>
                </a:solidFill>
                <a:latin typeface="Calibri"/>
              </a:rPr>
              <a:t>X higher value than Germany in 2036. India posts the highest CAGR Index (</a:t>
            </a:r>
          </a:p>
        </p:txBody>
      </p:sp>
      <p:pic>
        <p:nvPicPr>
          <p:cNvPr id="53" name="Picture 52" descr="lock.png"/>
          <p:cNvPicPr>
            <a:picLocks noChangeAspect="1"/>
          </p:cNvPicPr>
          <p:nvPr/>
        </p:nvPicPr>
        <p:blipFill>
          <a:blip r:embed="rId6"/>
          <a:stretch>
            <a:fillRect/>
          </a:stretch>
        </p:blipFill>
        <p:spPr>
          <a:xfrm>
            <a:off x="8091445" y="6150795"/>
            <a:ext cx="128699" cy="187198"/>
          </a:xfrm>
          <a:prstGeom prst="rect">
            <a:avLst/>
          </a:prstGeom>
        </p:spPr>
      </p:pic>
      <p:sp>
        <p:nvSpPr>
          <p:cNvPr id="54" name="TextBox 53"/>
          <p:cNvSpPr txBox="1"/>
          <p:nvPr/>
        </p:nvSpPr>
        <p:spPr>
          <a:xfrm>
            <a:off x="8258941"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8996972" y="6150795"/>
            <a:ext cx="128699" cy="187198"/>
          </a:xfrm>
          <a:prstGeom prst="rect">
            <a:avLst/>
          </a:prstGeom>
        </p:spPr>
      </p:pic>
      <p:sp>
        <p:nvSpPr>
          <p:cNvPr id="56" name="TextBox 55"/>
          <p:cNvSpPr txBox="1"/>
          <p:nvPr/>
        </p:nvSpPr>
        <p:spPr>
          <a:xfrm>
            <a:off x="9164468"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7" name="TextBox 56"/>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8" name="Picture 57" descr="lock.png"/>
          <p:cNvPicPr>
            <a:picLocks noChangeAspect="1"/>
          </p:cNvPicPr>
          <p:nvPr/>
        </p:nvPicPr>
        <p:blipFill>
          <a:blip r:embed="rId6"/>
          <a:stretch>
            <a:fillRect/>
          </a:stretch>
        </p:blipFill>
        <p:spPr>
          <a:xfrm>
            <a:off x="3785386" y="6318435"/>
            <a:ext cx="128699" cy="187198"/>
          </a:xfrm>
          <a:prstGeom prst="rect">
            <a:avLst/>
          </a:prstGeom>
        </p:spPr>
      </p:pic>
      <p:sp>
        <p:nvSpPr>
          <p:cNvPr id="59" name="TextBox 58"/>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7212880" y="6318435"/>
            <a:ext cx="128699" cy="187198"/>
          </a:xfrm>
          <a:prstGeom prst="rect">
            <a:avLst/>
          </a:prstGeom>
        </p:spPr>
      </p:pic>
      <p:sp>
        <p:nvSpPr>
          <p:cNvPr id="61" name="TextBox 60"/>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gridCol w="3297581"/>
                <a:gridCol w="3297581"/>
                <a:gridCol w="32975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Malaysia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200" cy="1485896"/>
        </p:xfrm>
        <a:graphic>
          <a:graphicData uri="http://schemas.openxmlformats.org/drawingml/2006/table">
            <a:tbl>
              <a:tblPr>
                <a:tableStyleId>{5C22544A-7EE6-4342-B048-85BDC9FD1C3A}</a:tableStyleId>
              </a:tblPr>
              <a:tblGrid>
                <a:gridCol w="1846407"/>
                <a:gridCol w="3346931"/>
                <a:gridCol w="3346931"/>
                <a:gridCol w="33469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UAE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906537"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6832513" y="3580638"/>
            <a:ext cx="366712" cy="5334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003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242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05325"/>
            <a:ext cx="3943350"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291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'Chemical Ceramide Sunscreen'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3 product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488407" cy="194310"/>
          </a:xfrm>
          <a:prstGeom prst="rect">
            <a:avLst/>
          </a:prstGeom>
          <a:noFill/>
        </p:spPr>
        <p:txBody>
          <a:bodyPr wrap="none" lIns="0" rIns="0" tIns="0" bIns="0">
            <a:spAutoFit/>
          </a:bodyPr>
          <a:lstStyle/>
          <a:p>
            <a:r>
              <a:rPr sz="1150" b="0">
                <a:solidFill>
                  <a:srgbClr val="2E2E2E"/>
                </a:solidFill>
                <a:latin typeface="Calibri"/>
              </a:rPr>
              <a:t>Global ceramide sunscreen market is expected to witness</a:t>
            </a:r>
          </a:p>
        </p:txBody>
      </p:sp>
      <p:pic>
        <p:nvPicPr>
          <p:cNvPr id="32" name="Picture 31" descr="lock.png"/>
          <p:cNvPicPr>
            <a:picLocks noChangeAspect="1"/>
          </p:cNvPicPr>
          <p:nvPr/>
        </p:nvPicPr>
        <p:blipFill>
          <a:blip r:embed="rId4"/>
          <a:stretch>
            <a:fillRect/>
          </a:stretch>
        </p:blipFill>
        <p:spPr>
          <a:xfrm>
            <a:off x="3713786" y="1389951"/>
            <a:ext cx="134549" cy="195707"/>
          </a:xfrm>
          <a:prstGeom prst="rect">
            <a:avLst/>
          </a:prstGeom>
        </p:spPr>
      </p:pic>
      <p:sp>
        <p:nvSpPr>
          <p:cNvPr id="33" name="TextBox 32"/>
          <p:cNvSpPr txBox="1"/>
          <p:nvPr/>
        </p:nvSpPr>
        <p:spPr>
          <a:xfrm>
            <a:off x="3888895" y="1400175"/>
            <a:ext cx="5377073" cy="194310"/>
          </a:xfrm>
          <a:prstGeom prst="rect">
            <a:avLst/>
          </a:prstGeom>
          <a:noFill/>
        </p:spPr>
        <p:txBody>
          <a:bodyPr wrap="none" lIns="0" rIns="0" tIns="0" bIns="0">
            <a:spAutoFit/>
          </a:bodyPr>
          <a:lstStyle/>
          <a:p>
            <a:r>
              <a:rPr sz="1150" b="0">
                <a:solidFill>
                  <a:srgbClr val="2E2E2E"/>
                </a:solidFill>
                <a:latin typeface="Calibri"/>
              </a:rPr>
              <a:t>X increase in revenue by 2036 end. Global ceramide sunscreen market accounted for US$</a:t>
            </a:r>
          </a:p>
        </p:txBody>
      </p:sp>
      <p:pic>
        <p:nvPicPr>
          <p:cNvPr id="34" name="Picture 33" descr="lock.png"/>
          <p:cNvPicPr>
            <a:picLocks noChangeAspect="1"/>
          </p:cNvPicPr>
          <p:nvPr/>
        </p:nvPicPr>
        <p:blipFill>
          <a:blip r:embed="rId4"/>
          <a:stretch>
            <a:fillRect/>
          </a:stretch>
        </p:blipFill>
        <p:spPr>
          <a:xfrm>
            <a:off x="9215122" y="1389951"/>
            <a:ext cx="134549" cy="195707"/>
          </a:xfrm>
          <a:prstGeom prst="rect">
            <a:avLst/>
          </a:prstGeom>
        </p:spPr>
      </p:pic>
      <p:sp>
        <p:nvSpPr>
          <p:cNvPr id="35" name="TextBox 34"/>
          <p:cNvSpPr txBox="1"/>
          <p:nvPr/>
        </p:nvSpPr>
        <p:spPr>
          <a:xfrm>
            <a:off x="9390231"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6" name="TextBox 35"/>
          <p:cNvSpPr txBox="1"/>
          <p:nvPr/>
        </p:nvSpPr>
        <p:spPr>
          <a:xfrm>
            <a:off x="276225" y="1575435"/>
            <a:ext cx="3209411" cy="194310"/>
          </a:xfrm>
          <a:prstGeom prst="rect">
            <a:avLst/>
          </a:prstGeom>
          <a:noFill/>
        </p:spPr>
        <p:txBody>
          <a:bodyPr wrap="none" lIns="0" rIns="0" tIns="0" bIns="0">
            <a:spAutoFit/>
          </a:bodyPr>
          <a:lstStyle/>
          <a:p>
            <a:r>
              <a:rPr sz="1150" b="0">
                <a:solidFill>
                  <a:srgbClr val="2E2E2E"/>
                </a:solidFill>
                <a:latin typeface="Calibri"/>
              </a:rPr>
              <a:t>increase to US$ 3,780 Mn in 2036 at a CAGR of 8.0%.</a:t>
            </a:r>
          </a:p>
        </p:txBody>
      </p:sp>
      <p:sp>
        <p:nvSpPr>
          <p:cNvPr id="37" name="TextBox 36"/>
          <p:cNvSpPr txBox="1"/>
          <p:nvPr/>
        </p:nvSpPr>
        <p:spPr>
          <a:xfrm>
            <a:off x="276225" y="1803273"/>
            <a:ext cx="11620500" cy="194310"/>
          </a:xfrm>
          <a:prstGeom prst="rect">
            <a:avLst/>
          </a:prstGeom>
          <a:noFill/>
        </p:spPr>
        <p:txBody>
          <a:bodyPr wrap="none" lIns="0" rIns="0" tIns="0" bIns="0">
            <a:spAutoFit/>
          </a:bodyPr>
          <a:lstStyle/>
          <a:p>
            <a:r>
              <a:rPr sz="1150" b="0">
                <a:solidFill>
                  <a:srgbClr val="2E2E2E"/>
                </a:solidFill>
                <a:latin typeface="Calibri"/>
              </a:rPr>
              <a:t>The global ceramide sunscreen market has been analysed on the basis of product type, form type, SPF rating and ingredient type across the globe. North America is expected to remain the largest</a:t>
            </a:r>
          </a:p>
        </p:txBody>
      </p:sp>
      <p:sp>
        <p:nvSpPr>
          <p:cNvPr id="38" name="TextBox 37"/>
          <p:cNvSpPr txBox="1"/>
          <p:nvPr/>
        </p:nvSpPr>
        <p:spPr>
          <a:xfrm>
            <a:off x="276225" y="1978533"/>
            <a:ext cx="6984461" cy="194310"/>
          </a:xfrm>
          <a:prstGeom prst="rect">
            <a:avLst/>
          </a:prstGeom>
          <a:noFill/>
        </p:spPr>
        <p:txBody>
          <a:bodyPr wrap="none" lIns="0" rIns="0" tIns="0" bIns="0">
            <a:spAutoFit/>
          </a:bodyPr>
          <a:lstStyle/>
          <a:p>
            <a:r>
              <a:rPr sz="1150" b="0">
                <a:solidFill>
                  <a:srgbClr val="2E2E2E"/>
                </a:solidFill>
                <a:latin typeface="Calibri"/>
              </a:rPr>
              <a:t>market for ceramide sunscreen, while demand in South Asia &amp; Pacific is projected to increase at the highest CAGR of</a:t>
            </a:r>
          </a:p>
        </p:txBody>
      </p:sp>
      <p:pic>
        <p:nvPicPr>
          <p:cNvPr id="39" name="Picture 38" descr="lock.png"/>
          <p:cNvPicPr>
            <a:picLocks noChangeAspect="1"/>
          </p:cNvPicPr>
          <p:nvPr/>
        </p:nvPicPr>
        <p:blipFill>
          <a:blip r:embed="rId4"/>
          <a:stretch>
            <a:fillRect/>
          </a:stretch>
        </p:blipFill>
        <p:spPr>
          <a:xfrm>
            <a:off x="7209840" y="1968309"/>
            <a:ext cx="134549" cy="195707"/>
          </a:xfrm>
          <a:prstGeom prst="rect">
            <a:avLst/>
          </a:prstGeom>
        </p:spPr>
      </p:pic>
      <p:sp>
        <p:nvSpPr>
          <p:cNvPr id="40" name="TextBox 39"/>
          <p:cNvSpPr txBox="1"/>
          <p:nvPr/>
        </p:nvSpPr>
        <p:spPr>
          <a:xfrm>
            <a:off x="7384949"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1" name="TextBox 40"/>
          <p:cNvSpPr txBox="1"/>
          <p:nvPr/>
        </p:nvSpPr>
        <p:spPr>
          <a:xfrm>
            <a:off x="276225" y="3219450"/>
            <a:ext cx="6010337" cy="194310"/>
          </a:xfrm>
          <a:prstGeom prst="rect">
            <a:avLst/>
          </a:prstGeom>
          <a:noFill/>
        </p:spPr>
        <p:txBody>
          <a:bodyPr wrap="none" lIns="0" rIns="0" tIns="0" bIns="0">
            <a:spAutoFit/>
          </a:bodyPr>
          <a:lstStyle/>
          <a:p>
            <a:r>
              <a:rPr sz="1150" b="0">
                <a:solidFill>
                  <a:srgbClr val="2E2E2E"/>
                </a:solidFill>
                <a:latin typeface="Calibri"/>
              </a:rPr>
              <a:t>▪ The market is consolidated: the leading product type category 'Mineral Ceramide Sunscreen' holds</a:t>
            </a:r>
          </a:p>
        </p:txBody>
      </p:sp>
      <p:pic>
        <p:nvPicPr>
          <p:cNvPr id="42" name="Picture 41" descr="lock.png"/>
          <p:cNvPicPr>
            <a:picLocks noChangeAspect="1"/>
          </p:cNvPicPr>
          <p:nvPr/>
        </p:nvPicPr>
        <p:blipFill>
          <a:blip r:embed="rId4"/>
          <a:stretch>
            <a:fillRect/>
          </a:stretch>
        </p:blipFill>
        <p:spPr>
          <a:xfrm>
            <a:off x="6235715" y="3209226"/>
            <a:ext cx="134549" cy="195707"/>
          </a:xfrm>
          <a:prstGeom prst="rect">
            <a:avLst/>
          </a:prstGeom>
        </p:spPr>
      </p:pic>
      <p:sp>
        <p:nvSpPr>
          <p:cNvPr id="43" name="TextBox 42"/>
          <p:cNvSpPr txBox="1"/>
          <p:nvPr/>
        </p:nvSpPr>
        <p:spPr>
          <a:xfrm>
            <a:off x="6410825"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4" name="TextBox 43"/>
          <p:cNvSpPr txBox="1"/>
          <p:nvPr/>
        </p:nvSpPr>
        <p:spPr>
          <a:xfrm>
            <a:off x="276225" y="3447287"/>
            <a:ext cx="4985134" cy="194310"/>
          </a:xfrm>
          <a:prstGeom prst="rect">
            <a:avLst/>
          </a:prstGeom>
          <a:noFill/>
        </p:spPr>
        <p:txBody>
          <a:bodyPr wrap="none" lIns="0" rIns="0" tIns="0" bIns="0">
            <a:spAutoFit/>
          </a:bodyPr>
          <a:lstStyle/>
          <a:p>
            <a:r>
              <a:rPr sz="1150" b="0">
                <a:solidFill>
                  <a:srgbClr val="2E2E2E"/>
                </a:solidFill>
                <a:latin typeface="Calibri"/>
              </a:rPr>
              <a:t>▪ Demand spans 6 regions and 12 segmentation lenses (3 product type categories).</a:t>
            </a:r>
          </a:p>
        </p:txBody>
      </p:sp>
      <p:sp>
        <p:nvSpPr>
          <p:cNvPr id="45" name="TextBox 44"/>
          <p:cNvSpPr txBox="1"/>
          <p:nvPr/>
        </p:nvSpPr>
        <p:spPr>
          <a:xfrm>
            <a:off x="276225" y="367512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46" name="Picture 45" descr="lock.png"/>
          <p:cNvPicPr>
            <a:picLocks noChangeAspect="1"/>
          </p:cNvPicPr>
          <p:nvPr/>
        </p:nvPicPr>
        <p:blipFill>
          <a:blip r:embed="rId4"/>
          <a:stretch>
            <a:fillRect/>
          </a:stretch>
        </p:blipFill>
        <p:spPr>
          <a:xfrm>
            <a:off x="3176367" y="3664902"/>
            <a:ext cx="134549" cy="195707"/>
          </a:xfrm>
          <a:prstGeom prst="rect">
            <a:avLst/>
          </a:prstGeom>
        </p:spPr>
      </p:pic>
      <p:sp>
        <p:nvSpPr>
          <p:cNvPr id="47" name="TextBox 46"/>
          <p:cNvSpPr txBox="1"/>
          <p:nvPr/>
        </p:nvSpPr>
        <p:spPr>
          <a:xfrm>
            <a:off x="3351477"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4924425"/>
            <a:ext cx="3465016" cy="194310"/>
          </a:xfrm>
          <a:prstGeom prst="rect">
            <a:avLst/>
          </a:prstGeom>
          <a:noFill/>
        </p:spPr>
        <p:txBody>
          <a:bodyPr wrap="none" lIns="0" rIns="0" tIns="0" bIns="0">
            <a:spAutoFit/>
          </a:bodyPr>
          <a:lstStyle/>
          <a:p>
            <a:r>
              <a:rPr sz="1150" b="0">
                <a:solidFill>
                  <a:srgbClr val="2E2E2E"/>
                </a:solidFill>
                <a:latin typeface="Calibri"/>
              </a:rPr>
              <a:t>▪ Accelerating uptake of 'Chemical Ceramide Sunscreen' (</a:t>
            </a:r>
          </a:p>
        </p:txBody>
      </p:sp>
      <p:pic>
        <p:nvPicPr>
          <p:cNvPr id="49" name="Picture 48" descr="lock.png"/>
          <p:cNvPicPr>
            <a:picLocks noChangeAspect="1"/>
          </p:cNvPicPr>
          <p:nvPr/>
        </p:nvPicPr>
        <p:blipFill>
          <a:blip r:embed="rId4"/>
          <a:stretch>
            <a:fillRect/>
          </a:stretch>
        </p:blipFill>
        <p:spPr>
          <a:xfrm>
            <a:off x="3690395" y="4914201"/>
            <a:ext cx="134549" cy="195707"/>
          </a:xfrm>
          <a:prstGeom prst="rect">
            <a:avLst/>
          </a:prstGeom>
        </p:spPr>
      </p:pic>
      <p:sp>
        <p:nvSpPr>
          <p:cNvPr id="50" name="TextBox 49"/>
          <p:cNvSpPr txBox="1"/>
          <p:nvPr/>
        </p:nvSpPr>
        <p:spPr>
          <a:xfrm>
            <a:off x="276225"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276225" y="5327522"/>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2" name="Picture 51" descr="lock.png"/>
          <p:cNvPicPr>
            <a:picLocks noChangeAspect="1"/>
          </p:cNvPicPr>
          <p:nvPr/>
        </p:nvPicPr>
        <p:blipFill>
          <a:blip r:embed="rId4"/>
          <a:stretch>
            <a:fillRect/>
          </a:stretch>
        </p:blipFill>
        <p:spPr>
          <a:xfrm>
            <a:off x="3102424" y="5317299"/>
            <a:ext cx="134549" cy="195707"/>
          </a:xfrm>
          <a:prstGeom prst="rect">
            <a:avLst/>
          </a:prstGeom>
        </p:spPr>
      </p:pic>
      <p:sp>
        <p:nvSpPr>
          <p:cNvPr id="53" name="TextBox 52"/>
          <p:cNvSpPr txBox="1"/>
          <p:nvPr/>
        </p:nvSpPr>
        <p:spPr>
          <a:xfrm>
            <a:off x="3277533"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4" name="TextBox 53"/>
          <p:cNvSpPr txBox="1"/>
          <p:nvPr/>
        </p:nvSpPr>
        <p:spPr>
          <a:xfrm>
            <a:off x="276225" y="5555360"/>
            <a:ext cx="3639814" cy="194310"/>
          </a:xfrm>
          <a:prstGeom prst="rect">
            <a:avLst/>
          </a:prstGeom>
          <a:noFill/>
        </p:spPr>
        <p:txBody>
          <a:bodyPr wrap="none" lIns="0" rIns="0" tIns="0" bIns="0">
            <a:spAutoFit/>
          </a:bodyPr>
          <a:lstStyle/>
          <a:p>
            <a:r>
              <a:rPr sz="1150" b="0">
                <a:solidFill>
                  <a:srgbClr val="2E2E2E"/>
                </a:solidFill>
                <a:latin typeface="Calibri"/>
              </a:rPr>
              <a:t>▪ Momentum in Facial Sunscreen within end-use application</a:t>
            </a:r>
          </a:p>
        </p:txBody>
      </p:sp>
      <p:sp>
        <p:nvSpPr>
          <p:cNvPr id="55" name="TextBox 54"/>
          <p:cNvSpPr txBox="1"/>
          <p:nvPr/>
        </p:nvSpPr>
        <p:spPr>
          <a:xfrm>
            <a:off x="276225" y="5730620"/>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6" name="Picture 55" descr="lock.png"/>
          <p:cNvPicPr>
            <a:picLocks noChangeAspect="1"/>
          </p:cNvPicPr>
          <p:nvPr/>
        </p:nvPicPr>
        <p:blipFill>
          <a:blip r:embed="rId4"/>
          <a:stretch>
            <a:fillRect/>
          </a:stretch>
        </p:blipFill>
        <p:spPr>
          <a:xfrm>
            <a:off x="345793" y="5720397"/>
            <a:ext cx="134549" cy="195707"/>
          </a:xfrm>
          <a:prstGeom prst="rect">
            <a:avLst/>
          </a:prstGeom>
        </p:spPr>
      </p:pic>
      <p:sp>
        <p:nvSpPr>
          <p:cNvPr id="57" name="TextBox 56"/>
          <p:cNvSpPr txBox="1"/>
          <p:nvPr/>
        </p:nvSpPr>
        <p:spPr>
          <a:xfrm>
            <a:off x="520902"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4371975" y="4924425"/>
            <a:ext cx="3266194" cy="194310"/>
          </a:xfrm>
          <a:prstGeom prst="rect">
            <a:avLst/>
          </a:prstGeom>
          <a:noFill/>
        </p:spPr>
        <p:txBody>
          <a:bodyPr wrap="none" lIns="0" rIns="0" tIns="0" bIns="0">
            <a:spAutoFit/>
          </a:bodyPr>
          <a:lstStyle/>
          <a:p>
            <a:r>
              <a:rPr sz="1150" b="0">
                <a:solidFill>
                  <a:srgbClr val="2E2E2E"/>
                </a:solidFill>
                <a:latin typeface="Calibri"/>
              </a:rPr>
              <a:t>▪ Slower momentum in 'Hybrid Ceramide Sunscreen' (</a:t>
            </a:r>
          </a:p>
        </p:txBody>
      </p:sp>
      <p:pic>
        <p:nvPicPr>
          <p:cNvPr id="59" name="Picture 58" descr="lock.png"/>
          <p:cNvPicPr>
            <a:picLocks noChangeAspect="1"/>
          </p:cNvPicPr>
          <p:nvPr/>
        </p:nvPicPr>
        <p:blipFill>
          <a:blip r:embed="rId4"/>
          <a:stretch>
            <a:fillRect/>
          </a:stretch>
        </p:blipFill>
        <p:spPr>
          <a:xfrm>
            <a:off x="7587323" y="4914201"/>
            <a:ext cx="134549" cy="195707"/>
          </a:xfrm>
          <a:prstGeom prst="rect">
            <a:avLst/>
          </a:prstGeom>
        </p:spPr>
      </p:pic>
      <p:sp>
        <p:nvSpPr>
          <p:cNvPr id="60" name="TextBox 59"/>
          <p:cNvSpPr txBox="1"/>
          <p:nvPr/>
        </p:nvSpPr>
        <p:spPr>
          <a:xfrm>
            <a:off x="7762432" y="4924425"/>
            <a:ext cx="143317"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51522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2" name="TextBox 61"/>
          <p:cNvSpPr txBox="1"/>
          <p:nvPr/>
        </p:nvSpPr>
        <p:spPr>
          <a:xfrm>
            <a:off x="4371975" y="53275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3" name="Picture 62" descr="lock.png"/>
          <p:cNvPicPr>
            <a:picLocks noChangeAspect="1"/>
          </p:cNvPicPr>
          <p:nvPr/>
        </p:nvPicPr>
        <p:blipFill>
          <a:blip r:embed="rId4"/>
          <a:stretch>
            <a:fillRect/>
          </a:stretch>
        </p:blipFill>
        <p:spPr>
          <a:xfrm>
            <a:off x="4883401" y="5317299"/>
            <a:ext cx="134549" cy="195707"/>
          </a:xfrm>
          <a:prstGeom prst="rect">
            <a:avLst/>
          </a:prstGeom>
        </p:spPr>
      </p:pic>
      <p:sp>
        <p:nvSpPr>
          <p:cNvPr id="64" name="TextBox 63"/>
          <p:cNvSpPr txBox="1"/>
          <p:nvPr/>
        </p:nvSpPr>
        <p:spPr>
          <a:xfrm>
            <a:off x="5058510" y="53275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4371975" y="5555360"/>
            <a:ext cx="3317540" cy="194310"/>
          </a:xfrm>
          <a:prstGeom prst="rect">
            <a:avLst/>
          </a:prstGeom>
          <a:noFill/>
        </p:spPr>
        <p:txBody>
          <a:bodyPr wrap="none" lIns="0" rIns="0" tIns="0" bIns="0">
            <a:spAutoFit/>
          </a:bodyPr>
          <a:lstStyle/>
          <a:p>
            <a:r>
              <a:rPr sz="1150" b="0">
                <a:solidFill>
                  <a:srgbClr val="2E2E2E"/>
                </a:solidFill>
                <a:latin typeface="Calibri"/>
              </a:rPr>
              <a:t>▪ Value concentration in 'Mineral Ceramide Sunscreen'</a:t>
            </a:r>
          </a:p>
        </p:txBody>
      </p:sp>
      <p:sp>
        <p:nvSpPr>
          <p:cNvPr id="66" name="TextBox 65"/>
          <p:cNvSpPr txBox="1"/>
          <p:nvPr/>
        </p:nvSpPr>
        <p:spPr>
          <a:xfrm>
            <a:off x="4371975" y="5730620"/>
            <a:ext cx="1978843" cy="194310"/>
          </a:xfrm>
          <a:prstGeom prst="rect">
            <a:avLst/>
          </a:prstGeom>
          <a:noFill/>
        </p:spPr>
        <p:txBody>
          <a:bodyPr wrap="none" lIns="0" rIns="0" tIns="0" bIns="0">
            <a:spAutoFit/>
          </a:bodyPr>
          <a:lstStyle/>
          <a:p>
            <a:r>
              <a:rPr sz="1150" b="0">
                <a:solidFill>
                  <a:srgbClr val="2E2E2E"/>
                </a:solidFill>
                <a:latin typeface="Calibri"/>
              </a:rPr>
              <a:t>raises barriers for new entrants.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47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'Chemical Ceramide Sunscreen' and South Asia &amp; Pacific.</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North America and South Asia &amp; Pacific.</a:t>
            </a:r>
          </a:p>
        </p:txBody>
      </p:sp>
      <p:sp>
        <p:nvSpPr>
          <p:cNvPr id="14" name="Rounded Rectangle 13"/>
          <p:cNvSpPr/>
          <p:nvPr/>
        </p:nvSpPr>
        <p:spPr>
          <a:xfrm>
            <a:off x="6172200" y="981075"/>
            <a:ext cx="5876925"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47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47975"/>
            <a:ext cx="5876925" cy="1428750"/>
          </a:xfrm>
          <a:prstGeom prst="roundRect">
            <a:avLst>
              <a:gd name="adj" fmla="val 53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33700"/>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1718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847975"/>
            <a:ext cx="5876925" cy="1428750"/>
          </a:xfrm>
          <a:prstGeom prst="roundRect">
            <a:avLst>
              <a:gd name="adj" fmla="val 53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33700"/>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1718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R&amp;D aligns with the migration to 'Chemical Ceramide Sunscreen' and adjacent premium tiers.</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Development spend targets product type categories gaining share to 2036.</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Innovation underpins the 8.0% forecast CAGR.</a:t>
            </a:r>
          </a:p>
        </p:txBody>
      </p:sp>
      <p:sp>
        <p:nvSpPr>
          <p:cNvPr id="26" name="Rounded Rectangle 25"/>
          <p:cNvSpPr/>
          <p:nvPr/>
        </p:nvSpPr>
        <p:spPr>
          <a:xfrm>
            <a:off x="142875" y="4410075"/>
            <a:ext cx="11906250" cy="2209800"/>
          </a:xfrm>
          <a:prstGeom prst="roundRect">
            <a:avLst>
              <a:gd name="adj" fmla="val 34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467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8" name="Chart 27"/>
          <p:cNvGraphicFramePr>
            <a:graphicFrameLocks noGrp="1"/>
          </p:cNvGraphicFramePr>
          <p:nvPr/>
        </p:nvGraphicFramePr>
        <p:xfrm>
          <a:off x="238125" y="4695825"/>
          <a:ext cx="11715750" cy="1866900"/>
        </p:xfrm>
        <a:graphic>
          <a:graphicData uri="http://schemas.openxmlformats.org/drawingml/2006/chart">
            <c:chart xmlns:c="http://schemas.openxmlformats.org/drawingml/2006/chart" r:id="rId3"/>
          </a:graphicData>
        </a:graphic>
      </p:graphicFrame>
      <p:sp>
        <p:nvSpPr>
          <p:cNvPr id="29" name="TextBox 28"/>
          <p:cNvSpPr txBox="1"/>
          <p:nvPr/>
        </p:nvSpPr>
        <p:spPr>
          <a:xfrm>
            <a:off x="3892075" y="5514975"/>
            <a:ext cx="893125"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43964" y="5349744"/>
            <a:ext cx="366052" cy="532439"/>
          </a:xfrm>
          <a:prstGeom prst="rect">
            <a:avLst/>
          </a:prstGeom>
        </p:spPr>
      </p:pic>
      <p:sp>
        <p:nvSpPr>
          <p:cNvPr id="32" name="TextBox 31"/>
          <p:cNvSpPr txBox="1"/>
          <p:nvPr/>
        </p:nvSpPr>
        <p:spPr>
          <a:xfrm>
            <a:off x="6305550" y="1400175"/>
            <a:ext cx="2734865" cy="186689"/>
          </a:xfrm>
          <a:prstGeom prst="rect">
            <a:avLst/>
          </a:prstGeom>
          <a:noFill/>
        </p:spPr>
        <p:txBody>
          <a:bodyPr wrap="none" lIns="0" rIns="0" tIns="0" bIns="0">
            <a:spAutoFit/>
          </a:bodyPr>
          <a:lstStyle/>
          <a:p>
            <a:r>
              <a:rPr sz="1100" b="0">
                <a:solidFill>
                  <a:srgbClr val="2E2E2E"/>
                </a:solidFill>
                <a:latin typeface="Calibri"/>
              </a:rPr>
              <a:t>▪ 2026 size 1,750 US$ Mn; 2036 3,780 US$ Mn.</a:t>
            </a:r>
          </a:p>
        </p:txBody>
      </p:sp>
      <p:sp>
        <p:nvSpPr>
          <p:cNvPr id="33" name="TextBox 32"/>
          <p:cNvSpPr txBox="1"/>
          <p:nvPr/>
        </p:nvSpPr>
        <p:spPr>
          <a:xfrm>
            <a:off x="6305550" y="1618107"/>
            <a:ext cx="2088979" cy="186689"/>
          </a:xfrm>
          <a:prstGeom prst="rect">
            <a:avLst/>
          </a:prstGeom>
          <a:noFill/>
        </p:spPr>
        <p:txBody>
          <a:bodyPr wrap="none" lIns="0" rIns="0" tIns="0" bIns="0">
            <a:spAutoFit/>
          </a:bodyPr>
          <a:lstStyle/>
          <a:p>
            <a:r>
              <a:rPr sz="1100" b="0">
                <a:solidFill>
                  <a:srgbClr val="2E2E2E"/>
                </a:solidFill>
                <a:latin typeface="Calibri"/>
              </a:rPr>
              <a:t>▪ Forecast CAGR 8.0% (2026–2036).</a:t>
            </a:r>
          </a:p>
        </p:txBody>
      </p:sp>
      <p:sp>
        <p:nvSpPr>
          <p:cNvPr id="34" name="TextBox 33"/>
          <p:cNvSpPr txBox="1"/>
          <p:nvPr/>
        </p:nvSpPr>
        <p:spPr>
          <a:xfrm>
            <a:off x="6305550" y="1836039"/>
            <a:ext cx="2683296" cy="186689"/>
          </a:xfrm>
          <a:prstGeom prst="rect">
            <a:avLst/>
          </a:prstGeom>
          <a:noFill/>
        </p:spPr>
        <p:txBody>
          <a:bodyPr wrap="none" lIns="0" rIns="0" tIns="0" bIns="0">
            <a:spAutoFit/>
          </a:bodyPr>
          <a:lstStyle/>
          <a:p>
            <a:r>
              <a:rPr sz="1100" b="0">
                <a:solidFill>
                  <a:srgbClr val="2E2E2E"/>
                </a:solidFill>
                <a:latin typeface="Calibri"/>
              </a:rPr>
              <a:t>▪ Lead category 'Mineral Ceramide Sunscreen'</a:t>
            </a:r>
          </a:p>
        </p:txBody>
      </p:sp>
      <p:pic>
        <p:nvPicPr>
          <p:cNvPr id="35" name="Picture 34" descr="lock.png"/>
          <p:cNvPicPr>
            <a:picLocks noChangeAspect="1"/>
          </p:cNvPicPr>
          <p:nvPr/>
        </p:nvPicPr>
        <p:blipFill>
          <a:blip r:embed="rId5"/>
          <a:stretch>
            <a:fillRect/>
          </a:stretch>
        </p:blipFill>
        <p:spPr>
          <a:xfrm>
            <a:off x="8936898" y="1826260"/>
            <a:ext cx="128699" cy="187198"/>
          </a:xfrm>
          <a:prstGeom prst="rect">
            <a:avLst/>
          </a:prstGeom>
        </p:spPr>
      </p:pic>
      <p:sp>
        <p:nvSpPr>
          <p:cNvPr id="36" name="TextBox 35"/>
          <p:cNvSpPr txBox="1"/>
          <p:nvPr/>
        </p:nvSpPr>
        <p:spPr>
          <a:xfrm>
            <a:off x="9104394"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37" name="TextBox 36"/>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38" name="Picture 37" descr="lock.png"/>
          <p:cNvPicPr>
            <a:picLocks noChangeAspect="1"/>
          </p:cNvPicPr>
          <p:nvPr/>
        </p:nvPicPr>
        <p:blipFill>
          <a:blip r:embed="rId5"/>
          <a:stretch>
            <a:fillRect/>
          </a:stretch>
        </p:blipFill>
        <p:spPr>
          <a:xfrm>
            <a:off x="7939898" y="2044192"/>
            <a:ext cx="128699" cy="187198"/>
          </a:xfrm>
          <a:prstGeom prst="rect">
            <a:avLst/>
          </a:prstGeom>
        </p:spPr>
      </p:pic>
      <p:sp>
        <p:nvSpPr>
          <p:cNvPr id="39" name="TextBox 38"/>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0" name="TextBox 39"/>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1" name="Picture 40" descr="lock.png"/>
          <p:cNvPicPr>
            <a:picLocks noChangeAspect="1"/>
          </p:cNvPicPr>
          <p:nvPr/>
        </p:nvPicPr>
        <p:blipFill>
          <a:blip r:embed="rId5"/>
          <a:stretch>
            <a:fillRect/>
          </a:stretch>
        </p:blipFill>
        <p:spPr>
          <a:xfrm>
            <a:off x="7808384" y="2262124"/>
            <a:ext cx="128699" cy="187198"/>
          </a:xfrm>
          <a:prstGeom prst="rect">
            <a:avLst/>
          </a:prstGeom>
        </p:spPr>
      </p:pic>
      <p:sp>
        <p:nvSpPr>
          <p:cNvPr id="42" name="TextBox 41"/>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3" name="TextBox 42"/>
          <p:cNvSpPr txBox="1"/>
          <p:nvPr/>
        </p:nvSpPr>
        <p:spPr>
          <a:xfrm>
            <a:off x="276225" y="3267075"/>
            <a:ext cx="5061743"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'Chemical Ceramide Sunscreen' (</a:t>
            </a:r>
          </a:p>
        </p:txBody>
      </p:sp>
      <p:pic>
        <p:nvPicPr>
          <p:cNvPr id="44" name="Picture 43" descr="lock.png"/>
          <p:cNvPicPr>
            <a:picLocks noChangeAspect="1"/>
          </p:cNvPicPr>
          <p:nvPr/>
        </p:nvPicPr>
        <p:blipFill>
          <a:blip r:embed="rId5"/>
          <a:stretch>
            <a:fillRect/>
          </a:stretch>
        </p:blipFill>
        <p:spPr>
          <a:xfrm>
            <a:off x="5286020" y="3257296"/>
            <a:ext cx="128699" cy="187198"/>
          </a:xfrm>
          <a:prstGeom prst="rect">
            <a:avLst/>
          </a:prstGeom>
        </p:spPr>
      </p:pic>
      <p:sp>
        <p:nvSpPr>
          <p:cNvPr id="45" name="TextBox 44"/>
          <p:cNvSpPr txBox="1"/>
          <p:nvPr/>
        </p:nvSpPr>
        <p:spPr>
          <a:xfrm>
            <a:off x="5453516" y="326707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276225" y="3485007"/>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47" name="Picture 46" descr="lock.png"/>
          <p:cNvPicPr>
            <a:picLocks noChangeAspect="1"/>
          </p:cNvPicPr>
          <p:nvPr/>
        </p:nvPicPr>
        <p:blipFill>
          <a:blip r:embed="rId5"/>
          <a:stretch>
            <a:fillRect/>
          </a:stretch>
        </p:blipFill>
        <p:spPr>
          <a:xfrm>
            <a:off x="1576057" y="3475228"/>
            <a:ext cx="128699" cy="187198"/>
          </a:xfrm>
          <a:prstGeom prst="rect">
            <a:avLst/>
          </a:prstGeom>
        </p:spPr>
      </p:pic>
      <p:sp>
        <p:nvSpPr>
          <p:cNvPr id="48" name="TextBox 47"/>
          <p:cNvSpPr txBox="1"/>
          <p:nvPr/>
        </p:nvSpPr>
        <p:spPr>
          <a:xfrm>
            <a:off x="1743553" y="3485007"/>
            <a:ext cx="2187525" cy="186689"/>
          </a:xfrm>
          <a:prstGeom prst="rect">
            <a:avLst/>
          </a:prstGeom>
          <a:noFill/>
        </p:spPr>
        <p:txBody>
          <a:bodyPr wrap="none" lIns="0" rIns="0" tIns="0" bIns="0">
            <a:spAutoFit/>
          </a:bodyPr>
          <a:lstStyle/>
          <a:p>
            <a:r>
              <a:rPr sz="1100" b="0">
                <a:solidFill>
                  <a:srgbClr val="2E2E2E"/>
                </a:solidFill>
                <a:latin typeface="Calibri"/>
              </a:rPr>
              <a:t>) is a priority region for new capacity.</a:t>
            </a:r>
          </a:p>
        </p:txBody>
      </p:sp>
      <p:sp>
        <p:nvSpPr>
          <p:cNvPr id="49" name="TextBox 48"/>
          <p:cNvSpPr txBox="1"/>
          <p:nvPr/>
        </p:nvSpPr>
        <p:spPr>
          <a:xfrm>
            <a:off x="276225" y="3702939"/>
            <a:ext cx="3563515" cy="186689"/>
          </a:xfrm>
          <a:prstGeom prst="rect">
            <a:avLst/>
          </a:prstGeom>
          <a:noFill/>
        </p:spPr>
        <p:txBody>
          <a:bodyPr wrap="none" lIns="0" rIns="0" tIns="0" bIns="0">
            <a:spAutoFit/>
          </a:bodyPr>
          <a:lstStyle/>
          <a:p>
            <a:r>
              <a:rPr sz="1100" b="0">
                <a:solidFill>
                  <a:srgbClr val="2E2E2E"/>
                </a:solidFill>
                <a:latin typeface="Calibri"/>
              </a:rPr>
              <a:t>▪ Scale players anchor around 'Mineral Ceramide Sunscreen' (</a:t>
            </a:r>
          </a:p>
        </p:txBody>
      </p:sp>
      <p:pic>
        <p:nvPicPr>
          <p:cNvPr id="50" name="Picture 49" descr="lock.png"/>
          <p:cNvPicPr>
            <a:picLocks noChangeAspect="1"/>
          </p:cNvPicPr>
          <p:nvPr/>
        </p:nvPicPr>
        <p:blipFill>
          <a:blip r:embed="rId5"/>
          <a:stretch>
            <a:fillRect/>
          </a:stretch>
        </p:blipFill>
        <p:spPr>
          <a:xfrm>
            <a:off x="3787792" y="3693160"/>
            <a:ext cx="128699" cy="187198"/>
          </a:xfrm>
          <a:prstGeom prst="rect">
            <a:avLst/>
          </a:prstGeom>
        </p:spPr>
      </p:pic>
      <p:sp>
        <p:nvSpPr>
          <p:cNvPr id="51" name="TextBox 50"/>
          <p:cNvSpPr txBox="1"/>
          <p:nvPr/>
        </p:nvSpPr>
        <p:spPr>
          <a:xfrm>
            <a:off x="3955288" y="3702939"/>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2" name="lockshield_28"/>
          <p:cNvSpPr/>
          <p:nvPr/>
        </p:nvSpPr>
        <p:spPr>
          <a:xfrm>
            <a:off x="238125" y="4695825"/>
            <a:ext cx="11715750" cy="18669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'Chemical Ceramide Sunscreen' tier and Facial Sunscreen within end-use application.</a:t>
            </a:r>
          </a:p>
        </p:txBody>
      </p:sp>
      <p:sp>
        <p:nvSpPr>
          <p:cNvPr id="18" name="Rounded Rectangle 17"/>
          <p:cNvSpPr/>
          <p:nvPr/>
        </p:nvSpPr>
        <p:spPr>
          <a:xfrm>
            <a:off x="142875"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19625"/>
            <a:ext cx="1190625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943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564199" cy="194310"/>
          </a:xfrm>
          <a:prstGeom prst="rect">
            <a:avLst/>
          </a:prstGeom>
          <a:noFill/>
        </p:spPr>
        <p:txBody>
          <a:bodyPr wrap="none" lIns="0" rIns="0" tIns="0" bIns="0">
            <a:spAutoFit/>
          </a:bodyPr>
          <a:lstStyle/>
          <a:p>
            <a:r>
              <a:rPr sz="1150" b="0">
                <a:solidFill>
                  <a:srgbClr val="2E2E2E"/>
                </a:solidFill>
                <a:latin typeface="Calibri"/>
              </a:rPr>
              <a:t>▪ Balance scale in 'Mineral Ceramide Sunscreen' with targeted growth in 'Chemical Ceramide</a:t>
            </a:r>
          </a:p>
        </p:txBody>
      </p:sp>
      <p:sp>
        <p:nvSpPr>
          <p:cNvPr id="32" name="TextBox 31"/>
          <p:cNvSpPr txBox="1"/>
          <p:nvPr/>
        </p:nvSpPr>
        <p:spPr>
          <a:xfrm>
            <a:off x="276225" y="1575435"/>
            <a:ext cx="1539837" cy="194310"/>
          </a:xfrm>
          <a:prstGeom prst="rect">
            <a:avLst/>
          </a:prstGeom>
          <a:noFill/>
        </p:spPr>
        <p:txBody>
          <a:bodyPr wrap="none" lIns="0" rIns="0" tIns="0" bIns="0">
            <a:spAutoFit/>
          </a:bodyPr>
          <a:lstStyle/>
          <a:p>
            <a:r>
              <a:rPr sz="1150" b="0">
                <a:solidFill>
                  <a:srgbClr val="2E2E2E"/>
                </a:solidFill>
                <a:latin typeface="Calibri"/>
              </a:rPr>
              <a:t>Sunscreen', pursuing the</a:t>
            </a:r>
          </a:p>
        </p:txBody>
      </p:sp>
      <p:pic>
        <p:nvPicPr>
          <p:cNvPr id="33" name="Picture 32" descr="lock.png"/>
          <p:cNvPicPr>
            <a:picLocks noChangeAspect="1"/>
          </p:cNvPicPr>
          <p:nvPr/>
        </p:nvPicPr>
        <p:blipFill>
          <a:blip r:embed="rId4"/>
          <a:stretch>
            <a:fillRect/>
          </a:stretch>
        </p:blipFill>
        <p:spPr>
          <a:xfrm>
            <a:off x="1765216" y="1565211"/>
            <a:ext cx="134549" cy="195707"/>
          </a:xfrm>
          <a:prstGeom prst="rect">
            <a:avLst/>
          </a:prstGeom>
        </p:spPr>
      </p:pic>
      <p:sp>
        <p:nvSpPr>
          <p:cNvPr id="34" name="TextBox 33"/>
          <p:cNvSpPr txBox="1"/>
          <p:nvPr/>
        </p:nvSpPr>
        <p:spPr>
          <a:xfrm>
            <a:off x="1940326"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3219450"/>
            <a:ext cx="2663738" cy="194310"/>
          </a:xfrm>
          <a:prstGeom prst="rect">
            <a:avLst/>
          </a:prstGeom>
          <a:noFill/>
        </p:spPr>
        <p:txBody>
          <a:bodyPr wrap="none" lIns="0" rIns="0" tIns="0" bIns="0">
            <a:spAutoFit/>
          </a:bodyPr>
          <a:lstStyle/>
          <a:p>
            <a:r>
              <a:rPr sz="1150" b="0">
                <a:solidFill>
                  <a:srgbClr val="2E2E2E"/>
                </a:solidFill>
                <a:latin typeface="Calibri"/>
              </a:rPr>
              <a:t>▪ Prioritise 'Chemical Ceramide Sunscreen' (</a:t>
            </a:r>
          </a:p>
        </p:txBody>
      </p:sp>
      <p:pic>
        <p:nvPicPr>
          <p:cNvPr id="36" name="Picture 35" descr="lock.png"/>
          <p:cNvPicPr>
            <a:picLocks noChangeAspect="1"/>
          </p:cNvPicPr>
          <p:nvPr/>
        </p:nvPicPr>
        <p:blipFill>
          <a:blip r:embed="rId4"/>
          <a:stretch>
            <a:fillRect/>
          </a:stretch>
        </p:blipFill>
        <p:spPr>
          <a:xfrm>
            <a:off x="2889117" y="3209226"/>
            <a:ext cx="134549" cy="195707"/>
          </a:xfrm>
          <a:prstGeom prst="rect">
            <a:avLst/>
          </a:prstGeom>
        </p:spPr>
      </p:pic>
      <p:sp>
        <p:nvSpPr>
          <p:cNvPr id="37" name="TextBox 36"/>
          <p:cNvSpPr txBox="1"/>
          <p:nvPr/>
        </p:nvSpPr>
        <p:spPr>
          <a:xfrm>
            <a:off x="3064226" y="3219450"/>
            <a:ext cx="2473473" cy="194310"/>
          </a:xfrm>
          <a:prstGeom prst="rect">
            <a:avLst/>
          </a:prstGeom>
          <a:noFill/>
        </p:spPr>
        <p:txBody>
          <a:bodyPr wrap="none" lIns="0" rIns="0" tIns="0" bIns="0">
            <a:spAutoFit/>
          </a:bodyPr>
          <a:lstStyle/>
          <a:p>
            <a:r>
              <a:rPr sz="1150" b="0">
                <a:solidFill>
                  <a:srgbClr val="2E2E2E"/>
                </a:solidFill>
                <a:latin typeface="Calibri"/>
              </a:rPr>
              <a:t>); 'Mineral Ceramide Sunscreen' anchors</a:t>
            </a:r>
          </a:p>
        </p:txBody>
      </p:sp>
      <p:pic>
        <p:nvPicPr>
          <p:cNvPr id="38" name="Picture 37" descr="lock.png"/>
          <p:cNvPicPr>
            <a:picLocks noChangeAspect="1"/>
          </p:cNvPicPr>
          <p:nvPr/>
        </p:nvPicPr>
        <p:blipFill>
          <a:blip r:embed="rId4"/>
          <a:stretch>
            <a:fillRect/>
          </a:stretch>
        </p:blipFill>
        <p:spPr>
          <a:xfrm>
            <a:off x="5486854" y="3209226"/>
            <a:ext cx="134549" cy="195707"/>
          </a:xfrm>
          <a:prstGeom prst="rect">
            <a:avLst/>
          </a:prstGeom>
        </p:spPr>
      </p:pic>
      <p:sp>
        <p:nvSpPr>
          <p:cNvPr id="39" name="TextBox 38"/>
          <p:cNvSpPr txBox="1"/>
          <p:nvPr/>
        </p:nvSpPr>
        <p:spPr>
          <a:xfrm>
            <a:off x="276225"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40" name="TextBox 39"/>
          <p:cNvSpPr txBox="1"/>
          <p:nvPr/>
        </p:nvSpPr>
        <p:spPr>
          <a:xfrm>
            <a:off x="6305550" y="321945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1" name="Picture 40" descr="lock.png"/>
          <p:cNvPicPr>
            <a:picLocks noChangeAspect="1"/>
          </p:cNvPicPr>
          <p:nvPr/>
        </p:nvPicPr>
        <p:blipFill>
          <a:blip r:embed="rId4"/>
          <a:stretch>
            <a:fillRect/>
          </a:stretch>
        </p:blipFill>
        <p:spPr>
          <a:xfrm>
            <a:off x="7975392" y="3209226"/>
            <a:ext cx="134549" cy="195707"/>
          </a:xfrm>
          <a:prstGeom prst="rect">
            <a:avLst/>
          </a:prstGeom>
        </p:spPr>
      </p:pic>
      <p:sp>
        <p:nvSpPr>
          <p:cNvPr id="42" name="TextBox 41"/>
          <p:cNvSpPr txBox="1"/>
          <p:nvPr/>
        </p:nvSpPr>
        <p:spPr>
          <a:xfrm>
            <a:off x="8150501" y="321945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3" name="Picture 42" descr="lock.png"/>
          <p:cNvPicPr>
            <a:picLocks noChangeAspect="1"/>
          </p:cNvPicPr>
          <p:nvPr/>
        </p:nvPicPr>
        <p:blipFill>
          <a:blip r:embed="rId4"/>
          <a:stretch>
            <a:fillRect/>
          </a:stretch>
        </p:blipFill>
        <p:spPr>
          <a:xfrm>
            <a:off x="10602510" y="3209226"/>
            <a:ext cx="134549" cy="195707"/>
          </a:xfrm>
          <a:prstGeom prst="rect">
            <a:avLst/>
          </a:prstGeom>
        </p:spPr>
      </p:pic>
      <p:sp>
        <p:nvSpPr>
          <p:cNvPr id="44" name="TextBox 43"/>
          <p:cNvSpPr txBox="1"/>
          <p:nvPr/>
        </p:nvSpPr>
        <p:spPr>
          <a:xfrm>
            <a:off x="10777620"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5038725"/>
            <a:ext cx="1691592" cy="194310"/>
          </a:xfrm>
          <a:prstGeom prst="rect">
            <a:avLst/>
          </a:prstGeom>
          <a:noFill/>
        </p:spPr>
        <p:txBody>
          <a:bodyPr wrap="none" lIns="0" rIns="0" tIns="0" bIns="0">
            <a:spAutoFit/>
          </a:bodyPr>
          <a:lstStyle/>
          <a:p>
            <a:r>
              <a:rPr sz="1150" b="0">
                <a:solidFill>
                  <a:srgbClr val="2E2E2E"/>
                </a:solidFill>
                <a:latin typeface="Calibri"/>
              </a:rPr>
              <a:t>▪ Ceramide Sunscreen adds</a:t>
            </a:r>
          </a:p>
        </p:txBody>
      </p:sp>
      <p:pic>
        <p:nvPicPr>
          <p:cNvPr id="46" name="Picture 45" descr="lock.png"/>
          <p:cNvPicPr>
            <a:picLocks noChangeAspect="1"/>
          </p:cNvPicPr>
          <p:nvPr/>
        </p:nvPicPr>
        <p:blipFill>
          <a:blip r:embed="rId4"/>
          <a:stretch>
            <a:fillRect/>
          </a:stretch>
        </p:blipFill>
        <p:spPr>
          <a:xfrm>
            <a:off x="1916971" y="5028501"/>
            <a:ext cx="134549" cy="195707"/>
          </a:xfrm>
          <a:prstGeom prst="rect">
            <a:avLst/>
          </a:prstGeom>
        </p:spPr>
      </p:pic>
      <p:sp>
        <p:nvSpPr>
          <p:cNvPr id="47" name="TextBox 46"/>
          <p:cNvSpPr txBox="1"/>
          <p:nvPr/>
        </p:nvSpPr>
        <p:spPr>
          <a:xfrm>
            <a:off x="2092081"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8" name="Picture 47" descr="lock.png"/>
          <p:cNvPicPr>
            <a:picLocks noChangeAspect="1"/>
          </p:cNvPicPr>
          <p:nvPr/>
        </p:nvPicPr>
        <p:blipFill>
          <a:blip r:embed="rId4"/>
          <a:stretch>
            <a:fillRect/>
          </a:stretch>
        </p:blipFill>
        <p:spPr>
          <a:xfrm>
            <a:off x="3856342" y="5028501"/>
            <a:ext cx="134549" cy="195707"/>
          </a:xfrm>
          <a:prstGeom prst="rect">
            <a:avLst/>
          </a:prstGeom>
        </p:spPr>
      </p:pic>
      <p:sp>
        <p:nvSpPr>
          <p:cNvPr id="49" name="TextBox 48"/>
          <p:cNvSpPr txBox="1"/>
          <p:nvPr/>
        </p:nvSpPr>
        <p:spPr>
          <a:xfrm>
            <a:off x="4031452"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0" name="TextBox 49"/>
          <p:cNvSpPr txBox="1"/>
          <p:nvPr/>
        </p:nvSpPr>
        <p:spPr>
          <a:xfrm>
            <a:off x="276225" y="5266563"/>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51" name="TextBox 50"/>
          <p:cNvSpPr txBox="1"/>
          <p:nvPr/>
        </p:nvSpPr>
        <p:spPr>
          <a:xfrm>
            <a:off x="276225" y="5494400"/>
            <a:ext cx="5074704" cy="194310"/>
          </a:xfrm>
          <a:prstGeom prst="rect">
            <a:avLst/>
          </a:prstGeom>
          <a:noFill/>
        </p:spPr>
        <p:txBody>
          <a:bodyPr wrap="none" lIns="0" rIns="0" tIns="0" bIns="0">
            <a:spAutoFit/>
          </a:bodyPr>
          <a:lstStyle/>
          <a:p>
            <a:r>
              <a:rPr sz="1150" b="0">
                <a:solidFill>
                  <a:srgbClr val="2E2E2E"/>
                </a:solidFill>
                <a:latin typeface="Calibri"/>
              </a:rPr>
              <a:t>▪ Defend share in 'Mineral Ceramide Sunscreen' as the value anchor of the portfolio.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Ceramide Sunscreen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709786"/>
            <a:ext cx="635826" cy="595514"/>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174364"/>
            <a:ext cx="635826" cy="1130936"/>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916016"/>
            <a:ext cx="635826" cy="138928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605088"/>
            <a:ext cx="635826" cy="170021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3041014"/>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936239"/>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78266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67789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71738"/>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66962"/>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Ceramide Sunscreen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970605"/>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962390"/>
            <a:ext cx="108107" cy="157246"/>
          </a:xfrm>
          <a:prstGeom prst="rect">
            <a:avLst/>
          </a:prstGeom>
        </p:spPr>
      </p:pic>
      <p:sp>
        <p:nvSpPr>
          <p:cNvPr id="56" name="TextBox 55"/>
          <p:cNvSpPr txBox="1"/>
          <p:nvPr/>
        </p:nvSpPr>
        <p:spPr>
          <a:xfrm>
            <a:off x="2032418" y="271225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704042"/>
            <a:ext cx="108107" cy="157246"/>
          </a:xfrm>
          <a:prstGeom prst="rect">
            <a:avLst/>
          </a:prstGeom>
        </p:spPr>
      </p:pic>
      <p:sp>
        <p:nvSpPr>
          <p:cNvPr id="58" name="TextBox 57"/>
          <p:cNvSpPr txBox="1"/>
          <p:nvPr/>
        </p:nvSpPr>
        <p:spPr>
          <a:xfrm>
            <a:off x="2032418" y="2401328"/>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93113"/>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2469480" cy="194310"/>
          </a:xfrm>
          <a:prstGeom prst="rect">
            <a:avLst/>
          </a:prstGeom>
          <a:noFill/>
        </p:spPr>
        <p:txBody>
          <a:bodyPr wrap="none" lIns="0" rIns="0" tIns="0" bIns="0">
            <a:spAutoFit/>
          </a:bodyPr>
          <a:lstStyle/>
          <a:p>
            <a:r>
              <a:rPr sz="1150" b="0">
                <a:solidFill>
                  <a:srgbClr val="2E2E2E"/>
                </a:solidFill>
                <a:latin typeface="Calibri"/>
              </a:rPr>
              <a:t>▪ Likely (base forecast): 3,780 US$ Mn at</a:t>
            </a:r>
          </a:p>
        </p:txBody>
      </p:sp>
      <p:pic>
        <p:nvPicPr>
          <p:cNvPr id="66" name="Picture 65" descr="lock.png"/>
          <p:cNvPicPr>
            <a:picLocks noChangeAspect="1"/>
          </p:cNvPicPr>
          <p:nvPr/>
        </p:nvPicPr>
        <p:blipFill>
          <a:blip r:embed="rId5"/>
          <a:stretch>
            <a:fillRect/>
          </a:stretch>
        </p:blipFill>
        <p:spPr>
          <a:xfrm>
            <a:off x="2694859" y="5589714"/>
            <a:ext cx="134549" cy="195707"/>
          </a:xfrm>
          <a:prstGeom prst="rect">
            <a:avLst/>
          </a:prstGeom>
        </p:spPr>
      </p:pic>
      <p:sp>
        <p:nvSpPr>
          <p:cNvPr id="67" name="TextBox 66"/>
          <p:cNvSpPr txBox="1"/>
          <p:nvPr/>
        </p:nvSpPr>
        <p:spPr>
          <a:xfrm>
            <a:off x="2869968"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9" name="Picture 68" descr="lock.png"/>
          <p:cNvPicPr>
            <a:picLocks noChangeAspect="1"/>
          </p:cNvPicPr>
          <p:nvPr/>
        </p:nvPicPr>
        <p:blipFill>
          <a:blip r:embed="rId5"/>
          <a:stretch>
            <a:fillRect/>
          </a:stretch>
        </p:blipFill>
        <p:spPr>
          <a:xfrm>
            <a:off x="1194994" y="5817552"/>
            <a:ext cx="134549" cy="195707"/>
          </a:xfrm>
          <a:prstGeom prst="rect">
            <a:avLst/>
          </a:prstGeom>
        </p:spPr>
      </p:pic>
      <p:sp>
        <p:nvSpPr>
          <p:cNvPr id="70" name="TextBox 69"/>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1" name="Picture 70" descr="lock.png"/>
          <p:cNvPicPr>
            <a:picLocks noChangeAspect="1"/>
          </p:cNvPicPr>
          <p:nvPr/>
        </p:nvPicPr>
        <p:blipFill>
          <a:blip r:embed="rId5"/>
          <a:stretch>
            <a:fillRect/>
          </a:stretch>
        </p:blipFill>
        <p:spPr>
          <a:xfrm>
            <a:off x="2017310" y="5817552"/>
            <a:ext cx="134549" cy="195707"/>
          </a:xfrm>
          <a:prstGeom prst="rect">
            <a:avLst/>
          </a:prstGeom>
        </p:spPr>
      </p:pic>
      <p:sp>
        <p:nvSpPr>
          <p:cNvPr id="72" name="TextBox 71"/>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3" name="TextBox 72"/>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3885509" y="6045390"/>
            <a:ext cx="134549" cy="195707"/>
          </a:xfrm>
          <a:prstGeom prst="rect">
            <a:avLst/>
          </a:prstGeom>
        </p:spPr>
      </p:pic>
      <p:sp>
        <p:nvSpPr>
          <p:cNvPr id="75" name="TextBox 74"/>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6"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Ceramide Sunscreen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Global market is projected to grow at a CAGR of 8.0% from 2026 to 2036.</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577_5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140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7_0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472_5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077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8_6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227_5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482_2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7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210_0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493_0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8_9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140_0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325_2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8_8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122_5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262_3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7_9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638549" cy="186689"/>
          </a:xfrm>
          <a:prstGeom prst="rect">
            <a:avLst/>
          </a:prstGeom>
          <a:noFill/>
        </p:spPr>
        <p:txBody>
          <a:bodyPr wrap="none" lIns="0" rIns="0" tIns="0" bIns="0">
            <a:spAutoFit/>
          </a:bodyPr>
          <a:lstStyle/>
          <a:p>
            <a:r>
              <a:rPr sz="1100" b="0">
                <a:solidFill>
                  <a:srgbClr val="2E2E2E"/>
                </a:solidFill>
                <a:latin typeface="Calibri"/>
              </a:rPr>
              <a:t>North America ceramide sunscreen market is</a:t>
            </a:r>
          </a:p>
        </p:txBody>
      </p:sp>
      <p:sp>
        <p:nvSpPr>
          <p:cNvPr id="102" name="TextBox 101"/>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03" name="Picture 102" descr="lock.png"/>
          <p:cNvPicPr>
            <a:picLocks noChangeAspect="1"/>
          </p:cNvPicPr>
          <p:nvPr/>
        </p:nvPicPr>
        <p:blipFill>
          <a:blip r:embed="rId22"/>
          <a:stretch>
            <a:fillRect/>
          </a:stretch>
        </p:blipFill>
        <p:spPr>
          <a:xfrm>
            <a:off x="1678376" y="4387298"/>
            <a:ext cx="128699" cy="187198"/>
          </a:xfrm>
          <a:prstGeom prst="rect">
            <a:avLst/>
          </a:prstGeom>
        </p:spPr>
      </p:pic>
      <p:sp>
        <p:nvSpPr>
          <p:cNvPr id="104" name="TextBox 103"/>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05" name="TextBox 104"/>
          <p:cNvSpPr txBox="1"/>
          <p:nvPr/>
        </p:nvSpPr>
        <p:spPr>
          <a:xfrm>
            <a:off x="485775" y="4564717"/>
            <a:ext cx="2747416" cy="186689"/>
          </a:xfrm>
          <a:prstGeom prst="rect">
            <a:avLst/>
          </a:prstGeom>
          <a:noFill/>
        </p:spPr>
        <p:txBody>
          <a:bodyPr wrap="none" lIns="0" rIns="0" tIns="0" bIns="0">
            <a:spAutoFit/>
          </a:bodyPr>
          <a:lstStyle/>
          <a:p>
            <a:r>
              <a:rPr sz="1100" b="0">
                <a:solidFill>
                  <a:srgbClr val="2E2E2E"/>
                </a:solidFill>
                <a:latin typeface="Calibri"/>
              </a:rPr>
              <a:t>Europe in 2036. Among ceramide sunscreen by</a:t>
            </a:r>
          </a:p>
        </p:txBody>
      </p:sp>
      <p:sp>
        <p:nvSpPr>
          <p:cNvPr id="106" name="TextBox 105"/>
          <p:cNvSpPr txBox="1"/>
          <p:nvPr/>
        </p:nvSpPr>
        <p:spPr>
          <a:xfrm>
            <a:off x="485775" y="4732357"/>
            <a:ext cx="2914129" cy="186689"/>
          </a:xfrm>
          <a:prstGeom prst="rect">
            <a:avLst/>
          </a:prstGeom>
          <a:noFill/>
        </p:spPr>
        <p:txBody>
          <a:bodyPr wrap="none" lIns="0" rIns="0" tIns="0" bIns="0">
            <a:spAutoFit/>
          </a:bodyPr>
          <a:lstStyle/>
          <a:p>
            <a:r>
              <a:rPr sz="1100" b="0">
                <a:solidFill>
                  <a:srgbClr val="2E2E2E"/>
                </a:solidFill>
                <a:latin typeface="Calibri"/>
              </a:rPr>
              <a:t>region, South Asia &amp; Pacific is expected to witness</a:t>
            </a:r>
          </a:p>
        </p:txBody>
      </p:sp>
      <p:sp>
        <p:nvSpPr>
          <p:cNvPr id="107" name="TextBox 106"/>
          <p:cNvSpPr txBox="1"/>
          <p:nvPr/>
        </p:nvSpPr>
        <p:spPr>
          <a:xfrm>
            <a:off x="485775" y="489999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108" name="Picture 107" descr="lock.png"/>
          <p:cNvPicPr>
            <a:picLocks noChangeAspect="1"/>
          </p:cNvPicPr>
          <p:nvPr/>
        </p:nvPicPr>
        <p:blipFill>
          <a:blip r:embed="rId22"/>
          <a:stretch>
            <a:fillRect/>
          </a:stretch>
        </p:blipFill>
        <p:spPr>
          <a:xfrm>
            <a:off x="1646163" y="4890217"/>
            <a:ext cx="128699" cy="187198"/>
          </a:xfrm>
          <a:prstGeom prst="rect">
            <a:avLst/>
          </a:prstGeom>
        </p:spPr>
      </p:pic>
      <p:sp>
        <p:nvSpPr>
          <p:cNvPr id="109" name="TextBox 108"/>
          <p:cNvSpPr txBox="1"/>
          <p:nvPr/>
        </p:nvSpPr>
        <p:spPr>
          <a:xfrm>
            <a:off x="1813659"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110" name="TextBox 109"/>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11" name="TextBox 110"/>
          <p:cNvSpPr txBox="1"/>
          <p:nvPr/>
        </p:nvSpPr>
        <p:spPr>
          <a:xfrm>
            <a:off x="485775" y="528556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2" name="Picture 111" descr="lock.png"/>
          <p:cNvPicPr>
            <a:picLocks noChangeAspect="1"/>
          </p:cNvPicPr>
          <p:nvPr/>
        </p:nvPicPr>
        <p:blipFill>
          <a:blip r:embed="rId22"/>
          <a:stretch>
            <a:fillRect/>
          </a:stretch>
        </p:blipFill>
        <p:spPr>
          <a:xfrm>
            <a:off x="2822716" y="5275790"/>
            <a:ext cx="128699" cy="187198"/>
          </a:xfrm>
          <a:prstGeom prst="rect">
            <a:avLst/>
          </a:prstGeom>
        </p:spPr>
      </p:pic>
      <p:sp>
        <p:nvSpPr>
          <p:cNvPr id="113" name="TextBox 112"/>
          <p:cNvSpPr txBox="1"/>
          <p:nvPr/>
        </p:nvSpPr>
        <p:spPr>
          <a:xfrm>
            <a:off x="2990212" y="528556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4" name="TextBox 113"/>
          <p:cNvSpPr txBox="1"/>
          <p:nvPr/>
        </p:nvSpPr>
        <p:spPr>
          <a:xfrm>
            <a:off x="485775" y="545320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5" name="Picture 114" descr="lock.png"/>
          <p:cNvPicPr>
            <a:picLocks noChangeAspect="1"/>
          </p:cNvPicPr>
          <p:nvPr/>
        </p:nvPicPr>
        <p:blipFill>
          <a:blip r:embed="rId22"/>
          <a:stretch>
            <a:fillRect/>
          </a:stretch>
        </p:blipFill>
        <p:spPr>
          <a:xfrm>
            <a:off x="1576057" y="5443430"/>
            <a:ext cx="128699" cy="187198"/>
          </a:xfrm>
          <a:prstGeom prst="rect">
            <a:avLst/>
          </a:prstGeom>
        </p:spPr>
      </p:pic>
      <p:sp>
        <p:nvSpPr>
          <p:cNvPr id="116" name="TextBox 115"/>
          <p:cNvSpPr txBox="1"/>
          <p:nvPr/>
        </p:nvSpPr>
        <p:spPr>
          <a:xfrm>
            <a:off x="1743553"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7" name="TextBox 116"/>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8" name="Picture 117" descr="lock.png"/>
          <p:cNvPicPr>
            <a:picLocks noChangeAspect="1"/>
          </p:cNvPicPr>
          <p:nvPr/>
        </p:nvPicPr>
        <p:blipFill>
          <a:blip r:embed="rId22"/>
          <a:stretch>
            <a:fillRect/>
          </a:stretch>
        </p:blipFill>
        <p:spPr>
          <a:xfrm>
            <a:off x="4850003" y="4219658"/>
            <a:ext cx="128699" cy="187198"/>
          </a:xfrm>
          <a:prstGeom prst="rect">
            <a:avLst/>
          </a:prstGeom>
        </p:spPr>
      </p:pic>
      <p:sp>
        <p:nvSpPr>
          <p:cNvPr id="119" name="TextBox 118"/>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5876949" y="4219658"/>
            <a:ext cx="128699" cy="187198"/>
          </a:xfrm>
          <a:prstGeom prst="rect">
            <a:avLst/>
          </a:prstGeom>
        </p:spPr>
      </p:pic>
      <p:sp>
        <p:nvSpPr>
          <p:cNvPr id="121" name="TextBox 120"/>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2" name="TextBox 121"/>
          <p:cNvSpPr txBox="1"/>
          <p:nvPr/>
        </p:nvSpPr>
        <p:spPr>
          <a:xfrm>
            <a:off x="3838575" y="4447369"/>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3" name="Picture 122" descr="lock.png"/>
          <p:cNvPicPr>
            <a:picLocks noChangeAspect="1"/>
          </p:cNvPicPr>
          <p:nvPr/>
        </p:nvPicPr>
        <p:blipFill>
          <a:blip r:embed="rId22"/>
          <a:stretch>
            <a:fillRect/>
          </a:stretch>
        </p:blipFill>
        <p:spPr>
          <a:xfrm>
            <a:off x="4423263" y="4437590"/>
            <a:ext cx="128699" cy="187198"/>
          </a:xfrm>
          <a:prstGeom prst="rect">
            <a:avLst/>
          </a:prstGeom>
        </p:spPr>
      </p:pic>
      <p:sp>
        <p:nvSpPr>
          <p:cNvPr id="124" name="TextBox 123"/>
          <p:cNvSpPr txBox="1"/>
          <p:nvPr/>
        </p:nvSpPr>
        <p:spPr>
          <a:xfrm>
            <a:off x="45907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22"/>
          <a:stretch>
            <a:fillRect/>
          </a:stretch>
        </p:blipFill>
        <p:spPr>
          <a:xfrm>
            <a:off x="5450209" y="4437590"/>
            <a:ext cx="128699" cy="187198"/>
          </a:xfrm>
          <a:prstGeom prst="rect">
            <a:avLst/>
          </a:prstGeom>
        </p:spPr>
      </p:pic>
      <p:sp>
        <p:nvSpPr>
          <p:cNvPr id="126" name="TextBox 125"/>
          <p:cNvSpPr txBox="1"/>
          <p:nvPr/>
        </p:nvSpPr>
        <p:spPr>
          <a:xfrm>
            <a:off x="5617705"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7" name="TextBox 126"/>
          <p:cNvSpPr txBox="1"/>
          <p:nvPr/>
        </p:nvSpPr>
        <p:spPr>
          <a:xfrm>
            <a:off x="3838575" y="4665301"/>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8" name="Picture 127" descr="lock.png"/>
          <p:cNvPicPr>
            <a:picLocks noChangeAspect="1"/>
          </p:cNvPicPr>
          <p:nvPr/>
        </p:nvPicPr>
        <p:blipFill>
          <a:blip r:embed="rId22"/>
          <a:stretch>
            <a:fillRect/>
          </a:stretch>
        </p:blipFill>
        <p:spPr>
          <a:xfrm>
            <a:off x="4518727" y="4655522"/>
            <a:ext cx="128699" cy="187198"/>
          </a:xfrm>
          <a:prstGeom prst="rect">
            <a:avLst/>
          </a:prstGeom>
        </p:spPr>
      </p:pic>
      <p:sp>
        <p:nvSpPr>
          <p:cNvPr id="129" name="TextBox 128"/>
          <p:cNvSpPr txBox="1"/>
          <p:nvPr/>
        </p:nvSpPr>
        <p:spPr>
          <a:xfrm>
            <a:off x="468622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2"/>
          <a:stretch>
            <a:fillRect/>
          </a:stretch>
        </p:blipFill>
        <p:spPr>
          <a:xfrm>
            <a:off x="5545673" y="4655522"/>
            <a:ext cx="128699" cy="187198"/>
          </a:xfrm>
          <a:prstGeom prst="rect">
            <a:avLst/>
          </a:prstGeom>
        </p:spPr>
      </p:pic>
      <p:sp>
        <p:nvSpPr>
          <p:cNvPr id="131" name="TextBox 130"/>
          <p:cNvSpPr txBox="1"/>
          <p:nvPr/>
        </p:nvSpPr>
        <p:spPr>
          <a:xfrm>
            <a:off x="5713169"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2" name="TextBox 131"/>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3" name="Picture 132" descr="lock.png"/>
          <p:cNvPicPr>
            <a:picLocks noChangeAspect="1"/>
          </p:cNvPicPr>
          <p:nvPr/>
        </p:nvPicPr>
        <p:blipFill>
          <a:blip r:embed="rId22"/>
          <a:stretch>
            <a:fillRect/>
          </a:stretch>
        </p:blipFill>
        <p:spPr>
          <a:xfrm>
            <a:off x="5136770" y="4873454"/>
            <a:ext cx="128699" cy="187198"/>
          </a:xfrm>
          <a:prstGeom prst="rect">
            <a:avLst/>
          </a:prstGeom>
        </p:spPr>
      </p:pic>
      <p:sp>
        <p:nvSpPr>
          <p:cNvPr id="134" name="TextBox 133"/>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2"/>
          <a:stretch>
            <a:fillRect/>
          </a:stretch>
        </p:blipFill>
        <p:spPr>
          <a:xfrm>
            <a:off x="6163716" y="4873454"/>
            <a:ext cx="128699" cy="187198"/>
          </a:xfrm>
          <a:prstGeom prst="rect">
            <a:avLst/>
          </a:prstGeom>
        </p:spPr>
      </p:pic>
      <p:sp>
        <p:nvSpPr>
          <p:cNvPr id="136" name="TextBox 135"/>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7" name="TextBox 136"/>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8" name="Picture 137" descr="lock.png"/>
          <p:cNvPicPr>
            <a:picLocks noChangeAspect="1"/>
          </p:cNvPicPr>
          <p:nvPr/>
        </p:nvPicPr>
        <p:blipFill>
          <a:blip r:embed="rId22"/>
          <a:stretch>
            <a:fillRect/>
          </a:stretch>
        </p:blipFill>
        <p:spPr>
          <a:xfrm>
            <a:off x="4794887" y="5091385"/>
            <a:ext cx="128699" cy="187198"/>
          </a:xfrm>
          <a:prstGeom prst="rect">
            <a:avLst/>
          </a:prstGeom>
        </p:spPr>
      </p:pic>
      <p:sp>
        <p:nvSpPr>
          <p:cNvPr id="139" name="TextBox 138"/>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2"/>
          <a:stretch>
            <a:fillRect/>
          </a:stretch>
        </p:blipFill>
        <p:spPr>
          <a:xfrm>
            <a:off x="5821833" y="5091385"/>
            <a:ext cx="128699" cy="187198"/>
          </a:xfrm>
          <a:prstGeom prst="rect">
            <a:avLst/>
          </a:prstGeom>
        </p:spPr>
      </p:pic>
      <p:sp>
        <p:nvSpPr>
          <p:cNvPr id="141" name="TextBox 140"/>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2" name="TextBox 141"/>
          <p:cNvSpPr txBox="1"/>
          <p:nvPr/>
        </p:nvSpPr>
        <p:spPr>
          <a:xfrm>
            <a:off x="3838575" y="5319097"/>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3" name="Picture 142" descr="lock.png"/>
          <p:cNvPicPr>
            <a:picLocks noChangeAspect="1"/>
          </p:cNvPicPr>
          <p:nvPr/>
        </p:nvPicPr>
        <p:blipFill>
          <a:blip r:embed="rId22"/>
          <a:stretch>
            <a:fillRect/>
          </a:stretch>
        </p:blipFill>
        <p:spPr>
          <a:xfrm>
            <a:off x="5173571" y="5309317"/>
            <a:ext cx="128699" cy="187198"/>
          </a:xfrm>
          <a:prstGeom prst="rect">
            <a:avLst/>
          </a:prstGeom>
        </p:spPr>
      </p:pic>
      <p:sp>
        <p:nvSpPr>
          <p:cNvPr id="144" name="TextBox 143"/>
          <p:cNvSpPr txBox="1"/>
          <p:nvPr/>
        </p:nvSpPr>
        <p:spPr>
          <a:xfrm>
            <a:off x="5341067"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2"/>
          <a:stretch>
            <a:fillRect/>
          </a:stretch>
        </p:blipFill>
        <p:spPr>
          <a:xfrm>
            <a:off x="6200517" y="5309317"/>
            <a:ext cx="128699" cy="187198"/>
          </a:xfrm>
          <a:prstGeom prst="rect">
            <a:avLst/>
          </a:prstGeom>
        </p:spPr>
      </p:pic>
      <p:sp>
        <p:nvSpPr>
          <p:cNvPr id="146" name="TextBox 145"/>
          <p:cNvSpPr txBox="1"/>
          <p:nvPr/>
        </p:nvSpPr>
        <p:spPr>
          <a:xfrm>
            <a:off x="6368013"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Analysis, By Region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601961"/>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5971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2099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8291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90513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9003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82417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8608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41636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2970" y="241160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33540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39731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313526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4712970" y="313050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305430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0" name="BPS Value 4"/>
          <p:cNvSpPr txBox="1"/>
          <p:nvPr/>
        </p:nvSpPr>
        <p:spPr>
          <a:xfrm>
            <a:off x="6305550" y="31162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551045" y="390771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390295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82675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88866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471919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471443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63823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8" name="BPS Value 6"/>
          <p:cNvSpPr txBox="1"/>
          <p:nvPr/>
        </p:nvSpPr>
        <p:spPr>
          <a:xfrm>
            <a:off x="6305550" y="470014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426_830_605E5C.png"/>
          <p:cNvPicPr>
            <a:picLocks noChangeAspect="1"/>
          </p:cNvPicPr>
          <p:nvPr/>
        </p:nvPicPr>
        <p:blipFill>
          <a:blip r:embed="rId6"/>
          <a:stretch>
            <a:fillRect/>
          </a:stretch>
        </p:blipFill>
        <p:spPr>
          <a:xfrm>
            <a:off x="1028700" y="5897562"/>
            <a:ext cx="2171696" cy="482599"/>
          </a:xfrm>
          <a:prstGeom prst="rect">
            <a:avLst/>
          </a:prstGeom>
        </p:spPr>
      </p:pic>
      <p:pic>
        <p:nvPicPr>
          <p:cNvPr id="49" name="Picture 48" descr="871_720_605E5C.png"/>
          <p:cNvPicPr>
            <a:picLocks noChangeAspect="1"/>
          </p:cNvPicPr>
          <p:nvPr/>
        </p:nvPicPr>
        <p:blipFill>
          <a:blip r:embed="rId7"/>
          <a:stretch>
            <a:fillRect/>
          </a:stretch>
        </p:blipFill>
        <p:spPr>
          <a:xfrm>
            <a:off x="5062537" y="5897562"/>
            <a:ext cx="2171696" cy="482599"/>
          </a:xfrm>
          <a:prstGeom prst="rect">
            <a:avLst/>
          </a:prstGeom>
        </p:spPr>
      </p:pic>
      <p:pic>
        <p:nvPicPr>
          <p:cNvPr id="50" name="Picture 49" descr="7_4__605E5C.png"/>
          <p:cNvPicPr>
            <a:picLocks noChangeAspect="1"/>
          </p:cNvPicPr>
          <p:nvPr/>
        </p:nvPicPr>
        <p:blipFill>
          <a:blip r:embed="rId8"/>
          <a:stretch>
            <a:fillRect/>
          </a:stretch>
        </p:blipFill>
        <p:spPr>
          <a:xfrm>
            <a:off x="9465355" y="5897562"/>
            <a:ext cx="1309912" cy="482599"/>
          </a:xfrm>
          <a:prstGeom prst="rect">
            <a:avLst/>
          </a:prstGeom>
        </p:spPr>
      </p:pic>
      <p:pic>
        <p:nvPicPr>
          <p:cNvPr id="51" name="Picture 50" descr="lock.png"/>
          <p:cNvPicPr>
            <a:picLocks noChangeAspect="1"/>
          </p:cNvPicPr>
          <p:nvPr/>
        </p:nvPicPr>
        <p:blipFill>
          <a:blip r:embed="rId5"/>
          <a:stretch>
            <a:fillRect/>
          </a:stretch>
        </p:blipFill>
        <p:spPr>
          <a:xfrm>
            <a:off x="5914657" y="5893409"/>
            <a:ext cx="337498" cy="490906"/>
          </a:xfrm>
          <a:prstGeom prst="rect">
            <a:avLst/>
          </a:prstGeom>
        </p:spPr>
      </p:pic>
      <p:sp>
        <p:nvSpPr>
          <p:cNvPr id="52" name="TextBox 51"/>
          <p:cNvSpPr txBox="1"/>
          <p:nvPr/>
        </p:nvSpPr>
        <p:spPr>
          <a:xfrm>
            <a:off x="7239000" y="1400175"/>
            <a:ext cx="4309367" cy="194310"/>
          </a:xfrm>
          <a:prstGeom prst="rect">
            <a:avLst/>
          </a:prstGeom>
          <a:noFill/>
        </p:spPr>
        <p:txBody>
          <a:bodyPr wrap="none" lIns="0" rIns="0" tIns="0" bIns="0">
            <a:spAutoFit/>
          </a:bodyPr>
          <a:lstStyle/>
          <a:p>
            <a:r>
              <a:rPr sz="1150" b="0">
                <a:solidFill>
                  <a:srgbClr val="2E2E2E"/>
                </a:solidFill>
                <a:latin typeface="Calibri"/>
              </a:rPr>
              <a:t>South Asia &amp; Pacific ceramide sunscreen market is projected to register</a:t>
            </a:r>
          </a:p>
        </p:txBody>
      </p:sp>
      <p:pic>
        <p:nvPicPr>
          <p:cNvPr id="53" name="Picture 52" descr="lock.png"/>
          <p:cNvPicPr>
            <a:picLocks noChangeAspect="1"/>
          </p:cNvPicPr>
          <p:nvPr/>
        </p:nvPicPr>
        <p:blipFill>
          <a:blip r:embed="rId5"/>
          <a:stretch>
            <a:fillRect/>
          </a:stretch>
        </p:blipFill>
        <p:spPr>
          <a:xfrm>
            <a:off x="11497521" y="1389951"/>
            <a:ext cx="134549" cy="195707"/>
          </a:xfrm>
          <a:prstGeom prst="rect">
            <a:avLst/>
          </a:prstGeom>
        </p:spPr>
      </p:pic>
      <p:sp>
        <p:nvSpPr>
          <p:cNvPr id="54" name="TextBox 53"/>
          <p:cNvSpPr txBox="1"/>
          <p:nvPr/>
        </p:nvSpPr>
        <p:spPr>
          <a:xfrm>
            <a:off x="11672631"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5" name="TextBox 54"/>
          <p:cNvSpPr txBox="1"/>
          <p:nvPr/>
        </p:nvSpPr>
        <p:spPr>
          <a:xfrm>
            <a:off x="7239000" y="1575435"/>
            <a:ext cx="4512468" cy="194310"/>
          </a:xfrm>
          <a:prstGeom prst="rect">
            <a:avLst/>
          </a:prstGeom>
          <a:noFill/>
        </p:spPr>
        <p:txBody>
          <a:bodyPr wrap="none" lIns="0" rIns="0" tIns="0" bIns="0">
            <a:spAutoFit/>
          </a:bodyPr>
          <a:lstStyle/>
          <a:p>
            <a:r>
              <a:rPr sz="1150" b="0">
                <a:solidFill>
                  <a:srgbClr val="2E2E2E"/>
                </a:solidFill>
                <a:latin typeface="Calibri"/>
              </a:rPr>
              <a:t>higher volume than Europe in 2036. Among ceramide sunscreen by region,</a:t>
            </a:r>
          </a:p>
        </p:txBody>
      </p:sp>
      <p:sp>
        <p:nvSpPr>
          <p:cNvPr id="56" name="TextBox 55"/>
          <p:cNvSpPr txBox="1"/>
          <p:nvPr/>
        </p:nvSpPr>
        <p:spPr>
          <a:xfrm>
            <a:off x="7239000" y="1750695"/>
            <a:ext cx="3814434" cy="194310"/>
          </a:xfrm>
          <a:prstGeom prst="rect">
            <a:avLst/>
          </a:prstGeom>
          <a:noFill/>
        </p:spPr>
        <p:txBody>
          <a:bodyPr wrap="none" lIns="0" rIns="0" tIns="0" bIns="0">
            <a:spAutoFit/>
          </a:bodyPr>
          <a:lstStyle/>
          <a:p>
            <a:r>
              <a:rPr sz="1150" b="0">
                <a:solidFill>
                  <a:srgbClr val="2E2E2E"/>
                </a:solidFill>
                <a:latin typeface="Calibri"/>
              </a:rPr>
              <a:t>South Asia &amp; Pacific is expected to witness the highest CAGR of</a:t>
            </a:r>
          </a:p>
        </p:txBody>
      </p:sp>
      <p:pic>
        <p:nvPicPr>
          <p:cNvPr id="57" name="Picture 56" descr="lock.png"/>
          <p:cNvPicPr>
            <a:picLocks noChangeAspect="1"/>
          </p:cNvPicPr>
          <p:nvPr/>
        </p:nvPicPr>
        <p:blipFill>
          <a:blip r:embed="rId5"/>
          <a:stretch>
            <a:fillRect/>
          </a:stretch>
        </p:blipFill>
        <p:spPr>
          <a:xfrm>
            <a:off x="11002588" y="1740471"/>
            <a:ext cx="134549" cy="195707"/>
          </a:xfrm>
          <a:prstGeom prst="rect">
            <a:avLst/>
          </a:prstGeom>
        </p:spPr>
      </p:pic>
      <p:sp>
        <p:nvSpPr>
          <p:cNvPr id="58" name="TextBox 57"/>
          <p:cNvSpPr txBox="1"/>
          <p:nvPr/>
        </p:nvSpPr>
        <p:spPr>
          <a:xfrm>
            <a:off x="11177697"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9" name="TextBox 58"/>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60" name="TextBox 59"/>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61" name="TextBox 60"/>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2" name="Picture 61" descr="lock.png"/>
          <p:cNvPicPr>
            <a:picLocks noChangeAspect="1"/>
          </p:cNvPicPr>
          <p:nvPr/>
        </p:nvPicPr>
        <p:blipFill>
          <a:blip r:embed="rId5"/>
          <a:stretch>
            <a:fillRect/>
          </a:stretch>
        </p:blipFill>
        <p:spPr>
          <a:xfrm>
            <a:off x="9025226" y="2318829"/>
            <a:ext cx="134549" cy="195707"/>
          </a:xfrm>
          <a:prstGeom prst="rect">
            <a:avLst/>
          </a:prstGeom>
        </p:spPr>
      </p:pic>
      <p:sp>
        <p:nvSpPr>
          <p:cNvPr id="63" name="TextBox 62"/>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4" name="Picture 63" descr="lock.png"/>
          <p:cNvPicPr>
            <a:picLocks noChangeAspect="1"/>
          </p:cNvPicPr>
          <p:nvPr/>
        </p:nvPicPr>
        <p:blipFill>
          <a:blip r:embed="rId5"/>
          <a:stretch>
            <a:fillRect/>
          </a:stretch>
        </p:blipFill>
        <p:spPr>
          <a:xfrm>
            <a:off x="10595478" y="2318829"/>
            <a:ext cx="134549" cy="195707"/>
          </a:xfrm>
          <a:prstGeom prst="rect">
            <a:avLst/>
          </a:prstGeom>
        </p:spPr>
      </p:pic>
      <p:sp>
        <p:nvSpPr>
          <p:cNvPr id="65" name="TextBox 64"/>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TextBox 65"/>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7" name="Picture 66" descr="lock.png"/>
          <p:cNvPicPr>
            <a:picLocks noChangeAspect="1"/>
          </p:cNvPicPr>
          <p:nvPr/>
        </p:nvPicPr>
        <p:blipFill>
          <a:blip r:embed="rId5"/>
          <a:stretch>
            <a:fillRect/>
          </a:stretch>
        </p:blipFill>
        <p:spPr>
          <a:xfrm>
            <a:off x="9271685" y="2494089"/>
            <a:ext cx="134549" cy="195707"/>
          </a:xfrm>
          <a:prstGeom prst="rect">
            <a:avLst/>
          </a:prstGeom>
        </p:spPr>
      </p:pic>
      <p:sp>
        <p:nvSpPr>
          <p:cNvPr id="68" name="TextBox 67"/>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69" name="TextBox 68"/>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70" name="Picture 69" descr="lock.png"/>
          <p:cNvPicPr>
            <a:picLocks noChangeAspect="1"/>
          </p:cNvPicPr>
          <p:nvPr/>
        </p:nvPicPr>
        <p:blipFill>
          <a:blip r:embed="rId5"/>
          <a:stretch>
            <a:fillRect/>
          </a:stretch>
        </p:blipFill>
        <p:spPr>
          <a:xfrm>
            <a:off x="7943258" y="2669349"/>
            <a:ext cx="134549" cy="195707"/>
          </a:xfrm>
          <a:prstGeom prst="rect">
            <a:avLst/>
          </a:prstGeom>
        </p:spPr>
      </p:pic>
      <p:sp>
        <p:nvSpPr>
          <p:cNvPr id="71" name="TextBox 70"/>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2"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8931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58454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0834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7026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874295"/>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86953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9333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5524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26593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226117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18497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24688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73894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73418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65798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0" name="BPS Value 4"/>
          <p:cNvSpPr txBox="1"/>
          <p:nvPr/>
        </p:nvSpPr>
        <p:spPr>
          <a:xfrm>
            <a:off x="6305550" y="271989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350051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2970" y="349575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41955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48146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457608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4712970" y="45713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49512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8" name="BPS Value 6"/>
          <p:cNvSpPr txBox="1"/>
          <p:nvPr/>
        </p:nvSpPr>
        <p:spPr>
          <a:xfrm>
            <a:off x="6305550" y="455703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1,750</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3,780</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8.0%</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sp>
        <p:nvSpPr>
          <p:cNvPr id="48" name="TextBox 47"/>
          <p:cNvSpPr txBox="1"/>
          <p:nvPr/>
        </p:nvSpPr>
        <p:spPr>
          <a:xfrm>
            <a:off x="7239000" y="1400175"/>
            <a:ext cx="4009566" cy="194310"/>
          </a:xfrm>
          <a:prstGeom prst="rect">
            <a:avLst/>
          </a:prstGeom>
          <a:noFill/>
        </p:spPr>
        <p:txBody>
          <a:bodyPr wrap="none" lIns="0" rIns="0" tIns="0" bIns="0">
            <a:spAutoFit/>
          </a:bodyPr>
          <a:lstStyle/>
          <a:p>
            <a:r>
              <a:rPr sz="1150" b="0">
                <a:solidFill>
                  <a:srgbClr val="2E2E2E"/>
                </a:solidFill>
                <a:latin typeface="Calibri"/>
              </a:rPr>
              <a:t>North America ceramide sunscreen market is projected to register</a:t>
            </a:r>
          </a:p>
        </p:txBody>
      </p:sp>
      <p:pic>
        <p:nvPicPr>
          <p:cNvPr id="49" name="Picture 48" descr="lock.png"/>
          <p:cNvPicPr>
            <a:picLocks noChangeAspect="1"/>
          </p:cNvPicPr>
          <p:nvPr/>
        </p:nvPicPr>
        <p:blipFill>
          <a:blip r:embed="rId5"/>
          <a:stretch>
            <a:fillRect/>
          </a:stretch>
        </p:blipFill>
        <p:spPr>
          <a:xfrm>
            <a:off x="11197720" y="1389951"/>
            <a:ext cx="134549" cy="195707"/>
          </a:xfrm>
          <a:prstGeom prst="rect">
            <a:avLst/>
          </a:prstGeom>
        </p:spPr>
      </p:pic>
      <p:sp>
        <p:nvSpPr>
          <p:cNvPr id="50" name="TextBox 49"/>
          <p:cNvSpPr txBox="1"/>
          <p:nvPr/>
        </p:nvSpPr>
        <p:spPr>
          <a:xfrm>
            <a:off x="11372829"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1" name="TextBox 50"/>
          <p:cNvSpPr txBox="1"/>
          <p:nvPr/>
        </p:nvSpPr>
        <p:spPr>
          <a:xfrm>
            <a:off x="7239000" y="1575435"/>
            <a:ext cx="4388668" cy="194310"/>
          </a:xfrm>
          <a:prstGeom prst="rect">
            <a:avLst/>
          </a:prstGeom>
          <a:noFill/>
        </p:spPr>
        <p:txBody>
          <a:bodyPr wrap="none" lIns="0" rIns="0" tIns="0" bIns="0">
            <a:spAutoFit/>
          </a:bodyPr>
          <a:lstStyle/>
          <a:p>
            <a:r>
              <a:rPr sz="1150" b="0">
                <a:solidFill>
                  <a:srgbClr val="2E2E2E"/>
                </a:solidFill>
                <a:latin typeface="Calibri"/>
              </a:rPr>
              <a:t>higher value than Europe in 2036. Among ceramide sunscreen by region,</a:t>
            </a:r>
          </a:p>
        </p:txBody>
      </p:sp>
      <p:sp>
        <p:nvSpPr>
          <p:cNvPr id="52" name="TextBox 51"/>
          <p:cNvSpPr txBox="1"/>
          <p:nvPr/>
        </p:nvSpPr>
        <p:spPr>
          <a:xfrm>
            <a:off x="7239000" y="1750695"/>
            <a:ext cx="3814434" cy="194310"/>
          </a:xfrm>
          <a:prstGeom prst="rect">
            <a:avLst/>
          </a:prstGeom>
          <a:noFill/>
        </p:spPr>
        <p:txBody>
          <a:bodyPr wrap="none" lIns="0" rIns="0" tIns="0" bIns="0">
            <a:spAutoFit/>
          </a:bodyPr>
          <a:lstStyle/>
          <a:p>
            <a:r>
              <a:rPr sz="1150" b="0">
                <a:solidFill>
                  <a:srgbClr val="2E2E2E"/>
                </a:solidFill>
                <a:latin typeface="Calibri"/>
              </a:rPr>
              <a:t>South Asia &amp; Pacific is expected to witness the highest CAGR of</a:t>
            </a:r>
          </a:p>
        </p:txBody>
      </p:sp>
      <p:pic>
        <p:nvPicPr>
          <p:cNvPr id="53" name="Picture 52" descr="lock.png"/>
          <p:cNvPicPr>
            <a:picLocks noChangeAspect="1"/>
          </p:cNvPicPr>
          <p:nvPr/>
        </p:nvPicPr>
        <p:blipFill>
          <a:blip r:embed="rId5"/>
          <a:stretch>
            <a:fillRect/>
          </a:stretch>
        </p:blipFill>
        <p:spPr>
          <a:xfrm>
            <a:off x="11002588" y="1740471"/>
            <a:ext cx="134549" cy="195707"/>
          </a:xfrm>
          <a:prstGeom prst="rect">
            <a:avLst/>
          </a:prstGeom>
        </p:spPr>
      </p:pic>
      <p:sp>
        <p:nvSpPr>
          <p:cNvPr id="54" name="TextBox 53"/>
          <p:cNvSpPr txBox="1"/>
          <p:nvPr/>
        </p:nvSpPr>
        <p:spPr>
          <a:xfrm>
            <a:off x="11177697"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5" name="TextBox 54"/>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56" name="TextBox 55"/>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57" name="TextBox 56"/>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58" name="Picture 57" descr="lock.png"/>
          <p:cNvPicPr>
            <a:picLocks noChangeAspect="1"/>
          </p:cNvPicPr>
          <p:nvPr/>
        </p:nvPicPr>
        <p:blipFill>
          <a:blip r:embed="rId5"/>
          <a:stretch>
            <a:fillRect/>
          </a:stretch>
        </p:blipFill>
        <p:spPr>
          <a:xfrm>
            <a:off x="8106708" y="2318829"/>
            <a:ext cx="134549" cy="195707"/>
          </a:xfrm>
          <a:prstGeom prst="rect">
            <a:avLst/>
          </a:prstGeom>
        </p:spPr>
      </p:pic>
      <p:sp>
        <p:nvSpPr>
          <p:cNvPr id="59" name="TextBox 58"/>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0" name="Picture 59" descr="lock.png"/>
          <p:cNvPicPr>
            <a:picLocks noChangeAspect="1"/>
          </p:cNvPicPr>
          <p:nvPr/>
        </p:nvPicPr>
        <p:blipFill>
          <a:blip r:embed="rId5"/>
          <a:stretch>
            <a:fillRect/>
          </a:stretch>
        </p:blipFill>
        <p:spPr>
          <a:xfrm>
            <a:off x="9676961" y="2318829"/>
            <a:ext cx="134549" cy="195707"/>
          </a:xfrm>
          <a:prstGeom prst="rect">
            <a:avLst/>
          </a:prstGeom>
        </p:spPr>
      </p:pic>
      <p:sp>
        <p:nvSpPr>
          <p:cNvPr id="61" name="TextBox 60"/>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Share Analysis, By Region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(Units)</a:t>
            </a:r>
          </a:p>
        </p:txBody>
      </p:sp>
      <p:graphicFrame>
        <p:nvGraphicFramePr>
          <p:cNvPr id="12" name="Table 11"/>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1409645"/>
                <a:gridCol w="616327"/>
                <a:gridCol w="616327"/>
                <a:gridCol w="616327"/>
                <a:gridCol w="616327"/>
                <a:gridCol w="616327"/>
                <a:gridCol w="616327"/>
                <a:gridCol w="616327"/>
                <a:gridCol w="616327"/>
                <a:gridCol w="616327"/>
                <a:gridCol w="616327"/>
                <a:gridCol w="616327"/>
                <a:gridCol w="616327"/>
                <a:gridCol w="616327"/>
                <a:gridCol w="616327"/>
                <a:gridCol w="616327"/>
                <a:gridCol w="616327"/>
                <a:gridCol w="616327"/>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14134" y="2080450"/>
            <a:ext cx="366712" cy="533399"/>
          </a:xfrm>
          <a:prstGeom prst="rect">
            <a:avLst/>
          </a:prstGeom>
        </p:spPr>
      </p:pic>
      <p:sp>
        <p:nvSpPr>
          <p:cNvPr id="20" name="TextBox 19"/>
          <p:cNvSpPr txBox="1"/>
          <p:nvPr/>
        </p:nvSpPr>
        <p:spPr>
          <a:xfrm>
            <a:off x="276225" y="3971925"/>
            <a:ext cx="4309367" cy="194310"/>
          </a:xfrm>
          <a:prstGeom prst="rect">
            <a:avLst/>
          </a:prstGeom>
          <a:noFill/>
        </p:spPr>
        <p:txBody>
          <a:bodyPr wrap="none" lIns="0" rIns="0" tIns="0" bIns="0">
            <a:spAutoFit/>
          </a:bodyPr>
          <a:lstStyle/>
          <a:p>
            <a:r>
              <a:rPr sz="1150" b="0">
                <a:solidFill>
                  <a:srgbClr val="2E2E2E"/>
                </a:solidFill>
                <a:latin typeface="Calibri"/>
              </a:rPr>
              <a:t>South Asia &amp; Pacific ceramide sunscreen market is projected to register</a:t>
            </a:r>
          </a:p>
        </p:txBody>
      </p:sp>
      <p:pic>
        <p:nvPicPr>
          <p:cNvPr id="21" name="Picture 20" descr="lock.png"/>
          <p:cNvPicPr>
            <a:picLocks noChangeAspect="1"/>
          </p:cNvPicPr>
          <p:nvPr/>
        </p:nvPicPr>
        <p:blipFill>
          <a:blip r:embed="rId4"/>
          <a:stretch>
            <a:fillRect/>
          </a:stretch>
        </p:blipFill>
        <p:spPr>
          <a:xfrm>
            <a:off x="4534746" y="3961701"/>
            <a:ext cx="134549" cy="195707"/>
          </a:xfrm>
          <a:prstGeom prst="rect">
            <a:avLst/>
          </a:prstGeom>
        </p:spPr>
      </p:pic>
      <p:sp>
        <p:nvSpPr>
          <p:cNvPr id="22" name="TextBox 21"/>
          <p:cNvSpPr txBox="1"/>
          <p:nvPr/>
        </p:nvSpPr>
        <p:spPr>
          <a:xfrm>
            <a:off x="4709856" y="3971925"/>
            <a:ext cx="7171890" cy="194310"/>
          </a:xfrm>
          <a:prstGeom prst="rect">
            <a:avLst/>
          </a:prstGeom>
          <a:noFill/>
        </p:spPr>
        <p:txBody>
          <a:bodyPr wrap="none" lIns="0" rIns="0" tIns="0" bIns="0">
            <a:spAutoFit/>
          </a:bodyPr>
          <a:lstStyle/>
          <a:p>
            <a:r>
              <a:rPr sz="1150" b="0">
                <a:solidFill>
                  <a:srgbClr val="2E2E2E"/>
                </a:solidFill>
                <a:latin typeface="Calibri"/>
              </a:rPr>
              <a:t>X higher volume than Europe in 2036. Among ceramide sunscreen by region, South Asia &amp; Pacific is expected to witness</a:t>
            </a:r>
          </a:p>
        </p:txBody>
      </p:sp>
      <p:sp>
        <p:nvSpPr>
          <p:cNvPr id="23" name="TextBox 22"/>
          <p:cNvSpPr txBox="1"/>
          <p:nvPr/>
        </p:nvSpPr>
        <p:spPr>
          <a:xfrm>
            <a:off x="276225" y="414718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4136961"/>
            <a:ext cx="134549" cy="195707"/>
          </a:xfrm>
          <a:prstGeom prst="rect">
            <a:avLst/>
          </a:prstGeom>
        </p:spPr>
      </p:pic>
      <p:sp>
        <p:nvSpPr>
          <p:cNvPr id="25" name="TextBox 24"/>
          <p:cNvSpPr txBox="1"/>
          <p:nvPr/>
        </p:nvSpPr>
        <p:spPr>
          <a:xfrm>
            <a:off x="166446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7" name="Picture 26" descr="lock.png"/>
          <p:cNvPicPr>
            <a:picLocks noChangeAspect="1"/>
          </p:cNvPicPr>
          <p:nvPr/>
        </p:nvPicPr>
        <p:blipFill>
          <a:blip r:embed="rId4"/>
          <a:stretch>
            <a:fillRect/>
          </a:stretch>
        </p:blipFill>
        <p:spPr>
          <a:xfrm>
            <a:off x="6271943" y="4364799"/>
            <a:ext cx="134549" cy="195707"/>
          </a:xfrm>
          <a:prstGeom prst="rect">
            <a:avLst/>
          </a:prstGeom>
        </p:spPr>
      </p:pic>
      <p:sp>
        <p:nvSpPr>
          <p:cNvPr id="28" name="TextBox 27"/>
          <p:cNvSpPr txBox="1"/>
          <p:nvPr/>
        </p:nvSpPr>
        <p:spPr>
          <a:xfrm>
            <a:off x="6447052"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2195" y="4364799"/>
            <a:ext cx="134549" cy="195707"/>
          </a:xfrm>
          <a:prstGeom prst="rect">
            <a:avLst/>
          </a:prstGeom>
        </p:spPr>
      </p:pic>
      <p:sp>
        <p:nvSpPr>
          <p:cNvPr id="30" name="TextBox 29"/>
          <p:cNvSpPr txBox="1"/>
          <p:nvPr/>
        </p:nvSpPr>
        <p:spPr>
          <a:xfrm>
            <a:off x="8017304" y="4375022"/>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1" name="Picture 30" descr="lock.png"/>
          <p:cNvPicPr>
            <a:picLocks noChangeAspect="1"/>
          </p:cNvPicPr>
          <p:nvPr/>
        </p:nvPicPr>
        <p:blipFill>
          <a:blip r:embed="rId4"/>
          <a:stretch>
            <a:fillRect/>
          </a:stretch>
        </p:blipFill>
        <p:spPr>
          <a:xfrm>
            <a:off x="10953104" y="4364799"/>
            <a:ext cx="134549" cy="195707"/>
          </a:xfrm>
          <a:prstGeom prst="rect">
            <a:avLst/>
          </a:prstGeom>
        </p:spPr>
      </p:pic>
      <p:sp>
        <p:nvSpPr>
          <p:cNvPr id="32" name="TextBox 31"/>
          <p:cNvSpPr txBox="1"/>
          <p:nvPr/>
        </p:nvSpPr>
        <p:spPr>
          <a:xfrm>
            <a:off x="11128213" y="4375022"/>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3" name="TextBox 32"/>
          <p:cNvSpPr txBox="1"/>
          <p:nvPr/>
        </p:nvSpPr>
        <p:spPr>
          <a:xfrm>
            <a:off x="276225" y="4550282"/>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4" name="Picture 33" descr="lock.png"/>
          <p:cNvPicPr>
            <a:picLocks noChangeAspect="1"/>
          </p:cNvPicPr>
          <p:nvPr/>
        </p:nvPicPr>
        <p:blipFill>
          <a:blip r:embed="rId4"/>
          <a:stretch>
            <a:fillRect/>
          </a:stretch>
        </p:blipFill>
        <p:spPr>
          <a:xfrm>
            <a:off x="2608427" y="4540059"/>
            <a:ext cx="134549" cy="195707"/>
          </a:xfrm>
          <a:prstGeom prst="rect">
            <a:avLst/>
          </a:prstGeom>
        </p:spPr>
      </p:pic>
      <p:sp>
        <p:nvSpPr>
          <p:cNvPr id="35" name="TextBox 34"/>
          <p:cNvSpPr txBox="1"/>
          <p:nvPr/>
        </p:nvSpPr>
        <p:spPr>
          <a:xfrm>
            <a:off x="2783536"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46995" y="2080450"/>
            <a:ext cx="366712" cy="533400"/>
          </a:xfrm>
          <a:prstGeom prst="rect">
            <a:avLst/>
          </a:prstGeom>
        </p:spPr>
      </p:pic>
      <p:sp>
        <p:nvSpPr>
          <p:cNvPr id="20" name="TextBox 19"/>
          <p:cNvSpPr txBox="1"/>
          <p:nvPr/>
        </p:nvSpPr>
        <p:spPr>
          <a:xfrm>
            <a:off x="276225" y="3971925"/>
            <a:ext cx="4009566" cy="194310"/>
          </a:xfrm>
          <a:prstGeom prst="rect">
            <a:avLst/>
          </a:prstGeom>
          <a:noFill/>
        </p:spPr>
        <p:txBody>
          <a:bodyPr wrap="none" lIns="0" rIns="0" tIns="0" bIns="0">
            <a:spAutoFit/>
          </a:bodyPr>
          <a:lstStyle/>
          <a:p>
            <a:r>
              <a:rPr sz="1150" b="0">
                <a:solidFill>
                  <a:srgbClr val="2E2E2E"/>
                </a:solidFill>
                <a:latin typeface="Calibri"/>
              </a:rPr>
              <a:t>North America ceramide sunscreen market is projected to register</a:t>
            </a:r>
          </a:p>
        </p:txBody>
      </p:sp>
      <p:pic>
        <p:nvPicPr>
          <p:cNvPr id="21" name="Picture 20" descr="lock.png"/>
          <p:cNvPicPr>
            <a:picLocks noChangeAspect="1"/>
          </p:cNvPicPr>
          <p:nvPr/>
        </p:nvPicPr>
        <p:blipFill>
          <a:blip r:embed="rId4"/>
          <a:stretch>
            <a:fillRect/>
          </a:stretch>
        </p:blipFill>
        <p:spPr>
          <a:xfrm>
            <a:off x="4234945" y="3961701"/>
            <a:ext cx="134549" cy="195707"/>
          </a:xfrm>
          <a:prstGeom prst="rect">
            <a:avLst/>
          </a:prstGeom>
        </p:spPr>
      </p:pic>
      <p:sp>
        <p:nvSpPr>
          <p:cNvPr id="22" name="TextBox 21"/>
          <p:cNvSpPr txBox="1"/>
          <p:nvPr/>
        </p:nvSpPr>
        <p:spPr>
          <a:xfrm>
            <a:off x="4410054" y="3971925"/>
            <a:ext cx="7279716" cy="194310"/>
          </a:xfrm>
          <a:prstGeom prst="rect">
            <a:avLst/>
          </a:prstGeom>
          <a:noFill/>
        </p:spPr>
        <p:txBody>
          <a:bodyPr wrap="none" lIns="0" rIns="0" tIns="0" bIns="0">
            <a:spAutoFit/>
          </a:bodyPr>
          <a:lstStyle/>
          <a:p>
            <a:r>
              <a:rPr sz="1150" b="0">
                <a:solidFill>
                  <a:srgbClr val="2E2E2E"/>
                </a:solidFill>
                <a:latin typeface="Calibri"/>
              </a:rPr>
              <a:t>X higher value than Europe in 2036. Among ceramide sunscreen by region, South Asia &amp; Pacific is expected to witness the</a:t>
            </a:r>
          </a:p>
        </p:txBody>
      </p:sp>
      <p:sp>
        <p:nvSpPr>
          <p:cNvPr id="23" name="TextBox 22"/>
          <p:cNvSpPr txBox="1"/>
          <p:nvPr/>
        </p:nvSpPr>
        <p:spPr>
          <a:xfrm>
            <a:off x="276225" y="414718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4" name="Picture 23" descr="lock.png"/>
          <p:cNvPicPr>
            <a:picLocks noChangeAspect="1"/>
          </p:cNvPicPr>
          <p:nvPr/>
        </p:nvPicPr>
        <p:blipFill>
          <a:blip r:embed="rId4"/>
          <a:stretch>
            <a:fillRect/>
          </a:stretch>
        </p:blipFill>
        <p:spPr>
          <a:xfrm>
            <a:off x="1257732" y="4136961"/>
            <a:ext cx="134549" cy="195707"/>
          </a:xfrm>
          <a:prstGeom prst="rect">
            <a:avLst/>
          </a:prstGeom>
        </p:spPr>
      </p:pic>
      <p:sp>
        <p:nvSpPr>
          <p:cNvPr id="25" name="TextBox 24"/>
          <p:cNvSpPr txBox="1"/>
          <p:nvPr/>
        </p:nvSpPr>
        <p:spPr>
          <a:xfrm>
            <a:off x="1432841"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7" name="Picture 26" descr="lock.png"/>
          <p:cNvPicPr>
            <a:picLocks noChangeAspect="1"/>
          </p:cNvPicPr>
          <p:nvPr/>
        </p:nvPicPr>
        <p:blipFill>
          <a:blip r:embed="rId4"/>
          <a:stretch>
            <a:fillRect/>
          </a:stretch>
        </p:blipFill>
        <p:spPr>
          <a:xfrm>
            <a:off x="5767043" y="4364799"/>
            <a:ext cx="134549" cy="195707"/>
          </a:xfrm>
          <a:prstGeom prst="rect">
            <a:avLst/>
          </a:prstGeom>
        </p:spPr>
      </p:pic>
      <p:sp>
        <p:nvSpPr>
          <p:cNvPr id="28" name="TextBox 27"/>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337296" y="4364799"/>
            <a:ext cx="134549" cy="195707"/>
          </a:xfrm>
          <a:prstGeom prst="rect">
            <a:avLst/>
          </a:prstGeom>
        </p:spPr>
      </p:pic>
      <p:sp>
        <p:nvSpPr>
          <p:cNvPr id="30" name="TextBox 29"/>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(Units)</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40315E"/>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008189"/>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3" name="TextBox 22"/>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4" name="TextBox 23"/>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2" name="Rectangle 11"/>
          <p:cNvSpPr/>
          <p:nvPr/>
        </p:nvSpPr>
        <p:spPr>
          <a:xfrm>
            <a:off x="238125" y="1266825"/>
            <a:ext cx="3210973"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3449098" y="1266825"/>
            <a:ext cx="3403309" cy="2887122"/>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4" name="Rectangle 13"/>
          <p:cNvSpPr/>
          <p:nvPr/>
        </p:nvSpPr>
        <p:spPr>
          <a:xfrm>
            <a:off x="3449098" y="4153947"/>
            <a:ext cx="3403309" cy="2418303"/>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5" name="Rectangle 14"/>
          <p:cNvSpPr/>
          <p:nvPr/>
        </p:nvSpPr>
        <p:spPr>
          <a:xfrm>
            <a:off x="6852407" y="1266825"/>
            <a:ext cx="2895418" cy="2186056"/>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6" name="Rectangle 15"/>
          <p:cNvSpPr/>
          <p:nvPr/>
        </p:nvSpPr>
        <p:spPr>
          <a:xfrm>
            <a:off x="9747825" y="1266825"/>
            <a:ext cx="2206050" cy="2186056"/>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7" name="Rectangle 16"/>
          <p:cNvSpPr/>
          <p:nvPr/>
        </p:nvSpPr>
        <p:spPr>
          <a:xfrm>
            <a:off x="6852407" y="3452881"/>
            <a:ext cx="2561694" cy="1778164"/>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8" name="Rectangle 17"/>
          <p:cNvSpPr/>
          <p:nvPr/>
        </p:nvSpPr>
        <p:spPr>
          <a:xfrm>
            <a:off x="6852407" y="5231046"/>
            <a:ext cx="2561694" cy="1341204"/>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9" name="Rectangle 18"/>
          <p:cNvSpPr/>
          <p:nvPr/>
        </p:nvSpPr>
        <p:spPr>
          <a:xfrm>
            <a:off x="9414101" y="3452881"/>
            <a:ext cx="1281056" cy="2124659"/>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0" name="Rectangle 19"/>
          <p:cNvSpPr/>
          <p:nvPr/>
        </p:nvSpPr>
        <p:spPr>
          <a:xfrm>
            <a:off x="10695157" y="3452881"/>
            <a:ext cx="1258718" cy="2124659"/>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9414101" y="5577541"/>
            <a:ext cx="2539774" cy="994709"/>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UAE</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1689173"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4996314" y="2710386"/>
            <a:ext cx="308877" cy="449275"/>
          </a:xfrm>
          <a:prstGeom prst="rect">
            <a:avLst/>
          </a:prstGeom>
        </p:spPr>
      </p:pic>
      <p:pic>
        <p:nvPicPr>
          <p:cNvPr id="25" name="Picture 24" descr="lock.png"/>
          <p:cNvPicPr>
            <a:picLocks noChangeAspect="1"/>
          </p:cNvPicPr>
          <p:nvPr/>
        </p:nvPicPr>
        <p:blipFill>
          <a:blip r:embed="rId4"/>
          <a:stretch>
            <a:fillRect/>
          </a:stretch>
        </p:blipFill>
        <p:spPr>
          <a:xfrm>
            <a:off x="4996314" y="5363098"/>
            <a:ext cx="308877" cy="449275"/>
          </a:xfrm>
          <a:prstGeom prst="rect">
            <a:avLst/>
          </a:prstGeom>
        </p:spPr>
      </p:pic>
      <p:pic>
        <p:nvPicPr>
          <p:cNvPr id="26" name="Picture 25" descr="lock.png"/>
          <p:cNvPicPr>
            <a:picLocks noChangeAspect="1"/>
          </p:cNvPicPr>
          <p:nvPr/>
        </p:nvPicPr>
        <p:blipFill>
          <a:blip r:embed="rId4"/>
          <a:stretch>
            <a:fillRect/>
          </a:stretch>
        </p:blipFill>
        <p:spPr>
          <a:xfrm>
            <a:off x="8145677" y="2359853"/>
            <a:ext cx="308877" cy="449275"/>
          </a:xfrm>
          <a:prstGeom prst="rect">
            <a:avLst/>
          </a:prstGeom>
        </p:spPr>
      </p:pic>
      <p:pic>
        <p:nvPicPr>
          <p:cNvPr id="27" name="Picture 26" descr="lock.png"/>
          <p:cNvPicPr>
            <a:picLocks noChangeAspect="1"/>
          </p:cNvPicPr>
          <p:nvPr/>
        </p:nvPicPr>
        <p:blipFill>
          <a:blip r:embed="rId4"/>
          <a:stretch>
            <a:fillRect/>
          </a:stretch>
        </p:blipFill>
        <p:spPr>
          <a:xfrm>
            <a:off x="10696411" y="2359853"/>
            <a:ext cx="308877" cy="449275"/>
          </a:xfrm>
          <a:prstGeom prst="rect">
            <a:avLst/>
          </a:prstGeom>
        </p:spPr>
      </p:pic>
      <p:pic>
        <p:nvPicPr>
          <p:cNvPr id="28" name="Picture 27" descr="lock.png"/>
          <p:cNvPicPr>
            <a:picLocks noChangeAspect="1"/>
          </p:cNvPicPr>
          <p:nvPr/>
        </p:nvPicPr>
        <p:blipFill>
          <a:blip r:embed="rId4"/>
          <a:stretch>
            <a:fillRect/>
          </a:stretch>
        </p:blipFill>
        <p:spPr>
          <a:xfrm>
            <a:off x="7978815" y="4341963"/>
            <a:ext cx="308877" cy="449275"/>
          </a:xfrm>
          <a:prstGeom prst="rect">
            <a:avLst/>
          </a:prstGeom>
        </p:spPr>
      </p:pic>
      <p:pic>
        <p:nvPicPr>
          <p:cNvPr id="29" name="Picture 28" descr="lock.png"/>
          <p:cNvPicPr>
            <a:picLocks noChangeAspect="1"/>
          </p:cNvPicPr>
          <p:nvPr/>
        </p:nvPicPr>
        <p:blipFill>
          <a:blip r:embed="rId4"/>
          <a:stretch>
            <a:fillRect/>
          </a:stretch>
        </p:blipFill>
        <p:spPr>
          <a:xfrm>
            <a:off x="7978815" y="5901648"/>
            <a:ext cx="308877" cy="449275"/>
          </a:xfrm>
          <a:prstGeom prst="rect">
            <a:avLst/>
          </a:prstGeom>
        </p:spPr>
      </p:pic>
      <p:pic>
        <p:nvPicPr>
          <p:cNvPr id="30" name="Picture 29" descr="lock.png"/>
          <p:cNvPicPr>
            <a:picLocks noChangeAspect="1"/>
          </p:cNvPicPr>
          <p:nvPr/>
        </p:nvPicPr>
        <p:blipFill>
          <a:blip r:embed="rId4"/>
          <a:stretch>
            <a:fillRect/>
          </a:stretch>
        </p:blipFill>
        <p:spPr>
          <a:xfrm>
            <a:off x="9900190" y="4515210"/>
            <a:ext cx="308877" cy="449275"/>
          </a:xfrm>
          <a:prstGeom prst="rect">
            <a:avLst/>
          </a:prstGeom>
        </p:spPr>
      </p:pic>
      <p:pic>
        <p:nvPicPr>
          <p:cNvPr id="31" name="Picture 30" descr="lock.png"/>
          <p:cNvPicPr>
            <a:picLocks noChangeAspect="1"/>
          </p:cNvPicPr>
          <p:nvPr/>
        </p:nvPicPr>
        <p:blipFill>
          <a:blip r:embed="rId4"/>
          <a:stretch>
            <a:fillRect/>
          </a:stretch>
        </p:blipFill>
        <p:spPr>
          <a:xfrm>
            <a:off x="11170077" y="4515210"/>
            <a:ext cx="308877" cy="449275"/>
          </a:xfrm>
          <a:prstGeom prst="rect">
            <a:avLst/>
          </a:prstGeom>
        </p:spPr>
      </p:pic>
      <p:pic>
        <p:nvPicPr>
          <p:cNvPr id="32" name="Picture 31" descr="lock.png"/>
          <p:cNvPicPr>
            <a:picLocks noChangeAspect="1"/>
          </p:cNvPicPr>
          <p:nvPr/>
        </p:nvPicPr>
        <p:blipFill>
          <a:blip r:embed="rId4"/>
          <a:stretch>
            <a:fillRect/>
          </a:stretch>
        </p:blipFill>
        <p:spPr>
          <a:xfrm>
            <a:off x="10529549" y="6074895"/>
            <a:ext cx="308877" cy="449275"/>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176847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11137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2797175"/>
            <a:ext cx="8458200" cy="32448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SPF Rating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Ingredient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Pack Size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Price Tier</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Product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Mineral Ceramide Sunscreen</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Hybrid Ceramide Sunscreen</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Chemical Ceramide Sunscreen</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1_021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2_225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8_1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530_0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1_120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7_8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198_8_605E5C.png"/>
          <p:cNvPicPr>
            <a:picLocks noChangeAspect="1"/>
          </p:cNvPicPr>
          <p:nvPr/>
        </p:nvPicPr>
        <p:blipFill>
          <a:blip r:embed="rId10"/>
          <a:stretch>
            <a:fillRect/>
          </a:stretch>
        </p:blipFill>
        <p:spPr>
          <a:xfrm>
            <a:off x="9641511" y="2286582"/>
            <a:ext cx="1195728" cy="361950"/>
          </a:xfrm>
          <a:prstGeom prst="rect">
            <a:avLst/>
          </a:prstGeom>
        </p:spPr>
      </p:pic>
      <p:pic>
        <p:nvPicPr>
          <p:cNvPr id="63" name="Picture 62" descr="435_6_605E5C.png"/>
          <p:cNvPicPr>
            <a:picLocks noChangeAspect="1"/>
          </p:cNvPicPr>
          <p:nvPr/>
        </p:nvPicPr>
        <p:blipFill>
          <a:blip r:embed="rId11"/>
          <a:stretch>
            <a:fillRect/>
          </a:stretch>
        </p:blipFill>
        <p:spPr>
          <a:xfrm>
            <a:off x="9641511" y="2779432"/>
            <a:ext cx="1195728" cy="361950"/>
          </a:xfrm>
          <a:prstGeom prst="rect">
            <a:avLst/>
          </a:prstGeom>
        </p:spPr>
      </p:pic>
      <p:pic>
        <p:nvPicPr>
          <p:cNvPr id="64" name="Picture 63" descr="8_2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621086" cy="186689"/>
          </a:xfrm>
          <a:prstGeom prst="rect">
            <a:avLst/>
          </a:prstGeom>
          <a:noFill/>
        </p:spPr>
        <p:txBody>
          <a:bodyPr wrap="none" lIns="0" rIns="0" tIns="0" bIns="0">
            <a:spAutoFit/>
          </a:bodyPr>
          <a:lstStyle/>
          <a:p>
            <a:r>
              <a:rPr sz="1100" b="0">
                <a:solidFill>
                  <a:srgbClr val="2E2E2E"/>
                </a:solidFill>
                <a:latin typeface="Calibri"/>
              </a:rPr>
              <a:t>Among ceramide sunscreen by product type,</a:t>
            </a:r>
          </a:p>
        </p:txBody>
      </p:sp>
      <p:sp>
        <p:nvSpPr>
          <p:cNvPr id="69" name="TextBox 68"/>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chemical ceramide sunscreen segment is expected</a:t>
            </a:r>
          </a:p>
        </p:txBody>
      </p:sp>
      <p:sp>
        <p:nvSpPr>
          <p:cNvPr id="70" name="TextBox 69"/>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71" name="Picture 70" descr="lock.png"/>
          <p:cNvPicPr>
            <a:picLocks noChangeAspect="1"/>
          </p:cNvPicPr>
          <p:nvPr/>
        </p:nvPicPr>
        <p:blipFill>
          <a:blip r:embed="rId13"/>
          <a:stretch>
            <a:fillRect/>
          </a:stretch>
        </p:blipFill>
        <p:spPr>
          <a:xfrm>
            <a:off x="2261170" y="4554938"/>
            <a:ext cx="128699" cy="187198"/>
          </a:xfrm>
          <a:prstGeom prst="rect">
            <a:avLst/>
          </a:prstGeom>
        </p:spPr>
      </p:pic>
      <p:sp>
        <p:nvSpPr>
          <p:cNvPr id="72" name="TextBox 71"/>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73" name="TextBox 72"/>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forecast period. In terms of value share by product</a:t>
            </a:r>
          </a:p>
        </p:txBody>
      </p:sp>
      <p:sp>
        <p:nvSpPr>
          <p:cNvPr id="74" name="TextBox 73"/>
          <p:cNvSpPr txBox="1"/>
          <p:nvPr/>
        </p:nvSpPr>
        <p:spPr>
          <a:xfrm>
            <a:off x="485775" y="4899997"/>
            <a:ext cx="2864742" cy="186689"/>
          </a:xfrm>
          <a:prstGeom prst="rect">
            <a:avLst/>
          </a:prstGeom>
          <a:noFill/>
        </p:spPr>
        <p:txBody>
          <a:bodyPr wrap="none" lIns="0" rIns="0" tIns="0" bIns="0">
            <a:spAutoFit/>
          </a:bodyPr>
          <a:lstStyle/>
          <a:p>
            <a:r>
              <a:rPr sz="1100" b="0">
                <a:solidFill>
                  <a:srgbClr val="2E2E2E"/>
                </a:solidFill>
                <a:latin typeface="Calibri"/>
              </a:rPr>
              <a:t>type, the mineral ceramide sunscreen segment is</a:t>
            </a:r>
          </a:p>
        </p:txBody>
      </p:sp>
      <p:sp>
        <p:nvSpPr>
          <p:cNvPr id="75" name="TextBox 74"/>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76" name="Picture 75" descr="lock.png"/>
          <p:cNvPicPr>
            <a:picLocks noChangeAspect="1"/>
          </p:cNvPicPr>
          <p:nvPr/>
        </p:nvPicPr>
        <p:blipFill>
          <a:blip r:embed="rId13"/>
          <a:stretch>
            <a:fillRect/>
          </a:stretch>
        </p:blipFill>
        <p:spPr>
          <a:xfrm>
            <a:off x="2900479" y="5057858"/>
            <a:ext cx="128699" cy="187198"/>
          </a:xfrm>
          <a:prstGeom prst="rect">
            <a:avLst/>
          </a:prstGeom>
        </p:spPr>
      </p:pic>
      <p:sp>
        <p:nvSpPr>
          <p:cNvPr id="77" name="TextBox 76"/>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78" name="TextBox 7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79" name="Picture 78" descr="lock.png"/>
          <p:cNvPicPr>
            <a:picLocks noChangeAspect="1"/>
          </p:cNvPicPr>
          <p:nvPr/>
        </p:nvPicPr>
        <p:blipFill>
          <a:blip r:embed="rId13"/>
          <a:stretch>
            <a:fillRect/>
          </a:stretch>
        </p:blipFill>
        <p:spPr>
          <a:xfrm>
            <a:off x="1576057" y="5225498"/>
            <a:ext cx="128699" cy="187198"/>
          </a:xfrm>
          <a:prstGeom prst="rect">
            <a:avLst/>
          </a:prstGeom>
        </p:spPr>
      </p:pic>
      <p:sp>
        <p:nvSpPr>
          <p:cNvPr id="80" name="TextBox 7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911127" cy="186689"/>
          </a:xfrm>
          <a:prstGeom prst="rect">
            <a:avLst/>
          </a:prstGeom>
          <a:noFill/>
        </p:spPr>
        <p:txBody>
          <a:bodyPr wrap="none" lIns="0" rIns="0" tIns="0" bIns="0">
            <a:spAutoFit/>
          </a:bodyPr>
          <a:lstStyle/>
          <a:p>
            <a:r>
              <a:rPr sz="1100" b="0">
                <a:solidFill>
                  <a:srgbClr val="2E2E2E"/>
                </a:solidFill>
                <a:latin typeface="Calibri"/>
              </a:rPr>
              <a:t>Mineral ceramide sunscreen segment is projected</a:t>
            </a:r>
          </a:p>
        </p:txBody>
      </p:sp>
      <p:sp>
        <p:nvSpPr>
          <p:cNvPr id="82" name="TextBox 81"/>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83" name="Picture 82" descr="lock.png"/>
          <p:cNvPicPr>
            <a:picLocks noChangeAspect="1"/>
          </p:cNvPicPr>
          <p:nvPr/>
        </p:nvPicPr>
        <p:blipFill>
          <a:blip r:embed="rId13"/>
          <a:stretch>
            <a:fillRect/>
          </a:stretch>
        </p:blipFill>
        <p:spPr>
          <a:xfrm>
            <a:off x="1098567" y="5611070"/>
            <a:ext cx="128699" cy="187198"/>
          </a:xfrm>
          <a:prstGeom prst="rect">
            <a:avLst/>
          </a:prstGeom>
        </p:spPr>
      </p:pic>
      <p:sp>
        <p:nvSpPr>
          <p:cNvPr id="84" name="TextBox 83"/>
          <p:cNvSpPr txBox="1"/>
          <p:nvPr/>
        </p:nvSpPr>
        <p:spPr>
          <a:xfrm>
            <a:off x="1266063" y="5620849"/>
            <a:ext cx="2131590" cy="186689"/>
          </a:xfrm>
          <a:prstGeom prst="rect">
            <a:avLst/>
          </a:prstGeom>
          <a:noFill/>
        </p:spPr>
        <p:txBody>
          <a:bodyPr wrap="none" lIns="0" rIns="0" tIns="0" bIns="0">
            <a:spAutoFit/>
          </a:bodyPr>
          <a:lstStyle/>
          <a:p>
            <a:r>
              <a:rPr sz="1100" b="0">
                <a:solidFill>
                  <a:srgbClr val="2E2E2E"/>
                </a:solidFill>
                <a:latin typeface="Calibri"/>
              </a:rPr>
              <a:t>X higher value than hybrid ceramide</a:t>
            </a:r>
          </a:p>
        </p:txBody>
      </p:sp>
      <p:sp>
        <p:nvSpPr>
          <p:cNvPr id="85" name="TextBox 84"/>
          <p:cNvSpPr txBox="1"/>
          <p:nvPr/>
        </p:nvSpPr>
        <p:spPr>
          <a:xfrm>
            <a:off x="485775" y="5788489"/>
            <a:ext cx="1663650" cy="186689"/>
          </a:xfrm>
          <a:prstGeom prst="rect">
            <a:avLst/>
          </a:prstGeom>
          <a:noFill/>
        </p:spPr>
        <p:txBody>
          <a:bodyPr wrap="none" lIns="0" rIns="0" tIns="0" bIns="0">
            <a:spAutoFit/>
          </a:bodyPr>
          <a:lstStyle/>
          <a:p>
            <a:r>
              <a:rPr sz="1100" b="0">
                <a:solidFill>
                  <a:srgbClr val="2E2E2E"/>
                </a:solidFill>
                <a:latin typeface="Calibri"/>
              </a:rPr>
              <a:t>sunscreen segment in 2036.</a:t>
            </a:r>
          </a:p>
        </p:txBody>
      </p:sp>
      <p:sp>
        <p:nvSpPr>
          <p:cNvPr id="86" name="TextBox 85"/>
          <p:cNvSpPr txBox="1"/>
          <p:nvPr/>
        </p:nvSpPr>
        <p:spPr>
          <a:xfrm>
            <a:off x="3838575" y="4229437"/>
            <a:ext cx="1868016" cy="186689"/>
          </a:xfrm>
          <a:prstGeom prst="rect">
            <a:avLst/>
          </a:prstGeom>
          <a:noFill/>
        </p:spPr>
        <p:txBody>
          <a:bodyPr wrap="none" lIns="0" rIns="0" tIns="0" bIns="0">
            <a:spAutoFit/>
          </a:bodyPr>
          <a:lstStyle/>
          <a:p>
            <a:r>
              <a:rPr sz="1100" b="0">
                <a:solidFill>
                  <a:srgbClr val="2E2E2E"/>
                </a:solidFill>
                <a:latin typeface="Calibri"/>
              </a:rPr>
              <a:t>● Mineral Ceramide Sunscreen:</a:t>
            </a:r>
          </a:p>
        </p:txBody>
      </p:sp>
      <p:pic>
        <p:nvPicPr>
          <p:cNvPr id="87" name="Picture 86" descr="lock.png"/>
          <p:cNvPicPr>
            <a:picLocks noChangeAspect="1"/>
          </p:cNvPicPr>
          <p:nvPr/>
        </p:nvPicPr>
        <p:blipFill>
          <a:blip r:embed="rId13"/>
          <a:stretch>
            <a:fillRect/>
          </a:stretch>
        </p:blipFill>
        <p:spPr>
          <a:xfrm>
            <a:off x="5654642" y="4219658"/>
            <a:ext cx="128699" cy="187198"/>
          </a:xfrm>
          <a:prstGeom prst="rect">
            <a:avLst/>
          </a:prstGeom>
        </p:spPr>
      </p:pic>
      <p:sp>
        <p:nvSpPr>
          <p:cNvPr id="88" name="TextBox 87"/>
          <p:cNvSpPr txBox="1"/>
          <p:nvPr/>
        </p:nvSpPr>
        <p:spPr>
          <a:xfrm>
            <a:off x="582213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681588" y="4219658"/>
            <a:ext cx="128699" cy="187198"/>
          </a:xfrm>
          <a:prstGeom prst="rect">
            <a:avLst/>
          </a:prstGeom>
        </p:spPr>
      </p:pic>
      <p:sp>
        <p:nvSpPr>
          <p:cNvPr id="90" name="TextBox 89"/>
          <p:cNvSpPr txBox="1"/>
          <p:nvPr/>
        </p:nvSpPr>
        <p:spPr>
          <a:xfrm>
            <a:off x="6849084"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91" name="TextBox 90"/>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92" name="TextBox 91"/>
          <p:cNvSpPr txBox="1"/>
          <p:nvPr/>
        </p:nvSpPr>
        <p:spPr>
          <a:xfrm>
            <a:off x="3838575" y="4615009"/>
            <a:ext cx="1803623" cy="186689"/>
          </a:xfrm>
          <a:prstGeom prst="rect">
            <a:avLst/>
          </a:prstGeom>
          <a:noFill/>
        </p:spPr>
        <p:txBody>
          <a:bodyPr wrap="none" lIns="0" rIns="0" tIns="0" bIns="0">
            <a:spAutoFit/>
          </a:bodyPr>
          <a:lstStyle/>
          <a:p>
            <a:r>
              <a:rPr sz="1100" b="0">
                <a:solidFill>
                  <a:srgbClr val="2E2E2E"/>
                </a:solidFill>
                <a:latin typeface="Calibri"/>
              </a:rPr>
              <a:t>● Hybrid Ceramide Sunscreen:</a:t>
            </a:r>
          </a:p>
        </p:txBody>
      </p:sp>
      <p:pic>
        <p:nvPicPr>
          <p:cNvPr id="93" name="Picture 92" descr="lock.png"/>
          <p:cNvPicPr>
            <a:picLocks noChangeAspect="1"/>
          </p:cNvPicPr>
          <p:nvPr/>
        </p:nvPicPr>
        <p:blipFill>
          <a:blip r:embed="rId13"/>
          <a:stretch>
            <a:fillRect/>
          </a:stretch>
        </p:blipFill>
        <p:spPr>
          <a:xfrm>
            <a:off x="5590249" y="4605230"/>
            <a:ext cx="128699" cy="187198"/>
          </a:xfrm>
          <a:prstGeom prst="rect">
            <a:avLst/>
          </a:prstGeom>
        </p:spPr>
      </p:pic>
      <p:sp>
        <p:nvSpPr>
          <p:cNvPr id="94" name="TextBox 93"/>
          <p:cNvSpPr txBox="1"/>
          <p:nvPr/>
        </p:nvSpPr>
        <p:spPr>
          <a:xfrm>
            <a:off x="575774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6617195" y="4605230"/>
            <a:ext cx="128699" cy="187198"/>
          </a:xfrm>
          <a:prstGeom prst="rect">
            <a:avLst/>
          </a:prstGeom>
        </p:spPr>
      </p:pic>
      <p:sp>
        <p:nvSpPr>
          <p:cNvPr id="96" name="TextBox 95"/>
          <p:cNvSpPr txBox="1"/>
          <p:nvPr/>
        </p:nvSpPr>
        <p:spPr>
          <a:xfrm>
            <a:off x="6784691"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97" name="TextBox 96"/>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98" name="TextBox 97"/>
          <p:cNvSpPr txBox="1"/>
          <p:nvPr/>
        </p:nvSpPr>
        <p:spPr>
          <a:xfrm>
            <a:off x="3838575" y="5000581"/>
            <a:ext cx="1944960" cy="186689"/>
          </a:xfrm>
          <a:prstGeom prst="rect">
            <a:avLst/>
          </a:prstGeom>
          <a:noFill/>
        </p:spPr>
        <p:txBody>
          <a:bodyPr wrap="none" lIns="0" rIns="0" tIns="0" bIns="0">
            <a:spAutoFit/>
          </a:bodyPr>
          <a:lstStyle/>
          <a:p>
            <a:r>
              <a:rPr sz="1100" b="0">
                <a:solidFill>
                  <a:srgbClr val="2E2E2E"/>
                </a:solidFill>
                <a:latin typeface="Calibri"/>
              </a:rPr>
              <a:t>● Chemical Ceramide Sunscreen:</a:t>
            </a:r>
          </a:p>
        </p:txBody>
      </p:sp>
      <p:pic>
        <p:nvPicPr>
          <p:cNvPr id="99" name="Picture 98" descr="lock.png"/>
          <p:cNvPicPr>
            <a:picLocks noChangeAspect="1"/>
          </p:cNvPicPr>
          <p:nvPr/>
        </p:nvPicPr>
        <p:blipFill>
          <a:blip r:embed="rId13"/>
          <a:stretch>
            <a:fillRect/>
          </a:stretch>
        </p:blipFill>
        <p:spPr>
          <a:xfrm>
            <a:off x="5731586" y="4990801"/>
            <a:ext cx="128699" cy="187198"/>
          </a:xfrm>
          <a:prstGeom prst="rect">
            <a:avLst/>
          </a:prstGeom>
        </p:spPr>
      </p:pic>
      <p:sp>
        <p:nvSpPr>
          <p:cNvPr id="100" name="TextBox 99"/>
          <p:cNvSpPr txBox="1"/>
          <p:nvPr/>
        </p:nvSpPr>
        <p:spPr>
          <a:xfrm>
            <a:off x="5899082"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1" name="Picture 100" descr="lock.png"/>
          <p:cNvPicPr>
            <a:picLocks noChangeAspect="1"/>
          </p:cNvPicPr>
          <p:nvPr/>
        </p:nvPicPr>
        <p:blipFill>
          <a:blip r:embed="rId13"/>
          <a:stretch>
            <a:fillRect/>
          </a:stretch>
        </p:blipFill>
        <p:spPr>
          <a:xfrm>
            <a:off x="6758532" y="4990801"/>
            <a:ext cx="128699" cy="187198"/>
          </a:xfrm>
          <a:prstGeom prst="rect">
            <a:avLst/>
          </a:prstGeom>
        </p:spPr>
      </p:pic>
      <p:sp>
        <p:nvSpPr>
          <p:cNvPr id="102" name="TextBox 101"/>
          <p:cNvSpPr txBox="1"/>
          <p:nvPr/>
        </p:nvSpPr>
        <p:spPr>
          <a:xfrm>
            <a:off x="6926028" y="5000581"/>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03" name="TextBox 102"/>
          <p:cNvSpPr txBox="1"/>
          <p:nvPr/>
        </p:nvSpPr>
        <p:spPr>
          <a:xfrm>
            <a:off x="3838575" y="5168221"/>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04" name="TextBox 103"/>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segment is projected to grow at a</a:t>
            </a:r>
          </a:p>
        </p:txBody>
      </p:sp>
      <p:sp>
        <p:nvSpPr>
          <p:cNvPr id="105" name="TextBox 10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06" name="Picture 105" descr="lock.png"/>
          <p:cNvPicPr>
            <a:picLocks noChangeAspect="1"/>
          </p:cNvPicPr>
          <p:nvPr/>
        </p:nvPicPr>
        <p:blipFill>
          <a:blip r:embed="rId13"/>
          <a:stretch>
            <a:fillRect/>
          </a:stretch>
        </p:blipFill>
        <p:spPr>
          <a:xfrm>
            <a:off x="9048826" y="6007677"/>
            <a:ext cx="134549" cy="195707"/>
          </a:xfrm>
          <a:prstGeom prst="rect">
            <a:avLst/>
          </a:prstGeom>
        </p:spPr>
      </p:pic>
      <p:sp>
        <p:nvSpPr>
          <p:cNvPr id="107" name="TextBox 10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03905" cy="186689"/>
          </a:xfrm>
          <a:prstGeom prst="rect">
            <a:avLst/>
          </a:prstGeom>
          <a:noFill/>
        </p:spPr>
        <p:txBody>
          <a:bodyPr wrap="none" lIns="0" rIns="0" tIns="0" bIns="0">
            <a:spAutoFit/>
          </a:bodyPr>
          <a:lstStyle/>
          <a:p>
            <a:r>
              <a:rPr sz="1100" b="0">
                <a:solidFill>
                  <a:srgbClr val="2E2E2E"/>
                </a:solidFill>
                <a:latin typeface="Calibri"/>
              </a:rPr>
              <a:t>Mineral ceramide sunscreen followed by hybrid ceramide sunscreen are expected to be the two most attractive product type segments in the global ceramide sunscreen market in terms of value over the</a:t>
            </a:r>
          </a:p>
        </p:txBody>
      </p:sp>
      <p:sp>
        <p:nvSpPr>
          <p:cNvPr id="20" name="TextBox 19"/>
          <p:cNvSpPr txBox="1"/>
          <p:nvPr/>
        </p:nvSpPr>
        <p:spPr>
          <a:xfrm>
            <a:off x="257175" y="5861685"/>
            <a:ext cx="5792150" cy="186689"/>
          </a:xfrm>
          <a:prstGeom prst="rect">
            <a:avLst/>
          </a:prstGeom>
          <a:noFill/>
        </p:spPr>
        <p:txBody>
          <a:bodyPr wrap="none" lIns="0" rIns="0" tIns="0" bIns="0">
            <a:spAutoFit/>
          </a:bodyPr>
          <a:lstStyle/>
          <a:p>
            <a:r>
              <a:rPr sz="1100" b="0">
                <a:solidFill>
                  <a:srgbClr val="2E2E2E"/>
                </a:solidFill>
                <a:latin typeface="Calibri"/>
              </a:rPr>
              <a:t>forecast period. Mineral ceramide sunscreen and hybrid ceramide sunscreen exhibit a CAGR index of</a:t>
            </a:r>
          </a:p>
        </p:txBody>
      </p:sp>
      <p:pic>
        <p:nvPicPr>
          <p:cNvPr id="21" name="Picture 20" descr="lock.png"/>
          <p:cNvPicPr>
            <a:picLocks noChangeAspect="1"/>
          </p:cNvPicPr>
          <p:nvPr/>
        </p:nvPicPr>
        <p:blipFill>
          <a:blip r:embed="rId6"/>
          <a:stretch>
            <a:fillRect/>
          </a:stretch>
        </p:blipFill>
        <p:spPr>
          <a:xfrm>
            <a:off x="5997376" y="5851905"/>
            <a:ext cx="128699" cy="187198"/>
          </a:xfrm>
          <a:prstGeom prst="rect">
            <a:avLst/>
          </a:prstGeom>
        </p:spPr>
      </p:pic>
      <p:sp>
        <p:nvSpPr>
          <p:cNvPr id="22" name="TextBox 21"/>
          <p:cNvSpPr txBox="1"/>
          <p:nvPr/>
        </p:nvSpPr>
        <p:spPr>
          <a:xfrm>
            <a:off x="616487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6402767" y="5851905"/>
            <a:ext cx="128699" cy="187198"/>
          </a:xfrm>
          <a:prstGeom prst="rect">
            <a:avLst/>
          </a:prstGeom>
        </p:spPr>
      </p:pic>
      <p:sp>
        <p:nvSpPr>
          <p:cNvPr id="24" name="TextBox 23"/>
          <p:cNvSpPr txBox="1"/>
          <p:nvPr/>
        </p:nvSpPr>
        <p:spPr>
          <a:xfrm>
            <a:off x="657026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179236" y="5851905"/>
            <a:ext cx="128699" cy="187198"/>
          </a:xfrm>
          <a:prstGeom prst="rect">
            <a:avLst/>
          </a:prstGeom>
        </p:spPr>
      </p:pic>
      <p:sp>
        <p:nvSpPr>
          <p:cNvPr id="26" name="TextBox 25"/>
          <p:cNvSpPr txBox="1"/>
          <p:nvPr/>
        </p:nvSpPr>
        <p:spPr>
          <a:xfrm>
            <a:off x="834673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8584626" y="5851905"/>
            <a:ext cx="128699" cy="187198"/>
          </a:xfrm>
          <a:prstGeom prst="rect">
            <a:avLst/>
          </a:prstGeom>
        </p:spPr>
      </p:pic>
      <p:sp>
        <p:nvSpPr>
          <p:cNvPr id="28" name="TextBox 27"/>
          <p:cNvSpPr txBox="1"/>
          <p:nvPr/>
        </p:nvSpPr>
        <p:spPr>
          <a:xfrm>
            <a:off x="8752122"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243707" y="6019545"/>
            <a:ext cx="128699" cy="187198"/>
          </a:xfrm>
          <a:prstGeom prst="rect">
            <a:avLst/>
          </a:prstGeom>
        </p:spPr>
      </p:pic>
      <p:sp>
        <p:nvSpPr>
          <p:cNvPr id="30" name="TextBox 29"/>
          <p:cNvSpPr txBox="1"/>
          <p:nvPr/>
        </p:nvSpPr>
        <p:spPr>
          <a:xfrm>
            <a:off x="411203" y="6029325"/>
            <a:ext cx="11271828" cy="186689"/>
          </a:xfrm>
          <a:prstGeom prst="rect">
            <a:avLst/>
          </a:prstGeom>
          <a:noFill/>
        </p:spPr>
        <p:txBody>
          <a:bodyPr wrap="none" lIns="0" rIns="0" tIns="0" bIns="0">
            <a:spAutoFit/>
          </a:bodyPr>
          <a:lstStyle/>
          <a:p>
            <a:r>
              <a:rPr sz="1100" b="0">
                <a:solidFill>
                  <a:srgbClr val="2E2E2E"/>
                </a:solidFill>
                <a:latin typeface="Calibri"/>
              </a:rPr>
              <a:t>. The chemical ceramide sunscreen segment is expected to be less attractive as compared to other segments over the forecast period, owing to its lower CAGR and incremental opportunity. Bubbles</a:t>
            </a:r>
          </a:p>
        </p:txBody>
      </p:sp>
      <p:sp>
        <p:nvSpPr>
          <p:cNvPr id="31" name="TextBox 30"/>
          <p:cNvSpPr txBox="1"/>
          <p:nvPr/>
        </p:nvSpPr>
        <p:spPr>
          <a:xfrm>
            <a:off x="257175" y="6196965"/>
            <a:ext cx="3892557" cy="186689"/>
          </a:xfrm>
          <a:prstGeom prst="rect">
            <a:avLst/>
          </a:prstGeom>
          <a:noFill/>
        </p:spPr>
        <p:txBody>
          <a:bodyPr wrap="none" lIns="0" rIns="0" tIns="0" bIns="0">
            <a:spAutoFit/>
          </a:bodyPr>
          <a:lstStyle/>
          <a:p>
            <a:r>
              <a:rPr sz="1100" b="0">
                <a:solidFill>
                  <a:srgbClr val="2E2E2E"/>
                </a:solidFill>
                <a:latin typeface="Calibri"/>
              </a:rPr>
              <a:t>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Mineral Ceramide Sunscreen</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Chemical Ceramide Sunscreen</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Hybrid Ceramide Sunscreen</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Product Type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286250"/>
            <a:ext cx="5179940" cy="194310"/>
          </a:xfrm>
          <a:prstGeom prst="rect">
            <a:avLst/>
          </a:prstGeom>
          <a:noFill/>
        </p:spPr>
        <p:txBody>
          <a:bodyPr wrap="none" lIns="0" rIns="0" tIns="0" bIns="0">
            <a:spAutoFit/>
          </a:bodyPr>
          <a:lstStyle/>
          <a:p>
            <a:r>
              <a:rPr sz="1150" b="0">
                <a:solidFill>
                  <a:srgbClr val="2E2E2E"/>
                </a:solidFill>
                <a:latin typeface="Calibri"/>
              </a:rPr>
              <a:t>By 2036, mineral ceramide sunscreen segment is anticipated to witness an increase of</a:t>
            </a:r>
          </a:p>
        </p:txBody>
      </p:sp>
      <p:pic>
        <p:nvPicPr>
          <p:cNvPr id="28" name="Picture 27" descr="lock.png"/>
          <p:cNvPicPr>
            <a:picLocks noChangeAspect="1"/>
          </p:cNvPicPr>
          <p:nvPr/>
        </p:nvPicPr>
        <p:blipFill>
          <a:blip r:embed="rId7"/>
          <a:stretch>
            <a:fillRect/>
          </a:stretch>
        </p:blipFill>
        <p:spPr>
          <a:xfrm>
            <a:off x="11434644" y="4276026"/>
            <a:ext cx="134549" cy="195707"/>
          </a:xfrm>
          <a:prstGeom prst="rect">
            <a:avLst/>
          </a:prstGeom>
        </p:spPr>
      </p:pic>
      <p:sp>
        <p:nvSpPr>
          <p:cNvPr id="29" name="TextBox 28"/>
          <p:cNvSpPr txBox="1"/>
          <p:nvPr/>
        </p:nvSpPr>
        <p:spPr>
          <a:xfrm>
            <a:off x="11609753" y="4286250"/>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0" name="TextBox 29"/>
          <p:cNvSpPr txBox="1"/>
          <p:nvPr/>
        </p:nvSpPr>
        <p:spPr>
          <a:xfrm>
            <a:off x="6305550" y="4461510"/>
            <a:ext cx="5591175" cy="194310"/>
          </a:xfrm>
          <a:prstGeom prst="rect">
            <a:avLst/>
          </a:prstGeom>
          <a:noFill/>
        </p:spPr>
        <p:txBody>
          <a:bodyPr wrap="none" lIns="0" rIns="0" tIns="0" bIns="0">
            <a:spAutoFit/>
          </a:bodyPr>
          <a:lstStyle/>
          <a:p>
            <a:r>
              <a:rPr sz="1150" b="0">
                <a:solidFill>
                  <a:srgbClr val="2E2E2E"/>
                </a:solidFill>
                <a:latin typeface="Calibri"/>
              </a:rPr>
              <a:t>in terms of value as compared to 2026. The mineral ceramide sunscreen segment is expected</a:t>
            </a:r>
          </a:p>
        </p:txBody>
      </p:sp>
      <p:sp>
        <p:nvSpPr>
          <p:cNvPr id="31" name="TextBox 30"/>
          <p:cNvSpPr txBox="1"/>
          <p:nvPr/>
        </p:nvSpPr>
        <p:spPr>
          <a:xfrm>
            <a:off x="6305550" y="4636770"/>
            <a:ext cx="2706241" cy="194310"/>
          </a:xfrm>
          <a:prstGeom prst="rect">
            <a:avLst/>
          </a:prstGeom>
          <a:noFill/>
        </p:spPr>
        <p:txBody>
          <a:bodyPr wrap="none" lIns="0" rIns="0" tIns="0" bIns="0">
            <a:spAutoFit/>
          </a:bodyPr>
          <a:lstStyle/>
          <a:p>
            <a:r>
              <a:rPr sz="1150" b="0">
                <a:solidFill>
                  <a:srgbClr val="2E2E2E"/>
                </a:solidFill>
                <a:latin typeface="Calibri"/>
              </a:rPr>
              <a:t>to create an incremental opportunity of US$</a:t>
            </a:r>
          </a:p>
        </p:txBody>
      </p:sp>
      <p:pic>
        <p:nvPicPr>
          <p:cNvPr id="32" name="Picture 31" descr="lock.png"/>
          <p:cNvPicPr>
            <a:picLocks noChangeAspect="1"/>
          </p:cNvPicPr>
          <p:nvPr/>
        </p:nvPicPr>
        <p:blipFill>
          <a:blip r:embed="rId7"/>
          <a:stretch>
            <a:fillRect/>
          </a:stretch>
        </p:blipFill>
        <p:spPr>
          <a:xfrm>
            <a:off x="8960944" y="4626546"/>
            <a:ext cx="134549" cy="195707"/>
          </a:xfrm>
          <a:prstGeom prst="rect">
            <a:avLst/>
          </a:prstGeom>
        </p:spPr>
      </p:pic>
      <p:sp>
        <p:nvSpPr>
          <p:cNvPr id="33" name="TextBox 32"/>
          <p:cNvSpPr txBox="1"/>
          <p:nvPr/>
        </p:nvSpPr>
        <p:spPr>
          <a:xfrm>
            <a:off x="9136054" y="4636770"/>
            <a:ext cx="2376487" cy="194310"/>
          </a:xfrm>
          <a:prstGeom prst="rect">
            <a:avLst/>
          </a:prstGeom>
          <a:noFill/>
        </p:spPr>
        <p:txBody>
          <a:bodyPr wrap="none" lIns="0" rIns="0" tIns="0" bIns="0">
            <a:spAutoFit/>
          </a:bodyPr>
          <a:lstStyle/>
          <a:p>
            <a:r>
              <a:rPr sz="1150" b="0">
                <a:solidFill>
                  <a:srgbClr val="2E2E2E"/>
                </a:solidFill>
                <a:latin typeface="Calibri"/>
              </a:rPr>
              <a:t>Mn for the overall ceramide sunscreen</a:t>
            </a:r>
          </a:p>
        </p:txBody>
      </p:sp>
      <p:sp>
        <p:nvSpPr>
          <p:cNvPr id="34" name="TextBox 33"/>
          <p:cNvSpPr txBox="1"/>
          <p:nvPr/>
        </p:nvSpPr>
        <p:spPr>
          <a:xfrm>
            <a:off x="6305550" y="4812029"/>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5" name="TextBox 34"/>
          <p:cNvSpPr txBox="1"/>
          <p:nvPr/>
        </p:nvSpPr>
        <p:spPr>
          <a:xfrm>
            <a:off x="6305550" y="5039867"/>
            <a:ext cx="5580174" cy="194310"/>
          </a:xfrm>
          <a:prstGeom prst="rect">
            <a:avLst/>
          </a:prstGeom>
          <a:noFill/>
        </p:spPr>
        <p:txBody>
          <a:bodyPr wrap="none" lIns="0" rIns="0" tIns="0" bIns="0">
            <a:spAutoFit/>
          </a:bodyPr>
          <a:lstStyle/>
          <a:p>
            <a:r>
              <a:rPr sz="1150" b="0">
                <a:solidFill>
                  <a:srgbClr val="2E2E2E"/>
                </a:solidFill>
                <a:latin typeface="Calibri"/>
              </a:rPr>
              <a:t>The hybrid ceramide sunscreen segment is expected to create an incremental opportunity of</a:t>
            </a:r>
          </a:p>
        </p:txBody>
      </p:sp>
      <p:sp>
        <p:nvSpPr>
          <p:cNvPr id="36" name="TextBox 35"/>
          <p:cNvSpPr txBox="1"/>
          <p:nvPr/>
        </p:nvSpPr>
        <p:spPr>
          <a:xfrm>
            <a:off x="6305550" y="521512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7" name="Picture 36" descr="lock.png"/>
          <p:cNvPicPr>
            <a:picLocks noChangeAspect="1"/>
          </p:cNvPicPr>
          <p:nvPr/>
        </p:nvPicPr>
        <p:blipFill>
          <a:blip r:embed="rId7"/>
          <a:stretch>
            <a:fillRect/>
          </a:stretch>
        </p:blipFill>
        <p:spPr>
          <a:xfrm>
            <a:off x="6565953" y="5204904"/>
            <a:ext cx="134549" cy="195707"/>
          </a:xfrm>
          <a:prstGeom prst="rect">
            <a:avLst/>
          </a:prstGeom>
        </p:spPr>
      </p:pic>
      <p:sp>
        <p:nvSpPr>
          <p:cNvPr id="38" name="TextBox 37"/>
          <p:cNvSpPr txBox="1"/>
          <p:nvPr/>
        </p:nvSpPr>
        <p:spPr>
          <a:xfrm>
            <a:off x="6741062" y="5215127"/>
            <a:ext cx="4827389"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 2026 to 2036. The chemical</a:t>
            </a:r>
          </a:p>
        </p:txBody>
      </p:sp>
      <p:sp>
        <p:nvSpPr>
          <p:cNvPr id="39" name="TextBox 38"/>
          <p:cNvSpPr txBox="1"/>
          <p:nvPr/>
        </p:nvSpPr>
        <p:spPr>
          <a:xfrm>
            <a:off x="6305550" y="5390387"/>
            <a:ext cx="5180248" cy="194310"/>
          </a:xfrm>
          <a:prstGeom prst="rect">
            <a:avLst/>
          </a:prstGeom>
          <a:noFill/>
        </p:spPr>
        <p:txBody>
          <a:bodyPr wrap="none" lIns="0" rIns="0" tIns="0" bIns="0">
            <a:spAutoFit/>
          </a:bodyPr>
          <a:lstStyle/>
          <a:p>
            <a:r>
              <a:rPr sz="1150" b="0">
                <a:solidFill>
                  <a:srgbClr val="2E2E2E"/>
                </a:solidFill>
                <a:latin typeface="Calibri"/>
              </a:rPr>
              <a:t>ceramide sunscreen segment is expected to create an incremental opportunity of US$</a:t>
            </a:r>
          </a:p>
        </p:txBody>
      </p:sp>
      <p:pic>
        <p:nvPicPr>
          <p:cNvPr id="40" name="Picture 39" descr="lock.png"/>
          <p:cNvPicPr>
            <a:picLocks noChangeAspect="1"/>
          </p:cNvPicPr>
          <p:nvPr/>
        </p:nvPicPr>
        <p:blipFill>
          <a:blip r:embed="rId7"/>
          <a:stretch>
            <a:fillRect/>
          </a:stretch>
        </p:blipFill>
        <p:spPr>
          <a:xfrm>
            <a:off x="11434952" y="5380164"/>
            <a:ext cx="134549" cy="195707"/>
          </a:xfrm>
          <a:prstGeom prst="rect">
            <a:avLst/>
          </a:prstGeom>
        </p:spPr>
      </p:pic>
      <p:sp>
        <p:nvSpPr>
          <p:cNvPr id="41" name="TextBox 40"/>
          <p:cNvSpPr txBox="1"/>
          <p:nvPr/>
        </p:nvSpPr>
        <p:spPr>
          <a:xfrm>
            <a:off x="11610061" y="5390387"/>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42" name="TextBox 41"/>
          <p:cNvSpPr txBox="1"/>
          <p:nvPr/>
        </p:nvSpPr>
        <p:spPr>
          <a:xfrm>
            <a:off x="6305550" y="5565647"/>
            <a:ext cx="3778510" cy="194310"/>
          </a:xfrm>
          <a:prstGeom prst="rect">
            <a:avLst/>
          </a:prstGeom>
          <a:noFill/>
        </p:spPr>
        <p:txBody>
          <a:bodyPr wrap="none" lIns="0" rIns="0" tIns="0" bIns="0">
            <a:spAutoFit/>
          </a:bodyPr>
          <a:lstStyle/>
          <a:p>
            <a:r>
              <a:rPr sz="1150" b="0">
                <a:solidFill>
                  <a:srgbClr val="2E2E2E"/>
                </a:solidFill>
                <a:latin typeface="Calibri"/>
              </a:rPr>
              <a:t>for the overall ceramide sunscreen market from 2026 to 2036.</a:t>
            </a:r>
          </a:p>
        </p:txBody>
      </p:sp>
      <p:sp>
        <p:nvSpPr>
          <p:cNvPr id="43"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Type (US$ Mn)</a:t>
            </a:r>
          </a:p>
        </p:txBody>
      </p:sp>
      <p:graphicFrame>
        <p:nvGraphicFramePr>
          <p:cNvPr id="12" name="Table 11"/>
          <p:cNvGraphicFramePr>
            <a:graphicFrameLocks noGrp="1"/>
          </p:cNvGraphicFramePr>
          <p:nvPr/>
        </p:nvGraphicFramePr>
        <p:xfrm>
          <a:off x="152400" y="1238250"/>
          <a:ext cx="11887201" cy="1971675"/>
        </p:xfrm>
        <a:graphic>
          <a:graphicData uri="http://schemas.openxmlformats.org/drawingml/2006/table">
            <a:tbl>
              <a:tblPr>
                <a:tableStyleId>{5C22544A-7EE6-4342-B048-85BDC9FD1C3A}</a:tableStyleId>
              </a:tblPr>
              <a:tblGrid>
                <a:gridCol w="3073675"/>
                <a:gridCol w="529415"/>
                <a:gridCol w="529415"/>
                <a:gridCol w="529415"/>
                <a:gridCol w="529415"/>
                <a:gridCol w="529415"/>
                <a:gridCol w="510766"/>
                <a:gridCol w="505438"/>
                <a:gridCol w="505438"/>
                <a:gridCol w="505438"/>
                <a:gridCol w="505438"/>
                <a:gridCol w="505438"/>
                <a:gridCol w="505438"/>
                <a:gridCol w="505438"/>
                <a:gridCol w="505438"/>
                <a:gridCol w="505438"/>
                <a:gridCol w="505438"/>
                <a:gridCol w="601305"/>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Zinc Oxide-based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Titanium Dioxide-based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Zinc Oxide &amp; Titanium Dioxide Combination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Type</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446148" y="2080450"/>
            <a:ext cx="366712" cy="533400"/>
          </a:xfrm>
          <a:prstGeom prst="rect">
            <a:avLst/>
          </a:prstGeom>
        </p:spPr>
      </p:pic>
      <p:sp>
        <p:nvSpPr>
          <p:cNvPr id="20" name="TextBox 19"/>
          <p:cNvSpPr txBox="1"/>
          <p:nvPr/>
        </p:nvSpPr>
        <p:spPr>
          <a:xfrm>
            <a:off x="276225" y="3971925"/>
            <a:ext cx="3688370" cy="194310"/>
          </a:xfrm>
          <a:prstGeom prst="rect">
            <a:avLst/>
          </a:prstGeom>
          <a:noFill/>
        </p:spPr>
        <p:txBody>
          <a:bodyPr wrap="none" lIns="0" rIns="0" tIns="0" bIns="0">
            <a:spAutoFit/>
          </a:bodyPr>
          <a:lstStyle/>
          <a:p>
            <a:r>
              <a:rPr sz="1150" b="0">
                <a:solidFill>
                  <a:srgbClr val="2E2E2E"/>
                </a:solidFill>
                <a:latin typeface="Calibri"/>
              </a:rPr>
              <a:t>Mineral ceramide sunscreen segment is projected to register</a:t>
            </a:r>
          </a:p>
        </p:txBody>
      </p:sp>
      <p:pic>
        <p:nvPicPr>
          <p:cNvPr id="21" name="Picture 20" descr="lock.png"/>
          <p:cNvPicPr>
            <a:picLocks noChangeAspect="1"/>
          </p:cNvPicPr>
          <p:nvPr/>
        </p:nvPicPr>
        <p:blipFill>
          <a:blip r:embed="rId4"/>
          <a:stretch>
            <a:fillRect/>
          </a:stretch>
        </p:blipFill>
        <p:spPr>
          <a:xfrm>
            <a:off x="3913749" y="3961701"/>
            <a:ext cx="134549" cy="195707"/>
          </a:xfrm>
          <a:prstGeom prst="rect">
            <a:avLst/>
          </a:prstGeom>
        </p:spPr>
      </p:pic>
      <p:sp>
        <p:nvSpPr>
          <p:cNvPr id="22" name="TextBox 21"/>
          <p:cNvSpPr txBox="1"/>
          <p:nvPr/>
        </p:nvSpPr>
        <p:spPr>
          <a:xfrm>
            <a:off x="4088858" y="3971925"/>
            <a:ext cx="7760084" cy="194310"/>
          </a:xfrm>
          <a:prstGeom prst="rect">
            <a:avLst/>
          </a:prstGeom>
          <a:noFill/>
        </p:spPr>
        <p:txBody>
          <a:bodyPr wrap="none" lIns="0" rIns="0" tIns="0" bIns="0">
            <a:spAutoFit/>
          </a:bodyPr>
          <a:lstStyle/>
          <a:p>
            <a:r>
              <a:rPr sz="1150" b="0">
                <a:solidFill>
                  <a:srgbClr val="2E2E2E"/>
                </a:solidFill>
                <a:latin typeface="Calibri"/>
              </a:rPr>
              <a:t>X higher value than hybrid ceramide sunscreen segment in 2036. Among ceramide sunscreen by product type, chemical ceramide</a:t>
            </a:r>
          </a:p>
        </p:txBody>
      </p:sp>
      <p:sp>
        <p:nvSpPr>
          <p:cNvPr id="23" name="TextBox 22"/>
          <p:cNvSpPr txBox="1"/>
          <p:nvPr/>
        </p:nvSpPr>
        <p:spPr>
          <a:xfrm>
            <a:off x="276225" y="4147185"/>
            <a:ext cx="3792470" cy="194310"/>
          </a:xfrm>
          <a:prstGeom prst="rect">
            <a:avLst/>
          </a:prstGeom>
          <a:noFill/>
        </p:spPr>
        <p:txBody>
          <a:bodyPr wrap="none" lIns="0" rIns="0" tIns="0" bIns="0">
            <a:spAutoFit/>
          </a:bodyPr>
          <a:lstStyle/>
          <a:p>
            <a:r>
              <a:rPr sz="1150" b="0">
                <a:solidFill>
                  <a:srgbClr val="2E2E2E"/>
                </a:solidFill>
                <a:latin typeface="Calibri"/>
              </a:rPr>
              <a:t>sunscreen segment is expected to witness the highest CAGR of</a:t>
            </a:r>
          </a:p>
        </p:txBody>
      </p:sp>
      <p:pic>
        <p:nvPicPr>
          <p:cNvPr id="24" name="Picture 23" descr="lock.png"/>
          <p:cNvPicPr>
            <a:picLocks noChangeAspect="1"/>
          </p:cNvPicPr>
          <p:nvPr/>
        </p:nvPicPr>
        <p:blipFill>
          <a:blip r:embed="rId4"/>
          <a:stretch>
            <a:fillRect/>
          </a:stretch>
        </p:blipFill>
        <p:spPr>
          <a:xfrm>
            <a:off x="4017849" y="4136961"/>
            <a:ext cx="134549" cy="195707"/>
          </a:xfrm>
          <a:prstGeom prst="rect">
            <a:avLst/>
          </a:prstGeom>
        </p:spPr>
      </p:pic>
      <p:sp>
        <p:nvSpPr>
          <p:cNvPr id="25" name="TextBox 24"/>
          <p:cNvSpPr txBox="1"/>
          <p:nvPr/>
        </p:nvSpPr>
        <p:spPr>
          <a:xfrm>
            <a:off x="419295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595492" cy="194310"/>
          </a:xfrm>
          <a:prstGeom prst="rect">
            <a:avLst/>
          </a:prstGeom>
          <a:noFill/>
        </p:spPr>
        <p:txBody>
          <a:bodyPr wrap="none" lIns="0" rIns="0" tIns="0" bIns="0">
            <a:spAutoFit/>
          </a:bodyPr>
          <a:lstStyle/>
          <a:p>
            <a:r>
              <a:rPr sz="1150" b="0">
                <a:solidFill>
                  <a:srgbClr val="2E2E2E"/>
                </a:solidFill>
                <a:latin typeface="Calibri"/>
              </a:rPr>
              <a:t>In terms of value share by product type, the mineral ceramide sunscreen segment is expected to dominate the market, gaining</a:t>
            </a:r>
          </a:p>
        </p:txBody>
      </p:sp>
      <p:pic>
        <p:nvPicPr>
          <p:cNvPr id="27" name="Picture 26" descr="lock.png"/>
          <p:cNvPicPr>
            <a:picLocks noChangeAspect="1"/>
          </p:cNvPicPr>
          <p:nvPr/>
        </p:nvPicPr>
        <p:blipFill>
          <a:blip r:embed="rId4"/>
          <a:stretch>
            <a:fillRect/>
          </a:stretch>
        </p:blipFill>
        <p:spPr>
          <a:xfrm>
            <a:off x="7820871" y="4364799"/>
            <a:ext cx="134549" cy="195707"/>
          </a:xfrm>
          <a:prstGeom prst="rect">
            <a:avLst/>
          </a:prstGeom>
        </p:spPr>
      </p:pic>
      <p:sp>
        <p:nvSpPr>
          <p:cNvPr id="28" name="TextBox 27"/>
          <p:cNvSpPr txBox="1"/>
          <p:nvPr/>
        </p:nvSpPr>
        <p:spPr>
          <a:xfrm>
            <a:off x="7995981"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391124" y="4364799"/>
            <a:ext cx="134549" cy="195707"/>
          </a:xfrm>
          <a:prstGeom prst="rect">
            <a:avLst/>
          </a:prstGeom>
        </p:spPr>
      </p:pic>
      <p:sp>
        <p:nvSpPr>
          <p:cNvPr id="30" name="TextBox 29"/>
          <p:cNvSpPr txBox="1"/>
          <p:nvPr/>
        </p:nvSpPr>
        <p:spPr>
          <a:xfrm>
            <a:off x="9566233" y="4375022"/>
            <a:ext cx="1614289" cy="194310"/>
          </a:xfrm>
          <a:prstGeom prst="rect">
            <a:avLst/>
          </a:prstGeom>
          <a:noFill/>
        </p:spPr>
        <p:txBody>
          <a:bodyPr wrap="none" lIns="0" rIns="0" tIns="0" bIns="0">
            <a:spAutoFit/>
          </a:bodyPr>
          <a:lstStyle/>
          <a:p>
            <a:r>
              <a:rPr sz="1150" b="0">
                <a:solidFill>
                  <a:srgbClr val="2E2E2E"/>
                </a:solidFill>
                <a:latin typeface="Calibri"/>
              </a:rPr>
              <a:t>share by 2036. The hybrid</a:t>
            </a:r>
          </a:p>
        </p:txBody>
      </p:sp>
      <p:sp>
        <p:nvSpPr>
          <p:cNvPr id="31" name="TextBox 30"/>
          <p:cNvSpPr txBox="1"/>
          <p:nvPr/>
        </p:nvSpPr>
        <p:spPr>
          <a:xfrm>
            <a:off x="276225" y="4550282"/>
            <a:ext cx="2949847" cy="194310"/>
          </a:xfrm>
          <a:prstGeom prst="rect">
            <a:avLst/>
          </a:prstGeom>
          <a:noFill/>
        </p:spPr>
        <p:txBody>
          <a:bodyPr wrap="none" lIns="0" rIns="0" tIns="0" bIns="0">
            <a:spAutoFit/>
          </a:bodyPr>
          <a:lstStyle/>
          <a:p>
            <a:r>
              <a:rPr sz="1150" b="0">
                <a:solidFill>
                  <a:srgbClr val="2E2E2E"/>
                </a:solidFill>
                <a:latin typeface="Calibri"/>
              </a:rPr>
              <a:t>ceramide sunscreen segment is expected to lose</a:t>
            </a:r>
          </a:p>
        </p:txBody>
      </p:sp>
      <p:pic>
        <p:nvPicPr>
          <p:cNvPr id="32" name="Picture 31" descr="lock.png"/>
          <p:cNvPicPr>
            <a:picLocks noChangeAspect="1"/>
          </p:cNvPicPr>
          <p:nvPr/>
        </p:nvPicPr>
        <p:blipFill>
          <a:blip r:embed="rId4"/>
          <a:stretch>
            <a:fillRect/>
          </a:stretch>
        </p:blipFill>
        <p:spPr>
          <a:xfrm>
            <a:off x="3175226" y="4540059"/>
            <a:ext cx="134549" cy="195707"/>
          </a:xfrm>
          <a:prstGeom prst="rect">
            <a:avLst/>
          </a:prstGeom>
        </p:spPr>
      </p:pic>
      <p:sp>
        <p:nvSpPr>
          <p:cNvPr id="33" name="TextBox 32"/>
          <p:cNvSpPr txBox="1"/>
          <p:nvPr/>
        </p:nvSpPr>
        <p:spPr>
          <a:xfrm>
            <a:off x="3350336"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937840" y="4540059"/>
            <a:ext cx="134549" cy="195707"/>
          </a:xfrm>
          <a:prstGeom prst="rect">
            <a:avLst/>
          </a:prstGeom>
        </p:spPr>
      </p:pic>
      <p:sp>
        <p:nvSpPr>
          <p:cNvPr id="35" name="TextBox 34"/>
          <p:cNvSpPr txBox="1"/>
          <p:nvPr/>
        </p:nvSpPr>
        <p:spPr>
          <a:xfrm>
            <a:off x="6112949"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3469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92993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5373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Chemical Ceramide Sunscreen</a:t>
            </a:r>
          </a:p>
        </p:txBody>
      </p:sp>
      <p:sp>
        <p:nvSpPr>
          <p:cNvPr id="18" name="BPS Value 1"/>
          <p:cNvSpPr txBox="1"/>
          <p:nvPr/>
        </p:nvSpPr>
        <p:spPr>
          <a:xfrm>
            <a:off x="6896100" y="191564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87547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87071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79451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Hybrid Ceramide Sunscreen</a:t>
            </a:r>
          </a:p>
        </p:txBody>
      </p:sp>
      <p:sp>
        <p:nvSpPr>
          <p:cNvPr id="22" name="BPS Value 2"/>
          <p:cNvSpPr txBox="1"/>
          <p:nvPr/>
        </p:nvSpPr>
        <p:spPr>
          <a:xfrm>
            <a:off x="6896100" y="285642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489822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48934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8172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Mineral Ceramide Sunscreen</a:t>
            </a:r>
          </a:p>
        </p:txBody>
      </p:sp>
      <p:sp>
        <p:nvSpPr>
          <p:cNvPr id="26" name="BPS Value 3"/>
          <p:cNvSpPr txBox="1"/>
          <p:nvPr/>
        </p:nvSpPr>
        <p:spPr>
          <a:xfrm>
            <a:off x="6896100" y="487917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Type</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833622"/>
            <a:ext cx="275034" cy="400050"/>
          </a:xfrm>
          <a:prstGeom prst="rect">
            <a:avLst/>
          </a:prstGeom>
        </p:spPr>
      </p:pic>
      <p:sp>
        <p:nvSpPr>
          <p:cNvPr id="33" name="TextBox 32"/>
          <p:cNvSpPr txBox="1"/>
          <p:nvPr/>
        </p:nvSpPr>
        <p:spPr>
          <a:xfrm>
            <a:off x="7829550" y="1400175"/>
            <a:ext cx="3885480" cy="194310"/>
          </a:xfrm>
          <a:prstGeom prst="rect">
            <a:avLst/>
          </a:prstGeom>
          <a:noFill/>
        </p:spPr>
        <p:txBody>
          <a:bodyPr wrap="none" lIns="0" rIns="0" tIns="0" bIns="0">
            <a:spAutoFit/>
          </a:bodyPr>
          <a:lstStyle/>
          <a:p>
            <a:r>
              <a:rPr sz="1150" b="0">
                <a:solidFill>
                  <a:srgbClr val="2E2E2E"/>
                </a:solidFill>
                <a:latin typeface="Calibri"/>
              </a:rPr>
              <a:t>Among ceramide sunscreen by product type, chemical ceramide</a:t>
            </a:r>
          </a:p>
        </p:txBody>
      </p:sp>
      <p:sp>
        <p:nvSpPr>
          <p:cNvPr id="34" name="TextBox 33"/>
          <p:cNvSpPr txBox="1"/>
          <p:nvPr/>
        </p:nvSpPr>
        <p:spPr>
          <a:xfrm>
            <a:off x="7829550" y="1575435"/>
            <a:ext cx="3792470" cy="194310"/>
          </a:xfrm>
          <a:prstGeom prst="rect">
            <a:avLst/>
          </a:prstGeom>
          <a:noFill/>
        </p:spPr>
        <p:txBody>
          <a:bodyPr wrap="none" lIns="0" rIns="0" tIns="0" bIns="0">
            <a:spAutoFit/>
          </a:bodyPr>
          <a:lstStyle/>
          <a:p>
            <a:r>
              <a:rPr sz="1150" b="0">
                <a:solidFill>
                  <a:srgbClr val="2E2E2E"/>
                </a:solidFill>
                <a:latin typeface="Calibri"/>
              </a:rPr>
              <a:t>sunscreen segment is expected to witness the highest CAGR of</a:t>
            </a:r>
          </a:p>
        </p:txBody>
      </p:sp>
      <p:pic>
        <p:nvPicPr>
          <p:cNvPr id="35" name="Picture 34" descr="lock.png"/>
          <p:cNvPicPr>
            <a:picLocks noChangeAspect="1"/>
          </p:cNvPicPr>
          <p:nvPr/>
        </p:nvPicPr>
        <p:blipFill>
          <a:blip r:embed="rId5"/>
          <a:stretch>
            <a:fillRect/>
          </a:stretch>
        </p:blipFill>
        <p:spPr>
          <a:xfrm>
            <a:off x="11571174" y="1565211"/>
            <a:ext cx="134549" cy="195707"/>
          </a:xfrm>
          <a:prstGeom prst="rect">
            <a:avLst/>
          </a:prstGeom>
        </p:spPr>
      </p:pic>
      <p:sp>
        <p:nvSpPr>
          <p:cNvPr id="36" name="TextBox 35"/>
          <p:cNvSpPr txBox="1"/>
          <p:nvPr/>
        </p:nvSpPr>
        <p:spPr>
          <a:xfrm>
            <a:off x="7829550" y="1750695"/>
            <a:ext cx="395479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product type,</a:t>
            </a:r>
          </a:p>
        </p:txBody>
      </p:sp>
      <p:sp>
        <p:nvSpPr>
          <p:cNvPr id="37" name="TextBox 36"/>
          <p:cNvSpPr txBox="1"/>
          <p:nvPr/>
        </p:nvSpPr>
        <p:spPr>
          <a:xfrm>
            <a:off x="7829550" y="1925955"/>
            <a:ext cx="4001008" cy="194310"/>
          </a:xfrm>
          <a:prstGeom prst="rect">
            <a:avLst/>
          </a:prstGeom>
          <a:noFill/>
        </p:spPr>
        <p:txBody>
          <a:bodyPr wrap="none" lIns="0" rIns="0" tIns="0" bIns="0">
            <a:spAutoFit/>
          </a:bodyPr>
          <a:lstStyle/>
          <a:p>
            <a:r>
              <a:rPr sz="1150" b="0">
                <a:solidFill>
                  <a:srgbClr val="2E2E2E"/>
                </a:solidFill>
                <a:latin typeface="Calibri"/>
              </a:rPr>
              <a:t>the mineral ceramide sunscreen segment is expected to dominate</a:t>
            </a:r>
          </a:p>
        </p:txBody>
      </p:sp>
      <p:sp>
        <p:nvSpPr>
          <p:cNvPr id="38" name="TextBox 37"/>
          <p:cNvSpPr txBox="1"/>
          <p:nvPr/>
        </p:nvSpPr>
        <p:spPr>
          <a:xfrm>
            <a:off x="7829550" y="2101215"/>
            <a:ext cx="1231478" cy="194310"/>
          </a:xfrm>
          <a:prstGeom prst="rect">
            <a:avLst/>
          </a:prstGeom>
          <a:noFill/>
        </p:spPr>
        <p:txBody>
          <a:bodyPr wrap="none" lIns="0" rIns="0" tIns="0" bIns="0">
            <a:spAutoFit/>
          </a:bodyPr>
          <a:lstStyle/>
          <a:p>
            <a:r>
              <a:rPr sz="1150" b="0">
                <a:solidFill>
                  <a:srgbClr val="2E2E2E"/>
                </a:solidFill>
                <a:latin typeface="Calibri"/>
              </a:rPr>
              <a:t>the market, gaining</a:t>
            </a:r>
          </a:p>
        </p:txBody>
      </p:sp>
      <p:pic>
        <p:nvPicPr>
          <p:cNvPr id="39" name="Picture 38" descr="lock.png"/>
          <p:cNvPicPr>
            <a:picLocks noChangeAspect="1"/>
          </p:cNvPicPr>
          <p:nvPr/>
        </p:nvPicPr>
        <p:blipFill>
          <a:blip r:embed="rId5"/>
          <a:stretch>
            <a:fillRect/>
          </a:stretch>
        </p:blipFill>
        <p:spPr>
          <a:xfrm>
            <a:off x="9010182" y="2090991"/>
            <a:ext cx="134549" cy="195707"/>
          </a:xfrm>
          <a:prstGeom prst="rect">
            <a:avLst/>
          </a:prstGeom>
        </p:spPr>
      </p:pic>
      <p:sp>
        <p:nvSpPr>
          <p:cNvPr id="40" name="TextBox 39"/>
          <p:cNvSpPr txBox="1"/>
          <p:nvPr/>
        </p:nvSpPr>
        <p:spPr>
          <a:xfrm>
            <a:off x="918529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1" name="Picture 40" descr="lock.png"/>
          <p:cNvPicPr>
            <a:picLocks noChangeAspect="1"/>
          </p:cNvPicPr>
          <p:nvPr/>
        </p:nvPicPr>
        <p:blipFill>
          <a:blip r:embed="rId5"/>
          <a:stretch>
            <a:fillRect/>
          </a:stretch>
        </p:blipFill>
        <p:spPr>
          <a:xfrm>
            <a:off x="10580434" y="2090991"/>
            <a:ext cx="134549" cy="195707"/>
          </a:xfrm>
          <a:prstGeom prst="rect">
            <a:avLst/>
          </a:prstGeom>
        </p:spPr>
      </p:pic>
      <p:sp>
        <p:nvSpPr>
          <p:cNvPr id="42" name="TextBox 41"/>
          <p:cNvSpPr txBox="1"/>
          <p:nvPr/>
        </p:nvSpPr>
        <p:spPr>
          <a:xfrm>
            <a:off x="10755543"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3" name="TextBox 42"/>
          <p:cNvSpPr txBox="1"/>
          <p:nvPr/>
        </p:nvSpPr>
        <p:spPr>
          <a:xfrm>
            <a:off x="7829550" y="2329053"/>
            <a:ext cx="3617912" cy="194310"/>
          </a:xfrm>
          <a:prstGeom prst="rect">
            <a:avLst/>
          </a:prstGeom>
          <a:noFill/>
        </p:spPr>
        <p:txBody>
          <a:bodyPr wrap="none" lIns="0" rIns="0" tIns="0" bIns="0">
            <a:spAutoFit/>
          </a:bodyPr>
          <a:lstStyle/>
          <a:p>
            <a:r>
              <a:rPr sz="1150" b="0">
                <a:solidFill>
                  <a:srgbClr val="2E2E2E"/>
                </a:solidFill>
                <a:latin typeface="Calibri"/>
              </a:rPr>
              <a:t>The hybrid ceramide sunscreen segment is expected to lose</a:t>
            </a:r>
          </a:p>
        </p:txBody>
      </p:sp>
      <p:pic>
        <p:nvPicPr>
          <p:cNvPr id="44" name="Picture 43" descr="lock.png"/>
          <p:cNvPicPr>
            <a:picLocks noChangeAspect="1"/>
          </p:cNvPicPr>
          <p:nvPr/>
        </p:nvPicPr>
        <p:blipFill>
          <a:blip r:embed="rId5"/>
          <a:stretch>
            <a:fillRect/>
          </a:stretch>
        </p:blipFill>
        <p:spPr>
          <a:xfrm>
            <a:off x="11396616" y="2318829"/>
            <a:ext cx="134549" cy="195707"/>
          </a:xfrm>
          <a:prstGeom prst="rect">
            <a:avLst/>
          </a:prstGeom>
        </p:spPr>
      </p:pic>
      <p:sp>
        <p:nvSpPr>
          <p:cNvPr id="45" name="TextBox 44"/>
          <p:cNvSpPr txBox="1"/>
          <p:nvPr/>
        </p:nvSpPr>
        <p:spPr>
          <a:xfrm>
            <a:off x="7829550"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6" name="Picture 45" descr="lock.png"/>
          <p:cNvPicPr>
            <a:picLocks noChangeAspect="1"/>
          </p:cNvPicPr>
          <p:nvPr/>
        </p:nvPicPr>
        <p:blipFill>
          <a:blip r:embed="rId5"/>
          <a:stretch>
            <a:fillRect/>
          </a:stretch>
        </p:blipFill>
        <p:spPr>
          <a:xfrm>
            <a:off x="10417054" y="2494089"/>
            <a:ext cx="134549" cy="195707"/>
          </a:xfrm>
          <a:prstGeom prst="rect">
            <a:avLst/>
          </a:prstGeom>
        </p:spPr>
      </p:pic>
      <p:sp>
        <p:nvSpPr>
          <p:cNvPr id="47" name="TextBox 46"/>
          <p:cNvSpPr txBox="1"/>
          <p:nvPr/>
        </p:nvSpPr>
        <p:spPr>
          <a:xfrm>
            <a:off x="1059216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Form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Form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Form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Form Type segment categorizes the market by form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Stick-based Sunscreen</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Forms</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Lotion-based Sunscreen</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Gel-based Sunscreen</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Cream-based Sunscreen</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Form Type split shows how demand is distributed across form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524_7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1_234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8_9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431_0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892_8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7_6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377_9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809_4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7_9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260_1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449_7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5_6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156_2_605E5C.png"/>
          <p:cNvPicPr>
            <a:picLocks noChangeAspect="1"/>
          </p:cNvPicPr>
          <p:nvPr/>
        </p:nvPicPr>
        <p:blipFill>
          <a:blip r:embed="rId16"/>
          <a:stretch>
            <a:fillRect/>
          </a:stretch>
        </p:blipFill>
        <p:spPr>
          <a:xfrm>
            <a:off x="10315881" y="2286582"/>
            <a:ext cx="1195728" cy="361950"/>
          </a:xfrm>
          <a:prstGeom prst="rect">
            <a:avLst/>
          </a:prstGeom>
        </p:spPr>
      </p:pic>
      <p:pic>
        <p:nvPicPr>
          <p:cNvPr id="83" name="Picture 82" descr="394_3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9_7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448917" cy="186689"/>
          </a:xfrm>
          <a:prstGeom prst="rect">
            <a:avLst/>
          </a:prstGeom>
          <a:noFill/>
        </p:spPr>
        <p:txBody>
          <a:bodyPr wrap="none" lIns="0" rIns="0" tIns="0" bIns="0">
            <a:spAutoFit/>
          </a:bodyPr>
          <a:lstStyle/>
          <a:p>
            <a:r>
              <a:rPr sz="1100" b="0">
                <a:solidFill>
                  <a:srgbClr val="2E2E2E"/>
                </a:solidFill>
                <a:latin typeface="Calibri"/>
              </a:rPr>
              <a:t>Among ceramide sunscreen by form type,</a:t>
            </a:r>
          </a:p>
        </p:txBody>
      </p:sp>
      <p:sp>
        <p:nvSpPr>
          <p:cNvPr id="91" name="TextBox 90"/>
          <p:cNvSpPr txBox="1"/>
          <p:nvPr/>
        </p:nvSpPr>
        <p:spPr>
          <a:xfrm>
            <a:off x="485775" y="4397077"/>
            <a:ext cx="2768699" cy="186689"/>
          </a:xfrm>
          <a:prstGeom prst="rect">
            <a:avLst/>
          </a:prstGeom>
          <a:noFill/>
        </p:spPr>
        <p:txBody>
          <a:bodyPr wrap="none" lIns="0" rIns="0" tIns="0" bIns="0">
            <a:spAutoFit/>
          </a:bodyPr>
          <a:lstStyle/>
          <a:p>
            <a:r>
              <a:rPr sz="1100" b="0">
                <a:solidFill>
                  <a:srgbClr val="2E2E2E"/>
                </a:solidFill>
                <a:latin typeface="Calibri"/>
              </a:rPr>
              <a:t>cream-based sunscreen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9"/>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833365" cy="186689"/>
          </a:xfrm>
          <a:prstGeom prst="rect">
            <a:avLst/>
          </a:prstGeom>
          <a:noFill/>
        </p:spPr>
        <p:txBody>
          <a:bodyPr wrap="none" lIns="0" rIns="0" tIns="0" bIns="0">
            <a:spAutoFit/>
          </a:bodyPr>
          <a:lstStyle/>
          <a:p>
            <a:r>
              <a:rPr sz="1100" b="0">
                <a:solidFill>
                  <a:srgbClr val="2E2E2E"/>
                </a:solidFill>
                <a:latin typeface="Calibri"/>
              </a:rPr>
              <a:t>period. In terms of value share by form type, the</a:t>
            </a:r>
          </a:p>
        </p:txBody>
      </p:sp>
      <p:sp>
        <p:nvSpPr>
          <p:cNvPr id="96" name="TextBox 95"/>
          <p:cNvSpPr txBox="1"/>
          <p:nvPr/>
        </p:nvSpPr>
        <p:spPr>
          <a:xfrm>
            <a:off x="485775" y="4899997"/>
            <a:ext cx="2669108" cy="186689"/>
          </a:xfrm>
          <a:prstGeom prst="rect">
            <a:avLst/>
          </a:prstGeom>
          <a:noFill/>
        </p:spPr>
        <p:txBody>
          <a:bodyPr wrap="none" lIns="0" rIns="0" tIns="0" bIns="0">
            <a:spAutoFit/>
          </a:bodyPr>
          <a:lstStyle/>
          <a:p>
            <a:r>
              <a:rPr sz="1100" b="0">
                <a:solidFill>
                  <a:srgbClr val="2E2E2E"/>
                </a:solidFill>
                <a:latin typeface="Calibri"/>
              </a:rPr>
              <a:t>stick-based sunscreen segment is expected to</a:t>
            </a:r>
          </a:p>
        </p:txBody>
      </p:sp>
      <p:sp>
        <p:nvSpPr>
          <p:cNvPr id="97" name="TextBox 96"/>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98" name="Picture 97" descr="lock.png"/>
          <p:cNvPicPr>
            <a:picLocks noChangeAspect="1"/>
          </p:cNvPicPr>
          <p:nvPr/>
        </p:nvPicPr>
        <p:blipFill>
          <a:blip r:embed="rId19"/>
          <a:stretch>
            <a:fillRect/>
          </a:stretch>
        </p:blipFill>
        <p:spPr>
          <a:xfrm>
            <a:off x="2194339" y="5057858"/>
            <a:ext cx="128699" cy="187198"/>
          </a:xfrm>
          <a:prstGeom prst="rect">
            <a:avLst/>
          </a:prstGeom>
        </p:spPr>
      </p:pic>
      <p:sp>
        <p:nvSpPr>
          <p:cNvPr id="99" name="TextBox 98"/>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0" name="TextBox 9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01" name="Picture 100" descr="lock.png"/>
          <p:cNvPicPr>
            <a:picLocks noChangeAspect="1"/>
          </p:cNvPicPr>
          <p:nvPr/>
        </p:nvPicPr>
        <p:blipFill>
          <a:blip r:embed="rId19"/>
          <a:stretch>
            <a:fillRect/>
          </a:stretch>
        </p:blipFill>
        <p:spPr>
          <a:xfrm>
            <a:off x="1330764" y="5225498"/>
            <a:ext cx="128699" cy="187198"/>
          </a:xfrm>
          <a:prstGeom prst="rect">
            <a:avLst/>
          </a:prstGeom>
        </p:spPr>
      </p:pic>
      <p:sp>
        <p:nvSpPr>
          <p:cNvPr id="102" name="TextBox 10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704579" cy="186689"/>
          </a:xfrm>
          <a:prstGeom prst="rect">
            <a:avLst/>
          </a:prstGeom>
          <a:noFill/>
        </p:spPr>
        <p:txBody>
          <a:bodyPr wrap="none" lIns="0" rIns="0" tIns="0" bIns="0">
            <a:spAutoFit/>
          </a:bodyPr>
          <a:lstStyle/>
          <a:p>
            <a:r>
              <a:rPr sz="1100" b="0">
                <a:solidFill>
                  <a:srgbClr val="2E2E2E"/>
                </a:solidFill>
                <a:latin typeface="Calibri"/>
              </a:rPr>
              <a:t>Stick-based sunscreen segment is projected to</a:t>
            </a:r>
          </a:p>
        </p:txBody>
      </p:sp>
      <p:sp>
        <p:nvSpPr>
          <p:cNvPr id="104" name="TextBox 103"/>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05" name="Picture 104" descr="lock.png"/>
          <p:cNvPicPr>
            <a:picLocks noChangeAspect="1"/>
          </p:cNvPicPr>
          <p:nvPr/>
        </p:nvPicPr>
        <p:blipFill>
          <a:blip r:embed="rId19"/>
          <a:stretch>
            <a:fillRect/>
          </a:stretch>
        </p:blipFill>
        <p:spPr>
          <a:xfrm>
            <a:off x="946316" y="5611070"/>
            <a:ext cx="128699" cy="187198"/>
          </a:xfrm>
          <a:prstGeom prst="rect">
            <a:avLst/>
          </a:prstGeom>
        </p:spPr>
      </p:pic>
      <p:sp>
        <p:nvSpPr>
          <p:cNvPr id="106" name="TextBox 105"/>
          <p:cNvSpPr txBox="1"/>
          <p:nvPr/>
        </p:nvSpPr>
        <p:spPr>
          <a:xfrm>
            <a:off x="1113812" y="5620849"/>
            <a:ext cx="1879475" cy="186689"/>
          </a:xfrm>
          <a:prstGeom prst="rect">
            <a:avLst/>
          </a:prstGeom>
          <a:noFill/>
        </p:spPr>
        <p:txBody>
          <a:bodyPr wrap="none" lIns="0" rIns="0" tIns="0" bIns="0">
            <a:spAutoFit/>
          </a:bodyPr>
          <a:lstStyle/>
          <a:p>
            <a:r>
              <a:rPr sz="1100" b="0">
                <a:solidFill>
                  <a:srgbClr val="2E2E2E"/>
                </a:solidFill>
                <a:latin typeface="Calibri"/>
              </a:rPr>
              <a:t>X higher value than other forms</a:t>
            </a:r>
          </a:p>
        </p:txBody>
      </p:sp>
      <p:sp>
        <p:nvSpPr>
          <p:cNvPr id="107" name="TextBox 106"/>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8" name="TextBox 107"/>
          <p:cNvSpPr txBox="1"/>
          <p:nvPr/>
        </p:nvSpPr>
        <p:spPr>
          <a:xfrm>
            <a:off x="3838575" y="4229437"/>
            <a:ext cx="1493936" cy="186689"/>
          </a:xfrm>
          <a:prstGeom prst="rect">
            <a:avLst/>
          </a:prstGeom>
          <a:noFill/>
        </p:spPr>
        <p:txBody>
          <a:bodyPr wrap="none" lIns="0" rIns="0" tIns="0" bIns="0">
            <a:spAutoFit/>
          </a:bodyPr>
          <a:lstStyle/>
          <a:p>
            <a:r>
              <a:rPr sz="1100" b="0">
                <a:solidFill>
                  <a:srgbClr val="2E2E2E"/>
                </a:solidFill>
                <a:latin typeface="Calibri"/>
              </a:rPr>
              <a:t>● Stick-based Sunscreen:</a:t>
            </a:r>
          </a:p>
        </p:txBody>
      </p:sp>
      <p:pic>
        <p:nvPicPr>
          <p:cNvPr id="109" name="Picture 108" descr="lock.png"/>
          <p:cNvPicPr>
            <a:picLocks noChangeAspect="1"/>
          </p:cNvPicPr>
          <p:nvPr/>
        </p:nvPicPr>
        <p:blipFill>
          <a:blip r:embed="rId19"/>
          <a:stretch>
            <a:fillRect/>
          </a:stretch>
        </p:blipFill>
        <p:spPr>
          <a:xfrm>
            <a:off x="5280563" y="4219658"/>
            <a:ext cx="128699" cy="187198"/>
          </a:xfrm>
          <a:prstGeom prst="rect">
            <a:avLst/>
          </a:prstGeom>
        </p:spPr>
      </p:pic>
      <p:sp>
        <p:nvSpPr>
          <p:cNvPr id="110" name="TextBox 109"/>
          <p:cNvSpPr txBox="1"/>
          <p:nvPr/>
        </p:nvSpPr>
        <p:spPr>
          <a:xfrm>
            <a:off x="544805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9"/>
          <a:stretch>
            <a:fillRect/>
          </a:stretch>
        </p:blipFill>
        <p:spPr>
          <a:xfrm>
            <a:off x="6307509" y="4219658"/>
            <a:ext cx="128699" cy="187198"/>
          </a:xfrm>
          <a:prstGeom prst="rect">
            <a:avLst/>
          </a:prstGeom>
        </p:spPr>
      </p:pic>
      <p:sp>
        <p:nvSpPr>
          <p:cNvPr id="112" name="TextBox 111"/>
          <p:cNvSpPr txBox="1"/>
          <p:nvPr/>
        </p:nvSpPr>
        <p:spPr>
          <a:xfrm>
            <a:off x="6475005"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13" name="TextBox 112"/>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14" name="TextBox 113"/>
          <p:cNvSpPr txBox="1"/>
          <p:nvPr/>
        </p:nvSpPr>
        <p:spPr>
          <a:xfrm>
            <a:off x="3838575" y="4615009"/>
            <a:ext cx="945202" cy="186689"/>
          </a:xfrm>
          <a:prstGeom prst="rect">
            <a:avLst/>
          </a:prstGeom>
          <a:noFill/>
        </p:spPr>
        <p:txBody>
          <a:bodyPr wrap="none" lIns="0" rIns="0" tIns="0" bIns="0">
            <a:spAutoFit/>
          </a:bodyPr>
          <a:lstStyle/>
          <a:p>
            <a:r>
              <a:rPr sz="1100" b="0">
                <a:solidFill>
                  <a:srgbClr val="2E2E2E"/>
                </a:solidFill>
                <a:latin typeface="Calibri"/>
              </a:rPr>
              <a:t>● Other Forms:</a:t>
            </a:r>
          </a:p>
        </p:txBody>
      </p:sp>
      <p:pic>
        <p:nvPicPr>
          <p:cNvPr id="115" name="Picture 114" descr="lock.png"/>
          <p:cNvPicPr>
            <a:picLocks noChangeAspect="1"/>
          </p:cNvPicPr>
          <p:nvPr/>
        </p:nvPicPr>
        <p:blipFill>
          <a:blip r:embed="rId19"/>
          <a:stretch>
            <a:fillRect/>
          </a:stretch>
        </p:blipFill>
        <p:spPr>
          <a:xfrm>
            <a:off x="4731828" y="4605230"/>
            <a:ext cx="128699" cy="187198"/>
          </a:xfrm>
          <a:prstGeom prst="rect">
            <a:avLst/>
          </a:prstGeom>
        </p:spPr>
      </p:pic>
      <p:sp>
        <p:nvSpPr>
          <p:cNvPr id="116" name="TextBox 115"/>
          <p:cNvSpPr txBox="1"/>
          <p:nvPr/>
        </p:nvSpPr>
        <p:spPr>
          <a:xfrm>
            <a:off x="4899324"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7" name="Picture 116" descr="lock.png"/>
          <p:cNvPicPr>
            <a:picLocks noChangeAspect="1"/>
          </p:cNvPicPr>
          <p:nvPr/>
        </p:nvPicPr>
        <p:blipFill>
          <a:blip r:embed="rId19"/>
          <a:stretch>
            <a:fillRect/>
          </a:stretch>
        </p:blipFill>
        <p:spPr>
          <a:xfrm>
            <a:off x="5758775" y="4605230"/>
            <a:ext cx="128699" cy="187198"/>
          </a:xfrm>
          <a:prstGeom prst="rect">
            <a:avLst/>
          </a:prstGeom>
        </p:spPr>
      </p:pic>
      <p:sp>
        <p:nvSpPr>
          <p:cNvPr id="118" name="TextBox 117"/>
          <p:cNvSpPr txBox="1"/>
          <p:nvPr/>
        </p:nvSpPr>
        <p:spPr>
          <a:xfrm>
            <a:off x="5926270"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9" name="TextBox 118"/>
          <p:cNvSpPr txBox="1"/>
          <p:nvPr/>
        </p:nvSpPr>
        <p:spPr>
          <a:xfrm>
            <a:off x="3838575" y="4832941"/>
            <a:ext cx="1586433" cy="186689"/>
          </a:xfrm>
          <a:prstGeom prst="rect">
            <a:avLst/>
          </a:prstGeom>
          <a:noFill/>
        </p:spPr>
        <p:txBody>
          <a:bodyPr wrap="none" lIns="0" rIns="0" tIns="0" bIns="0">
            <a:spAutoFit/>
          </a:bodyPr>
          <a:lstStyle/>
          <a:p>
            <a:r>
              <a:rPr sz="1100" b="0">
                <a:solidFill>
                  <a:srgbClr val="2E2E2E"/>
                </a:solidFill>
                <a:latin typeface="Calibri"/>
              </a:rPr>
              <a:t>● Lotion-based Sunscreen:</a:t>
            </a:r>
          </a:p>
        </p:txBody>
      </p:sp>
      <p:pic>
        <p:nvPicPr>
          <p:cNvPr id="120" name="Picture 119" descr="lock.png"/>
          <p:cNvPicPr>
            <a:picLocks noChangeAspect="1"/>
          </p:cNvPicPr>
          <p:nvPr/>
        </p:nvPicPr>
        <p:blipFill>
          <a:blip r:embed="rId19"/>
          <a:stretch>
            <a:fillRect/>
          </a:stretch>
        </p:blipFill>
        <p:spPr>
          <a:xfrm>
            <a:off x="5373059" y="4823162"/>
            <a:ext cx="128699" cy="187198"/>
          </a:xfrm>
          <a:prstGeom prst="rect">
            <a:avLst/>
          </a:prstGeom>
        </p:spPr>
      </p:pic>
      <p:sp>
        <p:nvSpPr>
          <p:cNvPr id="121" name="TextBox 120"/>
          <p:cNvSpPr txBox="1"/>
          <p:nvPr/>
        </p:nvSpPr>
        <p:spPr>
          <a:xfrm>
            <a:off x="5540555"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19"/>
          <a:stretch>
            <a:fillRect/>
          </a:stretch>
        </p:blipFill>
        <p:spPr>
          <a:xfrm>
            <a:off x="6400006" y="4823162"/>
            <a:ext cx="128699" cy="187198"/>
          </a:xfrm>
          <a:prstGeom prst="rect">
            <a:avLst/>
          </a:prstGeom>
        </p:spPr>
      </p:pic>
      <p:sp>
        <p:nvSpPr>
          <p:cNvPr id="123" name="TextBox 122"/>
          <p:cNvSpPr txBox="1"/>
          <p:nvPr/>
        </p:nvSpPr>
        <p:spPr>
          <a:xfrm>
            <a:off x="6567501"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4" name="TextBox 123"/>
          <p:cNvSpPr txBox="1"/>
          <p:nvPr/>
        </p:nvSpPr>
        <p:spPr>
          <a:xfrm>
            <a:off x="3838575" y="5050872"/>
            <a:ext cx="1417811" cy="186689"/>
          </a:xfrm>
          <a:prstGeom prst="rect">
            <a:avLst/>
          </a:prstGeom>
          <a:noFill/>
        </p:spPr>
        <p:txBody>
          <a:bodyPr wrap="none" lIns="0" rIns="0" tIns="0" bIns="0">
            <a:spAutoFit/>
          </a:bodyPr>
          <a:lstStyle/>
          <a:p>
            <a:r>
              <a:rPr sz="1100" b="0">
                <a:solidFill>
                  <a:srgbClr val="2E2E2E"/>
                </a:solidFill>
                <a:latin typeface="Calibri"/>
              </a:rPr>
              <a:t>● Gel-based Sunscreen:</a:t>
            </a:r>
          </a:p>
        </p:txBody>
      </p:sp>
      <p:pic>
        <p:nvPicPr>
          <p:cNvPr id="125" name="Picture 124" descr="lock.png"/>
          <p:cNvPicPr>
            <a:picLocks noChangeAspect="1"/>
          </p:cNvPicPr>
          <p:nvPr/>
        </p:nvPicPr>
        <p:blipFill>
          <a:blip r:embed="rId19"/>
          <a:stretch>
            <a:fillRect/>
          </a:stretch>
        </p:blipFill>
        <p:spPr>
          <a:xfrm>
            <a:off x="5204437" y="5041093"/>
            <a:ext cx="128699" cy="187198"/>
          </a:xfrm>
          <a:prstGeom prst="rect">
            <a:avLst/>
          </a:prstGeom>
        </p:spPr>
      </p:pic>
      <p:sp>
        <p:nvSpPr>
          <p:cNvPr id="126" name="TextBox 125"/>
          <p:cNvSpPr txBox="1"/>
          <p:nvPr/>
        </p:nvSpPr>
        <p:spPr>
          <a:xfrm>
            <a:off x="5371933"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19"/>
          <a:stretch>
            <a:fillRect/>
          </a:stretch>
        </p:blipFill>
        <p:spPr>
          <a:xfrm>
            <a:off x="6231383" y="5041093"/>
            <a:ext cx="128699" cy="187198"/>
          </a:xfrm>
          <a:prstGeom prst="rect">
            <a:avLst/>
          </a:prstGeom>
        </p:spPr>
      </p:pic>
      <p:sp>
        <p:nvSpPr>
          <p:cNvPr id="128" name="TextBox 127"/>
          <p:cNvSpPr txBox="1"/>
          <p:nvPr/>
        </p:nvSpPr>
        <p:spPr>
          <a:xfrm>
            <a:off x="6398879"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9" name="TextBox 128"/>
          <p:cNvSpPr txBox="1"/>
          <p:nvPr/>
        </p:nvSpPr>
        <p:spPr>
          <a:xfrm>
            <a:off x="3838575" y="5268804"/>
            <a:ext cx="1599257" cy="186689"/>
          </a:xfrm>
          <a:prstGeom prst="rect">
            <a:avLst/>
          </a:prstGeom>
          <a:noFill/>
        </p:spPr>
        <p:txBody>
          <a:bodyPr wrap="none" lIns="0" rIns="0" tIns="0" bIns="0">
            <a:spAutoFit/>
          </a:bodyPr>
          <a:lstStyle/>
          <a:p>
            <a:r>
              <a:rPr sz="1100" b="0">
                <a:solidFill>
                  <a:srgbClr val="2E2E2E"/>
                </a:solidFill>
                <a:latin typeface="Calibri"/>
              </a:rPr>
              <a:t>● Cream-based Sunscreen:</a:t>
            </a:r>
          </a:p>
        </p:txBody>
      </p:sp>
      <p:pic>
        <p:nvPicPr>
          <p:cNvPr id="130" name="Picture 129" descr="lock.png"/>
          <p:cNvPicPr>
            <a:picLocks noChangeAspect="1"/>
          </p:cNvPicPr>
          <p:nvPr/>
        </p:nvPicPr>
        <p:blipFill>
          <a:blip r:embed="rId19"/>
          <a:stretch>
            <a:fillRect/>
          </a:stretch>
        </p:blipFill>
        <p:spPr>
          <a:xfrm>
            <a:off x="5385884" y="5259025"/>
            <a:ext cx="128699" cy="187198"/>
          </a:xfrm>
          <a:prstGeom prst="rect">
            <a:avLst/>
          </a:prstGeom>
        </p:spPr>
      </p:pic>
      <p:sp>
        <p:nvSpPr>
          <p:cNvPr id="131" name="TextBox 130"/>
          <p:cNvSpPr txBox="1"/>
          <p:nvPr/>
        </p:nvSpPr>
        <p:spPr>
          <a:xfrm>
            <a:off x="5553379" y="5268804"/>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19"/>
          <a:stretch>
            <a:fillRect/>
          </a:stretch>
        </p:blipFill>
        <p:spPr>
          <a:xfrm>
            <a:off x="6412830" y="5259025"/>
            <a:ext cx="128699" cy="187198"/>
          </a:xfrm>
          <a:prstGeom prst="rect">
            <a:avLst/>
          </a:prstGeom>
        </p:spPr>
      </p:pic>
      <p:sp>
        <p:nvSpPr>
          <p:cNvPr id="133" name="TextBox 132"/>
          <p:cNvSpPr txBox="1"/>
          <p:nvPr/>
        </p:nvSpPr>
        <p:spPr>
          <a:xfrm>
            <a:off x="6580325" y="5268804"/>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4" name="TextBox 133"/>
          <p:cNvSpPr txBox="1"/>
          <p:nvPr/>
        </p:nvSpPr>
        <p:spPr>
          <a:xfrm>
            <a:off x="8524875" y="5842641"/>
            <a:ext cx="3042243" cy="194310"/>
          </a:xfrm>
          <a:prstGeom prst="rect">
            <a:avLst/>
          </a:prstGeom>
          <a:noFill/>
        </p:spPr>
        <p:txBody>
          <a:bodyPr wrap="none" lIns="0" rIns="0" tIns="0" bIns="0">
            <a:spAutoFit/>
          </a:bodyPr>
          <a:lstStyle/>
          <a:p>
            <a:r>
              <a:rPr sz="1150" b="1">
                <a:solidFill>
                  <a:srgbClr val="0B2E4A"/>
                </a:solidFill>
                <a:latin typeface="Calibri"/>
              </a:rPr>
              <a:t>The Form Type segment is projected to grow at a</a:t>
            </a:r>
          </a:p>
        </p:txBody>
      </p:sp>
      <p:sp>
        <p:nvSpPr>
          <p:cNvPr id="135" name="TextBox 13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6" name="Picture 135" descr="lock.png"/>
          <p:cNvPicPr>
            <a:picLocks noChangeAspect="1"/>
          </p:cNvPicPr>
          <p:nvPr/>
        </p:nvPicPr>
        <p:blipFill>
          <a:blip r:embed="rId19"/>
          <a:stretch>
            <a:fillRect/>
          </a:stretch>
        </p:blipFill>
        <p:spPr>
          <a:xfrm>
            <a:off x="9048826" y="6007677"/>
            <a:ext cx="134549" cy="195707"/>
          </a:xfrm>
          <a:prstGeom prst="rect">
            <a:avLst/>
          </a:prstGeom>
        </p:spPr>
      </p:pic>
      <p:sp>
        <p:nvSpPr>
          <p:cNvPr id="137" name="TextBox 13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Form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Form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Form Type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144423" cy="186689"/>
          </a:xfrm>
          <a:prstGeom prst="rect">
            <a:avLst/>
          </a:prstGeom>
          <a:noFill/>
        </p:spPr>
        <p:txBody>
          <a:bodyPr wrap="none" lIns="0" rIns="0" tIns="0" bIns="0">
            <a:spAutoFit/>
          </a:bodyPr>
          <a:lstStyle/>
          <a:p>
            <a:r>
              <a:rPr sz="1100" b="0">
                <a:solidFill>
                  <a:srgbClr val="2E2E2E"/>
                </a:solidFill>
                <a:latin typeface="Calibri"/>
              </a:rPr>
              <a:t>Stick-based sunscreen followed by other forms are expected to be the two most attractive form type segments in the global ceramide sunscreen market in terms of value over the forecast period.</a:t>
            </a:r>
          </a:p>
        </p:txBody>
      </p:sp>
      <p:sp>
        <p:nvSpPr>
          <p:cNvPr id="20" name="TextBox 19"/>
          <p:cNvSpPr txBox="1"/>
          <p:nvPr/>
        </p:nvSpPr>
        <p:spPr>
          <a:xfrm>
            <a:off x="257175" y="5861685"/>
            <a:ext cx="3641261" cy="186689"/>
          </a:xfrm>
          <a:prstGeom prst="rect">
            <a:avLst/>
          </a:prstGeom>
          <a:noFill/>
        </p:spPr>
        <p:txBody>
          <a:bodyPr wrap="none" lIns="0" rIns="0" tIns="0" bIns="0">
            <a:spAutoFit/>
          </a:bodyPr>
          <a:lstStyle/>
          <a:p>
            <a:r>
              <a:rPr sz="1100" b="0">
                <a:solidFill>
                  <a:srgbClr val="2E2E2E"/>
                </a:solidFill>
                <a:latin typeface="Calibri"/>
              </a:rPr>
              <a:t>Stick-based sunscreen and other forms exhibit a CAGR index of</a:t>
            </a:r>
          </a:p>
        </p:txBody>
      </p:sp>
      <p:pic>
        <p:nvPicPr>
          <p:cNvPr id="21" name="Picture 20" descr="lock.png"/>
          <p:cNvPicPr>
            <a:picLocks noChangeAspect="1"/>
          </p:cNvPicPr>
          <p:nvPr/>
        </p:nvPicPr>
        <p:blipFill>
          <a:blip r:embed="rId6"/>
          <a:stretch>
            <a:fillRect/>
          </a:stretch>
        </p:blipFill>
        <p:spPr>
          <a:xfrm>
            <a:off x="3846488" y="5851905"/>
            <a:ext cx="128699" cy="187198"/>
          </a:xfrm>
          <a:prstGeom prst="rect">
            <a:avLst/>
          </a:prstGeom>
        </p:spPr>
      </p:pic>
      <p:sp>
        <p:nvSpPr>
          <p:cNvPr id="22" name="TextBox 21"/>
          <p:cNvSpPr txBox="1"/>
          <p:nvPr/>
        </p:nvSpPr>
        <p:spPr>
          <a:xfrm>
            <a:off x="401398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251878" y="5851905"/>
            <a:ext cx="128699" cy="187198"/>
          </a:xfrm>
          <a:prstGeom prst="rect">
            <a:avLst/>
          </a:prstGeom>
        </p:spPr>
      </p:pic>
      <p:sp>
        <p:nvSpPr>
          <p:cNvPr id="24" name="TextBox 23"/>
          <p:cNvSpPr txBox="1"/>
          <p:nvPr/>
        </p:nvSpPr>
        <p:spPr>
          <a:xfrm>
            <a:off x="441937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028347" y="5851905"/>
            <a:ext cx="128699" cy="187198"/>
          </a:xfrm>
          <a:prstGeom prst="rect">
            <a:avLst/>
          </a:prstGeom>
        </p:spPr>
      </p:pic>
      <p:sp>
        <p:nvSpPr>
          <p:cNvPr id="26" name="TextBox 25"/>
          <p:cNvSpPr txBox="1"/>
          <p:nvPr/>
        </p:nvSpPr>
        <p:spPr>
          <a:xfrm>
            <a:off x="619584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433737" y="5851905"/>
            <a:ext cx="128699" cy="187198"/>
          </a:xfrm>
          <a:prstGeom prst="rect">
            <a:avLst/>
          </a:prstGeom>
        </p:spPr>
      </p:pic>
      <p:sp>
        <p:nvSpPr>
          <p:cNvPr id="28" name="TextBox 27"/>
          <p:cNvSpPr txBox="1"/>
          <p:nvPr/>
        </p:nvSpPr>
        <p:spPr>
          <a:xfrm>
            <a:off x="6601233"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155637" y="5851905"/>
            <a:ext cx="128699" cy="187198"/>
          </a:xfrm>
          <a:prstGeom prst="rect">
            <a:avLst/>
          </a:prstGeom>
        </p:spPr>
      </p:pic>
      <p:sp>
        <p:nvSpPr>
          <p:cNvPr id="30" name="TextBox 29"/>
          <p:cNvSpPr txBox="1"/>
          <p:nvPr/>
        </p:nvSpPr>
        <p:spPr>
          <a:xfrm>
            <a:off x="9323133" y="5861685"/>
            <a:ext cx="2065287" cy="186689"/>
          </a:xfrm>
          <a:prstGeom prst="rect">
            <a:avLst/>
          </a:prstGeom>
          <a:noFill/>
        </p:spPr>
        <p:txBody>
          <a:bodyPr wrap="none" lIns="0" rIns="0" tIns="0" bIns="0">
            <a:spAutoFit/>
          </a:bodyPr>
          <a:lstStyle/>
          <a:p>
            <a:r>
              <a:rPr sz="1100" b="0">
                <a:solidFill>
                  <a:srgbClr val="2E2E2E"/>
                </a:solidFill>
                <a:latin typeface="Calibri"/>
              </a:rPr>
              <a:t>. The gel-based sunscreen segment</a:t>
            </a:r>
          </a:p>
        </p:txBody>
      </p:sp>
      <p:sp>
        <p:nvSpPr>
          <p:cNvPr id="31" name="TextBox 30"/>
          <p:cNvSpPr txBox="1"/>
          <p:nvPr/>
        </p:nvSpPr>
        <p:spPr>
          <a:xfrm>
            <a:off x="257175" y="6029325"/>
            <a:ext cx="11539751" cy="186689"/>
          </a:xfrm>
          <a:prstGeom prst="rect">
            <a:avLst/>
          </a:prstGeom>
          <a:noFill/>
        </p:spPr>
        <p:txBody>
          <a:bodyPr wrap="none" lIns="0" rIns="0" tIns="0" bIns="0">
            <a:spAutoFit/>
          </a:bodyPr>
          <a:lstStyle/>
          <a:p>
            <a:r>
              <a:rPr sz="1100" b="0">
                <a:solidFill>
                  <a:srgbClr val="2E2E2E"/>
                </a:solidFill>
                <a:latin typeface="Calibri"/>
              </a:rPr>
              <a:t>is 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Form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Cream-based Sunscreen</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Lotion-based Sunscreen</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Gel-based Sunscreen</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Stick-based Sunscreen</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Form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Forms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Form Type</a:t>
            </a:r>
          </a:p>
        </p:txBody>
      </p:sp>
      <p:sp>
        <p:nvSpPr>
          <p:cNvPr id="15" name="Rectangle 14"/>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4059" y="3583939"/>
            <a:ext cx="402511" cy="585471"/>
          </a:xfrm>
          <a:prstGeom prst="rect">
            <a:avLst/>
          </a:prstGeom>
        </p:spPr>
      </p:pic>
      <p:sp>
        <p:nvSpPr>
          <p:cNvPr id="19" name="TextBox 18"/>
          <p:cNvSpPr txBox="1"/>
          <p:nvPr/>
        </p:nvSpPr>
        <p:spPr>
          <a:xfrm>
            <a:off x="6305550" y="1400175"/>
            <a:ext cx="4803120" cy="194310"/>
          </a:xfrm>
          <a:prstGeom prst="rect">
            <a:avLst/>
          </a:prstGeom>
          <a:noFill/>
        </p:spPr>
        <p:txBody>
          <a:bodyPr wrap="none" lIns="0" rIns="0" tIns="0" bIns="0">
            <a:spAutoFit/>
          </a:bodyPr>
          <a:lstStyle/>
          <a:p>
            <a:r>
              <a:rPr sz="1150" b="0">
                <a:solidFill>
                  <a:srgbClr val="2E2E2E"/>
                </a:solidFill>
                <a:latin typeface="Calibri"/>
              </a:rPr>
              <a:t>By 2036, stick-based sunscreen segment is anticipated to witness an increase of</a:t>
            </a:r>
          </a:p>
        </p:txBody>
      </p:sp>
      <p:pic>
        <p:nvPicPr>
          <p:cNvPr id="20" name="Picture 19" descr="lock.png"/>
          <p:cNvPicPr>
            <a:picLocks noChangeAspect="1"/>
          </p:cNvPicPr>
          <p:nvPr/>
        </p:nvPicPr>
        <p:blipFill>
          <a:blip r:embed="rId5"/>
          <a:stretch>
            <a:fillRect/>
          </a:stretch>
        </p:blipFill>
        <p:spPr>
          <a:xfrm>
            <a:off x="11057824" y="1389951"/>
            <a:ext cx="134549" cy="195707"/>
          </a:xfrm>
          <a:prstGeom prst="rect">
            <a:avLst/>
          </a:prstGeom>
        </p:spPr>
      </p:pic>
      <p:sp>
        <p:nvSpPr>
          <p:cNvPr id="21" name="TextBox 20"/>
          <p:cNvSpPr txBox="1"/>
          <p:nvPr/>
        </p:nvSpPr>
        <p:spPr>
          <a:xfrm>
            <a:off x="11232933" y="140017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2" name="TextBox 21"/>
          <p:cNvSpPr txBox="1"/>
          <p:nvPr/>
        </p:nvSpPr>
        <p:spPr>
          <a:xfrm>
            <a:off x="6305550" y="1575435"/>
            <a:ext cx="5591175" cy="194310"/>
          </a:xfrm>
          <a:prstGeom prst="rect">
            <a:avLst/>
          </a:prstGeom>
          <a:noFill/>
        </p:spPr>
        <p:txBody>
          <a:bodyPr wrap="none" lIns="0" rIns="0" tIns="0" bIns="0">
            <a:spAutoFit/>
          </a:bodyPr>
          <a:lstStyle/>
          <a:p>
            <a:r>
              <a:rPr sz="1150" b="0">
                <a:solidFill>
                  <a:srgbClr val="2E2E2E"/>
                </a:solidFill>
                <a:latin typeface="Calibri"/>
              </a:rPr>
              <a:t>terms of value as compared to 2026. The stick-based sunscreen segment is expected to create</a:t>
            </a:r>
          </a:p>
        </p:txBody>
      </p:sp>
      <p:sp>
        <p:nvSpPr>
          <p:cNvPr id="23" name="TextBox 22"/>
          <p:cNvSpPr txBox="1"/>
          <p:nvPr/>
        </p:nvSpPr>
        <p:spPr>
          <a:xfrm>
            <a:off x="6305550" y="1750695"/>
            <a:ext cx="2136588" cy="194310"/>
          </a:xfrm>
          <a:prstGeom prst="rect">
            <a:avLst/>
          </a:prstGeom>
          <a:noFill/>
        </p:spPr>
        <p:txBody>
          <a:bodyPr wrap="none" lIns="0" rIns="0" tIns="0" bIns="0">
            <a:spAutoFit/>
          </a:bodyPr>
          <a:lstStyle/>
          <a:p>
            <a:r>
              <a:rPr sz="1150" b="0">
                <a:solidFill>
                  <a:srgbClr val="2E2E2E"/>
                </a:solidFill>
                <a:latin typeface="Calibri"/>
              </a:rPr>
              <a:t>an incremental opportunity of US$</a:t>
            </a:r>
          </a:p>
        </p:txBody>
      </p:sp>
      <p:pic>
        <p:nvPicPr>
          <p:cNvPr id="24" name="Picture 23" descr="lock.png"/>
          <p:cNvPicPr>
            <a:picLocks noChangeAspect="1"/>
          </p:cNvPicPr>
          <p:nvPr/>
        </p:nvPicPr>
        <p:blipFill>
          <a:blip r:embed="rId5"/>
          <a:stretch>
            <a:fillRect/>
          </a:stretch>
        </p:blipFill>
        <p:spPr>
          <a:xfrm>
            <a:off x="8391292" y="1740471"/>
            <a:ext cx="134549" cy="195707"/>
          </a:xfrm>
          <a:prstGeom prst="rect">
            <a:avLst/>
          </a:prstGeom>
        </p:spPr>
      </p:pic>
      <p:sp>
        <p:nvSpPr>
          <p:cNvPr id="25" name="TextBox 24"/>
          <p:cNvSpPr txBox="1"/>
          <p:nvPr/>
        </p:nvSpPr>
        <p:spPr>
          <a:xfrm>
            <a:off x="8566402" y="1750695"/>
            <a:ext cx="3157797"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a:t>
            </a:r>
          </a:p>
        </p:txBody>
      </p:sp>
      <p:sp>
        <p:nvSpPr>
          <p:cNvPr id="26" name="TextBox 25"/>
          <p:cNvSpPr txBox="1"/>
          <p:nvPr/>
        </p:nvSpPr>
        <p:spPr>
          <a:xfrm>
            <a:off x="6305550" y="192595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27" name="TextBox 26"/>
          <p:cNvSpPr txBox="1"/>
          <p:nvPr/>
        </p:nvSpPr>
        <p:spPr>
          <a:xfrm>
            <a:off x="6305550" y="2153793"/>
            <a:ext cx="4948907" cy="194310"/>
          </a:xfrm>
          <a:prstGeom prst="rect">
            <a:avLst/>
          </a:prstGeom>
          <a:noFill/>
        </p:spPr>
        <p:txBody>
          <a:bodyPr wrap="none" lIns="0" rIns="0" tIns="0" bIns="0">
            <a:spAutoFit/>
          </a:bodyPr>
          <a:lstStyle/>
          <a:p>
            <a:r>
              <a:rPr sz="1150" b="0">
                <a:solidFill>
                  <a:srgbClr val="2E2E2E"/>
                </a:solidFill>
                <a:latin typeface="Calibri"/>
              </a:rPr>
              <a:t>The other forms segment is expected to create an incremental opportunity of US$</a:t>
            </a:r>
          </a:p>
        </p:txBody>
      </p:sp>
      <p:pic>
        <p:nvPicPr>
          <p:cNvPr id="28" name="Picture 27" descr="lock.png"/>
          <p:cNvPicPr>
            <a:picLocks noChangeAspect="1"/>
          </p:cNvPicPr>
          <p:nvPr/>
        </p:nvPicPr>
        <p:blipFill>
          <a:blip r:embed="rId5"/>
          <a:stretch>
            <a:fillRect/>
          </a:stretch>
        </p:blipFill>
        <p:spPr>
          <a:xfrm>
            <a:off x="11203611" y="2143569"/>
            <a:ext cx="134549" cy="195707"/>
          </a:xfrm>
          <a:prstGeom prst="rect">
            <a:avLst/>
          </a:prstGeom>
        </p:spPr>
      </p:pic>
      <p:sp>
        <p:nvSpPr>
          <p:cNvPr id="29" name="TextBox 28"/>
          <p:cNvSpPr txBox="1"/>
          <p:nvPr/>
        </p:nvSpPr>
        <p:spPr>
          <a:xfrm>
            <a:off x="11378720" y="215379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0" name="TextBox 29"/>
          <p:cNvSpPr txBox="1"/>
          <p:nvPr/>
        </p:nvSpPr>
        <p:spPr>
          <a:xfrm>
            <a:off x="6305550" y="2329053"/>
            <a:ext cx="5240721" cy="194310"/>
          </a:xfrm>
          <a:prstGeom prst="rect">
            <a:avLst/>
          </a:prstGeom>
          <a:noFill/>
        </p:spPr>
        <p:txBody>
          <a:bodyPr wrap="none" lIns="0" rIns="0" tIns="0" bIns="0">
            <a:spAutoFit/>
          </a:bodyPr>
          <a:lstStyle/>
          <a:p>
            <a:r>
              <a:rPr sz="1150" b="0">
                <a:solidFill>
                  <a:srgbClr val="2E2E2E"/>
                </a:solidFill>
                <a:latin typeface="Calibri"/>
              </a:rPr>
              <a:t>the overall ceramide sunscreen market from 2026 to 2036. The lotion-based sunscreen</a:t>
            </a:r>
          </a:p>
        </p:txBody>
      </p:sp>
      <p:sp>
        <p:nvSpPr>
          <p:cNvPr id="31" name="TextBox 30"/>
          <p:cNvSpPr txBox="1"/>
          <p:nvPr/>
        </p:nvSpPr>
        <p:spPr>
          <a:xfrm>
            <a:off x="6305550" y="2504313"/>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2" name="Picture 31" descr="lock.png"/>
          <p:cNvPicPr>
            <a:picLocks noChangeAspect="1"/>
          </p:cNvPicPr>
          <p:nvPr/>
        </p:nvPicPr>
        <p:blipFill>
          <a:blip r:embed="rId5"/>
          <a:stretch>
            <a:fillRect/>
          </a:stretch>
        </p:blipFill>
        <p:spPr>
          <a:xfrm>
            <a:off x="10210642" y="2494089"/>
            <a:ext cx="134549" cy="195707"/>
          </a:xfrm>
          <a:prstGeom prst="rect">
            <a:avLst/>
          </a:prstGeom>
        </p:spPr>
      </p:pic>
      <p:sp>
        <p:nvSpPr>
          <p:cNvPr id="33" name="TextBox 32"/>
          <p:cNvSpPr txBox="1"/>
          <p:nvPr/>
        </p:nvSpPr>
        <p:spPr>
          <a:xfrm>
            <a:off x="10385751" y="2504313"/>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4" name="TextBox 33"/>
          <p:cNvSpPr txBox="1"/>
          <p:nvPr/>
        </p:nvSpPr>
        <p:spPr>
          <a:xfrm>
            <a:off x="6305550" y="2679573"/>
            <a:ext cx="2904207" cy="194310"/>
          </a:xfrm>
          <a:prstGeom prst="rect">
            <a:avLst/>
          </a:prstGeom>
          <a:noFill/>
        </p:spPr>
        <p:txBody>
          <a:bodyPr wrap="none" lIns="0" rIns="0" tIns="0" bIns="0">
            <a:spAutoFit/>
          </a:bodyPr>
          <a:lstStyle/>
          <a:p>
            <a:r>
              <a:rPr sz="1150" b="0">
                <a:solidFill>
                  <a:srgbClr val="2E2E2E"/>
                </a:solidFill>
                <a:latin typeface="Calibri"/>
              </a:rPr>
              <a:t>ceramide sunscreen market from 2026 to 2036.</a:t>
            </a:r>
          </a:p>
        </p:txBody>
      </p:sp>
      <p:sp>
        <p:nvSpPr>
          <p:cNvPr id="35"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Form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Form Type, 2021–2036, highlighting the sub-segments driving growth</a:t>
            </a:r>
          </a:p>
        </p:txBody>
      </p:sp>
      <p:sp>
        <p:nvSpPr>
          <p:cNvPr id="10" name="Rounded Rectangle 9"/>
          <p:cNvSpPr/>
          <p:nvPr/>
        </p:nvSpPr>
        <p:spPr>
          <a:xfrm>
            <a:off x="142875" y="981075"/>
            <a:ext cx="11906250" cy="4162425"/>
          </a:xfrm>
          <a:prstGeom prst="roundRect">
            <a:avLst>
              <a:gd name="adj" fmla="val 18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Form Type (US$ Mn)</a:t>
            </a:r>
          </a:p>
        </p:txBody>
      </p:sp>
      <p:graphicFrame>
        <p:nvGraphicFramePr>
          <p:cNvPr id="12" name="Table 11"/>
          <p:cNvGraphicFramePr>
            <a:graphicFrameLocks noGrp="1"/>
          </p:cNvGraphicFramePr>
          <p:nvPr/>
        </p:nvGraphicFramePr>
        <p:xfrm>
          <a:off x="152400" y="1238250"/>
          <a:ext cx="11887199" cy="3695698"/>
        </p:xfrm>
        <a:graphic>
          <a:graphicData uri="http://schemas.openxmlformats.org/drawingml/2006/table">
            <a:tbl>
              <a:tblPr>
                <a:tableStyleId>{5C22544A-7EE6-4342-B048-85BDC9FD1C3A}</a:tableStyleId>
              </a:tblPr>
              <a:tblGrid>
                <a:gridCol w="1779968"/>
                <a:gridCol w="594543"/>
                <a:gridCol w="594543"/>
                <a:gridCol w="594543"/>
                <a:gridCol w="594543"/>
                <a:gridCol w="594543"/>
                <a:gridCol w="594543"/>
                <a:gridCol w="594543"/>
                <a:gridCol w="594543"/>
                <a:gridCol w="594543"/>
                <a:gridCol w="594543"/>
                <a:gridCol w="594543"/>
                <a:gridCol w="594543"/>
                <a:gridCol w="594543"/>
                <a:gridCol w="594543"/>
                <a:gridCol w="594543"/>
                <a:gridCol w="594543"/>
                <a:gridCol w="594543"/>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98">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Traditional Cream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Gel-Cream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Standard Lotion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Lightweight Fluid / Milk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Water-based Gel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Oil-free Gel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Spray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Serum-based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943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276850"/>
            <a:ext cx="11906250" cy="1352550"/>
          </a:xfrm>
          <a:prstGeom prst="roundRect">
            <a:avLst>
              <a:gd name="adj" fmla="val 56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3625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Form Type</a:t>
            </a:r>
          </a:p>
        </p:txBody>
      </p:sp>
      <p:sp>
        <p:nvSpPr>
          <p:cNvPr id="16" name="Rectangle 15"/>
          <p:cNvSpPr/>
          <p:nvPr/>
        </p:nvSpPr>
        <p:spPr>
          <a:xfrm>
            <a:off x="276225" y="5600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686425"/>
            <a:ext cx="11639550" cy="866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99293" y="2942461"/>
            <a:ext cx="366712" cy="533400"/>
          </a:xfrm>
          <a:prstGeom prst="rect">
            <a:avLst/>
          </a:prstGeom>
        </p:spPr>
      </p:pic>
      <p:sp>
        <p:nvSpPr>
          <p:cNvPr id="20" name="TextBox 19"/>
          <p:cNvSpPr txBox="1"/>
          <p:nvPr/>
        </p:nvSpPr>
        <p:spPr>
          <a:xfrm>
            <a:off x="276225" y="5695950"/>
            <a:ext cx="3172519" cy="186689"/>
          </a:xfrm>
          <a:prstGeom prst="rect">
            <a:avLst/>
          </a:prstGeom>
          <a:noFill/>
        </p:spPr>
        <p:txBody>
          <a:bodyPr wrap="none" lIns="0" rIns="0" tIns="0" bIns="0">
            <a:spAutoFit/>
          </a:bodyPr>
          <a:lstStyle/>
          <a:p>
            <a:r>
              <a:rPr sz="1100" b="0">
                <a:solidFill>
                  <a:srgbClr val="2E2E2E"/>
                </a:solidFill>
                <a:latin typeface="Calibri"/>
              </a:rPr>
              <a:t>Stick-based sunscreen segment is projected to register</a:t>
            </a:r>
          </a:p>
        </p:txBody>
      </p:sp>
      <p:pic>
        <p:nvPicPr>
          <p:cNvPr id="21" name="Picture 20" descr="lock.png"/>
          <p:cNvPicPr>
            <a:picLocks noChangeAspect="1"/>
          </p:cNvPicPr>
          <p:nvPr/>
        </p:nvPicPr>
        <p:blipFill>
          <a:blip r:embed="rId4"/>
          <a:stretch>
            <a:fillRect/>
          </a:stretch>
        </p:blipFill>
        <p:spPr>
          <a:xfrm>
            <a:off x="3396796" y="5686170"/>
            <a:ext cx="128699" cy="187198"/>
          </a:xfrm>
          <a:prstGeom prst="rect">
            <a:avLst/>
          </a:prstGeom>
        </p:spPr>
      </p:pic>
      <p:sp>
        <p:nvSpPr>
          <p:cNvPr id="22" name="TextBox 21"/>
          <p:cNvSpPr txBox="1"/>
          <p:nvPr/>
        </p:nvSpPr>
        <p:spPr>
          <a:xfrm>
            <a:off x="3564291" y="5695950"/>
            <a:ext cx="8018908" cy="186689"/>
          </a:xfrm>
          <a:prstGeom prst="rect">
            <a:avLst/>
          </a:prstGeom>
          <a:noFill/>
        </p:spPr>
        <p:txBody>
          <a:bodyPr wrap="none" lIns="0" rIns="0" tIns="0" bIns="0">
            <a:spAutoFit/>
          </a:bodyPr>
          <a:lstStyle/>
          <a:p>
            <a:r>
              <a:rPr sz="1100" b="0">
                <a:solidFill>
                  <a:srgbClr val="2E2E2E"/>
                </a:solidFill>
                <a:latin typeface="Calibri"/>
              </a:rPr>
              <a:t>X higher value than other forms segment in 2036. Among ceramide sunscreen by form type, cream-based sunscreen segment is expected to</a:t>
            </a:r>
          </a:p>
        </p:txBody>
      </p:sp>
      <p:sp>
        <p:nvSpPr>
          <p:cNvPr id="23" name="TextBox 22"/>
          <p:cNvSpPr txBox="1"/>
          <p:nvPr/>
        </p:nvSpPr>
        <p:spPr>
          <a:xfrm>
            <a:off x="276225" y="5863590"/>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899369" y="5853810"/>
            <a:ext cx="128699" cy="187198"/>
          </a:xfrm>
          <a:prstGeom prst="rect">
            <a:avLst/>
          </a:prstGeom>
        </p:spPr>
      </p:pic>
      <p:sp>
        <p:nvSpPr>
          <p:cNvPr id="25" name="TextBox 24"/>
          <p:cNvSpPr txBox="1"/>
          <p:nvPr/>
        </p:nvSpPr>
        <p:spPr>
          <a:xfrm>
            <a:off x="2066865" y="5863590"/>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26" name="TextBox 25"/>
          <p:cNvSpPr txBox="1"/>
          <p:nvPr/>
        </p:nvSpPr>
        <p:spPr>
          <a:xfrm>
            <a:off x="276225" y="6081522"/>
            <a:ext cx="6735960" cy="186689"/>
          </a:xfrm>
          <a:prstGeom prst="rect">
            <a:avLst/>
          </a:prstGeom>
          <a:noFill/>
        </p:spPr>
        <p:txBody>
          <a:bodyPr wrap="none" lIns="0" rIns="0" tIns="0" bIns="0">
            <a:spAutoFit/>
          </a:bodyPr>
          <a:lstStyle/>
          <a:p>
            <a:r>
              <a:rPr sz="1100" b="0">
                <a:solidFill>
                  <a:srgbClr val="2E2E2E"/>
                </a:solidFill>
                <a:latin typeface="Calibri"/>
              </a:rPr>
              <a:t>In terms of value share by form type, the stick-based sunscreen segment is expected to dominate the market, gaining</a:t>
            </a:r>
          </a:p>
        </p:txBody>
      </p:sp>
      <p:pic>
        <p:nvPicPr>
          <p:cNvPr id="27" name="Picture 26" descr="lock.png"/>
          <p:cNvPicPr>
            <a:picLocks noChangeAspect="1"/>
          </p:cNvPicPr>
          <p:nvPr/>
        </p:nvPicPr>
        <p:blipFill>
          <a:blip r:embed="rId4"/>
          <a:stretch>
            <a:fillRect/>
          </a:stretch>
        </p:blipFill>
        <p:spPr>
          <a:xfrm>
            <a:off x="6960237" y="6071742"/>
            <a:ext cx="128699" cy="187198"/>
          </a:xfrm>
          <a:prstGeom prst="rect">
            <a:avLst/>
          </a:prstGeom>
        </p:spPr>
      </p:pic>
      <p:sp>
        <p:nvSpPr>
          <p:cNvPr id="28" name="TextBox 27"/>
          <p:cNvSpPr txBox="1"/>
          <p:nvPr/>
        </p:nvSpPr>
        <p:spPr>
          <a:xfrm>
            <a:off x="7127733" y="6081522"/>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462218" y="6071742"/>
            <a:ext cx="128699" cy="187198"/>
          </a:xfrm>
          <a:prstGeom prst="rect">
            <a:avLst/>
          </a:prstGeom>
        </p:spPr>
      </p:pic>
      <p:sp>
        <p:nvSpPr>
          <p:cNvPr id="30" name="TextBox 29"/>
          <p:cNvSpPr txBox="1"/>
          <p:nvPr/>
        </p:nvSpPr>
        <p:spPr>
          <a:xfrm>
            <a:off x="8629713" y="6081522"/>
            <a:ext cx="2980704" cy="186689"/>
          </a:xfrm>
          <a:prstGeom prst="rect">
            <a:avLst/>
          </a:prstGeom>
          <a:noFill/>
        </p:spPr>
        <p:txBody>
          <a:bodyPr wrap="none" lIns="0" rIns="0" tIns="0" bIns="0">
            <a:spAutoFit/>
          </a:bodyPr>
          <a:lstStyle/>
          <a:p>
            <a:r>
              <a:rPr sz="1100" b="0">
                <a:solidFill>
                  <a:srgbClr val="2E2E2E"/>
                </a:solidFill>
                <a:latin typeface="Calibri"/>
              </a:rPr>
              <a:t>share by 2036. The gel-based sunscreen segment is</a:t>
            </a:r>
          </a:p>
        </p:txBody>
      </p:sp>
      <p:sp>
        <p:nvSpPr>
          <p:cNvPr id="31" name="TextBox 30"/>
          <p:cNvSpPr txBox="1"/>
          <p:nvPr/>
        </p:nvSpPr>
        <p:spPr>
          <a:xfrm>
            <a:off x="276225" y="6249162"/>
            <a:ext cx="1012353" cy="186689"/>
          </a:xfrm>
          <a:prstGeom prst="rect">
            <a:avLst/>
          </a:prstGeom>
          <a:noFill/>
        </p:spPr>
        <p:txBody>
          <a:bodyPr wrap="none" lIns="0" rIns="0" tIns="0" bIns="0">
            <a:spAutoFit/>
          </a:bodyPr>
          <a:lstStyle/>
          <a:p>
            <a:r>
              <a:rPr sz="1100" b="0">
                <a:solidFill>
                  <a:srgbClr val="2E2E2E"/>
                </a:solidFill>
                <a:latin typeface="Calibri"/>
              </a:rPr>
              <a:t>expected to lose</a:t>
            </a:r>
          </a:p>
        </p:txBody>
      </p:sp>
      <p:pic>
        <p:nvPicPr>
          <p:cNvPr id="32" name="Picture 31" descr="lock.png"/>
          <p:cNvPicPr>
            <a:picLocks noChangeAspect="1"/>
          </p:cNvPicPr>
          <p:nvPr/>
        </p:nvPicPr>
        <p:blipFill>
          <a:blip r:embed="rId4"/>
          <a:stretch>
            <a:fillRect/>
          </a:stretch>
        </p:blipFill>
        <p:spPr>
          <a:xfrm>
            <a:off x="1236630" y="6239383"/>
            <a:ext cx="128699" cy="187198"/>
          </a:xfrm>
          <a:prstGeom prst="rect">
            <a:avLst/>
          </a:prstGeom>
        </p:spPr>
      </p:pic>
      <p:sp>
        <p:nvSpPr>
          <p:cNvPr id="33" name="TextBox 32"/>
          <p:cNvSpPr txBox="1"/>
          <p:nvPr/>
        </p:nvSpPr>
        <p:spPr>
          <a:xfrm>
            <a:off x="1404126" y="6249162"/>
            <a:ext cx="2526952" cy="186689"/>
          </a:xfrm>
          <a:prstGeom prst="rect">
            <a:avLst/>
          </a:prstGeom>
          <a:noFill/>
        </p:spPr>
        <p:txBody>
          <a:bodyPr wrap="none" lIns="0" rIns="0" tIns="0" bIns="0">
            <a:spAutoFit/>
          </a:bodyPr>
          <a:lstStyle/>
          <a:p>
            <a:r>
              <a:rPr sz="110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879130" y="6239383"/>
            <a:ext cx="128699" cy="187198"/>
          </a:xfrm>
          <a:prstGeom prst="rect">
            <a:avLst/>
          </a:prstGeom>
        </p:spPr>
      </p:pic>
      <p:sp>
        <p:nvSpPr>
          <p:cNvPr id="35" name="TextBox 34"/>
          <p:cNvSpPr txBox="1"/>
          <p:nvPr/>
        </p:nvSpPr>
        <p:spPr>
          <a:xfrm>
            <a:off x="4046626" y="6249162"/>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Form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Form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Form Type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75373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74896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7276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Cream-based Sunscreen</a:t>
            </a:r>
          </a:p>
        </p:txBody>
      </p:sp>
      <p:sp>
        <p:nvSpPr>
          <p:cNvPr id="18" name="BPS Value 1"/>
          <p:cNvSpPr txBox="1"/>
          <p:nvPr/>
        </p:nvSpPr>
        <p:spPr>
          <a:xfrm>
            <a:off x="6896100" y="173468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28258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27782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20162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Gel-based Sunscreen</a:t>
            </a:r>
          </a:p>
        </p:txBody>
      </p:sp>
      <p:sp>
        <p:nvSpPr>
          <p:cNvPr id="22" name="BPS Value 2"/>
          <p:cNvSpPr txBox="1"/>
          <p:nvPr/>
        </p:nvSpPr>
        <p:spPr>
          <a:xfrm>
            <a:off x="6896100" y="226353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07152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06676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99056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Lotion-based Sunscreen</a:t>
            </a:r>
          </a:p>
        </p:txBody>
      </p:sp>
      <p:sp>
        <p:nvSpPr>
          <p:cNvPr id="26" name="BPS Value 3"/>
          <p:cNvSpPr txBox="1"/>
          <p:nvPr/>
        </p:nvSpPr>
        <p:spPr>
          <a:xfrm>
            <a:off x="6896100" y="305247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413808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413332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05712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Forms</a:t>
            </a:r>
          </a:p>
        </p:txBody>
      </p:sp>
      <p:sp>
        <p:nvSpPr>
          <p:cNvPr id="30" name="BPS Value 4"/>
          <p:cNvSpPr txBox="1"/>
          <p:nvPr/>
        </p:nvSpPr>
        <p:spPr>
          <a:xfrm>
            <a:off x="6896100" y="411903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547056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546580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538960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Stick-based Sunscreen</a:t>
            </a:r>
          </a:p>
        </p:txBody>
      </p:sp>
      <p:sp>
        <p:nvSpPr>
          <p:cNvPr id="34" name="BPS Value 5"/>
          <p:cNvSpPr txBox="1"/>
          <p:nvPr/>
        </p:nvSpPr>
        <p:spPr>
          <a:xfrm>
            <a:off x="6896100" y="545151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Form Type</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751325"/>
            <a:ext cx="275034" cy="400050"/>
          </a:xfrm>
          <a:prstGeom prst="rect">
            <a:avLst/>
          </a:prstGeom>
        </p:spPr>
      </p:pic>
      <p:sp>
        <p:nvSpPr>
          <p:cNvPr id="41" name="TextBox 40"/>
          <p:cNvSpPr txBox="1"/>
          <p:nvPr/>
        </p:nvSpPr>
        <p:spPr>
          <a:xfrm>
            <a:off x="7829550" y="1400175"/>
            <a:ext cx="3995873" cy="194310"/>
          </a:xfrm>
          <a:prstGeom prst="rect">
            <a:avLst/>
          </a:prstGeom>
          <a:noFill/>
        </p:spPr>
        <p:txBody>
          <a:bodyPr wrap="none" lIns="0" rIns="0" tIns="0" bIns="0">
            <a:spAutoFit/>
          </a:bodyPr>
          <a:lstStyle/>
          <a:p>
            <a:r>
              <a:rPr sz="1150" b="0">
                <a:solidFill>
                  <a:srgbClr val="2E2E2E"/>
                </a:solidFill>
                <a:latin typeface="Calibri"/>
              </a:rPr>
              <a:t>Among ceramide sunscreen by form type, cream-based sunscreen</a:t>
            </a:r>
          </a:p>
        </p:txBody>
      </p:sp>
      <p:sp>
        <p:nvSpPr>
          <p:cNvPr id="42" name="TextBox 4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3" name="Picture 42" descr="lock.png"/>
          <p:cNvPicPr>
            <a:picLocks noChangeAspect="1"/>
          </p:cNvPicPr>
          <p:nvPr/>
        </p:nvPicPr>
        <p:blipFill>
          <a:blip r:embed="rId5"/>
          <a:stretch>
            <a:fillRect/>
          </a:stretch>
        </p:blipFill>
        <p:spPr>
          <a:xfrm>
            <a:off x="10935343" y="1565211"/>
            <a:ext cx="134549" cy="195707"/>
          </a:xfrm>
          <a:prstGeom prst="rect">
            <a:avLst/>
          </a:prstGeom>
        </p:spPr>
      </p:pic>
      <p:sp>
        <p:nvSpPr>
          <p:cNvPr id="44" name="TextBox 4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5" name="TextBox 44"/>
          <p:cNvSpPr txBox="1"/>
          <p:nvPr/>
        </p:nvSpPr>
        <p:spPr>
          <a:xfrm>
            <a:off x="7829550" y="1750695"/>
            <a:ext cx="3475000" cy="194310"/>
          </a:xfrm>
          <a:prstGeom prst="rect">
            <a:avLst/>
          </a:prstGeom>
          <a:noFill/>
        </p:spPr>
        <p:txBody>
          <a:bodyPr wrap="none" lIns="0" rIns="0" tIns="0" bIns="0">
            <a:spAutoFit/>
          </a:bodyPr>
          <a:lstStyle/>
          <a:p>
            <a:r>
              <a:rPr sz="1150" b="0">
                <a:solidFill>
                  <a:srgbClr val="2E2E2E"/>
                </a:solidFill>
                <a:latin typeface="Calibri"/>
              </a:rPr>
              <a:t>forecast period. In terms of value share by form type, the</a:t>
            </a:r>
          </a:p>
        </p:txBody>
      </p:sp>
      <p:sp>
        <p:nvSpPr>
          <p:cNvPr id="46" name="TextBox 45"/>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stick-based sunscreen segment is expected to dominate the market,</a:t>
            </a:r>
          </a:p>
        </p:txBody>
      </p:sp>
      <p:sp>
        <p:nvSpPr>
          <p:cNvPr id="47" name="TextBox 46"/>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48" name="Picture 47" descr="lock.png"/>
          <p:cNvPicPr>
            <a:picLocks noChangeAspect="1"/>
          </p:cNvPicPr>
          <p:nvPr/>
        </p:nvPicPr>
        <p:blipFill>
          <a:blip r:embed="rId5"/>
          <a:stretch>
            <a:fillRect/>
          </a:stretch>
        </p:blipFill>
        <p:spPr>
          <a:xfrm>
            <a:off x="8283070" y="2090991"/>
            <a:ext cx="134549" cy="195707"/>
          </a:xfrm>
          <a:prstGeom prst="rect">
            <a:avLst/>
          </a:prstGeom>
        </p:spPr>
      </p:pic>
      <p:sp>
        <p:nvSpPr>
          <p:cNvPr id="49" name="TextBox 48"/>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0" name="Picture 49" descr="lock.png"/>
          <p:cNvPicPr>
            <a:picLocks noChangeAspect="1"/>
          </p:cNvPicPr>
          <p:nvPr/>
        </p:nvPicPr>
        <p:blipFill>
          <a:blip r:embed="rId5"/>
          <a:stretch>
            <a:fillRect/>
          </a:stretch>
        </p:blipFill>
        <p:spPr>
          <a:xfrm>
            <a:off x="9853322" y="2090991"/>
            <a:ext cx="134549" cy="195707"/>
          </a:xfrm>
          <a:prstGeom prst="rect">
            <a:avLst/>
          </a:prstGeom>
        </p:spPr>
      </p:pic>
      <p:sp>
        <p:nvSpPr>
          <p:cNvPr id="51" name="TextBox 50"/>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TextBox 51"/>
          <p:cNvSpPr txBox="1"/>
          <p:nvPr/>
        </p:nvSpPr>
        <p:spPr>
          <a:xfrm>
            <a:off x="7829550" y="2329053"/>
            <a:ext cx="3221409" cy="194310"/>
          </a:xfrm>
          <a:prstGeom prst="rect">
            <a:avLst/>
          </a:prstGeom>
          <a:noFill/>
        </p:spPr>
        <p:txBody>
          <a:bodyPr wrap="none" lIns="0" rIns="0" tIns="0" bIns="0">
            <a:spAutoFit/>
          </a:bodyPr>
          <a:lstStyle/>
          <a:p>
            <a:r>
              <a:rPr sz="1150" b="0">
                <a:solidFill>
                  <a:srgbClr val="2E2E2E"/>
                </a:solidFill>
                <a:latin typeface="Calibri"/>
              </a:rPr>
              <a:t>The gel-based sunscreen segment is expected to lose</a:t>
            </a:r>
          </a:p>
        </p:txBody>
      </p:sp>
      <p:pic>
        <p:nvPicPr>
          <p:cNvPr id="53" name="Picture 52" descr="lock.png"/>
          <p:cNvPicPr>
            <a:picLocks noChangeAspect="1"/>
          </p:cNvPicPr>
          <p:nvPr/>
        </p:nvPicPr>
        <p:blipFill>
          <a:blip r:embed="rId5"/>
          <a:stretch>
            <a:fillRect/>
          </a:stretch>
        </p:blipFill>
        <p:spPr>
          <a:xfrm>
            <a:off x="11000113" y="2318829"/>
            <a:ext cx="134549" cy="195707"/>
          </a:xfrm>
          <a:prstGeom prst="rect">
            <a:avLst/>
          </a:prstGeom>
        </p:spPr>
      </p:pic>
      <p:sp>
        <p:nvSpPr>
          <p:cNvPr id="54" name="TextBox 53"/>
          <p:cNvSpPr txBox="1"/>
          <p:nvPr/>
        </p:nvSpPr>
        <p:spPr>
          <a:xfrm>
            <a:off x="11175222" y="232905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55" name="TextBox 54"/>
          <p:cNvSpPr txBox="1"/>
          <p:nvPr/>
        </p:nvSpPr>
        <p:spPr>
          <a:xfrm>
            <a:off x="7829550" y="250431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56" name="Picture 55" descr="lock.png"/>
          <p:cNvPicPr>
            <a:picLocks noChangeAspect="1"/>
          </p:cNvPicPr>
          <p:nvPr/>
        </p:nvPicPr>
        <p:blipFill>
          <a:blip r:embed="rId5"/>
          <a:stretch>
            <a:fillRect/>
          </a:stretch>
        </p:blipFill>
        <p:spPr>
          <a:xfrm>
            <a:off x="9861950" y="2494089"/>
            <a:ext cx="134549" cy="195707"/>
          </a:xfrm>
          <a:prstGeom prst="rect">
            <a:avLst/>
          </a:prstGeom>
        </p:spPr>
      </p:pic>
      <p:sp>
        <p:nvSpPr>
          <p:cNvPr id="57" name="TextBox 56"/>
          <p:cNvSpPr txBox="1"/>
          <p:nvPr/>
        </p:nvSpPr>
        <p:spPr>
          <a:xfrm>
            <a:off x="10037059"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8"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SPF Rating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SPF Rating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SPF Rating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SPF Rating,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SPF Rating segment categorizes the market by spf rating.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50</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Above SPF 50</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Below SPF 30</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SPF Rating split shows how demand is distributed across spf rating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778_7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1_493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6_7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445_8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1_154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10_0__605E5C.png"/>
          <p:cNvPicPr>
            <a:picLocks noChangeAspect="1"/>
          </p:cNvPicPr>
          <p:nvPr/>
        </p:nvPicPr>
        <p:blipFill>
          <a:blip r:embed="rId9"/>
          <a:stretch>
            <a:fillRect/>
          </a:stretch>
        </p:blipFill>
        <p:spPr>
          <a:xfrm>
            <a:off x="5005218" y="3272281"/>
            <a:ext cx="1195728" cy="361950"/>
          </a:xfrm>
          <a:prstGeom prst="rect">
            <a:avLst/>
          </a:prstGeom>
        </p:spPr>
      </p:pic>
      <p:pic>
        <p:nvPicPr>
          <p:cNvPr id="69" name="Picture 68" descr="30_49_605E5C.png"/>
          <p:cNvPicPr>
            <a:picLocks noChangeAspect="1"/>
          </p:cNvPicPr>
          <p:nvPr/>
        </p:nvPicPr>
        <p:blipFill>
          <a:blip r:embed="rId10"/>
          <a:stretch>
            <a:fillRect/>
          </a:stretch>
        </p:blipFill>
        <p:spPr>
          <a:xfrm>
            <a:off x="7693535" y="1860245"/>
            <a:ext cx="876864" cy="265429"/>
          </a:xfrm>
          <a:prstGeom prst="rect">
            <a:avLst/>
          </a:prstGeom>
        </p:spPr>
      </p:pic>
      <p:pic>
        <p:nvPicPr>
          <p:cNvPr id="70" name="Picture 69" descr="328_2_605E5C.png"/>
          <p:cNvPicPr>
            <a:picLocks noChangeAspect="1"/>
          </p:cNvPicPr>
          <p:nvPr/>
        </p:nvPicPr>
        <p:blipFill>
          <a:blip r:embed="rId11"/>
          <a:stretch>
            <a:fillRect/>
          </a:stretch>
        </p:blipFill>
        <p:spPr>
          <a:xfrm>
            <a:off x="7534105" y="2286582"/>
            <a:ext cx="1195728" cy="361950"/>
          </a:xfrm>
          <a:prstGeom prst="rect">
            <a:avLst/>
          </a:prstGeom>
        </p:spPr>
      </p:pic>
      <p:pic>
        <p:nvPicPr>
          <p:cNvPr id="71" name="Picture 70" descr="635_3_605E5C.png"/>
          <p:cNvPicPr>
            <a:picLocks noChangeAspect="1"/>
          </p:cNvPicPr>
          <p:nvPr/>
        </p:nvPicPr>
        <p:blipFill>
          <a:blip r:embed="rId12"/>
          <a:stretch>
            <a:fillRect/>
          </a:stretch>
        </p:blipFill>
        <p:spPr>
          <a:xfrm>
            <a:off x="7534105" y="2779432"/>
            <a:ext cx="1195728" cy="361950"/>
          </a:xfrm>
          <a:prstGeom prst="rect">
            <a:avLst/>
          </a:prstGeom>
        </p:spPr>
      </p:pic>
      <p:pic>
        <p:nvPicPr>
          <p:cNvPr id="72" name="Picture 71" descr="6_8__605E5C.png"/>
          <p:cNvPicPr>
            <a:picLocks noChangeAspect="1"/>
          </p:cNvPicPr>
          <p:nvPr/>
        </p:nvPicPr>
        <p:blipFill>
          <a:blip r:embed="rId13"/>
          <a:stretch>
            <a:fillRect/>
          </a:stretch>
        </p:blipFill>
        <p:spPr>
          <a:xfrm>
            <a:off x="7640751" y="3272281"/>
            <a:ext cx="982436" cy="361950"/>
          </a:xfrm>
          <a:prstGeom prst="rect">
            <a:avLst/>
          </a:prstGeom>
        </p:spPr>
      </p:pic>
      <p:pic>
        <p:nvPicPr>
          <p:cNvPr id="73" name="Picture 72" descr="197_4_605E5C.png"/>
          <p:cNvPicPr>
            <a:picLocks noChangeAspect="1"/>
          </p:cNvPicPr>
          <p:nvPr/>
        </p:nvPicPr>
        <p:blipFill>
          <a:blip r:embed="rId14"/>
          <a:stretch>
            <a:fillRect/>
          </a:stretch>
        </p:blipFill>
        <p:spPr>
          <a:xfrm>
            <a:off x="10062992" y="2286582"/>
            <a:ext cx="1195728" cy="361950"/>
          </a:xfrm>
          <a:prstGeom prst="rect">
            <a:avLst/>
          </a:prstGeom>
        </p:spPr>
      </p:pic>
      <p:pic>
        <p:nvPicPr>
          <p:cNvPr id="74" name="Picture 73" descr="498_2_605E5C.png"/>
          <p:cNvPicPr>
            <a:picLocks noChangeAspect="1"/>
          </p:cNvPicPr>
          <p:nvPr/>
        </p:nvPicPr>
        <p:blipFill>
          <a:blip r:embed="rId15"/>
          <a:stretch>
            <a:fillRect/>
          </a:stretch>
        </p:blipFill>
        <p:spPr>
          <a:xfrm>
            <a:off x="10062992" y="2779432"/>
            <a:ext cx="1195728" cy="361950"/>
          </a:xfrm>
          <a:prstGeom prst="rect">
            <a:avLst/>
          </a:prstGeom>
        </p:spPr>
      </p:pic>
      <p:pic>
        <p:nvPicPr>
          <p:cNvPr id="75" name="Picture 74" descr="9_7__605E5C.png"/>
          <p:cNvPicPr>
            <a:picLocks noChangeAspect="1"/>
          </p:cNvPicPr>
          <p:nvPr/>
        </p:nvPicPr>
        <p:blipFill>
          <a:blip r:embed="rId16"/>
          <a:stretch>
            <a:fillRect/>
          </a:stretch>
        </p:blipFill>
        <p:spPr>
          <a:xfrm>
            <a:off x="10169638" y="3272281"/>
            <a:ext cx="982436" cy="361950"/>
          </a:xfrm>
          <a:prstGeom prst="rect">
            <a:avLst/>
          </a:prstGeom>
        </p:spPr>
      </p:pic>
      <p:pic>
        <p:nvPicPr>
          <p:cNvPr id="76" name="Picture 75" descr="lock.png"/>
          <p:cNvPicPr>
            <a:picLocks noChangeAspect="1"/>
          </p:cNvPicPr>
          <p:nvPr/>
        </p:nvPicPr>
        <p:blipFill>
          <a:blip r:embed="rId17"/>
          <a:stretch>
            <a:fillRect/>
          </a:stretch>
        </p:blipFill>
        <p:spPr>
          <a:xfrm>
            <a:off x="2980848" y="2827057"/>
            <a:ext cx="183356" cy="266700"/>
          </a:xfrm>
          <a:prstGeom prst="rect">
            <a:avLst/>
          </a:prstGeom>
        </p:spPr>
      </p:pic>
      <p:pic>
        <p:nvPicPr>
          <p:cNvPr id="77" name="Picture 76" descr="lock.png"/>
          <p:cNvPicPr>
            <a:picLocks noChangeAspect="1"/>
          </p:cNvPicPr>
          <p:nvPr/>
        </p:nvPicPr>
        <p:blipFill>
          <a:blip r:embed="rId17"/>
          <a:stretch>
            <a:fillRect/>
          </a:stretch>
        </p:blipFill>
        <p:spPr>
          <a:xfrm>
            <a:off x="5509737" y="2827057"/>
            <a:ext cx="183356" cy="266700"/>
          </a:xfrm>
          <a:prstGeom prst="rect">
            <a:avLst/>
          </a:prstGeom>
        </p:spPr>
      </p:pic>
      <p:pic>
        <p:nvPicPr>
          <p:cNvPr id="78" name="Picture 77" descr="lock.png"/>
          <p:cNvPicPr>
            <a:picLocks noChangeAspect="1"/>
          </p:cNvPicPr>
          <p:nvPr/>
        </p:nvPicPr>
        <p:blipFill>
          <a:blip r:embed="rId17"/>
          <a:stretch>
            <a:fillRect/>
          </a:stretch>
        </p:blipFill>
        <p:spPr>
          <a:xfrm>
            <a:off x="8038624" y="2598885"/>
            <a:ext cx="183356" cy="266700"/>
          </a:xfrm>
          <a:prstGeom prst="rect">
            <a:avLst/>
          </a:prstGeom>
        </p:spPr>
      </p:pic>
      <p:pic>
        <p:nvPicPr>
          <p:cNvPr id="79" name="Picture 78" descr="lock.png"/>
          <p:cNvPicPr>
            <a:picLocks noChangeAspect="1"/>
          </p:cNvPicPr>
          <p:nvPr/>
        </p:nvPicPr>
        <p:blipFill>
          <a:blip r:embed="rId17"/>
          <a:stretch>
            <a:fillRect/>
          </a:stretch>
        </p:blipFill>
        <p:spPr>
          <a:xfrm>
            <a:off x="10567511" y="2827057"/>
            <a:ext cx="183356" cy="266700"/>
          </a:xfrm>
          <a:prstGeom prst="rect">
            <a:avLst/>
          </a:prstGeom>
        </p:spPr>
      </p:pic>
      <p:sp>
        <p:nvSpPr>
          <p:cNvPr id="80" name="TextBox 79"/>
          <p:cNvSpPr txBox="1"/>
          <p:nvPr/>
        </p:nvSpPr>
        <p:spPr>
          <a:xfrm>
            <a:off x="485775" y="4229437"/>
            <a:ext cx="2831727" cy="186689"/>
          </a:xfrm>
          <a:prstGeom prst="rect">
            <a:avLst/>
          </a:prstGeom>
          <a:noFill/>
        </p:spPr>
        <p:txBody>
          <a:bodyPr wrap="none" lIns="0" rIns="0" tIns="0" bIns="0">
            <a:spAutoFit/>
          </a:bodyPr>
          <a:lstStyle/>
          <a:p>
            <a:r>
              <a:rPr sz="1100" b="0">
                <a:solidFill>
                  <a:srgbClr val="2E2E2E"/>
                </a:solidFill>
                <a:latin typeface="Calibri"/>
              </a:rPr>
              <a:t>Among ceramide sunscreen by SPF rating, above</a:t>
            </a:r>
          </a:p>
        </p:txBody>
      </p:sp>
      <p:sp>
        <p:nvSpPr>
          <p:cNvPr id="81" name="TextBox 80"/>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SPF 50 segment is expected to witness the highest</a:t>
            </a:r>
          </a:p>
        </p:txBody>
      </p:sp>
      <p:sp>
        <p:nvSpPr>
          <p:cNvPr id="82" name="TextBox 81"/>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83" name="Picture 82" descr="lock.png"/>
          <p:cNvPicPr>
            <a:picLocks noChangeAspect="1"/>
          </p:cNvPicPr>
          <p:nvPr/>
        </p:nvPicPr>
        <p:blipFill>
          <a:blip r:embed="rId17"/>
          <a:stretch>
            <a:fillRect/>
          </a:stretch>
        </p:blipFill>
        <p:spPr>
          <a:xfrm>
            <a:off x="977131" y="4554938"/>
            <a:ext cx="128699" cy="187198"/>
          </a:xfrm>
          <a:prstGeom prst="rect">
            <a:avLst/>
          </a:prstGeom>
        </p:spPr>
      </p:pic>
      <p:sp>
        <p:nvSpPr>
          <p:cNvPr id="84" name="TextBox 83"/>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85" name="TextBox 84"/>
          <p:cNvSpPr txBox="1"/>
          <p:nvPr/>
        </p:nvSpPr>
        <p:spPr>
          <a:xfrm>
            <a:off x="485775" y="4732357"/>
            <a:ext cx="2795984" cy="186689"/>
          </a:xfrm>
          <a:prstGeom prst="rect">
            <a:avLst/>
          </a:prstGeom>
          <a:noFill/>
        </p:spPr>
        <p:txBody>
          <a:bodyPr wrap="none" lIns="0" rIns="0" tIns="0" bIns="0">
            <a:spAutoFit/>
          </a:bodyPr>
          <a:lstStyle/>
          <a:p>
            <a:r>
              <a:rPr sz="1100" b="0">
                <a:solidFill>
                  <a:srgbClr val="2E2E2E"/>
                </a:solidFill>
                <a:latin typeface="Calibri"/>
              </a:rPr>
              <a:t>value share by SPF rating, the SPF 50 segment is</a:t>
            </a:r>
          </a:p>
        </p:txBody>
      </p:sp>
      <p:sp>
        <p:nvSpPr>
          <p:cNvPr id="86" name="TextBox 85"/>
          <p:cNvSpPr txBox="1"/>
          <p:nvPr/>
        </p:nvSpPr>
        <p:spPr>
          <a:xfrm>
            <a:off x="485775" y="489999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87" name="Picture 86" descr="lock.png"/>
          <p:cNvPicPr>
            <a:picLocks noChangeAspect="1"/>
          </p:cNvPicPr>
          <p:nvPr/>
        </p:nvPicPr>
        <p:blipFill>
          <a:blip r:embed="rId17"/>
          <a:stretch>
            <a:fillRect/>
          </a:stretch>
        </p:blipFill>
        <p:spPr>
          <a:xfrm>
            <a:off x="2822716" y="4890217"/>
            <a:ext cx="128699" cy="187198"/>
          </a:xfrm>
          <a:prstGeom prst="rect">
            <a:avLst/>
          </a:prstGeom>
        </p:spPr>
      </p:pic>
      <p:sp>
        <p:nvSpPr>
          <p:cNvPr id="88" name="TextBox 87"/>
          <p:cNvSpPr txBox="1"/>
          <p:nvPr/>
        </p:nvSpPr>
        <p:spPr>
          <a:xfrm>
            <a:off x="2990212"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9" name="TextBox 88"/>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90" name="Picture 89" descr="lock.png"/>
          <p:cNvPicPr>
            <a:picLocks noChangeAspect="1"/>
          </p:cNvPicPr>
          <p:nvPr/>
        </p:nvPicPr>
        <p:blipFill>
          <a:blip r:embed="rId17"/>
          <a:stretch>
            <a:fillRect/>
          </a:stretch>
        </p:blipFill>
        <p:spPr>
          <a:xfrm>
            <a:off x="1576057" y="5057858"/>
            <a:ext cx="128699" cy="187198"/>
          </a:xfrm>
          <a:prstGeom prst="rect">
            <a:avLst/>
          </a:prstGeom>
        </p:spPr>
      </p:pic>
      <p:sp>
        <p:nvSpPr>
          <p:cNvPr id="91" name="TextBox 90"/>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285569"/>
            <a:ext cx="2291754" cy="186689"/>
          </a:xfrm>
          <a:prstGeom prst="rect">
            <a:avLst/>
          </a:prstGeom>
          <a:noFill/>
        </p:spPr>
        <p:txBody>
          <a:bodyPr wrap="none" lIns="0" rIns="0" tIns="0" bIns="0">
            <a:spAutoFit/>
          </a:bodyPr>
          <a:lstStyle/>
          <a:p>
            <a:r>
              <a:rPr sz="1100" b="0">
                <a:solidFill>
                  <a:srgbClr val="2E2E2E"/>
                </a:solidFill>
                <a:latin typeface="Calibri"/>
              </a:rPr>
              <a:t>SPF 50 segment is projected to register</a:t>
            </a:r>
          </a:p>
        </p:txBody>
      </p:sp>
      <p:pic>
        <p:nvPicPr>
          <p:cNvPr id="93" name="Picture 92" descr="lock.png"/>
          <p:cNvPicPr>
            <a:picLocks noChangeAspect="1"/>
          </p:cNvPicPr>
          <p:nvPr/>
        </p:nvPicPr>
        <p:blipFill>
          <a:blip r:embed="rId17"/>
          <a:stretch>
            <a:fillRect/>
          </a:stretch>
        </p:blipFill>
        <p:spPr>
          <a:xfrm>
            <a:off x="2725581" y="5275790"/>
            <a:ext cx="128699" cy="187198"/>
          </a:xfrm>
          <a:prstGeom prst="rect">
            <a:avLst/>
          </a:prstGeom>
        </p:spPr>
      </p:pic>
      <p:sp>
        <p:nvSpPr>
          <p:cNvPr id="94" name="TextBox 93"/>
          <p:cNvSpPr txBox="1"/>
          <p:nvPr/>
        </p:nvSpPr>
        <p:spPr>
          <a:xfrm>
            <a:off x="2893077"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95" name="TextBox 94"/>
          <p:cNvSpPr txBox="1"/>
          <p:nvPr/>
        </p:nvSpPr>
        <p:spPr>
          <a:xfrm>
            <a:off x="485775" y="5453209"/>
            <a:ext cx="2863105" cy="186689"/>
          </a:xfrm>
          <a:prstGeom prst="rect">
            <a:avLst/>
          </a:prstGeom>
          <a:noFill/>
        </p:spPr>
        <p:txBody>
          <a:bodyPr wrap="none" lIns="0" rIns="0" tIns="0" bIns="0">
            <a:spAutoFit/>
          </a:bodyPr>
          <a:lstStyle/>
          <a:p>
            <a:r>
              <a:rPr sz="1100" b="0">
                <a:solidFill>
                  <a:srgbClr val="2E2E2E"/>
                </a:solidFill>
                <a:latin typeface="Calibri"/>
              </a:rPr>
              <a:t>higher value than above SPF 50 segment in 2036.</a:t>
            </a:r>
          </a:p>
        </p:txBody>
      </p:sp>
      <p:sp>
        <p:nvSpPr>
          <p:cNvPr id="96" name="TextBox 95"/>
          <p:cNvSpPr txBox="1"/>
          <p:nvPr/>
        </p:nvSpPr>
        <p:spPr>
          <a:xfrm>
            <a:off x="3838575" y="4229437"/>
            <a:ext cx="603622" cy="186689"/>
          </a:xfrm>
          <a:prstGeom prst="rect">
            <a:avLst/>
          </a:prstGeom>
          <a:noFill/>
        </p:spPr>
        <p:txBody>
          <a:bodyPr wrap="none" lIns="0" rIns="0" tIns="0" bIns="0">
            <a:spAutoFit/>
          </a:bodyPr>
          <a:lstStyle/>
          <a:p>
            <a:r>
              <a:rPr sz="1100" b="0">
                <a:solidFill>
                  <a:srgbClr val="2E2E2E"/>
                </a:solidFill>
                <a:latin typeface="Calibri"/>
              </a:rPr>
              <a:t>● SPF 50:</a:t>
            </a:r>
          </a:p>
        </p:txBody>
      </p:sp>
      <p:pic>
        <p:nvPicPr>
          <p:cNvPr id="97" name="Picture 96" descr="lock.png"/>
          <p:cNvPicPr>
            <a:picLocks noChangeAspect="1"/>
          </p:cNvPicPr>
          <p:nvPr/>
        </p:nvPicPr>
        <p:blipFill>
          <a:blip r:embed="rId17"/>
          <a:stretch>
            <a:fillRect/>
          </a:stretch>
        </p:blipFill>
        <p:spPr>
          <a:xfrm>
            <a:off x="4390248" y="4219658"/>
            <a:ext cx="128699" cy="187198"/>
          </a:xfrm>
          <a:prstGeom prst="rect">
            <a:avLst/>
          </a:prstGeom>
        </p:spPr>
      </p:pic>
      <p:sp>
        <p:nvSpPr>
          <p:cNvPr id="98" name="TextBox 97"/>
          <p:cNvSpPr txBox="1"/>
          <p:nvPr/>
        </p:nvSpPr>
        <p:spPr>
          <a:xfrm>
            <a:off x="455774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7"/>
          <a:stretch>
            <a:fillRect/>
          </a:stretch>
        </p:blipFill>
        <p:spPr>
          <a:xfrm>
            <a:off x="5417194" y="4219658"/>
            <a:ext cx="128699" cy="187198"/>
          </a:xfrm>
          <a:prstGeom prst="rect">
            <a:avLst/>
          </a:prstGeom>
        </p:spPr>
      </p:pic>
      <p:sp>
        <p:nvSpPr>
          <p:cNvPr id="100" name="TextBox 99"/>
          <p:cNvSpPr txBox="1"/>
          <p:nvPr/>
        </p:nvSpPr>
        <p:spPr>
          <a:xfrm>
            <a:off x="5584690"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1" name="TextBox 100"/>
          <p:cNvSpPr txBox="1"/>
          <p:nvPr/>
        </p:nvSpPr>
        <p:spPr>
          <a:xfrm>
            <a:off x="3838575" y="4447369"/>
            <a:ext cx="995709" cy="186689"/>
          </a:xfrm>
          <a:prstGeom prst="rect">
            <a:avLst/>
          </a:prstGeom>
          <a:noFill/>
        </p:spPr>
        <p:txBody>
          <a:bodyPr wrap="none" lIns="0" rIns="0" tIns="0" bIns="0">
            <a:spAutoFit/>
          </a:bodyPr>
          <a:lstStyle/>
          <a:p>
            <a:r>
              <a:rPr sz="1100" b="0">
                <a:solidFill>
                  <a:srgbClr val="2E2E2E"/>
                </a:solidFill>
                <a:latin typeface="Calibri"/>
              </a:rPr>
              <a:t>● Above SPF 50:</a:t>
            </a:r>
          </a:p>
        </p:txBody>
      </p:sp>
      <p:pic>
        <p:nvPicPr>
          <p:cNvPr id="102" name="Picture 101" descr="lock.png"/>
          <p:cNvPicPr>
            <a:picLocks noChangeAspect="1"/>
          </p:cNvPicPr>
          <p:nvPr/>
        </p:nvPicPr>
        <p:blipFill>
          <a:blip r:embed="rId17"/>
          <a:stretch>
            <a:fillRect/>
          </a:stretch>
        </p:blipFill>
        <p:spPr>
          <a:xfrm>
            <a:off x="4782336" y="4437590"/>
            <a:ext cx="128699" cy="187198"/>
          </a:xfrm>
          <a:prstGeom prst="rect">
            <a:avLst/>
          </a:prstGeom>
        </p:spPr>
      </p:pic>
      <p:sp>
        <p:nvSpPr>
          <p:cNvPr id="103" name="TextBox 102"/>
          <p:cNvSpPr txBox="1"/>
          <p:nvPr/>
        </p:nvSpPr>
        <p:spPr>
          <a:xfrm>
            <a:off x="494983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7"/>
          <a:stretch>
            <a:fillRect/>
          </a:stretch>
        </p:blipFill>
        <p:spPr>
          <a:xfrm>
            <a:off x="5809282" y="4437590"/>
            <a:ext cx="128699" cy="187198"/>
          </a:xfrm>
          <a:prstGeom prst="rect">
            <a:avLst/>
          </a:prstGeom>
        </p:spPr>
      </p:pic>
      <p:sp>
        <p:nvSpPr>
          <p:cNvPr id="105" name="TextBox 104"/>
          <p:cNvSpPr txBox="1"/>
          <p:nvPr/>
        </p:nvSpPr>
        <p:spPr>
          <a:xfrm>
            <a:off x="5976778"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06" name="TextBox 105"/>
          <p:cNvSpPr txBox="1"/>
          <p:nvPr/>
        </p:nvSpPr>
        <p:spPr>
          <a:xfrm>
            <a:off x="3838575" y="4665301"/>
            <a:ext cx="815082" cy="186689"/>
          </a:xfrm>
          <a:prstGeom prst="rect">
            <a:avLst/>
          </a:prstGeom>
          <a:noFill/>
        </p:spPr>
        <p:txBody>
          <a:bodyPr wrap="none" lIns="0" rIns="0" tIns="0" bIns="0">
            <a:spAutoFit/>
          </a:bodyPr>
          <a:lstStyle/>
          <a:p>
            <a:r>
              <a:rPr sz="1100" b="0">
                <a:solidFill>
                  <a:srgbClr val="2E2E2E"/>
                </a:solidFill>
                <a:latin typeface="Calibri"/>
              </a:rPr>
              <a:t>● SPF 30–49:</a:t>
            </a:r>
          </a:p>
        </p:txBody>
      </p:sp>
      <p:pic>
        <p:nvPicPr>
          <p:cNvPr id="107" name="Picture 106" descr="lock.png"/>
          <p:cNvPicPr>
            <a:picLocks noChangeAspect="1"/>
          </p:cNvPicPr>
          <p:nvPr/>
        </p:nvPicPr>
        <p:blipFill>
          <a:blip r:embed="rId17"/>
          <a:stretch>
            <a:fillRect/>
          </a:stretch>
        </p:blipFill>
        <p:spPr>
          <a:xfrm>
            <a:off x="4601708" y="4655522"/>
            <a:ext cx="128699" cy="187198"/>
          </a:xfrm>
          <a:prstGeom prst="rect">
            <a:avLst/>
          </a:prstGeom>
        </p:spPr>
      </p:pic>
      <p:sp>
        <p:nvSpPr>
          <p:cNvPr id="108" name="TextBox 107"/>
          <p:cNvSpPr txBox="1"/>
          <p:nvPr/>
        </p:nvSpPr>
        <p:spPr>
          <a:xfrm>
            <a:off x="4769204"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9" name="Picture 108" descr="lock.png"/>
          <p:cNvPicPr>
            <a:picLocks noChangeAspect="1"/>
          </p:cNvPicPr>
          <p:nvPr/>
        </p:nvPicPr>
        <p:blipFill>
          <a:blip r:embed="rId17"/>
          <a:stretch>
            <a:fillRect/>
          </a:stretch>
        </p:blipFill>
        <p:spPr>
          <a:xfrm>
            <a:off x="5628654" y="4655522"/>
            <a:ext cx="128699" cy="187198"/>
          </a:xfrm>
          <a:prstGeom prst="rect">
            <a:avLst/>
          </a:prstGeom>
        </p:spPr>
      </p:pic>
      <p:sp>
        <p:nvSpPr>
          <p:cNvPr id="110" name="TextBox 109"/>
          <p:cNvSpPr txBox="1"/>
          <p:nvPr/>
        </p:nvSpPr>
        <p:spPr>
          <a:xfrm>
            <a:off x="5796150"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1" name="TextBox 110"/>
          <p:cNvSpPr txBox="1"/>
          <p:nvPr/>
        </p:nvSpPr>
        <p:spPr>
          <a:xfrm>
            <a:off x="3838575" y="4883233"/>
            <a:ext cx="986705" cy="186689"/>
          </a:xfrm>
          <a:prstGeom prst="rect">
            <a:avLst/>
          </a:prstGeom>
          <a:noFill/>
        </p:spPr>
        <p:txBody>
          <a:bodyPr wrap="none" lIns="0" rIns="0" tIns="0" bIns="0">
            <a:spAutoFit/>
          </a:bodyPr>
          <a:lstStyle/>
          <a:p>
            <a:r>
              <a:rPr sz="1100" b="0">
                <a:solidFill>
                  <a:srgbClr val="2E2E2E"/>
                </a:solidFill>
                <a:latin typeface="Calibri"/>
              </a:rPr>
              <a:t>● Below SPF 30:</a:t>
            </a:r>
          </a:p>
        </p:txBody>
      </p:sp>
      <p:pic>
        <p:nvPicPr>
          <p:cNvPr id="112" name="Picture 111" descr="lock.png"/>
          <p:cNvPicPr>
            <a:picLocks noChangeAspect="1"/>
          </p:cNvPicPr>
          <p:nvPr/>
        </p:nvPicPr>
        <p:blipFill>
          <a:blip r:embed="rId17"/>
          <a:stretch>
            <a:fillRect/>
          </a:stretch>
        </p:blipFill>
        <p:spPr>
          <a:xfrm>
            <a:off x="4773332" y="4873454"/>
            <a:ext cx="128699" cy="187198"/>
          </a:xfrm>
          <a:prstGeom prst="rect">
            <a:avLst/>
          </a:prstGeom>
        </p:spPr>
      </p:pic>
      <p:sp>
        <p:nvSpPr>
          <p:cNvPr id="113" name="TextBox 112"/>
          <p:cNvSpPr txBox="1"/>
          <p:nvPr/>
        </p:nvSpPr>
        <p:spPr>
          <a:xfrm>
            <a:off x="4940828"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4" name="Picture 113" descr="lock.png"/>
          <p:cNvPicPr>
            <a:picLocks noChangeAspect="1"/>
          </p:cNvPicPr>
          <p:nvPr/>
        </p:nvPicPr>
        <p:blipFill>
          <a:blip r:embed="rId17"/>
          <a:stretch>
            <a:fillRect/>
          </a:stretch>
        </p:blipFill>
        <p:spPr>
          <a:xfrm>
            <a:off x="5800278" y="4873454"/>
            <a:ext cx="128699" cy="187198"/>
          </a:xfrm>
          <a:prstGeom prst="rect">
            <a:avLst/>
          </a:prstGeom>
        </p:spPr>
      </p:pic>
      <p:sp>
        <p:nvSpPr>
          <p:cNvPr id="115" name="TextBox 114"/>
          <p:cNvSpPr txBox="1"/>
          <p:nvPr/>
        </p:nvSpPr>
        <p:spPr>
          <a:xfrm>
            <a:off x="5967774"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6" name="TextBox 115"/>
          <p:cNvSpPr txBox="1"/>
          <p:nvPr/>
        </p:nvSpPr>
        <p:spPr>
          <a:xfrm>
            <a:off x="8524875" y="5842641"/>
            <a:ext cx="3034853" cy="194310"/>
          </a:xfrm>
          <a:prstGeom prst="rect">
            <a:avLst/>
          </a:prstGeom>
          <a:noFill/>
        </p:spPr>
        <p:txBody>
          <a:bodyPr wrap="none" lIns="0" rIns="0" tIns="0" bIns="0">
            <a:spAutoFit/>
          </a:bodyPr>
          <a:lstStyle/>
          <a:p>
            <a:r>
              <a:rPr sz="1150" b="1">
                <a:solidFill>
                  <a:srgbClr val="0B2E4A"/>
                </a:solidFill>
                <a:latin typeface="Calibri"/>
              </a:rPr>
              <a:t>The SPF Rating segment is projected to grow at a</a:t>
            </a:r>
          </a:p>
        </p:txBody>
      </p:sp>
      <p:sp>
        <p:nvSpPr>
          <p:cNvPr id="117" name="TextBox 116"/>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18" name="Picture 117" descr="lock.png"/>
          <p:cNvPicPr>
            <a:picLocks noChangeAspect="1"/>
          </p:cNvPicPr>
          <p:nvPr/>
        </p:nvPicPr>
        <p:blipFill>
          <a:blip r:embed="rId17"/>
          <a:stretch>
            <a:fillRect/>
          </a:stretch>
        </p:blipFill>
        <p:spPr>
          <a:xfrm>
            <a:off x="9048826" y="6007677"/>
            <a:ext cx="134549" cy="195707"/>
          </a:xfrm>
          <a:prstGeom prst="rect">
            <a:avLst/>
          </a:prstGeom>
        </p:spPr>
      </p:pic>
      <p:sp>
        <p:nvSpPr>
          <p:cNvPr id="119" name="TextBox 118"/>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SPF Rating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SPF Rating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SPF Rating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SPF Rating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06634" cy="186689"/>
          </a:xfrm>
          <a:prstGeom prst="rect">
            <a:avLst/>
          </a:prstGeom>
          <a:noFill/>
        </p:spPr>
        <p:txBody>
          <a:bodyPr wrap="none" lIns="0" rIns="0" tIns="0" bIns="0">
            <a:spAutoFit/>
          </a:bodyPr>
          <a:lstStyle/>
          <a:p>
            <a:r>
              <a:rPr sz="1100" b="0">
                <a:solidFill>
                  <a:srgbClr val="2E2E2E"/>
                </a:solidFill>
                <a:latin typeface="Calibri"/>
              </a:rPr>
              <a:t>SPF 50 followed by above SPF 50 are expected to be the two most attractive SPF rating segments in the global ceramide sunscreen market in terms of value over the forecast period. SPF 50 and above SPF</a:t>
            </a:r>
          </a:p>
        </p:txBody>
      </p:sp>
      <p:sp>
        <p:nvSpPr>
          <p:cNvPr id="20" name="TextBox 19"/>
          <p:cNvSpPr txBox="1"/>
          <p:nvPr/>
        </p:nvSpPr>
        <p:spPr>
          <a:xfrm>
            <a:off x="257175" y="5945505"/>
            <a:ext cx="1576047" cy="186689"/>
          </a:xfrm>
          <a:prstGeom prst="rect">
            <a:avLst/>
          </a:prstGeom>
          <a:noFill/>
        </p:spPr>
        <p:txBody>
          <a:bodyPr wrap="none" lIns="0" rIns="0" tIns="0" bIns="0">
            <a:spAutoFit/>
          </a:bodyPr>
          <a:lstStyle/>
          <a:p>
            <a:r>
              <a:rPr sz="1100" b="0">
                <a:solidFill>
                  <a:srgbClr val="2E2E2E"/>
                </a:solidFill>
                <a:latin typeface="Calibri"/>
              </a:rPr>
              <a:t>50 exhibit a CAGR index of</a:t>
            </a:r>
          </a:p>
        </p:txBody>
      </p:sp>
      <p:pic>
        <p:nvPicPr>
          <p:cNvPr id="21" name="Picture 20" descr="lock.png"/>
          <p:cNvPicPr>
            <a:picLocks noChangeAspect="1"/>
          </p:cNvPicPr>
          <p:nvPr/>
        </p:nvPicPr>
        <p:blipFill>
          <a:blip r:embed="rId6"/>
          <a:stretch>
            <a:fillRect/>
          </a:stretch>
        </p:blipFill>
        <p:spPr>
          <a:xfrm>
            <a:off x="1781274" y="5935726"/>
            <a:ext cx="128699" cy="187198"/>
          </a:xfrm>
          <a:prstGeom prst="rect">
            <a:avLst/>
          </a:prstGeom>
        </p:spPr>
      </p:pic>
      <p:sp>
        <p:nvSpPr>
          <p:cNvPr id="22" name="TextBox 21"/>
          <p:cNvSpPr txBox="1"/>
          <p:nvPr/>
        </p:nvSpPr>
        <p:spPr>
          <a:xfrm>
            <a:off x="1948770"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186664" y="5935726"/>
            <a:ext cx="128699" cy="187198"/>
          </a:xfrm>
          <a:prstGeom prst="rect">
            <a:avLst/>
          </a:prstGeom>
        </p:spPr>
      </p:pic>
      <p:sp>
        <p:nvSpPr>
          <p:cNvPr id="24" name="TextBox 23"/>
          <p:cNvSpPr txBox="1"/>
          <p:nvPr/>
        </p:nvSpPr>
        <p:spPr>
          <a:xfrm>
            <a:off x="2354160"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963134" y="5935726"/>
            <a:ext cx="128699" cy="187198"/>
          </a:xfrm>
          <a:prstGeom prst="rect">
            <a:avLst/>
          </a:prstGeom>
        </p:spPr>
      </p:pic>
      <p:sp>
        <p:nvSpPr>
          <p:cNvPr id="26" name="TextBox 25"/>
          <p:cNvSpPr txBox="1"/>
          <p:nvPr/>
        </p:nvSpPr>
        <p:spPr>
          <a:xfrm>
            <a:off x="4130629"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368524" y="5935726"/>
            <a:ext cx="128699" cy="187198"/>
          </a:xfrm>
          <a:prstGeom prst="rect">
            <a:avLst/>
          </a:prstGeom>
        </p:spPr>
      </p:pic>
      <p:sp>
        <p:nvSpPr>
          <p:cNvPr id="28" name="TextBox 27"/>
          <p:cNvSpPr txBox="1"/>
          <p:nvPr/>
        </p:nvSpPr>
        <p:spPr>
          <a:xfrm>
            <a:off x="4536020"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7090424" y="5935726"/>
            <a:ext cx="128699" cy="187198"/>
          </a:xfrm>
          <a:prstGeom prst="rect">
            <a:avLst/>
          </a:prstGeom>
        </p:spPr>
      </p:pic>
      <p:sp>
        <p:nvSpPr>
          <p:cNvPr id="30" name="TextBox 29"/>
          <p:cNvSpPr txBox="1"/>
          <p:nvPr/>
        </p:nvSpPr>
        <p:spPr>
          <a:xfrm>
            <a:off x="7257920" y="5945505"/>
            <a:ext cx="4201988" cy="186689"/>
          </a:xfrm>
          <a:prstGeom prst="rect">
            <a:avLst/>
          </a:prstGeom>
          <a:noFill/>
        </p:spPr>
        <p:txBody>
          <a:bodyPr wrap="none" lIns="0" rIns="0" tIns="0" bIns="0">
            <a:spAutoFit/>
          </a:bodyPr>
          <a:lstStyle/>
          <a:p>
            <a:r>
              <a:rPr sz="1100" b="0">
                <a:solidFill>
                  <a:srgbClr val="2E2E2E"/>
                </a:solidFill>
                <a:latin typeface="Calibri"/>
              </a:rPr>
              <a:t>. The SPF 30-49 segment is expected to be less attractive as compared to</a:t>
            </a:r>
          </a:p>
        </p:txBody>
      </p:sp>
      <p:sp>
        <p:nvSpPr>
          <p:cNvPr id="31" name="TextBox 30"/>
          <p:cNvSpPr txBox="1"/>
          <p:nvPr/>
        </p:nvSpPr>
        <p:spPr>
          <a:xfrm>
            <a:off x="257175" y="6113145"/>
            <a:ext cx="9845888" cy="186689"/>
          </a:xfrm>
          <a:prstGeom prst="rect">
            <a:avLst/>
          </a:prstGeom>
          <a:noFill/>
        </p:spPr>
        <p:txBody>
          <a:bodyPr wrap="none" lIns="0" rIns="0" tIns="0" bIns="0">
            <a:spAutoFit/>
          </a:bodyPr>
          <a:lstStyle/>
          <a:p>
            <a:r>
              <a:rPr sz="1100" b="0">
                <a:solidFill>
                  <a:srgbClr val="2E2E2E"/>
                </a:solidFill>
                <a:latin typeface="Calibri"/>
              </a:rPr>
              <a:t>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SPF Rating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SPF Rating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Below SPF 30</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SPF 30–49</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SPF 50</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SPF 50</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SPF Rating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SPF Rating,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SPF Rating (US$ Mn)</a:t>
            </a:r>
          </a:p>
        </p:txBody>
      </p:sp>
      <p:graphicFrame>
        <p:nvGraphicFramePr>
          <p:cNvPr id="12" name="Table 11"/>
          <p:cNvGraphicFramePr>
            <a:graphicFrameLocks noGrp="1"/>
          </p:cNvGraphicFramePr>
          <p:nvPr/>
        </p:nvGraphicFramePr>
        <p:xfrm>
          <a:off x="152400" y="1238250"/>
          <a:ext cx="11887206" cy="1485896"/>
        </p:xfrm>
        <a:graphic>
          <a:graphicData uri="http://schemas.openxmlformats.org/drawingml/2006/table">
            <a:tbl>
              <a:tblPr>
                <a:tableStyleId>{5C22544A-7EE6-4342-B048-85BDC9FD1C3A}</a:tableStyleId>
              </a:tblPr>
              <a:tblGrid>
                <a:gridCol w="1052477"/>
                <a:gridCol w="637337"/>
                <a:gridCol w="637337"/>
                <a:gridCol w="637337"/>
                <a:gridCol w="637337"/>
                <a:gridCol w="637337"/>
                <a:gridCol w="637337"/>
                <a:gridCol w="637337"/>
                <a:gridCol w="637337"/>
                <a:gridCol w="637337"/>
                <a:gridCol w="637337"/>
                <a:gridCol w="637337"/>
                <a:gridCol w="637337"/>
                <a:gridCol w="637337"/>
                <a:gridCol w="637337"/>
                <a:gridCol w="637337"/>
                <a:gridCol w="637337"/>
                <a:gridCol w="637337"/>
              </a:tblGrid>
              <a:tr h="246126">
                <a:tc>
                  <a:txBody>
                    <a:bodyPr wrap="none"/>
                    <a:lstStyle/>
                    <a:p>
                      <a:pPr algn="l"/>
                      <a:r>
                        <a:rPr sz="1100" b="1">
                          <a:solidFill>
                            <a:srgbClr val="0B2E4A"/>
                          </a:solidFill>
                          <a:latin typeface="Calibri"/>
                        </a:rPr>
                        <a:t>SPF Rating</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Below SPF 30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SPF 30–49</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SPF 50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Above SPF 50</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SPF Rating</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35551" y="1837563"/>
            <a:ext cx="366712" cy="533400"/>
          </a:xfrm>
          <a:prstGeom prst="rect">
            <a:avLst/>
          </a:prstGeom>
        </p:spPr>
      </p:pic>
      <p:sp>
        <p:nvSpPr>
          <p:cNvPr id="20" name="TextBox 19"/>
          <p:cNvSpPr txBox="1"/>
          <p:nvPr/>
        </p:nvSpPr>
        <p:spPr>
          <a:xfrm>
            <a:off x="276225" y="3486150"/>
            <a:ext cx="2392461" cy="194310"/>
          </a:xfrm>
          <a:prstGeom prst="rect">
            <a:avLst/>
          </a:prstGeom>
          <a:noFill/>
        </p:spPr>
        <p:txBody>
          <a:bodyPr wrap="none" lIns="0" rIns="0" tIns="0" bIns="0">
            <a:spAutoFit/>
          </a:bodyPr>
          <a:lstStyle/>
          <a:p>
            <a:r>
              <a:rPr sz="1150" b="0">
                <a:solidFill>
                  <a:srgbClr val="2E2E2E"/>
                </a:solidFill>
                <a:latin typeface="Calibri"/>
              </a:rPr>
              <a:t>SPF 50 segment is projected to register</a:t>
            </a:r>
          </a:p>
        </p:txBody>
      </p:sp>
      <p:pic>
        <p:nvPicPr>
          <p:cNvPr id="21" name="Picture 20" descr="lock.png"/>
          <p:cNvPicPr>
            <a:picLocks noChangeAspect="1"/>
          </p:cNvPicPr>
          <p:nvPr/>
        </p:nvPicPr>
        <p:blipFill>
          <a:blip r:embed="rId4"/>
          <a:stretch>
            <a:fillRect/>
          </a:stretch>
        </p:blipFill>
        <p:spPr>
          <a:xfrm>
            <a:off x="2617840" y="3475926"/>
            <a:ext cx="134549" cy="195707"/>
          </a:xfrm>
          <a:prstGeom prst="rect">
            <a:avLst/>
          </a:prstGeom>
        </p:spPr>
      </p:pic>
      <p:sp>
        <p:nvSpPr>
          <p:cNvPr id="22" name="TextBox 21"/>
          <p:cNvSpPr txBox="1"/>
          <p:nvPr/>
        </p:nvSpPr>
        <p:spPr>
          <a:xfrm>
            <a:off x="2792949" y="3486150"/>
            <a:ext cx="9028893" cy="194310"/>
          </a:xfrm>
          <a:prstGeom prst="rect">
            <a:avLst/>
          </a:prstGeom>
          <a:noFill/>
        </p:spPr>
        <p:txBody>
          <a:bodyPr wrap="none" lIns="0" rIns="0" tIns="0" bIns="0">
            <a:spAutoFit/>
          </a:bodyPr>
          <a:lstStyle/>
          <a:p>
            <a:r>
              <a:rPr sz="1150" b="0">
                <a:solidFill>
                  <a:srgbClr val="2E2E2E"/>
                </a:solidFill>
                <a:latin typeface="Calibri"/>
              </a:rPr>
              <a:t>X higher value than above SPF 50 segment in 2036. Among ceramide sunscreen by SPF rating, above SPF 50 segment is expected to witness the highest</a:t>
            </a:r>
          </a:p>
        </p:txBody>
      </p:sp>
      <p:sp>
        <p:nvSpPr>
          <p:cNvPr id="23" name="TextBox 22"/>
          <p:cNvSpPr txBox="1"/>
          <p:nvPr/>
        </p:nvSpPr>
        <p:spPr>
          <a:xfrm>
            <a:off x="276225" y="366141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4" name="Picture 23" descr="lock.png"/>
          <p:cNvPicPr>
            <a:picLocks noChangeAspect="1"/>
          </p:cNvPicPr>
          <p:nvPr/>
        </p:nvPicPr>
        <p:blipFill>
          <a:blip r:embed="rId4"/>
          <a:stretch>
            <a:fillRect/>
          </a:stretch>
        </p:blipFill>
        <p:spPr>
          <a:xfrm>
            <a:off x="789915" y="3651186"/>
            <a:ext cx="134549" cy="195707"/>
          </a:xfrm>
          <a:prstGeom prst="rect">
            <a:avLst/>
          </a:prstGeom>
        </p:spPr>
      </p:pic>
      <p:sp>
        <p:nvSpPr>
          <p:cNvPr id="25" name="TextBox 24"/>
          <p:cNvSpPr txBox="1"/>
          <p:nvPr/>
        </p:nvSpPr>
        <p:spPr>
          <a:xfrm>
            <a:off x="965025"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6051413" cy="194310"/>
          </a:xfrm>
          <a:prstGeom prst="rect">
            <a:avLst/>
          </a:prstGeom>
          <a:noFill/>
        </p:spPr>
        <p:txBody>
          <a:bodyPr wrap="none" lIns="0" rIns="0" tIns="0" bIns="0">
            <a:spAutoFit/>
          </a:bodyPr>
          <a:lstStyle/>
          <a:p>
            <a:r>
              <a:rPr sz="1150" b="0">
                <a:solidFill>
                  <a:srgbClr val="2E2E2E"/>
                </a:solidFill>
                <a:latin typeface="Calibri"/>
              </a:rPr>
              <a:t>In terms of value share by SPF rating, the SPF 50 segment is expected to dominate the market, losing</a:t>
            </a:r>
          </a:p>
        </p:txBody>
      </p:sp>
      <p:pic>
        <p:nvPicPr>
          <p:cNvPr id="27" name="Picture 26" descr="lock.png"/>
          <p:cNvPicPr>
            <a:picLocks noChangeAspect="1"/>
          </p:cNvPicPr>
          <p:nvPr/>
        </p:nvPicPr>
        <p:blipFill>
          <a:blip r:embed="rId4"/>
          <a:stretch>
            <a:fillRect/>
          </a:stretch>
        </p:blipFill>
        <p:spPr>
          <a:xfrm>
            <a:off x="6276792" y="3879024"/>
            <a:ext cx="134549" cy="195707"/>
          </a:xfrm>
          <a:prstGeom prst="rect">
            <a:avLst/>
          </a:prstGeom>
        </p:spPr>
      </p:pic>
      <p:sp>
        <p:nvSpPr>
          <p:cNvPr id="28" name="TextBox 27"/>
          <p:cNvSpPr txBox="1"/>
          <p:nvPr/>
        </p:nvSpPr>
        <p:spPr>
          <a:xfrm>
            <a:off x="6451901"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7044" y="3879024"/>
            <a:ext cx="134549" cy="195707"/>
          </a:xfrm>
          <a:prstGeom prst="rect">
            <a:avLst/>
          </a:prstGeom>
        </p:spPr>
      </p:pic>
      <p:sp>
        <p:nvSpPr>
          <p:cNvPr id="30" name="TextBox 29"/>
          <p:cNvSpPr txBox="1"/>
          <p:nvPr/>
        </p:nvSpPr>
        <p:spPr>
          <a:xfrm>
            <a:off x="8022154" y="38892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SPF Rating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SPF Rating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SPF Rating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81883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81407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3787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Below SPF 30</a:t>
            </a:r>
          </a:p>
        </p:txBody>
      </p:sp>
      <p:sp>
        <p:nvSpPr>
          <p:cNvPr id="18" name="BPS Value 1"/>
          <p:cNvSpPr txBox="1"/>
          <p:nvPr/>
        </p:nvSpPr>
        <p:spPr>
          <a:xfrm>
            <a:off x="6896100" y="179978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52907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52431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44811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30–49</a:t>
            </a:r>
          </a:p>
        </p:txBody>
      </p:sp>
      <p:sp>
        <p:nvSpPr>
          <p:cNvPr id="22" name="BPS Value 2"/>
          <p:cNvSpPr txBox="1"/>
          <p:nvPr/>
        </p:nvSpPr>
        <p:spPr>
          <a:xfrm>
            <a:off x="6896100" y="251002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65018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364541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56921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Above SPF 50</a:t>
            </a:r>
          </a:p>
        </p:txBody>
      </p:sp>
      <p:sp>
        <p:nvSpPr>
          <p:cNvPr id="26" name="BPS Value 3"/>
          <p:cNvSpPr txBox="1"/>
          <p:nvPr/>
        </p:nvSpPr>
        <p:spPr>
          <a:xfrm>
            <a:off x="6896100" y="363113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530842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530366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22746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50</a:t>
            </a:r>
          </a:p>
        </p:txBody>
      </p:sp>
      <p:sp>
        <p:nvSpPr>
          <p:cNvPr id="30" name="BPS Value 4"/>
          <p:cNvSpPr txBox="1"/>
          <p:nvPr/>
        </p:nvSpPr>
        <p:spPr>
          <a:xfrm>
            <a:off x="6896100" y="528937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SPF Rating</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751325"/>
            <a:ext cx="275034" cy="400050"/>
          </a:xfrm>
          <a:prstGeom prst="rect">
            <a:avLst/>
          </a:prstGeom>
        </p:spPr>
      </p:pic>
      <p:sp>
        <p:nvSpPr>
          <p:cNvPr id="37" name="TextBox 36"/>
          <p:cNvSpPr txBox="1"/>
          <p:nvPr/>
        </p:nvSpPr>
        <p:spPr>
          <a:xfrm>
            <a:off x="7829550" y="1400175"/>
            <a:ext cx="4051783" cy="194310"/>
          </a:xfrm>
          <a:prstGeom prst="rect">
            <a:avLst/>
          </a:prstGeom>
          <a:noFill/>
        </p:spPr>
        <p:txBody>
          <a:bodyPr wrap="none" lIns="0" rIns="0" tIns="0" bIns="0">
            <a:spAutoFit/>
          </a:bodyPr>
          <a:lstStyle/>
          <a:p>
            <a:r>
              <a:rPr sz="1150" b="0">
                <a:solidFill>
                  <a:srgbClr val="2E2E2E"/>
                </a:solidFill>
                <a:latin typeface="Calibri"/>
              </a:rPr>
              <a:t>Among ceramide sunscreen by SPF rating, above SPF 50 segment is</a:t>
            </a:r>
          </a:p>
        </p:txBody>
      </p:sp>
      <p:sp>
        <p:nvSpPr>
          <p:cNvPr id="38" name="TextBox 37"/>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9" name="Picture 38" descr="lock.png"/>
          <p:cNvPicPr>
            <a:picLocks noChangeAspect="1"/>
          </p:cNvPicPr>
          <p:nvPr/>
        </p:nvPicPr>
        <p:blipFill>
          <a:blip r:embed="rId5"/>
          <a:stretch>
            <a:fillRect/>
          </a:stretch>
        </p:blipFill>
        <p:spPr>
          <a:xfrm>
            <a:off x="10264711" y="1565211"/>
            <a:ext cx="134549" cy="195707"/>
          </a:xfrm>
          <a:prstGeom prst="rect">
            <a:avLst/>
          </a:prstGeom>
        </p:spPr>
      </p:pic>
      <p:sp>
        <p:nvSpPr>
          <p:cNvPr id="40" name="TextBox 39"/>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1" name="TextBox 40"/>
          <p:cNvSpPr txBox="1"/>
          <p:nvPr/>
        </p:nvSpPr>
        <p:spPr>
          <a:xfrm>
            <a:off x="7829550" y="175069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2" name="TextBox 41"/>
          <p:cNvSpPr txBox="1"/>
          <p:nvPr/>
        </p:nvSpPr>
        <p:spPr>
          <a:xfrm>
            <a:off x="7829550" y="1978533"/>
            <a:ext cx="3600512" cy="194310"/>
          </a:xfrm>
          <a:prstGeom prst="rect">
            <a:avLst/>
          </a:prstGeom>
          <a:noFill/>
        </p:spPr>
        <p:txBody>
          <a:bodyPr wrap="none" lIns="0" rIns="0" tIns="0" bIns="0">
            <a:spAutoFit/>
          </a:bodyPr>
          <a:lstStyle/>
          <a:p>
            <a:r>
              <a:rPr sz="1150" b="0">
                <a:solidFill>
                  <a:srgbClr val="2E2E2E"/>
                </a:solidFill>
                <a:latin typeface="Calibri"/>
              </a:rPr>
              <a:t>In terms of value share by SPF rating, the SPF 50 segment is</a:t>
            </a:r>
          </a:p>
        </p:txBody>
      </p:sp>
      <p:sp>
        <p:nvSpPr>
          <p:cNvPr id="43" name="TextBox 42"/>
          <p:cNvSpPr txBox="1"/>
          <p:nvPr/>
        </p:nvSpPr>
        <p:spPr>
          <a:xfrm>
            <a:off x="7829550" y="2153793"/>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44" name="Picture 43" descr="lock.png"/>
          <p:cNvPicPr>
            <a:picLocks noChangeAspect="1"/>
          </p:cNvPicPr>
          <p:nvPr/>
        </p:nvPicPr>
        <p:blipFill>
          <a:blip r:embed="rId5"/>
          <a:stretch>
            <a:fillRect/>
          </a:stretch>
        </p:blipFill>
        <p:spPr>
          <a:xfrm>
            <a:off x="10272716" y="2143569"/>
            <a:ext cx="134549" cy="195707"/>
          </a:xfrm>
          <a:prstGeom prst="rect">
            <a:avLst/>
          </a:prstGeom>
        </p:spPr>
      </p:pic>
      <p:sp>
        <p:nvSpPr>
          <p:cNvPr id="45" name="TextBox 44"/>
          <p:cNvSpPr txBox="1"/>
          <p:nvPr/>
        </p:nvSpPr>
        <p:spPr>
          <a:xfrm>
            <a:off x="10447825" y="2153793"/>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6" name="TextBox 45"/>
          <p:cNvSpPr txBox="1"/>
          <p:nvPr/>
        </p:nvSpPr>
        <p:spPr>
          <a:xfrm>
            <a:off x="7829550" y="2329053"/>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7" name="Picture 46" descr="lock.png"/>
          <p:cNvPicPr>
            <a:picLocks noChangeAspect="1"/>
          </p:cNvPicPr>
          <p:nvPr/>
        </p:nvPicPr>
        <p:blipFill>
          <a:blip r:embed="rId5"/>
          <a:stretch>
            <a:fillRect/>
          </a:stretch>
        </p:blipFill>
        <p:spPr>
          <a:xfrm>
            <a:off x="8027482" y="2318829"/>
            <a:ext cx="134549" cy="195707"/>
          </a:xfrm>
          <a:prstGeom prst="rect">
            <a:avLst/>
          </a:prstGeom>
        </p:spPr>
      </p:pic>
      <p:sp>
        <p:nvSpPr>
          <p:cNvPr id="48" name="TextBox 47"/>
          <p:cNvSpPr txBox="1"/>
          <p:nvPr/>
        </p:nvSpPr>
        <p:spPr>
          <a:xfrm>
            <a:off x="8202591"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Ingredient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Ingredient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Ingredient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Ingredient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Ingredient Type segment categorizes the market by ingredient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Regular Ingredients</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Emerging Ingredients</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Niche Ingredients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Ingredient Type split shows how demand is distributed across ingredient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785_5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1_671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7_8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583_3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1_367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8_9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381_2_605E5C.png"/>
          <p:cNvPicPr>
            <a:picLocks noChangeAspect="1"/>
          </p:cNvPicPr>
          <p:nvPr/>
        </p:nvPicPr>
        <p:blipFill>
          <a:blip r:embed="rId10"/>
          <a:stretch>
            <a:fillRect/>
          </a:stretch>
        </p:blipFill>
        <p:spPr>
          <a:xfrm>
            <a:off x="9641511" y="2286582"/>
            <a:ext cx="1195728" cy="361950"/>
          </a:xfrm>
          <a:prstGeom prst="rect">
            <a:avLst/>
          </a:prstGeom>
        </p:spPr>
      </p:pic>
      <p:pic>
        <p:nvPicPr>
          <p:cNvPr id="63" name="Picture 62" descr="742_4_605E5C.png"/>
          <p:cNvPicPr>
            <a:picLocks noChangeAspect="1"/>
          </p:cNvPicPr>
          <p:nvPr/>
        </p:nvPicPr>
        <p:blipFill>
          <a:blip r:embed="rId11"/>
          <a:stretch>
            <a:fillRect/>
          </a:stretch>
        </p:blipFill>
        <p:spPr>
          <a:xfrm>
            <a:off x="9641511" y="2779432"/>
            <a:ext cx="1195728" cy="361950"/>
          </a:xfrm>
          <a:prstGeom prst="rect">
            <a:avLst/>
          </a:prstGeom>
        </p:spPr>
      </p:pic>
      <p:pic>
        <p:nvPicPr>
          <p:cNvPr id="64" name="Picture 63" descr="6_9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757512" cy="186689"/>
          </a:xfrm>
          <a:prstGeom prst="rect">
            <a:avLst/>
          </a:prstGeom>
          <a:noFill/>
        </p:spPr>
        <p:txBody>
          <a:bodyPr wrap="none" lIns="0" rIns="0" tIns="0" bIns="0">
            <a:spAutoFit/>
          </a:bodyPr>
          <a:lstStyle/>
          <a:p>
            <a:r>
              <a:rPr sz="1100" b="0">
                <a:solidFill>
                  <a:srgbClr val="2E2E2E"/>
                </a:solidFill>
                <a:latin typeface="Calibri"/>
              </a:rPr>
              <a:t>Among ceramide sunscreen by ingredient type,</a:t>
            </a:r>
          </a:p>
        </p:txBody>
      </p:sp>
      <p:sp>
        <p:nvSpPr>
          <p:cNvPr id="69" name="TextBox 68"/>
          <p:cNvSpPr txBox="1"/>
          <p:nvPr/>
        </p:nvSpPr>
        <p:spPr>
          <a:xfrm>
            <a:off x="485775" y="4397077"/>
            <a:ext cx="2632000" cy="186689"/>
          </a:xfrm>
          <a:prstGeom prst="rect">
            <a:avLst/>
          </a:prstGeom>
          <a:noFill/>
        </p:spPr>
        <p:txBody>
          <a:bodyPr wrap="none" lIns="0" rIns="0" tIns="0" bIns="0">
            <a:spAutoFit/>
          </a:bodyPr>
          <a:lstStyle/>
          <a:p>
            <a:r>
              <a:rPr sz="1100" b="0">
                <a:solidFill>
                  <a:srgbClr val="2E2E2E"/>
                </a:solidFill>
                <a:latin typeface="Calibri"/>
              </a:rPr>
              <a:t>emerging ingredients segment is expected to</a:t>
            </a:r>
          </a:p>
        </p:txBody>
      </p:sp>
      <p:sp>
        <p:nvSpPr>
          <p:cNvPr id="70" name="TextBox 69"/>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71" name="Picture 70" descr="lock.png"/>
          <p:cNvPicPr>
            <a:picLocks noChangeAspect="1"/>
          </p:cNvPicPr>
          <p:nvPr/>
        </p:nvPicPr>
        <p:blipFill>
          <a:blip r:embed="rId13"/>
          <a:stretch>
            <a:fillRect/>
          </a:stretch>
        </p:blipFill>
        <p:spPr>
          <a:xfrm>
            <a:off x="2108919" y="4554938"/>
            <a:ext cx="128699" cy="187198"/>
          </a:xfrm>
          <a:prstGeom prst="rect">
            <a:avLst/>
          </a:prstGeom>
        </p:spPr>
      </p:pic>
      <p:sp>
        <p:nvSpPr>
          <p:cNvPr id="72" name="TextBox 71"/>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73" name="TextBox 72"/>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period. In terms of value share by ingredient type,</a:t>
            </a:r>
          </a:p>
        </p:txBody>
      </p:sp>
      <p:sp>
        <p:nvSpPr>
          <p:cNvPr id="74" name="TextBox 73"/>
          <p:cNvSpPr txBox="1"/>
          <p:nvPr/>
        </p:nvSpPr>
        <p:spPr>
          <a:xfrm>
            <a:off x="485775" y="4899997"/>
            <a:ext cx="2722314" cy="186689"/>
          </a:xfrm>
          <a:prstGeom prst="rect">
            <a:avLst/>
          </a:prstGeom>
          <a:noFill/>
        </p:spPr>
        <p:txBody>
          <a:bodyPr wrap="none" lIns="0" rIns="0" tIns="0" bIns="0">
            <a:spAutoFit/>
          </a:bodyPr>
          <a:lstStyle/>
          <a:p>
            <a:r>
              <a:rPr sz="1100" b="0">
                <a:solidFill>
                  <a:srgbClr val="2E2E2E"/>
                </a:solidFill>
                <a:latin typeface="Calibri"/>
              </a:rPr>
              <a:t>the regular ingredients segment is expected to</a:t>
            </a:r>
          </a:p>
        </p:txBody>
      </p:sp>
      <p:sp>
        <p:nvSpPr>
          <p:cNvPr id="75" name="TextBox 74"/>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76" name="Picture 75" descr="lock.png"/>
          <p:cNvPicPr>
            <a:picLocks noChangeAspect="1"/>
          </p:cNvPicPr>
          <p:nvPr/>
        </p:nvPicPr>
        <p:blipFill>
          <a:blip r:embed="rId13"/>
          <a:stretch>
            <a:fillRect/>
          </a:stretch>
        </p:blipFill>
        <p:spPr>
          <a:xfrm>
            <a:off x="2116576" y="5057858"/>
            <a:ext cx="128699" cy="187198"/>
          </a:xfrm>
          <a:prstGeom prst="rect">
            <a:avLst/>
          </a:prstGeom>
        </p:spPr>
      </p:pic>
      <p:sp>
        <p:nvSpPr>
          <p:cNvPr id="77" name="TextBox 76"/>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78" name="TextBox 77"/>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79" name="Picture 78" descr="lock.png"/>
          <p:cNvPicPr>
            <a:picLocks noChangeAspect="1"/>
          </p:cNvPicPr>
          <p:nvPr/>
        </p:nvPicPr>
        <p:blipFill>
          <a:blip r:embed="rId13"/>
          <a:stretch>
            <a:fillRect/>
          </a:stretch>
        </p:blipFill>
        <p:spPr>
          <a:xfrm>
            <a:off x="1330764" y="5225498"/>
            <a:ext cx="128699" cy="187198"/>
          </a:xfrm>
          <a:prstGeom prst="rect">
            <a:avLst/>
          </a:prstGeom>
        </p:spPr>
      </p:pic>
      <p:sp>
        <p:nvSpPr>
          <p:cNvPr id="80" name="TextBox 79"/>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553692" cy="186689"/>
          </a:xfrm>
          <a:prstGeom prst="rect">
            <a:avLst/>
          </a:prstGeom>
          <a:noFill/>
        </p:spPr>
        <p:txBody>
          <a:bodyPr wrap="none" lIns="0" rIns="0" tIns="0" bIns="0">
            <a:spAutoFit/>
          </a:bodyPr>
          <a:lstStyle/>
          <a:p>
            <a:r>
              <a:rPr sz="1100" b="0">
                <a:solidFill>
                  <a:srgbClr val="2E2E2E"/>
                </a:solidFill>
                <a:latin typeface="Calibri"/>
              </a:rPr>
              <a:t>Regular ingredients segment is projected to</a:t>
            </a:r>
          </a:p>
        </p:txBody>
      </p:sp>
      <p:sp>
        <p:nvSpPr>
          <p:cNvPr id="82" name="TextBox 81"/>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83" name="Picture 82" descr="lock.png"/>
          <p:cNvPicPr>
            <a:picLocks noChangeAspect="1"/>
          </p:cNvPicPr>
          <p:nvPr/>
        </p:nvPicPr>
        <p:blipFill>
          <a:blip r:embed="rId13"/>
          <a:stretch>
            <a:fillRect/>
          </a:stretch>
        </p:blipFill>
        <p:spPr>
          <a:xfrm>
            <a:off x="946316" y="5611070"/>
            <a:ext cx="128699" cy="187198"/>
          </a:xfrm>
          <a:prstGeom prst="rect">
            <a:avLst/>
          </a:prstGeom>
        </p:spPr>
      </p:pic>
      <p:sp>
        <p:nvSpPr>
          <p:cNvPr id="84" name="TextBox 83"/>
          <p:cNvSpPr txBox="1"/>
          <p:nvPr/>
        </p:nvSpPr>
        <p:spPr>
          <a:xfrm>
            <a:off x="1113812" y="5620849"/>
            <a:ext cx="1740867" cy="186689"/>
          </a:xfrm>
          <a:prstGeom prst="rect">
            <a:avLst/>
          </a:prstGeom>
          <a:noFill/>
        </p:spPr>
        <p:txBody>
          <a:bodyPr wrap="none" lIns="0" rIns="0" tIns="0" bIns="0">
            <a:spAutoFit/>
          </a:bodyPr>
          <a:lstStyle/>
          <a:p>
            <a:r>
              <a:rPr sz="1100" b="0">
                <a:solidFill>
                  <a:srgbClr val="2E2E2E"/>
                </a:solidFill>
                <a:latin typeface="Calibri"/>
              </a:rPr>
              <a:t>X higher value than emerging</a:t>
            </a:r>
          </a:p>
        </p:txBody>
      </p:sp>
      <p:sp>
        <p:nvSpPr>
          <p:cNvPr id="85" name="TextBox 84"/>
          <p:cNvSpPr txBox="1"/>
          <p:nvPr/>
        </p:nvSpPr>
        <p:spPr>
          <a:xfrm>
            <a:off x="485775" y="5788489"/>
            <a:ext cx="1726951" cy="186689"/>
          </a:xfrm>
          <a:prstGeom prst="rect">
            <a:avLst/>
          </a:prstGeom>
          <a:noFill/>
        </p:spPr>
        <p:txBody>
          <a:bodyPr wrap="none" lIns="0" rIns="0" tIns="0" bIns="0">
            <a:spAutoFit/>
          </a:bodyPr>
          <a:lstStyle/>
          <a:p>
            <a:r>
              <a:rPr sz="1100" b="0">
                <a:solidFill>
                  <a:srgbClr val="2E2E2E"/>
                </a:solidFill>
                <a:latin typeface="Calibri"/>
              </a:rPr>
              <a:t>ingredients segment in 2036.</a:t>
            </a:r>
          </a:p>
        </p:txBody>
      </p:sp>
      <p:sp>
        <p:nvSpPr>
          <p:cNvPr id="86" name="TextBox 85"/>
          <p:cNvSpPr txBox="1"/>
          <p:nvPr/>
        </p:nvSpPr>
        <p:spPr>
          <a:xfrm>
            <a:off x="3838575" y="4229437"/>
            <a:ext cx="1336501" cy="186689"/>
          </a:xfrm>
          <a:prstGeom prst="rect">
            <a:avLst/>
          </a:prstGeom>
          <a:noFill/>
        </p:spPr>
        <p:txBody>
          <a:bodyPr wrap="none" lIns="0" rIns="0" tIns="0" bIns="0">
            <a:spAutoFit/>
          </a:bodyPr>
          <a:lstStyle/>
          <a:p>
            <a:r>
              <a:rPr sz="1100" b="0">
                <a:solidFill>
                  <a:srgbClr val="2E2E2E"/>
                </a:solidFill>
                <a:latin typeface="Calibri"/>
              </a:rPr>
              <a:t>● Regular Ingredients:</a:t>
            </a:r>
          </a:p>
        </p:txBody>
      </p:sp>
      <p:pic>
        <p:nvPicPr>
          <p:cNvPr id="87" name="Picture 86" descr="lock.png"/>
          <p:cNvPicPr>
            <a:picLocks noChangeAspect="1"/>
          </p:cNvPicPr>
          <p:nvPr/>
        </p:nvPicPr>
        <p:blipFill>
          <a:blip r:embed="rId13"/>
          <a:stretch>
            <a:fillRect/>
          </a:stretch>
        </p:blipFill>
        <p:spPr>
          <a:xfrm>
            <a:off x="5123127" y="4219658"/>
            <a:ext cx="128699" cy="187198"/>
          </a:xfrm>
          <a:prstGeom prst="rect">
            <a:avLst/>
          </a:prstGeom>
        </p:spPr>
      </p:pic>
      <p:sp>
        <p:nvSpPr>
          <p:cNvPr id="88" name="TextBox 87"/>
          <p:cNvSpPr txBox="1"/>
          <p:nvPr/>
        </p:nvSpPr>
        <p:spPr>
          <a:xfrm>
            <a:off x="529062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150074" y="4219658"/>
            <a:ext cx="128699" cy="187198"/>
          </a:xfrm>
          <a:prstGeom prst="rect">
            <a:avLst/>
          </a:prstGeom>
        </p:spPr>
      </p:pic>
      <p:sp>
        <p:nvSpPr>
          <p:cNvPr id="90" name="TextBox 89"/>
          <p:cNvSpPr txBox="1"/>
          <p:nvPr/>
        </p:nvSpPr>
        <p:spPr>
          <a:xfrm>
            <a:off x="6317569"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1" name="TextBox 90"/>
          <p:cNvSpPr txBox="1"/>
          <p:nvPr/>
        </p:nvSpPr>
        <p:spPr>
          <a:xfrm>
            <a:off x="3838575" y="4447369"/>
            <a:ext cx="1439366" cy="186689"/>
          </a:xfrm>
          <a:prstGeom prst="rect">
            <a:avLst/>
          </a:prstGeom>
          <a:noFill/>
        </p:spPr>
        <p:txBody>
          <a:bodyPr wrap="none" lIns="0" rIns="0" tIns="0" bIns="0">
            <a:spAutoFit/>
          </a:bodyPr>
          <a:lstStyle/>
          <a:p>
            <a:r>
              <a:rPr sz="1100" b="0">
                <a:solidFill>
                  <a:srgbClr val="2E2E2E"/>
                </a:solidFill>
                <a:latin typeface="Calibri"/>
              </a:rPr>
              <a:t>● Emerging Ingredients:</a:t>
            </a:r>
          </a:p>
        </p:txBody>
      </p:sp>
      <p:pic>
        <p:nvPicPr>
          <p:cNvPr id="92" name="Picture 91" descr="lock.png"/>
          <p:cNvPicPr>
            <a:picLocks noChangeAspect="1"/>
          </p:cNvPicPr>
          <p:nvPr/>
        </p:nvPicPr>
        <p:blipFill>
          <a:blip r:embed="rId13"/>
          <a:stretch>
            <a:fillRect/>
          </a:stretch>
        </p:blipFill>
        <p:spPr>
          <a:xfrm>
            <a:off x="5225993" y="4437590"/>
            <a:ext cx="128699" cy="187198"/>
          </a:xfrm>
          <a:prstGeom prst="rect">
            <a:avLst/>
          </a:prstGeom>
        </p:spPr>
      </p:pic>
      <p:sp>
        <p:nvSpPr>
          <p:cNvPr id="93" name="TextBox 92"/>
          <p:cNvSpPr txBox="1"/>
          <p:nvPr/>
        </p:nvSpPr>
        <p:spPr>
          <a:xfrm>
            <a:off x="5393488"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4" name="Picture 93" descr="lock.png"/>
          <p:cNvPicPr>
            <a:picLocks noChangeAspect="1"/>
          </p:cNvPicPr>
          <p:nvPr/>
        </p:nvPicPr>
        <p:blipFill>
          <a:blip r:embed="rId13"/>
          <a:stretch>
            <a:fillRect/>
          </a:stretch>
        </p:blipFill>
        <p:spPr>
          <a:xfrm>
            <a:off x="6252939" y="4437590"/>
            <a:ext cx="128699" cy="187198"/>
          </a:xfrm>
          <a:prstGeom prst="rect">
            <a:avLst/>
          </a:prstGeom>
        </p:spPr>
      </p:pic>
      <p:sp>
        <p:nvSpPr>
          <p:cNvPr id="95" name="TextBox 94"/>
          <p:cNvSpPr txBox="1"/>
          <p:nvPr/>
        </p:nvSpPr>
        <p:spPr>
          <a:xfrm>
            <a:off x="6420434"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6" name="TextBox 95"/>
          <p:cNvSpPr txBox="1"/>
          <p:nvPr/>
        </p:nvSpPr>
        <p:spPr>
          <a:xfrm>
            <a:off x="3838575" y="4665301"/>
            <a:ext cx="1228725" cy="186689"/>
          </a:xfrm>
          <a:prstGeom prst="rect">
            <a:avLst/>
          </a:prstGeom>
          <a:noFill/>
        </p:spPr>
        <p:txBody>
          <a:bodyPr wrap="none" lIns="0" rIns="0" tIns="0" bIns="0">
            <a:spAutoFit/>
          </a:bodyPr>
          <a:lstStyle/>
          <a:p>
            <a:r>
              <a:rPr sz="1100" b="0">
                <a:solidFill>
                  <a:srgbClr val="2E2E2E"/>
                </a:solidFill>
                <a:latin typeface="Calibri"/>
              </a:rPr>
              <a:t>● Niche Ingredients:</a:t>
            </a:r>
          </a:p>
        </p:txBody>
      </p:sp>
      <p:pic>
        <p:nvPicPr>
          <p:cNvPr id="97" name="Picture 96" descr="lock.png"/>
          <p:cNvPicPr>
            <a:picLocks noChangeAspect="1"/>
          </p:cNvPicPr>
          <p:nvPr/>
        </p:nvPicPr>
        <p:blipFill>
          <a:blip r:embed="rId13"/>
          <a:stretch>
            <a:fillRect/>
          </a:stretch>
        </p:blipFill>
        <p:spPr>
          <a:xfrm>
            <a:off x="5015351" y="4655522"/>
            <a:ext cx="128699" cy="187198"/>
          </a:xfrm>
          <a:prstGeom prst="rect">
            <a:avLst/>
          </a:prstGeom>
        </p:spPr>
      </p:pic>
      <p:sp>
        <p:nvSpPr>
          <p:cNvPr id="98" name="TextBox 97"/>
          <p:cNvSpPr txBox="1"/>
          <p:nvPr/>
        </p:nvSpPr>
        <p:spPr>
          <a:xfrm>
            <a:off x="518284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3"/>
          <a:stretch>
            <a:fillRect/>
          </a:stretch>
        </p:blipFill>
        <p:spPr>
          <a:xfrm>
            <a:off x="6042297" y="4655522"/>
            <a:ext cx="128699" cy="187198"/>
          </a:xfrm>
          <a:prstGeom prst="rect">
            <a:avLst/>
          </a:prstGeom>
        </p:spPr>
      </p:pic>
      <p:sp>
        <p:nvSpPr>
          <p:cNvPr id="100" name="TextBox 99"/>
          <p:cNvSpPr txBox="1"/>
          <p:nvPr/>
        </p:nvSpPr>
        <p:spPr>
          <a:xfrm>
            <a:off x="6209793"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1" name="TextBox 100"/>
          <p:cNvSpPr txBox="1"/>
          <p:nvPr/>
        </p:nvSpPr>
        <p:spPr>
          <a:xfrm>
            <a:off x="8524875" y="5842641"/>
            <a:ext cx="3094186" cy="194310"/>
          </a:xfrm>
          <a:prstGeom prst="rect">
            <a:avLst/>
          </a:prstGeom>
          <a:noFill/>
        </p:spPr>
        <p:txBody>
          <a:bodyPr wrap="none" lIns="0" rIns="0" tIns="0" bIns="0">
            <a:spAutoFit/>
          </a:bodyPr>
          <a:lstStyle/>
          <a:p>
            <a:r>
              <a:rPr sz="1150" b="1">
                <a:solidFill>
                  <a:srgbClr val="0B2E4A"/>
                </a:solidFill>
                <a:latin typeface="Calibri"/>
              </a:rPr>
              <a:t>The Ingredient Type segment is projected to grow</a:t>
            </a:r>
          </a:p>
        </p:txBody>
      </p:sp>
      <p:sp>
        <p:nvSpPr>
          <p:cNvPr id="102" name="TextBox 101"/>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03" name="Picture 102" descr="lock.png"/>
          <p:cNvPicPr>
            <a:picLocks noChangeAspect="1"/>
          </p:cNvPicPr>
          <p:nvPr/>
        </p:nvPicPr>
        <p:blipFill>
          <a:blip r:embed="rId13"/>
          <a:stretch>
            <a:fillRect/>
          </a:stretch>
        </p:blipFill>
        <p:spPr>
          <a:xfrm>
            <a:off x="9310118" y="6007677"/>
            <a:ext cx="134549" cy="195707"/>
          </a:xfrm>
          <a:prstGeom prst="rect">
            <a:avLst/>
          </a:prstGeom>
        </p:spPr>
      </p:pic>
      <p:sp>
        <p:nvSpPr>
          <p:cNvPr id="104" name="TextBox 103"/>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Ingredient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Ingredient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Ingredient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Ingredient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397084" cy="186689"/>
          </a:xfrm>
          <a:prstGeom prst="rect">
            <a:avLst/>
          </a:prstGeom>
          <a:noFill/>
        </p:spPr>
        <p:txBody>
          <a:bodyPr wrap="none" lIns="0" rIns="0" tIns="0" bIns="0">
            <a:spAutoFit/>
          </a:bodyPr>
          <a:lstStyle/>
          <a:p>
            <a:r>
              <a:rPr sz="1100" b="0">
                <a:solidFill>
                  <a:srgbClr val="2E2E2E"/>
                </a:solidFill>
                <a:latin typeface="Calibri"/>
              </a:rPr>
              <a:t>Regular ingredients followed by emerging ingredients are expected to be the two most attractive ingredient type segments in the global ceramide sunscreen market in terms of value over the forecast</a:t>
            </a:r>
          </a:p>
        </p:txBody>
      </p:sp>
      <p:sp>
        <p:nvSpPr>
          <p:cNvPr id="20" name="TextBox 19"/>
          <p:cNvSpPr txBox="1"/>
          <p:nvPr/>
        </p:nvSpPr>
        <p:spPr>
          <a:xfrm>
            <a:off x="257175" y="5861685"/>
            <a:ext cx="4461180" cy="186689"/>
          </a:xfrm>
          <a:prstGeom prst="rect">
            <a:avLst/>
          </a:prstGeom>
          <a:noFill/>
        </p:spPr>
        <p:txBody>
          <a:bodyPr wrap="none" lIns="0" rIns="0" tIns="0" bIns="0">
            <a:spAutoFit/>
          </a:bodyPr>
          <a:lstStyle/>
          <a:p>
            <a:r>
              <a:rPr sz="1100" b="0">
                <a:solidFill>
                  <a:srgbClr val="2E2E2E"/>
                </a:solidFill>
                <a:latin typeface="Calibri"/>
              </a:rPr>
              <a:t>period. Regular ingredients and emerging ingredients exhibit a CAGR index of</a:t>
            </a:r>
          </a:p>
        </p:txBody>
      </p:sp>
      <p:pic>
        <p:nvPicPr>
          <p:cNvPr id="21" name="Picture 20" descr="lock.png"/>
          <p:cNvPicPr>
            <a:picLocks noChangeAspect="1"/>
          </p:cNvPicPr>
          <p:nvPr/>
        </p:nvPicPr>
        <p:blipFill>
          <a:blip r:embed="rId6"/>
          <a:stretch>
            <a:fillRect/>
          </a:stretch>
        </p:blipFill>
        <p:spPr>
          <a:xfrm>
            <a:off x="4666407" y="5851905"/>
            <a:ext cx="128699" cy="187198"/>
          </a:xfrm>
          <a:prstGeom prst="rect">
            <a:avLst/>
          </a:prstGeom>
        </p:spPr>
      </p:pic>
      <p:sp>
        <p:nvSpPr>
          <p:cNvPr id="22" name="TextBox 21"/>
          <p:cNvSpPr txBox="1"/>
          <p:nvPr/>
        </p:nvSpPr>
        <p:spPr>
          <a:xfrm>
            <a:off x="483390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071797" y="5851905"/>
            <a:ext cx="128699" cy="187198"/>
          </a:xfrm>
          <a:prstGeom prst="rect">
            <a:avLst/>
          </a:prstGeom>
        </p:spPr>
      </p:pic>
      <p:sp>
        <p:nvSpPr>
          <p:cNvPr id="24" name="TextBox 23"/>
          <p:cNvSpPr txBox="1"/>
          <p:nvPr/>
        </p:nvSpPr>
        <p:spPr>
          <a:xfrm>
            <a:off x="5239293"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848266" y="5851905"/>
            <a:ext cx="128699" cy="187198"/>
          </a:xfrm>
          <a:prstGeom prst="rect">
            <a:avLst/>
          </a:prstGeom>
        </p:spPr>
      </p:pic>
      <p:sp>
        <p:nvSpPr>
          <p:cNvPr id="26" name="TextBox 25"/>
          <p:cNvSpPr txBox="1"/>
          <p:nvPr/>
        </p:nvSpPr>
        <p:spPr>
          <a:xfrm>
            <a:off x="701576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253656" y="5851905"/>
            <a:ext cx="128699" cy="187198"/>
          </a:xfrm>
          <a:prstGeom prst="rect">
            <a:avLst/>
          </a:prstGeom>
        </p:spPr>
      </p:pic>
      <p:sp>
        <p:nvSpPr>
          <p:cNvPr id="28" name="TextBox 27"/>
          <p:cNvSpPr txBox="1"/>
          <p:nvPr/>
        </p:nvSpPr>
        <p:spPr>
          <a:xfrm>
            <a:off x="7421152"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975556" y="5851905"/>
            <a:ext cx="128699" cy="187198"/>
          </a:xfrm>
          <a:prstGeom prst="rect">
            <a:avLst/>
          </a:prstGeom>
        </p:spPr>
      </p:pic>
      <p:sp>
        <p:nvSpPr>
          <p:cNvPr id="30" name="TextBox 29"/>
          <p:cNvSpPr txBox="1"/>
          <p:nvPr/>
        </p:nvSpPr>
        <p:spPr>
          <a:xfrm>
            <a:off x="10143052" y="5861685"/>
            <a:ext cx="693663" cy="186689"/>
          </a:xfrm>
          <a:prstGeom prst="rect">
            <a:avLst/>
          </a:prstGeom>
          <a:noFill/>
        </p:spPr>
        <p:txBody>
          <a:bodyPr wrap="none" lIns="0" rIns="0" tIns="0" bIns="0">
            <a:spAutoFit/>
          </a:bodyPr>
          <a:lstStyle/>
          <a:p>
            <a:r>
              <a:rPr sz="1100" b="0">
                <a:solidFill>
                  <a:srgbClr val="2E2E2E"/>
                </a:solidFill>
                <a:latin typeface="Calibri"/>
              </a:rPr>
              <a:t>. The niche</a:t>
            </a:r>
          </a:p>
        </p:txBody>
      </p:sp>
      <p:sp>
        <p:nvSpPr>
          <p:cNvPr id="31" name="TextBox 30"/>
          <p:cNvSpPr txBox="1"/>
          <p:nvPr/>
        </p:nvSpPr>
        <p:spPr>
          <a:xfrm>
            <a:off x="257175" y="6029325"/>
            <a:ext cx="11539751" cy="186689"/>
          </a:xfrm>
          <a:prstGeom prst="rect">
            <a:avLst/>
          </a:prstGeom>
          <a:noFill/>
        </p:spPr>
        <p:txBody>
          <a:bodyPr wrap="none" lIns="0" rIns="0" tIns="0" bIns="0">
            <a:spAutoFit/>
          </a:bodyPr>
          <a:lstStyle/>
          <a:p>
            <a:r>
              <a:rPr sz="1100" b="0">
                <a:solidFill>
                  <a:srgbClr val="2E2E2E"/>
                </a:solidFill>
                <a:latin typeface="Calibri"/>
              </a:rPr>
              <a:t>ingredients segment is expected to be less attractive as compared to other segments over the forecast period, owing to its lower CAGR and incremental opportunity. Bubbles right of the CAGR-Index line</a:t>
            </a:r>
          </a:p>
        </p:txBody>
      </p:sp>
      <p:sp>
        <p:nvSpPr>
          <p:cNvPr id="32" name="TextBox 31"/>
          <p:cNvSpPr txBox="1"/>
          <p:nvPr/>
        </p:nvSpPr>
        <p:spPr>
          <a:xfrm>
            <a:off x="257175" y="619696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Ingredient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Ingredient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Regular Ingredients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Niche Ingredients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Emerging Ingredients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Ingredient Type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7"/>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286250"/>
            <a:ext cx="4627118" cy="194310"/>
          </a:xfrm>
          <a:prstGeom prst="rect">
            <a:avLst/>
          </a:prstGeom>
          <a:noFill/>
        </p:spPr>
        <p:txBody>
          <a:bodyPr wrap="none" lIns="0" rIns="0" tIns="0" bIns="0">
            <a:spAutoFit/>
          </a:bodyPr>
          <a:lstStyle/>
          <a:p>
            <a:r>
              <a:rPr sz="1150" b="0">
                <a:solidFill>
                  <a:srgbClr val="2E2E2E"/>
                </a:solidFill>
                <a:latin typeface="Calibri"/>
              </a:rPr>
              <a:t>By 2036, regular ingredients segment is anticipated to witness an increase of</a:t>
            </a:r>
          </a:p>
        </p:txBody>
      </p:sp>
      <p:pic>
        <p:nvPicPr>
          <p:cNvPr id="28" name="Picture 27" descr="lock.png"/>
          <p:cNvPicPr>
            <a:picLocks noChangeAspect="1"/>
          </p:cNvPicPr>
          <p:nvPr/>
        </p:nvPicPr>
        <p:blipFill>
          <a:blip r:embed="rId7"/>
          <a:stretch>
            <a:fillRect/>
          </a:stretch>
        </p:blipFill>
        <p:spPr>
          <a:xfrm>
            <a:off x="10881822" y="4276026"/>
            <a:ext cx="134549" cy="195707"/>
          </a:xfrm>
          <a:prstGeom prst="rect">
            <a:avLst/>
          </a:prstGeom>
        </p:spPr>
      </p:pic>
      <p:sp>
        <p:nvSpPr>
          <p:cNvPr id="29" name="TextBox 28"/>
          <p:cNvSpPr txBox="1"/>
          <p:nvPr/>
        </p:nvSpPr>
        <p:spPr>
          <a:xfrm>
            <a:off x="11056931" y="428625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0" name="TextBox 29"/>
          <p:cNvSpPr txBox="1"/>
          <p:nvPr/>
        </p:nvSpPr>
        <p:spPr>
          <a:xfrm>
            <a:off x="6305550" y="4461510"/>
            <a:ext cx="5128617" cy="194310"/>
          </a:xfrm>
          <a:prstGeom prst="rect">
            <a:avLst/>
          </a:prstGeom>
          <a:noFill/>
        </p:spPr>
        <p:txBody>
          <a:bodyPr wrap="none" lIns="0" rIns="0" tIns="0" bIns="0">
            <a:spAutoFit/>
          </a:bodyPr>
          <a:lstStyle/>
          <a:p>
            <a:r>
              <a:rPr sz="1150" b="0">
                <a:solidFill>
                  <a:srgbClr val="2E2E2E"/>
                </a:solidFill>
                <a:latin typeface="Calibri"/>
              </a:rPr>
              <a:t>value as compared to 2026. The regular ingredients segment is expected to create an</a:t>
            </a:r>
          </a:p>
        </p:txBody>
      </p:sp>
      <p:sp>
        <p:nvSpPr>
          <p:cNvPr id="31" name="TextBox 30"/>
          <p:cNvSpPr txBox="1"/>
          <p:nvPr/>
        </p:nvSpPr>
        <p:spPr>
          <a:xfrm>
            <a:off x="6305550" y="4636770"/>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32" name="Picture 31" descr="lock.png"/>
          <p:cNvPicPr>
            <a:picLocks noChangeAspect="1"/>
          </p:cNvPicPr>
          <p:nvPr/>
        </p:nvPicPr>
        <p:blipFill>
          <a:blip r:embed="rId7"/>
          <a:stretch>
            <a:fillRect/>
          </a:stretch>
        </p:blipFill>
        <p:spPr>
          <a:xfrm>
            <a:off x="8211582" y="4626546"/>
            <a:ext cx="134549" cy="195707"/>
          </a:xfrm>
          <a:prstGeom prst="rect">
            <a:avLst/>
          </a:prstGeom>
        </p:spPr>
      </p:pic>
      <p:sp>
        <p:nvSpPr>
          <p:cNvPr id="33" name="TextBox 32"/>
          <p:cNvSpPr txBox="1"/>
          <p:nvPr/>
        </p:nvSpPr>
        <p:spPr>
          <a:xfrm>
            <a:off x="8386692" y="4636770"/>
            <a:ext cx="3487551"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 2026</a:t>
            </a:r>
          </a:p>
        </p:txBody>
      </p:sp>
      <p:sp>
        <p:nvSpPr>
          <p:cNvPr id="34" name="TextBox 33"/>
          <p:cNvSpPr txBox="1"/>
          <p:nvPr/>
        </p:nvSpPr>
        <p:spPr>
          <a:xfrm>
            <a:off x="6305550" y="4812029"/>
            <a:ext cx="568833" cy="194310"/>
          </a:xfrm>
          <a:prstGeom prst="rect">
            <a:avLst/>
          </a:prstGeom>
          <a:noFill/>
        </p:spPr>
        <p:txBody>
          <a:bodyPr wrap="none" lIns="0" rIns="0" tIns="0" bIns="0">
            <a:spAutoFit/>
          </a:bodyPr>
          <a:lstStyle/>
          <a:p>
            <a:r>
              <a:rPr sz="1150" b="0">
                <a:solidFill>
                  <a:srgbClr val="2E2E2E"/>
                </a:solidFill>
                <a:latin typeface="Calibri"/>
              </a:rPr>
              <a:t>to 2036.</a:t>
            </a:r>
          </a:p>
        </p:txBody>
      </p:sp>
      <p:sp>
        <p:nvSpPr>
          <p:cNvPr id="35" name="TextBox 34"/>
          <p:cNvSpPr txBox="1"/>
          <p:nvPr/>
        </p:nvSpPr>
        <p:spPr>
          <a:xfrm>
            <a:off x="6305550" y="5039867"/>
            <a:ext cx="5506008" cy="194310"/>
          </a:xfrm>
          <a:prstGeom prst="rect">
            <a:avLst/>
          </a:prstGeom>
          <a:noFill/>
        </p:spPr>
        <p:txBody>
          <a:bodyPr wrap="none" lIns="0" rIns="0" tIns="0" bIns="0">
            <a:spAutoFit/>
          </a:bodyPr>
          <a:lstStyle/>
          <a:p>
            <a:r>
              <a:rPr sz="1150" b="0">
                <a:solidFill>
                  <a:srgbClr val="2E2E2E"/>
                </a:solidFill>
                <a:latin typeface="Calibri"/>
              </a:rPr>
              <a:t>The emerging ingredients segment is expected to create an incremental opportunity of US$</a:t>
            </a:r>
          </a:p>
        </p:txBody>
      </p:sp>
      <p:pic>
        <p:nvPicPr>
          <p:cNvPr id="36" name="Picture 35" descr="lock.png"/>
          <p:cNvPicPr>
            <a:picLocks noChangeAspect="1"/>
          </p:cNvPicPr>
          <p:nvPr/>
        </p:nvPicPr>
        <p:blipFill>
          <a:blip r:embed="rId7"/>
          <a:stretch>
            <a:fillRect/>
          </a:stretch>
        </p:blipFill>
        <p:spPr>
          <a:xfrm>
            <a:off x="6291470" y="5204904"/>
            <a:ext cx="134549" cy="195707"/>
          </a:xfrm>
          <a:prstGeom prst="rect">
            <a:avLst/>
          </a:prstGeom>
        </p:spPr>
      </p:pic>
      <p:sp>
        <p:nvSpPr>
          <p:cNvPr id="37" name="TextBox 36"/>
          <p:cNvSpPr txBox="1"/>
          <p:nvPr/>
        </p:nvSpPr>
        <p:spPr>
          <a:xfrm>
            <a:off x="6466579" y="5215127"/>
            <a:ext cx="5324016"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 2026 to 2036. The niche ingredients</a:t>
            </a:r>
          </a:p>
        </p:txBody>
      </p:sp>
      <p:sp>
        <p:nvSpPr>
          <p:cNvPr id="38" name="TextBox 37"/>
          <p:cNvSpPr txBox="1"/>
          <p:nvPr/>
        </p:nvSpPr>
        <p:spPr>
          <a:xfrm>
            <a:off x="6305550" y="5390387"/>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10210642" y="5380164"/>
            <a:ext cx="134549" cy="195707"/>
          </a:xfrm>
          <a:prstGeom prst="rect">
            <a:avLst/>
          </a:prstGeom>
        </p:spPr>
      </p:pic>
      <p:sp>
        <p:nvSpPr>
          <p:cNvPr id="40" name="TextBox 39"/>
          <p:cNvSpPr txBox="1"/>
          <p:nvPr/>
        </p:nvSpPr>
        <p:spPr>
          <a:xfrm>
            <a:off x="10385751" y="5390387"/>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41" name="TextBox 40"/>
          <p:cNvSpPr txBox="1"/>
          <p:nvPr/>
        </p:nvSpPr>
        <p:spPr>
          <a:xfrm>
            <a:off x="6305550" y="5565647"/>
            <a:ext cx="2904207" cy="194310"/>
          </a:xfrm>
          <a:prstGeom prst="rect">
            <a:avLst/>
          </a:prstGeom>
          <a:noFill/>
        </p:spPr>
        <p:txBody>
          <a:bodyPr wrap="none" lIns="0" rIns="0" tIns="0" bIns="0">
            <a:spAutoFit/>
          </a:bodyPr>
          <a:lstStyle/>
          <a:p>
            <a:r>
              <a:rPr sz="1150" b="0">
                <a:solidFill>
                  <a:srgbClr val="2E2E2E"/>
                </a:solidFill>
                <a:latin typeface="Calibri"/>
              </a:rPr>
              <a:t>ceramide sunscreen market from 2026 to 2036.</a:t>
            </a:r>
          </a:p>
        </p:txBody>
      </p:sp>
      <p:sp>
        <p:nvSpPr>
          <p:cNvPr id="42"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Ingredient Type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Ingredient Type, 2021–2036, highlighting the sub-segments driving growth</a:t>
            </a:r>
          </a:p>
        </p:txBody>
      </p:sp>
      <p:sp>
        <p:nvSpPr>
          <p:cNvPr id="10" name="Rounded Rectangle 9"/>
          <p:cNvSpPr/>
          <p:nvPr/>
        </p:nvSpPr>
        <p:spPr>
          <a:xfrm>
            <a:off x="142875" y="981075"/>
            <a:ext cx="11906250" cy="4162425"/>
          </a:xfrm>
          <a:prstGeom prst="roundRect">
            <a:avLst>
              <a:gd name="adj" fmla="val 18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Ingredient Type (US$ Mn)</a:t>
            </a:r>
          </a:p>
        </p:txBody>
      </p:sp>
      <p:graphicFrame>
        <p:nvGraphicFramePr>
          <p:cNvPr id="12" name="Table 11"/>
          <p:cNvGraphicFramePr>
            <a:graphicFrameLocks noGrp="1"/>
          </p:cNvGraphicFramePr>
          <p:nvPr/>
        </p:nvGraphicFramePr>
        <p:xfrm>
          <a:off x="152400" y="1238250"/>
          <a:ext cx="11887203" cy="3695698"/>
        </p:xfrm>
        <a:graphic>
          <a:graphicData uri="http://schemas.openxmlformats.org/drawingml/2006/table">
            <a:tbl>
              <a:tblPr>
                <a:tableStyleId>{5C22544A-7EE6-4342-B048-85BDC9FD1C3A}</a:tableStyleId>
              </a:tblPr>
              <a:tblGrid>
                <a:gridCol w="2813372"/>
                <a:gridCol w="545051"/>
                <a:gridCol w="545051"/>
                <a:gridCol w="545051"/>
                <a:gridCol w="545051"/>
                <a:gridCol w="545051"/>
                <a:gridCol w="525851"/>
                <a:gridCol w="520366"/>
                <a:gridCol w="520366"/>
                <a:gridCol w="520366"/>
                <a:gridCol w="520366"/>
                <a:gridCol w="520366"/>
                <a:gridCol w="520366"/>
                <a:gridCol w="520366"/>
                <a:gridCol w="520366"/>
                <a:gridCol w="520366"/>
                <a:gridCol w="520366"/>
                <a:gridCol w="619065"/>
              </a:tblGrid>
              <a:tr h="246126">
                <a:tc>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98">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Ceramide NP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 AP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Ceramide EOP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 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Ceramide 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 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Multi-ceramide blends and complexes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Niche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Ceramide EOS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 EOH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Specialized ceramide-lipid complexes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Ceramide-based liquid-crystal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Emerging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943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315997" y="2942461"/>
            <a:ext cx="366712" cy="5334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Ingredient Type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Ingredient Type,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Ingredient Type (US$ Mn)</a:t>
            </a:r>
          </a:p>
        </p:txBody>
      </p:sp>
      <p:graphicFrame>
        <p:nvGraphicFramePr>
          <p:cNvPr id="12" name="Table 11"/>
          <p:cNvGraphicFramePr>
            <a:graphicFrameLocks noGrp="1"/>
          </p:cNvGraphicFramePr>
          <p:nvPr/>
        </p:nvGraphicFramePr>
        <p:xfrm>
          <a:off x="152400" y="1238250"/>
          <a:ext cx="11887205" cy="1724022"/>
        </p:xfrm>
        <a:graphic>
          <a:graphicData uri="http://schemas.openxmlformats.org/drawingml/2006/table">
            <a:tbl>
              <a:tblPr>
                <a:tableStyleId>{5C22544A-7EE6-4342-B048-85BDC9FD1C3A}</a:tableStyleId>
              </a:tblPr>
              <a:tblGrid>
                <a:gridCol w="2979849"/>
                <a:gridCol w="535051"/>
                <a:gridCol w="535051"/>
                <a:gridCol w="535051"/>
                <a:gridCol w="535051"/>
                <a:gridCol w="535051"/>
                <a:gridCol w="516204"/>
                <a:gridCol w="510819"/>
                <a:gridCol w="510819"/>
                <a:gridCol w="510819"/>
                <a:gridCol w="510819"/>
                <a:gridCol w="510819"/>
                <a:gridCol w="510819"/>
                <a:gridCol w="510819"/>
                <a:gridCol w="510819"/>
                <a:gridCol w="510819"/>
                <a:gridCol w="510819"/>
                <a:gridCol w="607707"/>
              </a:tblGrid>
              <a:tr h="246126">
                <a:tc>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 Fermentation-derived ceramides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Biotechnologically produced ceramides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Encapsulated ceramide delivery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Ceramide-loaded liposomal systems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Advanced ceramide delivery technologies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Ingredient Type</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99237" y="1956623"/>
            <a:ext cx="366712" cy="533400"/>
          </a:xfrm>
          <a:prstGeom prst="rect">
            <a:avLst/>
          </a:prstGeom>
        </p:spPr>
      </p:pic>
      <p:sp>
        <p:nvSpPr>
          <p:cNvPr id="20" name="TextBox 19"/>
          <p:cNvSpPr txBox="1"/>
          <p:nvPr/>
        </p:nvSpPr>
        <p:spPr>
          <a:xfrm>
            <a:off x="276225" y="3724275"/>
            <a:ext cx="3155515" cy="194310"/>
          </a:xfrm>
          <a:prstGeom prst="rect">
            <a:avLst/>
          </a:prstGeom>
          <a:noFill/>
        </p:spPr>
        <p:txBody>
          <a:bodyPr wrap="none" lIns="0" rIns="0" tIns="0" bIns="0">
            <a:spAutoFit/>
          </a:bodyPr>
          <a:lstStyle/>
          <a:p>
            <a:r>
              <a:rPr sz="1150" b="0">
                <a:solidFill>
                  <a:srgbClr val="2E2E2E"/>
                </a:solidFill>
                <a:latin typeface="Calibri"/>
              </a:rPr>
              <a:t>Regular ingredients segment is projected to register</a:t>
            </a:r>
          </a:p>
        </p:txBody>
      </p:sp>
      <p:pic>
        <p:nvPicPr>
          <p:cNvPr id="21" name="Picture 20" descr="lock.png"/>
          <p:cNvPicPr>
            <a:picLocks noChangeAspect="1"/>
          </p:cNvPicPr>
          <p:nvPr/>
        </p:nvPicPr>
        <p:blipFill>
          <a:blip r:embed="rId4"/>
          <a:stretch>
            <a:fillRect/>
          </a:stretch>
        </p:blipFill>
        <p:spPr>
          <a:xfrm>
            <a:off x="3380894" y="3714051"/>
            <a:ext cx="134549" cy="195707"/>
          </a:xfrm>
          <a:prstGeom prst="rect">
            <a:avLst/>
          </a:prstGeom>
        </p:spPr>
      </p:pic>
      <p:sp>
        <p:nvSpPr>
          <p:cNvPr id="22" name="TextBox 21"/>
          <p:cNvSpPr txBox="1"/>
          <p:nvPr/>
        </p:nvSpPr>
        <p:spPr>
          <a:xfrm>
            <a:off x="3556004" y="3724275"/>
            <a:ext cx="8254714" cy="194310"/>
          </a:xfrm>
          <a:prstGeom prst="rect">
            <a:avLst/>
          </a:prstGeom>
          <a:noFill/>
        </p:spPr>
        <p:txBody>
          <a:bodyPr wrap="none" lIns="0" rIns="0" tIns="0" bIns="0">
            <a:spAutoFit/>
          </a:bodyPr>
          <a:lstStyle/>
          <a:p>
            <a:r>
              <a:rPr sz="1150" b="0">
                <a:solidFill>
                  <a:srgbClr val="2E2E2E"/>
                </a:solidFill>
                <a:latin typeface="Calibri"/>
              </a:rPr>
              <a:t>X higher value than emerging ingredients segment in 2036. Among ceramide sunscreen by ingredient type, emerging ingredients segment</a:t>
            </a:r>
          </a:p>
        </p:txBody>
      </p:sp>
      <p:sp>
        <p:nvSpPr>
          <p:cNvPr id="23" name="TextBox 22"/>
          <p:cNvSpPr txBox="1"/>
          <p:nvPr/>
        </p:nvSpPr>
        <p:spPr>
          <a:xfrm>
            <a:off x="276225" y="389953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24" name="Picture 23" descr="lock.png"/>
          <p:cNvPicPr>
            <a:picLocks noChangeAspect="1"/>
          </p:cNvPicPr>
          <p:nvPr/>
        </p:nvPicPr>
        <p:blipFill>
          <a:blip r:embed="rId4"/>
          <a:stretch>
            <a:fillRect/>
          </a:stretch>
        </p:blipFill>
        <p:spPr>
          <a:xfrm>
            <a:off x="2835186" y="3889311"/>
            <a:ext cx="134549" cy="195707"/>
          </a:xfrm>
          <a:prstGeom prst="rect">
            <a:avLst/>
          </a:prstGeom>
        </p:spPr>
      </p:pic>
      <p:sp>
        <p:nvSpPr>
          <p:cNvPr id="25" name="TextBox 24"/>
          <p:cNvSpPr txBox="1"/>
          <p:nvPr/>
        </p:nvSpPr>
        <p:spPr>
          <a:xfrm>
            <a:off x="3010295"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7104000" cy="194310"/>
          </a:xfrm>
          <a:prstGeom prst="rect">
            <a:avLst/>
          </a:prstGeom>
          <a:noFill/>
        </p:spPr>
        <p:txBody>
          <a:bodyPr wrap="none" lIns="0" rIns="0" tIns="0" bIns="0">
            <a:spAutoFit/>
          </a:bodyPr>
          <a:lstStyle/>
          <a:p>
            <a:r>
              <a:rPr sz="1150" b="0">
                <a:solidFill>
                  <a:srgbClr val="2E2E2E"/>
                </a:solidFill>
                <a:latin typeface="Calibri"/>
              </a:rPr>
              <a:t>In terms of value share by ingredient type, the regular ingredients segment is expected to dominate the market, losing</a:t>
            </a:r>
          </a:p>
        </p:txBody>
      </p:sp>
      <p:pic>
        <p:nvPicPr>
          <p:cNvPr id="27" name="Picture 26" descr="lock.png"/>
          <p:cNvPicPr>
            <a:picLocks noChangeAspect="1"/>
          </p:cNvPicPr>
          <p:nvPr/>
        </p:nvPicPr>
        <p:blipFill>
          <a:blip r:embed="rId4"/>
          <a:stretch>
            <a:fillRect/>
          </a:stretch>
        </p:blipFill>
        <p:spPr>
          <a:xfrm>
            <a:off x="7329379" y="4117149"/>
            <a:ext cx="134549" cy="195707"/>
          </a:xfrm>
          <a:prstGeom prst="rect">
            <a:avLst/>
          </a:prstGeom>
        </p:spPr>
      </p:pic>
      <p:sp>
        <p:nvSpPr>
          <p:cNvPr id="28" name="TextBox 27"/>
          <p:cNvSpPr txBox="1"/>
          <p:nvPr/>
        </p:nvSpPr>
        <p:spPr>
          <a:xfrm>
            <a:off x="7504488"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899631" y="4117149"/>
            <a:ext cx="134549" cy="195707"/>
          </a:xfrm>
          <a:prstGeom prst="rect">
            <a:avLst/>
          </a:prstGeom>
        </p:spPr>
      </p:pic>
      <p:sp>
        <p:nvSpPr>
          <p:cNvPr id="30" name="TextBox 29"/>
          <p:cNvSpPr txBox="1"/>
          <p:nvPr/>
        </p:nvSpPr>
        <p:spPr>
          <a:xfrm>
            <a:off x="9074741" y="4127372"/>
            <a:ext cx="2256966" cy="194310"/>
          </a:xfrm>
          <a:prstGeom prst="rect">
            <a:avLst/>
          </a:prstGeom>
          <a:noFill/>
        </p:spPr>
        <p:txBody>
          <a:bodyPr wrap="none" lIns="0" rIns="0" tIns="0" bIns="0">
            <a:spAutoFit/>
          </a:bodyPr>
          <a:lstStyle/>
          <a:p>
            <a:r>
              <a:rPr sz="1150" b="0">
                <a:solidFill>
                  <a:srgbClr val="2E2E2E"/>
                </a:solidFill>
                <a:latin typeface="Calibri"/>
              </a:rPr>
              <a:t>share by 2036. The niche ingredients</a:t>
            </a:r>
          </a:p>
        </p:txBody>
      </p:sp>
      <p:sp>
        <p:nvSpPr>
          <p:cNvPr id="31" name="TextBox 30"/>
          <p:cNvSpPr txBox="1"/>
          <p:nvPr/>
        </p:nvSpPr>
        <p:spPr>
          <a:xfrm>
            <a:off x="276225" y="430263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2" name="Picture 31" descr="lock.png"/>
          <p:cNvPicPr>
            <a:picLocks noChangeAspect="1"/>
          </p:cNvPicPr>
          <p:nvPr/>
        </p:nvPicPr>
        <p:blipFill>
          <a:blip r:embed="rId4"/>
          <a:stretch>
            <a:fillRect/>
          </a:stretch>
        </p:blipFill>
        <p:spPr>
          <a:xfrm>
            <a:off x="1950917" y="4292409"/>
            <a:ext cx="134549" cy="195707"/>
          </a:xfrm>
          <a:prstGeom prst="rect">
            <a:avLst/>
          </a:prstGeom>
        </p:spPr>
      </p:pic>
      <p:sp>
        <p:nvSpPr>
          <p:cNvPr id="33" name="TextBox 32"/>
          <p:cNvSpPr txBox="1"/>
          <p:nvPr/>
        </p:nvSpPr>
        <p:spPr>
          <a:xfrm>
            <a:off x="2126026"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713530" y="4292409"/>
            <a:ext cx="134549" cy="195707"/>
          </a:xfrm>
          <a:prstGeom prst="rect">
            <a:avLst/>
          </a:prstGeom>
        </p:spPr>
      </p:pic>
      <p:sp>
        <p:nvSpPr>
          <p:cNvPr id="35" name="TextBox 34"/>
          <p:cNvSpPr txBox="1"/>
          <p:nvPr/>
        </p:nvSpPr>
        <p:spPr>
          <a:xfrm>
            <a:off x="4888640"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Ingredient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Ingredient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Ingredient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12024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11548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03928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Niche Ingredients</a:t>
            </a:r>
          </a:p>
        </p:txBody>
      </p:sp>
      <p:sp>
        <p:nvSpPr>
          <p:cNvPr id="18" name="BPS Value 1"/>
          <p:cNvSpPr txBox="1"/>
          <p:nvPr/>
        </p:nvSpPr>
        <p:spPr>
          <a:xfrm>
            <a:off x="6896100" y="210119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339596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339120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331500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Emerging Ingredients</a:t>
            </a:r>
          </a:p>
        </p:txBody>
      </p:sp>
      <p:sp>
        <p:nvSpPr>
          <p:cNvPr id="22" name="BPS Value 2"/>
          <p:cNvSpPr txBox="1"/>
          <p:nvPr/>
        </p:nvSpPr>
        <p:spPr>
          <a:xfrm>
            <a:off x="6896100" y="33769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523316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522840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515220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Regular Ingredients</a:t>
            </a:r>
          </a:p>
        </p:txBody>
      </p:sp>
      <p:sp>
        <p:nvSpPr>
          <p:cNvPr id="26" name="BPS Value 3"/>
          <p:cNvSpPr txBox="1"/>
          <p:nvPr/>
        </p:nvSpPr>
        <p:spPr>
          <a:xfrm>
            <a:off x="6896100" y="521411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Ingredient Type</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833622"/>
            <a:ext cx="275034" cy="400050"/>
          </a:xfrm>
          <a:prstGeom prst="rect">
            <a:avLst/>
          </a:prstGeom>
        </p:spPr>
      </p:pic>
      <p:sp>
        <p:nvSpPr>
          <p:cNvPr id="33" name="TextBox 32"/>
          <p:cNvSpPr txBox="1"/>
          <p:nvPr/>
        </p:nvSpPr>
        <p:spPr>
          <a:xfrm>
            <a:off x="7829550" y="1400175"/>
            <a:ext cx="3473574" cy="194310"/>
          </a:xfrm>
          <a:prstGeom prst="rect">
            <a:avLst/>
          </a:prstGeom>
          <a:noFill/>
        </p:spPr>
        <p:txBody>
          <a:bodyPr wrap="none" lIns="0" rIns="0" tIns="0" bIns="0">
            <a:spAutoFit/>
          </a:bodyPr>
          <a:lstStyle/>
          <a:p>
            <a:r>
              <a:rPr sz="1150" b="0">
                <a:solidFill>
                  <a:srgbClr val="2E2E2E"/>
                </a:solidFill>
                <a:latin typeface="Calibri"/>
              </a:rPr>
              <a:t>Among ceramide sunscreen by ingredient type, emerging</a:t>
            </a:r>
          </a:p>
        </p:txBody>
      </p:sp>
      <p:sp>
        <p:nvSpPr>
          <p:cNvPr id="34" name="TextBox 33"/>
          <p:cNvSpPr txBox="1"/>
          <p:nvPr/>
        </p:nvSpPr>
        <p:spPr>
          <a:xfrm>
            <a:off x="7829550" y="1575435"/>
            <a:ext cx="3858648" cy="194310"/>
          </a:xfrm>
          <a:prstGeom prst="rect">
            <a:avLst/>
          </a:prstGeom>
          <a:noFill/>
        </p:spPr>
        <p:txBody>
          <a:bodyPr wrap="none" lIns="0" rIns="0" tIns="0" bIns="0">
            <a:spAutoFit/>
          </a:bodyPr>
          <a:lstStyle/>
          <a:p>
            <a:r>
              <a:rPr sz="1150" b="0">
                <a:solidFill>
                  <a:srgbClr val="2E2E2E"/>
                </a:solidFill>
                <a:latin typeface="Calibri"/>
              </a:rPr>
              <a:t>ingredients segment is expected to witness the highest CAGR of</a:t>
            </a:r>
          </a:p>
        </p:txBody>
      </p:sp>
      <p:pic>
        <p:nvPicPr>
          <p:cNvPr id="35" name="Picture 34" descr="lock.png"/>
          <p:cNvPicPr>
            <a:picLocks noChangeAspect="1"/>
          </p:cNvPicPr>
          <p:nvPr/>
        </p:nvPicPr>
        <p:blipFill>
          <a:blip r:embed="rId5"/>
          <a:stretch>
            <a:fillRect/>
          </a:stretch>
        </p:blipFill>
        <p:spPr>
          <a:xfrm>
            <a:off x="7815470" y="1740471"/>
            <a:ext cx="134549" cy="195707"/>
          </a:xfrm>
          <a:prstGeom prst="rect">
            <a:avLst/>
          </a:prstGeom>
        </p:spPr>
      </p:pic>
      <p:sp>
        <p:nvSpPr>
          <p:cNvPr id="36" name="TextBox 35"/>
          <p:cNvSpPr txBox="1"/>
          <p:nvPr/>
        </p:nvSpPr>
        <p:spPr>
          <a:xfrm>
            <a:off x="7990579" y="1750695"/>
            <a:ext cx="3763106"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ingredient</a:t>
            </a:r>
          </a:p>
        </p:txBody>
      </p:sp>
      <p:sp>
        <p:nvSpPr>
          <p:cNvPr id="37" name="TextBox 36"/>
          <p:cNvSpPr txBox="1"/>
          <p:nvPr/>
        </p:nvSpPr>
        <p:spPr>
          <a:xfrm>
            <a:off x="7829550" y="1925955"/>
            <a:ext cx="4014130" cy="194310"/>
          </a:xfrm>
          <a:prstGeom prst="rect">
            <a:avLst/>
          </a:prstGeom>
          <a:noFill/>
        </p:spPr>
        <p:txBody>
          <a:bodyPr wrap="none" lIns="0" rIns="0" tIns="0" bIns="0">
            <a:spAutoFit/>
          </a:bodyPr>
          <a:lstStyle/>
          <a:p>
            <a:r>
              <a:rPr sz="1150" b="0">
                <a:solidFill>
                  <a:srgbClr val="2E2E2E"/>
                </a:solidFill>
                <a:latin typeface="Calibri"/>
              </a:rPr>
              <a:t>type, the regular ingredients segment is expected to dominate the</a:t>
            </a:r>
          </a:p>
        </p:txBody>
      </p:sp>
      <p:sp>
        <p:nvSpPr>
          <p:cNvPr id="38" name="TextBox 37"/>
          <p:cNvSpPr txBox="1"/>
          <p:nvPr/>
        </p:nvSpPr>
        <p:spPr>
          <a:xfrm>
            <a:off x="7829550" y="2101215"/>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39" name="Picture 38" descr="lock.png"/>
          <p:cNvPicPr>
            <a:picLocks noChangeAspect="1"/>
          </p:cNvPicPr>
          <p:nvPr/>
        </p:nvPicPr>
        <p:blipFill>
          <a:blip r:embed="rId5"/>
          <a:stretch>
            <a:fillRect/>
          </a:stretch>
        </p:blipFill>
        <p:spPr>
          <a:xfrm>
            <a:off x="8697258" y="2090991"/>
            <a:ext cx="134549" cy="195707"/>
          </a:xfrm>
          <a:prstGeom prst="rect">
            <a:avLst/>
          </a:prstGeom>
        </p:spPr>
      </p:pic>
      <p:sp>
        <p:nvSpPr>
          <p:cNvPr id="40" name="TextBox 39"/>
          <p:cNvSpPr txBox="1"/>
          <p:nvPr/>
        </p:nvSpPr>
        <p:spPr>
          <a:xfrm>
            <a:off x="8872367"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1" name="Picture 40" descr="lock.png"/>
          <p:cNvPicPr>
            <a:picLocks noChangeAspect="1"/>
          </p:cNvPicPr>
          <p:nvPr/>
        </p:nvPicPr>
        <p:blipFill>
          <a:blip r:embed="rId5"/>
          <a:stretch>
            <a:fillRect/>
          </a:stretch>
        </p:blipFill>
        <p:spPr>
          <a:xfrm>
            <a:off x="10267511" y="2090991"/>
            <a:ext cx="134549" cy="195707"/>
          </a:xfrm>
          <a:prstGeom prst="rect">
            <a:avLst/>
          </a:prstGeom>
        </p:spPr>
      </p:pic>
      <p:sp>
        <p:nvSpPr>
          <p:cNvPr id="42" name="TextBox 41"/>
          <p:cNvSpPr txBox="1"/>
          <p:nvPr/>
        </p:nvSpPr>
        <p:spPr>
          <a:xfrm>
            <a:off x="1044262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3" name="TextBox 42"/>
          <p:cNvSpPr txBox="1"/>
          <p:nvPr/>
        </p:nvSpPr>
        <p:spPr>
          <a:xfrm>
            <a:off x="7829550" y="2329053"/>
            <a:ext cx="3036279" cy="194310"/>
          </a:xfrm>
          <a:prstGeom prst="rect">
            <a:avLst/>
          </a:prstGeom>
          <a:noFill/>
        </p:spPr>
        <p:txBody>
          <a:bodyPr wrap="none" lIns="0" rIns="0" tIns="0" bIns="0">
            <a:spAutoFit/>
          </a:bodyPr>
          <a:lstStyle/>
          <a:p>
            <a:r>
              <a:rPr sz="1150" b="0">
                <a:solidFill>
                  <a:srgbClr val="2E2E2E"/>
                </a:solidFill>
                <a:latin typeface="Calibri"/>
              </a:rPr>
              <a:t>The niche ingredients segment is expected to lose</a:t>
            </a:r>
          </a:p>
        </p:txBody>
      </p:sp>
      <p:pic>
        <p:nvPicPr>
          <p:cNvPr id="44" name="Picture 43" descr="lock.png"/>
          <p:cNvPicPr>
            <a:picLocks noChangeAspect="1"/>
          </p:cNvPicPr>
          <p:nvPr/>
        </p:nvPicPr>
        <p:blipFill>
          <a:blip r:embed="rId5"/>
          <a:stretch>
            <a:fillRect/>
          </a:stretch>
        </p:blipFill>
        <p:spPr>
          <a:xfrm>
            <a:off x="10814983" y="2318829"/>
            <a:ext cx="134549" cy="195707"/>
          </a:xfrm>
          <a:prstGeom prst="rect">
            <a:avLst/>
          </a:prstGeom>
        </p:spPr>
      </p:pic>
      <p:sp>
        <p:nvSpPr>
          <p:cNvPr id="45" name="TextBox 44"/>
          <p:cNvSpPr txBox="1"/>
          <p:nvPr/>
        </p:nvSpPr>
        <p:spPr>
          <a:xfrm>
            <a:off x="10990092"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46" name="TextBox 45"/>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47" name="Picture 46" descr="lock.png"/>
          <p:cNvPicPr>
            <a:picLocks noChangeAspect="1"/>
          </p:cNvPicPr>
          <p:nvPr/>
        </p:nvPicPr>
        <p:blipFill>
          <a:blip r:embed="rId5"/>
          <a:stretch>
            <a:fillRect/>
          </a:stretch>
        </p:blipFill>
        <p:spPr>
          <a:xfrm>
            <a:off x="9630324" y="2494089"/>
            <a:ext cx="134549" cy="195707"/>
          </a:xfrm>
          <a:prstGeom prst="rect">
            <a:avLst/>
          </a:prstGeom>
        </p:spPr>
      </p:pic>
      <p:sp>
        <p:nvSpPr>
          <p:cNvPr id="48" name="TextBox 47"/>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End-use 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End-use Application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End-use Application,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End-use Application segment categorizes the market by end-use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Facial Sunscreen</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Body Sunscreen</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Lip Sunscreen</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Face &amp; Body Sunscreen</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672_5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1_491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8_3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456_6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935_5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7_4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328_1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706_9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8_0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292_8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646_5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8_2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309217" cy="186689"/>
          </a:xfrm>
          <a:prstGeom prst="rect">
            <a:avLst/>
          </a:prstGeom>
          <a:noFill/>
        </p:spPr>
        <p:txBody>
          <a:bodyPr wrap="none" lIns="0" rIns="0" tIns="0" bIns="0">
            <a:spAutoFit/>
          </a:bodyPr>
          <a:lstStyle/>
          <a:p>
            <a:r>
              <a:rPr sz="1100" b="0">
                <a:solidFill>
                  <a:srgbClr val="2E2E2E"/>
                </a:solidFill>
                <a:latin typeface="Calibri"/>
              </a:rPr>
              <a:t>Among ceramide sunscreen by end-use</a:t>
            </a:r>
          </a:p>
        </p:txBody>
      </p:sp>
      <p:sp>
        <p:nvSpPr>
          <p:cNvPr id="80" name="TextBox 79"/>
          <p:cNvSpPr txBox="1"/>
          <p:nvPr/>
        </p:nvSpPr>
        <p:spPr>
          <a:xfrm>
            <a:off x="485775" y="4397077"/>
            <a:ext cx="2876475" cy="186689"/>
          </a:xfrm>
          <a:prstGeom prst="rect">
            <a:avLst/>
          </a:prstGeom>
          <a:noFill/>
        </p:spPr>
        <p:txBody>
          <a:bodyPr wrap="none" lIns="0" rIns="0" tIns="0" bIns="0">
            <a:spAutoFit/>
          </a:bodyPr>
          <a:lstStyle/>
          <a:p>
            <a:r>
              <a:rPr sz="1100" b="0">
                <a:solidFill>
                  <a:srgbClr val="2E2E2E"/>
                </a:solidFill>
                <a:latin typeface="Calibri"/>
              </a:rPr>
              <a:t>application, facial sunscreen segment is expected</a:t>
            </a:r>
          </a:p>
        </p:txBody>
      </p:sp>
      <p:sp>
        <p:nvSpPr>
          <p:cNvPr id="81" name="TextBox 80"/>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82" name="Picture 81" descr="lock.png"/>
          <p:cNvPicPr>
            <a:picLocks noChangeAspect="1"/>
          </p:cNvPicPr>
          <p:nvPr/>
        </p:nvPicPr>
        <p:blipFill>
          <a:blip r:embed="rId16"/>
          <a:stretch>
            <a:fillRect/>
          </a:stretch>
        </p:blipFill>
        <p:spPr>
          <a:xfrm>
            <a:off x="2261170" y="4554938"/>
            <a:ext cx="128699" cy="187198"/>
          </a:xfrm>
          <a:prstGeom prst="rect">
            <a:avLst/>
          </a:prstGeom>
        </p:spPr>
      </p:pic>
      <p:sp>
        <p:nvSpPr>
          <p:cNvPr id="83" name="TextBox 82"/>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84" name="TextBox 83"/>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forecast period. In terms of value share by end-use</a:t>
            </a:r>
          </a:p>
        </p:txBody>
      </p:sp>
      <p:sp>
        <p:nvSpPr>
          <p:cNvPr id="85" name="TextBox 84"/>
          <p:cNvSpPr txBox="1"/>
          <p:nvPr/>
        </p:nvSpPr>
        <p:spPr>
          <a:xfrm>
            <a:off x="485775" y="4899997"/>
            <a:ext cx="2544142" cy="186689"/>
          </a:xfrm>
          <a:prstGeom prst="rect">
            <a:avLst/>
          </a:prstGeom>
          <a:noFill/>
        </p:spPr>
        <p:txBody>
          <a:bodyPr wrap="none" lIns="0" rIns="0" tIns="0" bIns="0">
            <a:spAutoFit/>
          </a:bodyPr>
          <a:lstStyle/>
          <a:p>
            <a:r>
              <a:rPr sz="1100" b="0">
                <a:solidFill>
                  <a:srgbClr val="2E2E2E"/>
                </a:solidFill>
                <a:latin typeface="Calibri"/>
              </a:rPr>
              <a:t>application, the facial sunscreen segment is</a:t>
            </a:r>
          </a:p>
        </p:txBody>
      </p:sp>
      <p:sp>
        <p:nvSpPr>
          <p:cNvPr id="86" name="TextBox 85"/>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7" name="Picture 86" descr="lock.png"/>
          <p:cNvPicPr>
            <a:picLocks noChangeAspect="1"/>
          </p:cNvPicPr>
          <p:nvPr/>
        </p:nvPicPr>
        <p:blipFill>
          <a:blip r:embed="rId16"/>
          <a:stretch>
            <a:fillRect/>
          </a:stretch>
        </p:blipFill>
        <p:spPr>
          <a:xfrm>
            <a:off x="2900479" y="5057858"/>
            <a:ext cx="128699" cy="187198"/>
          </a:xfrm>
          <a:prstGeom prst="rect">
            <a:avLst/>
          </a:prstGeom>
        </p:spPr>
      </p:pic>
      <p:sp>
        <p:nvSpPr>
          <p:cNvPr id="88" name="TextBox 87"/>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9" name="TextBox 88"/>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90" name="Picture 89" descr="lock.png"/>
          <p:cNvPicPr>
            <a:picLocks noChangeAspect="1"/>
          </p:cNvPicPr>
          <p:nvPr/>
        </p:nvPicPr>
        <p:blipFill>
          <a:blip r:embed="rId16"/>
          <a:stretch>
            <a:fillRect/>
          </a:stretch>
        </p:blipFill>
        <p:spPr>
          <a:xfrm>
            <a:off x="1576057" y="5225498"/>
            <a:ext cx="128699" cy="187198"/>
          </a:xfrm>
          <a:prstGeom prst="rect">
            <a:avLst/>
          </a:prstGeom>
        </p:spPr>
      </p:pic>
      <p:sp>
        <p:nvSpPr>
          <p:cNvPr id="91" name="TextBox 90"/>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453209"/>
            <a:ext cx="2847220" cy="186689"/>
          </a:xfrm>
          <a:prstGeom prst="rect">
            <a:avLst/>
          </a:prstGeom>
          <a:noFill/>
        </p:spPr>
        <p:txBody>
          <a:bodyPr wrap="none" lIns="0" rIns="0" tIns="0" bIns="0">
            <a:spAutoFit/>
          </a:bodyPr>
          <a:lstStyle/>
          <a:p>
            <a:r>
              <a:rPr sz="1100" b="0">
                <a:solidFill>
                  <a:srgbClr val="2E2E2E"/>
                </a:solidFill>
                <a:latin typeface="Calibri"/>
              </a:rPr>
              <a:t>Facial sunscreen segment is projected to register</a:t>
            </a:r>
          </a:p>
        </p:txBody>
      </p:sp>
      <p:pic>
        <p:nvPicPr>
          <p:cNvPr id="93" name="Picture 92" descr="lock.png"/>
          <p:cNvPicPr>
            <a:picLocks noChangeAspect="1"/>
          </p:cNvPicPr>
          <p:nvPr/>
        </p:nvPicPr>
        <p:blipFill>
          <a:blip r:embed="rId16"/>
          <a:stretch>
            <a:fillRect/>
          </a:stretch>
        </p:blipFill>
        <p:spPr>
          <a:xfrm>
            <a:off x="472307" y="5611070"/>
            <a:ext cx="128699" cy="187198"/>
          </a:xfrm>
          <a:prstGeom prst="rect">
            <a:avLst/>
          </a:prstGeom>
        </p:spPr>
      </p:pic>
      <p:sp>
        <p:nvSpPr>
          <p:cNvPr id="94" name="TextBox 93"/>
          <p:cNvSpPr txBox="1"/>
          <p:nvPr/>
        </p:nvSpPr>
        <p:spPr>
          <a:xfrm>
            <a:off x="639803" y="5620849"/>
            <a:ext cx="2619176" cy="186689"/>
          </a:xfrm>
          <a:prstGeom prst="rect">
            <a:avLst/>
          </a:prstGeom>
          <a:noFill/>
        </p:spPr>
        <p:txBody>
          <a:bodyPr wrap="none" lIns="0" rIns="0" tIns="0" bIns="0">
            <a:spAutoFit/>
          </a:bodyPr>
          <a:lstStyle/>
          <a:p>
            <a:r>
              <a:rPr sz="1100" b="0">
                <a:solidFill>
                  <a:srgbClr val="2E2E2E"/>
                </a:solidFill>
                <a:latin typeface="Calibri"/>
              </a:rPr>
              <a:t>X higher value than body sunscreen segment</a:t>
            </a:r>
          </a:p>
        </p:txBody>
      </p:sp>
      <p:sp>
        <p:nvSpPr>
          <p:cNvPr id="95" name="TextBox 94"/>
          <p:cNvSpPr txBox="1"/>
          <p:nvPr/>
        </p:nvSpPr>
        <p:spPr>
          <a:xfrm>
            <a:off x="485775" y="5788489"/>
            <a:ext cx="532407" cy="186689"/>
          </a:xfrm>
          <a:prstGeom prst="rect">
            <a:avLst/>
          </a:prstGeom>
          <a:noFill/>
        </p:spPr>
        <p:txBody>
          <a:bodyPr wrap="none" lIns="0" rIns="0" tIns="0" bIns="0">
            <a:spAutoFit/>
          </a:bodyPr>
          <a:lstStyle/>
          <a:p>
            <a:r>
              <a:rPr sz="1100" b="0">
                <a:solidFill>
                  <a:srgbClr val="2E2E2E"/>
                </a:solidFill>
                <a:latin typeface="Calibri"/>
              </a:rPr>
              <a:t>in 2036.</a:t>
            </a:r>
          </a:p>
        </p:txBody>
      </p:sp>
      <p:sp>
        <p:nvSpPr>
          <p:cNvPr id="96" name="TextBox 95"/>
          <p:cNvSpPr txBox="1"/>
          <p:nvPr/>
        </p:nvSpPr>
        <p:spPr>
          <a:xfrm>
            <a:off x="3838575" y="4229437"/>
            <a:ext cx="1168637" cy="186689"/>
          </a:xfrm>
          <a:prstGeom prst="rect">
            <a:avLst/>
          </a:prstGeom>
          <a:noFill/>
        </p:spPr>
        <p:txBody>
          <a:bodyPr wrap="none" lIns="0" rIns="0" tIns="0" bIns="0">
            <a:spAutoFit/>
          </a:bodyPr>
          <a:lstStyle/>
          <a:p>
            <a:r>
              <a:rPr sz="1100" b="0">
                <a:solidFill>
                  <a:srgbClr val="2E2E2E"/>
                </a:solidFill>
                <a:latin typeface="Calibri"/>
              </a:rPr>
              <a:t>● Facial Sunscreen:</a:t>
            </a:r>
          </a:p>
        </p:txBody>
      </p:sp>
      <p:pic>
        <p:nvPicPr>
          <p:cNvPr id="97" name="Picture 96" descr="lock.png"/>
          <p:cNvPicPr>
            <a:picLocks noChangeAspect="1"/>
          </p:cNvPicPr>
          <p:nvPr/>
        </p:nvPicPr>
        <p:blipFill>
          <a:blip r:embed="rId16"/>
          <a:stretch>
            <a:fillRect/>
          </a:stretch>
        </p:blipFill>
        <p:spPr>
          <a:xfrm>
            <a:off x="4955264" y="4219658"/>
            <a:ext cx="128699" cy="187198"/>
          </a:xfrm>
          <a:prstGeom prst="rect">
            <a:avLst/>
          </a:prstGeom>
        </p:spPr>
      </p:pic>
      <p:sp>
        <p:nvSpPr>
          <p:cNvPr id="98" name="TextBox 97"/>
          <p:cNvSpPr txBox="1"/>
          <p:nvPr/>
        </p:nvSpPr>
        <p:spPr>
          <a:xfrm>
            <a:off x="512276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6"/>
          <a:stretch>
            <a:fillRect/>
          </a:stretch>
        </p:blipFill>
        <p:spPr>
          <a:xfrm>
            <a:off x="5982210" y="4219658"/>
            <a:ext cx="128699" cy="187198"/>
          </a:xfrm>
          <a:prstGeom prst="rect">
            <a:avLst/>
          </a:prstGeom>
        </p:spPr>
      </p:pic>
      <p:sp>
        <p:nvSpPr>
          <p:cNvPr id="100" name="TextBox 99"/>
          <p:cNvSpPr txBox="1"/>
          <p:nvPr/>
        </p:nvSpPr>
        <p:spPr>
          <a:xfrm>
            <a:off x="614970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1" name="TextBox 100"/>
          <p:cNvSpPr txBox="1"/>
          <p:nvPr/>
        </p:nvSpPr>
        <p:spPr>
          <a:xfrm>
            <a:off x="3838575" y="4447369"/>
            <a:ext cx="1133772" cy="186689"/>
          </a:xfrm>
          <a:prstGeom prst="rect">
            <a:avLst/>
          </a:prstGeom>
          <a:noFill/>
        </p:spPr>
        <p:txBody>
          <a:bodyPr wrap="none" lIns="0" rIns="0" tIns="0" bIns="0">
            <a:spAutoFit/>
          </a:bodyPr>
          <a:lstStyle/>
          <a:p>
            <a:r>
              <a:rPr sz="1100" b="0">
                <a:solidFill>
                  <a:srgbClr val="2E2E2E"/>
                </a:solidFill>
                <a:latin typeface="Calibri"/>
              </a:rPr>
              <a:t>● Body Sunscreen:</a:t>
            </a:r>
          </a:p>
        </p:txBody>
      </p:sp>
      <p:pic>
        <p:nvPicPr>
          <p:cNvPr id="102" name="Picture 101" descr="lock.png"/>
          <p:cNvPicPr>
            <a:picLocks noChangeAspect="1"/>
          </p:cNvPicPr>
          <p:nvPr/>
        </p:nvPicPr>
        <p:blipFill>
          <a:blip r:embed="rId16"/>
          <a:stretch>
            <a:fillRect/>
          </a:stretch>
        </p:blipFill>
        <p:spPr>
          <a:xfrm>
            <a:off x="4920399" y="4437590"/>
            <a:ext cx="128699" cy="187198"/>
          </a:xfrm>
          <a:prstGeom prst="rect">
            <a:avLst/>
          </a:prstGeom>
        </p:spPr>
      </p:pic>
      <p:sp>
        <p:nvSpPr>
          <p:cNvPr id="103" name="TextBox 102"/>
          <p:cNvSpPr txBox="1"/>
          <p:nvPr/>
        </p:nvSpPr>
        <p:spPr>
          <a:xfrm>
            <a:off x="508789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6"/>
          <a:stretch>
            <a:fillRect/>
          </a:stretch>
        </p:blipFill>
        <p:spPr>
          <a:xfrm>
            <a:off x="5947345" y="4437590"/>
            <a:ext cx="128699" cy="187198"/>
          </a:xfrm>
          <a:prstGeom prst="rect">
            <a:avLst/>
          </a:prstGeom>
        </p:spPr>
      </p:pic>
      <p:sp>
        <p:nvSpPr>
          <p:cNvPr id="105" name="TextBox 104"/>
          <p:cNvSpPr txBox="1"/>
          <p:nvPr/>
        </p:nvSpPr>
        <p:spPr>
          <a:xfrm>
            <a:off x="6114841"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6" name="TextBox 105"/>
          <p:cNvSpPr txBox="1"/>
          <p:nvPr/>
        </p:nvSpPr>
        <p:spPr>
          <a:xfrm>
            <a:off x="3838575" y="4665301"/>
            <a:ext cx="1011535" cy="186689"/>
          </a:xfrm>
          <a:prstGeom prst="rect">
            <a:avLst/>
          </a:prstGeom>
          <a:noFill/>
        </p:spPr>
        <p:txBody>
          <a:bodyPr wrap="none" lIns="0" rIns="0" tIns="0" bIns="0">
            <a:spAutoFit/>
          </a:bodyPr>
          <a:lstStyle/>
          <a:p>
            <a:r>
              <a:rPr sz="1100" b="0">
                <a:solidFill>
                  <a:srgbClr val="2E2E2E"/>
                </a:solidFill>
                <a:latin typeface="Calibri"/>
              </a:rPr>
              <a:t>● Lip Sunscreen:</a:t>
            </a:r>
          </a:p>
        </p:txBody>
      </p:sp>
      <p:pic>
        <p:nvPicPr>
          <p:cNvPr id="107" name="Picture 106" descr="lock.png"/>
          <p:cNvPicPr>
            <a:picLocks noChangeAspect="1"/>
          </p:cNvPicPr>
          <p:nvPr/>
        </p:nvPicPr>
        <p:blipFill>
          <a:blip r:embed="rId16"/>
          <a:stretch>
            <a:fillRect/>
          </a:stretch>
        </p:blipFill>
        <p:spPr>
          <a:xfrm>
            <a:off x="4798161" y="4655522"/>
            <a:ext cx="128699" cy="187198"/>
          </a:xfrm>
          <a:prstGeom prst="rect">
            <a:avLst/>
          </a:prstGeom>
        </p:spPr>
      </p:pic>
      <p:sp>
        <p:nvSpPr>
          <p:cNvPr id="108" name="TextBox 107"/>
          <p:cNvSpPr txBox="1"/>
          <p:nvPr/>
        </p:nvSpPr>
        <p:spPr>
          <a:xfrm>
            <a:off x="496565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9" name="Picture 108" descr="lock.png"/>
          <p:cNvPicPr>
            <a:picLocks noChangeAspect="1"/>
          </p:cNvPicPr>
          <p:nvPr/>
        </p:nvPicPr>
        <p:blipFill>
          <a:blip r:embed="rId16"/>
          <a:stretch>
            <a:fillRect/>
          </a:stretch>
        </p:blipFill>
        <p:spPr>
          <a:xfrm>
            <a:off x="5825107" y="4655522"/>
            <a:ext cx="128699" cy="187198"/>
          </a:xfrm>
          <a:prstGeom prst="rect">
            <a:avLst/>
          </a:prstGeom>
        </p:spPr>
      </p:pic>
      <p:sp>
        <p:nvSpPr>
          <p:cNvPr id="110" name="TextBox 109"/>
          <p:cNvSpPr txBox="1"/>
          <p:nvPr/>
        </p:nvSpPr>
        <p:spPr>
          <a:xfrm>
            <a:off x="5992603"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1" name="TextBox 110"/>
          <p:cNvSpPr txBox="1"/>
          <p:nvPr/>
        </p:nvSpPr>
        <p:spPr>
          <a:xfrm>
            <a:off x="3838575" y="4883233"/>
            <a:ext cx="1551994" cy="186689"/>
          </a:xfrm>
          <a:prstGeom prst="rect">
            <a:avLst/>
          </a:prstGeom>
          <a:noFill/>
        </p:spPr>
        <p:txBody>
          <a:bodyPr wrap="none" lIns="0" rIns="0" tIns="0" bIns="0">
            <a:spAutoFit/>
          </a:bodyPr>
          <a:lstStyle/>
          <a:p>
            <a:r>
              <a:rPr sz="1100" b="0">
                <a:solidFill>
                  <a:srgbClr val="2E2E2E"/>
                </a:solidFill>
                <a:latin typeface="Calibri"/>
              </a:rPr>
              <a:t>● Face &amp; Body Sunscreen:</a:t>
            </a:r>
          </a:p>
        </p:txBody>
      </p:sp>
      <p:pic>
        <p:nvPicPr>
          <p:cNvPr id="112" name="Picture 111" descr="lock.png"/>
          <p:cNvPicPr>
            <a:picLocks noChangeAspect="1"/>
          </p:cNvPicPr>
          <p:nvPr/>
        </p:nvPicPr>
        <p:blipFill>
          <a:blip r:embed="rId16"/>
          <a:stretch>
            <a:fillRect/>
          </a:stretch>
        </p:blipFill>
        <p:spPr>
          <a:xfrm>
            <a:off x="5338621" y="4873454"/>
            <a:ext cx="128699" cy="187198"/>
          </a:xfrm>
          <a:prstGeom prst="rect">
            <a:avLst/>
          </a:prstGeom>
        </p:spPr>
      </p:pic>
      <p:sp>
        <p:nvSpPr>
          <p:cNvPr id="113" name="TextBox 112"/>
          <p:cNvSpPr txBox="1"/>
          <p:nvPr/>
        </p:nvSpPr>
        <p:spPr>
          <a:xfrm>
            <a:off x="550611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4" name="Picture 113" descr="lock.png"/>
          <p:cNvPicPr>
            <a:picLocks noChangeAspect="1"/>
          </p:cNvPicPr>
          <p:nvPr/>
        </p:nvPicPr>
        <p:blipFill>
          <a:blip r:embed="rId16"/>
          <a:stretch>
            <a:fillRect/>
          </a:stretch>
        </p:blipFill>
        <p:spPr>
          <a:xfrm>
            <a:off x="6365567" y="4873454"/>
            <a:ext cx="128699" cy="187198"/>
          </a:xfrm>
          <a:prstGeom prst="rect">
            <a:avLst/>
          </a:prstGeom>
        </p:spPr>
      </p:pic>
      <p:sp>
        <p:nvSpPr>
          <p:cNvPr id="115" name="TextBox 114"/>
          <p:cNvSpPr txBox="1"/>
          <p:nvPr/>
        </p:nvSpPr>
        <p:spPr>
          <a:xfrm>
            <a:off x="6533062"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6" name="TextBox 115"/>
          <p:cNvSpPr txBox="1"/>
          <p:nvPr/>
        </p:nvSpPr>
        <p:spPr>
          <a:xfrm>
            <a:off x="8524875" y="5842641"/>
            <a:ext cx="3006328" cy="194310"/>
          </a:xfrm>
          <a:prstGeom prst="rect">
            <a:avLst/>
          </a:prstGeom>
          <a:noFill/>
        </p:spPr>
        <p:txBody>
          <a:bodyPr wrap="none" lIns="0" rIns="0" tIns="0" bIns="0">
            <a:spAutoFit/>
          </a:bodyPr>
          <a:lstStyle/>
          <a:p>
            <a:r>
              <a:rPr sz="1150" b="1">
                <a:solidFill>
                  <a:srgbClr val="0B2E4A"/>
                </a:solidFill>
                <a:latin typeface="Calibri"/>
              </a:rPr>
              <a:t>The End-use Application segment is projected to</a:t>
            </a:r>
          </a:p>
        </p:txBody>
      </p:sp>
      <p:sp>
        <p:nvSpPr>
          <p:cNvPr id="117" name="TextBox 116"/>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18" name="Picture 117" descr="lock.png"/>
          <p:cNvPicPr>
            <a:picLocks noChangeAspect="1"/>
          </p:cNvPicPr>
          <p:nvPr/>
        </p:nvPicPr>
        <p:blipFill>
          <a:blip r:embed="rId16"/>
          <a:stretch>
            <a:fillRect/>
          </a:stretch>
        </p:blipFill>
        <p:spPr>
          <a:xfrm>
            <a:off x="9651852" y="6007677"/>
            <a:ext cx="134549" cy="195707"/>
          </a:xfrm>
          <a:prstGeom prst="rect">
            <a:avLst/>
          </a:prstGeom>
        </p:spPr>
      </p:pic>
      <p:sp>
        <p:nvSpPr>
          <p:cNvPr id="119" name="TextBox 118"/>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End-use Application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End-use Application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End-use Application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End-use Application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92931" cy="186689"/>
          </a:xfrm>
          <a:prstGeom prst="rect">
            <a:avLst/>
          </a:prstGeom>
          <a:noFill/>
        </p:spPr>
        <p:txBody>
          <a:bodyPr wrap="none" lIns="0" rIns="0" tIns="0" bIns="0">
            <a:spAutoFit/>
          </a:bodyPr>
          <a:lstStyle/>
          <a:p>
            <a:r>
              <a:rPr sz="1100" b="0">
                <a:solidFill>
                  <a:srgbClr val="2E2E2E"/>
                </a:solidFill>
                <a:latin typeface="Calibri"/>
              </a:rPr>
              <a:t>Facial sunscreen followed by body sunscreen are expected to be the two most attractive end-use application segments in the global ceramide sunscreen market in terms of value over the forecast period.</a:t>
            </a:r>
          </a:p>
        </p:txBody>
      </p:sp>
      <p:sp>
        <p:nvSpPr>
          <p:cNvPr id="20" name="TextBox 19"/>
          <p:cNvSpPr txBox="1"/>
          <p:nvPr/>
        </p:nvSpPr>
        <p:spPr>
          <a:xfrm>
            <a:off x="257175" y="5861685"/>
            <a:ext cx="3532606" cy="186689"/>
          </a:xfrm>
          <a:prstGeom prst="rect">
            <a:avLst/>
          </a:prstGeom>
          <a:noFill/>
        </p:spPr>
        <p:txBody>
          <a:bodyPr wrap="none" lIns="0" rIns="0" tIns="0" bIns="0">
            <a:spAutoFit/>
          </a:bodyPr>
          <a:lstStyle/>
          <a:p>
            <a:r>
              <a:rPr sz="1100" b="0">
                <a:solidFill>
                  <a:srgbClr val="2E2E2E"/>
                </a:solidFill>
                <a:latin typeface="Calibri"/>
              </a:rPr>
              <a:t>Facial sunscreen and body sunscreen exhibit a CAGR index of</a:t>
            </a:r>
          </a:p>
        </p:txBody>
      </p:sp>
      <p:pic>
        <p:nvPicPr>
          <p:cNvPr id="21" name="Picture 20" descr="lock.png"/>
          <p:cNvPicPr>
            <a:picLocks noChangeAspect="1"/>
          </p:cNvPicPr>
          <p:nvPr/>
        </p:nvPicPr>
        <p:blipFill>
          <a:blip r:embed="rId6"/>
          <a:stretch>
            <a:fillRect/>
          </a:stretch>
        </p:blipFill>
        <p:spPr>
          <a:xfrm>
            <a:off x="3737833" y="5851905"/>
            <a:ext cx="128699" cy="187198"/>
          </a:xfrm>
          <a:prstGeom prst="rect">
            <a:avLst/>
          </a:prstGeom>
        </p:spPr>
      </p:pic>
      <p:sp>
        <p:nvSpPr>
          <p:cNvPr id="22" name="TextBox 21"/>
          <p:cNvSpPr txBox="1"/>
          <p:nvPr/>
        </p:nvSpPr>
        <p:spPr>
          <a:xfrm>
            <a:off x="390532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143223" y="5851905"/>
            <a:ext cx="128699" cy="187198"/>
          </a:xfrm>
          <a:prstGeom prst="rect">
            <a:avLst/>
          </a:prstGeom>
        </p:spPr>
      </p:pic>
      <p:sp>
        <p:nvSpPr>
          <p:cNvPr id="24" name="TextBox 23"/>
          <p:cNvSpPr txBox="1"/>
          <p:nvPr/>
        </p:nvSpPr>
        <p:spPr>
          <a:xfrm>
            <a:off x="431071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919692" y="5851905"/>
            <a:ext cx="128699" cy="187198"/>
          </a:xfrm>
          <a:prstGeom prst="rect">
            <a:avLst/>
          </a:prstGeom>
        </p:spPr>
      </p:pic>
      <p:sp>
        <p:nvSpPr>
          <p:cNvPr id="26" name="TextBox 25"/>
          <p:cNvSpPr txBox="1"/>
          <p:nvPr/>
        </p:nvSpPr>
        <p:spPr>
          <a:xfrm>
            <a:off x="608718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325083" y="5851905"/>
            <a:ext cx="128699" cy="187198"/>
          </a:xfrm>
          <a:prstGeom prst="rect">
            <a:avLst/>
          </a:prstGeom>
        </p:spPr>
      </p:pic>
      <p:sp>
        <p:nvSpPr>
          <p:cNvPr id="28" name="TextBox 27"/>
          <p:cNvSpPr txBox="1"/>
          <p:nvPr/>
        </p:nvSpPr>
        <p:spPr>
          <a:xfrm>
            <a:off x="6492578"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046983" y="5851905"/>
            <a:ext cx="128699" cy="187198"/>
          </a:xfrm>
          <a:prstGeom prst="rect">
            <a:avLst/>
          </a:prstGeom>
        </p:spPr>
      </p:pic>
      <p:sp>
        <p:nvSpPr>
          <p:cNvPr id="30" name="TextBox 29"/>
          <p:cNvSpPr txBox="1"/>
          <p:nvPr/>
        </p:nvSpPr>
        <p:spPr>
          <a:xfrm>
            <a:off x="9214478" y="5861685"/>
            <a:ext cx="2197620" cy="186689"/>
          </a:xfrm>
          <a:prstGeom prst="rect">
            <a:avLst/>
          </a:prstGeom>
          <a:noFill/>
        </p:spPr>
        <p:txBody>
          <a:bodyPr wrap="none" lIns="0" rIns="0" tIns="0" bIns="0">
            <a:spAutoFit/>
          </a:bodyPr>
          <a:lstStyle/>
          <a:p>
            <a:r>
              <a:rPr sz="1100" b="0">
                <a:solidFill>
                  <a:srgbClr val="2E2E2E"/>
                </a:solidFill>
                <a:latin typeface="Calibri"/>
              </a:rPr>
              <a:t>. The face &amp; body sunscreen segment</a:t>
            </a:r>
          </a:p>
        </p:txBody>
      </p:sp>
      <p:sp>
        <p:nvSpPr>
          <p:cNvPr id="31" name="TextBox 30"/>
          <p:cNvSpPr txBox="1"/>
          <p:nvPr/>
        </p:nvSpPr>
        <p:spPr>
          <a:xfrm>
            <a:off x="257175" y="6029325"/>
            <a:ext cx="11539751" cy="186689"/>
          </a:xfrm>
          <a:prstGeom prst="rect">
            <a:avLst/>
          </a:prstGeom>
          <a:noFill/>
        </p:spPr>
        <p:txBody>
          <a:bodyPr wrap="none" lIns="0" rIns="0" tIns="0" bIns="0">
            <a:spAutoFit/>
          </a:bodyPr>
          <a:lstStyle/>
          <a:p>
            <a:r>
              <a:rPr sz="1100" b="0">
                <a:solidFill>
                  <a:srgbClr val="2E2E2E"/>
                </a:solidFill>
                <a:latin typeface="Calibri"/>
              </a:rPr>
              <a:t>is 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End-use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Facial Sunscreen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Body Sunscreen</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Face &amp; Body Sunscreen</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Lip Sunscreen</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End-use Application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End-use Application,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End-use Application (US$ Mn)</a:t>
            </a:r>
          </a:p>
        </p:txBody>
      </p:sp>
      <p:graphicFrame>
        <p:nvGraphicFramePr>
          <p:cNvPr id="12" name="Table 11"/>
          <p:cNvGraphicFramePr>
            <a:graphicFrameLocks noGrp="1"/>
          </p:cNvGraphicFramePr>
          <p:nvPr/>
        </p:nvGraphicFramePr>
        <p:xfrm>
          <a:off x="152400" y="1238250"/>
          <a:ext cx="11887207" cy="1485896"/>
        </p:xfrm>
        <a:graphic>
          <a:graphicData uri="http://schemas.openxmlformats.org/drawingml/2006/table">
            <a:tbl>
              <a:tblPr>
                <a:tableStyleId>{5C22544A-7EE6-4342-B048-85BDC9FD1C3A}</a:tableStyleId>
              </a:tblPr>
              <a:tblGrid>
                <a:gridCol w="1639097"/>
                <a:gridCol w="602830"/>
                <a:gridCol w="602830"/>
                <a:gridCol w="602830"/>
                <a:gridCol w="602830"/>
                <a:gridCol w="602830"/>
                <a:gridCol w="602830"/>
                <a:gridCol w="602830"/>
                <a:gridCol w="602830"/>
                <a:gridCol w="602830"/>
                <a:gridCol w="602830"/>
                <a:gridCol w="602830"/>
                <a:gridCol w="602830"/>
                <a:gridCol w="602830"/>
                <a:gridCol w="602830"/>
                <a:gridCol w="602830"/>
                <a:gridCol w="602830"/>
                <a:gridCol w="602830"/>
              </a:tblGrid>
              <a:tr h="246126">
                <a:tc>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Facial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Body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Face &amp; Body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Lip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End-use Application</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28861" y="1837563"/>
            <a:ext cx="366712" cy="533400"/>
          </a:xfrm>
          <a:prstGeom prst="rect">
            <a:avLst/>
          </a:prstGeom>
        </p:spPr>
      </p:pic>
      <p:sp>
        <p:nvSpPr>
          <p:cNvPr id="20" name="TextBox 19"/>
          <p:cNvSpPr txBox="1"/>
          <p:nvPr/>
        </p:nvSpPr>
        <p:spPr>
          <a:xfrm>
            <a:off x="276225" y="3486150"/>
            <a:ext cx="2973176" cy="194310"/>
          </a:xfrm>
          <a:prstGeom prst="rect">
            <a:avLst/>
          </a:prstGeom>
          <a:noFill/>
        </p:spPr>
        <p:txBody>
          <a:bodyPr wrap="none" lIns="0" rIns="0" tIns="0" bIns="0">
            <a:spAutoFit/>
          </a:bodyPr>
          <a:lstStyle/>
          <a:p>
            <a:r>
              <a:rPr sz="1150" b="0">
                <a:solidFill>
                  <a:srgbClr val="2E2E2E"/>
                </a:solidFill>
                <a:latin typeface="Calibri"/>
              </a:rPr>
              <a:t>Facial sunscreen segment is projected to register</a:t>
            </a:r>
          </a:p>
        </p:txBody>
      </p:sp>
      <p:pic>
        <p:nvPicPr>
          <p:cNvPr id="21" name="Picture 20" descr="lock.png"/>
          <p:cNvPicPr>
            <a:picLocks noChangeAspect="1"/>
          </p:cNvPicPr>
          <p:nvPr/>
        </p:nvPicPr>
        <p:blipFill>
          <a:blip r:embed="rId4"/>
          <a:stretch>
            <a:fillRect/>
          </a:stretch>
        </p:blipFill>
        <p:spPr>
          <a:xfrm>
            <a:off x="3198555" y="3475926"/>
            <a:ext cx="134549" cy="195707"/>
          </a:xfrm>
          <a:prstGeom prst="rect">
            <a:avLst/>
          </a:prstGeom>
        </p:spPr>
      </p:pic>
      <p:sp>
        <p:nvSpPr>
          <p:cNvPr id="22" name="TextBox 21"/>
          <p:cNvSpPr txBox="1"/>
          <p:nvPr/>
        </p:nvSpPr>
        <p:spPr>
          <a:xfrm>
            <a:off x="3373664" y="3486150"/>
            <a:ext cx="7993992" cy="194310"/>
          </a:xfrm>
          <a:prstGeom prst="rect">
            <a:avLst/>
          </a:prstGeom>
          <a:noFill/>
        </p:spPr>
        <p:txBody>
          <a:bodyPr wrap="none" lIns="0" rIns="0" tIns="0" bIns="0">
            <a:spAutoFit/>
          </a:bodyPr>
          <a:lstStyle/>
          <a:p>
            <a:r>
              <a:rPr sz="1150" b="0">
                <a:solidFill>
                  <a:srgbClr val="2E2E2E"/>
                </a:solidFill>
                <a:latin typeface="Calibri"/>
              </a:rPr>
              <a:t>X higher value than body sunscreen segment in 2036. Among ceramide sunscreen by end-use application, facial sunscreen segment is</a:t>
            </a:r>
          </a:p>
        </p:txBody>
      </p:sp>
      <p:sp>
        <p:nvSpPr>
          <p:cNvPr id="23" name="TextBox 22"/>
          <p:cNvSpPr txBox="1"/>
          <p:nvPr/>
        </p:nvSpPr>
        <p:spPr>
          <a:xfrm>
            <a:off x="276225" y="3661410"/>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3651186"/>
            <a:ext cx="134549" cy="195707"/>
          </a:xfrm>
          <a:prstGeom prst="rect">
            <a:avLst/>
          </a:prstGeom>
        </p:spPr>
      </p:pic>
      <p:sp>
        <p:nvSpPr>
          <p:cNvPr id="25" name="TextBox 24"/>
          <p:cNvSpPr txBox="1"/>
          <p:nvPr/>
        </p:nvSpPr>
        <p:spPr>
          <a:xfrm>
            <a:off x="2886495"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7268591" cy="194310"/>
          </a:xfrm>
          <a:prstGeom prst="rect">
            <a:avLst/>
          </a:prstGeom>
          <a:noFill/>
        </p:spPr>
        <p:txBody>
          <a:bodyPr wrap="none" lIns="0" rIns="0" tIns="0" bIns="0">
            <a:spAutoFit/>
          </a:bodyPr>
          <a:lstStyle/>
          <a:p>
            <a:r>
              <a:rPr sz="1150" b="0">
                <a:solidFill>
                  <a:srgbClr val="2E2E2E"/>
                </a:solidFill>
                <a:latin typeface="Calibri"/>
              </a:rPr>
              <a:t>In terms of value share by end-use application, the facial sunscreen segment is expected to dominate the market, gaining</a:t>
            </a:r>
          </a:p>
        </p:txBody>
      </p:sp>
      <p:pic>
        <p:nvPicPr>
          <p:cNvPr id="27" name="Picture 26" descr="lock.png"/>
          <p:cNvPicPr>
            <a:picLocks noChangeAspect="1"/>
          </p:cNvPicPr>
          <p:nvPr/>
        </p:nvPicPr>
        <p:blipFill>
          <a:blip r:embed="rId4"/>
          <a:stretch>
            <a:fillRect/>
          </a:stretch>
        </p:blipFill>
        <p:spPr>
          <a:xfrm>
            <a:off x="7493970" y="3879024"/>
            <a:ext cx="134549" cy="195707"/>
          </a:xfrm>
          <a:prstGeom prst="rect">
            <a:avLst/>
          </a:prstGeom>
        </p:spPr>
      </p:pic>
      <p:sp>
        <p:nvSpPr>
          <p:cNvPr id="28" name="TextBox 27"/>
          <p:cNvSpPr txBox="1"/>
          <p:nvPr/>
        </p:nvSpPr>
        <p:spPr>
          <a:xfrm>
            <a:off x="7669080"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064223" y="3879024"/>
            <a:ext cx="134549" cy="195707"/>
          </a:xfrm>
          <a:prstGeom prst="rect">
            <a:avLst/>
          </a:prstGeom>
        </p:spPr>
      </p:pic>
      <p:sp>
        <p:nvSpPr>
          <p:cNvPr id="30" name="TextBox 29"/>
          <p:cNvSpPr txBox="1"/>
          <p:nvPr/>
        </p:nvSpPr>
        <p:spPr>
          <a:xfrm>
            <a:off x="9239332" y="3889247"/>
            <a:ext cx="2165684" cy="194310"/>
          </a:xfrm>
          <a:prstGeom prst="rect">
            <a:avLst/>
          </a:prstGeom>
          <a:noFill/>
        </p:spPr>
        <p:txBody>
          <a:bodyPr wrap="none" lIns="0" rIns="0" tIns="0" bIns="0">
            <a:spAutoFit/>
          </a:bodyPr>
          <a:lstStyle/>
          <a:p>
            <a:r>
              <a:rPr sz="1150" b="0">
                <a:solidFill>
                  <a:srgbClr val="2E2E2E"/>
                </a:solidFill>
                <a:latin typeface="Calibri"/>
              </a:rPr>
              <a:t>share by 2036. The body sunscreen</a:t>
            </a:r>
          </a:p>
        </p:txBody>
      </p:sp>
      <p:sp>
        <p:nvSpPr>
          <p:cNvPr id="31" name="TextBox 30"/>
          <p:cNvSpPr txBox="1"/>
          <p:nvPr/>
        </p:nvSpPr>
        <p:spPr>
          <a:xfrm>
            <a:off x="276225" y="4064507"/>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2" name="Picture 31" descr="lock.png"/>
          <p:cNvPicPr>
            <a:picLocks noChangeAspect="1"/>
          </p:cNvPicPr>
          <p:nvPr/>
        </p:nvPicPr>
        <p:blipFill>
          <a:blip r:embed="rId4"/>
          <a:stretch>
            <a:fillRect/>
          </a:stretch>
        </p:blipFill>
        <p:spPr>
          <a:xfrm>
            <a:off x="1950917" y="4054284"/>
            <a:ext cx="134549" cy="195707"/>
          </a:xfrm>
          <a:prstGeom prst="rect">
            <a:avLst/>
          </a:prstGeom>
        </p:spPr>
      </p:pic>
      <p:sp>
        <p:nvSpPr>
          <p:cNvPr id="33" name="TextBox 32"/>
          <p:cNvSpPr txBox="1"/>
          <p:nvPr/>
        </p:nvSpPr>
        <p:spPr>
          <a:xfrm>
            <a:off x="2126026"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713530" y="4054284"/>
            <a:ext cx="134549" cy="195707"/>
          </a:xfrm>
          <a:prstGeom prst="rect">
            <a:avLst/>
          </a:prstGeom>
        </p:spPr>
      </p:pic>
      <p:sp>
        <p:nvSpPr>
          <p:cNvPr id="35" name="TextBox 34"/>
          <p:cNvSpPr txBox="1"/>
          <p:nvPr/>
        </p:nvSpPr>
        <p:spPr>
          <a:xfrm>
            <a:off x="4888640"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End-use Application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End-use Application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062270"/>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05750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813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Face &amp; Body Sunscreen</a:t>
            </a:r>
          </a:p>
        </p:txBody>
      </p:sp>
      <p:sp>
        <p:nvSpPr>
          <p:cNvPr id="18" name="BPS Value 1"/>
          <p:cNvSpPr txBox="1"/>
          <p:nvPr/>
        </p:nvSpPr>
        <p:spPr>
          <a:xfrm>
            <a:off x="6896100" y="204322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88081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87605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79985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Lip Sunscreen</a:t>
            </a:r>
          </a:p>
        </p:txBody>
      </p:sp>
      <p:sp>
        <p:nvSpPr>
          <p:cNvPr id="22" name="BPS Value 2"/>
          <p:cNvSpPr txBox="1"/>
          <p:nvPr/>
        </p:nvSpPr>
        <p:spPr>
          <a:xfrm>
            <a:off x="6896100" y="286176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87414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86937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79317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Body Sunscreen</a:t>
            </a:r>
          </a:p>
        </p:txBody>
      </p:sp>
      <p:sp>
        <p:nvSpPr>
          <p:cNvPr id="26" name="BPS Value 3"/>
          <p:cNvSpPr txBox="1"/>
          <p:nvPr/>
        </p:nvSpPr>
        <p:spPr>
          <a:xfrm>
            <a:off x="6896100" y="385509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534178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533702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26082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Facial Sunscreen</a:t>
            </a:r>
          </a:p>
        </p:txBody>
      </p:sp>
      <p:sp>
        <p:nvSpPr>
          <p:cNvPr id="30" name="BPS Value 4"/>
          <p:cNvSpPr txBox="1"/>
          <p:nvPr/>
        </p:nvSpPr>
        <p:spPr>
          <a:xfrm>
            <a:off x="6896100" y="53227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End-use Application</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ceramide sunscreen by end-use application, facial sunscreen</a:t>
            </a:r>
          </a:p>
        </p:txBody>
      </p:sp>
      <p:sp>
        <p:nvSpPr>
          <p:cNvPr id="38" name="TextBox 37"/>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9" name="Picture 38" descr="lock.png"/>
          <p:cNvPicPr>
            <a:picLocks noChangeAspect="1"/>
          </p:cNvPicPr>
          <p:nvPr/>
        </p:nvPicPr>
        <p:blipFill>
          <a:blip r:embed="rId5"/>
          <a:stretch>
            <a:fillRect/>
          </a:stretch>
        </p:blipFill>
        <p:spPr>
          <a:xfrm>
            <a:off x="10935343" y="1565211"/>
            <a:ext cx="134549" cy="195707"/>
          </a:xfrm>
          <a:prstGeom prst="rect">
            <a:avLst/>
          </a:prstGeom>
        </p:spPr>
      </p:pic>
      <p:sp>
        <p:nvSpPr>
          <p:cNvPr id="40" name="TextBox 39"/>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1" name="TextBox 40"/>
          <p:cNvSpPr txBox="1"/>
          <p:nvPr/>
        </p:nvSpPr>
        <p:spPr>
          <a:xfrm>
            <a:off x="7829550" y="1750695"/>
            <a:ext cx="4057488" cy="194310"/>
          </a:xfrm>
          <a:prstGeom prst="rect">
            <a:avLst/>
          </a:prstGeom>
          <a:noFill/>
        </p:spPr>
        <p:txBody>
          <a:bodyPr wrap="none" lIns="0" rIns="0" tIns="0" bIns="0">
            <a:spAutoFit/>
          </a:bodyPr>
          <a:lstStyle/>
          <a:p>
            <a:r>
              <a:rPr sz="1150" b="0">
                <a:solidFill>
                  <a:srgbClr val="2E2E2E"/>
                </a:solidFill>
                <a:latin typeface="Calibri"/>
              </a:rPr>
              <a:t>forecast period. In terms of value share by end-use application, the</a:t>
            </a:r>
          </a:p>
        </p:txBody>
      </p:sp>
      <p:sp>
        <p:nvSpPr>
          <p:cNvPr id="42" name="TextBox 41"/>
          <p:cNvSpPr txBox="1"/>
          <p:nvPr/>
        </p:nvSpPr>
        <p:spPr>
          <a:xfrm>
            <a:off x="7829550" y="1925955"/>
            <a:ext cx="3767100" cy="194310"/>
          </a:xfrm>
          <a:prstGeom prst="rect">
            <a:avLst/>
          </a:prstGeom>
          <a:noFill/>
        </p:spPr>
        <p:txBody>
          <a:bodyPr wrap="none" lIns="0" rIns="0" tIns="0" bIns="0">
            <a:spAutoFit/>
          </a:bodyPr>
          <a:lstStyle/>
          <a:p>
            <a:r>
              <a:rPr sz="1150" b="0">
                <a:solidFill>
                  <a:srgbClr val="2E2E2E"/>
                </a:solidFill>
                <a:latin typeface="Calibri"/>
              </a:rPr>
              <a:t>facial sunscreen segment is expected to dominate the market,</a:t>
            </a:r>
          </a:p>
        </p:txBody>
      </p:sp>
      <p:sp>
        <p:nvSpPr>
          <p:cNvPr id="43" name="TextBox 42"/>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44" name="Picture 43" descr="lock.png"/>
          <p:cNvPicPr>
            <a:picLocks noChangeAspect="1"/>
          </p:cNvPicPr>
          <p:nvPr/>
        </p:nvPicPr>
        <p:blipFill>
          <a:blip r:embed="rId5"/>
          <a:stretch>
            <a:fillRect/>
          </a:stretch>
        </p:blipFill>
        <p:spPr>
          <a:xfrm>
            <a:off x="8283070" y="2090991"/>
            <a:ext cx="134549" cy="195707"/>
          </a:xfrm>
          <a:prstGeom prst="rect">
            <a:avLst/>
          </a:prstGeom>
        </p:spPr>
      </p:pic>
      <p:sp>
        <p:nvSpPr>
          <p:cNvPr id="45" name="TextBox 44"/>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6" name="Picture 45" descr="lock.png"/>
          <p:cNvPicPr>
            <a:picLocks noChangeAspect="1"/>
          </p:cNvPicPr>
          <p:nvPr/>
        </p:nvPicPr>
        <p:blipFill>
          <a:blip r:embed="rId5"/>
          <a:stretch>
            <a:fillRect/>
          </a:stretch>
        </p:blipFill>
        <p:spPr>
          <a:xfrm>
            <a:off x="9853322" y="2090991"/>
            <a:ext cx="134549" cy="195707"/>
          </a:xfrm>
          <a:prstGeom prst="rect">
            <a:avLst/>
          </a:prstGeom>
        </p:spPr>
      </p:pic>
      <p:sp>
        <p:nvSpPr>
          <p:cNvPr id="47" name="TextBox 46"/>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TextBox 47"/>
          <p:cNvSpPr txBox="1"/>
          <p:nvPr/>
        </p:nvSpPr>
        <p:spPr>
          <a:xfrm>
            <a:off x="7829550" y="2329053"/>
            <a:ext cx="2944998" cy="194310"/>
          </a:xfrm>
          <a:prstGeom prst="rect">
            <a:avLst/>
          </a:prstGeom>
          <a:noFill/>
        </p:spPr>
        <p:txBody>
          <a:bodyPr wrap="none" lIns="0" rIns="0" tIns="0" bIns="0">
            <a:spAutoFit/>
          </a:bodyPr>
          <a:lstStyle/>
          <a:p>
            <a:r>
              <a:rPr sz="1150" b="0">
                <a:solidFill>
                  <a:srgbClr val="2E2E2E"/>
                </a:solidFill>
                <a:latin typeface="Calibri"/>
              </a:rPr>
              <a:t>The body sunscreen segment is expected to lose</a:t>
            </a:r>
          </a:p>
        </p:txBody>
      </p:sp>
      <p:pic>
        <p:nvPicPr>
          <p:cNvPr id="49" name="Picture 48" descr="lock.png"/>
          <p:cNvPicPr>
            <a:picLocks noChangeAspect="1"/>
          </p:cNvPicPr>
          <p:nvPr/>
        </p:nvPicPr>
        <p:blipFill>
          <a:blip r:embed="rId5"/>
          <a:stretch>
            <a:fillRect/>
          </a:stretch>
        </p:blipFill>
        <p:spPr>
          <a:xfrm>
            <a:off x="10723702" y="2318829"/>
            <a:ext cx="134549" cy="195707"/>
          </a:xfrm>
          <a:prstGeom prst="rect">
            <a:avLst/>
          </a:prstGeom>
        </p:spPr>
      </p:pic>
      <p:sp>
        <p:nvSpPr>
          <p:cNvPr id="50" name="TextBox 49"/>
          <p:cNvSpPr txBox="1"/>
          <p:nvPr/>
        </p:nvSpPr>
        <p:spPr>
          <a:xfrm>
            <a:off x="10898811"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1" name="TextBox 50"/>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2" name="Picture 51" descr="lock.png"/>
          <p:cNvPicPr>
            <a:picLocks noChangeAspect="1"/>
          </p:cNvPicPr>
          <p:nvPr/>
        </p:nvPicPr>
        <p:blipFill>
          <a:blip r:embed="rId5"/>
          <a:stretch>
            <a:fillRect/>
          </a:stretch>
        </p:blipFill>
        <p:spPr>
          <a:xfrm>
            <a:off x="9630324" y="2494089"/>
            <a:ext cx="134549" cy="195707"/>
          </a:xfrm>
          <a:prstGeom prst="rect">
            <a:avLst/>
          </a:prstGeom>
        </p:spPr>
      </p:pic>
      <p:sp>
        <p:nvSpPr>
          <p:cNvPr id="53" name="TextBox 52"/>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4"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Pack Size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Pack Size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Pack Size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Pack Size,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Pack Size segment categorizes the market by pack size.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Up to 30 g/ml</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Pack Size split shows how demand is distributed across pack size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463_4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1_001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8_0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200_g_ml_605E5C.png"/>
          <p:cNvPicPr>
            <a:picLocks noChangeAspect="1"/>
          </p:cNvPicPr>
          <p:nvPr/>
        </p:nvPicPr>
        <p:blipFill>
          <a:blip r:embed="rId7"/>
          <a:stretch>
            <a:fillRect/>
          </a:stretch>
        </p:blipFill>
        <p:spPr>
          <a:xfrm>
            <a:off x="4168990" y="1860245"/>
            <a:ext cx="1350844" cy="265429"/>
          </a:xfrm>
          <a:prstGeom prst="rect">
            <a:avLst/>
          </a:prstGeom>
        </p:spPr>
      </p:pic>
      <p:pic>
        <p:nvPicPr>
          <p:cNvPr id="74" name="Picture 73" descr="452_7_605E5C.png"/>
          <p:cNvPicPr>
            <a:picLocks noChangeAspect="1"/>
          </p:cNvPicPr>
          <p:nvPr/>
        </p:nvPicPr>
        <p:blipFill>
          <a:blip r:embed="rId8"/>
          <a:stretch>
            <a:fillRect/>
          </a:stretch>
        </p:blipFill>
        <p:spPr>
          <a:xfrm>
            <a:off x="4246551" y="2286582"/>
            <a:ext cx="1195728" cy="361950"/>
          </a:xfrm>
          <a:prstGeom prst="rect">
            <a:avLst/>
          </a:prstGeom>
        </p:spPr>
      </p:pic>
      <p:pic>
        <p:nvPicPr>
          <p:cNvPr id="75" name="Picture 74" descr="984_9_605E5C.png"/>
          <p:cNvPicPr>
            <a:picLocks noChangeAspect="1"/>
          </p:cNvPicPr>
          <p:nvPr/>
        </p:nvPicPr>
        <p:blipFill>
          <a:blip r:embed="rId9"/>
          <a:stretch>
            <a:fillRect/>
          </a:stretch>
        </p:blipFill>
        <p:spPr>
          <a:xfrm>
            <a:off x="4246551" y="2779432"/>
            <a:ext cx="1195728" cy="361950"/>
          </a:xfrm>
          <a:prstGeom prst="rect">
            <a:avLst/>
          </a:prstGeom>
        </p:spPr>
      </p:pic>
      <p:pic>
        <p:nvPicPr>
          <p:cNvPr id="76" name="Picture 75" descr="8_1__605E5C.png"/>
          <p:cNvPicPr>
            <a:picLocks noChangeAspect="1"/>
          </p:cNvPicPr>
          <p:nvPr/>
        </p:nvPicPr>
        <p:blipFill>
          <a:blip r:embed="rId10"/>
          <a:stretch>
            <a:fillRect/>
          </a:stretch>
        </p:blipFill>
        <p:spPr>
          <a:xfrm>
            <a:off x="4353197" y="3272281"/>
            <a:ext cx="982436" cy="361950"/>
          </a:xfrm>
          <a:prstGeom prst="rect">
            <a:avLst/>
          </a:prstGeom>
        </p:spPr>
      </p:pic>
      <p:pic>
        <p:nvPicPr>
          <p:cNvPr id="77" name="Picture 76" descr="30_50_g_ml_605E5C.png"/>
          <p:cNvPicPr>
            <a:picLocks noChangeAspect="1"/>
          </p:cNvPicPr>
          <p:nvPr/>
        </p:nvPicPr>
        <p:blipFill>
          <a:blip r:embed="rId11"/>
          <a:stretch>
            <a:fillRect/>
          </a:stretch>
        </p:blipFill>
        <p:spPr>
          <a:xfrm>
            <a:off x="6035686" y="1860245"/>
            <a:ext cx="1663671" cy="265429"/>
          </a:xfrm>
          <a:prstGeom prst="rect">
            <a:avLst/>
          </a:prstGeom>
        </p:spPr>
      </p:pic>
      <p:pic>
        <p:nvPicPr>
          <p:cNvPr id="78" name="Picture 77" descr="439_3_605E5C.png"/>
          <p:cNvPicPr>
            <a:picLocks noChangeAspect="1"/>
          </p:cNvPicPr>
          <p:nvPr/>
        </p:nvPicPr>
        <p:blipFill>
          <a:blip r:embed="rId12"/>
          <a:stretch>
            <a:fillRect/>
          </a:stretch>
        </p:blipFill>
        <p:spPr>
          <a:xfrm>
            <a:off x="6269661" y="2286582"/>
            <a:ext cx="1195728" cy="361950"/>
          </a:xfrm>
          <a:prstGeom prst="rect">
            <a:avLst/>
          </a:prstGeom>
        </p:spPr>
      </p:pic>
      <p:pic>
        <p:nvPicPr>
          <p:cNvPr id="79" name="Picture 78" descr="873_3_605E5C.png"/>
          <p:cNvPicPr>
            <a:picLocks noChangeAspect="1"/>
          </p:cNvPicPr>
          <p:nvPr/>
        </p:nvPicPr>
        <p:blipFill>
          <a:blip r:embed="rId13"/>
          <a:stretch>
            <a:fillRect/>
          </a:stretch>
        </p:blipFill>
        <p:spPr>
          <a:xfrm>
            <a:off x="6269661" y="2779432"/>
            <a:ext cx="1195728" cy="361950"/>
          </a:xfrm>
          <a:prstGeom prst="rect">
            <a:avLst/>
          </a:prstGeom>
        </p:spPr>
      </p:pic>
      <p:pic>
        <p:nvPicPr>
          <p:cNvPr id="80" name="Picture 79" descr="7_1__605E5C.png"/>
          <p:cNvPicPr>
            <a:picLocks noChangeAspect="1"/>
          </p:cNvPicPr>
          <p:nvPr/>
        </p:nvPicPr>
        <p:blipFill>
          <a:blip r:embed="rId14"/>
          <a:stretch>
            <a:fillRect/>
          </a:stretch>
        </p:blipFill>
        <p:spPr>
          <a:xfrm>
            <a:off x="6376307" y="3272281"/>
            <a:ext cx="982436" cy="361950"/>
          </a:xfrm>
          <a:prstGeom prst="rect">
            <a:avLst/>
          </a:prstGeom>
        </p:spPr>
      </p:pic>
      <p:pic>
        <p:nvPicPr>
          <p:cNvPr id="81" name="Picture 80" descr="100_200_g_ml_605E5C.png"/>
          <p:cNvPicPr>
            <a:picLocks noChangeAspect="1"/>
          </p:cNvPicPr>
          <p:nvPr/>
        </p:nvPicPr>
        <p:blipFill>
          <a:blip r:embed="rId15"/>
          <a:stretch>
            <a:fillRect/>
          </a:stretch>
        </p:blipFill>
        <p:spPr>
          <a:xfrm>
            <a:off x="7902382" y="1860245"/>
            <a:ext cx="1976498" cy="265429"/>
          </a:xfrm>
          <a:prstGeom prst="rect">
            <a:avLst/>
          </a:prstGeom>
        </p:spPr>
      </p:pic>
      <p:pic>
        <p:nvPicPr>
          <p:cNvPr id="82" name="Picture 81" descr="271_3_605E5C.png"/>
          <p:cNvPicPr>
            <a:picLocks noChangeAspect="1"/>
          </p:cNvPicPr>
          <p:nvPr/>
        </p:nvPicPr>
        <p:blipFill>
          <a:blip r:embed="rId16"/>
          <a:stretch>
            <a:fillRect/>
          </a:stretch>
        </p:blipFill>
        <p:spPr>
          <a:xfrm>
            <a:off x="8292771" y="2286582"/>
            <a:ext cx="1195728" cy="361950"/>
          </a:xfrm>
          <a:prstGeom prst="rect">
            <a:avLst/>
          </a:prstGeom>
        </p:spPr>
      </p:pic>
      <p:pic>
        <p:nvPicPr>
          <p:cNvPr id="83" name="Picture 82" descr="715_0_605E5C.png"/>
          <p:cNvPicPr>
            <a:picLocks noChangeAspect="1"/>
          </p:cNvPicPr>
          <p:nvPr/>
        </p:nvPicPr>
        <p:blipFill>
          <a:blip r:embed="rId17"/>
          <a:stretch>
            <a:fillRect/>
          </a:stretch>
        </p:blipFill>
        <p:spPr>
          <a:xfrm>
            <a:off x="8292771" y="2779432"/>
            <a:ext cx="1195728" cy="361950"/>
          </a:xfrm>
          <a:prstGeom prst="rect">
            <a:avLst/>
          </a:prstGeom>
        </p:spPr>
      </p:pic>
      <p:pic>
        <p:nvPicPr>
          <p:cNvPr id="84" name="Picture 83" descr="10_2__605E5C.png"/>
          <p:cNvPicPr>
            <a:picLocks noChangeAspect="1"/>
          </p:cNvPicPr>
          <p:nvPr/>
        </p:nvPicPr>
        <p:blipFill>
          <a:blip r:embed="rId18"/>
          <a:stretch>
            <a:fillRect/>
          </a:stretch>
        </p:blipFill>
        <p:spPr>
          <a:xfrm>
            <a:off x="8292771" y="3272281"/>
            <a:ext cx="1195728" cy="361950"/>
          </a:xfrm>
          <a:prstGeom prst="rect">
            <a:avLst/>
          </a:prstGeom>
        </p:spPr>
      </p:pic>
      <p:pic>
        <p:nvPicPr>
          <p:cNvPr id="85" name="Picture 84" descr="50_100_g_ml_605E5C.png"/>
          <p:cNvPicPr>
            <a:picLocks noChangeAspect="1"/>
          </p:cNvPicPr>
          <p:nvPr/>
        </p:nvPicPr>
        <p:blipFill>
          <a:blip r:embed="rId19"/>
          <a:stretch>
            <a:fillRect/>
          </a:stretch>
        </p:blipFill>
        <p:spPr>
          <a:xfrm>
            <a:off x="10003699" y="1860245"/>
            <a:ext cx="1820085" cy="265429"/>
          </a:xfrm>
          <a:prstGeom prst="rect">
            <a:avLst/>
          </a:prstGeom>
        </p:spPr>
      </p:pic>
      <p:pic>
        <p:nvPicPr>
          <p:cNvPr id="86" name="Picture 85" descr="123_4_605E5C.png"/>
          <p:cNvPicPr>
            <a:picLocks noChangeAspect="1"/>
          </p:cNvPicPr>
          <p:nvPr/>
        </p:nvPicPr>
        <p:blipFill>
          <a:blip r:embed="rId20"/>
          <a:stretch>
            <a:fillRect/>
          </a:stretch>
        </p:blipFill>
        <p:spPr>
          <a:xfrm>
            <a:off x="10315881" y="2286582"/>
            <a:ext cx="1195728" cy="361950"/>
          </a:xfrm>
          <a:prstGeom prst="rect">
            <a:avLst/>
          </a:prstGeom>
        </p:spPr>
      </p:pic>
      <p:pic>
        <p:nvPicPr>
          <p:cNvPr id="87" name="Picture 86" descr="205_7_605E5C.png"/>
          <p:cNvPicPr>
            <a:picLocks noChangeAspect="1"/>
          </p:cNvPicPr>
          <p:nvPr/>
        </p:nvPicPr>
        <p:blipFill>
          <a:blip r:embed="rId21"/>
          <a:stretch>
            <a:fillRect/>
          </a:stretch>
        </p:blipFill>
        <p:spPr>
          <a:xfrm>
            <a:off x="10315881" y="2779432"/>
            <a:ext cx="1195728" cy="361950"/>
          </a:xfrm>
          <a:prstGeom prst="rect">
            <a:avLst/>
          </a:prstGeom>
        </p:spPr>
      </p:pic>
      <p:pic>
        <p:nvPicPr>
          <p:cNvPr id="88" name="Picture 87" descr="5_2__605E5C.png"/>
          <p:cNvPicPr>
            <a:picLocks noChangeAspect="1"/>
          </p:cNvPicPr>
          <p:nvPr/>
        </p:nvPicPr>
        <p:blipFill>
          <a:blip r:embed="rId22"/>
          <a:stretch>
            <a:fillRect/>
          </a:stretch>
        </p:blipFill>
        <p:spPr>
          <a:xfrm>
            <a:off x="10422527" y="3272281"/>
            <a:ext cx="982436" cy="361950"/>
          </a:xfrm>
          <a:prstGeom prst="rect">
            <a:avLst/>
          </a:prstGeom>
        </p:spPr>
      </p:pic>
      <p:pic>
        <p:nvPicPr>
          <p:cNvPr id="89" name="Picture 88" descr="lock.png"/>
          <p:cNvPicPr>
            <a:picLocks noChangeAspect="1"/>
          </p:cNvPicPr>
          <p:nvPr/>
        </p:nvPicPr>
        <p:blipFill>
          <a:blip r:embed="rId23"/>
          <a:stretch>
            <a:fillRect/>
          </a:stretch>
        </p:blipFill>
        <p:spPr>
          <a:xfrm>
            <a:off x="2727960" y="2827057"/>
            <a:ext cx="183356" cy="266700"/>
          </a:xfrm>
          <a:prstGeom prst="rect">
            <a:avLst/>
          </a:prstGeom>
        </p:spPr>
      </p:pic>
      <p:pic>
        <p:nvPicPr>
          <p:cNvPr id="90" name="Picture 89" descr="lock.png"/>
          <p:cNvPicPr>
            <a:picLocks noChangeAspect="1"/>
          </p:cNvPicPr>
          <p:nvPr/>
        </p:nvPicPr>
        <p:blipFill>
          <a:blip r:embed="rId23"/>
          <a:stretch>
            <a:fillRect/>
          </a:stretch>
        </p:blipFill>
        <p:spPr>
          <a:xfrm>
            <a:off x="4751070" y="2598885"/>
            <a:ext cx="183356" cy="266700"/>
          </a:xfrm>
          <a:prstGeom prst="rect">
            <a:avLst/>
          </a:prstGeom>
        </p:spPr>
      </p:pic>
      <p:pic>
        <p:nvPicPr>
          <p:cNvPr id="91" name="Picture 90" descr="lock.png"/>
          <p:cNvPicPr>
            <a:picLocks noChangeAspect="1"/>
          </p:cNvPicPr>
          <p:nvPr/>
        </p:nvPicPr>
        <p:blipFill>
          <a:blip r:embed="rId23"/>
          <a:stretch>
            <a:fillRect/>
          </a:stretch>
        </p:blipFill>
        <p:spPr>
          <a:xfrm>
            <a:off x="6774180" y="2598885"/>
            <a:ext cx="183356" cy="266700"/>
          </a:xfrm>
          <a:prstGeom prst="rect">
            <a:avLst/>
          </a:prstGeom>
        </p:spPr>
      </p:pic>
      <p:pic>
        <p:nvPicPr>
          <p:cNvPr id="92" name="Picture 91" descr="lock.png"/>
          <p:cNvPicPr>
            <a:picLocks noChangeAspect="1"/>
          </p:cNvPicPr>
          <p:nvPr/>
        </p:nvPicPr>
        <p:blipFill>
          <a:blip r:embed="rId23"/>
          <a:stretch>
            <a:fillRect/>
          </a:stretch>
        </p:blipFill>
        <p:spPr>
          <a:xfrm>
            <a:off x="8806302" y="1872486"/>
            <a:ext cx="165652" cy="240948"/>
          </a:xfrm>
          <a:prstGeom prst="rect">
            <a:avLst/>
          </a:prstGeom>
        </p:spPr>
      </p:pic>
      <p:pic>
        <p:nvPicPr>
          <p:cNvPr id="93" name="Picture 92" descr="lock.png"/>
          <p:cNvPicPr>
            <a:picLocks noChangeAspect="1"/>
          </p:cNvPicPr>
          <p:nvPr/>
        </p:nvPicPr>
        <p:blipFill>
          <a:blip r:embed="rId23"/>
          <a:stretch>
            <a:fillRect/>
          </a:stretch>
        </p:blipFill>
        <p:spPr>
          <a:xfrm>
            <a:off x="8797290" y="2827057"/>
            <a:ext cx="183356" cy="266700"/>
          </a:xfrm>
          <a:prstGeom prst="rect">
            <a:avLst/>
          </a:prstGeom>
        </p:spPr>
      </p:pic>
      <p:pic>
        <p:nvPicPr>
          <p:cNvPr id="94" name="Picture 93" descr="lock.png"/>
          <p:cNvPicPr>
            <a:picLocks noChangeAspect="1"/>
          </p:cNvPicPr>
          <p:nvPr/>
        </p:nvPicPr>
        <p:blipFill>
          <a:blip r:embed="rId23"/>
          <a:stretch>
            <a:fillRect/>
          </a:stretch>
        </p:blipFill>
        <p:spPr>
          <a:xfrm>
            <a:off x="10820400" y="2598885"/>
            <a:ext cx="183356" cy="266700"/>
          </a:xfrm>
          <a:prstGeom prst="rect">
            <a:avLst/>
          </a:prstGeom>
        </p:spPr>
      </p:pic>
      <p:sp>
        <p:nvSpPr>
          <p:cNvPr id="95" name="TextBox 94"/>
          <p:cNvSpPr txBox="1"/>
          <p:nvPr/>
        </p:nvSpPr>
        <p:spPr>
          <a:xfrm>
            <a:off x="485775" y="4229437"/>
            <a:ext cx="2771700" cy="186689"/>
          </a:xfrm>
          <a:prstGeom prst="rect">
            <a:avLst/>
          </a:prstGeom>
          <a:noFill/>
        </p:spPr>
        <p:txBody>
          <a:bodyPr wrap="none" lIns="0" rIns="0" tIns="0" bIns="0">
            <a:spAutoFit/>
          </a:bodyPr>
          <a:lstStyle/>
          <a:p>
            <a:r>
              <a:rPr sz="1100" b="0">
                <a:solidFill>
                  <a:srgbClr val="2E2E2E"/>
                </a:solidFill>
                <a:latin typeface="Calibri"/>
              </a:rPr>
              <a:t>Among ceramide sunscreen by pack size, above</a:t>
            </a:r>
          </a:p>
        </p:txBody>
      </p:sp>
      <p:sp>
        <p:nvSpPr>
          <p:cNvPr id="96" name="TextBox 95"/>
          <p:cNvSpPr txBox="1"/>
          <p:nvPr/>
        </p:nvSpPr>
        <p:spPr>
          <a:xfrm>
            <a:off x="485775" y="4397077"/>
            <a:ext cx="2871837" cy="186689"/>
          </a:xfrm>
          <a:prstGeom prst="rect">
            <a:avLst/>
          </a:prstGeom>
          <a:noFill/>
        </p:spPr>
        <p:txBody>
          <a:bodyPr wrap="none" lIns="0" rIns="0" tIns="0" bIns="0">
            <a:spAutoFit/>
          </a:bodyPr>
          <a:lstStyle/>
          <a:p>
            <a:r>
              <a:rPr sz="1100" b="0">
                <a:solidFill>
                  <a:srgbClr val="2E2E2E"/>
                </a:solidFill>
                <a:latin typeface="Calibri"/>
              </a:rPr>
              <a:t>100-200 g/ml segment is expected to witness the</a:t>
            </a:r>
          </a:p>
        </p:txBody>
      </p:sp>
      <p:sp>
        <p:nvSpPr>
          <p:cNvPr id="97" name="TextBox 96"/>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98" name="Picture 97" descr="lock.png"/>
          <p:cNvPicPr>
            <a:picLocks noChangeAspect="1"/>
          </p:cNvPicPr>
          <p:nvPr/>
        </p:nvPicPr>
        <p:blipFill>
          <a:blip r:embed="rId23"/>
          <a:stretch>
            <a:fillRect/>
          </a:stretch>
        </p:blipFill>
        <p:spPr>
          <a:xfrm>
            <a:off x="1424607" y="4554938"/>
            <a:ext cx="128699" cy="187198"/>
          </a:xfrm>
          <a:prstGeom prst="rect">
            <a:avLst/>
          </a:prstGeom>
        </p:spPr>
      </p:pic>
      <p:sp>
        <p:nvSpPr>
          <p:cNvPr id="99" name="TextBox 98"/>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100" name="TextBox 99"/>
          <p:cNvSpPr txBox="1"/>
          <p:nvPr/>
        </p:nvSpPr>
        <p:spPr>
          <a:xfrm>
            <a:off x="485775" y="4732357"/>
            <a:ext cx="2704033" cy="186689"/>
          </a:xfrm>
          <a:prstGeom prst="rect">
            <a:avLst/>
          </a:prstGeom>
          <a:noFill/>
        </p:spPr>
        <p:txBody>
          <a:bodyPr wrap="none" lIns="0" rIns="0" tIns="0" bIns="0">
            <a:spAutoFit/>
          </a:bodyPr>
          <a:lstStyle/>
          <a:p>
            <a:r>
              <a:rPr sz="1100" b="0">
                <a:solidFill>
                  <a:srgbClr val="2E2E2E"/>
                </a:solidFill>
                <a:latin typeface="Calibri"/>
              </a:rPr>
              <a:t>terms of value share by pack size, the up to 30</a:t>
            </a:r>
          </a:p>
        </p:txBody>
      </p:sp>
      <p:sp>
        <p:nvSpPr>
          <p:cNvPr id="101" name="TextBox 100"/>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g/ml segment is expected to dominate the market,</a:t>
            </a:r>
          </a:p>
        </p:txBody>
      </p:sp>
      <p:sp>
        <p:nvSpPr>
          <p:cNvPr id="102" name="TextBox 101"/>
          <p:cNvSpPr txBox="1"/>
          <p:nvPr/>
        </p:nvSpPr>
        <p:spPr>
          <a:xfrm>
            <a:off x="485775" y="5067637"/>
            <a:ext cx="2358876" cy="186689"/>
          </a:xfrm>
          <a:prstGeom prst="rect">
            <a:avLst/>
          </a:prstGeom>
          <a:noFill/>
        </p:spPr>
        <p:txBody>
          <a:bodyPr wrap="none" lIns="0" rIns="0" tIns="0" bIns="0">
            <a:spAutoFit/>
          </a:bodyPr>
          <a:lstStyle/>
          <a:p>
            <a:r>
              <a:rPr sz="1100" b="0">
                <a:solidFill>
                  <a:srgbClr val="2E2E2E"/>
                </a:solidFill>
                <a:latin typeface="Calibri"/>
              </a:rPr>
              <a:t>maintaining its share and accounting for</a:t>
            </a:r>
          </a:p>
        </p:txBody>
      </p:sp>
      <p:pic>
        <p:nvPicPr>
          <p:cNvPr id="103" name="Picture 102" descr="lock.png"/>
          <p:cNvPicPr>
            <a:picLocks noChangeAspect="1"/>
          </p:cNvPicPr>
          <p:nvPr/>
        </p:nvPicPr>
        <p:blipFill>
          <a:blip r:embed="rId23"/>
          <a:stretch>
            <a:fillRect/>
          </a:stretch>
        </p:blipFill>
        <p:spPr>
          <a:xfrm>
            <a:off x="2792702" y="5057858"/>
            <a:ext cx="128699" cy="187198"/>
          </a:xfrm>
          <a:prstGeom prst="rect">
            <a:avLst/>
          </a:prstGeom>
        </p:spPr>
      </p:pic>
      <p:sp>
        <p:nvSpPr>
          <p:cNvPr id="104" name="TextBox 103"/>
          <p:cNvSpPr txBox="1"/>
          <p:nvPr/>
        </p:nvSpPr>
        <p:spPr>
          <a:xfrm>
            <a:off x="2960198" y="5067637"/>
            <a:ext cx="38943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105" name="TextBox 104"/>
          <p:cNvSpPr txBox="1"/>
          <p:nvPr/>
        </p:nvSpPr>
        <p:spPr>
          <a:xfrm>
            <a:off x="485775" y="5235277"/>
            <a:ext cx="563512" cy="186689"/>
          </a:xfrm>
          <a:prstGeom prst="rect">
            <a:avLst/>
          </a:prstGeom>
          <a:noFill/>
        </p:spPr>
        <p:txBody>
          <a:bodyPr wrap="none" lIns="0" rIns="0" tIns="0" bIns="0">
            <a:spAutoFit/>
          </a:bodyPr>
          <a:lstStyle/>
          <a:p>
            <a:r>
              <a:rPr sz="1100" b="0">
                <a:solidFill>
                  <a:srgbClr val="2E2E2E"/>
                </a:solidFill>
                <a:latin typeface="Calibri"/>
              </a:rPr>
              <a:t>by 2036.</a:t>
            </a:r>
          </a:p>
        </p:txBody>
      </p:sp>
      <p:sp>
        <p:nvSpPr>
          <p:cNvPr id="106" name="TextBox 105"/>
          <p:cNvSpPr txBox="1"/>
          <p:nvPr/>
        </p:nvSpPr>
        <p:spPr>
          <a:xfrm>
            <a:off x="485775" y="5453209"/>
            <a:ext cx="2701850" cy="186689"/>
          </a:xfrm>
          <a:prstGeom prst="rect">
            <a:avLst/>
          </a:prstGeom>
          <a:noFill/>
        </p:spPr>
        <p:txBody>
          <a:bodyPr wrap="none" lIns="0" rIns="0" tIns="0" bIns="0">
            <a:spAutoFit/>
          </a:bodyPr>
          <a:lstStyle/>
          <a:p>
            <a:r>
              <a:rPr sz="1100" b="0">
                <a:solidFill>
                  <a:srgbClr val="2E2E2E"/>
                </a:solidFill>
                <a:latin typeface="Calibri"/>
              </a:rPr>
              <a:t>Up to 30 g/ml segment is projected to register</a:t>
            </a:r>
          </a:p>
        </p:txBody>
      </p:sp>
      <p:pic>
        <p:nvPicPr>
          <p:cNvPr id="107" name="Picture 106" descr="lock.png"/>
          <p:cNvPicPr>
            <a:picLocks noChangeAspect="1"/>
          </p:cNvPicPr>
          <p:nvPr/>
        </p:nvPicPr>
        <p:blipFill>
          <a:blip r:embed="rId23"/>
          <a:stretch>
            <a:fillRect/>
          </a:stretch>
        </p:blipFill>
        <p:spPr>
          <a:xfrm>
            <a:off x="472307" y="5611070"/>
            <a:ext cx="128699" cy="187198"/>
          </a:xfrm>
          <a:prstGeom prst="rect">
            <a:avLst/>
          </a:prstGeom>
        </p:spPr>
      </p:pic>
      <p:sp>
        <p:nvSpPr>
          <p:cNvPr id="108" name="TextBox 107"/>
          <p:cNvSpPr txBox="1"/>
          <p:nvPr/>
        </p:nvSpPr>
        <p:spPr>
          <a:xfrm>
            <a:off x="639803" y="5620849"/>
            <a:ext cx="2750691" cy="186689"/>
          </a:xfrm>
          <a:prstGeom prst="rect">
            <a:avLst/>
          </a:prstGeom>
          <a:noFill/>
        </p:spPr>
        <p:txBody>
          <a:bodyPr wrap="none" lIns="0" rIns="0" tIns="0" bIns="0">
            <a:spAutoFit/>
          </a:bodyPr>
          <a:lstStyle/>
          <a:p>
            <a:r>
              <a:rPr sz="1100" b="0">
                <a:solidFill>
                  <a:srgbClr val="2E2E2E"/>
                </a:solidFill>
                <a:latin typeface="Calibri"/>
              </a:rPr>
              <a:t>X higher value than above 200 g/ml segment in</a:t>
            </a:r>
          </a:p>
        </p:txBody>
      </p:sp>
      <p:sp>
        <p:nvSpPr>
          <p:cNvPr id="109" name="TextBox 108"/>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10" name="TextBox 109"/>
          <p:cNvSpPr txBox="1"/>
          <p:nvPr/>
        </p:nvSpPr>
        <p:spPr>
          <a:xfrm>
            <a:off x="3838575" y="4229437"/>
            <a:ext cx="1013717" cy="186689"/>
          </a:xfrm>
          <a:prstGeom prst="rect">
            <a:avLst/>
          </a:prstGeom>
          <a:noFill/>
        </p:spPr>
        <p:txBody>
          <a:bodyPr wrap="none" lIns="0" rIns="0" tIns="0" bIns="0">
            <a:spAutoFit/>
          </a:bodyPr>
          <a:lstStyle/>
          <a:p>
            <a:r>
              <a:rPr sz="1100" b="0">
                <a:solidFill>
                  <a:srgbClr val="2E2E2E"/>
                </a:solidFill>
                <a:latin typeface="Calibri"/>
              </a:rPr>
              <a:t>● Up to 30 g/ml:</a:t>
            </a:r>
          </a:p>
        </p:txBody>
      </p:sp>
      <p:pic>
        <p:nvPicPr>
          <p:cNvPr id="111" name="Picture 110" descr="lock.png"/>
          <p:cNvPicPr>
            <a:picLocks noChangeAspect="1"/>
          </p:cNvPicPr>
          <p:nvPr/>
        </p:nvPicPr>
        <p:blipFill>
          <a:blip r:embed="rId23"/>
          <a:stretch>
            <a:fillRect/>
          </a:stretch>
        </p:blipFill>
        <p:spPr>
          <a:xfrm>
            <a:off x="4800344" y="4219658"/>
            <a:ext cx="128699" cy="187198"/>
          </a:xfrm>
          <a:prstGeom prst="rect">
            <a:avLst/>
          </a:prstGeom>
        </p:spPr>
      </p:pic>
      <p:sp>
        <p:nvSpPr>
          <p:cNvPr id="112" name="TextBox 111"/>
          <p:cNvSpPr txBox="1"/>
          <p:nvPr/>
        </p:nvSpPr>
        <p:spPr>
          <a:xfrm>
            <a:off x="496784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3" name="Picture 112" descr="lock.png"/>
          <p:cNvPicPr>
            <a:picLocks noChangeAspect="1"/>
          </p:cNvPicPr>
          <p:nvPr/>
        </p:nvPicPr>
        <p:blipFill>
          <a:blip r:embed="rId23"/>
          <a:stretch>
            <a:fillRect/>
          </a:stretch>
        </p:blipFill>
        <p:spPr>
          <a:xfrm>
            <a:off x="5827290" y="4219658"/>
            <a:ext cx="128699" cy="187198"/>
          </a:xfrm>
          <a:prstGeom prst="rect">
            <a:avLst/>
          </a:prstGeom>
        </p:spPr>
      </p:pic>
      <p:sp>
        <p:nvSpPr>
          <p:cNvPr id="114" name="TextBox 113"/>
          <p:cNvSpPr txBox="1"/>
          <p:nvPr/>
        </p:nvSpPr>
        <p:spPr>
          <a:xfrm>
            <a:off x="599478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5" name="TextBox 114"/>
          <p:cNvSpPr txBox="1"/>
          <p:nvPr/>
        </p:nvSpPr>
        <p:spPr>
          <a:xfrm>
            <a:off x="3838575" y="4447369"/>
            <a:ext cx="1129679" cy="186689"/>
          </a:xfrm>
          <a:prstGeom prst="rect">
            <a:avLst/>
          </a:prstGeom>
          <a:noFill/>
        </p:spPr>
        <p:txBody>
          <a:bodyPr wrap="none" lIns="0" rIns="0" tIns="0" bIns="0">
            <a:spAutoFit/>
          </a:bodyPr>
          <a:lstStyle/>
          <a:p>
            <a:r>
              <a:rPr sz="1100" b="0">
                <a:solidFill>
                  <a:srgbClr val="2E2E2E"/>
                </a:solidFill>
                <a:latin typeface="Calibri"/>
              </a:rPr>
              <a:t>● Above 200 g/ml:</a:t>
            </a:r>
          </a:p>
        </p:txBody>
      </p:sp>
      <p:pic>
        <p:nvPicPr>
          <p:cNvPr id="116" name="Picture 115" descr="lock.png"/>
          <p:cNvPicPr>
            <a:picLocks noChangeAspect="1"/>
          </p:cNvPicPr>
          <p:nvPr/>
        </p:nvPicPr>
        <p:blipFill>
          <a:blip r:embed="rId23"/>
          <a:stretch>
            <a:fillRect/>
          </a:stretch>
        </p:blipFill>
        <p:spPr>
          <a:xfrm>
            <a:off x="4916306" y="4437590"/>
            <a:ext cx="128699" cy="187198"/>
          </a:xfrm>
          <a:prstGeom prst="rect">
            <a:avLst/>
          </a:prstGeom>
        </p:spPr>
      </p:pic>
      <p:sp>
        <p:nvSpPr>
          <p:cNvPr id="117" name="TextBox 116"/>
          <p:cNvSpPr txBox="1"/>
          <p:nvPr/>
        </p:nvSpPr>
        <p:spPr>
          <a:xfrm>
            <a:off x="508380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23"/>
          <a:stretch>
            <a:fillRect/>
          </a:stretch>
        </p:blipFill>
        <p:spPr>
          <a:xfrm>
            <a:off x="5943252" y="4437590"/>
            <a:ext cx="128699" cy="187198"/>
          </a:xfrm>
          <a:prstGeom prst="rect">
            <a:avLst/>
          </a:prstGeom>
        </p:spPr>
      </p:pic>
      <p:sp>
        <p:nvSpPr>
          <p:cNvPr id="119" name="TextBox 118"/>
          <p:cNvSpPr txBox="1"/>
          <p:nvPr/>
        </p:nvSpPr>
        <p:spPr>
          <a:xfrm>
            <a:off x="6110748"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0" name="TextBox 119"/>
          <p:cNvSpPr txBox="1"/>
          <p:nvPr/>
        </p:nvSpPr>
        <p:spPr>
          <a:xfrm>
            <a:off x="3838575" y="4665301"/>
            <a:ext cx="1270198" cy="186689"/>
          </a:xfrm>
          <a:prstGeom prst="rect">
            <a:avLst/>
          </a:prstGeom>
          <a:noFill/>
        </p:spPr>
        <p:txBody>
          <a:bodyPr wrap="none" lIns="0" rIns="0" tIns="0" bIns="0">
            <a:spAutoFit/>
          </a:bodyPr>
          <a:lstStyle/>
          <a:p>
            <a:r>
              <a:rPr sz="1100" b="0">
                <a:solidFill>
                  <a:srgbClr val="2E2E2E"/>
                </a:solidFill>
                <a:latin typeface="Calibri"/>
              </a:rPr>
              <a:t>● Above 30–50 g/ml:</a:t>
            </a:r>
          </a:p>
        </p:txBody>
      </p:sp>
      <p:pic>
        <p:nvPicPr>
          <p:cNvPr id="121" name="Picture 120" descr="lock.png"/>
          <p:cNvPicPr>
            <a:picLocks noChangeAspect="1"/>
          </p:cNvPicPr>
          <p:nvPr/>
        </p:nvPicPr>
        <p:blipFill>
          <a:blip r:embed="rId23"/>
          <a:stretch>
            <a:fillRect/>
          </a:stretch>
        </p:blipFill>
        <p:spPr>
          <a:xfrm>
            <a:off x="5056825" y="4655522"/>
            <a:ext cx="128699" cy="187198"/>
          </a:xfrm>
          <a:prstGeom prst="rect">
            <a:avLst/>
          </a:prstGeom>
        </p:spPr>
      </p:pic>
      <p:sp>
        <p:nvSpPr>
          <p:cNvPr id="122" name="TextBox 121"/>
          <p:cNvSpPr txBox="1"/>
          <p:nvPr/>
        </p:nvSpPr>
        <p:spPr>
          <a:xfrm>
            <a:off x="522432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3" name="Picture 122" descr="lock.png"/>
          <p:cNvPicPr>
            <a:picLocks noChangeAspect="1"/>
          </p:cNvPicPr>
          <p:nvPr/>
        </p:nvPicPr>
        <p:blipFill>
          <a:blip r:embed="rId23"/>
          <a:stretch>
            <a:fillRect/>
          </a:stretch>
        </p:blipFill>
        <p:spPr>
          <a:xfrm>
            <a:off x="6083771" y="4655522"/>
            <a:ext cx="128699" cy="187198"/>
          </a:xfrm>
          <a:prstGeom prst="rect">
            <a:avLst/>
          </a:prstGeom>
        </p:spPr>
      </p:pic>
      <p:sp>
        <p:nvSpPr>
          <p:cNvPr id="124" name="TextBox 123"/>
          <p:cNvSpPr txBox="1"/>
          <p:nvPr/>
        </p:nvSpPr>
        <p:spPr>
          <a:xfrm>
            <a:off x="6251266"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5" name="TextBox 124"/>
          <p:cNvSpPr txBox="1"/>
          <p:nvPr/>
        </p:nvSpPr>
        <p:spPr>
          <a:xfrm>
            <a:off x="3838575" y="4883233"/>
            <a:ext cx="1412081" cy="186689"/>
          </a:xfrm>
          <a:prstGeom prst="rect">
            <a:avLst/>
          </a:prstGeom>
          <a:noFill/>
        </p:spPr>
        <p:txBody>
          <a:bodyPr wrap="none" lIns="0" rIns="0" tIns="0" bIns="0">
            <a:spAutoFit/>
          </a:bodyPr>
          <a:lstStyle/>
          <a:p>
            <a:r>
              <a:rPr sz="1100" b="0">
                <a:solidFill>
                  <a:srgbClr val="2E2E2E"/>
                </a:solidFill>
                <a:latin typeface="Calibri"/>
              </a:rPr>
              <a:t>● Above 100–200 g/ml:</a:t>
            </a:r>
          </a:p>
        </p:txBody>
      </p:sp>
      <p:pic>
        <p:nvPicPr>
          <p:cNvPr id="126" name="Picture 125" descr="lock.png"/>
          <p:cNvPicPr>
            <a:picLocks noChangeAspect="1"/>
          </p:cNvPicPr>
          <p:nvPr/>
        </p:nvPicPr>
        <p:blipFill>
          <a:blip r:embed="rId23"/>
          <a:stretch>
            <a:fillRect/>
          </a:stretch>
        </p:blipFill>
        <p:spPr>
          <a:xfrm>
            <a:off x="5198707" y="4873454"/>
            <a:ext cx="128699" cy="187198"/>
          </a:xfrm>
          <a:prstGeom prst="rect">
            <a:avLst/>
          </a:prstGeom>
        </p:spPr>
      </p:pic>
      <p:sp>
        <p:nvSpPr>
          <p:cNvPr id="127" name="TextBox 126"/>
          <p:cNvSpPr txBox="1"/>
          <p:nvPr/>
        </p:nvSpPr>
        <p:spPr>
          <a:xfrm>
            <a:off x="5366203"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23"/>
          <a:stretch>
            <a:fillRect/>
          </a:stretch>
        </p:blipFill>
        <p:spPr>
          <a:xfrm>
            <a:off x="6225653" y="4873454"/>
            <a:ext cx="128699" cy="187198"/>
          </a:xfrm>
          <a:prstGeom prst="rect">
            <a:avLst/>
          </a:prstGeom>
        </p:spPr>
      </p:pic>
      <p:sp>
        <p:nvSpPr>
          <p:cNvPr id="129" name="TextBox 128"/>
          <p:cNvSpPr txBox="1"/>
          <p:nvPr/>
        </p:nvSpPr>
        <p:spPr>
          <a:xfrm>
            <a:off x="6393149"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0" name="TextBox 129"/>
          <p:cNvSpPr txBox="1"/>
          <p:nvPr/>
        </p:nvSpPr>
        <p:spPr>
          <a:xfrm>
            <a:off x="3838575" y="5101165"/>
            <a:ext cx="1341139" cy="186689"/>
          </a:xfrm>
          <a:prstGeom prst="rect">
            <a:avLst/>
          </a:prstGeom>
          <a:noFill/>
        </p:spPr>
        <p:txBody>
          <a:bodyPr wrap="none" lIns="0" rIns="0" tIns="0" bIns="0">
            <a:spAutoFit/>
          </a:bodyPr>
          <a:lstStyle/>
          <a:p>
            <a:r>
              <a:rPr sz="1100" b="0">
                <a:solidFill>
                  <a:srgbClr val="2E2E2E"/>
                </a:solidFill>
                <a:latin typeface="Calibri"/>
              </a:rPr>
              <a:t>● Above 50–100 g/ml:</a:t>
            </a:r>
          </a:p>
        </p:txBody>
      </p:sp>
      <p:pic>
        <p:nvPicPr>
          <p:cNvPr id="131" name="Picture 130" descr="lock.png"/>
          <p:cNvPicPr>
            <a:picLocks noChangeAspect="1"/>
          </p:cNvPicPr>
          <p:nvPr/>
        </p:nvPicPr>
        <p:blipFill>
          <a:blip r:embed="rId23"/>
          <a:stretch>
            <a:fillRect/>
          </a:stretch>
        </p:blipFill>
        <p:spPr>
          <a:xfrm>
            <a:off x="5127766" y="5091385"/>
            <a:ext cx="128699" cy="187198"/>
          </a:xfrm>
          <a:prstGeom prst="rect">
            <a:avLst/>
          </a:prstGeom>
        </p:spPr>
      </p:pic>
      <p:sp>
        <p:nvSpPr>
          <p:cNvPr id="132" name="TextBox 131"/>
          <p:cNvSpPr txBox="1"/>
          <p:nvPr/>
        </p:nvSpPr>
        <p:spPr>
          <a:xfrm>
            <a:off x="5295262"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3" name="Picture 132" descr="lock.png"/>
          <p:cNvPicPr>
            <a:picLocks noChangeAspect="1"/>
          </p:cNvPicPr>
          <p:nvPr/>
        </p:nvPicPr>
        <p:blipFill>
          <a:blip r:embed="rId23"/>
          <a:stretch>
            <a:fillRect/>
          </a:stretch>
        </p:blipFill>
        <p:spPr>
          <a:xfrm>
            <a:off x="6154712" y="5091385"/>
            <a:ext cx="128699" cy="187198"/>
          </a:xfrm>
          <a:prstGeom prst="rect">
            <a:avLst/>
          </a:prstGeom>
        </p:spPr>
      </p:pic>
      <p:sp>
        <p:nvSpPr>
          <p:cNvPr id="134" name="TextBox 133"/>
          <p:cNvSpPr txBox="1"/>
          <p:nvPr/>
        </p:nvSpPr>
        <p:spPr>
          <a:xfrm>
            <a:off x="6322208"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5" name="TextBox 134"/>
          <p:cNvSpPr txBox="1"/>
          <p:nvPr/>
        </p:nvSpPr>
        <p:spPr>
          <a:xfrm>
            <a:off x="8524875" y="5842641"/>
            <a:ext cx="2950133" cy="194310"/>
          </a:xfrm>
          <a:prstGeom prst="rect">
            <a:avLst/>
          </a:prstGeom>
          <a:noFill/>
        </p:spPr>
        <p:txBody>
          <a:bodyPr wrap="none" lIns="0" rIns="0" tIns="0" bIns="0">
            <a:spAutoFit/>
          </a:bodyPr>
          <a:lstStyle/>
          <a:p>
            <a:r>
              <a:rPr sz="1150" b="1">
                <a:solidFill>
                  <a:srgbClr val="0B2E4A"/>
                </a:solidFill>
                <a:latin typeface="Calibri"/>
              </a:rPr>
              <a:t>The Pack Size segment is projected to grow at a</a:t>
            </a:r>
          </a:p>
        </p:txBody>
      </p:sp>
      <p:sp>
        <p:nvSpPr>
          <p:cNvPr id="136" name="TextBox 135"/>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7" name="Picture 136" descr="lock.png"/>
          <p:cNvPicPr>
            <a:picLocks noChangeAspect="1"/>
          </p:cNvPicPr>
          <p:nvPr/>
        </p:nvPicPr>
        <p:blipFill>
          <a:blip r:embed="rId23"/>
          <a:stretch>
            <a:fillRect/>
          </a:stretch>
        </p:blipFill>
        <p:spPr>
          <a:xfrm>
            <a:off x="9048826" y="6007677"/>
            <a:ext cx="134549" cy="195707"/>
          </a:xfrm>
          <a:prstGeom prst="rect">
            <a:avLst/>
          </a:prstGeom>
        </p:spPr>
      </p:pic>
      <p:sp>
        <p:nvSpPr>
          <p:cNvPr id="138" name="TextBox 137"/>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Pack Size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Pack Size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Pack Size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Pack Size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45106" cy="186689"/>
          </a:xfrm>
          <a:prstGeom prst="rect">
            <a:avLst/>
          </a:prstGeom>
          <a:noFill/>
        </p:spPr>
        <p:txBody>
          <a:bodyPr wrap="none" lIns="0" rIns="0" tIns="0" bIns="0">
            <a:spAutoFit/>
          </a:bodyPr>
          <a:lstStyle/>
          <a:p>
            <a:r>
              <a:rPr sz="1100" b="0">
                <a:solidFill>
                  <a:srgbClr val="2E2E2E"/>
                </a:solidFill>
                <a:latin typeface="Calibri"/>
              </a:rPr>
              <a:t>Up to 30 g/ml followed by above 200 g/ml are expected to be the two most attractive pack size segments in the global ceramide sunscreen market in terms of value over the forecast period. Up to 30 g/ml</a:t>
            </a:r>
          </a:p>
        </p:txBody>
      </p:sp>
      <p:sp>
        <p:nvSpPr>
          <p:cNvPr id="20" name="TextBox 19"/>
          <p:cNvSpPr txBox="1"/>
          <p:nvPr/>
        </p:nvSpPr>
        <p:spPr>
          <a:xfrm>
            <a:off x="257175" y="5945505"/>
            <a:ext cx="2565680" cy="186689"/>
          </a:xfrm>
          <a:prstGeom prst="rect">
            <a:avLst/>
          </a:prstGeom>
          <a:noFill/>
        </p:spPr>
        <p:txBody>
          <a:bodyPr wrap="none" lIns="0" rIns="0" tIns="0" bIns="0">
            <a:spAutoFit/>
          </a:bodyPr>
          <a:lstStyle/>
          <a:p>
            <a:r>
              <a:rPr sz="1100" b="0">
                <a:solidFill>
                  <a:srgbClr val="2E2E2E"/>
                </a:solidFill>
                <a:latin typeface="Calibri"/>
              </a:rPr>
              <a:t>and above 200 g/ml exhibit a CAGR index of</a:t>
            </a:r>
          </a:p>
        </p:txBody>
      </p:sp>
      <p:pic>
        <p:nvPicPr>
          <p:cNvPr id="21" name="Picture 20" descr="lock.png"/>
          <p:cNvPicPr>
            <a:picLocks noChangeAspect="1"/>
          </p:cNvPicPr>
          <p:nvPr/>
        </p:nvPicPr>
        <p:blipFill>
          <a:blip r:embed="rId6"/>
          <a:stretch>
            <a:fillRect/>
          </a:stretch>
        </p:blipFill>
        <p:spPr>
          <a:xfrm>
            <a:off x="2770907" y="5935726"/>
            <a:ext cx="128699" cy="187198"/>
          </a:xfrm>
          <a:prstGeom prst="rect">
            <a:avLst/>
          </a:prstGeom>
        </p:spPr>
      </p:pic>
      <p:sp>
        <p:nvSpPr>
          <p:cNvPr id="22" name="TextBox 21"/>
          <p:cNvSpPr txBox="1"/>
          <p:nvPr/>
        </p:nvSpPr>
        <p:spPr>
          <a:xfrm>
            <a:off x="2938403"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176297" y="5935726"/>
            <a:ext cx="128699" cy="187198"/>
          </a:xfrm>
          <a:prstGeom prst="rect">
            <a:avLst/>
          </a:prstGeom>
        </p:spPr>
      </p:pic>
      <p:sp>
        <p:nvSpPr>
          <p:cNvPr id="24" name="TextBox 23"/>
          <p:cNvSpPr txBox="1"/>
          <p:nvPr/>
        </p:nvSpPr>
        <p:spPr>
          <a:xfrm>
            <a:off x="3343793"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4952766" y="5935726"/>
            <a:ext cx="128699" cy="187198"/>
          </a:xfrm>
          <a:prstGeom prst="rect">
            <a:avLst/>
          </a:prstGeom>
        </p:spPr>
      </p:pic>
      <p:sp>
        <p:nvSpPr>
          <p:cNvPr id="26" name="TextBox 25"/>
          <p:cNvSpPr txBox="1"/>
          <p:nvPr/>
        </p:nvSpPr>
        <p:spPr>
          <a:xfrm>
            <a:off x="5120262"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358156" y="5935726"/>
            <a:ext cx="128699" cy="187198"/>
          </a:xfrm>
          <a:prstGeom prst="rect">
            <a:avLst/>
          </a:prstGeom>
        </p:spPr>
      </p:pic>
      <p:sp>
        <p:nvSpPr>
          <p:cNvPr id="28" name="TextBox 27"/>
          <p:cNvSpPr txBox="1"/>
          <p:nvPr/>
        </p:nvSpPr>
        <p:spPr>
          <a:xfrm>
            <a:off x="5525652"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080056" y="5935726"/>
            <a:ext cx="128699" cy="187198"/>
          </a:xfrm>
          <a:prstGeom prst="rect">
            <a:avLst/>
          </a:prstGeom>
        </p:spPr>
      </p:pic>
      <p:sp>
        <p:nvSpPr>
          <p:cNvPr id="30" name="TextBox 29"/>
          <p:cNvSpPr txBox="1"/>
          <p:nvPr/>
        </p:nvSpPr>
        <p:spPr>
          <a:xfrm>
            <a:off x="8247552" y="5945505"/>
            <a:ext cx="3221632" cy="186689"/>
          </a:xfrm>
          <a:prstGeom prst="rect">
            <a:avLst/>
          </a:prstGeom>
          <a:noFill/>
        </p:spPr>
        <p:txBody>
          <a:bodyPr wrap="none" lIns="0" rIns="0" tIns="0" bIns="0">
            <a:spAutoFit/>
          </a:bodyPr>
          <a:lstStyle/>
          <a:p>
            <a:r>
              <a:rPr sz="1100" b="0">
                <a:solidFill>
                  <a:srgbClr val="2E2E2E"/>
                </a:solidFill>
                <a:latin typeface="Calibri"/>
              </a:rPr>
              <a:t>. The above 50-100 g/ml segment is expected to be less</a:t>
            </a:r>
          </a:p>
        </p:txBody>
      </p:sp>
      <p:sp>
        <p:nvSpPr>
          <p:cNvPr id="31" name="TextBox 30"/>
          <p:cNvSpPr txBox="1"/>
          <p:nvPr/>
        </p:nvSpPr>
        <p:spPr>
          <a:xfrm>
            <a:off x="257175" y="6113145"/>
            <a:ext cx="11338386" cy="186689"/>
          </a:xfrm>
          <a:prstGeom prst="rect">
            <a:avLst/>
          </a:prstGeom>
          <a:noFill/>
        </p:spPr>
        <p:txBody>
          <a:bodyPr wrap="none" lIns="0" rIns="0" t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Pack Size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Pack Size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Up to 30 g/ml</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30–50 g/ml</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50–100 g/ml</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100–200 g/ml</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Pack Size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Pack Size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200 g/ml</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Pack Size</a:t>
            </a:r>
          </a:p>
        </p:txBody>
      </p:sp>
      <p:sp>
        <p:nvSpPr>
          <p:cNvPr id="15" name="Rectangle 14"/>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4059" y="3583939"/>
            <a:ext cx="402511" cy="585471"/>
          </a:xfrm>
          <a:prstGeom prst="rect">
            <a:avLst/>
          </a:prstGeom>
        </p:spPr>
      </p:pic>
      <p:sp>
        <p:nvSpPr>
          <p:cNvPr id="19" name="TextBox 18"/>
          <p:cNvSpPr txBox="1"/>
          <p:nvPr/>
        </p:nvSpPr>
        <p:spPr>
          <a:xfrm>
            <a:off x="6305550" y="1400175"/>
            <a:ext cx="4303925" cy="194310"/>
          </a:xfrm>
          <a:prstGeom prst="rect">
            <a:avLst/>
          </a:prstGeom>
          <a:noFill/>
        </p:spPr>
        <p:txBody>
          <a:bodyPr wrap="none" lIns="0" rIns="0" tIns="0" bIns="0">
            <a:spAutoFit/>
          </a:bodyPr>
          <a:lstStyle/>
          <a:p>
            <a:r>
              <a:rPr sz="1150" b="0">
                <a:solidFill>
                  <a:srgbClr val="2E2E2E"/>
                </a:solidFill>
                <a:latin typeface="Calibri"/>
              </a:rPr>
              <a:t>By 2036, up to 30 g/ml segment is anticipated to witness an increase of</a:t>
            </a:r>
          </a:p>
        </p:txBody>
      </p:sp>
      <p:pic>
        <p:nvPicPr>
          <p:cNvPr id="20" name="Picture 19" descr="lock.png"/>
          <p:cNvPicPr>
            <a:picLocks noChangeAspect="1"/>
          </p:cNvPicPr>
          <p:nvPr/>
        </p:nvPicPr>
        <p:blipFill>
          <a:blip r:embed="rId5"/>
          <a:stretch>
            <a:fillRect/>
          </a:stretch>
        </p:blipFill>
        <p:spPr>
          <a:xfrm>
            <a:off x="10558629" y="1389951"/>
            <a:ext cx="134549" cy="195707"/>
          </a:xfrm>
          <a:prstGeom prst="rect">
            <a:avLst/>
          </a:prstGeom>
        </p:spPr>
      </p:pic>
      <p:sp>
        <p:nvSpPr>
          <p:cNvPr id="21" name="TextBox 20"/>
          <p:cNvSpPr txBox="1"/>
          <p:nvPr/>
        </p:nvSpPr>
        <p:spPr>
          <a:xfrm>
            <a:off x="10733739" y="1400175"/>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22" name="TextBox 21"/>
          <p:cNvSpPr txBox="1"/>
          <p:nvPr/>
        </p:nvSpPr>
        <p:spPr>
          <a:xfrm>
            <a:off x="6305550" y="1575435"/>
            <a:ext cx="5553360" cy="194310"/>
          </a:xfrm>
          <a:prstGeom prst="rect">
            <a:avLst/>
          </a:prstGeom>
          <a:noFill/>
        </p:spPr>
        <p:txBody>
          <a:bodyPr wrap="none" lIns="0" rIns="0" tIns="0" bIns="0">
            <a:spAutoFit/>
          </a:bodyPr>
          <a:lstStyle/>
          <a:p>
            <a:r>
              <a:rPr sz="1150" b="0">
                <a:solidFill>
                  <a:srgbClr val="2E2E2E"/>
                </a:solidFill>
                <a:latin typeface="Calibri"/>
              </a:rPr>
              <a:t>value as compared to 2026. The up to 30 g/ml segment is expected to create an incremental</a:t>
            </a:r>
          </a:p>
        </p:txBody>
      </p:sp>
      <p:sp>
        <p:nvSpPr>
          <p:cNvPr id="23" name="TextBox 22"/>
          <p:cNvSpPr txBox="1"/>
          <p:nvPr/>
        </p:nvSpPr>
        <p:spPr>
          <a:xfrm>
            <a:off x="6305550" y="1750695"/>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4" name="Picture 23" descr="lock.png"/>
          <p:cNvPicPr>
            <a:picLocks noChangeAspect="1"/>
          </p:cNvPicPr>
          <p:nvPr/>
        </p:nvPicPr>
        <p:blipFill>
          <a:blip r:embed="rId5"/>
          <a:stretch>
            <a:fillRect/>
          </a:stretch>
        </p:blipFill>
        <p:spPr>
          <a:xfrm>
            <a:off x="7463647" y="1740471"/>
            <a:ext cx="134549" cy="195707"/>
          </a:xfrm>
          <a:prstGeom prst="rect">
            <a:avLst/>
          </a:prstGeom>
        </p:spPr>
      </p:pic>
      <p:sp>
        <p:nvSpPr>
          <p:cNvPr id="25" name="TextBox 24"/>
          <p:cNvSpPr txBox="1"/>
          <p:nvPr/>
        </p:nvSpPr>
        <p:spPr>
          <a:xfrm>
            <a:off x="7638756" y="1750695"/>
            <a:ext cx="4013274"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 2026 to 2036.</a:t>
            </a:r>
          </a:p>
        </p:txBody>
      </p:sp>
      <p:sp>
        <p:nvSpPr>
          <p:cNvPr id="26" name="TextBox 25"/>
          <p:cNvSpPr txBox="1"/>
          <p:nvPr/>
        </p:nvSpPr>
        <p:spPr>
          <a:xfrm>
            <a:off x="6305550" y="1978533"/>
            <a:ext cx="5169408" cy="194310"/>
          </a:xfrm>
          <a:prstGeom prst="rect">
            <a:avLst/>
          </a:prstGeom>
          <a:noFill/>
        </p:spPr>
        <p:txBody>
          <a:bodyPr wrap="none" lIns="0" rIns="0" tIns="0" bIns="0">
            <a:spAutoFit/>
          </a:bodyPr>
          <a:lstStyle/>
          <a:p>
            <a:r>
              <a:rPr sz="1150" b="0">
                <a:solidFill>
                  <a:srgbClr val="2E2E2E"/>
                </a:solidFill>
                <a:latin typeface="Calibri"/>
              </a:rPr>
              <a:t>The above 200 g/ml segment is expected to create an incremental opportunity of US$</a:t>
            </a:r>
          </a:p>
        </p:txBody>
      </p:sp>
      <p:pic>
        <p:nvPicPr>
          <p:cNvPr id="27" name="Picture 26" descr="lock.png"/>
          <p:cNvPicPr>
            <a:picLocks noChangeAspect="1"/>
          </p:cNvPicPr>
          <p:nvPr/>
        </p:nvPicPr>
        <p:blipFill>
          <a:blip r:embed="rId5"/>
          <a:stretch>
            <a:fillRect/>
          </a:stretch>
        </p:blipFill>
        <p:spPr>
          <a:xfrm>
            <a:off x="11424112" y="1968309"/>
            <a:ext cx="134549" cy="195707"/>
          </a:xfrm>
          <a:prstGeom prst="rect">
            <a:avLst/>
          </a:prstGeom>
        </p:spPr>
      </p:pic>
      <p:sp>
        <p:nvSpPr>
          <p:cNvPr id="28" name="TextBox 27"/>
          <p:cNvSpPr txBox="1"/>
          <p:nvPr/>
        </p:nvSpPr>
        <p:spPr>
          <a:xfrm>
            <a:off x="11599221" y="197853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29" name="TextBox 28"/>
          <p:cNvSpPr txBox="1"/>
          <p:nvPr/>
        </p:nvSpPr>
        <p:spPr>
          <a:xfrm>
            <a:off x="6305550" y="2153793"/>
            <a:ext cx="5287218" cy="194310"/>
          </a:xfrm>
          <a:prstGeom prst="rect">
            <a:avLst/>
          </a:prstGeom>
          <a:noFill/>
        </p:spPr>
        <p:txBody>
          <a:bodyPr wrap="none" lIns="0" rIns="0" tIns="0" bIns="0">
            <a:spAutoFit/>
          </a:bodyPr>
          <a:lstStyle/>
          <a:p>
            <a:r>
              <a:rPr sz="1150" b="0">
                <a:solidFill>
                  <a:srgbClr val="2E2E2E"/>
                </a:solidFill>
                <a:latin typeface="Calibri"/>
              </a:rPr>
              <a:t>for the overall ceramide sunscreen market from 2026 to 2036. The above 100–200 g/ml</a:t>
            </a:r>
          </a:p>
        </p:txBody>
      </p:sp>
      <p:sp>
        <p:nvSpPr>
          <p:cNvPr id="30" name="TextBox 29"/>
          <p:cNvSpPr txBox="1"/>
          <p:nvPr/>
        </p:nvSpPr>
        <p:spPr>
          <a:xfrm>
            <a:off x="6305550" y="2329053"/>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10210642" y="2318829"/>
            <a:ext cx="134549" cy="195707"/>
          </a:xfrm>
          <a:prstGeom prst="rect">
            <a:avLst/>
          </a:prstGeom>
        </p:spPr>
      </p:pic>
      <p:sp>
        <p:nvSpPr>
          <p:cNvPr id="32" name="TextBox 31"/>
          <p:cNvSpPr txBox="1"/>
          <p:nvPr/>
        </p:nvSpPr>
        <p:spPr>
          <a:xfrm>
            <a:off x="10385751" y="2329053"/>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3" name="TextBox 32"/>
          <p:cNvSpPr txBox="1"/>
          <p:nvPr/>
        </p:nvSpPr>
        <p:spPr>
          <a:xfrm>
            <a:off x="6305550" y="2504313"/>
            <a:ext cx="2904207" cy="194310"/>
          </a:xfrm>
          <a:prstGeom prst="rect">
            <a:avLst/>
          </a:prstGeom>
          <a:noFill/>
        </p:spPr>
        <p:txBody>
          <a:bodyPr wrap="none" lIns="0" rIns="0" tIns="0" bIns="0">
            <a:spAutoFit/>
          </a:bodyPr>
          <a:lstStyle/>
          <a:p>
            <a:r>
              <a:rPr sz="1150" b="0">
                <a:solidFill>
                  <a:srgbClr val="2E2E2E"/>
                </a:solidFill>
                <a:latin typeface="Calibri"/>
              </a:rPr>
              <a:t>ceramide sunscreen market from 2026 to 2036.</a:t>
            </a:r>
          </a:p>
        </p:txBody>
      </p:sp>
      <p:sp>
        <p:nvSpPr>
          <p:cNvPr id="34"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Pack Size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Pack Size,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Pack Size (US$ Mn)</a:t>
            </a:r>
          </a:p>
        </p:txBody>
      </p:sp>
      <p:graphicFrame>
        <p:nvGraphicFramePr>
          <p:cNvPr id="12" name="Table 11"/>
          <p:cNvGraphicFramePr>
            <a:graphicFrameLocks noGrp="1"/>
          </p:cNvGraphicFramePr>
          <p:nvPr/>
        </p:nvGraphicFramePr>
        <p:xfrm>
          <a:off x="152400" y="1238250"/>
          <a:ext cx="11887200" cy="1724022"/>
        </p:xfrm>
        <a:graphic>
          <a:graphicData uri="http://schemas.openxmlformats.org/drawingml/2006/table">
            <a:tbl>
              <a:tblPr>
                <a:tableStyleId>{5C22544A-7EE6-4342-B048-85BDC9FD1C3A}</a:tableStyleId>
              </a:tblPr>
              <a:tblGrid>
                <a:gridCol w="1492023"/>
                <a:gridCol w="611481"/>
                <a:gridCol w="611481"/>
                <a:gridCol w="611481"/>
                <a:gridCol w="611481"/>
                <a:gridCol w="611481"/>
                <a:gridCol w="611481"/>
                <a:gridCol w="611481"/>
                <a:gridCol w="611481"/>
                <a:gridCol w="611481"/>
                <a:gridCol w="611481"/>
                <a:gridCol w="611481"/>
                <a:gridCol w="611481"/>
                <a:gridCol w="611481"/>
                <a:gridCol w="611481"/>
                <a:gridCol w="611481"/>
                <a:gridCol w="611481"/>
                <a:gridCol w="611481"/>
              </a:tblGrid>
              <a:tr h="246126">
                <a:tc>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Pack Size</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55321" y="1956623"/>
            <a:ext cx="366712" cy="533399"/>
          </a:xfrm>
          <a:prstGeom prst="rect">
            <a:avLst/>
          </a:prstGeom>
        </p:spPr>
      </p:pic>
      <p:sp>
        <p:nvSpPr>
          <p:cNvPr id="20" name="TextBox 19"/>
          <p:cNvSpPr txBox="1"/>
          <p:nvPr/>
        </p:nvSpPr>
        <p:spPr>
          <a:xfrm>
            <a:off x="276225" y="3724275"/>
            <a:ext cx="2821198" cy="194310"/>
          </a:xfrm>
          <a:prstGeom prst="rect">
            <a:avLst/>
          </a:prstGeom>
          <a:noFill/>
        </p:spPr>
        <p:txBody>
          <a:bodyPr wrap="none" lIns="0" rIns="0" tIns="0" bIns="0">
            <a:spAutoFit/>
          </a:bodyPr>
          <a:lstStyle/>
          <a:p>
            <a:r>
              <a:rPr sz="1150" b="0">
                <a:solidFill>
                  <a:srgbClr val="2E2E2E"/>
                </a:solidFill>
                <a:latin typeface="Calibri"/>
              </a:rPr>
              <a:t>Up to 30 g/ml segment is projected to register</a:t>
            </a:r>
          </a:p>
        </p:txBody>
      </p:sp>
      <p:pic>
        <p:nvPicPr>
          <p:cNvPr id="21" name="Picture 20" descr="lock.png"/>
          <p:cNvPicPr>
            <a:picLocks noChangeAspect="1"/>
          </p:cNvPicPr>
          <p:nvPr/>
        </p:nvPicPr>
        <p:blipFill>
          <a:blip r:embed="rId4"/>
          <a:stretch>
            <a:fillRect/>
          </a:stretch>
        </p:blipFill>
        <p:spPr>
          <a:xfrm>
            <a:off x="3046577" y="3714051"/>
            <a:ext cx="134549" cy="195707"/>
          </a:xfrm>
          <a:prstGeom prst="rect">
            <a:avLst/>
          </a:prstGeom>
        </p:spPr>
      </p:pic>
      <p:sp>
        <p:nvSpPr>
          <p:cNvPr id="22" name="TextBox 21"/>
          <p:cNvSpPr txBox="1"/>
          <p:nvPr/>
        </p:nvSpPr>
        <p:spPr>
          <a:xfrm>
            <a:off x="3221686" y="3724275"/>
            <a:ext cx="8330307" cy="194310"/>
          </a:xfrm>
          <a:prstGeom prst="rect">
            <a:avLst/>
          </a:prstGeom>
          <a:noFill/>
        </p:spPr>
        <p:txBody>
          <a:bodyPr wrap="none" lIns="0" rIns="0" tIns="0" bIns="0">
            <a:spAutoFit/>
          </a:bodyPr>
          <a:lstStyle/>
          <a:p>
            <a:r>
              <a:rPr sz="1150" b="0">
                <a:solidFill>
                  <a:srgbClr val="2E2E2E"/>
                </a:solidFill>
                <a:latin typeface="Calibri"/>
              </a:rPr>
              <a:t>X higher value than above 200 g/ml segment in 2036. Among ceramide sunscreen by pack size, above 100-200 g/ml segment is expected to</a:t>
            </a:r>
          </a:p>
        </p:txBody>
      </p:sp>
      <p:sp>
        <p:nvSpPr>
          <p:cNvPr id="23" name="TextBox 22"/>
          <p:cNvSpPr txBox="1"/>
          <p:nvPr/>
        </p:nvSpPr>
        <p:spPr>
          <a:xfrm>
            <a:off x="276225" y="38995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3889311"/>
            <a:ext cx="134549" cy="195707"/>
          </a:xfrm>
          <a:prstGeom prst="rect">
            <a:avLst/>
          </a:prstGeom>
        </p:spPr>
      </p:pic>
      <p:sp>
        <p:nvSpPr>
          <p:cNvPr id="25" name="TextBox 24"/>
          <p:cNvSpPr txBox="1"/>
          <p:nvPr/>
        </p:nvSpPr>
        <p:spPr>
          <a:xfrm>
            <a:off x="2148258"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8439844" cy="194310"/>
          </a:xfrm>
          <a:prstGeom prst="rect">
            <a:avLst/>
          </a:prstGeom>
          <a:noFill/>
        </p:spPr>
        <p:txBody>
          <a:bodyPr wrap="none" lIns="0" rIns="0" tIns="0" bIns="0">
            <a:spAutoFit/>
          </a:bodyPr>
          <a:lstStyle/>
          <a:p>
            <a:r>
              <a:rPr sz="1150" b="0">
                <a:solidFill>
                  <a:srgbClr val="2E2E2E"/>
                </a:solidFill>
                <a:latin typeface="Calibri"/>
              </a:rPr>
              <a:t>In terms of value share by pack size, the up to 30 g/ml segment is expected to dominate the market, maintaining its share and accounting for</a:t>
            </a:r>
          </a:p>
        </p:txBody>
      </p:sp>
      <p:pic>
        <p:nvPicPr>
          <p:cNvPr id="27" name="Picture 26" descr="lock.png"/>
          <p:cNvPicPr>
            <a:picLocks noChangeAspect="1"/>
          </p:cNvPicPr>
          <p:nvPr/>
        </p:nvPicPr>
        <p:blipFill>
          <a:blip r:embed="rId4"/>
          <a:stretch>
            <a:fillRect/>
          </a:stretch>
        </p:blipFill>
        <p:spPr>
          <a:xfrm>
            <a:off x="8665223" y="4117149"/>
            <a:ext cx="134549" cy="195707"/>
          </a:xfrm>
          <a:prstGeom prst="rect">
            <a:avLst/>
          </a:prstGeom>
        </p:spPr>
      </p:pic>
      <p:sp>
        <p:nvSpPr>
          <p:cNvPr id="28" name="TextBox 27"/>
          <p:cNvSpPr txBox="1"/>
          <p:nvPr/>
        </p:nvSpPr>
        <p:spPr>
          <a:xfrm>
            <a:off x="8840332" y="4127372"/>
            <a:ext cx="2949277" cy="194310"/>
          </a:xfrm>
          <a:prstGeom prst="rect">
            <a:avLst/>
          </a:prstGeom>
          <a:noFill/>
        </p:spPr>
        <p:txBody>
          <a:bodyPr wrap="none" lIns="0" rIns="0" tIns="0" bIns="0">
            <a:spAutoFit/>
          </a:bodyPr>
          <a:lstStyle/>
          <a:p>
            <a:r>
              <a:rPr sz="1150" b="0">
                <a:solidFill>
                  <a:srgbClr val="2E2E2E"/>
                </a:solidFill>
                <a:latin typeface="Calibri"/>
              </a:rPr>
              <a:t>share by 2036. The above 30-50 g/ml segment is</a:t>
            </a:r>
          </a:p>
        </p:txBody>
      </p:sp>
      <p:sp>
        <p:nvSpPr>
          <p:cNvPr id="29" name="TextBox 28"/>
          <p:cNvSpPr txBox="1"/>
          <p:nvPr/>
        </p:nvSpPr>
        <p:spPr>
          <a:xfrm>
            <a:off x="276225" y="430263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0" name="Picture 29" descr="lock.png"/>
          <p:cNvPicPr>
            <a:picLocks noChangeAspect="1"/>
          </p:cNvPicPr>
          <p:nvPr/>
        </p:nvPicPr>
        <p:blipFill>
          <a:blip r:embed="rId4"/>
          <a:stretch>
            <a:fillRect/>
          </a:stretch>
        </p:blipFill>
        <p:spPr>
          <a:xfrm>
            <a:off x="1280285" y="4292409"/>
            <a:ext cx="134549" cy="195707"/>
          </a:xfrm>
          <a:prstGeom prst="rect">
            <a:avLst/>
          </a:prstGeom>
        </p:spPr>
      </p:pic>
      <p:sp>
        <p:nvSpPr>
          <p:cNvPr id="31" name="TextBox 30"/>
          <p:cNvSpPr txBox="1"/>
          <p:nvPr/>
        </p:nvSpPr>
        <p:spPr>
          <a:xfrm>
            <a:off x="1455394"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4042898" y="4292409"/>
            <a:ext cx="134549" cy="195707"/>
          </a:xfrm>
          <a:prstGeom prst="rect">
            <a:avLst/>
          </a:prstGeom>
        </p:spPr>
      </p:pic>
      <p:sp>
        <p:nvSpPr>
          <p:cNvPr id="33" name="TextBox 32"/>
          <p:cNvSpPr txBox="1"/>
          <p:nvPr/>
        </p:nvSpPr>
        <p:spPr>
          <a:xfrm>
            <a:off x="4218008"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Pack Size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Pack Size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Pack Size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635533"/>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63077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5545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50–100 g/ml</a:t>
            </a:r>
          </a:p>
        </p:txBody>
      </p:sp>
      <p:sp>
        <p:nvSpPr>
          <p:cNvPr id="18" name="BPS Value 1"/>
          <p:cNvSpPr txBox="1"/>
          <p:nvPr/>
        </p:nvSpPr>
        <p:spPr>
          <a:xfrm>
            <a:off x="6896100" y="161648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212379"/>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20761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13141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100–200 g/ml</a:t>
            </a:r>
          </a:p>
        </p:txBody>
      </p:sp>
      <p:sp>
        <p:nvSpPr>
          <p:cNvPr id="22" name="BPS Value 2"/>
          <p:cNvSpPr txBox="1"/>
          <p:nvPr/>
        </p:nvSpPr>
        <p:spPr>
          <a:xfrm>
            <a:off x="6896100" y="219332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320756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20280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12660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30–50 g/ml</a:t>
            </a:r>
          </a:p>
        </p:txBody>
      </p:sp>
      <p:sp>
        <p:nvSpPr>
          <p:cNvPr id="26" name="BPS Value 3"/>
          <p:cNvSpPr txBox="1"/>
          <p:nvPr/>
        </p:nvSpPr>
        <p:spPr>
          <a:xfrm>
            <a:off x="6896100" y="318851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437189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436713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29093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200 g/ml</a:t>
            </a:r>
          </a:p>
        </p:txBody>
      </p:sp>
      <p:sp>
        <p:nvSpPr>
          <p:cNvPr id="30" name="BPS Value 4"/>
          <p:cNvSpPr txBox="1"/>
          <p:nvPr/>
        </p:nvSpPr>
        <p:spPr>
          <a:xfrm>
            <a:off x="6896100" y="435284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561632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561156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553536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Up to 30 g/ml</a:t>
            </a:r>
          </a:p>
        </p:txBody>
      </p:sp>
      <p:sp>
        <p:nvSpPr>
          <p:cNvPr id="34" name="BPS Value 5"/>
          <p:cNvSpPr txBox="1"/>
          <p:nvPr/>
        </p:nvSpPr>
        <p:spPr>
          <a:xfrm>
            <a:off x="6896100" y="559727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Pack Size</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751325"/>
            <a:ext cx="275034" cy="400050"/>
          </a:xfrm>
          <a:prstGeom prst="rect">
            <a:avLst/>
          </a:prstGeom>
        </p:spPr>
      </p:pic>
      <p:sp>
        <p:nvSpPr>
          <p:cNvPr id="41" name="TextBox 40"/>
          <p:cNvSpPr txBox="1"/>
          <p:nvPr/>
        </p:nvSpPr>
        <p:spPr>
          <a:xfrm>
            <a:off x="7829550" y="1400175"/>
            <a:ext cx="3725738" cy="194310"/>
          </a:xfrm>
          <a:prstGeom prst="rect">
            <a:avLst/>
          </a:prstGeom>
          <a:noFill/>
        </p:spPr>
        <p:txBody>
          <a:bodyPr wrap="none" lIns="0" rIns="0" tIns="0" bIns="0">
            <a:spAutoFit/>
          </a:bodyPr>
          <a:lstStyle/>
          <a:p>
            <a:r>
              <a:rPr sz="1150" b="0">
                <a:solidFill>
                  <a:srgbClr val="2E2E2E"/>
                </a:solidFill>
                <a:latin typeface="Calibri"/>
              </a:rPr>
              <a:t>Among ceramide sunscreen by pack size, above 100-200 g/ml</a:t>
            </a:r>
          </a:p>
        </p:txBody>
      </p:sp>
      <p:sp>
        <p:nvSpPr>
          <p:cNvPr id="42" name="TextBox 4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3" name="Picture 42" descr="lock.png"/>
          <p:cNvPicPr>
            <a:picLocks noChangeAspect="1"/>
          </p:cNvPicPr>
          <p:nvPr/>
        </p:nvPicPr>
        <p:blipFill>
          <a:blip r:embed="rId5"/>
          <a:stretch>
            <a:fillRect/>
          </a:stretch>
        </p:blipFill>
        <p:spPr>
          <a:xfrm>
            <a:off x="10935343" y="1565211"/>
            <a:ext cx="134549" cy="195707"/>
          </a:xfrm>
          <a:prstGeom prst="rect">
            <a:avLst/>
          </a:prstGeom>
        </p:spPr>
      </p:pic>
      <p:sp>
        <p:nvSpPr>
          <p:cNvPr id="44" name="TextBox 4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5" name="TextBox 44"/>
          <p:cNvSpPr txBox="1"/>
          <p:nvPr/>
        </p:nvSpPr>
        <p:spPr>
          <a:xfrm>
            <a:off x="7829550" y="1750695"/>
            <a:ext cx="3944242" cy="194310"/>
          </a:xfrm>
          <a:prstGeom prst="rect">
            <a:avLst/>
          </a:prstGeom>
          <a:noFill/>
        </p:spPr>
        <p:txBody>
          <a:bodyPr wrap="none" lIns="0" rIns="0" tIns="0" bIns="0">
            <a:spAutoFit/>
          </a:bodyPr>
          <a:lstStyle/>
          <a:p>
            <a:r>
              <a:rPr sz="1150" b="0">
                <a:solidFill>
                  <a:srgbClr val="2E2E2E"/>
                </a:solidFill>
                <a:latin typeface="Calibri"/>
              </a:rPr>
              <a:t>forecast period. In terms of value share by pack size, the up to 30</a:t>
            </a:r>
          </a:p>
        </p:txBody>
      </p:sp>
      <p:sp>
        <p:nvSpPr>
          <p:cNvPr id="46" name="TextBox 45"/>
          <p:cNvSpPr txBox="1"/>
          <p:nvPr/>
        </p:nvSpPr>
        <p:spPr>
          <a:xfrm>
            <a:off x="7829550" y="1925955"/>
            <a:ext cx="4004716" cy="194310"/>
          </a:xfrm>
          <a:prstGeom prst="rect">
            <a:avLst/>
          </a:prstGeom>
          <a:noFill/>
        </p:spPr>
        <p:txBody>
          <a:bodyPr wrap="none" lIns="0" rIns="0" tIns="0" bIns="0">
            <a:spAutoFit/>
          </a:bodyPr>
          <a:lstStyle/>
          <a:p>
            <a:r>
              <a:rPr sz="1150" b="0">
                <a:solidFill>
                  <a:srgbClr val="2E2E2E"/>
                </a:solidFill>
                <a:latin typeface="Calibri"/>
              </a:rPr>
              <a:t>g/ml segment is expected to dominate the market, maintaining its</a:t>
            </a:r>
          </a:p>
        </p:txBody>
      </p:sp>
      <p:sp>
        <p:nvSpPr>
          <p:cNvPr id="47" name="TextBox 46"/>
          <p:cNvSpPr txBox="1"/>
          <p:nvPr/>
        </p:nvSpPr>
        <p:spPr>
          <a:xfrm>
            <a:off x="7829550" y="2101215"/>
            <a:ext cx="1551247" cy="194310"/>
          </a:xfrm>
          <a:prstGeom prst="rect">
            <a:avLst/>
          </a:prstGeom>
          <a:noFill/>
        </p:spPr>
        <p:txBody>
          <a:bodyPr wrap="none" lIns="0" rIns="0" tIns="0" bIns="0">
            <a:spAutoFit/>
          </a:bodyPr>
          <a:lstStyle/>
          <a:p>
            <a:r>
              <a:rPr sz="1150" b="0">
                <a:solidFill>
                  <a:srgbClr val="2E2E2E"/>
                </a:solidFill>
                <a:latin typeface="Calibri"/>
              </a:rPr>
              <a:t>share and accounting for</a:t>
            </a:r>
          </a:p>
        </p:txBody>
      </p:sp>
      <p:pic>
        <p:nvPicPr>
          <p:cNvPr id="48" name="Picture 47" descr="lock.png"/>
          <p:cNvPicPr>
            <a:picLocks noChangeAspect="1"/>
          </p:cNvPicPr>
          <p:nvPr/>
        </p:nvPicPr>
        <p:blipFill>
          <a:blip r:embed="rId5"/>
          <a:stretch>
            <a:fillRect/>
          </a:stretch>
        </p:blipFill>
        <p:spPr>
          <a:xfrm>
            <a:off x="9329951" y="2090991"/>
            <a:ext cx="134549" cy="195707"/>
          </a:xfrm>
          <a:prstGeom prst="rect">
            <a:avLst/>
          </a:prstGeom>
        </p:spPr>
      </p:pic>
      <p:sp>
        <p:nvSpPr>
          <p:cNvPr id="49" name="TextBox 48"/>
          <p:cNvSpPr txBox="1"/>
          <p:nvPr/>
        </p:nvSpPr>
        <p:spPr>
          <a:xfrm>
            <a:off x="950506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TextBox 49"/>
          <p:cNvSpPr txBox="1"/>
          <p:nvPr/>
        </p:nvSpPr>
        <p:spPr>
          <a:xfrm>
            <a:off x="7829550" y="2329053"/>
            <a:ext cx="3057959" cy="194310"/>
          </a:xfrm>
          <a:prstGeom prst="rect">
            <a:avLst/>
          </a:prstGeom>
          <a:noFill/>
        </p:spPr>
        <p:txBody>
          <a:bodyPr wrap="none" lIns="0" rIns="0" tIns="0" bIns="0">
            <a:spAutoFit/>
          </a:bodyPr>
          <a:lstStyle/>
          <a:p>
            <a:r>
              <a:rPr sz="1150" b="0">
                <a:solidFill>
                  <a:srgbClr val="2E2E2E"/>
                </a:solidFill>
                <a:latin typeface="Calibri"/>
              </a:rPr>
              <a:t>The above 30-50 g/ml segment is expected to lose</a:t>
            </a:r>
          </a:p>
        </p:txBody>
      </p:sp>
      <p:pic>
        <p:nvPicPr>
          <p:cNvPr id="51" name="Picture 50" descr="lock.png"/>
          <p:cNvPicPr>
            <a:picLocks noChangeAspect="1"/>
          </p:cNvPicPr>
          <p:nvPr/>
        </p:nvPicPr>
        <p:blipFill>
          <a:blip r:embed="rId5"/>
          <a:stretch>
            <a:fillRect/>
          </a:stretch>
        </p:blipFill>
        <p:spPr>
          <a:xfrm>
            <a:off x="10836663" y="2318829"/>
            <a:ext cx="134549" cy="195707"/>
          </a:xfrm>
          <a:prstGeom prst="rect">
            <a:avLst/>
          </a:prstGeom>
        </p:spPr>
      </p:pic>
      <p:sp>
        <p:nvSpPr>
          <p:cNvPr id="52" name="TextBox 51"/>
          <p:cNvSpPr txBox="1"/>
          <p:nvPr/>
        </p:nvSpPr>
        <p:spPr>
          <a:xfrm>
            <a:off x="11011772"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3" name="TextBox 52"/>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4" name="Picture 53" descr="lock.png"/>
          <p:cNvPicPr>
            <a:picLocks noChangeAspect="1"/>
          </p:cNvPicPr>
          <p:nvPr/>
        </p:nvPicPr>
        <p:blipFill>
          <a:blip r:embed="rId5"/>
          <a:stretch>
            <a:fillRect/>
          </a:stretch>
        </p:blipFill>
        <p:spPr>
          <a:xfrm>
            <a:off x="9630324" y="2494089"/>
            <a:ext cx="134549" cy="195707"/>
          </a:xfrm>
          <a:prstGeom prst="rect">
            <a:avLst/>
          </a:prstGeom>
        </p:spPr>
      </p:pic>
      <p:sp>
        <p:nvSpPr>
          <p:cNvPr id="55" name="TextBox 54"/>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6"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Price Tier</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Price Tier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Price Tier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Price Tier,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Price Tier segment categorizes the market by price tier.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Mass Market</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Premium</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Prestige / Luxury</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Masstige</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Price Tier split shows how demand is distributed across price tier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1_178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2_506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7_8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212_6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444_0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7_6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183_4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517_6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10_9__605E5C.png"/>
          <p:cNvPicPr>
            <a:picLocks noChangeAspect="1"/>
          </p:cNvPicPr>
          <p:nvPr/>
        </p:nvPicPr>
        <p:blipFill>
          <a:blip r:embed="rId12"/>
          <a:stretch>
            <a:fillRect/>
          </a:stretch>
        </p:blipFill>
        <p:spPr>
          <a:xfrm>
            <a:off x="7534105" y="3272281"/>
            <a:ext cx="1195728" cy="361950"/>
          </a:xfrm>
          <a:prstGeom prst="rect">
            <a:avLst/>
          </a:prstGeom>
        </p:spPr>
      </p:pic>
      <p:pic>
        <p:nvPicPr>
          <p:cNvPr id="72" name="Picture 71" descr="175_8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312_8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5_9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ceramide sunscreen by price tier, prestige /</a:t>
            </a:r>
          </a:p>
        </p:txBody>
      </p:sp>
      <p:sp>
        <p:nvSpPr>
          <p:cNvPr id="80" name="TextBox 79"/>
          <p:cNvSpPr txBox="1"/>
          <p:nvPr/>
        </p:nvSpPr>
        <p:spPr>
          <a:xfrm>
            <a:off x="485775" y="4397077"/>
            <a:ext cx="2907307" cy="186689"/>
          </a:xfrm>
          <a:prstGeom prst="rect">
            <a:avLst/>
          </a:prstGeom>
          <a:noFill/>
        </p:spPr>
        <p:txBody>
          <a:bodyPr wrap="none" lIns="0" rIns="0" tIns="0" bIns="0">
            <a:spAutoFit/>
          </a:bodyPr>
          <a:lstStyle/>
          <a:p>
            <a:r>
              <a:rPr sz="1100" b="0">
                <a:solidFill>
                  <a:srgbClr val="2E2E2E"/>
                </a:solidFill>
                <a:latin typeface="Calibri"/>
              </a:rPr>
              <a:t>luxury segment is expected to witness the highest</a:t>
            </a:r>
          </a:p>
        </p:txBody>
      </p:sp>
      <p:sp>
        <p:nvSpPr>
          <p:cNvPr id="81" name="TextBox 80"/>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82" name="Picture 81" descr="lock.png"/>
          <p:cNvPicPr>
            <a:picLocks noChangeAspect="1"/>
          </p:cNvPicPr>
          <p:nvPr/>
        </p:nvPicPr>
        <p:blipFill>
          <a:blip r:embed="rId16"/>
          <a:stretch>
            <a:fillRect/>
          </a:stretch>
        </p:blipFill>
        <p:spPr>
          <a:xfrm>
            <a:off x="977131" y="4554938"/>
            <a:ext cx="128699" cy="187198"/>
          </a:xfrm>
          <a:prstGeom prst="rect">
            <a:avLst/>
          </a:prstGeom>
        </p:spPr>
      </p:pic>
      <p:sp>
        <p:nvSpPr>
          <p:cNvPr id="83" name="TextBox 82"/>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84" name="TextBox 83"/>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value share by price tier, the mass market segment</a:t>
            </a:r>
          </a:p>
        </p:txBody>
      </p:sp>
      <p:sp>
        <p:nvSpPr>
          <p:cNvPr id="85" name="TextBox 84"/>
          <p:cNvSpPr txBox="1"/>
          <p:nvPr/>
        </p:nvSpPr>
        <p:spPr>
          <a:xfrm>
            <a:off x="485775" y="4899997"/>
            <a:ext cx="2507307" cy="186689"/>
          </a:xfrm>
          <a:prstGeom prst="rect">
            <a:avLst/>
          </a:prstGeom>
          <a:noFill/>
        </p:spPr>
        <p:txBody>
          <a:bodyPr wrap="none" lIns="0" rIns="0" tIns="0" bIns="0">
            <a:spAutoFit/>
          </a:bodyPr>
          <a:lstStyle/>
          <a:p>
            <a:r>
              <a:rPr sz="1100" b="0">
                <a:solidFill>
                  <a:srgbClr val="2E2E2E"/>
                </a:solidFill>
                <a:latin typeface="Calibri"/>
              </a:rPr>
              <a:t>is expected to dominate the market, losing</a:t>
            </a:r>
          </a:p>
        </p:txBody>
      </p:sp>
      <p:pic>
        <p:nvPicPr>
          <p:cNvPr id="86" name="Picture 85" descr="lock.png"/>
          <p:cNvPicPr>
            <a:picLocks noChangeAspect="1"/>
          </p:cNvPicPr>
          <p:nvPr/>
        </p:nvPicPr>
        <p:blipFill>
          <a:blip r:embed="rId16"/>
          <a:stretch>
            <a:fillRect/>
          </a:stretch>
        </p:blipFill>
        <p:spPr>
          <a:xfrm>
            <a:off x="2941134" y="4890217"/>
            <a:ext cx="128699" cy="187198"/>
          </a:xfrm>
          <a:prstGeom prst="rect">
            <a:avLst/>
          </a:prstGeom>
        </p:spPr>
      </p:pic>
      <p:sp>
        <p:nvSpPr>
          <p:cNvPr id="87" name="TextBox 86"/>
          <p:cNvSpPr txBox="1"/>
          <p:nvPr/>
        </p:nvSpPr>
        <p:spPr>
          <a:xfrm>
            <a:off x="48577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88" name="Picture 87" descr="lock.png"/>
          <p:cNvPicPr>
            <a:picLocks noChangeAspect="1"/>
          </p:cNvPicPr>
          <p:nvPr/>
        </p:nvPicPr>
        <p:blipFill>
          <a:blip r:embed="rId16"/>
          <a:stretch>
            <a:fillRect/>
          </a:stretch>
        </p:blipFill>
        <p:spPr>
          <a:xfrm>
            <a:off x="1820259" y="5057858"/>
            <a:ext cx="128699" cy="187198"/>
          </a:xfrm>
          <a:prstGeom prst="rect">
            <a:avLst/>
          </a:prstGeom>
        </p:spPr>
      </p:pic>
      <p:sp>
        <p:nvSpPr>
          <p:cNvPr id="89" name="TextBox 88"/>
          <p:cNvSpPr txBox="1"/>
          <p:nvPr/>
        </p:nvSpPr>
        <p:spPr>
          <a:xfrm>
            <a:off x="1987755"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0" name="TextBox 89"/>
          <p:cNvSpPr txBox="1"/>
          <p:nvPr/>
        </p:nvSpPr>
        <p:spPr>
          <a:xfrm>
            <a:off x="485775" y="5285569"/>
            <a:ext cx="2652191" cy="186689"/>
          </a:xfrm>
          <a:prstGeom prst="rect">
            <a:avLst/>
          </a:prstGeom>
          <a:noFill/>
        </p:spPr>
        <p:txBody>
          <a:bodyPr wrap="none" lIns="0" rIns="0" tIns="0" bIns="0">
            <a:spAutoFit/>
          </a:bodyPr>
          <a:lstStyle/>
          <a:p>
            <a:r>
              <a:rPr sz="1100" b="0">
                <a:solidFill>
                  <a:srgbClr val="2E2E2E"/>
                </a:solidFill>
                <a:latin typeface="Calibri"/>
              </a:rPr>
              <a:t>Mass market segment is projected to register</a:t>
            </a:r>
          </a:p>
        </p:txBody>
      </p:sp>
      <p:pic>
        <p:nvPicPr>
          <p:cNvPr id="91" name="Picture 90" descr="lock.png"/>
          <p:cNvPicPr>
            <a:picLocks noChangeAspect="1"/>
          </p:cNvPicPr>
          <p:nvPr/>
        </p:nvPicPr>
        <p:blipFill>
          <a:blip r:embed="rId16"/>
          <a:stretch>
            <a:fillRect/>
          </a:stretch>
        </p:blipFill>
        <p:spPr>
          <a:xfrm>
            <a:off x="472307" y="5443430"/>
            <a:ext cx="128699" cy="187198"/>
          </a:xfrm>
          <a:prstGeom prst="rect">
            <a:avLst/>
          </a:prstGeom>
        </p:spPr>
      </p:pic>
      <p:sp>
        <p:nvSpPr>
          <p:cNvPr id="92" name="TextBox 91"/>
          <p:cNvSpPr txBox="1"/>
          <p:nvPr/>
        </p:nvSpPr>
        <p:spPr>
          <a:xfrm>
            <a:off x="639803" y="5453209"/>
            <a:ext cx="2657102" cy="186689"/>
          </a:xfrm>
          <a:prstGeom prst="rect">
            <a:avLst/>
          </a:prstGeom>
          <a:noFill/>
        </p:spPr>
        <p:txBody>
          <a:bodyPr wrap="none" lIns="0" rIns="0" tIns="0" bIns="0">
            <a:spAutoFit/>
          </a:bodyPr>
          <a:lstStyle/>
          <a:p>
            <a:r>
              <a:rPr sz="1100" b="0">
                <a:solidFill>
                  <a:srgbClr val="2E2E2E"/>
                </a:solidFill>
                <a:latin typeface="Calibri"/>
              </a:rPr>
              <a:t>X higher value than prestige / luxury segment</a:t>
            </a:r>
          </a:p>
        </p:txBody>
      </p:sp>
      <p:sp>
        <p:nvSpPr>
          <p:cNvPr id="93" name="TextBox 92"/>
          <p:cNvSpPr txBox="1"/>
          <p:nvPr/>
        </p:nvSpPr>
        <p:spPr>
          <a:xfrm>
            <a:off x="485775" y="5620849"/>
            <a:ext cx="532407" cy="186689"/>
          </a:xfrm>
          <a:prstGeom prst="rect">
            <a:avLst/>
          </a:prstGeom>
          <a:noFill/>
        </p:spPr>
        <p:txBody>
          <a:bodyPr wrap="none" lIns="0" rIns="0" tIns="0" bIns="0">
            <a:spAutoFit/>
          </a:bodyPr>
          <a:lstStyle/>
          <a:p>
            <a:r>
              <a:rPr sz="1100" b="0">
                <a:solidFill>
                  <a:srgbClr val="2E2E2E"/>
                </a:solidFill>
                <a:latin typeface="Calibri"/>
              </a:rPr>
              <a:t>in 2036.</a:t>
            </a:r>
          </a:p>
        </p:txBody>
      </p:sp>
      <p:sp>
        <p:nvSpPr>
          <p:cNvPr id="94" name="TextBox 93"/>
          <p:cNvSpPr txBox="1"/>
          <p:nvPr/>
        </p:nvSpPr>
        <p:spPr>
          <a:xfrm>
            <a:off x="3838575" y="4229437"/>
            <a:ext cx="971971" cy="186689"/>
          </a:xfrm>
          <a:prstGeom prst="rect">
            <a:avLst/>
          </a:prstGeom>
          <a:noFill/>
        </p:spPr>
        <p:txBody>
          <a:bodyPr wrap="none" lIns="0" rIns="0" tIns="0" bIns="0">
            <a:spAutoFit/>
          </a:bodyPr>
          <a:lstStyle/>
          <a:p>
            <a:r>
              <a:rPr sz="1100" b="0">
                <a:solidFill>
                  <a:srgbClr val="2E2E2E"/>
                </a:solidFill>
                <a:latin typeface="Calibri"/>
              </a:rPr>
              <a:t>● Mass Market:</a:t>
            </a:r>
          </a:p>
        </p:txBody>
      </p:sp>
      <p:pic>
        <p:nvPicPr>
          <p:cNvPr id="95" name="Picture 94" descr="lock.png"/>
          <p:cNvPicPr>
            <a:picLocks noChangeAspect="1"/>
          </p:cNvPicPr>
          <p:nvPr/>
        </p:nvPicPr>
        <p:blipFill>
          <a:blip r:embed="rId16"/>
          <a:stretch>
            <a:fillRect/>
          </a:stretch>
        </p:blipFill>
        <p:spPr>
          <a:xfrm>
            <a:off x="4758598" y="4219658"/>
            <a:ext cx="128699" cy="187198"/>
          </a:xfrm>
          <a:prstGeom prst="rect">
            <a:avLst/>
          </a:prstGeom>
        </p:spPr>
      </p:pic>
      <p:sp>
        <p:nvSpPr>
          <p:cNvPr id="96" name="TextBox 95"/>
          <p:cNvSpPr txBox="1"/>
          <p:nvPr/>
        </p:nvSpPr>
        <p:spPr>
          <a:xfrm>
            <a:off x="492609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7" name="Picture 96" descr="lock.png"/>
          <p:cNvPicPr>
            <a:picLocks noChangeAspect="1"/>
          </p:cNvPicPr>
          <p:nvPr/>
        </p:nvPicPr>
        <p:blipFill>
          <a:blip r:embed="rId16"/>
          <a:stretch>
            <a:fillRect/>
          </a:stretch>
        </p:blipFill>
        <p:spPr>
          <a:xfrm>
            <a:off x="5785544" y="4219658"/>
            <a:ext cx="128699" cy="187198"/>
          </a:xfrm>
          <a:prstGeom prst="rect">
            <a:avLst/>
          </a:prstGeom>
        </p:spPr>
      </p:pic>
      <p:sp>
        <p:nvSpPr>
          <p:cNvPr id="98" name="TextBox 97"/>
          <p:cNvSpPr txBox="1"/>
          <p:nvPr/>
        </p:nvSpPr>
        <p:spPr>
          <a:xfrm>
            <a:off x="5953040"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9" name="TextBox 98"/>
          <p:cNvSpPr txBox="1"/>
          <p:nvPr/>
        </p:nvSpPr>
        <p:spPr>
          <a:xfrm>
            <a:off x="3838575" y="4447369"/>
            <a:ext cx="749051" cy="186689"/>
          </a:xfrm>
          <a:prstGeom prst="rect">
            <a:avLst/>
          </a:prstGeom>
          <a:noFill/>
        </p:spPr>
        <p:txBody>
          <a:bodyPr wrap="none" lIns="0" rIns="0" tIns="0" bIns="0">
            <a:spAutoFit/>
          </a:bodyPr>
          <a:lstStyle/>
          <a:p>
            <a:r>
              <a:rPr sz="1100" b="0">
                <a:solidFill>
                  <a:srgbClr val="2E2E2E"/>
                </a:solidFill>
                <a:latin typeface="Calibri"/>
              </a:rPr>
              <a:t>● Premium:</a:t>
            </a:r>
          </a:p>
        </p:txBody>
      </p:sp>
      <p:pic>
        <p:nvPicPr>
          <p:cNvPr id="100" name="Picture 99" descr="lock.png"/>
          <p:cNvPicPr>
            <a:picLocks noChangeAspect="1"/>
          </p:cNvPicPr>
          <p:nvPr/>
        </p:nvPicPr>
        <p:blipFill>
          <a:blip r:embed="rId16"/>
          <a:stretch>
            <a:fillRect/>
          </a:stretch>
        </p:blipFill>
        <p:spPr>
          <a:xfrm>
            <a:off x="4535678" y="4437590"/>
            <a:ext cx="128699" cy="187198"/>
          </a:xfrm>
          <a:prstGeom prst="rect">
            <a:avLst/>
          </a:prstGeom>
        </p:spPr>
      </p:pic>
      <p:sp>
        <p:nvSpPr>
          <p:cNvPr id="101" name="TextBox 100"/>
          <p:cNvSpPr txBox="1"/>
          <p:nvPr/>
        </p:nvSpPr>
        <p:spPr>
          <a:xfrm>
            <a:off x="4703174"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2" name="Picture 101" descr="lock.png"/>
          <p:cNvPicPr>
            <a:picLocks noChangeAspect="1"/>
          </p:cNvPicPr>
          <p:nvPr/>
        </p:nvPicPr>
        <p:blipFill>
          <a:blip r:embed="rId16"/>
          <a:stretch>
            <a:fillRect/>
          </a:stretch>
        </p:blipFill>
        <p:spPr>
          <a:xfrm>
            <a:off x="5562624" y="4437590"/>
            <a:ext cx="128699" cy="187198"/>
          </a:xfrm>
          <a:prstGeom prst="rect">
            <a:avLst/>
          </a:prstGeom>
        </p:spPr>
      </p:pic>
      <p:sp>
        <p:nvSpPr>
          <p:cNvPr id="103" name="TextBox 102"/>
          <p:cNvSpPr txBox="1"/>
          <p:nvPr/>
        </p:nvSpPr>
        <p:spPr>
          <a:xfrm>
            <a:off x="5730120"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4" name="TextBox 103"/>
          <p:cNvSpPr txBox="1"/>
          <p:nvPr/>
        </p:nvSpPr>
        <p:spPr>
          <a:xfrm>
            <a:off x="3838575" y="4665301"/>
            <a:ext cx="1184795" cy="186689"/>
          </a:xfrm>
          <a:prstGeom prst="rect">
            <a:avLst/>
          </a:prstGeom>
          <a:noFill/>
        </p:spPr>
        <p:txBody>
          <a:bodyPr wrap="none" lIns="0" rIns="0" tIns="0" bIns="0">
            <a:spAutoFit/>
          </a:bodyPr>
          <a:lstStyle/>
          <a:p>
            <a:r>
              <a:rPr sz="1100" b="0">
                <a:solidFill>
                  <a:srgbClr val="2E2E2E"/>
                </a:solidFill>
                <a:latin typeface="Calibri"/>
              </a:rPr>
              <a:t>● Prestige / Luxury:</a:t>
            </a:r>
          </a:p>
        </p:txBody>
      </p:sp>
      <p:pic>
        <p:nvPicPr>
          <p:cNvPr id="105" name="Picture 104" descr="lock.png"/>
          <p:cNvPicPr>
            <a:picLocks noChangeAspect="1"/>
          </p:cNvPicPr>
          <p:nvPr/>
        </p:nvPicPr>
        <p:blipFill>
          <a:blip r:embed="rId16"/>
          <a:stretch>
            <a:fillRect/>
          </a:stretch>
        </p:blipFill>
        <p:spPr>
          <a:xfrm>
            <a:off x="4971422" y="4655522"/>
            <a:ext cx="128699" cy="187198"/>
          </a:xfrm>
          <a:prstGeom prst="rect">
            <a:avLst/>
          </a:prstGeom>
        </p:spPr>
      </p:pic>
      <p:sp>
        <p:nvSpPr>
          <p:cNvPr id="106" name="TextBox 105"/>
          <p:cNvSpPr txBox="1"/>
          <p:nvPr/>
        </p:nvSpPr>
        <p:spPr>
          <a:xfrm>
            <a:off x="513891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5998368" y="4655522"/>
            <a:ext cx="128699" cy="187198"/>
          </a:xfrm>
          <a:prstGeom prst="rect">
            <a:avLst/>
          </a:prstGeom>
        </p:spPr>
      </p:pic>
      <p:sp>
        <p:nvSpPr>
          <p:cNvPr id="108" name="TextBox 107"/>
          <p:cNvSpPr txBox="1"/>
          <p:nvPr/>
        </p:nvSpPr>
        <p:spPr>
          <a:xfrm>
            <a:off x="6165864"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09" name="TextBox 108"/>
          <p:cNvSpPr txBox="1"/>
          <p:nvPr/>
        </p:nvSpPr>
        <p:spPr>
          <a:xfrm>
            <a:off x="3838575" y="4883233"/>
            <a:ext cx="739502" cy="186689"/>
          </a:xfrm>
          <a:prstGeom prst="rect">
            <a:avLst/>
          </a:prstGeom>
          <a:noFill/>
        </p:spPr>
        <p:txBody>
          <a:bodyPr wrap="none" lIns="0" rIns="0" tIns="0" bIns="0">
            <a:spAutoFit/>
          </a:bodyPr>
          <a:lstStyle/>
          <a:p>
            <a:r>
              <a:rPr sz="1100" b="0">
                <a:solidFill>
                  <a:srgbClr val="2E2E2E"/>
                </a:solidFill>
                <a:latin typeface="Calibri"/>
              </a:rPr>
              <a:t>● Masstige:</a:t>
            </a:r>
          </a:p>
        </p:txBody>
      </p:sp>
      <p:pic>
        <p:nvPicPr>
          <p:cNvPr id="110" name="Picture 109" descr="lock.png"/>
          <p:cNvPicPr>
            <a:picLocks noChangeAspect="1"/>
          </p:cNvPicPr>
          <p:nvPr/>
        </p:nvPicPr>
        <p:blipFill>
          <a:blip r:embed="rId16"/>
          <a:stretch>
            <a:fillRect/>
          </a:stretch>
        </p:blipFill>
        <p:spPr>
          <a:xfrm>
            <a:off x="4526128" y="4873454"/>
            <a:ext cx="128699" cy="187198"/>
          </a:xfrm>
          <a:prstGeom prst="rect">
            <a:avLst/>
          </a:prstGeom>
        </p:spPr>
      </p:pic>
      <p:sp>
        <p:nvSpPr>
          <p:cNvPr id="111" name="TextBox 110"/>
          <p:cNvSpPr txBox="1"/>
          <p:nvPr/>
        </p:nvSpPr>
        <p:spPr>
          <a:xfrm>
            <a:off x="4693624"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2" name="Picture 111" descr="lock.png"/>
          <p:cNvPicPr>
            <a:picLocks noChangeAspect="1"/>
          </p:cNvPicPr>
          <p:nvPr/>
        </p:nvPicPr>
        <p:blipFill>
          <a:blip r:embed="rId16"/>
          <a:stretch>
            <a:fillRect/>
          </a:stretch>
        </p:blipFill>
        <p:spPr>
          <a:xfrm>
            <a:off x="5553074" y="4873454"/>
            <a:ext cx="128699" cy="187198"/>
          </a:xfrm>
          <a:prstGeom prst="rect">
            <a:avLst/>
          </a:prstGeom>
        </p:spPr>
      </p:pic>
      <p:sp>
        <p:nvSpPr>
          <p:cNvPr id="113" name="TextBox 112"/>
          <p:cNvSpPr txBox="1"/>
          <p:nvPr/>
        </p:nvSpPr>
        <p:spPr>
          <a:xfrm>
            <a:off x="5720570"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4" name="TextBox 113"/>
          <p:cNvSpPr txBox="1"/>
          <p:nvPr/>
        </p:nvSpPr>
        <p:spPr>
          <a:xfrm>
            <a:off x="8524875" y="5842641"/>
            <a:ext cx="2966392" cy="194310"/>
          </a:xfrm>
          <a:prstGeom prst="rect">
            <a:avLst/>
          </a:prstGeom>
          <a:noFill/>
        </p:spPr>
        <p:txBody>
          <a:bodyPr wrap="none" lIns="0" rIns="0" tIns="0" bIns="0">
            <a:spAutoFit/>
          </a:bodyPr>
          <a:lstStyle/>
          <a:p>
            <a:r>
              <a:rPr sz="1150" b="1">
                <a:solidFill>
                  <a:srgbClr val="0B2E4A"/>
                </a:solidFill>
                <a:latin typeface="Calibri"/>
              </a:rPr>
              <a:t>The Price Tier segment is projected to grow at a</a:t>
            </a:r>
          </a:p>
        </p:txBody>
      </p:sp>
      <p:sp>
        <p:nvSpPr>
          <p:cNvPr id="115" name="TextBox 11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16" name="Picture 115" descr="lock.png"/>
          <p:cNvPicPr>
            <a:picLocks noChangeAspect="1"/>
          </p:cNvPicPr>
          <p:nvPr/>
        </p:nvPicPr>
        <p:blipFill>
          <a:blip r:embed="rId16"/>
          <a:stretch>
            <a:fillRect/>
          </a:stretch>
        </p:blipFill>
        <p:spPr>
          <a:xfrm>
            <a:off x="9048826" y="6007677"/>
            <a:ext cx="134549" cy="195707"/>
          </a:xfrm>
          <a:prstGeom prst="rect">
            <a:avLst/>
          </a:prstGeom>
        </p:spPr>
      </p:pic>
      <p:sp>
        <p:nvSpPr>
          <p:cNvPr id="117" name="TextBox 11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Price Tier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Tier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Price Tier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Price Tier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95720" cy="186689"/>
          </a:xfrm>
          <a:prstGeom prst="rect">
            <a:avLst/>
          </a:prstGeom>
          <a:noFill/>
        </p:spPr>
        <p:txBody>
          <a:bodyPr wrap="none" lIns="0" rIns="0" tIns="0" bIns="0">
            <a:spAutoFit/>
          </a:bodyPr>
          <a:lstStyle/>
          <a:p>
            <a:r>
              <a:rPr sz="1100" b="0">
                <a:solidFill>
                  <a:srgbClr val="2E2E2E"/>
                </a:solidFill>
                <a:latin typeface="Calibri"/>
              </a:rPr>
              <a:t>Mass market followed by prestige / luxury are expected to be the two most attractive price tier segments in the global ceramide sunscreen market in terms of value over the forecast period. Mass market</a:t>
            </a:r>
          </a:p>
        </p:txBody>
      </p:sp>
      <p:sp>
        <p:nvSpPr>
          <p:cNvPr id="20" name="TextBox 19"/>
          <p:cNvSpPr txBox="1"/>
          <p:nvPr/>
        </p:nvSpPr>
        <p:spPr>
          <a:xfrm>
            <a:off x="257175" y="5945505"/>
            <a:ext cx="2609336" cy="186689"/>
          </a:xfrm>
          <a:prstGeom prst="rect">
            <a:avLst/>
          </a:prstGeom>
          <a:noFill/>
        </p:spPr>
        <p:txBody>
          <a:bodyPr wrap="none" lIns="0" rIns="0" tIns="0" bIns="0">
            <a:spAutoFit/>
          </a:bodyPr>
          <a:lstStyle/>
          <a:p>
            <a:r>
              <a:rPr sz="1100" b="0">
                <a:solidFill>
                  <a:srgbClr val="2E2E2E"/>
                </a:solidFill>
                <a:latin typeface="Calibri"/>
              </a:rPr>
              <a:t>and prestige / luxury exhibit a CAGR index of</a:t>
            </a:r>
          </a:p>
        </p:txBody>
      </p:sp>
      <p:pic>
        <p:nvPicPr>
          <p:cNvPr id="21" name="Picture 20" descr="lock.png"/>
          <p:cNvPicPr>
            <a:picLocks noChangeAspect="1"/>
          </p:cNvPicPr>
          <p:nvPr/>
        </p:nvPicPr>
        <p:blipFill>
          <a:blip r:embed="rId6"/>
          <a:stretch>
            <a:fillRect/>
          </a:stretch>
        </p:blipFill>
        <p:spPr>
          <a:xfrm>
            <a:off x="2814563" y="5935726"/>
            <a:ext cx="128699" cy="187198"/>
          </a:xfrm>
          <a:prstGeom prst="rect">
            <a:avLst/>
          </a:prstGeom>
        </p:spPr>
      </p:pic>
      <p:sp>
        <p:nvSpPr>
          <p:cNvPr id="22" name="TextBox 21"/>
          <p:cNvSpPr txBox="1"/>
          <p:nvPr/>
        </p:nvSpPr>
        <p:spPr>
          <a:xfrm>
            <a:off x="2982059"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219953" y="5935726"/>
            <a:ext cx="128699" cy="187198"/>
          </a:xfrm>
          <a:prstGeom prst="rect">
            <a:avLst/>
          </a:prstGeom>
        </p:spPr>
      </p:pic>
      <p:sp>
        <p:nvSpPr>
          <p:cNvPr id="24" name="TextBox 23"/>
          <p:cNvSpPr txBox="1"/>
          <p:nvPr/>
        </p:nvSpPr>
        <p:spPr>
          <a:xfrm>
            <a:off x="3387449"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4996422" y="5935726"/>
            <a:ext cx="128699" cy="187198"/>
          </a:xfrm>
          <a:prstGeom prst="rect">
            <a:avLst/>
          </a:prstGeom>
        </p:spPr>
      </p:pic>
      <p:sp>
        <p:nvSpPr>
          <p:cNvPr id="26" name="TextBox 25"/>
          <p:cNvSpPr txBox="1"/>
          <p:nvPr/>
        </p:nvSpPr>
        <p:spPr>
          <a:xfrm>
            <a:off x="516391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401813" y="5935726"/>
            <a:ext cx="128699" cy="187198"/>
          </a:xfrm>
          <a:prstGeom prst="rect">
            <a:avLst/>
          </a:prstGeom>
        </p:spPr>
      </p:pic>
      <p:sp>
        <p:nvSpPr>
          <p:cNvPr id="28" name="TextBox 27"/>
          <p:cNvSpPr txBox="1"/>
          <p:nvPr/>
        </p:nvSpPr>
        <p:spPr>
          <a:xfrm>
            <a:off x="5569308"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123713" y="5935726"/>
            <a:ext cx="128699" cy="187198"/>
          </a:xfrm>
          <a:prstGeom prst="rect">
            <a:avLst/>
          </a:prstGeom>
        </p:spPr>
      </p:pic>
      <p:sp>
        <p:nvSpPr>
          <p:cNvPr id="30" name="TextBox 29"/>
          <p:cNvSpPr txBox="1"/>
          <p:nvPr/>
        </p:nvSpPr>
        <p:spPr>
          <a:xfrm>
            <a:off x="8291208" y="5945505"/>
            <a:ext cx="2652737" cy="186689"/>
          </a:xfrm>
          <a:prstGeom prst="rect">
            <a:avLst/>
          </a:prstGeom>
          <a:noFill/>
        </p:spPr>
        <p:txBody>
          <a:bodyPr wrap="none" lIns="0" rIns="0" tIns="0" bIns="0">
            <a:spAutoFit/>
          </a:bodyPr>
          <a:lstStyle/>
          <a:p>
            <a:r>
              <a:rPr sz="1100" b="0">
                <a:solidFill>
                  <a:srgbClr val="2E2E2E"/>
                </a:solidFill>
                <a:latin typeface="Calibri"/>
              </a:rPr>
              <a:t>. The masstige segment is expected to be less</a:t>
            </a:r>
          </a:p>
        </p:txBody>
      </p:sp>
      <p:sp>
        <p:nvSpPr>
          <p:cNvPr id="31" name="TextBox 30"/>
          <p:cNvSpPr txBox="1"/>
          <p:nvPr/>
        </p:nvSpPr>
        <p:spPr>
          <a:xfrm>
            <a:off x="257175" y="6113145"/>
            <a:ext cx="11338386" cy="186689"/>
          </a:xfrm>
          <a:prstGeom prst="rect">
            <a:avLst/>
          </a:prstGeom>
          <a:noFill/>
        </p:spPr>
        <p:txBody>
          <a:bodyPr wrap="none" lIns="0" rIns="0" t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Price Tier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Price Tier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Mass Market</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Masstige</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Premium</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Prestige / Luxury</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Price Tier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Price Tier,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Price Tier (US$ Mn)</a:t>
            </a:r>
          </a:p>
        </p:txBody>
      </p:sp>
      <p:graphicFrame>
        <p:nvGraphicFramePr>
          <p:cNvPr id="12" name="Table 11"/>
          <p:cNvGraphicFramePr>
            <a:graphicFrameLocks noGrp="1"/>
          </p:cNvGraphicFramePr>
          <p:nvPr/>
        </p:nvGraphicFramePr>
        <p:xfrm>
          <a:off x="152400" y="1238250"/>
          <a:ext cx="11887201" cy="1485896"/>
        </p:xfrm>
        <a:graphic>
          <a:graphicData uri="http://schemas.openxmlformats.org/drawingml/2006/table">
            <a:tbl>
              <a:tblPr>
                <a:tableStyleId>{5C22544A-7EE6-4342-B048-85BDC9FD1C3A}</a:tableStyleId>
              </a:tblPr>
              <a:tblGrid>
                <a:gridCol w="1264445"/>
                <a:gridCol w="624868"/>
                <a:gridCol w="624868"/>
                <a:gridCol w="624868"/>
                <a:gridCol w="624868"/>
                <a:gridCol w="624868"/>
                <a:gridCol w="624868"/>
                <a:gridCol w="624868"/>
                <a:gridCol w="624868"/>
                <a:gridCol w="624868"/>
                <a:gridCol w="624868"/>
                <a:gridCol w="624868"/>
                <a:gridCol w="624868"/>
                <a:gridCol w="624868"/>
                <a:gridCol w="624868"/>
                <a:gridCol w="624868"/>
                <a:gridCol w="624868"/>
                <a:gridCol w="624868"/>
              </a:tblGrid>
              <a:tr h="246126">
                <a:tc>
                  <a:txBody>
                    <a:bodyPr wrap="none"/>
                    <a:lstStyle/>
                    <a:p>
                      <a:pPr algn="l"/>
                      <a:r>
                        <a:rPr sz="1100" b="1">
                          <a:solidFill>
                            <a:srgbClr val="0B2E4A"/>
                          </a:solidFill>
                          <a:latin typeface="Calibri"/>
                        </a:rPr>
                        <a:t>Price Tier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Mass Market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Masstige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Prestige / Luxury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Price Tier</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41532" y="1837563"/>
            <a:ext cx="366712" cy="533400"/>
          </a:xfrm>
          <a:prstGeom prst="rect">
            <a:avLst/>
          </a:prstGeom>
        </p:spPr>
      </p:pic>
      <p:sp>
        <p:nvSpPr>
          <p:cNvPr id="20" name="TextBox 19"/>
          <p:cNvSpPr txBox="1"/>
          <p:nvPr/>
        </p:nvSpPr>
        <p:spPr>
          <a:xfrm>
            <a:off x="276225" y="3486150"/>
            <a:ext cx="2769282" cy="194310"/>
          </a:xfrm>
          <a:prstGeom prst="rect">
            <a:avLst/>
          </a:prstGeom>
          <a:noFill/>
        </p:spPr>
        <p:txBody>
          <a:bodyPr wrap="none" lIns="0" rIns="0" tIns="0" bIns="0">
            <a:spAutoFit/>
          </a:bodyPr>
          <a:lstStyle/>
          <a:p>
            <a:r>
              <a:rPr sz="1150" b="0">
                <a:solidFill>
                  <a:srgbClr val="2E2E2E"/>
                </a:solidFill>
                <a:latin typeface="Calibri"/>
              </a:rPr>
              <a:t>Mass market segment is projected to register</a:t>
            </a:r>
          </a:p>
        </p:txBody>
      </p:sp>
      <p:pic>
        <p:nvPicPr>
          <p:cNvPr id="21" name="Picture 20" descr="lock.png"/>
          <p:cNvPicPr>
            <a:picLocks noChangeAspect="1"/>
          </p:cNvPicPr>
          <p:nvPr/>
        </p:nvPicPr>
        <p:blipFill>
          <a:blip r:embed="rId4"/>
          <a:stretch>
            <a:fillRect/>
          </a:stretch>
        </p:blipFill>
        <p:spPr>
          <a:xfrm>
            <a:off x="2994661" y="3475926"/>
            <a:ext cx="134549" cy="195707"/>
          </a:xfrm>
          <a:prstGeom prst="rect">
            <a:avLst/>
          </a:prstGeom>
        </p:spPr>
      </p:pic>
      <p:sp>
        <p:nvSpPr>
          <p:cNvPr id="22" name="TextBox 21"/>
          <p:cNvSpPr txBox="1"/>
          <p:nvPr/>
        </p:nvSpPr>
        <p:spPr>
          <a:xfrm>
            <a:off x="3169770" y="3486150"/>
            <a:ext cx="8644656" cy="194310"/>
          </a:xfrm>
          <a:prstGeom prst="rect">
            <a:avLst/>
          </a:prstGeom>
          <a:noFill/>
        </p:spPr>
        <p:txBody>
          <a:bodyPr wrap="none" lIns="0" rIns="0" tIns="0" bIns="0">
            <a:spAutoFit/>
          </a:bodyPr>
          <a:lstStyle/>
          <a:p>
            <a:r>
              <a:rPr sz="1150" b="0">
                <a:solidFill>
                  <a:srgbClr val="2E2E2E"/>
                </a:solidFill>
                <a:latin typeface="Calibri"/>
              </a:rPr>
              <a:t>X higher value than prestige / luxury segment in 2036. Among ceramide sunscreen by price tier, prestige / luxury segment is expected to witness</a:t>
            </a:r>
          </a:p>
        </p:txBody>
      </p:sp>
      <p:sp>
        <p:nvSpPr>
          <p:cNvPr id="23" name="TextBox 22"/>
          <p:cNvSpPr txBox="1"/>
          <p:nvPr/>
        </p:nvSpPr>
        <p:spPr>
          <a:xfrm>
            <a:off x="276225" y="3661410"/>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3651186"/>
            <a:ext cx="134549" cy="195707"/>
          </a:xfrm>
          <a:prstGeom prst="rect">
            <a:avLst/>
          </a:prstGeom>
        </p:spPr>
      </p:pic>
      <p:sp>
        <p:nvSpPr>
          <p:cNvPr id="25" name="TextBox 24"/>
          <p:cNvSpPr txBox="1"/>
          <p:nvPr/>
        </p:nvSpPr>
        <p:spPr>
          <a:xfrm>
            <a:off x="1664467"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6363766" cy="194310"/>
          </a:xfrm>
          <a:prstGeom prst="rect">
            <a:avLst/>
          </a:prstGeom>
          <a:noFill/>
        </p:spPr>
        <p:txBody>
          <a:bodyPr wrap="none" lIns="0" rIns="0" tIns="0" bIns="0">
            <a:spAutoFit/>
          </a:bodyPr>
          <a:lstStyle/>
          <a:p>
            <a:r>
              <a:rPr sz="1150" b="0">
                <a:solidFill>
                  <a:srgbClr val="2E2E2E"/>
                </a:solidFill>
                <a:latin typeface="Calibri"/>
              </a:rPr>
              <a:t>In terms of value share by price tier, the mass market segment is expected to dominate the market, losing</a:t>
            </a:r>
          </a:p>
        </p:txBody>
      </p:sp>
      <p:pic>
        <p:nvPicPr>
          <p:cNvPr id="27" name="Picture 26" descr="lock.png"/>
          <p:cNvPicPr>
            <a:picLocks noChangeAspect="1"/>
          </p:cNvPicPr>
          <p:nvPr/>
        </p:nvPicPr>
        <p:blipFill>
          <a:blip r:embed="rId4"/>
          <a:stretch>
            <a:fillRect/>
          </a:stretch>
        </p:blipFill>
        <p:spPr>
          <a:xfrm>
            <a:off x="6589145" y="3879024"/>
            <a:ext cx="134549" cy="195707"/>
          </a:xfrm>
          <a:prstGeom prst="rect">
            <a:avLst/>
          </a:prstGeom>
        </p:spPr>
      </p:pic>
      <p:sp>
        <p:nvSpPr>
          <p:cNvPr id="28" name="TextBox 27"/>
          <p:cNvSpPr txBox="1"/>
          <p:nvPr/>
        </p:nvSpPr>
        <p:spPr>
          <a:xfrm>
            <a:off x="6764254"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159398" y="3879024"/>
            <a:ext cx="134549" cy="195707"/>
          </a:xfrm>
          <a:prstGeom prst="rect">
            <a:avLst/>
          </a:prstGeom>
        </p:spPr>
      </p:pic>
      <p:sp>
        <p:nvSpPr>
          <p:cNvPr id="30" name="TextBox 29"/>
          <p:cNvSpPr txBox="1"/>
          <p:nvPr/>
        </p:nvSpPr>
        <p:spPr>
          <a:xfrm>
            <a:off x="8334507" y="3889247"/>
            <a:ext cx="3166926" cy="194310"/>
          </a:xfrm>
          <a:prstGeom prst="rect">
            <a:avLst/>
          </a:prstGeom>
          <a:noFill/>
        </p:spPr>
        <p:txBody>
          <a:bodyPr wrap="none" lIns="0" rIns="0" tIns="0" bIns="0">
            <a:spAutoFit/>
          </a:bodyPr>
          <a:lstStyle/>
          <a:p>
            <a:r>
              <a:rPr sz="1150" b="0">
                <a:solidFill>
                  <a:srgbClr val="2E2E2E"/>
                </a:solidFill>
                <a:latin typeface="Calibri"/>
              </a:rPr>
              <a:t>share by 2036. The masstige segment is expected to</a:t>
            </a:r>
          </a:p>
        </p:txBody>
      </p:sp>
      <p:sp>
        <p:nvSpPr>
          <p:cNvPr id="31" name="TextBox 30"/>
          <p:cNvSpPr txBox="1"/>
          <p:nvPr/>
        </p:nvSpPr>
        <p:spPr>
          <a:xfrm>
            <a:off x="276225" y="406450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4054284"/>
            <a:ext cx="134549" cy="195707"/>
          </a:xfrm>
          <a:prstGeom prst="rect">
            <a:avLst/>
          </a:prstGeom>
        </p:spPr>
      </p:pic>
      <p:sp>
        <p:nvSpPr>
          <p:cNvPr id="33" name="TextBox 32"/>
          <p:cNvSpPr txBox="1"/>
          <p:nvPr/>
        </p:nvSpPr>
        <p:spPr>
          <a:xfrm>
            <a:off x="717157"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4054284"/>
            <a:ext cx="134549" cy="195707"/>
          </a:xfrm>
          <a:prstGeom prst="rect">
            <a:avLst/>
          </a:prstGeom>
        </p:spPr>
      </p:pic>
      <p:sp>
        <p:nvSpPr>
          <p:cNvPr id="35" name="TextBox 34"/>
          <p:cNvSpPr txBox="1"/>
          <p:nvPr/>
        </p:nvSpPr>
        <p:spPr>
          <a:xfrm>
            <a:off x="3479771"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Price Tier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Price Tier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Price Tier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70263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69787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2167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Masstige</a:t>
            </a:r>
          </a:p>
        </p:txBody>
      </p:sp>
      <p:sp>
        <p:nvSpPr>
          <p:cNvPr id="18" name="BPS Value 1"/>
          <p:cNvSpPr txBox="1"/>
          <p:nvPr/>
        </p:nvSpPr>
        <p:spPr>
          <a:xfrm>
            <a:off x="6896100" y="168358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17678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17202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09582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Premium</a:t>
            </a:r>
          </a:p>
        </p:txBody>
      </p:sp>
      <p:sp>
        <p:nvSpPr>
          <p:cNvPr id="22" name="BPS Value 2"/>
          <p:cNvSpPr txBox="1"/>
          <p:nvPr/>
        </p:nvSpPr>
        <p:spPr>
          <a:xfrm>
            <a:off x="6896100" y="215773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77929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7745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6983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Prestige / Luxury</a:t>
            </a:r>
          </a:p>
        </p:txBody>
      </p:sp>
      <p:sp>
        <p:nvSpPr>
          <p:cNvPr id="26" name="BPS Value 3"/>
          <p:cNvSpPr txBox="1"/>
          <p:nvPr/>
        </p:nvSpPr>
        <p:spPr>
          <a:xfrm>
            <a:off x="6896100" y="27602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467362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466886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59266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Mass Market</a:t>
            </a:r>
          </a:p>
        </p:txBody>
      </p:sp>
      <p:sp>
        <p:nvSpPr>
          <p:cNvPr id="30" name="BPS Value 4"/>
          <p:cNvSpPr txBox="1"/>
          <p:nvPr/>
        </p:nvSpPr>
        <p:spPr>
          <a:xfrm>
            <a:off x="6896100" y="46545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Price Tier</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751325"/>
            <a:ext cx="275034" cy="400050"/>
          </a:xfrm>
          <a:prstGeom prst="rect">
            <a:avLst/>
          </a:prstGeom>
        </p:spPr>
      </p:pic>
      <p:sp>
        <p:nvSpPr>
          <p:cNvPr id="37" name="TextBox 36"/>
          <p:cNvSpPr txBox="1"/>
          <p:nvPr/>
        </p:nvSpPr>
        <p:spPr>
          <a:xfrm>
            <a:off x="7829550" y="1400175"/>
            <a:ext cx="4057488" cy="194310"/>
          </a:xfrm>
          <a:prstGeom prst="rect">
            <a:avLst/>
          </a:prstGeom>
          <a:noFill/>
        </p:spPr>
        <p:txBody>
          <a:bodyPr wrap="none" lIns="0" rIns="0" tIns="0" bIns="0">
            <a:spAutoFit/>
          </a:bodyPr>
          <a:lstStyle/>
          <a:p>
            <a:r>
              <a:rPr sz="1150" b="0">
                <a:solidFill>
                  <a:srgbClr val="2E2E2E"/>
                </a:solidFill>
                <a:latin typeface="Calibri"/>
              </a:rPr>
              <a:t>Among ceramide sunscreen by price tier, prestige / luxury segment</a:t>
            </a:r>
          </a:p>
        </p:txBody>
      </p:sp>
      <p:sp>
        <p:nvSpPr>
          <p:cNvPr id="38" name="TextBox 37"/>
          <p:cNvSpPr txBox="1"/>
          <p:nvPr/>
        </p:nvSpPr>
        <p:spPr>
          <a:xfrm>
            <a:off x="7829550" y="157543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39" name="Picture 38" descr="lock.png"/>
          <p:cNvPicPr>
            <a:picLocks noChangeAspect="1"/>
          </p:cNvPicPr>
          <p:nvPr/>
        </p:nvPicPr>
        <p:blipFill>
          <a:blip r:embed="rId5"/>
          <a:stretch>
            <a:fillRect/>
          </a:stretch>
        </p:blipFill>
        <p:spPr>
          <a:xfrm>
            <a:off x="10388511" y="1565211"/>
            <a:ext cx="134549" cy="195707"/>
          </a:xfrm>
          <a:prstGeom prst="rect">
            <a:avLst/>
          </a:prstGeom>
        </p:spPr>
      </p:pic>
      <p:sp>
        <p:nvSpPr>
          <p:cNvPr id="40" name="TextBox 39"/>
          <p:cNvSpPr txBox="1"/>
          <p:nvPr/>
        </p:nvSpPr>
        <p:spPr>
          <a:xfrm>
            <a:off x="105636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1" name="TextBox 40"/>
          <p:cNvSpPr txBox="1"/>
          <p:nvPr/>
        </p:nvSpPr>
        <p:spPr>
          <a:xfrm>
            <a:off x="7829550" y="1750695"/>
            <a:ext cx="3700065" cy="194310"/>
          </a:xfrm>
          <a:prstGeom prst="rect">
            <a:avLst/>
          </a:prstGeom>
          <a:noFill/>
        </p:spPr>
        <p:txBody>
          <a:bodyPr wrap="none" lIns="0" rIns="0" tIns="0" bIns="0">
            <a:spAutoFit/>
          </a:bodyPr>
          <a:lstStyle/>
          <a:p>
            <a:r>
              <a:rPr sz="1150" b="0">
                <a:solidFill>
                  <a:srgbClr val="2E2E2E"/>
                </a:solidFill>
                <a:latin typeface="Calibri"/>
              </a:rPr>
              <a:t>period. In terms of value share by price tier, the mass market</a:t>
            </a:r>
          </a:p>
        </p:txBody>
      </p:sp>
      <p:sp>
        <p:nvSpPr>
          <p:cNvPr id="42" name="TextBox 41"/>
          <p:cNvSpPr txBox="1"/>
          <p:nvPr/>
        </p:nvSpPr>
        <p:spPr>
          <a:xfrm>
            <a:off x="7829550" y="1925955"/>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43" name="Picture 42" descr="lock.png"/>
          <p:cNvPicPr>
            <a:picLocks noChangeAspect="1"/>
          </p:cNvPicPr>
          <p:nvPr/>
        </p:nvPicPr>
        <p:blipFill>
          <a:blip r:embed="rId5"/>
          <a:stretch>
            <a:fillRect/>
          </a:stretch>
        </p:blipFill>
        <p:spPr>
          <a:xfrm>
            <a:off x="10943347" y="1915731"/>
            <a:ext cx="134549" cy="195707"/>
          </a:xfrm>
          <a:prstGeom prst="rect">
            <a:avLst/>
          </a:prstGeom>
        </p:spPr>
      </p:pic>
      <p:sp>
        <p:nvSpPr>
          <p:cNvPr id="44" name="TextBox 43"/>
          <p:cNvSpPr txBox="1"/>
          <p:nvPr/>
        </p:nvSpPr>
        <p:spPr>
          <a:xfrm>
            <a:off x="11118457"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5" name="TextBox 44"/>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6" name="Picture 45" descr="lock.png"/>
          <p:cNvPicPr>
            <a:picLocks noChangeAspect="1"/>
          </p:cNvPicPr>
          <p:nvPr/>
        </p:nvPicPr>
        <p:blipFill>
          <a:blip r:embed="rId5"/>
          <a:stretch>
            <a:fillRect/>
          </a:stretch>
        </p:blipFill>
        <p:spPr>
          <a:xfrm>
            <a:off x="8712947" y="2090991"/>
            <a:ext cx="134549" cy="195707"/>
          </a:xfrm>
          <a:prstGeom prst="rect">
            <a:avLst/>
          </a:prstGeom>
        </p:spPr>
      </p:pic>
      <p:sp>
        <p:nvSpPr>
          <p:cNvPr id="47" name="TextBox 46"/>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TextBox 47"/>
          <p:cNvSpPr txBox="1"/>
          <p:nvPr/>
        </p:nvSpPr>
        <p:spPr>
          <a:xfrm>
            <a:off x="7829550" y="2329053"/>
            <a:ext cx="2537370" cy="194310"/>
          </a:xfrm>
          <a:prstGeom prst="rect">
            <a:avLst/>
          </a:prstGeom>
          <a:noFill/>
        </p:spPr>
        <p:txBody>
          <a:bodyPr wrap="none" lIns="0" rIns="0" tIns="0" bIns="0">
            <a:spAutoFit/>
          </a:bodyPr>
          <a:lstStyle/>
          <a:p>
            <a:r>
              <a:rPr sz="1150" b="0">
                <a:solidFill>
                  <a:srgbClr val="2E2E2E"/>
                </a:solidFill>
                <a:latin typeface="Calibri"/>
              </a:rPr>
              <a:t>The masstige segment is expected to lose</a:t>
            </a:r>
          </a:p>
        </p:txBody>
      </p:sp>
      <p:pic>
        <p:nvPicPr>
          <p:cNvPr id="49" name="Picture 48" descr="lock.png"/>
          <p:cNvPicPr>
            <a:picLocks noChangeAspect="1"/>
          </p:cNvPicPr>
          <p:nvPr/>
        </p:nvPicPr>
        <p:blipFill>
          <a:blip r:embed="rId5"/>
          <a:stretch>
            <a:fillRect/>
          </a:stretch>
        </p:blipFill>
        <p:spPr>
          <a:xfrm>
            <a:off x="10316074" y="2318829"/>
            <a:ext cx="134549" cy="195707"/>
          </a:xfrm>
          <a:prstGeom prst="rect">
            <a:avLst/>
          </a:prstGeom>
        </p:spPr>
      </p:pic>
      <p:sp>
        <p:nvSpPr>
          <p:cNvPr id="50" name="TextBox 49"/>
          <p:cNvSpPr txBox="1"/>
          <p:nvPr/>
        </p:nvSpPr>
        <p:spPr>
          <a:xfrm>
            <a:off x="10491183"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51" name="TextBox 50"/>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52" name="Picture 51" descr="lock.png"/>
          <p:cNvPicPr>
            <a:picLocks noChangeAspect="1"/>
          </p:cNvPicPr>
          <p:nvPr/>
        </p:nvPicPr>
        <p:blipFill>
          <a:blip r:embed="rId5"/>
          <a:stretch>
            <a:fillRect/>
          </a:stretch>
        </p:blipFill>
        <p:spPr>
          <a:xfrm>
            <a:off x="9114014" y="2494089"/>
            <a:ext cx="134549" cy="195707"/>
          </a:xfrm>
          <a:prstGeom prst="rect">
            <a:avLst/>
          </a:prstGeom>
        </p:spPr>
      </p:pic>
      <p:sp>
        <p:nvSpPr>
          <p:cNvPr id="53" name="TextBox 52"/>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4"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Sales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Offline</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1_158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2_632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8_6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591_6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1_148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6_9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644824" cy="186689"/>
          </a:xfrm>
          <a:prstGeom prst="rect">
            <a:avLst/>
          </a:prstGeom>
          <a:noFill/>
        </p:spPr>
        <p:txBody>
          <a:bodyPr wrap="none" lIns="0" rIns="0" tIns="0" bIns="0">
            <a:spAutoFit/>
          </a:bodyPr>
          <a:lstStyle/>
          <a:p>
            <a:r>
              <a:rPr sz="1100" b="0">
                <a:solidFill>
                  <a:srgbClr val="2E2E2E"/>
                </a:solidFill>
                <a:latin typeface="Calibri"/>
              </a:rPr>
              <a:t>Among ceramide sunscreen by sales channel,</a:t>
            </a:r>
          </a:p>
        </p:txBody>
      </p:sp>
      <p:sp>
        <p:nvSpPr>
          <p:cNvPr id="58" name="TextBox 57"/>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offline segment is expected to witness the highest</a:t>
            </a:r>
          </a:p>
        </p:txBody>
      </p:sp>
      <p:sp>
        <p:nvSpPr>
          <p:cNvPr id="59" name="TextBox 58"/>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60" name="Picture 59" descr="lock.png"/>
          <p:cNvPicPr>
            <a:picLocks noChangeAspect="1"/>
          </p:cNvPicPr>
          <p:nvPr/>
        </p:nvPicPr>
        <p:blipFill>
          <a:blip r:embed="rId10"/>
          <a:stretch>
            <a:fillRect/>
          </a:stretch>
        </p:blipFill>
        <p:spPr>
          <a:xfrm>
            <a:off x="977131" y="4554938"/>
            <a:ext cx="128699" cy="187198"/>
          </a:xfrm>
          <a:prstGeom prst="rect">
            <a:avLst/>
          </a:prstGeom>
        </p:spPr>
      </p:pic>
      <p:sp>
        <p:nvSpPr>
          <p:cNvPr id="61" name="TextBox 60"/>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62" name="TextBox 61"/>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value share by sales channel, the offline segment is</a:t>
            </a:r>
          </a:p>
        </p:txBody>
      </p:sp>
      <p:sp>
        <p:nvSpPr>
          <p:cNvPr id="63" name="TextBox 62"/>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64" name="Picture 63" descr="lock.png"/>
          <p:cNvPicPr>
            <a:picLocks noChangeAspect="1"/>
          </p:cNvPicPr>
          <p:nvPr/>
        </p:nvPicPr>
        <p:blipFill>
          <a:blip r:embed="rId10"/>
          <a:stretch>
            <a:fillRect/>
          </a:stretch>
        </p:blipFill>
        <p:spPr>
          <a:xfrm>
            <a:off x="2900479" y="4890217"/>
            <a:ext cx="128699" cy="187198"/>
          </a:xfrm>
          <a:prstGeom prst="rect">
            <a:avLst/>
          </a:prstGeom>
        </p:spPr>
      </p:pic>
      <p:sp>
        <p:nvSpPr>
          <p:cNvPr id="65" name="TextBox 64"/>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66" name="TextBox 65"/>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67" name="Picture 66" descr="lock.png"/>
          <p:cNvPicPr>
            <a:picLocks noChangeAspect="1"/>
          </p:cNvPicPr>
          <p:nvPr/>
        </p:nvPicPr>
        <p:blipFill>
          <a:blip r:embed="rId10"/>
          <a:stretch>
            <a:fillRect/>
          </a:stretch>
        </p:blipFill>
        <p:spPr>
          <a:xfrm>
            <a:off x="1576057" y="5057858"/>
            <a:ext cx="128699" cy="187198"/>
          </a:xfrm>
          <a:prstGeom prst="rect">
            <a:avLst/>
          </a:prstGeom>
        </p:spPr>
      </p:pic>
      <p:sp>
        <p:nvSpPr>
          <p:cNvPr id="68" name="TextBox 67"/>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9" name="TextBox 68"/>
          <p:cNvSpPr txBox="1"/>
          <p:nvPr/>
        </p:nvSpPr>
        <p:spPr>
          <a:xfrm>
            <a:off x="485775" y="5285569"/>
            <a:ext cx="2302668" cy="186689"/>
          </a:xfrm>
          <a:prstGeom prst="rect">
            <a:avLst/>
          </a:prstGeom>
          <a:noFill/>
        </p:spPr>
        <p:txBody>
          <a:bodyPr wrap="none" lIns="0" rIns="0" tIns="0" bIns="0">
            <a:spAutoFit/>
          </a:bodyPr>
          <a:lstStyle/>
          <a:p>
            <a:r>
              <a:rPr sz="1100" b="0">
                <a:solidFill>
                  <a:srgbClr val="2E2E2E"/>
                </a:solidFill>
                <a:latin typeface="Calibri"/>
              </a:rPr>
              <a:t>Offline segment is projected to register</a:t>
            </a:r>
          </a:p>
        </p:txBody>
      </p:sp>
      <p:pic>
        <p:nvPicPr>
          <p:cNvPr id="70" name="Picture 69" descr="lock.png"/>
          <p:cNvPicPr>
            <a:picLocks noChangeAspect="1"/>
          </p:cNvPicPr>
          <p:nvPr/>
        </p:nvPicPr>
        <p:blipFill>
          <a:blip r:embed="rId10"/>
          <a:stretch>
            <a:fillRect/>
          </a:stretch>
        </p:blipFill>
        <p:spPr>
          <a:xfrm>
            <a:off x="2736495" y="5275790"/>
            <a:ext cx="128699" cy="187198"/>
          </a:xfrm>
          <a:prstGeom prst="rect">
            <a:avLst/>
          </a:prstGeom>
        </p:spPr>
      </p:pic>
      <p:sp>
        <p:nvSpPr>
          <p:cNvPr id="71" name="TextBox 70"/>
          <p:cNvSpPr txBox="1"/>
          <p:nvPr/>
        </p:nvSpPr>
        <p:spPr>
          <a:xfrm>
            <a:off x="2903991"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72" name="TextBox 71"/>
          <p:cNvSpPr txBox="1"/>
          <p:nvPr/>
        </p:nvSpPr>
        <p:spPr>
          <a:xfrm>
            <a:off x="485775" y="5453209"/>
            <a:ext cx="2465288" cy="186689"/>
          </a:xfrm>
          <a:prstGeom prst="rect">
            <a:avLst/>
          </a:prstGeom>
          <a:noFill/>
        </p:spPr>
        <p:txBody>
          <a:bodyPr wrap="none" lIns="0" rIns="0" tIns="0" bIns="0">
            <a:spAutoFit/>
          </a:bodyPr>
          <a:lstStyle/>
          <a:p>
            <a:r>
              <a:rPr sz="1100" b="0">
                <a:solidFill>
                  <a:srgbClr val="2E2E2E"/>
                </a:solidFill>
                <a:latin typeface="Calibri"/>
              </a:rPr>
              <a:t>higher value than online segment in 2036.</a:t>
            </a:r>
          </a:p>
        </p:txBody>
      </p:sp>
      <p:sp>
        <p:nvSpPr>
          <p:cNvPr id="73" name="TextBox 72"/>
          <p:cNvSpPr txBox="1"/>
          <p:nvPr/>
        </p:nvSpPr>
        <p:spPr>
          <a:xfrm>
            <a:off x="3838575" y="4229437"/>
            <a:ext cx="614536" cy="186689"/>
          </a:xfrm>
          <a:prstGeom prst="rect">
            <a:avLst/>
          </a:prstGeom>
          <a:noFill/>
        </p:spPr>
        <p:txBody>
          <a:bodyPr wrap="none" lIns="0" rIns="0" tIns="0" bIns="0">
            <a:spAutoFit/>
          </a:bodyPr>
          <a:lstStyle/>
          <a:p>
            <a:r>
              <a:rPr sz="1100" b="0">
                <a:solidFill>
                  <a:srgbClr val="2E2E2E"/>
                </a:solidFill>
                <a:latin typeface="Calibri"/>
              </a:rPr>
              <a:t>● Offline:</a:t>
            </a:r>
          </a:p>
        </p:txBody>
      </p:sp>
      <p:pic>
        <p:nvPicPr>
          <p:cNvPr id="74" name="Picture 73" descr="lock.png"/>
          <p:cNvPicPr>
            <a:picLocks noChangeAspect="1"/>
          </p:cNvPicPr>
          <p:nvPr/>
        </p:nvPicPr>
        <p:blipFill>
          <a:blip r:embed="rId10"/>
          <a:stretch>
            <a:fillRect/>
          </a:stretch>
        </p:blipFill>
        <p:spPr>
          <a:xfrm>
            <a:off x="4401162" y="4219658"/>
            <a:ext cx="128699" cy="187198"/>
          </a:xfrm>
          <a:prstGeom prst="rect">
            <a:avLst/>
          </a:prstGeom>
        </p:spPr>
      </p:pic>
      <p:sp>
        <p:nvSpPr>
          <p:cNvPr id="75" name="TextBox 74"/>
          <p:cNvSpPr txBox="1"/>
          <p:nvPr/>
        </p:nvSpPr>
        <p:spPr>
          <a:xfrm>
            <a:off x="456865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6" name="Picture 75" descr="lock.png"/>
          <p:cNvPicPr>
            <a:picLocks noChangeAspect="1"/>
          </p:cNvPicPr>
          <p:nvPr/>
        </p:nvPicPr>
        <p:blipFill>
          <a:blip r:embed="rId10"/>
          <a:stretch>
            <a:fillRect/>
          </a:stretch>
        </p:blipFill>
        <p:spPr>
          <a:xfrm>
            <a:off x="5428108" y="4219658"/>
            <a:ext cx="128699" cy="187198"/>
          </a:xfrm>
          <a:prstGeom prst="rect">
            <a:avLst/>
          </a:prstGeom>
        </p:spPr>
      </p:pic>
      <p:sp>
        <p:nvSpPr>
          <p:cNvPr id="77" name="TextBox 76"/>
          <p:cNvSpPr txBox="1"/>
          <p:nvPr/>
        </p:nvSpPr>
        <p:spPr>
          <a:xfrm>
            <a:off x="5595604"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78" name="TextBox 77"/>
          <p:cNvSpPr txBox="1"/>
          <p:nvPr/>
        </p:nvSpPr>
        <p:spPr>
          <a:xfrm>
            <a:off x="3838575" y="4447369"/>
            <a:ext cx="602803" cy="186689"/>
          </a:xfrm>
          <a:prstGeom prst="rect">
            <a:avLst/>
          </a:prstGeom>
          <a:noFill/>
        </p:spPr>
        <p:txBody>
          <a:bodyPr wrap="none" lIns="0" rIns="0" tIns="0" bIns="0">
            <a:spAutoFit/>
          </a:bodyPr>
          <a:lstStyle/>
          <a:p>
            <a:r>
              <a:rPr sz="1100" b="0">
                <a:solidFill>
                  <a:srgbClr val="2E2E2E"/>
                </a:solidFill>
                <a:latin typeface="Calibri"/>
              </a:rPr>
              <a:t>● Online:</a:t>
            </a:r>
          </a:p>
        </p:txBody>
      </p:sp>
      <p:pic>
        <p:nvPicPr>
          <p:cNvPr id="79" name="Picture 78" descr="lock.png"/>
          <p:cNvPicPr>
            <a:picLocks noChangeAspect="1"/>
          </p:cNvPicPr>
          <p:nvPr/>
        </p:nvPicPr>
        <p:blipFill>
          <a:blip r:embed="rId10"/>
          <a:stretch>
            <a:fillRect/>
          </a:stretch>
        </p:blipFill>
        <p:spPr>
          <a:xfrm>
            <a:off x="4389430" y="4437590"/>
            <a:ext cx="128699" cy="187198"/>
          </a:xfrm>
          <a:prstGeom prst="rect">
            <a:avLst/>
          </a:prstGeom>
        </p:spPr>
      </p:pic>
      <p:sp>
        <p:nvSpPr>
          <p:cNvPr id="80" name="TextBox 79"/>
          <p:cNvSpPr txBox="1"/>
          <p:nvPr/>
        </p:nvSpPr>
        <p:spPr>
          <a:xfrm>
            <a:off x="455692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1" name="Picture 80" descr="lock.png"/>
          <p:cNvPicPr>
            <a:picLocks noChangeAspect="1"/>
          </p:cNvPicPr>
          <p:nvPr/>
        </p:nvPicPr>
        <p:blipFill>
          <a:blip r:embed="rId10"/>
          <a:stretch>
            <a:fillRect/>
          </a:stretch>
        </p:blipFill>
        <p:spPr>
          <a:xfrm>
            <a:off x="5416376" y="4437590"/>
            <a:ext cx="128699" cy="187198"/>
          </a:xfrm>
          <a:prstGeom prst="rect">
            <a:avLst/>
          </a:prstGeom>
        </p:spPr>
      </p:pic>
      <p:sp>
        <p:nvSpPr>
          <p:cNvPr id="82" name="TextBox 81"/>
          <p:cNvSpPr txBox="1"/>
          <p:nvPr/>
        </p:nvSpPr>
        <p:spPr>
          <a:xfrm>
            <a:off x="5583871"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3" name="TextBox 82"/>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84" name="TextBox 83"/>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5" name="Picture 84" descr="lock.png"/>
          <p:cNvPicPr>
            <a:picLocks noChangeAspect="1"/>
          </p:cNvPicPr>
          <p:nvPr/>
        </p:nvPicPr>
        <p:blipFill>
          <a:blip r:embed="rId10"/>
          <a:stretch>
            <a:fillRect/>
          </a:stretch>
        </p:blipFill>
        <p:spPr>
          <a:xfrm>
            <a:off x="9048826" y="6007677"/>
            <a:ext cx="134549" cy="195707"/>
          </a:xfrm>
          <a:prstGeom prst="rect">
            <a:avLst/>
          </a:prstGeom>
        </p:spPr>
      </p:pic>
      <p:sp>
        <p:nvSpPr>
          <p:cNvPr id="86" name="TextBox 85"/>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861685"/>
            <a:ext cx="11677650" cy="186689"/>
          </a:xfrm>
          <a:prstGeom prst="rect">
            <a:avLst/>
          </a:prstGeom>
          <a:noFill/>
        </p:spPr>
        <p:txBody>
          <a:bodyPr wrap="none" lIns="0" rIns="0" tIns="0" bIns="0">
            <a:spAutoFit/>
          </a:bodyPr>
          <a:lstStyle/>
          <a:p>
            <a:r>
              <a:rPr sz="1100" b="0">
                <a:solidFill>
                  <a:srgbClr val="2E2E2E"/>
                </a:solidFill>
                <a:latin typeface="Calibri"/>
              </a:rPr>
              <a:t>Offline followed by online are expected to be the two most attractive sales channel segments in the global ceramide sunscreen market in terms of value over the forecast period. Offline and online exhibit a</a:t>
            </a:r>
          </a:p>
        </p:txBody>
      </p:sp>
      <p:sp>
        <p:nvSpPr>
          <p:cNvPr id="20" name="TextBox 19"/>
          <p:cNvSpPr txBox="1"/>
          <p:nvPr/>
        </p:nvSpPr>
        <p:spPr>
          <a:xfrm>
            <a:off x="257175" y="6029325"/>
            <a:ext cx="884096" cy="186689"/>
          </a:xfrm>
          <a:prstGeom prst="rect">
            <a:avLst/>
          </a:prstGeom>
          <a:noFill/>
        </p:spPr>
        <p:txBody>
          <a:bodyPr wrap="none" lIns="0" rIns="0" tIns="0" bIns="0">
            <a:spAutoFit/>
          </a:bodyPr>
          <a:lstStyle/>
          <a:p>
            <a:r>
              <a:rPr sz="1100" b="0">
                <a:solidFill>
                  <a:srgbClr val="2E2E2E"/>
                </a:solidFill>
                <a:latin typeface="Calibri"/>
              </a:rPr>
              <a:t>CAGR index of</a:t>
            </a:r>
          </a:p>
        </p:txBody>
      </p:sp>
      <p:pic>
        <p:nvPicPr>
          <p:cNvPr id="21" name="Picture 20" descr="lock.png"/>
          <p:cNvPicPr>
            <a:picLocks noChangeAspect="1"/>
          </p:cNvPicPr>
          <p:nvPr/>
        </p:nvPicPr>
        <p:blipFill>
          <a:blip r:embed="rId6"/>
          <a:stretch>
            <a:fillRect/>
          </a:stretch>
        </p:blipFill>
        <p:spPr>
          <a:xfrm>
            <a:off x="1089323" y="6019545"/>
            <a:ext cx="128699" cy="187198"/>
          </a:xfrm>
          <a:prstGeom prst="rect">
            <a:avLst/>
          </a:prstGeom>
        </p:spPr>
      </p:pic>
      <p:sp>
        <p:nvSpPr>
          <p:cNvPr id="22" name="TextBox 21"/>
          <p:cNvSpPr txBox="1"/>
          <p:nvPr/>
        </p:nvSpPr>
        <p:spPr>
          <a:xfrm>
            <a:off x="1256818" y="602932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1494713" y="6019545"/>
            <a:ext cx="128699" cy="187198"/>
          </a:xfrm>
          <a:prstGeom prst="rect">
            <a:avLst/>
          </a:prstGeom>
        </p:spPr>
      </p:pic>
      <p:sp>
        <p:nvSpPr>
          <p:cNvPr id="24" name="TextBox 23"/>
          <p:cNvSpPr txBox="1"/>
          <p:nvPr/>
        </p:nvSpPr>
        <p:spPr>
          <a:xfrm>
            <a:off x="1662209" y="602932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271182" y="6019545"/>
            <a:ext cx="128699" cy="187198"/>
          </a:xfrm>
          <a:prstGeom prst="rect">
            <a:avLst/>
          </a:prstGeom>
        </p:spPr>
      </p:pic>
      <p:sp>
        <p:nvSpPr>
          <p:cNvPr id="26" name="TextBox 25"/>
          <p:cNvSpPr txBox="1"/>
          <p:nvPr/>
        </p:nvSpPr>
        <p:spPr>
          <a:xfrm>
            <a:off x="3438678" y="602932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3676572" y="6019545"/>
            <a:ext cx="128699" cy="187198"/>
          </a:xfrm>
          <a:prstGeom prst="rect">
            <a:avLst/>
          </a:prstGeom>
        </p:spPr>
      </p:pic>
      <p:sp>
        <p:nvSpPr>
          <p:cNvPr id="28" name="TextBox 27"/>
          <p:cNvSpPr txBox="1"/>
          <p:nvPr/>
        </p:nvSpPr>
        <p:spPr>
          <a:xfrm>
            <a:off x="3844068"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398472" y="6019545"/>
            <a:ext cx="128699" cy="187198"/>
          </a:xfrm>
          <a:prstGeom prst="rect">
            <a:avLst/>
          </a:prstGeom>
        </p:spPr>
      </p:pic>
      <p:sp>
        <p:nvSpPr>
          <p:cNvPr id="30" name="TextBox 29"/>
          <p:cNvSpPr txBox="1"/>
          <p:nvPr/>
        </p:nvSpPr>
        <p:spPr>
          <a:xfrm>
            <a:off x="6565968" y="602932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1"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Online</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Offline</a:t>
            </a:r>
          </a:p>
        </p:txBody>
      </p:sp>
      <p:graphicFrame>
        <p:nvGraphicFramePr>
          <p:cNvPr id="15" name="Chart 14"/>
          <p:cNvGraphicFramePr>
            <a:graphicFrameLocks noGrp="1"/>
          </p:cNvGraphicFramePr>
          <p:nvPr/>
        </p:nvGraphicFramePr>
        <p:xfrm>
          <a:off x="6267450" y="1266825"/>
          <a:ext cx="5686425" cy="53054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4059" y="3583939"/>
            <a:ext cx="402511" cy="585471"/>
          </a:xfrm>
          <a:prstGeom prst="rect">
            <a:avLst/>
          </a:prstGeom>
        </p:spPr>
      </p:pic>
      <p:pic>
        <p:nvPicPr>
          <p:cNvPr id="18" name="Picture 17" descr="lock.png"/>
          <p:cNvPicPr>
            <a:picLocks noChangeAspect="1"/>
          </p:cNvPicPr>
          <p:nvPr/>
        </p:nvPicPr>
        <p:blipFill>
          <a:blip r:embed="rId6"/>
          <a:stretch>
            <a:fillRect/>
          </a:stretch>
        </p:blipFill>
        <p:spPr>
          <a:xfrm>
            <a:off x="9053384" y="3583939"/>
            <a:ext cx="402511" cy="585471"/>
          </a:xfrm>
          <a:prstGeom prst="rect">
            <a:avLst/>
          </a:prstGeom>
        </p:spPr>
      </p:pic>
      <p:sp>
        <p:nvSpPr>
          <p:cNvPr id="19"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3429000"/>
          </a:xfrm>
          <a:prstGeom prst="roundRect">
            <a:avLst>
              <a:gd name="adj" fmla="val 222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Sales Channel (US$ Mn)</a:t>
            </a:r>
          </a:p>
        </p:txBody>
      </p:sp>
      <p:graphicFrame>
        <p:nvGraphicFramePr>
          <p:cNvPr id="12" name="Table 11"/>
          <p:cNvGraphicFramePr>
            <a:graphicFrameLocks noGrp="1"/>
          </p:cNvGraphicFramePr>
          <p:nvPr/>
        </p:nvGraphicFramePr>
        <p:xfrm>
          <a:off x="152400" y="1238250"/>
          <a:ext cx="11887194" cy="2962279"/>
        </p:xfrm>
        <a:graphic>
          <a:graphicData uri="http://schemas.openxmlformats.org/drawingml/2006/table">
            <a:tbl>
              <a:tblPr>
                <a:tableStyleId>{5C22544A-7EE6-4342-B048-85BDC9FD1C3A}</a:tableStyleId>
              </a:tblPr>
              <a:tblGrid>
                <a:gridCol w="2815433"/>
                <a:gridCol w="544927"/>
                <a:gridCol w="544927"/>
                <a:gridCol w="544927"/>
                <a:gridCol w="544927"/>
                <a:gridCol w="544927"/>
                <a:gridCol w="525732"/>
                <a:gridCol w="520247"/>
                <a:gridCol w="520247"/>
                <a:gridCol w="520247"/>
                <a:gridCol w="520247"/>
                <a:gridCol w="520247"/>
                <a:gridCol w="520247"/>
                <a:gridCol w="520247"/>
                <a:gridCol w="520247"/>
                <a:gridCol w="520247"/>
                <a:gridCol w="520247"/>
                <a:gridCol w="618924"/>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923">
                <a:tc>
                  <a:txBody>
                    <a:bodyPr wrap="none"/>
                    <a:lstStyle/>
                    <a:p>
                      <a:pPr algn="l"/>
                      <a:r>
                        <a:rPr sz="1100" b="1">
                          <a:solidFill>
                            <a:srgbClr val="2E2E2E"/>
                          </a:solidFill>
                          <a:latin typeface="Calibri"/>
                        </a:rPr>
                        <a:t>Online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Brand-owned E-commerce Websites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 Third-party E-commerce Marketplaces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Online Pharmacies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Offline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Supermarkets &amp; Hypermarkets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 Pharmacies &amp; Drugstores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Beauty &amp; Cosmetics Specialty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 Department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Dermatology Clinics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210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543425"/>
            <a:ext cx="11906250" cy="2085975"/>
          </a:xfrm>
          <a:prstGeom prst="roundRect">
            <a:avLst>
              <a:gd name="adj" fmla="val 36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6291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Sales Channel</a:t>
            </a:r>
          </a:p>
        </p:txBody>
      </p:sp>
      <p:sp>
        <p:nvSpPr>
          <p:cNvPr id="16" name="Rectangle 15"/>
          <p:cNvSpPr/>
          <p:nvPr/>
        </p:nvSpPr>
        <p:spPr>
          <a:xfrm>
            <a:off x="276225" y="48672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953000"/>
            <a:ext cx="11639550" cy="16002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17023" y="2575752"/>
            <a:ext cx="366712" cy="533400"/>
          </a:xfrm>
          <a:prstGeom prst="rect">
            <a:avLst/>
          </a:prstGeom>
        </p:spPr>
      </p:pic>
      <p:sp>
        <p:nvSpPr>
          <p:cNvPr id="20" name="TextBox 19"/>
          <p:cNvSpPr txBox="1"/>
          <p:nvPr/>
        </p:nvSpPr>
        <p:spPr>
          <a:xfrm>
            <a:off x="276225" y="4962525"/>
            <a:ext cx="2403871" cy="194310"/>
          </a:xfrm>
          <a:prstGeom prst="rect">
            <a:avLst/>
          </a:prstGeom>
          <a:noFill/>
        </p:spPr>
        <p:txBody>
          <a:bodyPr wrap="none" lIns="0" rIns="0" tIns="0" bIns="0">
            <a:spAutoFit/>
          </a:bodyPr>
          <a:lstStyle/>
          <a:p>
            <a:r>
              <a:rPr sz="1150" b="0">
                <a:solidFill>
                  <a:srgbClr val="2E2E2E"/>
                </a:solidFill>
                <a:latin typeface="Calibri"/>
              </a:rPr>
              <a:t>Offline segment is projected to register</a:t>
            </a:r>
          </a:p>
        </p:txBody>
      </p:sp>
      <p:pic>
        <p:nvPicPr>
          <p:cNvPr id="21" name="Picture 20" descr="lock.png"/>
          <p:cNvPicPr>
            <a:picLocks noChangeAspect="1"/>
          </p:cNvPicPr>
          <p:nvPr/>
        </p:nvPicPr>
        <p:blipFill>
          <a:blip r:embed="rId4"/>
          <a:stretch>
            <a:fillRect/>
          </a:stretch>
        </p:blipFill>
        <p:spPr>
          <a:xfrm>
            <a:off x="2629250" y="4952301"/>
            <a:ext cx="134549" cy="195707"/>
          </a:xfrm>
          <a:prstGeom prst="rect">
            <a:avLst/>
          </a:prstGeom>
        </p:spPr>
      </p:pic>
      <p:sp>
        <p:nvSpPr>
          <p:cNvPr id="22" name="TextBox 21"/>
          <p:cNvSpPr txBox="1"/>
          <p:nvPr/>
        </p:nvSpPr>
        <p:spPr>
          <a:xfrm>
            <a:off x="2804360" y="4962525"/>
            <a:ext cx="8930748" cy="194310"/>
          </a:xfrm>
          <a:prstGeom prst="rect">
            <a:avLst/>
          </a:prstGeom>
          <a:noFill/>
        </p:spPr>
        <p:txBody>
          <a:bodyPr wrap="none" lIns="0" rIns="0" tIns="0" bIns="0">
            <a:spAutoFit/>
          </a:bodyPr>
          <a:lstStyle/>
          <a:p>
            <a:r>
              <a:rPr sz="1150" b="0">
                <a:solidFill>
                  <a:srgbClr val="2E2E2E"/>
                </a:solidFill>
                <a:latin typeface="Calibri"/>
              </a:rPr>
              <a:t>X higher value than online segment in 2036. Among ceramide sunscreen by sales channel, offline segment is expected to witness the highest CAGR of</a:t>
            </a:r>
          </a:p>
        </p:txBody>
      </p:sp>
      <p:pic>
        <p:nvPicPr>
          <p:cNvPr id="23" name="Picture 22" descr="lock.png"/>
          <p:cNvPicPr>
            <a:picLocks noChangeAspect="1"/>
          </p:cNvPicPr>
          <p:nvPr/>
        </p:nvPicPr>
        <p:blipFill>
          <a:blip r:embed="rId4"/>
          <a:stretch>
            <a:fillRect/>
          </a:stretch>
        </p:blipFill>
        <p:spPr>
          <a:xfrm>
            <a:off x="262145" y="5127561"/>
            <a:ext cx="134549" cy="195707"/>
          </a:xfrm>
          <a:prstGeom prst="rect">
            <a:avLst/>
          </a:prstGeom>
        </p:spPr>
      </p:pic>
      <p:sp>
        <p:nvSpPr>
          <p:cNvPr id="24" name="TextBox 23"/>
          <p:cNvSpPr txBox="1"/>
          <p:nvPr/>
        </p:nvSpPr>
        <p:spPr>
          <a:xfrm>
            <a:off x="437254" y="51377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5365622"/>
            <a:ext cx="6324401"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offline segment is expected to dominate the market, gaining</a:t>
            </a:r>
          </a:p>
        </p:txBody>
      </p:sp>
      <p:pic>
        <p:nvPicPr>
          <p:cNvPr id="26" name="Picture 25" descr="lock.png"/>
          <p:cNvPicPr>
            <a:picLocks noChangeAspect="1"/>
          </p:cNvPicPr>
          <p:nvPr/>
        </p:nvPicPr>
        <p:blipFill>
          <a:blip r:embed="rId4"/>
          <a:stretch>
            <a:fillRect/>
          </a:stretch>
        </p:blipFill>
        <p:spPr>
          <a:xfrm>
            <a:off x="6549780" y="5355399"/>
            <a:ext cx="134549" cy="195707"/>
          </a:xfrm>
          <a:prstGeom prst="rect">
            <a:avLst/>
          </a:prstGeom>
        </p:spPr>
      </p:pic>
      <p:sp>
        <p:nvSpPr>
          <p:cNvPr id="27" name="TextBox 26"/>
          <p:cNvSpPr txBox="1"/>
          <p:nvPr/>
        </p:nvSpPr>
        <p:spPr>
          <a:xfrm>
            <a:off x="6724889" y="53656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8120032" y="5355399"/>
            <a:ext cx="134549" cy="195707"/>
          </a:xfrm>
          <a:prstGeom prst="rect">
            <a:avLst/>
          </a:prstGeom>
        </p:spPr>
      </p:pic>
      <p:sp>
        <p:nvSpPr>
          <p:cNvPr id="29" name="TextBox 28"/>
          <p:cNvSpPr txBox="1"/>
          <p:nvPr/>
        </p:nvSpPr>
        <p:spPr>
          <a:xfrm>
            <a:off x="8295142" y="5365622"/>
            <a:ext cx="3286162" cy="194310"/>
          </a:xfrm>
          <a:prstGeom prst="rect">
            <a:avLst/>
          </a:prstGeom>
          <a:noFill/>
        </p:spPr>
        <p:txBody>
          <a:bodyPr wrap="none" lIns="0" rIns="0" tIns="0" bIns="0">
            <a:spAutoFit/>
          </a:bodyPr>
          <a:lstStyle/>
          <a:p>
            <a:r>
              <a:rPr sz="1150" b="0">
                <a:solidFill>
                  <a:srgbClr val="2E2E2E"/>
                </a:solidFill>
                <a:latin typeface="Calibri"/>
              </a:rPr>
              <a:t>share by 2036. The online segment is expected to lose</a:t>
            </a:r>
          </a:p>
        </p:txBody>
      </p:sp>
      <p:pic>
        <p:nvPicPr>
          <p:cNvPr id="30" name="Picture 29" descr="lock.png"/>
          <p:cNvPicPr>
            <a:picLocks noChangeAspect="1"/>
          </p:cNvPicPr>
          <p:nvPr/>
        </p:nvPicPr>
        <p:blipFill>
          <a:blip r:embed="rId4"/>
          <a:stretch>
            <a:fillRect/>
          </a:stretch>
        </p:blipFill>
        <p:spPr>
          <a:xfrm>
            <a:off x="262145" y="5530659"/>
            <a:ext cx="134549" cy="195707"/>
          </a:xfrm>
          <a:prstGeom prst="rect">
            <a:avLst/>
          </a:prstGeom>
        </p:spPr>
      </p:pic>
      <p:sp>
        <p:nvSpPr>
          <p:cNvPr id="31" name="TextBox 30"/>
          <p:cNvSpPr txBox="1"/>
          <p:nvPr/>
        </p:nvSpPr>
        <p:spPr>
          <a:xfrm>
            <a:off x="437254" y="55408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3024759" y="5530659"/>
            <a:ext cx="134549" cy="195707"/>
          </a:xfrm>
          <a:prstGeom prst="rect">
            <a:avLst/>
          </a:prstGeom>
        </p:spPr>
      </p:pic>
      <p:sp>
        <p:nvSpPr>
          <p:cNvPr id="33" name="TextBox 32"/>
          <p:cNvSpPr txBox="1"/>
          <p:nvPr/>
        </p:nvSpPr>
        <p:spPr>
          <a:xfrm>
            <a:off x="3199868" y="55408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36535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36059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2843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a:t>
            </a:r>
          </a:p>
        </p:txBody>
      </p:sp>
      <p:sp>
        <p:nvSpPr>
          <p:cNvPr id="18" name="BPS Value 1"/>
          <p:cNvSpPr txBox="1"/>
          <p:nvPr/>
        </p:nvSpPr>
        <p:spPr>
          <a:xfrm>
            <a:off x="6896100" y="234630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465154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46467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57058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Offline</a:t>
            </a:r>
          </a:p>
        </p:txBody>
      </p:sp>
      <p:sp>
        <p:nvSpPr>
          <p:cNvPr id="22" name="BPS Value 2"/>
          <p:cNvSpPr txBox="1"/>
          <p:nvPr/>
        </p:nvSpPr>
        <p:spPr>
          <a:xfrm>
            <a:off x="6896100" y="463249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Sales Channel</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848112" cy="194310"/>
          </a:xfrm>
          <a:prstGeom prst="rect">
            <a:avLst/>
          </a:prstGeom>
          <a:noFill/>
        </p:spPr>
        <p:txBody>
          <a:bodyPr wrap="none" lIns="0" rIns="0" tIns="0" bIns="0">
            <a:spAutoFit/>
          </a:bodyPr>
          <a:lstStyle/>
          <a:p>
            <a:r>
              <a:rPr sz="1150" b="0">
                <a:solidFill>
                  <a:srgbClr val="2E2E2E"/>
                </a:solidFill>
                <a:latin typeface="Calibri"/>
              </a:rPr>
              <a:t>Among ceramide sunscreen by sales channel, offline segment is</a:t>
            </a:r>
          </a:p>
        </p:txBody>
      </p:sp>
      <p:sp>
        <p:nvSpPr>
          <p:cNvPr id="30" name="TextBox 29"/>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1" name="Picture 30" descr="lock.png"/>
          <p:cNvPicPr>
            <a:picLocks noChangeAspect="1"/>
          </p:cNvPicPr>
          <p:nvPr/>
        </p:nvPicPr>
        <p:blipFill>
          <a:blip r:embed="rId5"/>
          <a:stretch>
            <a:fillRect/>
          </a:stretch>
        </p:blipFill>
        <p:spPr>
          <a:xfrm>
            <a:off x="10264711" y="1565211"/>
            <a:ext cx="134549" cy="195707"/>
          </a:xfrm>
          <a:prstGeom prst="rect">
            <a:avLst/>
          </a:prstGeom>
        </p:spPr>
      </p:pic>
      <p:sp>
        <p:nvSpPr>
          <p:cNvPr id="32" name="TextBox 31"/>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33" name="TextBox 32"/>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period. In terms of value share by sales channel, the offline segment</a:t>
            </a:r>
          </a:p>
        </p:txBody>
      </p:sp>
      <p:sp>
        <p:nvSpPr>
          <p:cNvPr id="34" name="TextBox 33"/>
          <p:cNvSpPr txBox="1"/>
          <p:nvPr/>
        </p:nvSpPr>
        <p:spPr>
          <a:xfrm>
            <a:off x="7829550" y="1925955"/>
            <a:ext cx="2699109" cy="194310"/>
          </a:xfrm>
          <a:prstGeom prst="rect">
            <a:avLst/>
          </a:prstGeom>
          <a:noFill/>
        </p:spPr>
        <p:txBody>
          <a:bodyPr wrap="none" lIns="0" rIns="0" tIns="0" bIns="0">
            <a:spAutoFit/>
          </a:bodyPr>
          <a:lstStyle/>
          <a:p>
            <a:r>
              <a:rPr sz="1150" b="0">
                <a:solidFill>
                  <a:srgbClr val="2E2E2E"/>
                </a:solidFill>
                <a:latin typeface="Calibri"/>
              </a:rPr>
              <a:t>is expected to dominate the market, gaining</a:t>
            </a:r>
          </a:p>
        </p:txBody>
      </p:sp>
      <p:pic>
        <p:nvPicPr>
          <p:cNvPr id="35" name="Picture 34" descr="lock.png"/>
          <p:cNvPicPr>
            <a:picLocks noChangeAspect="1"/>
          </p:cNvPicPr>
          <p:nvPr/>
        </p:nvPicPr>
        <p:blipFill>
          <a:blip r:embed="rId5"/>
          <a:stretch>
            <a:fillRect/>
          </a:stretch>
        </p:blipFill>
        <p:spPr>
          <a:xfrm>
            <a:off x="10477813" y="1915731"/>
            <a:ext cx="134549" cy="195707"/>
          </a:xfrm>
          <a:prstGeom prst="rect">
            <a:avLst/>
          </a:prstGeom>
        </p:spPr>
      </p:pic>
      <p:sp>
        <p:nvSpPr>
          <p:cNvPr id="36" name="TextBox 35"/>
          <p:cNvSpPr txBox="1"/>
          <p:nvPr/>
        </p:nvSpPr>
        <p:spPr>
          <a:xfrm>
            <a:off x="10652922"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37" name="TextBox 36"/>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38" name="Picture 37" descr="lock.png"/>
          <p:cNvPicPr>
            <a:picLocks noChangeAspect="1"/>
          </p:cNvPicPr>
          <p:nvPr/>
        </p:nvPicPr>
        <p:blipFill>
          <a:blip r:embed="rId5"/>
          <a:stretch>
            <a:fillRect/>
          </a:stretch>
        </p:blipFill>
        <p:spPr>
          <a:xfrm>
            <a:off x="8712947" y="2090991"/>
            <a:ext cx="134549" cy="195707"/>
          </a:xfrm>
          <a:prstGeom prst="rect">
            <a:avLst/>
          </a:prstGeom>
        </p:spPr>
      </p:pic>
      <p:sp>
        <p:nvSpPr>
          <p:cNvPr id="39" name="TextBox 38"/>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TextBox 39"/>
          <p:cNvSpPr txBox="1"/>
          <p:nvPr/>
        </p:nvSpPr>
        <p:spPr>
          <a:xfrm>
            <a:off x="7829550" y="2329053"/>
            <a:ext cx="2383048" cy="194310"/>
          </a:xfrm>
          <a:prstGeom prst="rect">
            <a:avLst/>
          </a:prstGeom>
          <a:noFill/>
        </p:spPr>
        <p:txBody>
          <a:bodyPr wrap="none" lIns="0" rIns="0" tIns="0" bIns="0">
            <a:spAutoFit/>
          </a:bodyPr>
          <a:lstStyle/>
          <a:p>
            <a:r>
              <a:rPr sz="1150" b="0">
                <a:solidFill>
                  <a:srgbClr val="2E2E2E"/>
                </a:solidFill>
                <a:latin typeface="Calibri"/>
              </a:rPr>
              <a:t>The online segment is expected to lose</a:t>
            </a:r>
          </a:p>
        </p:txBody>
      </p:sp>
      <p:pic>
        <p:nvPicPr>
          <p:cNvPr id="41" name="Picture 40" descr="lock.png"/>
          <p:cNvPicPr>
            <a:picLocks noChangeAspect="1"/>
          </p:cNvPicPr>
          <p:nvPr/>
        </p:nvPicPr>
        <p:blipFill>
          <a:blip r:embed="rId5"/>
          <a:stretch>
            <a:fillRect/>
          </a:stretch>
        </p:blipFill>
        <p:spPr>
          <a:xfrm>
            <a:off x="10161752" y="2318829"/>
            <a:ext cx="134549" cy="195707"/>
          </a:xfrm>
          <a:prstGeom prst="rect">
            <a:avLst/>
          </a:prstGeom>
        </p:spPr>
      </p:pic>
      <p:sp>
        <p:nvSpPr>
          <p:cNvPr id="42" name="TextBox 41"/>
          <p:cNvSpPr txBox="1"/>
          <p:nvPr/>
        </p:nvSpPr>
        <p:spPr>
          <a:xfrm>
            <a:off x="10336861"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43" name="TextBox 42"/>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44" name="Picture 43" descr="lock.png"/>
          <p:cNvPicPr>
            <a:picLocks noChangeAspect="1"/>
          </p:cNvPicPr>
          <p:nvPr/>
        </p:nvPicPr>
        <p:blipFill>
          <a:blip r:embed="rId5"/>
          <a:stretch>
            <a:fillRect/>
          </a:stretch>
        </p:blipFill>
        <p:spPr>
          <a:xfrm>
            <a:off x="9114014" y="2494089"/>
            <a:ext cx="134549" cy="195707"/>
          </a:xfrm>
          <a:prstGeom prst="rect">
            <a:avLst/>
          </a:prstGeom>
        </p:spPr>
      </p:pic>
      <p:sp>
        <p:nvSpPr>
          <p:cNvPr id="45" name="TextBox 44"/>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SPF Rating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Ingredient Type ×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Form Type × End-use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Pack Size × Price Tier</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 × SPF Rating</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Type × SPF Rating,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type sub-segment across spf rating sub-segments</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Product Type × SPF Rating, 2026E and 2036F (US$ Mn)</a:t>
            </a:r>
          </a:p>
        </p:txBody>
      </p:sp>
      <p:graphicFrame>
        <p:nvGraphicFramePr>
          <p:cNvPr id="12" name="Table 11"/>
          <p:cNvGraphicFramePr>
            <a:graphicFrameLocks noGrp="1"/>
          </p:cNvGraphicFramePr>
          <p:nvPr/>
        </p:nvGraphicFramePr>
        <p:xfrm>
          <a:off x="152400" y="1238250"/>
          <a:ext cx="11887205" cy="1485896"/>
        </p:xfrm>
        <a:graphic>
          <a:graphicData uri="http://schemas.openxmlformats.org/drawingml/2006/table">
            <a:tbl>
              <a:tblPr>
                <a:tableStyleId>{5C22544A-7EE6-4342-B048-85BDC9FD1C3A}</a:tableStyleId>
              </a:tblPr>
              <a:tblGrid>
                <a:gridCol w="3439915"/>
                <a:gridCol w="844729"/>
                <a:gridCol w="844729"/>
                <a:gridCol w="844729"/>
                <a:gridCol w="844729"/>
                <a:gridCol w="844729"/>
                <a:gridCol w="844729"/>
                <a:gridCol w="844729"/>
                <a:gridCol w="844729"/>
                <a:gridCol w="844729"/>
                <a:gridCol w="844729"/>
              </a:tblGrid>
              <a:tr h="246126">
                <a:tc rowSpan="2">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Below SPF 30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SPF 30–49</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SPF 50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Above SPF 50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95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7286625"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1242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Product Type → SPF Rating, 2036F (US$ Mn)</a:t>
            </a:r>
          </a:p>
        </p:txBody>
      </p:sp>
      <p:sp>
        <p:nvSpPr>
          <p:cNvPr id="16" name="Freeform 15"/>
          <p:cNvSpPr/>
          <p:nvPr/>
        </p:nvSpPr>
        <p:spPr>
          <a:xfrm>
            <a:off x="2057400" y="3390900"/>
            <a:ext cx="3743325" cy="733425"/>
          </a:xfrm>
          <a:custGeom>
            <a:avLst/>
            <a:gdLst/>
            <a:ahLst/>
            <a:cxnLst/>
            <a:rect l="l" t="t" r="r" b="b"/>
            <a:pathLst>
              <a:path w="393" h="77">
                <a:moveTo>
                  <a:pt x="0" y="3"/>
                </a:moveTo>
                <a:lnTo>
                  <a:pt x="16" y="3"/>
                </a:lnTo>
                <a:lnTo>
                  <a:pt x="33" y="3"/>
                </a:lnTo>
                <a:lnTo>
                  <a:pt x="49" y="3"/>
                </a:lnTo>
                <a:lnTo>
                  <a:pt x="65" y="3"/>
                </a:lnTo>
                <a:lnTo>
                  <a:pt x="82" y="3"/>
                </a:lnTo>
                <a:lnTo>
                  <a:pt x="98" y="3"/>
                </a:lnTo>
                <a:lnTo>
                  <a:pt x="114" y="2"/>
                </a:lnTo>
                <a:lnTo>
                  <a:pt x="131" y="2"/>
                </a:lnTo>
                <a:lnTo>
                  <a:pt x="147" y="2"/>
                </a:lnTo>
                <a:lnTo>
                  <a:pt x="164" y="2"/>
                </a:lnTo>
                <a:lnTo>
                  <a:pt x="180" y="2"/>
                </a:lnTo>
                <a:lnTo>
                  <a:pt x="196" y="2"/>
                </a:lnTo>
                <a:lnTo>
                  <a:pt x="213" y="1"/>
                </a:lnTo>
                <a:lnTo>
                  <a:pt x="229" y="1"/>
                </a:lnTo>
                <a:lnTo>
                  <a:pt x="246" y="1"/>
                </a:lnTo>
                <a:lnTo>
                  <a:pt x="262" y="1"/>
                </a:lnTo>
                <a:lnTo>
                  <a:pt x="278" y="1"/>
                </a:lnTo>
                <a:lnTo>
                  <a:pt x="295" y="0"/>
                </a:lnTo>
                <a:lnTo>
                  <a:pt x="311" y="0"/>
                </a:lnTo>
                <a:lnTo>
                  <a:pt x="327" y="0"/>
                </a:lnTo>
                <a:lnTo>
                  <a:pt x="344" y="0"/>
                </a:lnTo>
                <a:lnTo>
                  <a:pt x="360" y="0"/>
                </a:lnTo>
                <a:lnTo>
                  <a:pt x="377" y="0"/>
                </a:lnTo>
                <a:lnTo>
                  <a:pt x="393" y="0"/>
                </a:lnTo>
                <a:lnTo>
                  <a:pt x="393" y="74"/>
                </a:lnTo>
                <a:lnTo>
                  <a:pt x="377" y="74"/>
                </a:lnTo>
                <a:lnTo>
                  <a:pt x="360" y="74"/>
                </a:lnTo>
                <a:lnTo>
                  <a:pt x="344" y="74"/>
                </a:lnTo>
                <a:lnTo>
                  <a:pt x="327" y="74"/>
                </a:lnTo>
                <a:lnTo>
                  <a:pt x="311" y="74"/>
                </a:lnTo>
                <a:lnTo>
                  <a:pt x="295" y="74"/>
                </a:lnTo>
                <a:lnTo>
                  <a:pt x="278" y="74"/>
                </a:lnTo>
                <a:lnTo>
                  <a:pt x="262" y="74"/>
                </a:lnTo>
                <a:lnTo>
                  <a:pt x="246" y="75"/>
                </a:lnTo>
                <a:lnTo>
                  <a:pt x="229" y="75"/>
                </a:lnTo>
                <a:lnTo>
                  <a:pt x="213" y="75"/>
                </a:lnTo>
                <a:lnTo>
                  <a:pt x="196" y="75"/>
                </a:lnTo>
                <a:lnTo>
                  <a:pt x="180" y="75"/>
                </a:lnTo>
                <a:lnTo>
                  <a:pt x="164" y="76"/>
                </a:lnTo>
                <a:lnTo>
                  <a:pt x="147" y="76"/>
                </a:lnTo>
                <a:lnTo>
                  <a:pt x="131" y="76"/>
                </a:lnTo>
                <a:lnTo>
                  <a:pt x="114" y="76"/>
                </a:lnTo>
                <a:lnTo>
                  <a:pt x="98" y="76"/>
                </a:lnTo>
                <a:lnTo>
                  <a:pt x="82" y="76"/>
                </a:lnTo>
                <a:lnTo>
                  <a:pt x="65" y="76"/>
                </a:lnTo>
                <a:lnTo>
                  <a:pt x="49" y="77"/>
                </a:lnTo>
                <a:lnTo>
                  <a:pt x="33" y="77"/>
                </a:lnTo>
                <a:lnTo>
                  <a:pt x="16" y="77"/>
                </a:lnTo>
                <a:lnTo>
                  <a:pt x="0" y="7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124325"/>
            <a:ext cx="3743325" cy="1028700"/>
          </a:xfrm>
          <a:custGeom>
            <a:avLst/>
            <a:gdLst/>
            <a:ahLst/>
            <a:cxnLst/>
            <a:rect l="l" t="t" r="r" b="b"/>
            <a:pathLst>
              <a:path w="393" h="108">
                <a:moveTo>
                  <a:pt x="0" y="0"/>
                </a:moveTo>
                <a:lnTo>
                  <a:pt x="16" y="0"/>
                </a:lnTo>
                <a:lnTo>
                  <a:pt x="33" y="1"/>
                </a:lnTo>
                <a:lnTo>
                  <a:pt x="49" y="2"/>
                </a:lnTo>
                <a:lnTo>
                  <a:pt x="65" y="4"/>
                </a:lnTo>
                <a:lnTo>
                  <a:pt x="82" y="6"/>
                </a:lnTo>
                <a:lnTo>
                  <a:pt x="98" y="8"/>
                </a:lnTo>
                <a:lnTo>
                  <a:pt x="114" y="10"/>
                </a:lnTo>
                <a:lnTo>
                  <a:pt x="131" y="13"/>
                </a:lnTo>
                <a:lnTo>
                  <a:pt x="147" y="16"/>
                </a:lnTo>
                <a:lnTo>
                  <a:pt x="164" y="19"/>
                </a:lnTo>
                <a:lnTo>
                  <a:pt x="180" y="23"/>
                </a:lnTo>
                <a:lnTo>
                  <a:pt x="196" y="26"/>
                </a:lnTo>
                <a:lnTo>
                  <a:pt x="213" y="29"/>
                </a:lnTo>
                <a:lnTo>
                  <a:pt x="229" y="32"/>
                </a:lnTo>
                <a:lnTo>
                  <a:pt x="246" y="36"/>
                </a:lnTo>
                <a:lnTo>
                  <a:pt x="262" y="39"/>
                </a:lnTo>
                <a:lnTo>
                  <a:pt x="278" y="41"/>
                </a:lnTo>
                <a:lnTo>
                  <a:pt x="295" y="44"/>
                </a:lnTo>
                <a:lnTo>
                  <a:pt x="311" y="46"/>
                </a:lnTo>
                <a:lnTo>
                  <a:pt x="327" y="48"/>
                </a:lnTo>
                <a:lnTo>
                  <a:pt x="344" y="50"/>
                </a:lnTo>
                <a:lnTo>
                  <a:pt x="360" y="51"/>
                </a:lnTo>
                <a:lnTo>
                  <a:pt x="377" y="52"/>
                </a:lnTo>
                <a:lnTo>
                  <a:pt x="393" y="52"/>
                </a:lnTo>
                <a:lnTo>
                  <a:pt x="393" y="108"/>
                </a:lnTo>
                <a:lnTo>
                  <a:pt x="377" y="108"/>
                </a:lnTo>
                <a:lnTo>
                  <a:pt x="360" y="107"/>
                </a:lnTo>
                <a:lnTo>
                  <a:pt x="344" y="106"/>
                </a:lnTo>
                <a:lnTo>
                  <a:pt x="327" y="104"/>
                </a:lnTo>
                <a:lnTo>
                  <a:pt x="311" y="102"/>
                </a:lnTo>
                <a:lnTo>
                  <a:pt x="295" y="100"/>
                </a:lnTo>
                <a:lnTo>
                  <a:pt x="278" y="98"/>
                </a:lnTo>
                <a:lnTo>
                  <a:pt x="262" y="95"/>
                </a:lnTo>
                <a:lnTo>
                  <a:pt x="246" y="92"/>
                </a:lnTo>
                <a:lnTo>
                  <a:pt x="229" y="89"/>
                </a:lnTo>
                <a:lnTo>
                  <a:pt x="213" y="85"/>
                </a:lnTo>
                <a:lnTo>
                  <a:pt x="196" y="82"/>
                </a:lnTo>
                <a:lnTo>
                  <a:pt x="180" y="79"/>
                </a:lnTo>
                <a:lnTo>
                  <a:pt x="164" y="76"/>
                </a:lnTo>
                <a:lnTo>
                  <a:pt x="147" y="72"/>
                </a:lnTo>
                <a:lnTo>
                  <a:pt x="131" y="69"/>
                </a:lnTo>
                <a:lnTo>
                  <a:pt x="114" y="67"/>
                </a:lnTo>
                <a:lnTo>
                  <a:pt x="98" y="64"/>
                </a:lnTo>
                <a:lnTo>
                  <a:pt x="82" y="62"/>
                </a:lnTo>
                <a:lnTo>
                  <a:pt x="65" y="60"/>
                </a:lnTo>
                <a:lnTo>
                  <a:pt x="49" y="58"/>
                </a:lnTo>
                <a:lnTo>
                  <a:pt x="33" y="57"/>
                </a:lnTo>
                <a:lnTo>
                  <a:pt x="16" y="56"/>
                </a:lnTo>
                <a:lnTo>
                  <a:pt x="0" y="5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57725"/>
            <a:ext cx="3743325" cy="1209675"/>
          </a:xfrm>
          <a:custGeom>
            <a:avLst/>
            <a:gdLst/>
            <a:ahLst/>
            <a:cxnLst/>
            <a:rect l="l" t="t" r="r" b="b"/>
            <a:pathLst>
              <a:path w="393" h="127">
                <a:moveTo>
                  <a:pt x="0" y="0"/>
                </a:moveTo>
                <a:lnTo>
                  <a:pt x="16" y="0"/>
                </a:lnTo>
                <a:lnTo>
                  <a:pt x="33" y="2"/>
                </a:lnTo>
                <a:lnTo>
                  <a:pt x="49" y="4"/>
                </a:lnTo>
                <a:lnTo>
                  <a:pt x="65" y="7"/>
                </a:lnTo>
                <a:lnTo>
                  <a:pt x="82" y="11"/>
                </a:lnTo>
                <a:lnTo>
                  <a:pt x="98" y="15"/>
                </a:lnTo>
                <a:lnTo>
                  <a:pt x="114" y="20"/>
                </a:lnTo>
                <a:lnTo>
                  <a:pt x="131" y="25"/>
                </a:lnTo>
                <a:lnTo>
                  <a:pt x="147" y="31"/>
                </a:lnTo>
                <a:lnTo>
                  <a:pt x="164" y="37"/>
                </a:lnTo>
                <a:lnTo>
                  <a:pt x="180" y="43"/>
                </a:lnTo>
                <a:lnTo>
                  <a:pt x="196" y="49"/>
                </a:lnTo>
                <a:lnTo>
                  <a:pt x="213" y="55"/>
                </a:lnTo>
                <a:lnTo>
                  <a:pt x="229" y="61"/>
                </a:lnTo>
                <a:lnTo>
                  <a:pt x="246" y="67"/>
                </a:lnTo>
                <a:lnTo>
                  <a:pt x="262" y="72"/>
                </a:lnTo>
                <a:lnTo>
                  <a:pt x="278" y="77"/>
                </a:lnTo>
                <a:lnTo>
                  <a:pt x="295" y="82"/>
                </a:lnTo>
                <a:lnTo>
                  <a:pt x="311" y="86"/>
                </a:lnTo>
                <a:lnTo>
                  <a:pt x="327" y="90"/>
                </a:lnTo>
                <a:lnTo>
                  <a:pt x="344" y="93"/>
                </a:lnTo>
                <a:lnTo>
                  <a:pt x="360" y="96"/>
                </a:lnTo>
                <a:lnTo>
                  <a:pt x="377" y="97"/>
                </a:lnTo>
                <a:lnTo>
                  <a:pt x="393" y="97"/>
                </a:lnTo>
                <a:lnTo>
                  <a:pt x="393" y="127"/>
                </a:lnTo>
                <a:lnTo>
                  <a:pt x="377" y="127"/>
                </a:lnTo>
                <a:lnTo>
                  <a:pt x="360" y="125"/>
                </a:lnTo>
                <a:lnTo>
                  <a:pt x="344" y="123"/>
                </a:lnTo>
                <a:lnTo>
                  <a:pt x="327" y="120"/>
                </a:lnTo>
                <a:lnTo>
                  <a:pt x="311" y="116"/>
                </a:lnTo>
                <a:lnTo>
                  <a:pt x="295" y="112"/>
                </a:lnTo>
                <a:lnTo>
                  <a:pt x="278" y="107"/>
                </a:lnTo>
                <a:lnTo>
                  <a:pt x="262" y="102"/>
                </a:lnTo>
                <a:lnTo>
                  <a:pt x="246" y="96"/>
                </a:lnTo>
                <a:lnTo>
                  <a:pt x="229" y="90"/>
                </a:lnTo>
                <a:lnTo>
                  <a:pt x="213" y="84"/>
                </a:lnTo>
                <a:lnTo>
                  <a:pt x="196" y="78"/>
                </a:lnTo>
                <a:lnTo>
                  <a:pt x="180" y="72"/>
                </a:lnTo>
                <a:lnTo>
                  <a:pt x="164" y="66"/>
                </a:lnTo>
                <a:lnTo>
                  <a:pt x="147" y="60"/>
                </a:lnTo>
                <a:lnTo>
                  <a:pt x="131" y="55"/>
                </a:lnTo>
                <a:lnTo>
                  <a:pt x="114" y="50"/>
                </a:lnTo>
                <a:lnTo>
                  <a:pt x="98" y="45"/>
                </a:lnTo>
                <a:lnTo>
                  <a:pt x="82" y="40"/>
                </a:lnTo>
                <a:lnTo>
                  <a:pt x="65" y="37"/>
                </a:lnTo>
                <a:lnTo>
                  <a:pt x="49" y="34"/>
                </a:lnTo>
                <a:lnTo>
                  <a:pt x="33" y="31"/>
                </a:lnTo>
                <a:lnTo>
                  <a:pt x="16" y="30"/>
                </a:lnTo>
                <a:lnTo>
                  <a:pt x="0" y="2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933950"/>
            <a:ext cx="3743325" cy="1438275"/>
          </a:xfrm>
          <a:custGeom>
            <a:avLst/>
            <a:gdLst/>
            <a:ahLst/>
            <a:cxnLst/>
            <a:rect l="l" t="t" r="r" b="b"/>
            <a:pathLst>
              <a:path w="393" h="151">
                <a:moveTo>
                  <a:pt x="0" y="0"/>
                </a:moveTo>
                <a:lnTo>
                  <a:pt x="16" y="1"/>
                </a:lnTo>
                <a:lnTo>
                  <a:pt x="33" y="3"/>
                </a:lnTo>
                <a:lnTo>
                  <a:pt x="49" y="6"/>
                </a:lnTo>
                <a:lnTo>
                  <a:pt x="65" y="10"/>
                </a:lnTo>
                <a:lnTo>
                  <a:pt x="82" y="15"/>
                </a:lnTo>
                <a:lnTo>
                  <a:pt x="98" y="20"/>
                </a:lnTo>
                <a:lnTo>
                  <a:pt x="114" y="26"/>
                </a:lnTo>
                <a:lnTo>
                  <a:pt x="131" y="33"/>
                </a:lnTo>
                <a:lnTo>
                  <a:pt x="147" y="40"/>
                </a:lnTo>
                <a:lnTo>
                  <a:pt x="164" y="48"/>
                </a:lnTo>
                <a:lnTo>
                  <a:pt x="180" y="56"/>
                </a:lnTo>
                <a:lnTo>
                  <a:pt x="196" y="64"/>
                </a:lnTo>
                <a:lnTo>
                  <a:pt x="213" y="72"/>
                </a:lnTo>
                <a:lnTo>
                  <a:pt x="229" y="79"/>
                </a:lnTo>
                <a:lnTo>
                  <a:pt x="246" y="87"/>
                </a:lnTo>
                <a:lnTo>
                  <a:pt x="262" y="94"/>
                </a:lnTo>
                <a:lnTo>
                  <a:pt x="278" y="101"/>
                </a:lnTo>
                <a:lnTo>
                  <a:pt x="295" y="107"/>
                </a:lnTo>
                <a:lnTo>
                  <a:pt x="311" y="113"/>
                </a:lnTo>
                <a:lnTo>
                  <a:pt x="327" y="118"/>
                </a:lnTo>
                <a:lnTo>
                  <a:pt x="344" y="121"/>
                </a:lnTo>
                <a:lnTo>
                  <a:pt x="360" y="124"/>
                </a:lnTo>
                <a:lnTo>
                  <a:pt x="377" y="126"/>
                </a:lnTo>
                <a:lnTo>
                  <a:pt x="393" y="127"/>
                </a:lnTo>
                <a:lnTo>
                  <a:pt x="393" y="151"/>
                </a:lnTo>
                <a:lnTo>
                  <a:pt x="377" y="150"/>
                </a:lnTo>
                <a:lnTo>
                  <a:pt x="360" y="149"/>
                </a:lnTo>
                <a:lnTo>
                  <a:pt x="344" y="146"/>
                </a:lnTo>
                <a:lnTo>
                  <a:pt x="327" y="142"/>
                </a:lnTo>
                <a:lnTo>
                  <a:pt x="311" y="137"/>
                </a:lnTo>
                <a:lnTo>
                  <a:pt x="295" y="131"/>
                </a:lnTo>
                <a:lnTo>
                  <a:pt x="278" y="125"/>
                </a:lnTo>
                <a:lnTo>
                  <a:pt x="262" y="118"/>
                </a:lnTo>
                <a:lnTo>
                  <a:pt x="246" y="111"/>
                </a:lnTo>
                <a:lnTo>
                  <a:pt x="229" y="103"/>
                </a:lnTo>
                <a:lnTo>
                  <a:pt x="213" y="96"/>
                </a:lnTo>
                <a:lnTo>
                  <a:pt x="196" y="88"/>
                </a:lnTo>
                <a:lnTo>
                  <a:pt x="180" y="80"/>
                </a:lnTo>
                <a:lnTo>
                  <a:pt x="164" y="72"/>
                </a:lnTo>
                <a:lnTo>
                  <a:pt x="147" y="65"/>
                </a:lnTo>
                <a:lnTo>
                  <a:pt x="131" y="57"/>
                </a:lnTo>
                <a:lnTo>
                  <a:pt x="114" y="51"/>
                </a:lnTo>
                <a:lnTo>
                  <a:pt x="98" y="44"/>
                </a:lnTo>
                <a:lnTo>
                  <a:pt x="82" y="39"/>
                </a:lnTo>
                <a:lnTo>
                  <a:pt x="65" y="34"/>
                </a:lnTo>
                <a:lnTo>
                  <a:pt x="49" y="30"/>
                </a:lnTo>
                <a:lnTo>
                  <a:pt x="33" y="27"/>
                </a:lnTo>
                <a:lnTo>
                  <a:pt x="16" y="25"/>
                </a:lnTo>
                <a:lnTo>
                  <a:pt x="0" y="2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095750"/>
            <a:ext cx="3743325" cy="1466850"/>
          </a:xfrm>
          <a:custGeom>
            <a:avLst/>
            <a:gdLst/>
            <a:ahLst/>
            <a:cxnLst/>
            <a:rect l="l" t="t" r="r" b="b"/>
            <a:pathLst>
              <a:path w="393" h="154">
                <a:moveTo>
                  <a:pt x="0" y="119"/>
                </a:moveTo>
                <a:lnTo>
                  <a:pt x="16" y="118"/>
                </a:lnTo>
                <a:lnTo>
                  <a:pt x="33" y="116"/>
                </a:lnTo>
                <a:lnTo>
                  <a:pt x="49" y="114"/>
                </a:lnTo>
                <a:lnTo>
                  <a:pt x="65" y="110"/>
                </a:lnTo>
                <a:lnTo>
                  <a:pt x="82" y="105"/>
                </a:lnTo>
                <a:lnTo>
                  <a:pt x="98" y="100"/>
                </a:lnTo>
                <a:lnTo>
                  <a:pt x="114" y="94"/>
                </a:lnTo>
                <a:lnTo>
                  <a:pt x="131" y="88"/>
                </a:lnTo>
                <a:lnTo>
                  <a:pt x="147" y="81"/>
                </a:lnTo>
                <a:lnTo>
                  <a:pt x="164" y="74"/>
                </a:lnTo>
                <a:lnTo>
                  <a:pt x="180" y="67"/>
                </a:lnTo>
                <a:lnTo>
                  <a:pt x="196" y="59"/>
                </a:lnTo>
                <a:lnTo>
                  <a:pt x="213" y="52"/>
                </a:lnTo>
                <a:lnTo>
                  <a:pt x="229" y="44"/>
                </a:lnTo>
                <a:lnTo>
                  <a:pt x="246" y="37"/>
                </a:lnTo>
                <a:lnTo>
                  <a:pt x="262" y="31"/>
                </a:lnTo>
                <a:lnTo>
                  <a:pt x="278" y="24"/>
                </a:lnTo>
                <a:lnTo>
                  <a:pt x="295" y="18"/>
                </a:lnTo>
                <a:lnTo>
                  <a:pt x="311" y="13"/>
                </a:lnTo>
                <a:lnTo>
                  <a:pt x="327" y="8"/>
                </a:lnTo>
                <a:lnTo>
                  <a:pt x="344" y="5"/>
                </a:lnTo>
                <a:lnTo>
                  <a:pt x="360" y="2"/>
                </a:lnTo>
                <a:lnTo>
                  <a:pt x="377" y="0"/>
                </a:lnTo>
                <a:lnTo>
                  <a:pt x="393" y="0"/>
                </a:lnTo>
                <a:lnTo>
                  <a:pt x="393" y="35"/>
                </a:lnTo>
                <a:lnTo>
                  <a:pt x="377" y="35"/>
                </a:lnTo>
                <a:lnTo>
                  <a:pt x="360" y="37"/>
                </a:lnTo>
                <a:lnTo>
                  <a:pt x="344" y="40"/>
                </a:lnTo>
                <a:lnTo>
                  <a:pt x="327" y="44"/>
                </a:lnTo>
                <a:lnTo>
                  <a:pt x="311" y="48"/>
                </a:lnTo>
                <a:lnTo>
                  <a:pt x="295" y="53"/>
                </a:lnTo>
                <a:lnTo>
                  <a:pt x="278" y="59"/>
                </a:lnTo>
                <a:lnTo>
                  <a:pt x="262" y="66"/>
                </a:lnTo>
                <a:lnTo>
                  <a:pt x="246" y="72"/>
                </a:lnTo>
                <a:lnTo>
                  <a:pt x="229" y="79"/>
                </a:lnTo>
                <a:lnTo>
                  <a:pt x="213" y="87"/>
                </a:lnTo>
                <a:lnTo>
                  <a:pt x="196" y="94"/>
                </a:lnTo>
                <a:lnTo>
                  <a:pt x="180" y="102"/>
                </a:lnTo>
                <a:lnTo>
                  <a:pt x="164" y="109"/>
                </a:lnTo>
                <a:lnTo>
                  <a:pt x="147" y="116"/>
                </a:lnTo>
                <a:lnTo>
                  <a:pt x="131" y="123"/>
                </a:lnTo>
                <a:lnTo>
                  <a:pt x="114" y="129"/>
                </a:lnTo>
                <a:lnTo>
                  <a:pt x="98" y="135"/>
                </a:lnTo>
                <a:lnTo>
                  <a:pt x="82" y="140"/>
                </a:lnTo>
                <a:lnTo>
                  <a:pt x="65" y="145"/>
                </a:lnTo>
                <a:lnTo>
                  <a:pt x="49" y="149"/>
                </a:lnTo>
                <a:lnTo>
                  <a:pt x="33" y="151"/>
                </a:lnTo>
                <a:lnTo>
                  <a:pt x="16" y="153"/>
                </a:lnTo>
                <a:lnTo>
                  <a:pt x="0" y="15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153025"/>
            <a:ext cx="3743325" cy="676275"/>
          </a:xfrm>
          <a:custGeom>
            <a:avLst/>
            <a:gdLst/>
            <a:ahLst/>
            <a:cxnLst/>
            <a:rect l="l" t="t" r="r" b="b"/>
            <a:pathLst>
              <a:path w="393" h="71">
                <a:moveTo>
                  <a:pt x="0" y="43"/>
                </a:moveTo>
                <a:lnTo>
                  <a:pt x="16" y="42"/>
                </a:lnTo>
                <a:lnTo>
                  <a:pt x="33" y="42"/>
                </a:lnTo>
                <a:lnTo>
                  <a:pt x="49" y="41"/>
                </a:lnTo>
                <a:lnTo>
                  <a:pt x="65" y="40"/>
                </a:lnTo>
                <a:lnTo>
                  <a:pt x="82" y="38"/>
                </a:lnTo>
                <a:lnTo>
                  <a:pt x="98" y="36"/>
                </a:lnTo>
                <a:lnTo>
                  <a:pt x="114" y="34"/>
                </a:lnTo>
                <a:lnTo>
                  <a:pt x="131" y="32"/>
                </a:lnTo>
                <a:lnTo>
                  <a:pt x="147" y="29"/>
                </a:lnTo>
                <a:lnTo>
                  <a:pt x="164" y="27"/>
                </a:lnTo>
                <a:lnTo>
                  <a:pt x="180" y="24"/>
                </a:lnTo>
                <a:lnTo>
                  <a:pt x="196" y="21"/>
                </a:lnTo>
                <a:lnTo>
                  <a:pt x="213" y="19"/>
                </a:lnTo>
                <a:lnTo>
                  <a:pt x="229" y="16"/>
                </a:lnTo>
                <a:lnTo>
                  <a:pt x="246" y="14"/>
                </a:lnTo>
                <a:lnTo>
                  <a:pt x="262" y="11"/>
                </a:lnTo>
                <a:lnTo>
                  <a:pt x="278" y="9"/>
                </a:lnTo>
                <a:lnTo>
                  <a:pt x="295" y="7"/>
                </a:lnTo>
                <a:lnTo>
                  <a:pt x="311" y="5"/>
                </a:lnTo>
                <a:lnTo>
                  <a:pt x="327" y="3"/>
                </a:lnTo>
                <a:lnTo>
                  <a:pt x="344" y="2"/>
                </a:lnTo>
                <a:lnTo>
                  <a:pt x="360" y="1"/>
                </a:lnTo>
                <a:lnTo>
                  <a:pt x="377" y="1"/>
                </a:lnTo>
                <a:lnTo>
                  <a:pt x="393" y="0"/>
                </a:lnTo>
                <a:lnTo>
                  <a:pt x="393" y="29"/>
                </a:lnTo>
                <a:lnTo>
                  <a:pt x="377" y="29"/>
                </a:lnTo>
                <a:lnTo>
                  <a:pt x="360" y="30"/>
                </a:lnTo>
                <a:lnTo>
                  <a:pt x="344" y="30"/>
                </a:lnTo>
                <a:lnTo>
                  <a:pt x="327" y="32"/>
                </a:lnTo>
                <a:lnTo>
                  <a:pt x="311" y="33"/>
                </a:lnTo>
                <a:lnTo>
                  <a:pt x="295" y="35"/>
                </a:lnTo>
                <a:lnTo>
                  <a:pt x="278" y="37"/>
                </a:lnTo>
                <a:lnTo>
                  <a:pt x="262" y="40"/>
                </a:lnTo>
                <a:lnTo>
                  <a:pt x="246" y="42"/>
                </a:lnTo>
                <a:lnTo>
                  <a:pt x="229" y="45"/>
                </a:lnTo>
                <a:lnTo>
                  <a:pt x="213" y="47"/>
                </a:lnTo>
                <a:lnTo>
                  <a:pt x="196" y="50"/>
                </a:lnTo>
                <a:lnTo>
                  <a:pt x="180" y="52"/>
                </a:lnTo>
                <a:lnTo>
                  <a:pt x="164" y="55"/>
                </a:lnTo>
                <a:lnTo>
                  <a:pt x="147" y="58"/>
                </a:lnTo>
                <a:lnTo>
                  <a:pt x="131" y="60"/>
                </a:lnTo>
                <a:lnTo>
                  <a:pt x="114" y="62"/>
                </a:lnTo>
                <a:lnTo>
                  <a:pt x="98" y="64"/>
                </a:lnTo>
                <a:lnTo>
                  <a:pt x="82" y="66"/>
                </a:lnTo>
                <a:lnTo>
                  <a:pt x="65" y="68"/>
                </a:lnTo>
                <a:lnTo>
                  <a:pt x="49" y="69"/>
                </a:lnTo>
                <a:lnTo>
                  <a:pt x="33" y="70"/>
                </a:lnTo>
                <a:lnTo>
                  <a:pt x="16" y="71"/>
                </a:lnTo>
                <a:lnTo>
                  <a:pt x="0" y="7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829300"/>
            <a:ext cx="3743325" cy="200025"/>
          </a:xfrm>
          <a:custGeom>
            <a:avLst/>
            <a:gdLst/>
            <a:ahLst/>
            <a:cxnLst/>
            <a:rect l="l" t="t" r="r" b="b"/>
            <a:pathLst>
              <a:path w="393" h="21">
                <a:moveTo>
                  <a:pt x="0" y="0"/>
                </a:moveTo>
                <a:lnTo>
                  <a:pt x="16" y="0"/>
                </a:lnTo>
                <a:lnTo>
                  <a:pt x="33" y="0"/>
                </a:lnTo>
                <a:lnTo>
                  <a:pt x="49" y="0"/>
                </a:lnTo>
                <a:lnTo>
                  <a:pt x="65" y="0"/>
                </a:lnTo>
                <a:lnTo>
                  <a:pt x="82" y="0"/>
                </a:lnTo>
                <a:lnTo>
                  <a:pt x="98" y="1"/>
                </a:lnTo>
                <a:lnTo>
                  <a:pt x="114" y="1"/>
                </a:lnTo>
                <a:lnTo>
                  <a:pt x="131" y="1"/>
                </a:lnTo>
                <a:lnTo>
                  <a:pt x="147" y="1"/>
                </a:lnTo>
                <a:lnTo>
                  <a:pt x="164" y="2"/>
                </a:lnTo>
                <a:lnTo>
                  <a:pt x="180" y="2"/>
                </a:lnTo>
                <a:lnTo>
                  <a:pt x="196" y="2"/>
                </a:lnTo>
                <a:lnTo>
                  <a:pt x="213" y="2"/>
                </a:lnTo>
                <a:lnTo>
                  <a:pt x="229" y="3"/>
                </a:lnTo>
                <a:lnTo>
                  <a:pt x="246" y="3"/>
                </a:lnTo>
                <a:lnTo>
                  <a:pt x="262" y="3"/>
                </a:lnTo>
                <a:lnTo>
                  <a:pt x="278" y="3"/>
                </a:lnTo>
                <a:lnTo>
                  <a:pt x="295" y="3"/>
                </a:lnTo>
                <a:lnTo>
                  <a:pt x="311" y="4"/>
                </a:lnTo>
                <a:lnTo>
                  <a:pt x="327" y="4"/>
                </a:lnTo>
                <a:lnTo>
                  <a:pt x="344" y="4"/>
                </a:lnTo>
                <a:lnTo>
                  <a:pt x="360" y="4"/>
                </a:lnTo>
                <a:lnTo>
                  <a:pt x="377" y="4"/>
                </a:lnTo>
                <a:lnTo>
                  <a:pt x="393" y="4"/>
                </a:lnTo>
                <a:lnTo>
                  <a:pt x="393" y="21"/>
                </a:lnTo>
                <a:lnTo>
                  <a:pt x="377" y="21"/>
                </a:lnTo>
                <a:lnTo>
                  <a:pt x="360" y="21"/>
                </a:lnTo>
                <a:lnTo>
                  <a:pt x="344" y="21"/>
                </a:lnTo>
                <a:lnTo>
                  <a:pt x="327" y="21"/>
                </a:lnTo>
                <a:lnTo>
                  <a:pt x="311" y="21"/>
                </a:lnTo>
                <a:lnTo>
                  <a:pt x="295" y="20"/>
                </a:lnTo>
                <a:lnTo>
                  <a:pt x="278" y="20"/>
                </a:lnTo>
                <a:lnTo>
                  <a:pt x="262" y="20"/>
                </a:lnTo>
                <a:lnTo>
                  <a:pt x="246" y="20"/>
                </a:lnTo>
                <a:lnTo>
                  <a:pt x="229" y="20"/>
                </a:lnTo>
                <a:lnTo>
                  <a:pt x="213" y="19"/>
                </a:lnTo>
                <a:lnTo>
                  <a:pt x="196" y="19"/>
                </a:lnTo>
                <a:lnTo>
                  <a:pt x="180" y="19"/>
                </a:lnTo>
                <a:lnTo>
                  <a:pt x="164" y="19"/>
                </a:lnTo>
                <a:lnTo>
                  <a:pt x="147" y="18"/>
                </a:lnTo>
                <a:lnTo>
                  <a:pt x="131" y="18"/>
                </a:lnTo>
                <a:lnTo>
                  <a:pt x="114" y="18"/>
                </a:lnTo>
                <a:lnTo>
                  <a:pt x="98" y="18"/>
                </a:lnTo>
                <a:lnTo>
                  <a:pt x="82" y="18"/>
                </a:lnTo>
                <a:lnTo>
                  <a:pt x="65" y="17"/>
                </a:lnTo>
                <a:lnTo>
                  <a:pt x="49" y="17"/>
                </a:lnTo>
                <a:lnTo>
                  <a:pt x="33" y="17"/>
                </a:lnTo>
                <a:lnTo>
                  <a:pt x="16" y="17"/>
                </a:lnTo>
                <a:lnTo>
                  <a:pt x="0" y="1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991225"/>
            <a:ext cx="3743325" cy="495300"/>
          </a:xfrm>
          <a:custGeom>
            <a:avLst/>
            <a:gdLst/>
            <a:ahLst/>
            <a:cxnLst/>
            <a:rect l="l" t="t" r="r" b="b"/>
            <a:pathLst>
              <a:path w="393" h="52">
                <a:moveTo>
                  <a:pt x="0" y="0"/>
                </a:moveTo>
                <a:lnTo>
                  <a:pt x="16" y="0"/>
                </a:lnTo>
                <a:lnTo>
                  <a:pt x="33" y="1"/>
                </a:lnTo>
                <a:lnTo>
                  <a:pt x="49" y="2"/>
                </a:lnTo>
                <a:lnTo>
                  <a:pt x="65" y="3"/>
                </a:lnTo>
                <a:lnTo>
                  <a:pt x="82" y="5"/>
                </a:lnTo>
                <a:lnTo>
                  <a:pt x="98" y="6"/>
                </a:lnTo>
                <a:lnTo>
                  <a:pt x="114" y="8"/>
                </a:lnTo>
                <a:lnTo>
                  <a:pt x="131" y="10"/>
                </a:lnTo>
                <a:lnTo>
                  <a:pt x="147" y="13"/>
                </a:lnTo>
                <a:lnTo>
                  <a:pt x="164" y="15"/>
                </a:lnTo>
                <a:lnTo>
                  <a:pt x="180" y="18"/>
                </a:lnTo>
                <a:lnTo>
                  <a:pt x="196" y="20"/>
                </a:lnTo>
                <a:lnTo>
                  <a:pt x="213" y="23"/>
                </a:lnTo>
                <a:lnTo>
                  <a:pt x="229" y="25"/>
                </a:lnTo>
                <a:lnTo>
                  <a:pt x="246" y="27"/>
                </a:lnTo>
                <a:lnTo>
                  <a:pt x="262" y="30"/>
                </a:lnTo>
                <a:lnTo>
                  <a:pt x="278" y="32"/>
                </a:lnTo>
                <a:lnTo>
                  <a:pt x="295" y="34"/>
                </a:lnTo>
                <a:lnTo>
                  <a:pt x="311" y="36"/>
                </a:lnTo>
                <a:lnTo>
                  <a:pt x="327" y="37"/>
                </a:lnTo>
                <a:lnTo>
                  <a:pt x="344" y="38"/>
                </a:lnTo>
                <a:lnTo>
                  <a:pt x="360" y="39"/>
                </a:lnTo>
                <a:lnTo>
                  <a:pt x="377" y="40"/>
                </a:lnTo>
                <a:lnTo>
                  <a:pt x="393" y="40"/>
                </a:lnTo>
                <a:lnTo>
                  <a:pt x="393" y="52"/>
                </a:lnTo>
                <a:lnTo>
                  <a:pt x="377" y="52"/>
                </a:lnTo>
                <a:lnTo>
                  <a:pt x="360" y="51"/>
                </a:lnTo>
                <a:lnTo>
                  <a:pt x="344" y="50"/>
                </a:lnTo>
                <a:lnTo>
                  <a:pt x="327" y="49"/>
                </a:lnTo>
                <a:lnTo>
                  <a:pt x="311" y="48"/>
                </a:lnTo>
                <a:lnTo>
                  <a:pt x="295" y="46"/>
                </a:lnTo>
                <a:lnTo>
                  <a:pt x="278" y="44"/>
                </a:lnTo>
                <a:lnTo>
                  <a:pt x="262" y="42"/>
                </a:lnTo>
                <a:lnTo>
                  <a:pt x="246" y="39"/>
                </a:lnTo>
                <a:lnTo>
                  <a:pt x="229" y="37"/>
                </a:lnTo>
                <a:lnTo>
                  <a:pt x="213" y="35"/>
                </a:lnTo>
                <a:lnTo>
                  <a:pt x="196" y="32"/>
                </a:lnTo>
                <a:lnTo>
                  <a:pt x="180" y="30"/>
                </a:lnTo>
                <a:lnTo>
                  <a:pt x="164" y="27"/>
                </a:lnTo>
                <a:lnTo>
                  <a:pt x="147" y="25"/>
                </a:lnTo>
                <a:lnTo>
                  <a:pt x="131" y="22"/>
                </a:lnTo>
                <a:lnTo>
                  <a:pt x="114" y="20"/>
                </a:lnTo>
                <a:lnTo>
                  <a:pt x="98" y="18"/>
                </a:lnTo>
                <a:lnTo>
                  <a:pt x="82" y="17"/>
                </a:lnTo>
                <a:lnTo>
                  <a:pt x="65" y="15"/>
                </a:lnTo>
                <a:lnTo>
                  <a:pt x="49" y="14"/>
                </a:lnTo>
                <a:lnTo>
                  <a:pt x="33" y="13"/>
                </a:lnTo>
                <a:lnTo>
                  <a:pt x="16" y="12"/>
                </a:lnTo>
                <a:lnTo>
                  <a:pt x="0" y="1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429125"/>
            <a:ext cx="3743325" cy="1876425"/>
          </a:xfrm>
          <a:custGeom>
            <a:avLst/>
            <a:gdLst/>
            <a:ahLst/>
            <a:cxnLst/>
            <a:rect l="l" t="t" r="r" b="b"/>
            <a:pathLst>
              <a:path w="393" h="197">
                <a:moveTo>
                  <a:pt x="0" y="182"/>
                </a:moveTo>
                <a:lnTo>
                  <a:pt x="16" y="181"/>
                </a:lnTo>
                <a:lnTo>
                  <a:pt x="33" y="178"/>
                </a:lnTo>
                <a:lnTo>
                  <a:pt x="49" y="174"/>
                </a:lnTo>
                <a:lnTo>
                  <a:pt x="65" y="169"/>
                </a:lnTo>
                <a:lnTo>
                  <a:pt x="82" y="162"/>
                </a:lnTo>
                <a:lnTo>
                  <a:pt x="98" y="154"/>
                </a:lnTo>
                <a:lnTo>
                  <a:pt x="114" y="145"/>
                </a:lnTo>
                <a:lnTo>
                  <a:pt x="131" y="135"/>
                </a:lnTo>
                <a:lnTo>
                  <a:pt x="147" y="124"/>
                </a:lnTo>
                <a:lnTo>
                  <a:pt x="164" y="113"/>
                </a:lnTo>
                <a:lnTo>
                  <a:pt x="180" y="102"/>
                </a:lnTo>
                <a:lnTo>
                  <a:pt x="196" y="91"/>
                </a:lnTo>
                <a:lnTo>
                  <a:pt x="213" y="80"/>
                </a:lnTo>
                <a:lnTo>
                  <a:pt x="229" y="68"/>
                </a:lnTo>
                <a:lnTo>
                  <a:pt x="246" y="57"/>
                </a:lnTo>
                <a:lnTo>
                  <a:pt x="262" y="47"/>
                </a:lnTo>
                <a:lnTo>
                  <a:pt x="278" y="37"/>
                </a:lnTo>
                <a:lnTo>
                  <a:pt x="295" y="28"/>
                </a:lnTo>
                <a:lnTo>
                  <a:pt x="311" y="20"/>
                </a:lnTo>
                <a:lnTo>
                  <a:pt x="327" y="13"/>
                </a:lnTo>
                <a:lnTo>
                  <a:pt x="344" y="8"/>
                </a:lnTo>
                <a:lnTo>
                  <a:pt x="360" y="3"/>
                </a:lnTo>
                <a:lnTo>
                  <a:pt x="377" y="1"/>
                </a:lnTo>
                <a:lnTo>
                  <a:pt x="393" y="0"/>
                </a:lnTo>
                <a:lnTo>
                  <a:pt x="393" y="14"/>
                </a:lnTo>
                <a:lnTo>
                  <a:pt x="377" y="15"/>
                </a:lnTo>
                <a:lnTo>
                  <a:pt x="360" y="18"/>
                </a:lnTo>
                <a:lnTo>
                  <a:pt x="344" y="22"/>
                </a:lnTo>
                <a:lnTo>
                  <a:pt x="327" y="28"/>
                </a:lnTo>
                <a:lnTo>
                  <a:pt x="311" y="35"/>
                </a:lnTo>
                <a:lnTo>
                  <a:pt x="295" y="43"/>
                </a:lnTo>
                <a:lnTo>
                  <a:pt x="278" y="52"/>
                </a:lnTo>
                <a:lnTo>
                  <a:pt x="262" y="61"/>
                </a:lnTo>
                <a:lnTo>
                  <a:pt x="246" y="72"/>
                </a:lnTo>
                <a:lnTo>
                  <a:pt x="229" y="83"/>
                </a:lnTo>
                <a:lnTo>
                  <a:pt x="213" y="94"/>
                </a:lnTo>
                <a:lnTo>
                  <a:pt x="196" y="105"/>
                </a:lnTo>
                <a:lnTo>
                  <a:pt x="180" y="117"/>
                </a:lnTo>
                <a:lnTo>
                  <a:pt x="164" y="128"/>
                </a:lnTo>
                <a:lnTo>
                  <a:pt x="147" y="139"/>
                </a:lnTo>
                <a:lnTo>
                  <a:pt x="131" y="149"/>
                </a:lnTo>
                <a:lnTo>
                  <a:pt x="114" y="159"/>
                </a:lnTo>
                <a:lnTo>
                  <a:pt x="98" y="168"/>
                </a:lnTo>
                <a:lnTo>
                  <a:pt x="82" y="176"/>
                </a:lnTo>
                <a:lnTo>
                  <a:pt x="65" y="183"/>
                </a:lnTo>
                <a:lnTo>
                  <a:pt x="49" y="189"/>
                </a:lnTo>
                <a:lnTo>
                  <a:pt x="33" y="193"/>
                </a:lnTo>
                <a:lnTo>
                  <a:pt x="16" y="196"/>
                </a:lnTo>
                <a:lnTo>
                  <a:pt x="0" y="19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429250"/>
            <a:ext cx="3743325" cy="971550"/>
          </a:xfrm>
          <a:custGeom>
            <a:avLst/>
            <a:gdLst/>
            <a:ahLst/>
            <a:cxnLst/>
            <a:rect l="l" t="t" r="r" b="b"/>
            <a:pathLst>
              <a:path w="393" h="102">
                <a:moveTo>
                  <a:pt x="0" y="92"/>
                </a:moveTo>
                <a:lnTo>
                  <a:pt x="16" y="91"/>
                </a:lnTo>
                <a:lnTo>
                  <a:pt x="33" y="90"/>
                </a:lnTo>
                <a:lnTo>
                  <a:pt x="49" y="88"/>
                </a:lnTo>
                <a:lnTo>
                  <a:pt x="65" y="85"/>
                </a:lnTo>
                <a:lnTo>
                  <a:pt x="82" y="81"/>
                </a:lnTo>
                <a:lnTo>
                  <a:pt x="98" y="77"/>
                </a:lnTo>
                <a:lnTo>
                  <a:pt x="114" y="73"/>
                </a:lnTo>
                <a:lnTo>
                  <a:pt x="131" y="68"/>
                </a:lnTo>
                <a:lnTo>
                  <a:pt x="147" y="62"/>
                </a:lnTo>
                <a:lnTo>
                  <a:pt x="164" y="57"/>
                </a:lnTo>
                <a:lnTo>
                  <a:pt x="180" y="51"/>
                </a:lnTo>
                <a:lnTo>
                  <a:pt x="196" y="46"/>
                </a:lnTo>
                <a:lnTo>
                  <a:pt x="213" y="40"/>
                </a:lnTo>
                <a:lnTo>
                  <a:pt x="229" y="34"/>
                </a:lnTo>
                <a:lnTo>
                  <a:pt x="246" y="29"/>
                </a:lnTo>
                <a:lnTo>
                  <a:pt x="262" y="23"/>
                </a:lnTo>
                <a:lnTo>
                  <a:pt x="278" y="19"/>
                </a:lnTo>
                <a:lnTo>
                  <a:pt x="295" y="14"/>
                </a:lnTo>
                <a:lnTo>
                  <a:pt x="311" y="10"/>
                </a:lnTo>
                <a:lnTo>
                  <a:pt x="327" y="6"/>
                </a:lnTo>
                <a:lnTo>
                  <a:pt x="344" y="4"/>
                </a:lnTo>
                <a:lnTo>
                  <a:pt x="360" y="1"/>
                </a:lnTo>
                <a:lnTo>
                  <a:pt x="377" y="0"/>
                </a:lnTo>
                <a:lnTo>
                  <a:pt x="393" y="0"/>
                </a:lnTo>
                <a:lnTo>
                  <a:pt x="393" y="10"/>
                </a:lnTo>
                <a:lnTo>
                  <a:pt x="377" y="11"/>
                </a:lnTo>
                <a:lnTo>
                  <a:pt x="360" y="12"/>
                </a:lnTo>
                <a:lnTo>
                  <a:pt x="344" y="14"/>
                </a:lnTo>
                <a:lnTo>
                  <a:pt x="327" y="17"/>
                </a:lnTo>
                <a:lnTo>
                  <a:pt x="311" y="21"/>
                </a:lnTo>
                <a:lnTo>
                  <a:pt x="295" y="25"/>
                </a:lnTo>
                <a:lnTo>
                  <a:pt x="278" y="29"/>
                </a:lnTo>
                <a:lnTo>
                  <a:pt x="262" y="34"/>
                </a:lnTo>
                <a:lnTo>
                  <a:pt x="246" y="40"/>
                </a:lnTo>
                <a:lnTo>
                  <a:pt x="229" y="45"/>
                </a:lnTo>
                <a:lnTo>
                  <a:pt x="213" y="51"/>
                </a:lnTo>
                <a:lnTo>
                  <a:pt x="196" y="56"/>
                </a:lnTo>
                <a:lnTo>
                  <a:pt x="180" y="62"/>
                </a:lnTo>
                <a:lnTo>
                  <a:pt x="164" y="68"/>
                </a:lnTo>
                <a:lnTo>
                  <a:pt x="147" y="73"/>
                </a:lnTo>
                <a:lnTo>
                  <a:pt x="131" y="78"/>
                </a:lnTo>
                <a:lnTo>
                  <a:pt x="114" y="83"/>
                </a:lnTo>
                <a:lnTo>
                  <a:pt x="98" y="88"/>
                </a:lnTo>
                <a:lnTo>
                  <a:pt x="82" y="92"/>
                </a:lnTo>
                <a:lnTo>
                  <a:pt x="65" y="95"/>
                </a:lnTo>
                <a:lnTo>
                  <a:pt x="49" y="98"/>
                </a:lnTo>
                <a:lnTo>
                  <a:pt x="33" y="100"/>
                </a:lnTo>
                <a:lnTo>
                  <a:pt x="16" y="102"/>
                </a:lnTo>
                <a:lnTo>
                  <a:pt x="0" y="10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6029325"/>
            <a:ext cx="3743325" cy="428625"/>
          </a:xfrm>
          <a:custGeom>
            <a:avLst/>
            <a:gdLst/>
            <a:ahLst/>
            <a:cxnLst/>
            <a:rect l="l" t="t" r="r" b="b"/>
            <a:pathLst>
              <a:path w="393" h="45">
                <a:moveTo>
                  <a:pt x="0" y="39"/>
                </a:moveTo>
                <a:lnTo>
                  <a:pt x="16" y="39"/>
                </a:lnTo>
                <a:lnTo>
                  <a:pt x="33" y="39"/>
                </a:lnTo>
                <a:lnTo>
                  <a:pt x="49" y="38"/>
                </a:lnTo>
                <a:lnTo>
                  <a:pt x="65" y="36"/>
                </a:lnTo>
                <a:lnTo>
                  <a:pt x="82" y="35"/>
                </a:lnTo>
                <a:lnTo>
                  <a:pt x="98" y="33"/>
                </a:lnTo>
                <a:lnTo>
                  <a:pt x="114" y="31"/>
                </a:lnTo>
                <a:lnTo>
                  <a:pt x="131" y="29"/>
                </a:lnTo>
                <a:lnTo>
                  <a:pt x="147" y="27"/>
                </a:lnTo>
                <a:lnTo>
                  <a:pt x="164" y="25"/>
                </a:lnTo>
                <a:lnTo>
                  <a:pt x="180" y="22"/>
                </a:lnTo>
                <a:lnTo>
                  <a:pt x="196" y="20"/>
                </a:lnTo>
                <a:lnTo>
                  <a:pt x="213" y="17"/>
                </a:lnTo>
                <a:lnTo>
                  <a:pt x="229" y="15"/>
                </a:lnTo>
                <a:lnTo>
                  <a:pt x="246" y="13"/>
                </a:lnTo>
                <a:lnTo>
                  <a:pt x="262" y="10"/>
                </a:lnTo>
                <a:lnTo>
                  <a:pt x="278" y="8"/>
                </a:lnTo>
                <a:lnTo>
                  <a:pt x="295" y="6"/>
                </a:lnTo>
                <a:lnTo>
                  <a:pt x="311" y="5"/>
                </a:lnTo>
                <a:lnTo>
                  <a:pt x="327" y="3"/>
                </a:lnTo>
                <a:lnTo>
                  <a:pt x="344" y="2"/>
                </a:lnTo>
                <a:lnTo>
                  <a:pt x="360" y="1"/>
                </a:lnTo>
                <a:lnTo>
                  <a:pt x="377" y="0"/>
                </a:lnTo>
                <a:lnTo>
                  <a:pt x="393" y="0"/>
                </a:lnTo>
                <a:lnTo>
                  <a:pt x="393" y="6"/>
                </a:lnTo>
                <a:lnTo>
                  <a:pt x="377" y="6"/>
                </a:lnTo>
                <a:lnTo>
                  <a:pt x="360" y="7"/>
                </a:lnTo>
                <a:lnTo>
                  <a:pt x="344" y="8"/>
                </a:lnTo>
                <a:lnTo>
                  <a:pt x="327" y="9"/>
                </a:lnTo>
                <a:lnTo>
                  <a:pt x="311" y="10"/>
                </a:lnTo>
                <a:lnTo>
                  <a:pt x="295" y="12"/>
                </a:lnTo>
                <a:lnTo>
                  <a:pt x="278" y="14"/>
                </a:lnTo>
                <a:lnTo>
                  <a:pt x="262" y="16"/>
                </a:lnTo>
                <a:lnTo>
                  <a:pt x="246" y="18"/>
                </a:lnTo>
                <a:lnTo>
                  <a:pt x="229" y="21"/>
                </a:lnTo>
                <a:lnTo>
                  <a:pt x="213" y="23"/>
                </a:lnTo>
                <a:lnTo>
                  <a:pt x="196" y="25"/>
                </a:lnTo>
                <a:lnTo>
                  <a:pt x="180" y="28"/>
                </a:lnTo>
                <a:lnTo>
                  <a:pt x="164" y="30"/>
                </a:lnTo>
                <a:lnTo>
                  <a:pt x="147" y="33"/>
                </a:lnTo>
                <a:lnTo>
                  <a:pt x="131" y="35"/>
                </a:lnTo>
                <a:lnTo>
                  <a:pt x="114" y="37"/>
                </a:lnTo>
                <a:lnTo>
                  <a:pt x="98" y="39"/>
                </a:lnTo>
                <a:lnTo>
                  <a:pt x="82" y="41"/>
                </a:lnTo>
                <a:lnTo>
                  <a:pt x="65" y="42"/>
                </a:lnTo>
                <a:lnTo>
                  <a:pt x="49" y="43"/>
                </a:lnTo>
                <a:lnTo>
                  <a:pt x="33" y="44"/>
                </a:lnTo>
                <a:lnTo>
                  <a:pt x="16" y="45"/>
                </a:lnTo>
                <a:lnTo>
                  <a:pt x="0" y="4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6457950"/>
            <a:ext cx="3743325" cy="76200"/>
          </a:xfrm>
          <a:custGeom>
            <a:avLst/>
            <a:gdLst/>
            <a:ahLst/>
            <a:cxnLst/>
            <a:rect l="l" t="t" r="r" b="b"/>
            <a:pathLst>
              <a:path w="393" h="8">
                <a:moveTo>
                  <a:pt x="0" y="0"/>
                </a:moveTo>
                <a:lnTo>
                  <a:pt x="16" y="0"/>
                </a:lnTo>
                <a:lnTo>
                  <a:pt x="33" y="0"/>
                </a:lnTo>
                <a:lnTo>
                  <a:pt x="49" y="0"/>
                </a:lnTo>
                <a:lnTo>
                  <a:pt x="65" y="0"/>
                </a:lnTo>
                <a:lnTo>
                  <a:pt x="82" y="0"/>
                </a:lnTo>
                <a:lnTo>
                  <a:pt x="98" y="1"/>
                </a:lnTo>
                <a:lnTo>
                  <a:pt x="114" y="1"/>
                </a:lnTo>
                <a:lnTo>
                  <a:pt x="131" y="1"/>
                </a:lnTo>
                <a:lnTo>
                  <a:pt x="147" y="1"/>
                </a:lnTo>
                <a:lnTo>
                  <a:pt x="164" y="1"/>
                </a:lnTo>
                <a:lnTo>
                  <a:pt x="180" y="1"/>
                </a:lnTo>
                <a:lnTo>
                  <a:pt x="196" y="2"/>
                </a:lnTo>
                <a:lnTo>
                  <a:pt x="213" y="2"/>
                </a:lnTo>
                <a:lnTo>
                  <a:pt x="229" y="2"/>
                </a:lnTo>
                <a:lnTo>
                  <a:pt x="246" y="2"/>
                </a:lnTo>
                <a:lnTo>
                  <a:pt x="262" y="2"/>
                </a:lnTo>
                <a:lnTo>
                  <a:pt x="278" y="2"/>
                </a:lnTo>
                <a:lnTo>
                  <a:pt x="295" y="3"/>
                </a:lnTo>
                <a:lnTo>
                  <a:pt x="311" y="3"/>
                </a:lnTo>
                <a:lnTo>
                  <a:pt x="327" y="3"/>
                </a:lnTo>
                <a:lnTo>
                  <a:pt x="344" y="3"/>
                </a:lnTo>
                <a:lnTo>
                  <a:pt x="360" y="3"/>
                </a:lnTo>
                <a:lnTo>
                  <a:pt x="377" y="3"/>
                </a:lnTo>
                <a:lnTo>
                  <a:pt x="393" y="3"/>
                </a:lnTo>
                <a:lnTo>
                  <a:pt x="393" y="8"/>
                </a:lnTo>
                <a:lnTo>
                  <a:pt x="377" y="8"/>
                </a:lnTo>
                <a:lnTo>
                  <a:pt x="360" y="8"/>
                </a:lnTo>
                <a:lnTo>
                  <a:pt x="344" y="8"/>
                </a:lnTo>
                <a:lnTo>
                  <a:pt x="327" y="8"/>
                </a:lnTo>
                <a:lnTo>
                  <a:pt x="311" y="8"/>
                </a:lnTo>
                <a:lnTo>
                  <a:pt x="295" y="8"/>
                </a:lnTo>
                <a:lnTo>
                  <a:pt x="278" y="7"/>
                </a:lnTo>
                <a:lnTo>
                  <a:pt x="262" y="7"/>
                </a:lnTo>
                <a:lnTo>
                  <a:pt x="246" y="7"/>
                </a:lnTo>
                <a:lnTo>
                  <a:pt x="229" y="7"/>
                </a:lnTo>
                <a:lnTo>
                  <a:pt x="213" y="7"/>
                </a:lnTo>
                <a:lnTo>
                  <a:pt x="196" y="6"/>
                </a:lnTo>
                <a:lnTo>
                  <a:pt x="180" y="6"/>
                </a:lnTo>
                <a:lnTo>
                  <a:pt x="164" y="6"/>
                </a:lnTo>
                <a:lnTo>
                  <a:pt x="147" y="6"/>
                </a:lnTo>
                <a:lnTo>
                  <a:pt x="131" y="6"/>
                </a:lnTo>
                <a:lnTo>
                  <a:pt x="114" y="6"/>
                </a:lnTo>
                <a:lnTo>
                  <a:pt x="98" y="5"/>
                </a:lnTo>
                <a:lnTo>
                  <a:pt x="82" y="5"/>
                </a:lnTo>
                <a:lnTo>
                  <a:pt x="65" y="5"/>
                </a:lnTo>
                <a:lnTo>
                  <a:pt x="49" y="5"/>
                </a:lnTo>
                <a:lnTo>
                  <a:pt x="33" y="5"/>
                </a:lnTo>
                <a:lnTo>
                  <a:pt x="16" y="5"/>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941195" y="3419475"/>
            <a:ext cx="114300" cy="174889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941195" y="5225520"/>
            <a:ext cx="114300" cy="880458"/>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41195" y="6163128"/>
            <a:ext cx="114300" cy="34244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00725" y="3390900"/>
            <a:ext cx="114300" cy="117343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00725" y="4621488"/>
            <a:ext cx="114300" cy="90720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00725" y="5585839"/>
            <a:ext cx="114300" cy="49947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00725" y="6142465"/>
            <a:ext cx="114300" cy="39168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7175" y="422248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6" name="TextBox 35"/>
          <p:cNvSpPr txBox="1"/>
          <p:nvPr/>
        </p:nvSpPr>
        <p:spPr>
          <a:xfrm>
            <a:off x="257175" y="559431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7" name="TextBox 36"/>
          <p:cNvSpPr txBox="1"/>
          <p:nvPr/>
        </p:nvSpPr>
        <p:spPr>
          <a:xfrm>
            <a:off x="257175" y="6262914"/>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8" name="TextBox 37"/>
          <p:cNvSpPr txBox="1"/>
          <p:nvPr/>
        </p:nvSpPr>
        <p:spPr>
          <a:xfrm>
            <a:off x="5972175" y="3906181"/>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39" name="TextBox 38"/>
          <p:cNvSpPr txBox="1"/>
          <p:nvPr/>
        </p:nvSpPr>
        <p:spPr>
          <a:xfrm>
            <a:off x="5972175" y="5003651"/>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0" name="TextBox 39"/>
          <p:cNvSpPr txBox="1"/>
          <p:nvPr/>
        </p:nvSpPr>
        <p:spPr>
          <a:xfrm>
            <a:off x="5972175" y="576414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5972175" y="626687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2" name="Rounded Rectangle 41"/>
          <p:cNvSpPr/>
          <p:nvPr/>
        </p:nvSpPr>
        <p:spPr>
          <a:xfrm>
            <a:off x="7581900" y="3067050"/>
            <a:ext cx="445770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15250" y="315277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4" name="Rectangle 43"/>
          <p:cNvSpPr/>
          <p:nvPr/>
        </p:nvSpPr>
        <p:spPr>
          <a:xfrm>
            <a:off x="7715250" y="33909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15250" y="3476625"/>
            <a:ext cx="4191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4"/>
          <a:stretch>
            <a:fillRect/>
          </a:stretch>
        </p:blipFill>
        <p:spPr>
          <a:xfrm>
            <a:off x="7629270" y="1961541"/>
            <a:ext cx="366712" cy="533400"/>
          </a:xfrm>
          <a:prstGeom prst="rect">
            <a:avLst/>
          </a:prstGeom>
        </p:spPr>
      </p:pic>
      <p:sp>
        <p:nvSpPr>
          <p:cNvPr id="48" name="TextBox 47"/>
          <p:cNvSpPr txBox="1"/>
          <p:nvPr/>
        </p:nvSpPr>
        <p:spPr>
          <a:xfrm>
            <a:off x="551212" y="4233572"/>
            <a:ext cx="1279082" cy="139750"/>
          </a:xfrm>
          <a:prstGeom prst="rect">
            <a:avLst/>
          </a:prstGeom>
          <a:noFill/>
        </p:spPr>
        <p:txBody>
          <a:bodyPr wrap="none" lIns="0" rIns="0" tIns="0" bIns="0">
            <a:spAutoFit/>
          </a:bodyPr>
          <a:lstStyle/>
          <a:p>
            <a:r>
              <a:rPr sz="791" b="1">
                <a:solidFill>
                  <a:srgbClr val="2E2E2E"/>
                </a:solidFill>
                <a:latin typeface="Calibri"/>
              </a:rPr>
              <a:t>Mineral Ceramide Sunscreen</a:t>
            </a:r>
          </a:p>
        </p:txBody>
      </p:sp>
      <p:pic>
        <p:nvPicPr>
          <p:cNvPr id="49" name="Picture 48" descr="lock.png"/>
          <p:cNvPicPr>
            <a:picLocks noChangeAspect="1"/>
          </p:cNvPicPr>
          <p:nvPr/>
        </p:nvPicPr>
        <p:blipFill>
          <a:blip r:embed="rId4"/>
          <a:stretch>
            <a:fillRect/>
          </a:stretch>
        </p:blipFill>
        <p:spPr>
          <a:xfrm>
            <a:off x="1771555" y="4226531"/>
            <a:ext cx="92663" cy="134782"/>
          </a:xfrm>
          <a:prstGeom prst="rect">
            <a:avLst/>
          </a:prstGeom>
        </p:spPr>
      </p:pic>
      <p:sp>
        <p:nvSpPr>
          <p:cNvPr id="50" name="TextBox 49"/>
          <p:cNvSpPr txBox="1"/>
          <p:nvPr/>
        </p:nvSpPr>
        <p:spPr>
          <a:xfrm>
            <a:off x="599146" y="5605399"/>
            <a:ext cx="1231147" cy="139750"/>
          </a:xfrm>
          <a:prstGeom prst="rect">
            <a:avLst/>
          </a:prstGeom>
          <a:noFill/>
        </p:spPr>
        <p:txBody>
          <a:bodyPr wrap="none" lIns="0" rIns="0" tIns="0" bIns="0">
            <a:spAutoFit/>
          </a:bodyPr>
          <a:lstStyle/>
          <a:p>
            <a:r>
              <a:rPr sz="791" b="1">
                <a:solidFill>
                  <a:srgbClr val="2E2E2E"/>
                </a:solidFill>
                <a:latin typeface="Calibri"/>
              </a:rPr>
              <a:t>Hybrid Ceramide Sunscreen</a:t>
            </a:r>
          </a:p>
        </p:txBody>
      </p:sp>
      <p:pic>
        <p:nvPicPr>
          <p:cNvPr id="51" name="Picture 50" descr="lock.png"/>
          <p:cNvPicPr>
            <a:picLocks noChangeAspect="1"/>
          </p:cNvPicPr>
          <p:nvPr/>
        </p:nvPicPr>
        <p:blipFill>
          <a:blip r:embed="rId4"/>
          <a:stretch>
            <a:fillRect/>
          </a:stretch>
        </p:blipFill>
        <p:spPr>
          <a:xfrm>
            <a:off x="1771555" y="5598358"/>
            <a:ext cx="92663" cy="134782"/>
          </a:xfrm>
          <a:prstGeom prst="rect">
            <a:avLst/>
          </a:prstGeom>
        </p:spPr>
      </p:pic>
      <p:sp>
        <p:nvSpPr>
          <p:cNvPr id="52" name="TextBox 51"/>
          <p:cNvSpPr txBox="1"/>
          <p:nvPr/>
        </p:nvSpPr>
        <p:spPr>
          <a:xfrm>
            <a:off x="497776" y="6274001"/>
            <a:ext cx="1332517" cy="139750"/>
          </a:xfrm>
          <a:prstGeom prst="rect">
            <a:avLst/>
          </a:prstGeom>
          <a:noFill/>
        </p:spPr>
        <p:txBody>
          <a:bodyPr wrap="none" lIns="0" rIns="0" tIns="0" bIns="0">
            <a:spAutoFit/>
          </a:bodyPr>
          <a:lstStyle/>
          <a:p>
            <a:r>
              <a:rPr sz="791" b="1">
                <a:solidFill>
                  <a:srgbClr val="2E2E2E"/>
                </a:solidFill>
                <a:latin typeface="Calibri"/>
              </a:rPr>
              <a:t>Chemical Ceramide Sunscreen</a:t>
            </a:r>
          </a:p>
        </p:txBody>
      </p:sp>
      <p:pic>
        <p:nvPicPr>
          <p:cNvPr id="53" name="Picture 52" descr="lock.png"/>
          <p:cNvPicPr>
            <a:picLocks noChangeAspect="1"/>
          </p:cNvPicPr>
          <p:nvPr/>
        </p:nvPicPr>
        <p:blipFill>
          <a:blip r:embed="rId4"/>
          <a:stretch>
            <a:fillRect/>
          </a:stretch>
        </p:blipFill>
        <p:spPr>
          <a:xfrm>
            <a:off x="1771555" y="6266960"/>
            <a:ext cx="92663" cy="134782"/>
          </a:xfrm>
          <a:prstGeom prst="rect">
            <a:avLst/>
          </a:prstGeom>
        </p:spPr>
      </p:pic>
      <p:sp>
        <p:nvSpPr>
          <p:cNvPr id="54" name="TextBox 53"/>
          <p:cNvSpPr txBox="1"/>
          <p:nvPr/>
        </p:nvSpPr>
        <p:spPr>
          <a:xfrm>
            <a:off x="5972175" y="3917268"/>
            <a:ext cx="345537" cy="139750"/>
          </a:xfrm>
          <a:prstGeom prst="rect">
            <a:avLst/>
          </a:prstGeom>
          <a:noFill/>
        </p:spPr>
        <p:txBody>
          <a:bodyPr wrap="none" lIns="0" rIns="0" tIns="0" bIns="0">
            <a:spAutoFit/>
          </a:bodyPr>
          <a:lstStyle/>
          <a:p>
            <a:r>
              <a:rPr sz="791" b="0">
                <a:solidFill>
                  <a:srgbClr val="6C7A89"/>
                </a:solidFill>
                <a:latin typeface="Calibri"/>
              </a:rPr>
              <a:t>SPF 50</a:t>
            </a:r>
          </a:p>
        </p:txBody>
      </p:sp>
      <p:pic>
        <p:nvPicPr>
          <p:cNvPr id="55" name="Picture 54" descr="lock.png"/>
          <p:cNvPicPr>
            <a:picLocks noChangeAspect="1"/>
          </p:cNvPicPr>
          <p:nvPr/>
        </p:nvPicPr>
        <p:blipFill>
          <a:blip r:embed="rId4"/>
          <a:stretch>
            <a:fillRect/>
          </a:stretch>
        </p:blipFill>
        <p:spPr>
          <a:xfrm>
            <a:off x="6258973" y="3910227"/>
            <a:ext cx="92663" cy="134782"/>
          </a:xfrm>
          <a:prstGeom prst="rect">
            <a:avLst/>
          </a:prstGeom>
        </p:spPr>
      </p:pic>
      <p:sp>
        <p:nvSpPr>
          <p:cNvPr id="56" name="TextBox 55"/>
          <p:cNvSpPr txBox="1"/>
          <p:nvPr/>
        </p:nvSpPr>
        <p:spPr>
          <a:xfrm>
            <a:off x="5972175" y="5014738"/>
            <a:ext cx="638448" cy="139750"/>
          </a:xfrm>
          <a:prstGeom prst="rect">
            <a:avLst/>
          </a:prstGeom>
          <a:noFill/>
        </p:spPr>
        <p:txBody>
          <a:bodyPr wrap="none" lIns="0" rIns="0" tIns="0" bIns="0">
            <a:spAutoFit/>
          </a:bodyPr>
          <a:lstStyle/>
          <a:p>
            <a:r>
              <a:rPr sz="791" b="1">
                <a:solidFill>
                  <a:srgbClr val="2E2E2E"/>
                </a:solidFill>
                <a:latin typeface="Calibri"/>
              </a:rPr>
              <a:t>Above SPF 50</a:t>
            </a:r>
          </a:p>
        </p:txBody>
      </p:sp>
      <p:pic>
        <p:nvPicPr>
          <p:cNvPr id="57" name="Picture 56" descr="lock.png"/>
          <p:cNvPicPr>
            <a:picLocks noChangeAspect="1"/>
          </p:cNvPicPr>
          <p:nvPr/>
        </p:nvPicPr>
        <p:blipFill>
          <a:blip r:embed="rId4"/>
          <a:stretch>
            <a:fillRect/>
          </a:stretch>
        </p:blipFill>
        <p:spPr>
          <a:xfrm>
            <a:off x="6551884" y="5007697"/>
            <a:ext cx="92663" cy="134782"/>
          </a:xfrm>
          <a:prstGeom prst="rect">
            <a:avLst/>
          </a:prstGeom>
        </p:spPr>
      </p:pic>
      <p:sp>
        <p:nvSpPr>
          <p:cNvPr id="58" name="TextBox 57"/>
          <p:cNvSpPr txBox="1"/>
          <p:nvPr/>
        </p:nvSpPr>
        <p:spPr>
          <a:xfrm>
            <a:off x="5972175" y="5775227"/>
            <a:ext cx="500735" cy="139750"/>
          </a:xfrm>
          <a:prstGeom prst="rect">
            <a:avLst/>
          </a:prstGeom>
          <a:noFill/>
        </p:spPr>
        <p:txBody>
          <a:bodyPr wrap="none" lIns="0" rIns="0" tIns="0" bIns="0">
            <a:spAutoFit/>
          </a:bodyPr>
          <a:lstStyle/>
          <a:p>
            <a:r>
              <a:rPr sz="791" b="1">
                <a:solidFill>
                  <a:srgbClr val="2E2E2E"/>
                </a:solidFill>
                <a:latin typeface="Calibri"/>
              </a:rPr>
              <a:t>SPF 30–49</a:t>
            </a:r>
          </a:p>
        </p:txBody>
      </p:sp>
      <p:pic>
        <p:nvPicPr>
          <p:cNvPr id="59" name="Picture 58" descr="lock.png"/>
          <p:cNvPicPr>
            <a:picLocks noChangeAspect="1"/>
          </p:cNvPicPr>
          <p:nvPr/>
        </p:nvPicPr>
        <p:blipFill>
          <a:blip r:embed="rId4"/>
          <a:stretch>
            <a:fillRect/>
          </a:stretch>
        </p:blipFill>
        <p:spPr>
          <a:xfrm>
            <a:off x="6414171" y="5768186"/>
            <a:ext cx="92663" cy="134782"/>
          </a:xfrm>
          <a:prstGeom prst="rect">
            <a:avLst/>
          </a:prstGeom>
        </p:spPr>
      </p:pic>
      <p:sp>
        <p:nvSpPr>
          <p:cNvPr id="60" name="TextBox 59"/>
          <p:cNvSpPr txBox="1"/>
          <p:nvPr/>
        </p:nvSpPr>
        <p:spPr>
          <a:xfrm>
            <a:off x="5972175" y="6277957"/>
            <a:ext cx="632162" cy="139750"/>
          </a:xfrm>
          <a:prstGeom prst="rect">
            <a:avLst/>
          </a:prstGeom>
          <a:noFill/>
        </p:spPr>
        <p:txBody>
          <a:bodyPr wrap="none" lIns="0" rIns="0" tIns="0" bIns="0">
            <a:spAutoFit/>
          </a:bodyPr>
          <a:lstStyle/>
          <a:p>
            <a:r>
              <a:rPr sz="791" b="1">
                <a:solidFill>
                  <a:srgbClr val="2E2E2E"/>
                </a:solidFill>
                <a:latin typeface="Calibri"/>
              </a:rPr>
              <a:t>Below SPF 30</a:t>
            </a:r>
          </a:p>
        </p:txBody>
      </p:sp>
      <p:pic>
        <p:nvPicPr>
          <p:cNvPr id="61" name="Picture 60" descr="lock.png"/>
          <p:cNvPicPr>
            <a:picLocks noChangeAspect="1"/>
          </p:cNvPicPr>
          <p:nvPr/>
        </p:nvPicPr>
        <p:blipFill>
          <a:blip r:embed="rId4"/>
          <a:stretch>
            <a:fillRect/>
          </a:stretch>
        </p:blipFill>
        <p:spPr>
          <a:xfrm>
            <a:off x="6545598" y="6270916"/>
            <a:ext cx="92663" cy="134782"/>
          </a:xfrm>
          <a:prstGeom prst="rect">
            <a:avLst/>
          </a:prstGeom>
        </p:spPr>
      </p:pic>
      <p:sp>
        <p:nvSpPr>
          <p:cNvPr id="62" name="TextBox 61"/>
          <p:cNvSpPr txBox="1"/>
          <p:nvPr/>
        </p:nvSpPr>
        <p:spPr>
          <a:xfrm>
            <a:off x="7715250" y="3486150"/>
            <a:ext cx="4142779" cy="194310"/>
          </a:xfrm>
          <a:prstGeom prst="rect">
            <a:avLst/>
          </a:prstGeom>
          <a:noFill/>
        </p:spPr>
        <p:txBody>
          <a:bodyPr wrap="none" lIns="0" rIns="0" tIns="0" bIns="0">
            <a:spAutoFit/>
          </a:bodyPr>
          <a:lstStyle/>
          <a:p>
            <a:r>
              <a:rPr sz="1150" b="0">
                <a:solidFill>
                  <a:srgbClr val="2E2E2E"/>
                </a:solidFill>
                <a:latin typeface="Calibri"/>
              </a:rPr>
              <a:t>Mineral ceramide sunscreen segment is projected to account for the</a:t>
            </a:r>
          </a:p>
        </p:txBody>
      </p:sp>
      <p:sp>
        <p:nvSpPr>
          <p:cNvPr id="63" name="TextBox 62"/>
          <p:cNvSpPr txBox="1"/>
          <p:nvPr/>
        </p:nvSpPr>
        <p:spPr>
          <a:xfrm>
            <a:off x="7715250" y="3661410"/>
            <a:ext cx="4154189" cy="194310"/>
          </a:xfrm>
          <a:prstGeom prst="rect">
            <a:avLst/>
          </a:prstGeom>
          <a:noFill/>
        </p:spPr>
        <p:txBody>
          <a:bodyPr wrap="none" lIns="0" rIns="0" tIns="0" bIns="0">
            <a:spAutoFit/>
          </a:bodyPr>
          <a:lstStyle/>
          <a:p>
            <a:r>
              <a:rPr sz="1150" b="0">
                <a:solidFill>
                  <a:srgbClr val="2E2E2E"/>
                </a:solidFill>
                <a:latin typeface="Calibri"/>
              </a:rPr>
              <a:t>largest share of the global ceramide sunscreen market, led by SPF 50</a:t>
            </a:r>
          </a:p>
        </p:txBody>
      </p:sp>
      <p:sp>
        <p:nvSpPr>
          <p:cNvPr id="64" name="TextBox 63"/>
          <p:cNvSpPr txBox="1"/>
          <p:nvPr/>
        </p:nvSpPr>
        <p:spPr>
          <a:xfrm>
            <a:off x="7715250" y="3836669"/>
            <a:ext cx="463289" cy="194310"/>
          </a:xfrm>
          <a:prstGeom prst="rect">
            <a:avLst/>
          </a:prstGeom>
          <a:noFill/>
        </p:spPr>
        <p:txBody>
          <a:bodyPr wrap="none" lIns="0" rIns="0" tIns="0" bIns="0">
            <a:spAutoFit/>
          </a:bodyPr>
          <a:lstStyle/>
          <a:p>
            <a:r>
              <a:rPr sz="1150" b="0">
                <a:solidFill>
                  <a:srgbClr val="2E2E2E"/>
                </a:solidFill>
                <a:latin typeface="Calibri"/>
              </a:rPr>
              <a:t>at US$</a:t>
            </a:r>
          </a:p>
        </p:txBody>
      </p:sp>
      <p:pic>
        <p:nvPicPr>
          <p:cNvPr id="65" name="Picture 64" descr="lock.png"/>
          <p:cNvPicPr>
            <a:picLocks noChangeAspect="1"/>
          </p:cNvPicPr>
          <p:nvPr/>
        </p:nvPicPr>
        <p:blipFill>
          <a:blip r:embed="rId4"/>
          <a:stretch>
            <a:fillRect/>
          </a:stretch>
        </p:blipFill>
        <p:spPr>
          <a:xfrm>
            <a:off x="8127693" y="3826446"/>
            <a:ext cx="134549" cy="195707"/>
          </a:xfrm>
          <a:prstGeom prst="rect">
            <a:avLst/>
          </a:prstGeom>
        </p:spPr>
      </p:pic>
      <p:sp>
        <p:nvSpPr>
          <p:cNvPr id="66" name="TextBox 65"/>
          <p:cNvSpPr txBox="1"/>
          <p:nvPr/>
        </p:nvSpPr>
        <p:spPr>
          <a:xfrm>
            <a:off x="8302802" y="3836669"/>
            <a:ext cx="3483843" cy="194310"/>
          </a:xfrm>
          <a:prstGeom prst="rect">
            <a:avLst/>
          </a:prstGeom>
          <a:noFill/>
        </p:spPr>
        <p:txBody>
          <a:bodyPr wrap="none" lIns="0" rIns="0" tIns="0" bIns="0">
            <a:spAutoFit/>
          </a:bodyPr>
          <a:lstStyle/>
          <a:p>
            <a:r>
              <a:rPr sz="1150" b="0">
                <a:solidFill>
                  <a:srgbClr val="2E2E2E"/>
                </a:solidFill>
                <a:latin typeface="Calibri"/>
              </a:rPr>
              <a:t>Mn in 2036. 'Mineral Ceramide Sunscreen × SPF 50' is the</a:t>
            </a:r>
          </a:p>
        </p:txBody>
      </p:sp>
      <p:sp>
        <p:nvSpPr>
          <p:cNvPr id="67" name="TextBox 66"/>
          <p:cNvSpPr txBox="1"/>
          <p:nvPr/>
        </p:nvSpPr>
        <p:spPr>
          <a:xfrm>
            <a:off x="7715250" y="4011929"/>
            <a:ext cx="2080108" cy="194310"/>
          </a:xfrm>
          <a:prstGeom prst="rect">
            <a:avLst/>
          </a:prstGeom>
          <a:noFill/>
        </p:spPr>
        <p:txBody>
          <a:bodyPr wrap="none" lIns="0" rIns="0" tIns="0" bIns="0">
            <a:spAutoFit/>
          </a:bodyPr>
          <a:lstStyle/>
          <a:p>
            <a:r>
              <a:rPr sz="1150" b="0">
                <a:solidFill>
                  <a:srgbClr val="2E2E2E"/>
                </a:solidFill>
                <a:latin typeface="Calibri"/>
              </a:rPr>
              <a:t>single largest cross-sectional cell (</a:t>
            </a:r>
          </a:p>
        </p:txBody>
      </p:sp>
      <p:pic>
        <p:nvPicPr>
          <p:cNvPr id="68" name="Picture 67" descr="lock.png"/>
          <p:cNvPicPr>
            <a:picLocks noChangeAspect="1"/>
          </p:cNvPicPr>
          <p:nvPr/>
        </p:nvPicPr>
        <p:blipFill>
          <a:blip r:embed="rId4"/>
          <a:stretch>
            <a:fillRect/>
          </a:stretch>
        </p:blipFill>
        <p:spPr>
          <a:xfrm>
            <a:off x="9744512" y="4001706"/>
            <a:ext cx="134549" cy="195707"/>
          </a:xfrm>
          <a:prstGeom prst="rect">
            <a:avLst/>
          </a:prstGeom>
        </p:spPr>
      </p:pic>
      <p:sp>
        <p:nvSpPr>
          <p:cNvPr id="69" name="TextBox 68"/>
          <p:cNvSpPr txBox="1"/>
          <p:nvPr/>
        </p:nvSpPr>
        <p:spPr>
          <a:xfrm>
            <a:off x="9919621" y="4011929"/>
            <a:ext cx="1418604" cy="194310"/>
          </a:xfrm>
          <a:prstGeom prst="rect">
            <a:avLst/>
          </a:prstGeom>
          <a:noFill/>
        </p:spPr>
        <p:txBody>
          <a:bodyPr wrap="none" lIns="0" rIns="0" tIns="0" bIns="0">
            <a:spAutoFit/>
          </a:bodyPr>
          <a:lstStyle/>
          <a:p>
            <a:r>
              <a:rPr sz="1150" b="0">
                <a:solidFill>
                  <a:srgbClr val="2E2E2E"/>
                </a:solidFill>
                <a:latin typeface="Calibri"/>
              </a:rPr>
              <a:t>US$ Mn, 2026E), while</a:t>
            </a:r>
          </a:p>
        </p:txBody>
      </p:sp>
      <p:sp>
        <p:nvSpPr>
          <p:cNvPr id="70" name="TextBox 69"/>
          <p:cNvSpPr txBox="1"/>
          <p:nvPr/>
        </p:nvSpPr>
        <p:spPr>
          <a:xfrm>
            <a:off x="7715250" y="4187189"/>
            <a:ext cx="4018694" cy="194310"/>
          </a:xfrm>
          <a:prstGeom prst="rect">
            <a:avLst/>
          </a:prstGeom>
          <a:noFill/>
        </p:spPr>
        <p:txBody>
          <a:bodyPr wrap="none" lIns="0" rIns="0" tIns="0" bIns="0">
            <a:spAutoFit/>
          </a:bodyPr>
          <a:lstStyle/>
          <a:p>
            <a:r>
              <a:rPr sz="1150" b="0">
                <a:solidFill>
                  <a:srgbClr val="2E2E2E"/>
                </a:solidFill>
                <a:latin typeface="Calibri"/>
              </a:rPr>
              <a:t>'Chemical Ceramide Sunscreen × Above SPF 50' records the fastest</a:t>
            </a:r>
          </a:p>
        </p:txBody>
      </p:sp>
      <p:sp>
        <p:nvSpPr>
          <p:cNvPr id="71" name="TextBox 70"/>
          <p:cNvSpPr txBox="1"/>
          <p:nvPr/>
        </p:nvSpPr>
        <p:spPr>
          <a:xfrm>
            <a:off x="7715250" y="4362449"/>
            <a:ext cx="1279668" cy="194310"/>
          </a:xfrm>
          <a:prstGeom prst="rect">
            <a:avLst/>
          </a:prstGeom>
          <a:noFill/>
        </p:spPr>
        <p:txBody>
          <a:bodyPr wrap="none" lIns="0" rIns="0" tIns="0" bIns="0">
            <a:spAutoFit/>
          </a:bodyPr>
          <a:lstStyle/>
          <a:p>
            <a:r>
              <a:rPr sz="1150" b="0">
                <a:solidFill>
                  <a:srgbClr val="2E2E2E"/>
                </a:solidFill>
                <a:latin typeface="Calibri"/>
              </a:rPr>
              <a:t>growth at a CAGR of</a:t>
            </a:r>
          </a:p>
        </p:txBody>
      </p:sp>
      <p:pic>
        <p:nvPicPr>
          <p:cNvPr id="72" name="Picture 71" descr="lock.png"/>
          <p:cNvPicPr>
            <a:picLocks noChangeAspect="1"/>
          </p:cNvPicPr>
          <p:nvPr/>
        </p:nvPicPr>
        <p:blipFill>
          <a:blip r:embed="rId4"/>
          <a:stretch>
            <a:fillRect/>
          </a:stretch>
        </p:blipFill>
        <p:spPr>
          <a:xfrm>
            <a:off x="8944072" y="4352226"/>
            <a:ext cx="134549" cy="195707"/>
          </a:xfrm>
          <a:prstGeom prst="rect">
            <a:avLst/>
          </a:prstGeom>
        </p:spPr>
      </p:pic>
      <p:sp>
        <p:nvSpPr>
          <p:cNvPr id="73" name="TextBox 72"/>
          <p:cNvSpPr txBox="1"/>
          <p:nvPr/>
        </p:nvSpPr>
        <p:spPr>
          <a:xfrm>
            <a:off x="9119181" y="4362449"/>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74" name="TextBox 73"/>
          <p:cNvSpPr txBox="1"/>
          <p:nvPr/>
        </p:nvSpPr>
        <p:spPr>
          <a:xfrm>
            <a:off x="7715250" y="4590287"/>
            <a:ext cx="4082020" cy="194310"/>
          </a:xfrm>
          <a:prstGeom prst="rect">
            <a:avLst/>
          </a:prstGeom>
          <a:noFill/>
        </p:spPr>
        <p:txBody>
          <a:bodyPr wrap="none" lIns="0" rIns="0" tIns="0" bIns="0">
            <a:spAutoFit/>
          </a:bodyPr>
          <a:lstStyle/>
          <a:p>
            <a:r>
              <a:rPr sz="1150" b="0">
                <a:solidFill>
                  <a:srgbClr val="2E2E2E"/>
                </a:solidFill>
                <a:latin typeface="Calibri"/>
              </a:rPr>
              <a:t>Combined, the top three product type × spf rating cells generate an</a:t>
            </a:r>
          </a:p>
        </p:txBody>
      </p:sp>
      <p:sp>
        <p:nvSpPr>
          <p:cNvPr id="75" name="TextBox 74"/>
          <p:cNvSpPr txBox="1"/>
          <p:nvPr/>
        </p:nvSpPr>
        <p:spPr>
          <a:xfrm>
            <a:off x="7715250" y="4765547"/>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76" name="Picture 75" descr="lock.png"/>
          <p:cNvPicPr>
            <a:picLocks noChangeAspect="1"/>
          </p:cNvPicPr>
          <p:nvPr/>
        </p:nvPicPr>
        <p:blipFill>
          <a:blip r:embed="rId4"/>
          <a:stretch>
            <a:fillRect/>
          </a:stretch>
        </p:blipFill>
        <p:spPr>
          <a:xfrm>
            <a:off x="9258439" y="4755324"/>
            <a:ext cx="134549" cy="195707"/>
          </a:xfrm>
          <a:prstGeom prst="rect">
            <a:avLst/>
          </a:prstGeom>
        </p:spPr>
      </p:pic>
      <p:sp>
        <p:nvSpPr>
          <p:cNvPr id="77" name="TextBox 76"/>
          <p:cNvSpPr txBox="1"/>
          <p:nvPr/>
        </p:nvSpPr>
        <p:spPr>
          <a:xfrm>
            <a:off x="9433549" y="4765547"/>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Product Type × SPF Rating,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spf rating sub-segments</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Product Type × SPF Rating, 2026E (% of each row)</a:t>
            </a:r>
          </a:p>
        </p:txBody>
      </p:sp>
      <p:graphicFrame>
        <p:nvGraphicFramePr>
          <p:cNvPr id="12" name="Table 11"/>
          <p:cNvGraphicFramePr>
            <a:graphicFrameLocks noGrp="1"/>
          </p:cNvGraphicFramePr>
          <p:nvPr/>
        </p:nvGraphicFramePr>
        <p:xfrm>
          <a:off x="152400" y="1238250"/>
          <a:ext cx="11887202" cy="1238250"/>
        </p:xfrm>
        <a:graphic>
          <a:graphicData uri="http://schemas.openxmlformats.org/drawingml/2006/table">
            <a:tbl>
              <a:tblPr>
                <a:tableStyleId>{5C22544A-7EE6-4342-B048-85BDC9FD1C3A}</a:tableStyleId>
              </a:tblPr>
              <a:tblGrid>
                <a:gridCol w="3509632"/>
                <a:gridCol w="1675514"/>
                <a:gridCol w="1675514"/>
                <a:gridCol w="1675514"/>
                <a:gridCol w="1675514"/>
                <a:gridCol w="1675514"/>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Below SPF 30</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SPF 30–49</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SPF 50</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Above SPF 50</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7286625"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8765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SPF Rating Mix by Product Type, 2026E (% share)</a:t>
            </a:r>
          </a:p>
        </p:txBody>
      </p:sp>
      <p:graphicFrame>
        <p:nvGraphicFramePr>
          <p:cNvPr id="16" name="Chart 15"/>
          <p:cNvGraphicFramePr>
            <a:graphicFrameLocks noGrp="1"/>
          </p:cNvGraphicFramePr>
          <p:nvPr/>
        </p:nvGraphicFramePr>
        <p:xfrm>
          <a:off x="238125" y="3105150"/>
          <a:ext cx="7096125" cy="346710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2819400"/>
            <a:ext cx="4457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290512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1432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228975"/>
            <a:ext cx="4191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664127" y="1713738"/>
            <a:ext cx="366712" cy="533400"/>
          </a:xfrm>
          <a:prstGeom prst="rect">
            <a:avLst/>
          </a:prstGeom>
        </p:spPr>
      </p:pic>
      <p:pic>
        <p:nvPicPr>
          <p:cNvPr id="23" name="Picture 22" descr="lock.png"/>
          <p:cNvPicPr>
            <a:picLocks noChangeAspect="1"/>
          </p:cNvPicPr>
          <p:nvPr/>
        </p:nvPicPr>
        <p:blipFill>
          <a:blip r:embed="rId5"/>
          <a:stretch>
            <a:fillRect/>
          </a:stretch>
        </p:blipFill>
        <p:spPr>
          <a:xfrm>
            <a:off x="3709408" y="3864689"/>
            <a:ext cx="440818" cy="641190"/>
          </a:xfrm>
          <a:prstGeom prst="rect">
            <a:avLst/>
          </a:prstGeom>
        </p:spPr>
      </p:pic>
      <p:sp>
        <p:nvSpPr>
          <p:cNvPr id="24" name="TextBox 23"/>
          <p:cNvSpPr txBox="1"/>
          <p:nvPr/>
        </p:nvSpPr>
        <p:spPr>
          <a:xfrm>
            <a:off x="7715250" y="3238500"/>
            <a:ext cx="4171950" cy="194310"/>
          </a:xfrm>
          <a:prstGeom prst="rect">
            <a:avLst/>
          </a:prstGeom>
          <a:noFill/>
        </p:spPr>
        <p:txBody>
          <a:bodyPr wrap="none" lIns="0" rIns="0" tIns="0" bIns="0">
            <a:spAutoFit/>
          </a:bodyPr>
          <a:lstStyle/>
          <a:p>
            <a:r>
              <a:rPr sz="1150" b="0">
                <a:solidFill>
                  <a:srgbClr val="2E2E2E"/>
                </a:solidFill>
                <a:latin typeface="Calibri"/>
              </a:rPr>
              <a:t>▪ 'SPF 50' holds the highest share of 'Chemical Ceramide Sunscreen' at</a:t>
            </a:r>
          </a:p>
        </p:txBody>
      </p:sp>
      <p:pic>
        <p:nvPicPr>
          <p:cNvPr id="25" name="Picture 24" descr="lock.png"/>
          <p:cNvPicPr>
            <a:picLocks noChangeAspect="1"/>
          </p:cNvPicPr>
          <p:nvPr/>
        </p:nvPicPr>
        <p:blipFill>
          <a:blip r:embed="rId5"/>
          <a:stretch>
            <a:fillRect/>
          </a:stretch>
        </p:blipFill>
        <p:spPr>
          <a:xfrm>
            <a:off x="7701170" y="3403536"/>
            <a:ext cx="134549" cy="195707"/>
          </a:xfrm>
          <a:prstGeom prst="rect">
            <a:avLst/>
          </a:prstGeom>
        </p:spPr>
      </p:pic>
      <p:sp>
        <p:nvSpPr>
          <p:cNvPr id="26" name="TextBox 25"/>
          <p:cNvSpPr txBox="1"/>
          <p:nvPr/>
        </p:nvSpPr>
        <p:spPr>
          <a:xfrm>
            <a:off x="7876279" y="341376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7" name="TextBox 26"/>
          <p:cNvSpPr txBox="1"/>
          <p:nvPr/>
        </p:nvSpPr>
        <p:spPr>
          <a:xfrm>
            <a:off x="7715250" y="3641597"/>
            <a:ext cx="4038091" cy="194310"/>
          </a:xfrm>
          <a:prstGeom prst="rect">
            <a:avLst/>
          </a:prstGeom>
          <a:noFill/>
        </p:spPr>
        <p:txBody>
          <a:bodyPr wrap="none" lIns="0" rIns="0" tIns="0" bIns="0">
            <a:spAutoFit/>
          </a:bodyPr>
          <a:lstStyle/>
          <a:p>
            <a:r>
              <a:rPr sz="1150" b="0">
                <a:solidFill>
                  <a:srgbClr val="2E2E2E"/>
                </a:solidFill>
                <a:latin typeface="Calibri"/>
              </a:rPr>
              <a:t>▪ 'Chemical Ceramide Sunscreen' is the most concentrated product</a:t>
            </a:r>
          </a:p>
        </p:txBody>
      </p:sp>
      <p:sp>
        <p:nvSpPr>
          <p:cNvPr id="28" name="TextBox 27"/>
          <p:cNvSpPr txBox="1"/>
          <p:nvPr/>
        </p:nvSpPr>
        <p:spPr>
          <a:xfrm>
            <a:off x="7715250" y="3816857"/>
            <a:ext cx="1476511" cy="194310"/>
          </a:xfrm>
          <a:prstGeom prst="rect">
            <a:avLst/>
          </a:prstGeom>
          <a:noFill/>
        </p:spPr>
        <p:txBody>
          <a:bodyPr wrap="none" lIns="0" rIns="0" tIns="0" bIns="0">
            <a:spAutoFit/>
          </a:bodyPr>
          <a:lstStyle/>
          <a:p>
            <a:r>
              <a:rPr sz="1150" b="0">
                <a:solidFill>
                  <a:srgbClr val="2E2E2E"/>
                </a:solidFill>
                <a:latin typeface="Calibri"/>
              </a:rPr>
              <a:t>type sub-segment, with</a:t>
            </a:r>
          </a:p>
        </p:txBody>
      </p:sp>
      <p:pic>
        <p:nvPicPr>
          <p:cNvPr id="29" name="Picture 28" descr="lock.png"/>
          <p:cNvPicPr>
            <a:picLocks noChangeAspect="1"/>
          </p:cNvPicPr>
          <p:nvPr/>
        </p:nvPicPr>
        <p:blipFill>
          <a:blip r:embed="rId5"/>
          <a:stretch>
            <a:fillRect/>
          </a:stretch>
        </p:blipFill>
        <p:spPr>
          <a:xfrm>
            <a:off x="9140915" y="3806634"/>
            <a:ext cx="134549" cy="195707"/>
          </a:xfrm>
          <a:prstGeom prst="rect">
            <a:avLst/>
          </a:prstGeom>
        </p:spPr>
      </p:pic>
      <p:sp>
        <p:nvSpPr>
          <p:cNvPr id="30" name="TextBox 29"/>
          <p:cNvSpPr txBox="1"/>
          <p:nvPr/>
        </p:nvSpPr>
        <p:spPr>
          <a:xfrm>
            <a:off x="9316024" y="3816857"/>
            <a:ext cx="1450553" cy="194310"/>
          </a:xfrm>
          <a:prstGeom prst="rect">
            <a:avLst/>
          </a:prstGeom>
          <a:noFill/>
        </p:spPr>
        <p:txBody>
          <a:bodyPr wrap="none" lIns="0" rIns="0" tIns="0" bIns="0">
            <a:spAutoFit/>
          </a:bodyPr>
          <a:lstStyle/>
          <a:p>
            <a:r>
              <a:rPr sz="1150" b="0">
                <a:solidFill>
                  <a:srgbClr val="2E2E2E"/>
                </a:solidFill>
                <a:latin typeface="Calibri"/>
              </a:rPr>
              <a:t>of its value via 'SPF 50'.</a:t>
            </a:r>
          </a:p>
        </p:txBody>
      </p:sp>
      <p:sp>
        <p:nvSpPr>
          <p:cNvPr id="31" name="TextBox 30"/>
          <p:cNvSpPr txBox="1"/>
          <p:nvPr/>
        </p:nvSpPr>
        <p:spPr>
          <a:xfrm>
            <a:off x="7715250" y="4044695"/>
            <a:ext cx="1471376" cy="194310"/>
          </a:xfrm>
          <a:prstGeom prst="rect">
            <a:avLst/>
          </a:prstGeom>
          <a:noFill/>
        </p:spPr>
        <p:txBody>
          <a:bodyPr wrap="none" lIns="0" rIns="0" tIns="0" bIns="0">
            <a:spAutoFit/>
          </a:bodyPr>
          <a:lstStyle/>
          <a:p>
            <a:r>
              <a:rPr sz="1150" b="0">
                <a:solidFill>
                  <a:srgbClr val="2E2E2E"/>
                </a:solidFill>
                <a:latin typeface="Calibri"/>
              </a:rPr>
              <a:t>▪ 'Above SPF 50' gains +</a:t>
            </a:r>
          </a:p>
        </p:txBody>
      </p:sp>
      <p:pic>
        <p:nvPicPr>
          <p:cNvPr id="32" name="Picture 31" descr="lock.png"/>
          <p:cNvPicPr>
            <a:picLocks noChangeAspect="1"/>
          </p:cNvPicPr>
          <p:nvPr/>
        </p:nvPicPr>
        <p:blipFill>
          <a:blip r:embed="rId5"/>
          <a:stretch>
            <a:fillRect/>
          </a:stretch>
        </p:blipFill>
        <p:spPr>
          <a:xfrm>
            <a:off x="9135780" y="4034472"/>
            <a:ext cx="134549" cy="195707"/>
          </a:xfrm>
          <a:prstGeom prst="rect">
            <a:avLst/>
          </a:prstGeom>
        </p:spPr>
      </p:pic>
      <p:sp>
        <p:nvSpPr>
          <p:cNvPr id="33" name="TextBox 32"/>
          <p:cNvSpPr txBox="1"/>
          <p:nvPr/>
        </p:nvSpPr>
        <p:spPr>
          <a:xfrm>
            <a:off x="9310890" y="4044695"/>
            <a:ext cx="2426121" cy="194310"/>
          </a:xfrm>
          <a:prstGeom prst="rect">
            <a:avLst/>
          </a:prstGeom>
          <a:noFill/>
        </p:spPr>
        <p:txBody>
          <a:bodyPr wrap="none" lIns="0" rIns="0" tIns="0" bIns="0">
            <a:spAutoFit/>
          </a:bodyPr>
          <a:lstStyle/>
          <a:p>
            <a:r>
              <a:rPr sz="1150" b="0">
                <a:solidFill>
                  <a:srgbClr val="2E2E2E"/>
                </a:solidFill>
                <a:latin typeface="Calibri"/>
              </a:rPr>
              <a:t>BPS of share of the Global cross-section</a:t>
            </a:r>
          </a:p>
        </p:txBody>
      </p:sp>
      <p:sp>
        <p:nvSpPr>
          <p:cNvPr id="34" name="TextBox 33"/>
          <p:cNvSpPr txBox="1"/>
          <p:nvPr/>
        </p:nvSpPr>
        <p:spPr>
          <a:xfrm>
            <a:off x="7715250" y="4219955"/>
            <a:ext cx="652484" cy="194310"/>
          </a:xfrm>
          <a:prstGeom prst="rect">
            <a:avLst/>
          </a:prstGeom>
          <a:noFill/>
        </p:spPr>
        <p:txBody>
          <a:bodyPr wrap="none" lIns="0" rIns="0" tIns="0" bIns="0">
            <a:spAutoFit/>
          </a:bodyPr>
          <a:lstStyle/>
          <a:p>
            <a:r>
              <a:rPr sz="1150" b="0">
                <a:solidFill>
                  <a:srgbClr val="2E2E2E"/>
                </a:solidFill>
                <a:latin typeface="Calibri"/>
              </a:rPr>
              <a:t>by 2036F.</a:t>
            </a:r>
          </a:p>
        </p:txBody>
      </p:sp>
      <p:sp>
        <p:nvSpPr>
          <p:cNvPr id="35" name="lockshield_16"/>
          <p:cNvSpPr/>
          <p:nvPr/>
        </p:nvSpPr>
        <p:spPr>
          <a:xfrm>
            <a:off x="238125" y="3105150"/>
            <a:ext cx="7096125" cy="3467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Product Type × SPF Rating,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SPF Rating, 2026E–2036F</a:t>
            </a:r>
          </a:p>
        </p:txBody>
      </p:sp>
      <p:graphicFrame>
        <p:nvGraphicFramePr>
          <p:cNvPr id="12" name="Table 11"/>
          <p:cNvGraphicFramePr>
            <a:graphicFrameLocks noGrp="1"/>
          </p:cNvGraphicFramePr>
          <p:nvPr/>
        </p:nvGraphicFramePr>
        <p:xfrm>
          <a:off x="152400" y="1238250"/>
          <a:ext cx="11887201" cy="1485896"/>
        </p:xfrm>
        <a:graphic>
          <a:graphicData uri="http://schemas.openxmlformats.org/drawingml/2006/table">
            <a:tbl>
              <a:tblPr>
                <a:tableStyleId>{5C22544A-7EE6-4342-B048-85BDC9FD1C3A}</a:tableStyleId>
              </a:tblPr>
              <a:tblGrid>
                <a:gridCol w="2948171"/>
                <a:gridCol w="893903"/>
                <a:gridCol w="893903"/>
                <a:gridCol w="893903"/>
                <a:gridCol w="893903"/>
                <a:gridCol w="893903"/>
                <a:gridCol w="893903"/>
                <a:gridCol w="893903"/>
                <a:gridCol w="893903"/>
                <a:gridCol w="893903"/>
                <a:gridCol w="893903"/>
              </a:tblGrid>
              <a:tr h="246126">
                <a:tc rowSpan="2">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Below SPF 30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SPF 30–49</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SPF 50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Above SPF 50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95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560070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39090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5334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'Mineral Ceramide Sunscreen × Above SPF 50' ranks highest (5/5); 'Chemical Ceramide Sunscreen × SPF 30–49'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383396" y="1961541"/>
            <a:ext cx="366712" cy="533400"/>
          </a:xfrm>
          <a:prstGeom prst="rect">
            <a:avLst/>
          </a:prstGeom>
        </p:spPr>
      </p:pic>
      <p:sp>
        <p:nvSpPr>
          <p:cNvPr id="32" name="TextBox 31"/>
          <p:cNvSpPr txBox="1"/>
          <p:nvPr/>
        </p:nvSpPr>
        <p:spPr>
          <a:xfrm>
            <a:off x="276225" y="3486150"/>
            <a:ext cx="3090192" cy="194310"/>
          </a:xfrm>
          <a:prstGeom prst="rect">
            <a:avLst/>
          </a:prstGeom>
          <a:noFill/>
        </p:spPr>
        <p:txBody>
          <a:bodyPr wrap="none" lIns="0" rIns="0" tIns="0" bIns="0">
            <a:spAutoFit/>
          </a:bodyPr>
          <a:lstStyle/>
          <a:p>
            <a:r>
              <a:rPr sz="1150" b="0">
                <a:solidFill>
                  <a:srgbClr val="2E2E2E"/>
                </a:solidFill>
                <a:latin typeface="Calibri"/>
              </a:rPr>
              <a:t>▪ 1. Mineral Ceramide Sunscreen × SPF 50 – 429.6 ·</a:t>
            </a:r>
          </a:p>
        </p:txBody>
      </p:sp>
      <p:pic>
        <p:nvPicPr>
          <p:cNvPr id="33" name="Picture 32" descr="lock.png"/>
          <p:cNvPicPr>
            <a:picLocks noChangeAspect="1"/>
          </p:cNvPicPr>
          <p:nvPr/>
        </p:nvPicPr>
        <p:blipFill>
          <a:blip r:embed="rId4"/>
          <a:stretch>
            <a:fillRect/>
          </a:stretch>
        </p:blipFill>
        <p:spPr>
          <a:xfrm>
            <a:off x="3315571" y="3475926"/>
            <a:ext cx="134549" cy="195707"/>
          </a:xfrm>
          <a:prstGeom prst="rect">
            <a:avLst/>
          </a:prstGeom>
        </p:spPr>
      </p:pic>
      <p:sp>
        <p:nvSpPr>
          <p:cNvPr id="34" name="TextBox 33"/>
          <p:cNvSpPr txBox="1"/>
          <p:nvPr/>
        </p:nvSpPr>
        <p:spPr>
          <a:xfrm>
            <a:off x="3490680" y="3486150"/>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35" name="TextBox 34"/>
          <p:cNvSpPr txBox="1"/>
          <p:nvPr/>
        </p:nvSpPr>
        <p:spPr>
          <a:xfrm>
            <a:off x="276225" y="3713987"/>
            <a:ext cx="3500102" cy="194310"/>
          </a:xfrm>
          <a:prstGeom prst="rect">
            <a:avLst/>
          </a:prstGeom>
          <a:noFill/>
        </p:spPr>
        <p:txBody>
          <a:bodyPr wrap="none" lIns="0" rIns="0" tIns="0" bIns="0">
            <a:spAutoFit/>
          </a:bodyPr>
          <a:lstStyle/>
          <a:p>
            <a:r>
              <a:rPr sz="1150" b="0">
                <a:solidFill>
                  <a:srgbClr val="2E2E2E"/>
                </a:solidFill>
                <a:latin typeface="Calibri"/>
              </a:rPr>
              <a:t>▪ 2. Mineral Ceramide Sunscreen × Above SPF 50 – 420.1 ·</a:t>
            </a:r>
          </a:p>
        </p:txBody>
      </p:sp>
      <p:pic>
        <p:nvPicPr>
          <p:cNvPr id="36" name="Picture 35" descr="lock.png"/>
          <p:cNvPicPr>
            <a:picLocks noChangeAspect="1"/>
          </p:cNvPicPr>
          <p:nvPr/>
        </p:nvPicPr>
        <p:blipFill>
          <a:blip r:embed="rId4"/>
          <a:stretch>
            <a:fillRect/>
          </a:stretch>
        </p:blipFill>
        <p:spPr>
          <a:xfrm>
            <a:off x="3725481" y="3703764"/>
            <a:ext cx="134549" cy="195707"/>
          </a:xfrm>
          <a:prstGeom prst="rect">
            <a:avLst/>
          </a:prstGeom>
        </p:spPr>
      </p:pic>
      <p:sp>
        <p:nvSpPr>
          <p:cNvPr id="37" name="TextBox 36"/>
          <p:cNvSpPr txBox="1"/>
          <p:nvPr/>
        </p:nvSpPr>
        <p:spPr>
          <a:xfrm>
            <a:off x="3900590" y="3713987"/>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8" name="TextBox 37"/>
          <p:cNvSpPr txBox="1"/>
          <p:nvPr/>
        </p:nvSpPr>
        <p:spPr>
          <a:xfrm>
            <a:off x="276225" y="3941825"/>
            <a:ext cx="3432782" cy="194310"/>
          </a:xfrm>
          <a:prstGeom prst="rect">
            <a:avLst/>
          </a:prstGeom>
          <a:noFill/>
        </p:spPr>
        <p:txBody>
          <a:bodyPr wrap="none" lIns="0" rIns="0" tIns="0" bIns="0">
            <a:spAutoFit/>
          </a:bodyPr>
          <a:lstStyle/>
          <a:p>
            <a:r>
              <a:rPr sz="1150" b="0">
                <a:solidFill>
                  <a:srgbClr val="2E2E2E"/>
                </a:solidFill>
                <a:latin typeface="Calibri"/>
              </a:rPr>
              <a:t>▪ 3. Hybrid Ceramide Sunscreen × Above SPF 50 – 207.3 ·</a:t>
            </a:r>
          </a:p>
        </p:txBody>
      </p:sp>
      <p:pic>
        <p:nvPicPr>
          <p:cNvPr id="39" name="Picture 38" descr="lock.png"/>
          <p:cNvPicPr>
            <a:picLocks noChangeAspect="1"/>
          </p:cNvPicPr>
          <p:nvPr/>
        </p:nvPicPr>
        <p:blipFill>
          <a:blip r:embed="rId4"/>
          <a:stretch>
            <a:fillRect/>
          </a:stretch>
        </p:blipFill>
        <p:spPr>
          <a:xfrm>
            <a:off x="3658161" y="3931602"/>
            <a:ext cx="134549" cy="195707"/>
          </a:xfrm>
          <a:prstGeom prst="rect">
            <a:avLst/>
          </a:prstGeom>
        </p:spPr>
      </p:pic>
      <p:sp>
        <p:nvSpPr>
          <p:cNvPr id="40" name="TextBox 39"/>
          <p:cNvSpPr txBox="1"/>
          <p:nvPr/>
        </p:nvSpPr>
        <p:spPr>
          <a:xfrm>
            <a:off x="3833270" y="3941825"/>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1" name="TextBox 40"/>
          <p:cNvSpPr txBox="1"/>
          <p:nvPr/>
        </p:nvSpPr>
        <p:spPr>
          <a:xfrm>
            <a:off x="276225" y="4169663"/>
            <a:ext cx="3022872" cy="194310"/>
          </a:xfrm>
          <a:prstGeom prst="rect">
            <a:avLst/>
          </a:prstGeom>
          <a:noFill/>
        </p:spPr>
        <p:txBody>
          <a:bodyPr wrap="none" lIns="0" rIns="0" tIns="0" bIns="0">
            <a:spAutoFit/>
          </a:bodyPr>
          <a:lstStyle/>
          <a:p>
            <a:r>
              <a:rPr sz="1150" b="0">
                <a:solidFill>
                  <a:srgbClr val="2E2E2E"/>
                </a:solidFill>
                <a:latin typeface="Calibri"/>
              </a:rPr>
              <a:t>▪ 4. Hybrid Ceramide Sunscreen × SPF 50 – 199.1 ·</a:t>
            </a:r>
          </a:p>
        </p:txBody>
      </p:sp>
      <p:pic>
        <p:nvPicPr>
          <p:cNvPr id="42" name="Picture 41" descr="lock.png"/>
          <p:cNvPicPr>
            <a:picLocks noChangeAspect="1"/>
          </p:cNvPicPr>
          <p:nvPr/>
        </p:nvPicPr>
        <p:blipFill>
          <a:blip r:embed="rId4"/>
          <a:stretch>
            <a:fillRect/>
          </a:stretch>
        </p:blipFill>
        <p:spPr>
          <a:xfrm>
            <a:off x="3248251" y="4159440"/>
            <a:ext cx="134549" cy="195707"/>
          </a:xfrm>
          <a:prstGeom prst="rect">
            <a:avLst/>
          </a:prstGeom>
        </p:spPr>
      </p:pic>
      <p:sp>
        <p:nvSpPr>
          <p:cNvPr id="43" name="TextBox 42"/>
          <p:cNvSpPr txBox="1"/>
          <p:nvPr/>
        </p:nvSpPr>
        <p:spPr>
          <a:xfrm>
            <a:off x="3423361" y="4169663"/>
            <a:ext cx="350899" cy="194310"/>
          </a:xfrm>
          <a:prstGeom prst="rect">
            <a:avLst/>
          </a:prstGeom>
          <a:noFill/>
        </p:spPr>
        <p:txBody>
          <a:bodyPr wrap="none" lIns="0" rIns="0" tIns="0" bIns="0">
            <a:spAutoFit/>
          </a:bodyPr>
          <a:lstStyle/>
          <a:p>
            <a:r>
              <a:rPr sz="1150" b="0">
                <a:solidFill>
                  <a:srgbClr val="2E2E2E"/>
                </a:solidFill>
                <a:latin typeface="Calibri"/>
              </a:rPr>
              <a:t>· 2/5</a:t>
            </a:r>
          </a:p>
        </p:txBody>
      </p:sp>
      <p:sp>
        <p:nvSpPr>
          <p:cNvPr id="44" name="TextBox 43"/>
          <p:cNvSpPr txBox="1"/>
          <p:nvPr/>
        </p:nvSpPr>
        <p:spPr>
          <a:xfrm>
            <a:off x="276225" y="4397501"/>
            <a:ext cx="3490689" cy="194310"/>
          </a:xfrm>
          <a:prstGeom prst="rect">
            <a:avLst/>
          </a:prstGeom>
          <a:noFill/>
        </p:spPr>
        <p:txBody>
          <a:bodyPr wrap="none" lIns="0" rIns="0" tIns="0" bIns="0">
            <a:spAutoFit/>
          </a:bodyPr>
          <a:lstStyle/>
          <a:p>
            <a:r>
              <a:rPr sz="1150" b="0">
                <a:solidFill>
                  <a:srgbClr val="2E2E2E"/>
                </a:solidFill>
                <a:latin typeface="Calibri"/>
              </a:rPr>
              <a:t>▪ 5. Mineral Ceramide Sunscreen × Below SPF 30 – 178.2 ·</a:t>
            </a:r>
          </a:p>
        </p:txBody>
      </p:sp>
      <p:pic>
        <p:nvPicPr>
          <p:cNvPr id="45" name="Picture 44" descr="lock.png"/>
          <p:cNvPicPr>
            <a:picLocks noChangeAspect="1"/>
          </p:cNvPicPr>
          <p:nvPr/>
        </p:nvPicPr>
        <p:blipFill>
          <a:blip r:embed="rId4"/>
          <a:stretch>
            <a:fillRect/>
          </a:stretch>
        </p:blipFill>
        <p:spPr>
          <a:xfrm>
            <a:off x="3716068" y="4387278"/>
            <a:ext cx="134549" cy="195707"/>
          </a:xfrm>
          <a:prstGeom prst="rect">
            <a:avLst/>
          </a:prstGeom>
        </p:spPr>
      </p:pic>
      <p:sp>
        <p:nvSpPr>
          <p:cNvPr id="46" name="TextBox 45"/>
          <p:cNvSpPr txBox="1"/>
          <p:nvPr/>
        </p:nvSpPr>
        <p:spPr>
          <a:xfrm>
            <a:off x="3891177" y="4397501"/>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6029325" y="3486150"/>
            <a:ext cx="1260288" cy="194310"/>
          </a:xfrm>
          <a:prstGeom prst="rect">
            <a:avLst/>
          </a:prstGeom>
          <a:noFill/>
        </p:spPr>
        <p:txBody>
          <a:bodyPr wrap="none" lIns="0" rIns="0" tIns="0" bIns="0">
            <a:spAutoFit/>
          </a:bodyPr>
          <a:lstStyle/>
          <a:p>
            <a:r>
              <a:rPr sz="1150" b="0">
                <a:solidFill>
                  <a:srgbClr val="2E2E2E"/>
                </a:solidFill>
                <a:latin typeface="Calibri"/>
              </a:rPr>
              <a:t>▪ 'Mineral Ceramide</a:t>
            </a:r>
          </a:p>
        </p:txBody>
      </p:sp>
      <p:sp>
        <p:nvSpPr>
          <p:cNvPr id="48" name="TextBox 47"/>
          <p:cNvSpPr txBox="1"/>
          <p:nvPr/>
        </p:nvSpPr>
        <p:spPr>
          <a:xfrm>
            <a:off x="6029325" y="3661410"/>
            <a:ext cx="1564654" cy="194310"/>
          </a:xfrm>
          <a:prstGeom prst="rect">
            <a:avLst/>
          </a:prstGeom>
          <a:noFill/>
        </p:spPr>
        <p:txBody>
          <a:bodyPr wrap="none" lIns="0" rIns="0" tIns="0" bIns="0">
            <a:spAutoFit/>
          </a:bodyPr>
          <a:lstStyle/>
          <a:p>
            <a:r>
              <a:rPr sz="1150" b="0">
                <a:solidFill>
                  <a:srgbClr val="2E2E2E"/>
                </a:solidFill>
                <a:latin typeface="Calibri"/>
              </a:rPr>
              <a:t>Sunscreen × SPF 50' adds</a:t>
            </a:r>
          </a:p>
        </p:txBody>
      </p:sp>
      <p:pic>
        <p:nvPicPr>
          <p:cNvPr id="49" name="Picture 48" descr="lock.png"/>
          <p:cNvPicPr>
            <a:picLocks noChangeAspect="1"/>
          </p:cNvPicPr>
          <p:nvPr/>
        </p:nvPicPr>
        <p:blipFill>
          <a:blip r:embed="rId4"/>
          <a:stretch>
            <a:fillRect/>
          </a:stretch>
        </p:blipFill>
        <p:spPr>
          <a:xfrm>
            <a:off x="6015245" y="3826446"/>
            <a:ext cx="134549" cy="195707"/>
          </a:xfrm>
          <a:prstGeom prst="rect">
            <a:avLst/>
          </a:prstGeom>
        </p:spPr>
      </p:pic>
      <p:sp>
        <p:nvSpPr>
          <p:cNvPr id="50" name="TextBox 49"/>
          <p:cNvSpPr txBox="1"/>
          <p:nvPr/>
        </p:nvSpPr>
        <p:spPr>
          <a:xfrm>
            <a:off x="6190354" y="383666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1" name="Picture 50" descr="lock.png"/>
          <p:cNvPicPr>
            <a:picLocks noChangeAspect="1"/>
          </p:cNvPicPr>
          <p:nvPr/>
        </p:nvPicPr>
        <p:blipFill>
          <a:blip r:embed="rId4"/>
          <a:stretch>
            <a:fillRect/>
          </a:stretch>
        </p:blipFill>
        <p:spPr>
          <a:xfrm>
            <a:off x="6015245" y="4001706"/>
            <a:ext cx="134549" cy="195707"/>
          </a:xfrm>
          <a:prstGeom prst="rect">
            <a:avLst/>
          </a:prstGeom>
        </p:spPr>
      </p:pic>
      <p:sp>
        <p:nvSpPr>
          <p:cNvPr id="52" name="TextBox 51"/>
          <p:cNvSpPr txBox="1"/>
          <p:nvPr/>
        </p:nvSpPr>
        <p:spPr>
          <a:xfrm>
            <a:off x="6190354" y="401192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53" name="TextBox 52"/>
          <p:cNvSpPr txBox="1"/>
          <p:nvPr/>
        </p:nvSpPr>
        <p:spPr>
          <a:xfrm>
            <a:off x="6029325" y="418718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54" name="TextBox 53"/>
          <p:cNvSpPr txBox="1"/>
          <p:nvPr/>
        </p:nvSpPr>
        <p:spPr>
          <a:xfrm>
            <a:off x="8124825" y="3486150"/>
            <a:ext cx="1340730" cy="194310"/>
          </a:xfrm>
          <a:prstGeom prst="rect">
            <a:avLst/>
          </a:prstGeom>
          <a:noFill/>
        </p:spPr>
        <p:txBody>
          <a:bodyPr wrap="none" lIns="0" rIns="0" tIns="0" bIns="0">
            <a:spAutoFit/>
          </a:bodyPr>
          <a:lstStyle/>
          <a:p>
            <a:r>
              <a:rPr sz="1150" b="0">
                <a:solidFill>
                  <a:srgbClr val="2E2E2E"/>
                </a:solidFill>
                <a:latin typeface="Calibri"/>
              </a:rPr>
              <a:t>▪ 'Chemical Ceramide</a:t>
            </a:r>
          </a:p>
        </p:txBody>
      </p:sp>
      <p:sp>
        <p:nvSpPr>
          <p:cNvPr id="55" name="TextBox 54"/>
          <p:cNvSpPr txBox="1"/>
          <p:nvPr/>
        </p:nvSpPr>
        <p:spPr>
          <a:xfrm>
            <a:off x="8124825" y="3661410"/>
            <a:ext cx="1657350" cy="194310"/>
          </a:xfrm>
          <a:prstGeom prst="rect">
            <a:avLst/>
          </a:prstGeom>
          <a:noFill/>
        </p:spPr>
        <p:txBody>
          <a:bodyPr wrap="none" lIns="0" rIns="0" tIns="0" bIns="0">
            <a:spAutoFit/>
          </a:bodyPr>
          <a:lstStyle/>
          <a:p>
            <a:r>
              <a:rPr sz="1150" b="0">
                <a:solidFill>
                  <a:srgbClr val="2E2E2E"/>
                </a:solidFill>
                <a:latin typeface="Calibri"/>
              </a:rPr>
              <a:t>Sunscreen × Above SPF 50'</a:t>
            </a:r>
          </a:p>
        </p:txBody>
      </p:sp>
      <p:sp>
        <p:nvSpPr>
          <p:cNvPr id="56" name="TextBox 55"/>
          <p:cNvSpPr txBox="1"/>
          <p:nvPr/>
        </p:nvSpPr>
        <p:spPr>
          <a:xfrm>
            <a:off x="8124825" y="3836669"/>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57" name="Picture 56" descr="lock.png"/>
          <p:cNvPicPr>
            <a:picLocks noChangeAspect="1"/>
          </p:cNvPicPr>
          <p:nvPr/>
        </p:nvPicPr>
        <p:blipFill>
          <a:blip r:embed="rId4"/>
          <a:stretch>
            <a:fillRect/>
          </a:stretch>
        </p:blipFill>
        <p:spPr>
          <a:xfrm>
            <a:off x="8763474" y="3826446"/>
            <a:ext cx="134549" cy="195707"/>
          </a:xfrm>
          <a:prstGeom prst="rect">
            <a:avLst/>
          </a:prstGeom>
        </p:spPr>
      </p:pic>
      <p:sp>
        <p:nvSpPr>
          <p:cNvPr id="58" name="TextBox 57"/>
          <p:cNvSpPr txBox="1"/>
          <p:nvPr/>
        </p:nvSpPr>
        <p:spPr>
          <a:xfrm>
            <a:off x="8938584" y="383666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59" name="Picture 58" descr="lock.png"/>
          <p:cNvPicPr>
            <a:picLocks noChangeAspect="1"/>
          </p:cNvPicPr>
          <p:nvPr/>
        </p:nvPicPr>
        <p:blipFill>
          <a:blip r:embed="rId4"/>
          <a:stretch>
            <a:fillRect/>
          </a:stretch>
        </p:blipFill>
        <p:spPr>
          <a:xfrm>
            <a:off x="9334179" y="3826446"/>
            <a:ext cx="134549" cy="195707"/>
          </a:xfrm>
          <a:prstGeom prst="rect">
            <a:avLst/>
          </a:prstGeom>
        </p:spPr>
      </p:pic>
      <p:sp>
        <p:nvSpPr>
          <p:cNvPr id="60" name="TextBox 59"/>
          <p:cNvSpPr txBox="1"/>
          <p:nvPr/>
        </p:nvSpPr>
        <p:spPr>
          <a:xfrm>
            <a:off x="8124825" y="401192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1" name="TextBox 60"/>
          <p:cNvSpPr txBox="1"/>
          <p:nvPr/>
        </p:nvSpPr>
        <p:spPr>
          <a:xfrm>
            <a:off x="8124825" y="418718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Ingredient Type × Product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Ingredient Type × Product Type,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ingredient type sub-segment across product type sub-segments</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Ingredient Type × Product Type, 2026E and 2036F (US$ Mn)</a:t>
            </a:r>
          </a:p>
        </p:txBody>
      </p:sp>
      <p:graphicFrame>
        <p:nvGraphicFramePr>
          <p:cNvPr id="12" name="Table 11"/>
          <p:cNvGraphicFramePr>
            <a:graphicFrameLocks noGrp="1"/>
          </p:cNvGraphicFramePr>
          <p:nvPr/>
        </p:nvGraphicFramePr>
        <p:xfrm>
          <a:off x="152400" y="1238250"/>
          <a:ext cx="11887198" cy="1485896"/>
        </p:xfrm>
        <a:graphic>
          <a:graphicData uri="http://schemas.openxmlformats.org/drawingml/2006/table">
            <a:tbl>
              <a:tblPr>
                <a:tableStyleId>{5C22544A-7EE6-4342-B048-85BDC9FD1C3A}</a:tableStyleId>
              </a:tblPr>
              <a:tblGrid>
                <a:gridCol w="3198966"/>
                <a:gridCol w="1086029"/>
                <a:gridCol w="1086029"/>
                <a:gridCol w="1086029"/>
                <a:gridCol w="1086029"/>
                <a:gridCol w="1086029"/>
                <a:gridCol w="1086029"/>
                <a:gridCol w="1086029"/>
                <a:gridCol w="1086029"/>
              </a:tblGrid>
              <a:tr h="246126">
                <a:tc rowSpan="2">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Mineral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Chemical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Hybrid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95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Niche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Emerging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7286625"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1242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Ingredient Type → Product Type, 2036F (US$ Mn)</a:t>
            </a:r>
          </a:p>
        </p:txBody>
      </p:sp>
      <p:sp>
        <p:nvSpPr>
          <p:cNvPr id="16" name="Freeform 15"/>
          <p:cNvSpPr/>
          <p:nvPr/>
        </p:nvSpPr>
        <p:spPr>
          <a:xfrm>
            <a:off x="2057400" y="3390900"/>
            <a:ext cx="3743325" cy="771525"/>
          </a:xfrm>
          <a:custGeom>
            <a:avLst/>
            <a:gdLst/>
            <a:ahLst/>
            <a:cxnLst/>
            <a:rect l="l" t="t" r="r" b="b"/>
            <a:pathLst>
              <a:path w="393" h="81">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81"/>
                </a:lnTo>
                <a:lnTo>
                  <a:pt x="377" y="81"/>
                </a:lnTo>
                <a:lnTo>
                  <a:pt x="360" y="81"/>
                </a:lnTo>
                <a:lnTo>
                  <a:pt x="344" y="81"/>
                </a:lnTo>
                <a:lnTo>
                  <a:pt x="327" y="81"/>
                </a:lnTo>
                <a:lnTo>
                  <a:pt x="311" y="81"/>
                </a:lnTo>
                <a:lnTo>
                  <a:pt x="295" y="81"/>
                </a:lnTo>
                <a:lnTo>
                  <a:pt x="278" y="81"/>
                </a:lnTo>
                <a:lnTo>
                  <a:pt x="262" y="81"/>
                </a:lnTo>
                <a:lnTo>
                  <a:pt x="246" y="81"/>
                </a:lnTo>
                <a:lnTo>
                  <a:pt x="229" y="81"/>
                </a:lnTo>
                <a:lnTo>
                  <a:pt x="213" y="81"/>
                </a:lnTo>
                <a:lnTo>
                  <a:pt x="196" y="81"/>
                </a:lnTo>
                <a:lnTo>
                  <a:pt x="180" y="81"/>
                </a:lnTo>
                <a:lnTo>
                  <a:pt x="164" y="81"/>
                </a:lnTo>
                <a:lnTo>
                  <a:pt x="147" y="81"/>
                </a:lnTo>
                <a:lnTo>
                  <a:pt x="131" y="81"/>
                </a:lnTo>
                <a:lnTo>
                  <a:pt x="114" y="81"/>
                </a:lnTo>
                <a:lnTo>
                  <a:pt x="98" y="81"/>
                </a:lnTo>
                <a:lnTo>
                  <a:pt x="82" y="81"/>
                </a:lnTo>
                <a:lnTo>
                  <a:pt x="65" y="81"/>
                </a:lnTo>
                <a:lnTo>
                  <a:pt x="49" y="81"/>
                </a:lnTo>
                <a:lnTo>
                  <a:pt x="33" y="81"/>
                </a:lnTo>
                <a:lnTo>
                  <a:pt x="16" y="81"/>
                </a:lnTo>
                <a:lnTo>
                  <a:pt x="0" y="8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162425"/>
            <a:ext cx="3743325" cy="1485900"/>
          </a:xfrm>
          <a:custGeom>
            <a:avLst/>
            <a:gdLst/>
            <a:ahLst/>
            <a:cxnLst/>
            <a:rect l="l" t="t" r="r" b="b"/>
            <a:pathLst>
              <a:path w="393" h="156">
                <a:moveTo>
                  <a:pt x="0" y="0"/>
                </a:moveTo>
                <a:lnTo>
                  <a:pt x="16" y="1"/>
                </a:lnTo>
                <a:lnTo>
                  <a:pt x="33" y="3"/>
                </a:lnTo>
                <a:lnTo>
                  <a:pt x="49" y="5"/>
                </a:lnTo>
                <a:lnTo>
                  <a:pt x="65" y="9"/>
                </a:lnTo>
                <a:lnTo>
                  <a:pt x="82" y="13"/>
                </a:lnTo>
                <a:lnTo>
                  <a:pt x="98" y="18"/>
                </a:lnTo>
                <a:lnTo>
                  <a:pt x="114" y="23"/>
                </a:lnTo>
                <a:lnTo>
                  <a:pt x="131" y="29"/>
                </a:lnTo>
                <a:lnTo>
                  <a:pt x="147" y="36"/>
                </a:lnTo>
                <a:lnTo>
                  <a:pt x="164" y="42"/>
                </a:lnTo>
                <a:lnTo>
                  <a:pt x="180" y="49"/>
                </a:lnTo>
                <a:lnTo>
                  <a:pt x="196" y="56"/>
                </a:lnTo>
                <a:lnTo>
                  <a:pt x="213" y="63"/>
                </a:lnTo>
                <a:lnTo>
                  <a:pt x="229" y="70"/>
                </a:lnTo>
                <a:lnTo>
                  <a:pt x="246" y="77"/>
                </a:lnTo>
                <a:lnTo>
                  <a:pt x="262" y="83"/>
                </a:lnTo>
                <a:lnTo>
                  <a:pt x="278" y="89"/>
                </a:lnTo>
                <a:lnTo>
                  <a:pt x="295" y="95"/>
                </a:lnTo>
                <a:lnTo>
                  <a:pt x="311" y="100"/>
                </a:lnTo>
                <a:lnTo>
                  <a:pt x="327" y="104"/>
                </a:lnTo>
                <a:lnTo>
                  <a:pt x="344" y="107"/>
                </a:lnTo>
                <a:lnTo>
                  <a:pt x="360" y="110"/>
                </a:lnTo>
                <a:lnTo>
                  <a:pt x="377" y="112"/>
                </a:lnTo>
                <a:lnTo>
                  <a:pt x="393" y="112"/>
                </a:lnTo>
                <a:lnTo>
                  <a:pt x="393" y="156"/>
                </a:lnTo>
                <a:lnTo>
                  <a:pt x="377" y="155"/>
                </a:lnTo>
                <a:lnTo>
                  <a:pt x="360" y="154"/>
                </a:lnTo>
                <a:lnTo>
                  <a:pt x="344" y="151"/>
                </a:lnTo>
                <a:lnTo>
                  <a:pt x="327" y="147"/>
                </a:lnTo>
                <a:lnTo>
                  <a:pt x="311" y="143"/>
                </a:lnTo>
                <a:lnTo>
                  <a:pt x="295" y="138"/>
                </a:lnTo>
                <a:lnTo>
                  <a:pt x="278" y="133"/>
                </a:lnTo>
                <a:lnTo>
                  <a:pt x="262" y="127"/>
                </a:lnTo>
                <a:lnTo>
                  <a:pt x="246" y="120"/>
                </a:lnTo>
                <a:lnTo>
                  <a:pt x="229" y="114"/>
                </a:lnTo>
                <a:lnTo>
                  <a:pt x="213" y="107"/>
                </a:lnTo>
                <a:lnTo>
                  <a:pt x="196" y="100"/>
                </a:lnTo>
                <a:lnTo>
                  <a:pt x="180" y="93"/>
                </a:lnTo>
                <a:lnTo>
                  <a:pt x="164" y="86"/>
                </a:lnTo>
                <a:lnTo>
                  <a:pt x="147" y="79"/>
                </a:lnTo>
                <a:lnTo>
                  <a:pt x="131" y="73"/>
                </a:lnTo>
                <a:lnTo>
                  <a:pt x="114" y="67"/>
                </a:lnTo>
                <a:lnTo>
                  <a:pt x="98" y="61"/>
                </a:lnTo>
                <a:lnTo>
                  <a:pt x="82" y="57"/>
                </a:lnTo>
                <a:lnTo>
                  <a:pt x="65" y="52"/>
                </a:lnTo>
                <a:lnTo>
                  <a:pt x="49" y="49"/>
                </a:lnTo>
                <a:lnTo>
                  <a:pt x="33" y="46"/>
                </a:lnTo>
                <a:lnTo>
                  <a:pt x="16" y="45"/>
                </a:lnTo>
                <a:lnTo>
                  <a:pt x="0" y="44"/>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581525"/>
            <a:ext cx="3743325" cy="1752600"/>
          </a:xfrm>
          <a:custGeom>
            <a:avLst/>
            <a:gdLst/>
            <a:ahLst/>
            <a:cxnLst/>
            <a:rect l="l" t="t" r="r" b="b"/>
            <a:pathLst>
              <a:path w="393" h="184">
                <a:moveTo>
                  <a:pt x="0" y="0"/>
                </a:moveTo>
                <a:lnTo>
                  <a:pt x="16" y="1"/>
                </a:lnTo>
                <a:lnTo>
                  <a:pt x="33" y="3"/>
                </a:lnTo>
                <a:lnTo>
                  <a:pt x="49" y="7"/>
                </a:lnTo>
                <a:lnTo>
                  <a:pt x="65" y="12"/>
                </a:lnTo>
                <a:lnTo>
                  <a:pt x="82" y="19"/>
                </a:lnTo>
                <a:lnTo>
                  <a:pt x="98" y="26"/>
                </a:lnTo>
                <a:lnTo>
                  <a:pt x="114" y="35"/>
                </a:lnTo>
                <a:lnTo>
                  <a:pt x="131" y="44"/>
                </a:lnTo>
                <a:lnTo>
                  <a:pt x="147" y="53"/>
                </a:lnTo>
                <a:lnTo>
                  <a:pt x="164" y="63"/>
                </a:lnTo>
                <a:lnTo>
                  <a:pt x="180" y="74"/>
                </a:lnTo>
                <a:lnTo>
                  <a:pt x="196" y="84"/>
                </a:lnTo>
                <a:lnTo>
                  <a:pt x="213" y="95"/>
                </a:lnTo>
                <a:lnTo>
                  <a:pt x="229" y="105"/>
                </a:lnTo>
                <a:lnTo>
                  <a:pt x="246" y="115"/>
                </a:lnTo>
                <a:lnTo>
                  <a:pt x="262" y="125"/>
                </a:lnTo>
                <a:lnTo>
                  <a:pt x="278" y="134"/>
                </a:lnTo>
                <a:lnTo>
                  <a:pt x="295" y="142"/>
                </a:lnTo>
                <a:lnTo>
                  <a:pt x="311" y="149"/>
                </a:lnTo>
                <a:lnTo>
                  <a:pt x="327" y="156"/>
                </a:lnTo>
                <a:lnTo>
                  <a:pt x="344" y="161"/>
                </a:lnTo>
                <a:lnTo>
                  <a:pt x="360" y="165"/>
                </a:lnTo>
                <a:lnTo>
                  <a:pt x="377" y="168"/>
                </a:lnTo>
                <a:lnTo>
                  <a:pt x="393" y="168"/>
                </a:lnTo>
                <a:lnTo>
                  <a:pt x="393" y="184"/>
                </a:lnTo>
                <a:lnTo>
                  <a:pt x="377" y="183"/>
                </a:lnTo>
                <a:lnTo>
                  <a:pt x="360" y="181"/>
                </a:lnTo>
                <a:lnTo>
                  <a:pt x="344" y="177"/>
                </a:lnTo>
                <a:lnTo>
                  <a:pt x="327" y="171"/>
                </a:lnTo>
                <a:lnTo>
                  <a:pt x="311" y="165"/>
                </a:lnTo>
                <a:lnTo>
                  <a:pt x="295" y="158"/>
                </a:lnTo>
                <a:lnTo>
                  <a:pt x="278" y="149"/>
                </a:lnTo>
                <a:lnTo>
                  <a:pt x="262" y="140"/>
                </a:lnTo>
                <a:lnTo>
                  <a:pt x="246" y="131"/>
                </a:lnTo>
                <a:lnTo>
                  <a:pt x="229" y="121"/>
                </a:lnTo>
                <a:lnTo>
                  <a:pt x="213" y="110"/>
                </a:lnTo>
                <a:lnTo>
                  <a:pt x="196" y="100"/>
                </a:lnTo>
                <a:lnTo>
                  <a:pt x="180" y="89"/>
                </a:lnTo>
                <a:lnTo>
                  <a:pt x="164" y="79"/>
                </a:lnTo>
                <a:lnTo>
                  <a:pt x="147" y="69"/>
                </a:lnTo>
                <a:lnTo>
                  <a:pt x="131" y="59"/>
                </a:lnTo>
                <a:lnTo>
                  <a:pt x="114" y="50"/>
                </a:lnTo>
                <a:lnTo>
                  <a:pt x="98" y="42"/>
                </a:lnTo>
                <a:lnTo>
                  <a:pt x="82" y="34"/>
                </a:lnTo>
                <a:lnTo>
                  <a:pt x="65" y="28"/>
                </a:lnTo>
                <a:lnTo>
                  <a:pt x="49" y="23"/>
                </a:lnTo>
                <a:lnTo>
                  <a:pt x="33" y="19"/>
                </a:lnTo>
                <a:lnTo>
                  <a:pt x="16" y="16"/>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162425"/>
            <a:ext cx="3743325" cy="1266825"/>
          </a:xfrm>
          <a:custGeom>
            <a:avLst/>
            <a:gdLst/>
            <a:ahLst/>
            <a:cxnLst/>
            <a:rect l="l" t="t" r="r" b="b"/>
            <a:pathLst>
              <a:path w="393" h="133">
                <a:moveTo>
                  <a:pt x="0" y="66"/>
                </a:moveTo>
                <a:lnTo>
                  <a:pt x="16" y="65"/>
                </a:lnTo>
                <a:lnTo>
                  <a:pt x="33" y="64"/>
                </a:lnTo>
                <a:lnTo>
                  <a:pt x="49" y="63"/>
                </a:lnTo>
                <a:lnTo>
                  <a:pt x="65" y="61"/>
                </a:lnTo>
                <a:lnTo>
                  <a:pt x="82" y="58"/>
                </a:lnTo>
                <a:lnTo>
                  <a:pt x="98" y="55"/>
                </a:lnTo>
                <a:lnTo>
                  <a:pt x="114" y="52"/>
                </a:lnTo>
                <a:lnTo>
                  <a:pt x="131" y="49"/>
                </a:lnTo>
                <a:lnTo>
                  <a:pt x="147" y="45"/>
                </a:lnTo>
                <a:lnTo>
                  <a:pt x="164" y="41"/>
                </a:lnTo>
                <a:lnTo>
                  <a:pt x="180" y="37"/>
                </a:lnTo>
                <a:lnTo>
                  <a:pt x="196" y="33"/>
                </a:lnTo>
                <a:lnTo>
                  <a:pt x="213" y="29"/>
                </a:lnTo>
                <a:lnTo>
                  <a:pt x="229" y="25"/>
                </a:lnTo>
                <a:lnTo>
                  <a:pt x="246" y="21"/>
                </a:lnTo>
                <a:lnTo>
                  <a:pt x="262" y="17"/>
                </a:lnTo>
                <a:lnTo>
                  <a:pt x="278" y="14"/>
                </a:lnTo>
                <a:lnTo>
                  <a:pt x="295" y="11"/>
                </a:lnTo>
                <a:lnTo>
                  <a:pt x="311" y="8"/>
                </a:lnTo>
                <a:lnTo>
                  <a:pt x="327" y="5"/>
                </a:lnTo>
                <a:lnTo>
                  <a:pt x="344" y="3"/>
                </a:lnTo>
                <a:lnTo>
                  <a:pt x="360" y="2"/>
                </a:lnTo>
                <a:lnTo>
                  <a:pt x="377" y="1"/>
                </a:lnTo>
                <a:lnTo>
                  <a:pt x="393" y="0"/>
                </a:lnTo>
                <a:lnTo>
                  <a:pt x="393" y="68"/>
                </a:lnTo>
                <a:lnTo>
                  <a:pt x="377" y="68"/>
                </a:lnTo>
                <a:lnTo>
                  <a:pt x="360" y="69"/>
                </a:lnTo>
                <a:lnTo>
                  <a:pt x="344" y="71"/>
                </a:lnTo>
                <a:lnTo>
                  <a:pt x="327" y="73"/>
                </a:lnTo>
                <a:lnTo>
                  <a:pt x="311" y="75"/>
                </a:lnTo>
                <a:lnTo>
                  <a:pt x="295" y="78"/>
                </a:lnTo>
                <a:lnTo>
                  <a:pt x="278" y="81"/>
                </a:lnTo>
                <a:lnTo>
                  <a:pt x="262" y="85"/>
                </a:lnTo>
                <a:lnTo>
                  <a:pt x="246" y="89"/>
                </a:lnTo>
                <a:lnTo>
                  <a:pt x="229" y="92"/>
                </a:lnTo>
                <a:lnTo>
                  <a:pt x="213" y="96"/>
                </a:lnTo>
                <a:lnTo>
                  <a:pt x="196" y="101"/>
                </a:lnTo>
                <a:lnTo>
                  <a:pt x="180" y="105"/>
                </a:lnTo>
                <a:lnTo>
                  <a:pt x="164" y="109"/>
                </a:lnTo>
                <a:lnTo>
                  <a:pt x="147" y="113"/>
                </a:lnTo>
                <a:lnTo>
                  <a:pt x="131" y="116"/>
                </a:lnTo>
                <a:lnTo>
                  <a:pt x="114" y="120"/>
                </a:lnTo>
                <a:lnTo>
                  <a:pt x="98" y="123"/>
                </a:lnTo>
                <a:lnTo>
                  <a:pt x="82" y="126"/>
                </a:lnTo>
                <a:lnTo>
                  <a:pt x="65" y="128"/>
                </a:lnTo>
                <a:lnTo>
                  <a:pt x="49" y="130"/>
                </a:lnTo>
                <a:lnTo>
                  <a:pt x="33" y="132"/>
                </a:lnTo>
                <a:lnTo>
                  <a:pt x="16" y="133"/>
                </a:lnTo>
                <a:lnTo>
                  <a:pt x="0" y="13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5429250"/>
            <a:ext cx="3743325" cy="533400"/>
          </a:xfrm>
          <a:custGeom>
            <a:avLst/>
            <a:gdLst/>
            <a:ahLst/>
            <a:cxnLst/>
            <a:rect l="l" t="t" r="r" b="b"/>
            <a:pathLst>
              <a:path w="393" h="56">
                <a:moveTo>
                  <a:pt x="0" y="0"/>
                </a:moveTo>
                <a:lnTo>
                  <a:pt x="16" y="0"/>
                </a:lnTo>
                <a:lnTo>
                  <a:pt x="33" y="1"/>
                </a:lnTo>
                <a:lnTo>
                  <a:pt x="49" y="1"/>
                </a:lnTo>
                <a:lnTo>
                  <a:pt x="65" y="2"/>
                </a:lnTo>
                <a:lnTo>
                  <a:pt x="82" y="3"/>
                </a:lnTo>
                <a:lnTo>
                  <a:pt x="98" y="4"/>
                </a:lnTo>
                <a:lnTo>
                  <a:pt x="114" y="5"/>
                </a:lnTo>
                <a:lnTo>
                  <a:pt x="131" y="6"/>
                </a:lnTo>
                <a:lnTo>
                  <a:pt x="147" y="7"/>
                </a:lnTo>
                <a:lnTo>
                  <a:pt x="164" y="9"/>
                </a:lnTo>
                <a:lnTo>
                  <a:pt x="180" y="10"/>
                </a:lnTo>
                <a:lnTo>
                  <a:pt x="196" y="11"/>
                </a:lnTo>
                <a:lnTo>
                  <a:pt x="213" y="13"/>
                </a:lnTo>
                <a:lnTo>
                  <a:pt x="229" y="14"/>
                </a:lnTo>
                <a:lnTo>
                  <a:pt x="246" y="16"/>
                </a:lnTo>
                <a:lnTo>
                  <a:pt x="262" y="17"/>
                </a:lnTo>
                <a:lnTo>
                  <a:pt x="278" y="18"/>
                </a:lnTo>
                <a:lnTo>
                  <a:pt x="295" y="19"/>
                </a:lnTo>
                <a:lnTo>
                  <a:pt x="311" y="20"/>
                </a:lnTo>
                <a:lnTo>
                  <a:pt x="327" y="21"/>
                </a:lnTo>
                <a:lnTo>
                  <a:pt x="344" y="22"/>
                </a:lnTo>
                <a:lnTo>
                  <a:pt x="360" y="22"/>
                </a:lnTo>
                <a:lnTo>
                  <a:pt x="377" y="23"/>
                </a:lnTo>
                <a:lnTo>
                  <a:pt x="393" y="23"/>
                </a:lnTo>
                <a:lnTo>
                  <a:pt x="393" y="56"/>
                </a:lnTo>
                <a:lnTo>
                  <a:pt x="377" y="56"/>
                </a:lnTo>
                <a:lnTo>
                  <a:pt x="360" y="55"/>
                </a:lnTo>
                <a:lnTo>
                  <a:pt x="344" y="55"/>
                </a:lnTo>
                <a:lnTo>
                  <a:pt x="327" y="54"/>
                </a:lnTo>
                <a:lnTo>
                  <a:pt x="311" y="53"/>
                </a:lnTo>
                <a:lnTo>
                  <a:pt x="295" y="52"/>
                </a:lnTo>
                <a:lnTo>
                  <a:pt x="278" y="51"/>
                </a:lnTo>
                <a:lnTo>
                  <a:pt x="262" y="50"/>
                </a:lnTo>
                <a:lnTo>
                  <a:pt x="246" y="49"/>
                </a:lnTo>
                <a:lnTo>
                  <a:pt x="229" y="47"/>
                </a:lnTo>
                <a:lnTo>
                  <a:pt x="213" y="46"/>
                </a:lnTo>
                <a:lnTo>
                  <a:pt x="196" y="44"/>
                </a:lnTo>
                <a:lnTo>
                  <a:pt x="180" y="43"/>
                </a:lnTo>
                <a:lnTo>
                  <a:pt x="164" y="42"/>
                </a:lnTo>
                <a:lnTo>
                  <a:pt x="147" y="40"/>
                </a:lnTo>
                <a:lnTo>
                  <a:pt x="131" y="39"/>
                </a:lnTo>
                <a:lnTo>
                  <a:pt x="114" y="38"/>
                </a:lnTo>
                <a:lnTo>
                  <a:pt x="98" y="37"/>
                </a:lnTo>
                <a:lnTo>
                  <a:pt x="82" y="36"/>
                </a:lnTo>
                <a:lnTo>
                  <a:pt x="65" y="35"/>
                </a:lnTo>
                <a:lnTo>
                  <a:pt x="49" y="34"/>
                </a:lnTo>
                <a:lnTo>
                  <a:pt x="33" y="34"/>
                </a:lnTo>
                <a:lnTo>
                  <a:pt x="16" y="33"/>
                </a:lnTo>
                <a:lnTo>
                  <a:pt x="0" y="3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743575"/>
            <a:ext cx="3743325" cy="723900"/>
          </a:xfrm>
          <a:custGeom>
            <a:avLst/>
            <a:gdLst/>
            <a:ahLst/>
            <a:cxnLst/>
            <a:rect l="l" t="t" r="r" b="b"/>
            <a:pathLst>
              <a:path w="393" h="76">
                <a:moveTo>
                  <a:pt x="0" y="0"/>
                </a:moveTo>
                <a:lnTo>
                  <a:pt x="16" y="0"/>
                </a:lnTo>
                <a:lnTo>
                  <a:pt x="33" y="1"/>
                </a:lnTo>
                <a:lnTo>
                  <a:pt x="49" y="3"/>
                </a:lnTo>
                <a:lnTo>
                  <a:pt x="65" y="5"/>
                </a:lnTo>
                <a:lnTo>
                  <a:pt x="82" y="7"/>
                </a:lnTo>
                <a:lnTo>
                  <a:pt x="98" y="10"/>
                </a:lnTo>
                <a:lnTo>
                  <a:pt x="114" y="13"/>
                </a:lnTo>
                <a:lnTo>
                  <a:pt x="131" y="16"/>
                </a:lnTo>
                <a:lnTo>
                  <a:pt x="147" y="20"/>
                </a:lnTo>
                <a:lnTo>
                  <a:pt x="164" y="23"/>
                </a:lnTo>
                <a:lnTo>
                  <a:pt x="180" y="27"/>
                </a:lnTo>
                <a:lnTo>
                  <a:pt x="196" y="31"/>
                </a:lnTo>
                <a:lnTo>
                  <a:pt x="213" y="35"/>
                </a:lnTo>
                <a:lnTo>
                  <a:pt x="229" y="39"/>
                </a:lnTo>
                <a:lnTo>
                  <a:pt x="246" y="42"/>
                </a:lnTo>
                <a:lnTo>
                  <a:pt x="262" y="46"/>
                </a:lnTo>
                <a:lnTo>
                  <a:pt x="278" y="49"/>
                </a:lnTo>
                <a:lnTo>
                  <a:pt x="295" y="52"/>
                </a:lnTo>
                <a:lnTo>
                  <a:pt x="311" y="55"/>
                </a:lnTo>
                <a:lnTo>
                  <a:pt x="327" y="57"/>
                </a:lnTo>
                <a:lnTo>
                  <a:pt x="344" y="59"/>
                </a:lnTo>
                <a:lnTo>
                  <a:pt x="360" y="61"/>
                </a:lnTo>
                <a:lnTo>
                  <a:pt x="377" y="62"/>
                </a:lnTo>
                <a:lnTo>
                  <a:pt x="393" y="62"/>
                </a:lnTo>
                <a:lnTo>
                  <a:pt x="393" y="76"/>
                </a:lnTo>
                <a:lnTo>
                  <a:pt x="377" y="76"/>
                </a:lnTo>
                <a:lnTo>
                  <a:pt x="360" y="75"/>
                </a:lnTo>
                <a:lnTo>
                  <a:pt x="344" y="74"/>
                </a:lnTo>
                <a:lnTo>
                  <a:pt x="327" y="72"/>
                </a:lnTo>
                <a:lnTo>
                  <a:pt x="311" y="69"/>
                </a:lnTo>
                <a:lnTo>
                  <a:pt x="295" y="67"/>
                </a:lnTo>
                <a:lnTo>
                  <a:pt x="278" y="64"/>
                </a:lnTo>
                <a:lnTo>
                  <a:pt x="262" y="60"/>
                </a:lnTo>
                <a:lnTo>
                  <a:pt x="246" y="57"/>
                </a:lnTo>
                <a:lnTo>
                  <a:pt x="229" y="53"/>
                </a:lnTo>
                <a:lnTo>
                  <a:pt x="213" y="49"/>
                </a:lnTo>
                <a:lnTo>
                  <a:pt x="196" y="45"/>
                </a:lnTo>
                <a:lnTo>
                  <a:pt x="180" y="42"/>
                </a:lnTo>
                <a:lnTo>
                  <a:pt x="164" y="38"/>
                </a:lnTo>
                <a:lnTo>
                  <a:pt x="147" y="34"/>
                </a:lnTo>
                <a:lnTo>
                  <a:pt x="131" y="31"/>
                </a:lnTo>
                <a:lnTo>
                  <a:pt x="114" y="27"/>
                </a:lnTo>
                <a:lnTo>
                  <a:pt x="98" y="24"/>
                </a:lnTo>
                <a:lnTo>
                  <a:pt x="82" y="21"/>
                </a:lnTo>
                <a:lnTo>
                  <a:pt x="65" y="19"/>
                </a:lnTo>
                <a:lnTo>
                  <a:pt x="49" y="17"/>
                </a:lnTo>
                <a:lnTo>
                  <a:pt x="33" y="16"/>
                </a:lnTo>
                <a:lnTo>
                  <a:pt x="16" y="15"/>
                </a:lnTo>
                <a:lnTo>
                  <a:pt x="0" y="1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810125"/>
            <a:ext cx="3743325" cy="1495425"/>
          </a:xfrm>
          <a:custGeom>
            <a:avLst/>
            <a:gdLst/>
            <a:ahLst/>
            <a:cxnLst/>
            <a:rect l="l" t="t" r="r" b="b"/>
            <a:pathLst>
              <a:path w="393" h="157">
                <a:moveTo>
                  <a:pt x="0" y="119"/>
                </a:moveTo>
                <a:lnTo>
                  <a:pt x="16" y="118"/>
                </a:lnTo>
                <a:lnTo>
                  <a:pt x="33" y="116"/>
                </a:lnTo>
                <a:lnTo>
                  <a:pt x="49" y="113"/>
                </a:lnTo>
                <a:lnTo>
                  <a:pt x="65" y="110"/>
                </a:lnTo>
                <a:lnTo>
                  <a:pt x="82" y="105"/>
                </a:lnTo>
                <a:lnTo>
                  <a:pt x="98" y="100"/>
                </a:lnTo>
                <a:lnTo>
                  <a:pt x="114" y="94"/>
                </a:lnTo>
                <a:lnTo>
                  <a:pt x="131" y="88"/>
                </a:lnTo>
                <a:lnTo>
                  <a:pt x="147" y="81"/>
                </a:lnTo>
                <a:lnTo>
                  <a:pt x="164" y="74"/>
                </a:lnTo>
                <a:lnTo>
                  <a:pt x="180" y="67"/>
                </a:lnTo>
                <a:lnTo>
                  <a:pt x="196" y="59"/>
                </a:lnTo>
                <a:lnTo>
                  <a:pt x="213" y="52"/>
                </a:lnTo>
                <a:lnTo>
                  <a:pt x="229" y="45"/>
                </a:lnTo>
                <a:lnTo>
                  <a:pt x="246" y="37"/>
                </a:lnTo>
                <a:lnTo>
                  <a:pt x="262" y="31"/>
                </a:lnTo>
                <a:lnTo>
                  <a:pt x="278" y="24"/>
                </a:lnTo>
                <a:lnTo>
                  <a:pt x="295" y="18"/>
                </a:lnTo>
                <a:lnTo>
                  <a:pt x="311" y="13"/>
                </a:lnTo>
                <a:lnTo>
                  <a:pt x="327" y="9"/>
                </a:lnTo>
                <a:lnTo>
                  <a:pt x="344" y="5"/>
                </a:lnTo>
                <a:lnTo>
                  <a:pt x="360" y="2"/>
                </a:lnTo>
                <a:lnTo>
                  <a:pt x="377" y="1"/>
                </a:lnTo>
                <a:lnTo>
                  <a:pt x="393" y="0"/>
                </a:lnTo>
                <a:lnTo>
                  <a:pt x="393" y="38"/>
                </a:lnTo>
                <a:lnTo>
                  <a:pt x="377" y="39"/>
                </a:lnTo>
                <a:lnTo>
                  <a:pt x="360" y="40"/>
                </a:lnTo>
                <a:lnTo>
                  <a:pt x="344" y="43"/>
                </a:lnTo>
                <a:lnTo>
                  <a:pt x="327" y="47"/>
                </a:lnTo>
                <a:lnTo>
                  <a:pt x="311" y="51"/>
                </a:lnTo>
                <a:lnTo>
                  <a:pt x="295" y="57"/>
                </a:lnTo>
                <a:lnTo>
                  <a:pt x="278" y="63"/>
                </a:lnTo>
                <a:lnTo>
                  <a:pt x="262" y="69"/>
                </a:lnTo>
                <a:lnTo>
                  <a:pt x="246" y="76"/>
                </a:lnTo>
                <a:lnTo>
                  <a:pt x="229" y="83"/>
                </a:lnTo>
                <a:lnTo>
                  <a:pt x="213" y="90"/>
                </a:lnTo>
                <a:lnTo>
                  <a:pt x="196" y="97"/>
                </a:lnTo>
                <a:lnTo>
                  <a:pt x="180" y="105"/>
                </a:lnTo>
                <a:lnTo>
                  <a:pt x="164" y="112"/>
                </a:lnTo>
                <a:lnTo>
                  <a:pt x="147" y="119"/>
                </a:lnTo>
                <a:lnTo>
                  <a:pt x="131" y="126"/>
                </a:lnTo>
                <a:lnTo>
                  <a:pt x="114" y="132"/>
                </a:lnTo>
                <a:lnTo>
                  <a:pt x="98" y="138"/>
                </a:lnTo>
                <a:lnTo>
                  <a:pt x="82" y="143"/>
                </a:lnTo>
                <a:lnTo>
                  <a:pt x="65" y="148"/>
                </a:lnTo>
                <a:lnTo>
                  <a:pt x="49" y="152"/>
                </a:lnTo>
                <a:lnTo>
                  <a:pt x="33" y="154"/>
                </a:lnTo>
                <a:lnTo>
                  <a:pt x="16" y="156"/>
                </a:lnTo>
                <a:lnTo>
                  <a:pt x="0" y="15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962650"/>
            <a:ext cx="3743325" cy="504825"/>
          </a:xfrm>
          <a:custGeom>
            <a:avLst/>
            <a:gdLst/>
            <a:ahLst/>
            <a:cxnLst/>
            <a:rect l="l" t="t" r="r" b="b"/>
            <a:pathLst>
              <a:path w="393" h="53">
                <a:moveTo>
                  <a:pt x="0" y="36"/>
                </a:moveTo>
                <a:lnTo>
                  <a:pt x="16" y="36"/>
                </a:lnTo>
                <a:lnTo>
                  <a:pt x="33" y="35"/>
                </a:lnTo>
                <a:lnTo>
                  <a:pt x="49" y="34"/>
                </a:lnTo>
                <a:lnTo>
                  <a:pt x="65" y="33"/>
                </a:lnTo>
                <a:lnTo>
                  <a:pt x="82" y="32"/>
                </a:lnTo>
                <a:lnTo>
                  <a:pt x="98" y="30"/>
                </a:lnTo>
                <a:lnTo>
                  <a:pt x="114" y="28"/>
                </a:lnTo>
                <a:lnTo>
                  <a:pt x="131" y="26"/>
                </a:lnTo>
                <a:lnTo>
                  <a:pt x="147" y="24"/>
                </a:lnTo>
                <a:lnTo>
                  <a:pt x="164" y="22"/>
                </a:lnTo>
                <a:lnTo>
                  <a:pt x="180" y="20"/>
                </a:lnTo>
                <a:lnTo>
                  <a:pt x="196" y="18"/>
                </a:lnTo>
                <a:lnTo>
                  <a:pt x="213" y="15"/>
                </a:lnTo>
                <a:lnTo>
                  <a:pt x="229" y="13"/>
                </a:lnTo>
                <a:lnTo>
                  <a:pt x="246" y="11"/>
                </a:lnTo>
                <a:lnTo>
                  <a:pt x="262" y="9"/>
                </a:lnTo>
                <a:lnTo>
                  <a:pt x="278" y="7"/>
                </a:lnTo>
                <a:lnTo>
                  <a:pt x="295" y="5"/>
                </a:lnTo>
                <a:lnTo>
                  <a:pt x="311" y="4"/>
                </a:lnTo>
                <a:lnTo>
                  <a:pt x="327" y="2"/>
                </a:lnTo>
                <a:lnTo>
                  <a:pt x="344" y="1"/>
                </a:lnTo>
                <a:lnTo>
                  <a:pt x="360" y="0"/>
                </a:lnTo>
                <a:lnTo>
                  <a:pt x="377" y="0"/>
                </a:lnTo>
                <a:lnTo>
                  <a:pt x="393" y="0"/>
                </a:lnTo>
                <a:lnTo>
                  <a:pt x="393" y="17"/>
                </a:lnTo>
                <a:lnTo>
                  <a:pt x="377" y="18"/>
                </a:lnTo>
                <a:lnTo>
                  <a:pt x="360" y="18"/>
                </a:lnTo>
                <a:lnTo>
                  <a:pt x="344" y="19"/>
                </a:lnTo>
                <a:lnTo>
                  <a:pt x="327" y="20"/>
                </a:lnTo>
                <a:lnTo>
                  <a:pt x="311" y="21"/>
                </a:lnTo>
                <a:lnTo>
                  <a:pt x="295" y="23"/>
                </a:lnTo>
                <a:lnTo>
                  <a:pt x="278" y="25"/>
                </a:lnTo>
                <a:lnTo>
                  <a:pt x="262" y="27"/>
                </a:lnTo>
                <a:lnTo>
                  <a:pt x="246" y="29"/>
                </a:lnTo>
                <a:lnTo>
                  <a:pt x="229" y="31"/>
                </a:lnTo>
                <a:lnTo>
                  <a:pt x="213" y="33"/>
                </a:lnTo>
                <a:lnTo>
                  <a:pt x="196" y="35"/>
                </a:lnTo>
                <a:lnTo>
                  <a:pt x="180" y="38"/>
                </a:lnTo>
                <a:lnTo>
                  <a:pt x="164" y="40"/>
                </a:lnTo>
                <a:lnTo>
                  <a:pt x="147" y="42"/>
                </a:lnTo>
                <a:lnTo>
                  <a:pt x="131" y="44"/>
                </a:lnTo>
                <a:lnTo>
                  <a:pt x="114" y="46"/>
                </a:lnTo>
                <a:lnTo>
                  <a:pt x="98" y="48"/>
                </a:lnTo>
                <a:lnTo>
                  <a:pt x="82" y="49"/>
                </a:lnTo>
                <a:lnTo>
                  <a:pt x="65" y="51"/>
                </a:lnTo>
                <a:lnTo>
                  <a:pt x="49" y="52"/>
                </a:lnTo>
                <a:lnTo>
                  <a:pt x="33" y="53"/>
                </a:lnTo>
                <a:lnTo>
                  <a:pt x="16" y="53"/>
                </a:lnTo>
                <a:lnTo>
                  <a:pt x="0" y="5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6467475"/>
            <a:ext cx="3743325" cy="66675"/>
          </a:xfrm>
          <a:custGeom>
            <a:avLst/>
            <a:gdLst/>
            <a:ahLst/>
            <a:cxnLst/>
            <a:rect l="l" t="t" r="r" b="b"/>
            <a:pathLst>
              <a:path w="393" h="7">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7"/>
                </a:lnTo>
                <a:lnTo>
                  <a:pt x="377" y="7"/>
                </a:lnTo>
                <a:lnTo>
                  <a:pt x="360" y="7"/>
                </a:lnTo>
                <a:lnTo>
                  <a:pt x="344" y="7"/>
                </a:lnTo>
                <a:lnTo>
                  <a:pt x="327" y="7"/>
                </a:lnTo>
                <a:lnTo>
                  <a:pt x="311" y="7"/>
                </a:lnTo>
                <a:lnTo>
                  <a:pt x="295" y="7"/>
                </a:lnTo>
                <a:lnTo>
                  <a:pt x="278" y="7"/>
                </a:lnTo>
                <a:lnTo>
                  <a:pt x="262" y="7"/>
                </a:lnTo>
                <a:lnTo>
                  <a:pt x="246" y="7"/>
                </a:lnTo>
                <a:lnTo>
                  <a:pt x="229" y="7"/>
                </a:lnTo>
                <a:lnTo>
                  <a:pt x="213" y="7"/>
                </a:lnTo>
                <a:lnTo>
                  <a:pt x="196" y="7"/>
                </a:lnTo>
                <a:lnTo>
                  <a:pt x="180" y="7"/>
                </a:lnTo>
                <a:lnTo>
                  <a:pt x="164" y="7"/>
                </a:lnTo>
                <a:lnTo>
                  <a:pt x="147" y="7"/>
                </a:lnTo>
                <a:lnTo>
                  <a:pt x="131" y="7"/>
                </a:lnTo>
                <a:lnTo>
                  <a:pt x="114" y="7"/>
                </a:lnTo>
                <a:lnTo>
                  <a:pt x="98" y="7"/>
                </a:lnTo>
                <a:lnTo>
                  <a:pt x="82" y="7"/>
                </a:lnTo>
                <a:lnTo>
                  <a:pt x="65" y="7"/>
                </a:lnTo>
                <a:lnTo>
                  <a:pt x="49" y="7"/>
                </a:lnTo>
                <a:lnTo>
                  <a:pt x="33" y="7"/>
                </a:lnTo>
                <a:lnTo>
                  <a:pt x="16" y="7"/>
                </a:lnTo>
                <a:lnTo>
                  <a:pt x="0" y="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41195" y="3390900"/>
            <a:ext cx="114300" cy="1338764"/>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41195" y="4786814"/>
            <a:ext cx="114300" cy="1095327"/>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41195" y="5939291"/>
            <a:ext cx="114300" cy="59485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00725" y="3390900"/>
            <a:ext cx="114300" cy="178253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00725" y="5230581"/>
            <a:ext cx="114300" cy="89738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800725" y="6185119"/>
            <a:ext cx="114300" cy="34903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7175" y="398884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2" name="TextBox 31"/>
          <p:cNvSpPr txBox="1"/>
          <p:nvPr/>
        </p:nvSpPr>
        <p:spPr>
          <a:xfrm>
            <a:off x="257175" y="526304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3" name="TextBox 32"/>
          <p:cNvSpPr txBox="1"/>
          <p:nvPr/>
        </p:nvSpPr>
        <p:spPr>
          <a:xfrm>
            <a:off x="257175" y="616528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4" name="TextBox 33"/>
          <p:cNvSpPr txBox="1"/>
          <p:nvPr/>
        </p:nvSpPr>
        <p:spPr>
          <a:xfrm>
            <a:off x="5972175" y="415834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35" name="TextBox 34"/>
          <p:cNvSpPr txBox="1"/>
          <p:nvPr/>
        </p:nvSpPr>
        <p:spPr>
          <a:xfrm>
            <a:off x="5972175" y="555545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36" name="TextBox 35"/>
          <p:cNvSpPr txBox="1"/>
          <p:nvPr/>
        </p:nvSpPr>
        <p:spPr>
          <a:xfrm>
            <a:off x="5972175" y="6235809"/>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37" name="Rounded Rectangle 36"/>
          <p:cNvSpPr/>
          <p:nvPr/>
        </p:nvSpPr>
        <p:spPr>
          <a:xfrm>
            <a:off x="7581900" y="3067050"/>
            <a:ext cx="445770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15250" y="315277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39" name="Rectangle 38"/>
          <p:cNvSpPr/>
          <p:nvPr/>
        </p:nvSpPr>
        <p:spPr>
          <a:xfrm>
            <a:off x="7715250" y="33909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15250" y="3476625"/>
            <a:ext cx="4191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4"/>
          <a:stretch>
            <a:fillRect/>
          </a:stretch>
        </p:blipFill>
        <p:spPr>
          <a:xfrm>
            <a:off x="7508792" y="1961541"/>
            <a:ext cx="366712" cy="533400"/>
          </a:xfrm>
          <a:prstGeom prst="rect">
            <a:avLst/>
          </a:prstGeom>
        </p:spPr>
      </p:pic>
      <p:sp>
        <p:nvSpPr>
          <p:cNvPr id="43" name="TextBox 42"/>
          <p:cNvSpPr txBox="1"/>
          <p:nvPr/>
        </p:nvSpPr>
        <p:spPr>
          <a:xfrm>
            <a:off x="938421" y="3999932"/>
            <a:ext cx="891873" cy="139750"/>
          </a:xfrm>
          <a:prstGeom prst="rect">
            <a:avLst/>
          </a:prstGeom>
          <a:noFill/>
        </p:spPr>
        <p:txBody>
          <a:bodyPr wrap="none" lIns="0" rIns="0" tIns="0" bIns="0">
            <a:spAutoFit/>
          </a:bodyPr>
          <a:lstStyle/>
          <a:p>
            <a:r>
              <a:rPr sz="791" b="1">
                <a:solidFill>
                  <a:srgbClr val="2E2E2E"/>
                </a:solidFill>
                <a:latin typeface="Calibri"/>
              </a:rPr>
              <a:t>Regular Ingredients</a:t>
            </a:r>
          </a:p>
        </p:txBody>
      </p:sp>
      <p:pic>
        <p:nvPicPr>
          <p:cNvPr id="44" name="Picture 43" descr="lock.png"/>
          <p:cNvPicPr>
            <a:picLocks noChangeAspect="1"/>
          </p:cNvPicPr>
          <p:nvPr/>
        </p:nvPicPr>
        <p:blipFill>
          <a:blip r:embed="rId4"/>
          <a:stretch>
            <a:fillRect/>
          </a:stretch>
        </p:blipFill>
        <p:spPr>
          <a:xfrm>
            <a:off x="1771555" y="3992891"/>
            <a:ext cx="92663" cy="134782"/>
          </a:xfrm>
          <a:prstGeom prst="rect">
            <a:avLst/>
          </a:prstGeom>
        </p:spPr>
      </p:pic>
      <p:sp>
        <p:nvSpPr>
          <p:cNvPr id="45" name="TextBox 44"/>
          <p:cNvSpPr txBox="1"/>
          <p:nvPr/>
        </p:nvSpPr>
        <p:spPr>
          <a:xfrm>
            <a:off x="865929" y="5274127"/>
            <a:ext cx="964364" cy="139750"/>
          </a:xfrm>
          <a:prstGeom prst="rect">
            <a:avLst/>
          </a:prstGeom>
          <a:noFill/>
        </p:spPr>
        <p:txBody>
          <a:bodyPr wrap="none" lIns="0" rIns="0" tIns="0" bIns="0">
            <a:spAutoFit/>
          </a:bodyPr>
          <a:lstStyle/>
          <a:p>
            <a:r>
              <a:rPr sz="791" b="1">
                <a:solidFill>
                  <a:srgbClr val="2E2E2E"/>
                </a:solidFill>
                <a:latin typeface="Calibri"/>
              </a:rPr>
              <a:t>Emerging Ingredients</a:t>
            </a:r>
          </a:p>
        </p:txBody>
      </p:sp>
      <p:pic>
        <p:nvPicPr>
          <p:cNvPr id="46" name="Picture 45" descr="lock.png"/>
          <p:cNvPicPr>
            <a:picLocks noChangeAspect="1"/>
          </p:cNvPicPr>
          <p:nvPr/>
        </p:nvPicPr>
        <p:blipFill>
          <a:blip r:embed="rId4"/>
          <a:stretch>
            <a:fillRect/>
          </a:stretch>
        </p:blipFill>
        <p:spPr>
          <a:xfrm>
            <a:off x="1771555" y="5267086"/>
            <a:ext cx="92663" cy="134782"/>
          </a:xfrm>
          <a:prstGeom prst="rect">
            <a:avLst/>
          </a:prstGeom>
        </p:spPr>
      </p:pic>
      <p:sp>
        <p:nvSpPr>
          <p:cNvPr id="47" name="TextBox 46"/>
          <p:cNvSpPr txBox="1"/>
          <p:nvPr/>
        </p:nvSpPr>
        <p:spPr>
          <a:xfrm>
            <a:off x="1019949" y="6176370"/>
            <a:ext cx="810345" cy="139750"/>
          </a:xfrm>
          <a:prstGeom prst="rect">
            <a:avLst/>
          </a:prstGeom>
          <a:noFill/>
        </p:spPr>
        <p:txBody>
          <a:bodyPr wrap="none" lIns="0" rIns="0" tIns="0" bIns="0">
            <a:spAutoFit/>
          </a:bodyPr>
          <a:lstStyle/>
          <a:p>
            <a:r>
              <a:rPr sz="791" b="1">
                <a:solidFill>
                  <a:srgbClr val="2E2E2E"/>
                </a:solidFill>
                <a:latin typeface="Calibri"/>
              </a:rPr>
              <a:t>Niche Ingredients</a:t>
            </a:r>
          </a:p>
        </p:txBody>
      </p:sp>
      <p:pic>
        <p:nvPicPr>
          <p:cNvPr id="48" name="Picture 47" descr="lock.png"/>
          <p:cNvPicPr>
            <a:picLocks noChangeAspect="1"/>
          </p:cNvPicPr>
          <p:nvPr/>
        </p:nvPicPr>
        <p:blipFill>
          <a:blip r:embed="rId4"/>
          <a:stretch>
            <a:fillRect/>
          </a:stretch>
        </p:blipFill>
        <p:spPr>
          <a:xfrm>
            <a:off x="1771555" y="6169329"/>
            <a:ext cx="92663" cy="134782"/>
          </a:xfrm>
          <a:prstGeom prst="rect">
            <a:avLst/>
          </a:prstGeom>
        </p:spPr>
      </p:pic>
      <p:sp>
        <p:nvSpPr>
          <p:cNvPr id="49" name="TextBox 48"/>
          <p:cNvSpPr txBox="1"/>
          <p:nvPr/>
        </p:nvSpPr>
        <p:spPr>
          <a:xfrm>
            <a:off x="5972175" y="4161465"/>
            <a:ext cx="1279082" cy="139750"/>
          </a:xfrm>
          <a:prstGeom prst="rect">
            <a:avLst/>
          </a:prstGeom>
          <a:noFill/>
        </p:spPr>
        <p:txBody>
          <a:bodyPr wrap="none" lIns="0" rIns="0" tIns="0" bIns="0">
            <a:spAutoFit/>
          </a:bodyPr>
          <a:lstStyle/>
          <a:p>
            <a:r>
              <a:rPr sz="791" b="1">
                <a:solidFill>
                  <a:srgbClr val="2E2E2E"/>
                </a:solidFill>
                <a:latin typeface="Calibri"/>
              </a:rPr>
              <a:t>Mineral Ceramide Sunscreen</a:t>
            </a:r>
          </a:p>
        </p:txBody>
      </p:sp>
      <p:pic>
        <p:nvPicPr>
          <p:cNvPr id="50" name="Picture 49" descr="lock.png"/>
          <p:cNvPicPr>
            <a:picLocks noChangeAspect="1"/>
          </p:cNvPicPr>
          <p:nvPr/>
        </p:nvPicPr>
        <p:blipFill>
          <a:blip r:embed="rId4"/>
          <a:stretch>
            <a:fillRect/>
          </a:stretch>
        </p:blipFill>
        <p:spPr>
          <a:xfrm>
            <a:off x="5962478" y="4275125"/>
            <a:ext cx="92663" cy="134782"/>
          </a:xfrm>
          <a:prstGeom prst="rect">
            <a:avLst/>
          </a:prstGeom>
        </p:spPr>
      </p:pic>
      <p:sp>
        <p:nvSpPr>
          <p:cNvPr id="51" name="TextBox 50"/>
          <p:cNvSpPr txBox="1"/>
          <p:nvPr/>
        </p:nvSpPr>
        <p:spPr>
          <a:xfrm>
            <a:off x="5972175" y="5618924"/>
            <a:ext cx="1231147" cy="139750"/>
          </a:xfrm>
          <a:prstGeom prst="rect">
            <a:avLst/>
          </a:prstGeom>
          <a:noFill/>
        </p:spPr>
        <p:txBody>
          <a:bodyPr wrap="none" lIns="0" rIns="0" tIns="0" bIns="0">
            <a:spAutoFit/>
          </a:bodyPr>
          <a:lstStyle/>
          <a:p>
            <a:r>
              <a:rPr sz="791" b="1">
                <a:solidFill>
                  <a:srgbClr val="2E2E2E"/>
                </a:solidFill>
                <a:latin typeface="Calibri"/>
              </a:rPr>
              <a:t>Hybrid Ceramide Sunscreen</a:t>
            </a:r>
          </a:p>
        </p:txBody>
      </p:sp>
      <p:pic>
        <p:nvPicPr>
          <p:cNvPr id="52" name="Picture 51" descr="lock.png"/>
          <p:cNvPicPr>
            <a:picLocks noChangeAspect="1"/>
          </p:cNvPicPr>
          <p:nvPr/>
        </p:nvPicPr>
        <p:blipFill>
          <a:blip r:embed="rId4"/>
          <a:stretch>
            <a:fillRect/>
          </a:stretch>
        </p:blipFill>
        <p:spPr>
          <a:xfrm>
            <a:off x="7144584" y="5611883"/>
            <a:ext cx="92663" cy="134782"/>
          </a:xfrm>
          <a:prstGeom prst="rect">
            <a:avLst/>
          </a:prstGeom>
        </p:spPr>
      </p:pic>
      <p:sp>
        <p:nvSpPr>
          <p:cNvPr id="53" name="TextBox 52"/>
          <p:cNvSpPr txBox="1"/>
          <p:nvPr/>
        </p:nvSpPr>
        <p:spPr>
          <a:xfrm>
            <a:off x="5972175" y="6238933"/>
            <a:ext cx="1332517" cy="139750"/>
          </a:xfrm>
          <a:prstGeom prst="rect">
            <a:avLst/>
          </a:prstGeom>
          <a:noFill/>
        </p:spPr>
        <p:txBody>
          <a:bodyPr wrap="none" lIns="0" rIns="0" tIns="0" bIns="0">
            <a:spAutoFit/>
          </a:bodyPr>
          <a:lstStyle/>
          <a:p>
            <a:r>
              <a:rPr sz="791" b="1">
                <a:solidFill>
                  <a:srgbClr val="2E2E2E"/>
                </a:solidFill>
                <a:latin typeface="Calibri"/>
              </a:rPr>
              <a:t>Chemical Ceramide Sunscreen</a:t>
            </a:r>
          </a:p>
        </p:txBody>
      </p:sp>
      <p:pic>
        <p:nvPicPr>
          <p:cNvPr id="54" name="Picture 53" descr="lock.png"/>
          <p:cNvPicPr>
            <a:picLocks noChangeAspect="1"/>
          </p:cNvPicPr>
          <p:nvPr/>
        </p:nvPicPr>
        <p:blipFill>
          <a:blip r:embed="rId4"/>
          <a:stretch>
            <a:fillRect/>
          </a:stretch>
        </p:blipFill>
        <p:spPr>
          <a:xfrm>
            <a:off x="5962478" y="6352593"/>
            <a:ext cx="92663" cy="134782"/>
          </a:xfrm>
          <a:prstGeom prst="rect">
            <a:avLst/>
          </a:prstGeom>
        </p:spPr>
      </p:pic>
      <p:sp>
        <p:nvSpPr>
          <p:cNvPr id="55" name="TextBox 54"/>
          <p:cNvSpPr txBox="1"/>
          <p:nvPr/>
        </p:nvSpPr>
        <p:spPr>
          <a:xfrm>
            <a:off x="7715250" y="3486150"/>
            <a:ext cx="4045222" cy="194310"/>
          </a:xfrm>
          <a:prstGeom prst="rect">
            <a:avLst/>
          </a:prstGeom>
          <a:noFill/>
        </p:spPr>
        <p:txBody>
          <a:bodyPr wrap="none" lIns="0" rIns="0" tIns="0" bIns="0">
            <a:spAutoFit/>
          </a:bodyPr>
          <a:lstStyle/>
          <a:p>
            <a:r>
              <a:rPr sz="1150" b="0">
                <a:solidFill>
                  <a:srgbClr val="2E2E2E"/>
                </a:solidFill>
                <a:latin typeface="Calibri"/>
              </a:rPr>
              <a:t>Regular ingredients segment is projected to account for the largest</a:t>
            </a:r>
          </a:p>
        </p:txBody>
      </p:sp>
      <p:sp>
        <p:nvSpPr>
          <p:cNvPr id="56" name="TextBox 55"/>
          <p:cNvSpPr txBox="1"/>
          <p:nvPr/>
        </p:nvSpPr>
        <p:spPr>
          <a:xfrm>
            <a:off x="7715250" y="3661410"/>
            <a:ext cx="3782218" cy="194310"/>
          </a:xfrm>
          <a:prstGeom prst="rect">
            <a:avLst/>
          </a:prstGeom>
          <a:noFill/>
        </p:spPr>
        <p:txBody>
          <a:bodyPr wrap="none" lIns="0" rIns="0" tIns="0" bIns="0">
            <a:spAutoFit/>
          </a:bodyPr>
          <a:lstStyle/>
          <a:p>
            <a:r>
              <a:rPr sz="1150" b="0">
                <a:solidFill>
                  <a:srgbClr val="2E2E2E"/>
                </a:solidFill>
                <a:latin typeface="Calibri"/>
              </a:rPr>
              <a:t>share of the global ceramide sunscreen market, led by mineral</a:t>
            </a:r>
          </a:p>
        </p:txBody>
      </p:sp>
      <p:sp>
        <p:nvSpPr>
          <p:cNvPr id="57" name="TextBox 56"/>
          <p:cNvSpPr txBox="1"/>
          <p:nvPr/>
        </p:nvSpPr>
        <p:spPr>
          <a:xfrm>
            <a:off x="7715250" y="3836669"/>
            <a:ext cx="1687599" cy="194310"/>
          </a:xfrm>
          <a:prstGeom prst="rect">
            <a:avLst/>
          </a:prstGeom>
          <a:noFill/>
        </p:spPr>
        <p:txBody>
          <a:bodyPr wrap="none" lIns="0" rIns="0" tIns="0" bIns="0">
            <a:spAutoFit/>
          </a:bodyPr>
          <a:lstStyle/>
          <a:p>
            <a:r>
              <a:rPr sz="1150" b="0">
                <a:solidFill>
                  <a:srgbClr val="2E2E2E"/>
                </a:solidFill>
                <a:latin typeface="Calibri"/>
              </a:rPr>
              <a:t>ceramide sunscreen at US$</a:t>
            </a:r>
          </a:p>
        </p:txBody>
      </p:sp>
      <p:pic>
        <p:nvPicPr>
          <p:cNvPr id="58" name="Picture 57" descr="lock.png"/>
          <p:cNvPicPr>
            <a:picLocks noChangeAspect="1"/>
          </p:cNvPicPr>
          <p:nvPr/>
        </p:nvPicPr>
        <p:blipFill>
          <a:blip r:embed="rId4"/>
          <a:stretch>
            <a:fillRect/>
          </a:stretch>
        </p:blipFill>
        <p:spPr>
          <a:xfrm>
            <a:off x="9352003" y="3826446"/>
            <a:ext cx="134549" cy="195707"/>
          </a:xfrm>
          <a:prstGeom prst="rect">
            <a:avLst/>
          </a:prstGeom>
        </p:spPr>
      </p:pic>
      <p:sp>
        <p:nvSpPr>
          <p:cNvPr id="59" name="TextBox 58"/>
          <p:cNvSpPr txBox="1"/>
          <p:nvPr/>
        </p:nvSpPr>
        <p:spPr>
          <a:xfrm>
            <a:off x="9527112" y="3836669"/>
            <a:ext cx="2116335" cy="194310"/>
          </a:xfrm>
          <a:prstGeom prst="rect">
            <a:avLst/>
          </a:prstGeom>
          <a:noFill/>
        </p:spPr>
        <p:txBody>
          <a:bodyPr wrap="none" lIns="0" rIns="0" tIns="0" bIns="0">
            <a:spAutoFit/>
          </a:bodyPr>
          <a:lstStyle/>
          <a:p>
            <a:r>
              <a:rPr sz="1150" b="0">
                <a:solidFill>
                  <a:srgbClr val="2E2E2E"/>
                </a:solidFill>
                <a:latin typeface="Calibri"/>
              </a:rPr>
              <a:t>Mn in 2036. 'Regular Ingredients ×</a:t>
            </a:r>
          </a:p>
        </p:txBody>
      </p:sp>
      <p:sp>
        <p:nvSpPr>
          <p:cNvPr id="60" name="TextBox 59"/>
          <p:cNvSpPr txBox="1"/>
          <p:nvPr/>
        </p:nvSpPr>
        <p:spPr>
          <a:xfrm>
            <a:off x="7715250" y="4011929"/>
            <a:ext cx="4136504" cy="194310"/>
          </a:xfrm>
          <a:prstGeom prst="rect">
            <a:avLst/>
          </a:prstGeom>
          <a:noFill/>
        </p:spPr>
        <p:txBody>
          <a:bodyPr wrap="none" lIns="0" rIns="0" tIns="0" bIns="0">
            <a:spAutoFit/>
          </a:bodyPr>
          <a:lstStyle/>
          <a:p>
            <a:r>
              <a:rPr sz="1150" b="0">
                <a:solidFill>
                  <a:srgbClr val="2E2E2E"/>
                </a:solidFill>
                <a:latin typeface="Calibri"/>
              </a:rPr>
              <a:t>Mineral Ceramide Sunscreen' is the single largest cross-sectional cell</a:t>
            </a:r>
          </a:p>
        </p:txBody>
      </p:sp>
      <p:sp>
        <p:nvSpPr>
          <p:cNvPr id="61" name="TextBox 60"/>
          <p:cNvSpPr txBox="1"/>
          <p:nvPr/>
        </p:nvSpPr>
        <p:spPr>
          <a:xfrm>
            <a:off x="7715250" y="4187189"/>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2" name="Picture 61" descr="lock.png"/>
          <p:cNvPicPr>
            <a:picLocks noChangeAspect="1"/>
          </p:cNvPicPr>
          <p:nvPr/>
        </p:nvPicPr>
        <p:blipFill>
          <a:blip r:embed="rId4"/>
          <a:stretch>
            <a:fillRect/>
          </a:stretch>
        </p:blipFill>
        <p:spPr>
          <a:xfrm>
            <a:off x="7784818" y="4176966"/>
            <a:ext cx="134549" cy="195707"/>
          </a:xfrm>
          <a:prstGeom prst="rect">
            <a:avLst/>
          </a:prstGeom>
        </p:spPr>
      </p:pic>
      <p:sp>
        <p:nvSpPr>
          <p:cNvPr id="63" name="TextBox 62"/>
          <p:cNvSpPr txBox="1"/>
          <p:nvPr/>
        </p:nvSpPr>
        <p:spPr>
          <a:xfrm>
            <a:off x="7959927" y="4187189"/>
            <a:ext cx="3430785" cy="194310"/>
          </a:xfrm>
          <a:prstGeom prst="rect">
            <a:avLst/>
          </a:prstGeom>
          <a:noFill/>
        </p:spPr>
        <p:txBody>
          <a:bodyPr wrap="none" lIns="0" rIns="0" tIns="0" bIns="0">
            <a:spAutoFit/>
          </a:bodyPr>
          <a:lstStyle/>
          <a:p>
            <a:r>
              <a:rPr sz="1150" b="0">
                <a:solidFill>
                  <a:srgbClr val="2E2E2E"/>
                </a:solidFill>
                <a:latin typeface="Calibri"/>
              </a:rPr>
              <a:t>US$ Mn, 2026E), while 'Emerging Ingredients × Chemical</a:t>
            </a:r>
          </a:p>
        </p:txBody>
      </p:sp>
      <p:sp>
        <p:nvSpPr>
          <p:cNvPr id="64" name="TextBox 63"/>
          <p:cNvSpPr txBox="1"/>
          <p:nvPr/>
        </p:nvSpPr>
        <p:spPr>
          <a:xfrm>
            <a:off x="7715250" y="4362449"/>
            <a:ext cx="3706893" cy="194310"/>
          </a:xfrm>
          <a:prstGeom prst="rect">
            <a:avLst/>
          </a:prstGeom>
          <a:noFill/>
        </p:spPr>
        <p:txBody>
          <a:bodyPr wrap="none" lIns="0" rIns="0" tIns="0" bIns="0">
            <a:spAutoFit/>
          </a:bodyPr>
          <a:lstStyle/>
          <a:p>
            <a:r>
              <a:rPr sz="1150" b="0">
                <a:solidFill>
                  <a:srgbClr val="2E2E2E"/>
                </a:solidFill>
                <a:latin typeface="Calibri"/>
              </a:rPr>
              <a:t>Ceramide Sunscreen' records the fastest growth at a CAGR of</a:t>
            </a:r>
          </a:p>
        </p:txBody>
      </p:sp>
      <p:pic>
        <p:nvPicPr>
          <p:cNvPr id="65" name="Picture 64" descr="lock.png"/>
          <p:cNvPicPr>
            <a:picLocks noChangeAspect="1"/>
          </p:cNvPicPr>
          <p:nvPr/>
        </p:nvPicPr>
        <p:blipFill>
          <a:blip r:embed="rId4"/>
          <a:stretch>
            <a:fillRect/>
          </a:stretch>
        </p:blipFill>
        <p:spPr>
          <a:xfrm>
            <a:off x="11371297" y="4352226"/>
            <a:ext cx="134549" cy="195707"/>
          </a:xfrm>
          <a:prstGeom prst="rect">
            <a:avLst/>
          </a:prstGeom>
        </p:spPr>
      </p:pic>
      <p:sp>
        <p:nvSpPr>
          <p:cNvPr id="66" name="TextBox 65"/>
          <p:cNvSpPr txBox="1"/>
          <p:nvPr/>
        </p:nvSpPr>
        <p:spPr>
          <a:xfrm>
            <a:off x="7715250" y="4537709"/>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67" name="TextBox 66"/>
          <p:cNvSpPr txBox="1"/>
          <p:nvPr/>
        </p:nvSpPr>
        <p:spPr>
          <a:xfrm>
            <a:off x="7715250" y="4765547"/>
            <a:ext cx="3684661" cy="194310"/>
          </a:xfrm>
          <a:prstGeom prst="rect">
            <a:avLst/>
          </a:prstGeom>
          <a:noFill/>
        </p:spPr>
        <p:txBody>
          <a:bodyPr wrap="none" lIns="0" rIns="0" tIns="0" bIns="0">
            <a:spAutoFit/>
          </a:bodyPr>
          <a:lstStyle/>
          <a:p>
            <a:r>
              <a:rPr sz="1150" b="0">
                <a:solidFill>
                  <a:srgbClr val="2E2E2E"/>
                </a:solidFill>
                <a:latin typeface="Calibri"/>
              </a:rPr>
              <a:t>Combined, the top three ingredient type × product type cells</a:t>
            </a:r>
          </a:p>
        </p:txBody>
      </p:sp>
      <p:sp>
        <p:nvSpPr>
          <p:cNvPr id="68" name="TextBox 67"/>
          <p:cNvSpPr txBox="1"/>
          <p:nvPr/>
        </p:nvSpPr>
        <p:spPr>
          <a:xfrm>
            <a:off x="7715250" y="4940807"/>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69" name="Picture 68" descr="lock.png"/>
          <p:cNvPicPr>
            <a:picLocks noChangeAspect="1"/>
          </p:cNvPicPr>
          <p:nvPr/>
        </p:nvPicPr>
        <p:blipFill>
          <a:blip r:embed="rId4"/>
          <a:stretch>
            <a:fillRect/>
          </a:stretch>
        </p:blipFill>
        <p:spPr>
          <a:xfrm>
            <a:off x="10004949" y="4930584"/>
            <a:ext cx="134549" cy="195707"/>
          </a:xfrm>
          <a:prstGeom prst="rect">
            <a:avLst/>
          </a:prstGeom>
        </p:spPr>
      </p:pic>
      <p:sp>
        <p:nvSpPr>
          <p:cNvPr id="70" name="TextBox 69"/>
          <p:cNvSpPr txBox="1"/>
          <p:nvPr/>
        </p:nvSpPr>
        <p:spPr>
          <a:xfrm>
            <a:off x="10180058" y="4940807"/>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Ingredient Type × Product Type,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product type sub-segments</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Ingredient Type × Product Type, 2026E (% of each row)</a:t>
            </a:r>
          </a:p>
        </p:txBody>
      </p:sp>
      <p:graphicFrame>
        <p:nvGraphicFramePr>
          <p:cNvPr id="12" name="Table 11"/>
          <p:cNvGraphicFramePr>
            <a:graphicFrameLocks noGrp="1"/>
          </p:cNvGraphicFramePr>
          <p:nvPr/>
        </p:nvGraphicFramePr>
        <p:xfrm>
          <a:off x="152400" y="1238250"/>
          <a:ext cx="11887200" cy="1238250"/>
        </p:xfrm>
        <a:graphic>
          <a:graphicData uri="http://schemas.openxmlformats.org/drawingml/2006/table">
            <a:tbl>
              <a:tblPr>
                <a:tableStyleId>{5C22544A-7EE6-4342-B048-85BDC9FD1C3A}</a:tableStyleId>
              </a:tblPr>
              <a:tblGrid>
                <a:gridCol w="1820408"/>
                <a:gridCol w="2516698"/>
                <a:gridCol w="2516698"/>
                <a:gridCol w="2516698"/>
                <a:gridCol w="2516698"/>
              </a:tblGrid>
              <a:tr h="246126">
                <a:tc>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Mineral Ceramide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Chemical Ceramide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Hybrid Ceramide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Niche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Emerging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7286625"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8765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Product Type Mix by Ingredient Type, 2026E (% share)</a:t>
            </a:r>
          </a:p>
        </p:txBody>
      </p:sp>
      <p:graphicFrame>
        <p:nvGraphicFramePr>
          <p:cNvPr id="16" name="Chart 15"/>
          <p:cNvGraphicFramePr>
            <a:graphicFrameLocks noGrp="1"/>
          </p:cNvGraphicFramePr>
          <p:nvPr/>
        </p:nvGraphicFramePr>
        <p:xfrm>
          <a:off x="238125" y="3105150"/>
          <a:ext cx="7096125" cy="346710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2819400"/>
            <a:ext cx="4457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290512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1432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228975"/>
            <a:ext cx="4191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819514" y="1713738"/>
            <a:ext cx="366712" cy="533400"/>
          </a:xfrm>
          <a:prstGeom prst="rect">
            <a:avLst/>
          </a:prstGeom>
        </p:spPr>
      </p:pic>
      <p:pic>
        <p:nvPicPr>
          <p:cNvPr id="23" name="Picture 22" descr="lock.png"/>
          <p:cNvPicPr>
            <a:picLocks noChangeAspect="1"/>
          </p:cNvPicPr>
          <p:nvPr/>
        </p:nvPicPr>
        <p:blipFill>
          <a:blip r:embed="rId5"/>
          <a:stretch>
            <a:fillRect/>
          </a:stretch>
        </p:blipFill>
        <p:spPr>
          <a:xfrm>
            <a:off x="3709408" y="3864689"/>
            <a:ext cx="440818" cy="641190"/>
          </a:xfrm>
          <a:prstGeom prst="rect">
            <a:avLst/>
          </a:prstGeom>
        </p:spPr>
      </p:pic>
      <p:sp>
        <p:nvSpPr>
          <p:cNvPr id="24" name="TextBox 23"/>
          <p:cNvSpPr txBox="1"/>
          <p:nvPr/>
        </p:nvSpPr>
        <p:spPr>
          <a:xfrm>
            <a:off x="7715250" y="3238500"/>
            <a:ext cx="3912009" cy="194310"/>
          </a:xfrm>
          <a:prstGeom prst="rect">
            <a:avLst/>
          </a:prstGeom>
          <a:noFill/>
        </p:spPr>
        <p:txBody>
          <a:bodyPr wrap="none" lIns="0" rIns="0" tIns="0" bIns="0">
            <a:spAutoFit/>
          </a:bodyPr>
          <a:lstStyle/>
          <a:p>
            <a:r>
              <a:rPr sz="1150" b="0">
                <a:solidFill>
                  <a:srgbClr val="2E2E2E"/>
                </a:solidFill>
                <a:latin typeface="Calibri"/>
              </a:rPr>
              <a:t>▪ 'Mineral Ceramide Sunscreen' holds the highest share of 'Niche</a:t>
            </a:r>
          </a:p>
        </p:txBody>
      </p:sp>
      <p:sp>
        <p:nvSpPr>
          <p:cNvPr id="25" name="TextBox 24"/>
          <p:cNvSpPr txBox="1"/>
          <p:nvPr/>
        </p:nvSpPr>
        <p:spPr>
          <a:xfrm>
            <a:off x="7715250" y="3413760"/>
            <a:ext cx="932532" cy="194310"/>
          </a:xfrm>
          <a:prstGeom prst="rect">
            <a:avLst/>
          </a:prstGeom>
          <a:noFill/>
        </p:spPr>
        <p:txBody>
          <a:bodyPr wrap="none" lIns="0" rIns="0" tIns="0" bIns="0">
            <a:spAutoFit/>
          </a:bodyPr>
          <a:lstStyle/>
          <a:p>
            <a:r>
              <a:rPr sz="1150" b="0">
                <a:solidFill>
                  <a:srgbClr val="2E2E2E"/>
                </a:solidFill>
                <a:latin typeface="Calibri"/>
              </a:rPr>
              <a:t>Ingredients' at</a:t>
            </a:r>
          </a:p>
        </p:txBody>
      </p:sp>
      <p:pic>
        <p:nvPicPr>
          <p:cNvPr id="26" name="Picture 25" descr="lock.png"/>
          <p:cNvPicPr>
            <a:picLocks noChangeAspect="1"/>
          </p:cNvPicPr>
          <p:nvPr/>
        </p:nvPicPr>
        <p:blipFill>
          <a:blip r:embed="rId5"/>
          <a:stretch>
            <a:fillRect/>
          </a:stretch>
        </p:blipFill>
        <p:spPr>
          <a:xfrm>
            <a:off x="8596936" y="3403536"/>
            <a:ext cx="134549" cy="195707"/>
          </a:xfrm>
          <a:prstGeom prst="rect">
            <a:avLst/>
          </a:prstGeom>
        </p:spPr>
      </p:pic>
      <p:sp>
        <p:nvSpPr>
          <p:cNvPr id="27" name="TextBox 26"/>
          <p:cNvSpPr txBox="1"/>
          <p:nvPr/>
        </p:nvSpPr>
        <p:spPr>
          <a:xfrm>
            <a:off x="8772045" y="341376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3641597"/>
            <a:ext cx="3729732" cy="194310"/>
          </a:xfrm>
          <a:prstGeom prst="rect">
            <a:avLst/>
          </a:prstGeom>
          <a:noFill/>
        </p:spPr>
        <p:txBody>
          <a:bodyPr wrap="none" lIns="0" rIns="0" tIns="0" bIns="0">
            <a:spAutoFit/>
          </a:bodyPr>
          <a:lstStyle/>
          <a:p>
            <a:r>
              <a:rPr sz="1150" b="0">
                <a:solidFill>
                  <a:srgbClr val="2E2E2E"/>
                </a:solidFill>
                <a:latin typeface="Calibri"/>
              </a:rPr>
              <a:t>▪ 'Niche Ingredients' is the most concentrated ingredient type</a:t>
            </a:r>
          </a:p>
        </p:txBody>
      </p:sp>
      <p:sp>
        <p:nvSpPr>
          <p:cNvPr id="29" name="TextBox 28"/>
          <p:cNvSpPr txBox="1"/>
          <p:nvPr/>
        </p:nvSpPr>
        <p:spPr>
          <a:xfrm>
            <a:off x="7715250" y="3816857"/>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30" name="Picture 29" descr="lock.png"/>
          <p:cNvPicPr>
            <a:picLocks noChangeAspect="1"/>
          </p:cNvPicPr>
          <p:nvPr/>
        </p:nvPicPr>
        <p:blipFill>
          <a:blip r:embed="rId5"/>
          <a:stretch>
            <a:fillRect/>
          </a:stretch>
        </p:blipFill>
        <p:spPr>
          <a:xfrm>
            <a:off x="8843110" y="3806634"/>
            <a:ext cx="134549" cy="195707"/>
          </a:xfrm>
          <a:prstGeom prst="rect">
            <a:avLst/>
          </a:prstGeom>
        </p:spPr>
      </p:pic>
      <p:sp>
        <p:nvSpPr>
          <p:cNvPr id="31" name="TextBox 30"/>
          <p:cNvSpPr txBox="1"/>
          <p:nvPr/>
        </p:nvSpPr>
        <p:spPr>
          <a:xfrm>
            <a:off x="9018219" y="3816857"/>
            <a:ext cx="2772419" cy="194310"/>
          </a:xfrm>
          <a:prstGeom prst="rect">
            <a:avLst/>
          </a:prstGeom>
          <a:noFill/>
        </p:spPr>
        <p:txBody>
          <a:bodyPr wrap="none" lIns="0" rIns="0" tIns="0" bIns="0">
            <a:spAutoFit/>
          </a:bodyPr>
          <a:lstStyle/>
          <a:p>
            <a:r>
              <a:rPr sz="1150" b="0">
                <a:solidFill>
                  <a:srgbClr val="2E2E2E"/>
                </a:solidFill>
                <a:latin typeface="Calibri"/>
              </a:rPr>
              <a:t>of its value via 'Mineral Ceramide Sunscreen'.</a:t>
            </a:r>
          </a:p>
        </p:txBody>
      </p:sp>
      <p:sp>
        <p:nvSpPr>
          <p:cNvPr id="32" name="TextBox 31"/>
          <p:cNvSpPr txBox="1"/>
          <p:nvPr/>
        </p:nvSpPr>
        <p:spPr>
          <a:xfrm>
            <a:off x="7715250" y="4044695"/>
            <a:ext cx="2383333" cy="194310"/>
          </a:xfrm>
          <a:prstGeom prst="rect">
            <a:avLst/>
          </a:prstGeom>
          <a:noFill/>
        </p:spPr>
        <p:txBody>
          <a:bodyPr wrap="none" lIns="0" rIns="0" tIns="0" bIns="0">
            <a:spAutoFit/>
          </a:bodyPr>
          <a:lstStyle/>
          <a:p>
            <a:r>
              <a:rPr sz="1150" b="0">
                <a:solidFill>
                  <a:srgbClr val="2E2E2E"/>
                </a:solidFill>
                <a:latin typeface="Calibri"/>
              </a:rPr>
              <a:t>▪ 'Mineral Ceramide Sunscreen' gains +</a:t>
            </a:r>
          </a:p>
        </p:txBody>
      </p:sp>
      <p:pic>
        <p:nvPicPr>
          <p:cNvPr id="33" name="Picture 32" descr="lock.png"/>
          <p:cNvPicPr>
            <a:picLocks noChangeAspect="1"/>
          </p:cNvPicPr>
          <p:nvPr/>
        </p:nvPicPr>
        <p:blipFill>
          <a:blip r:embed="rId5"/>
          <a:stretch>
            <a:fillRect/>
          </a:stretch>
        </p:blipFill>
        <p:spPr>
          <a:xfrm>
            <a:off x="10047737" y="4034472"/>
            <a:ext cx="134549" cy="195707"/>
          </a:xfrm>
          <a:prstGeom prst="rect">
            <a:avLst/>
          </a:prstGeom>
        </p:spPr>
      </p:pic>
      <p:sp>
        <p:nvSpPr>
          <p:cNvPr id="34" name="TextBox 33"/>
          <p:cNvSpPr txBox="1"/>
          <p:nvPr/>
        </p:nvSpPr>
        <p:spPr>
          <a:xfrm>
            <a:off x="10222846" y="4044695"/>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35" name="TextBox 34"/>
          <p:cNvSpPr txBox="1"/>
          <p:nvPr/>
        </p:nvSpPr>
        <p:spPr>
          <a:xfrm>
            <a:off x="7715250" y="4219955"/>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6" name="lockshield_16"/>
          <p:cNvSpPr/>
          <p:nvPr/>
        </p:nvSpPr>
        <p:spPr>
          <a:xfrm>
            <a:off x="238125" y="3105150"/>
            <a:ext cx="7096125" cy="3467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Ingredient Type × Product Type,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Ingredient Type × Product Type, 2026E–2036F</a:t>
            </a:r>
          </a:p>
        </p:txBody>
      </p:sp>
      <p:graphicFrame>
        <p:nvGraphicFramePr>
          <p:cNvPr id="12" name="Table 11"/>
          <p:cNvGraphicFramePr>
            <a:graphicFrameLocks noGrp="1"/>
          </p:cNvGraphicFramePr>
          <p:nvPr/>
        </p:nvGraphicFramePr>
        <p:xfrm>
          <a:off x="152400" y="1238250"/>
          <a:ext cx="11887196" cy="1485896"/>
        </p:xfrm>
        <a:graphic>
          <a:graphicData uri="http://schemas.openxmlformats.org/drawingml/2006/table">
            <a:tbl>
              <a:tblPr>
                <a:tableStyleId>{5C22544A-7EE6-4342-B048-85BDC9FD1C3A}</a:tableStyleId>
              </a:tblPr>
              <a:tblGrid>
                <a:gridCol w="2730532"/>
                <a:gridCol w="1144583"/>
                <a:gridCol w="1144583"/>
                <a:gridCol w="1144583"/>
                <a:gridCol w="1144583"/>
                <a:gridCol w="1144583"/>
                <a:gridCol w="1144583"/>
                <a:gridCol w="1144583"/>
                <a:gridCol w="1144583"/>
              </a:tblGrid>
              <a:tr h="246126">
                <a:tc rowSpan="2">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Mineral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Chemical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Hybrid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95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Niche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Emerging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560070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39090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5334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'Regular Ingredients × Mineral Ceramide Sunscreen' ranks highest (5/5); 'Niche Ingredients × Chemical Ceramide Sunscreen'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274574" y="1961541"/>
            <a:ext cx="366712" cy="533400"/>
          </a:xfrm>
          <a:prstGeom prst="rect">
            <a:avLst/>
          </a:prstGeom>
        </p:spPr>
      </p:pic>
      <p:sp>
        <p:nvSpPr>
          <p:cNvPr id="32" name="TextBox 31"/>
          <p:cNvSpPr txBox="1"/>
          <p:nvPr/>
        </p:nvSpPr>
        <p:spPr>
          <a:xfrm>
            <a:off x="276225" y="3486150"/>
            <a:ext cx="3419946" cy="194310"/>
          </a:xfrm>
          <a:prstGeom prst="rect">
            <a:avLst/>
          </a:prstGeom>
          <a:noFill/>
        </p:spPr>
        <p:txBody>
          <a:bodyPr wrap="none" lIns="0" rIns="0" tIns="0" bIns="0">
            <a:spAutoFit/>
          </a:bodyPr>
          <a:lstStyle/>
          <a:p>
            <a:r>
              <a:rPr sz="1150" b="0">
                <a:solidFill>
                  <a:srgbClr val="2E2E2E"/>
                </a:solidFill>
                <a:latin typeface="Calibri"/>
              </a:rPr>
              <a:t>▪ 1. Regular Ingredients × Mineral Ceramide Sunscreen –</a:t>
            </a:r>
          </a:p>
        </p:txBody>
      </p:sp>
      <p:pic>
        <p:nvPicPr>
          <p:cNvPr id="33" name="Picture 32" descr="lock.png"/>
          <p:cNvPicPr>
            <a:picLocks noChangeAspect="1"/>
          </p:cNvPicPr>
          <p:nvPr/>
        </p:nvPicPr>
        <p:blipFill>
          <a:blip r:embed="rId4"/>
          <a:stretch>
            <a:fillRect/>
          </a:stretch>
        </p:blipFill>
        <p:spPr>
          <a:xfrm>
            <a:off x="3645325" y="3475926"/>
            <a:ext cx="134549" cy="195707"/>
          </a:xfrm>
          <a:prstGeom prst="rect">
            <a:avLst/>
          </a:prstGeom>
        </p:spPr>
      </p:pic>
      <p:sp>
        <p:nvSpPr>
          <p:cNvPr id="34" name="TextBox 33"/>
          <p:cNvSpPr txBox="1"/>
          <p:nvPr/>
        </p:nvSpPr>
        <p:spPr>
          <a:xfrm>
            <a:off x="3820434" y="348615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882586" y="3475926"/>
            <a:ext cx="134549" cy="195707"/>
          </a:xfrm>
          <a:prstGeom prst="rect">
            <a:avLst/>
          </a:prstGeom>
        </p:spPr>
      </p:pic>
      <p:sp>
        <p:nvSpPr>
          <p:cNvPr id="36" name="TextBox 35"/>
          <p:cNvSpPr txBox="1"/>
          <p:nvPr/>
        </p:nvSpPr>
        <p:spPr>
          <a:xfrm>
            <a:off x="4057695" y="34861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3713987"/>
            <a:ext cx="3527487" cy="194310"/>
          </a:xfrm>
          <a:prstGeom prst="rect">
            <a:avLst/>
          </a:prstGeom>
          <a:noFill/>
        </p:spPr>
        <p:txBody>
          <a:bodyPr wrap="none" lIns="0" rIns="0" tIns="0" bIns="0">
            <a:spAutoFit/>
          </a:bodyPr>
          <a:lstStyle/>
          <a:p>
            <a:r>
              <a:rPr sz="1150" b="0">
                <a:solidFill>
                  <a:srgbClr val="2E2E2E"/>
                </a:solidFill>
                <a:latin typeface="Calibri"/>
              </a:rPr>
              <a:t>▪ 2. Emerging Ingredients × Mineral Ceramide Sunscreen –</a:t>
            </a:r>
          </a:p>
        </p:txBody>
      </p:sp>
      <p:pic>
        <p:nvPicPr>
          <p:cNvPr id="38" name="Picture 37" descr="lock.png"/>
          <p:cNvPicPr>
            <a:picLocks noChangeAspect="1"/>
          </p:cNvPicPr>
          <p:nvPr/>
        </p:nvPicPr>
        <p:blipFill>
          <a:blip r:embed="rId4"/>
          <a:stretch>
            <a:fillRect/>
          </a:stretch>
        </p:blipFill>
        <p:spPr>
          <a:xfrm>
            <a:off x="3752865" y="3703764"/>
            <a:ext cx="134549" cy="195707"/>
          </a:xfrm>
          <a:prstGeom prst="rect">
            <a:avLst/>
          </a:prstGeom>
        </p:spPr>
      </p:pic>
      <p:sp>
        <p:nvSpPr>
          <p:cNvPr id="39" name="TextBox 38"/>
          <p:cNvSpPr txBox="1"/>
          <p:nvPr/>
        </p:nvSpPr>
        <p:spPr>
          <a:xfrm>
            <a:off x="3927975" y="371398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990126" y="3703764"/>
            <a:ext cx="134549" cy="195707"/>
          </a:xfrm>
          <a:prstGeom prst="rect">
            <a:avLst/>
          </a:prstGeom>
        </p:spPr>
      </p:pic>
      <p:sp>
        <p:nvSpPr>
          <p:cNvPr id="41" name="TextBox 40"/>
          <p:cNvSpPr txBox="1"/>
          <p:nvPr/>
        </p:nvSpPr>
        <p:spPr>
          <a:xfrm>
            <a:off x="4165236" y="3713987"/>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3941825"/>
            <a:ext cx="3352626" cy="194310"/>
          </a:xfrm>
          <a:prstGeom prst="rect">
            <a:avLst/>
          </a:prstGeom>
          <a:noFill/>
        </p:spPr>
        <p:txBody>
          <a:bodyPr wrap="none" lIns="0" rIns="0" tIns="0" bIns="0">
            <a:spAutoFit/>
          </a:bodyPr>
          <a:lstStyle/>
          <a:p>
            <a:r>
              <a:rPr sz="1150" b="0">
                <a:solidFill>
                  <a:srgbClr val="2E2E2E"/>
                </a:solidFill>
                <a:latin typeface="Calibri"/>
              </a:rPr>
              <a:t>▪ 3. Regular Ingredients × Hybrid Ceramide Sunscreen –</a:t>
            </a:r>
          </a:p>
        </p:txBody>
      </p:sp>
      <p:pic>
        <p:nvPicPr>
          <p:cNvPr id="43" name="Picture 42" descr="lock.png"/>
          <p:cNvPicPr>
            <a:picLocks noChangeAspect="1"/>
          </p:cNvPicPr>
          <p:nvPr/>
        </p:nvPicPr>
        <p:blipFill>
          <a:blip r:embed="rId4"/>
          <a:stretch>
            <a:fillRect/>
          </a:stretch>
        </p:blipFill>
        <p:spPr>
          <a:xfrm>
            <a:off x="3578005" y="3931602"/>
            <a:ext cx="134549" cy="195707"/>
          </a:xfrm>
          <a:prstGeom prst="rect">
            <a:avLst/>
          </a:prstGeom>
        </p:spPr>
      </p:pic>
      <p:sp>
        <p:nvSpPr>
          <p:cNvPr id="44" name="TextBox 43"/>
          <p:cNvSpPr txBox="1"/>
          <p:nvPr/>
        </p:nvSpPr>
        <p:spPr>
          <a:xfrm>
            <a:off x="3753114" y="39418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815266" y="3931602"/>
            <a:ext cx="134549" cy="195707"/>
          </a:xfrm>
          <a:prstGeom prst="rect">
            <a:avLst/>
          </a:prstGeom>
        </p:spPr>
      </p:pic>
      <p:sp>
        <p:nvSpPr>
          <p:cNvPr id="46" name="TextBox 45"/>
          <p:cNvSpPr txBox="1"/>
          <p:nvPr/>
        </p:nvSpPr>
        <p:spPr>
          <a:xfrm>
            <a:off x="3990375" y="3941825"/>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276225" y="4169663"/>
            <a:ext cx="3307270" cy="194310"/>
          </a:xfrm>
          <a:prstGeom prst="rect">
            <a:avLst/>
          </a:prstGeom>
          <a:noFill/>
        </p:spPr>
        <p:txBody>
          <a:bodyPr wrap="none" lIns="0" rIns="0" tIns="0" bIns="0">
            <a:spAutoFit/>
          </a:bodyPr>
          <a:lstStyle/>
          <a:p>
            <a:r>
              <a:rPr sz="1150" b="0">
                <a:solidFill>
                  <a:srgbClr val="2E2E2E"/>
                </a:solidFill>
                <a:latin typeface="Calibri"/>
              </a:rPr>
              <a:t>▪ 4. Niche Ingredients × Mineral Ceramide Sunscreen –</a:t>
            </a:r>
          </a:p>
        </p:txBody>
      </p:sp>
      <p:pic>
        <p:nvPicPr>
          <p:cNvPr id="48" name="Picture 47" descr="lock.png"/>
          <p:cNvPicPr>
            <a:picLocks noChangeAspect="1"/>
          </p:cNvPicPr>
          <p:nvPr/>
        </p:nvPicPr>
        <p:blipFill>
          <a:blip r:embed="rId4"/>
          <a:stretch>
            <a:fillRect/>
          </a:stretch>
        </p:blipFill>
        <p:spPr>
          <a:xfrm>
            <a:off x="3532649" y="4159440"/>
            <a:ext cx="134549" cy="195707"/>
          </a:xfrm>
          <a:prstGeom prst="rect">
            <a:avLst/>
          </a:prstGeom>
        </p:spPr>
      </p:pic>
      <p:sp>
        <p:nvSpPr>
          <p:cNvPr id="49" name="TextBox 48"/>
          <p:cNvSpPr txBox="1"/>
          <p:nvPr/>
        </p:nvSpPr>
        <p:spPr>
          <a:xfrm>
            <a:off x="3707759" y="41696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769910" y="4159440"/>
            <a:ext cx="134549" cy="195707"/>
          </a:xfrm>
          <a:prstGeom prst="rect">
            <a:avLst/>
          </a:prstGeom>
        </p:spPr>
      </p:pic>
      <p:sp>
        <p:nvSpPr>
          <p:cNvPr id="51" name="TextBox 50"/>
          <p:cNvSpPr txBox="1"/>
          <p:nvPr/>
        </p:nvSpPr>
        <p:spPr>
          <a:xfrm>
            <a:off x="3945020" y="4169663"/>
            <a:ext cx="350899" cy="194310"/>
          </a:xfrm>
          <a:prstGeom prst="rect">
            <a:avLst/>
          </a:prstGeom>
          <a:noFill/>
        </p:spPr>
        <p:txBody>
          <a:bodyPr wrap="none" lIns="0" rIns="0" tIns="0" bIns="0">
            <a:spAutoFit/>
          </a:bodyPr>
          <a:lstStyle/>
          <a:p>
            <a:r>
              <a:rPr sz="1150" b="0">
                <a:solidFill>
                  <a:srgbClr val="2E2E2E"/>
                </a:solidFill>
                <a:latin typeface="Calibri"/>
              </a:rPr>
              <a:t>· 3/5</a:t>
            </a:r>
          </a:p>
        </p:txBody>
      </p:sp>
      <p:sp>
        <p:nvSpPr>
          <p:cNvPr id="52" name="TextBox 51"/>
          <p:cNvSpPr txBox="1"/>
          <p:nvPr/>
        </p:nvSpPr>
        <p:spPr>
          <a:xfrm>
            <a:off x="276225" y="4397501"/>
            <a:ext cx="3460167" cy="194310"/>
          </a:xfrm>
          <a:prstGeom prst="rect">
            <a:avLst/>
          </a:prstGeom>
          <a:noFill/>
        </p:spPr>
        <p:txBody>
          <a:bodyPr wrap="none" lIns="0" rIns="0" tIns="0" bIns="0">
            <a:spAutoFit/>
          </a:bodyPr>
          <a:lstStyle/>
          <a:p>
            <a:r>
              <a:rPr sz="1150" b="0">
                <a:solidFill>
                  <a:srgbClr val="2E2E2E"/>
                </a:solidFill>
                <a:latin typeface="Calibri"/>
              </a:rPr>
              <a:t>▪ 5. Emerging Ingredients × Hybrid Ceramide Sunscreen –</a:t>
            </a:r>
          </a:p>
        </p:txBody>
      </p:sp>
      <p:pic>
        <p:nvPicPr>
          <p:cNvPr id="53" name="Picture 52" descr="lock.png"/>
          <p:cNvPicPr>
            <a:picLocks noChangeAspect="1"/>
          </p:cNvPicPr>
          <p:nvPr/>
        </p:nvPicPr>
        <p:blipFill>
          <a:blip r:embed="rId4"/>
          <a:stretch>
            <a:fillRect/>
          </a:stretch>
        </p:blipFill>
        <p:spPr>
          <a:xfrm>
            <a:off x="3685546" y="4387278"/>
            <a:ext cx="134549" cy="195707"/>
          </a:xfrm>
          <a:prstGeom prst="rect">
            <a:avLst/>
          </a:prstGeom>
        </p:spPr>
      </p:pic>
      <p:sp>
        <p:nvSpPr>
          <p:cNvPr id="54" name="TextBox 53"/>
          <p:cNvSpPr txBox="1"/>
          <p:nvPr/>
        </p:nvSpPr>
        <p:spPr>
          <a:xfrm>
            <a:off x="3860655" y="439750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922806" y="4387278"/>
            <a:ext cx="134549" cy="195707"/>
          </a:xfrm>
          <a:prstGeom prst="rect">
            <a:avLst/>
          </a:prstGeom>
        </p:spPr>
      </p:pic>
      <p:sp>
        <p:nvSpPr>
          <p:cNvPr id="56" name="TextBox 55"/>
          <p:cNvSpPr txBox="1"/>
          <p:nvPr/>
        </p:nvSpPr>
        <p:spPr>
          <a:xfrm>
            <a:off x="4097916" y="4397501"/>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7" name="TextBox 56"/>
          <p:cNvSpPr txBox="1"/>
          <p:nvPr/>
        </p:nvSpPr>
        <p:spPr>
          <a:xfrm>
            <a:off x="6029325" y="3486150"/>
            <a:ext cx="1456258" cy="194310"/>
          </a:xfrm>
          <a:prstGeom prst="rect">
            <a:avLst/>
          </a:prstGeom>
          <a:noFill/>
        </p:spPr>
        <p:txBody>
          <a:bodyPr wrap="none" lIns="0" rIns="0" tIns="0" bIns="0">
            <a:spAutoFit/>
          </a:bodyPr>
          <a:lstStyle/>
          <a:p>
            <a:r>
              <a:rPr sz="1150" b="0">
                <a:solidFill>
                  <a:srgbClr val="2E2E2E"/>
                </a:solidFill>
                <a:latin typeface="Calibri"/>
              </a:rPr>
              <a:t>▪ 'Regular Ingredients ×</a:t>
            </a:r>
          </a:p>
        </p:txBody>
      </p:sp>
      <p:sp>
        <p:nvSpPr>
          <p:cNvPr id="58" name="TextBox 57"/>
          <p:cNvSpPr txBox="1"/>
          <p:nvPr/>
        </p:nvSpPr>
        <p:spPr>
          <a:xfrm>
            <a:off x="6029325" y="3661410"/>
            <a:ext cx="1143334" cy="194310"/>
          </a:xfrm>
          <a:prstGeom prst="rect">
            <a:avLst/>
          </a:prstGeom>
          <a:noFill/>
        </p:spPr>
        <p:txBody>
          <a:bodyPr wrap="none" lIns="0" rIns="0" tIns="0" bIns="0">
            <a:spAutoFit/>
          </a:bodyPr>
          <a:lstStyle/>
          <a:p>
            <a:r>
              <a:rPr sz="1150" b="0">
                <a:solidFill>
                  <a:srgbClr val="2E2E2E"/>
                </a:solidFill>
                <a:latin typeface="Calibri"/>
              </a:rPr>
              <a:t>Mineral Ceramide</a:t>
            </a:r>
          </a:p>
        </p:txBody>
      </p:sp>
      <p:sp>
        <p:nvSpPr>
          <p:cNvPr id="59" name="TextBox 58"/>
          <p:cNvSpPr txBox="1"/>
          <p:nvPr/>
        </p:nvSpPr>
        <p:spPr>
          <a:xfrm>
            <a:off x="6029325" y="3836669"/>
            <a:ext cx="1034653" cy="194310"/>
          </a:xfrm>
          <a:prstGeom prst="rect">
            <a:avLst/>
          </a:prstGeom>
          <a:noFill/>
        </p:spPr>
        <p:txBody>
          <a:bodyPr wrap="none" lIns="0" rIns="0" tIns="0" bIns="0">
            <a:spAutoFit/>
          </a:bodyPr>
          <a:lstStyle/>
          <a:p>
            <a:r>
              <a:rPr sz="1150" b="0">
                <a:solidFill>
                  <a:srgbClr val="2E2E2E"/>
                </a:solidFill>
                <a:latin typeface="Calibri"/>
              </a:rPr>
              <a:t>Sunscreen' adds</a:t>
            </a:r>
          </a:p>
        </p:txBody>
      </p:sp>
      <p:pic>
        <p:nvPicPr>
          <p:cNvPr id="60" name="Picture 59" descr="lock.png"/>
          <p:cNvPicPr>
            <a:picLocks noChangeAspect="1"/>
          </p:cNvPicPr>
          <p:nvPr/>
        </p:nvPicPr>
        <p:blipFill>
          <a:blip r:embed="rId4"/>
          <a:stretch>
            <a:fillRect/>
          </a:stretch>
        </p:blipFill>
        <p:spPr>
          <a:xfrm>
            <a:off x="7013132" y="3826446"/>
            <a:ext cx="134549" cy="195707"/>
          </a:xfrm>
          <a:prstGeom prst="rect">
            <a:avLst/>
          </a:prstGeom>
        </p:spPr>
      </p:pic>
      <p:sp>
        <p:nvSpPr>
          <p:cNvPr id="61" name="TextBox 60"/>
          <p:cNvSpPr txBox="1"/>
          <p:nvPr/>
        </p:nvSpPr>
        <p:spPr>
          <a:xfrm>
            <a:off x="7188241" y="3836669"/>
            <a:ext cx="311249" cy="194310"/>
          </a:xfrm>
          <a:prstGeom prst="rect">
            <a:avLst/>
          </a:prstGeom>
          <a:noFill/>
        </p:spPr>
        <p:txBody>
          <a:bodyPr wrap="none" lIns="0" rIns="0" tIns="0" bIns="0">
            <a:spAutoFit/>
          </a:bodyPr>
          <a:lstStyle/>
          <a:p>
            <a:r>
              <a:rPr sz="1150" b="0">
                <a:solidFill>
                  <a:srgbClr val="2E2E2E"/>
                </a:solidFill>
                <a:latin typeface="Calibri"/>
              </a:rPr>
              <a:t>US$</a:t>
            </a:r>
          </a:p>
        </p:txBody>
      </p:sp>
      <p:sp>
        <p:nvSpPr>
          <p:cNvPr id="62" name="TextBox 61"/>
          <p:cNvSpPr txBox="1"/>
          <p:nvPr/>
        </p:nvSpPr>
        <p:spPr>
          <a:xfrm>
            <a:off x="6029325" y="4011929"/>
            <a:ext cx="956493" cy="194310"/>
          </a:xfrm>
          <a:prstGeom prst="rect">
            <a:avLst/>
          </a:prstGeom>
          <a:noFill/>
        </p:spPr>
        <p:txBody>
          <a:bodyPr wrap="none" lIns="0" rIns="0" tIns="0" bIns="0">
            <a:spAutoFit/>
          </a:bodyPr>
          <a:lstStyle/>
          <a:p>
            <a:r>
              <a:rPr sz="1150" b="0">
                <a:solidFill>
                  <a:srgbClr val="2E2E2E"/>
                </a:solidFill>
                <a:latin typeface="Calibri"/>
              </a:rPr>
              <a:t>Mn by 2036F –</a:t>
            </a:r>
          </a:p>
        </p:txBody>
      </p:sp>
      <p:pic>
        <p:nvPicPr>
          <p:cNvPr id="63" name="Picture 62" descr="lock.png"/>
          <p:cNvPicPr>
            <a:picLocks noChangeAspect="1"/>
          </p:cNvPicPr>
          <p:nvPr/>
        </p:nvPicPr>
        <p:blipFill>
          <a:blip r:embed="rId4"/>
          <a:stretch>
            <a:fillRect/>
          </a:stretch>
        </p:blipFill>
        <p:spPr>
          <a:xfrm>
            <a:off x="6934972" y="4001706"/>
            <a:ext cx="134549" cy="195707"/>
          </a:xfrm>
          <a:prstGeom prst="rect">
            <a:avLst/>
          </a:prstGeom>
        </p:spPr>
      </p:pic>
      <p:sp>
        <p:nvSpPr>
          <p:cNvPr id="64" name="TextBox 63"/>
          <p:cNvSpPr txBox="1"/>
          <p:nvPr/>
        </p:nvSpPr>
        <p:spPr>
          <a:xfrm>
            <a:off x="7110081" y="4011929"/>
            <a:ext cx="429344" cy="194310"/>
          </a:xfrm>
          <a:prstGeom prst="rect">
            <a:avLst/>
          </a:prstGeom>
          <a:noFill/>
        </p:spPr>
        <p:txBody>
          <a:bodyPr wrap="none" lIns="0" rIns="0" tIns="0" bIns="0">
            <a:spAutoFit/>
          </a:bodyPr>
          <a:lstStyle/>
          <a:p>
            <a:r>
              <a:rPr sz="1150" b="0">
                <a:solidFill>
                  <a:srgbClr val="2E2E2E"/>
                </a:solidFill>
                <a:latin typeface="Calibri"/>
              </a:rPr>
              <a:t>of the</a:t>
            </a:r>
          </a:p>
        </p:txBody>
      </p:sp>
      <p:sp>
        <p:nvSpPr>
          <p:cNvPr id="65" name="TextBox 64"/>
          <p:cNvSpPr txBox="1"/>
          <p:nvPr/>
        </p:nvSpPr>
        <p:spPr>
          <a:xfrm>
            <a:off x="6029325" y="4187189"/>
            <a:ext cx="1134777" cy="194310"/>
          </a:xfrm>
          <a:prstGeom prst="rect">
            <a:avLst/>
          </a:prstGeom>
          <a:noFill/>
        </p:spPr>
        <p:txBody>
          <a:bodyPr wrap="none" lIns="0" rIns="0" tIns="0" bIns="0">
            <a:spAutoFit/>
          </a:bodyPr>
          <a:lstStyle/>
          <a:p>
            <a:r>
              <a:rPr sz="1150" b="0">
                <a:solidFill>
                  <a:srgbClr val="2E2E2E"/>
                </a:solidFill>
                <a:latin typeface="Calibri"/>
              </a:rPr>
              <a:t>total opportunity.</a:t>
            </a:r>
          </a:p>
        </p:txBody>
      </p:sp>
      <p:sp>
        <p:nvSpPr>
          <p:cNvPr id="66" name="TextBox 65"/>
          <p:cNvSpPr txBox="1"/>
          <p:nvPr/>
        </p:nvSpPr>
        <p:spPr>
          <a:xfrm>
            <a:off x="8124825" y="3486150"/>
            <a:ext cx="1563799" cy="194310"/>
          </a:xfrm>
          <a:prstGeom prst="rect">
            <a:avLst/>
          </a:prstGeom>
          <a:noFill/>
        </p:spPr>
        <p:txBody>
          <a:bodyPr wrap="none" lIns="0" rIns="0" tIns="0" bIns="0">
            <a:spAutoFit/>
          </a:bodyPr>
          <a:lstStyle/>
          <a:p>
            <a:r>
              <a:rPr sz="1150" b="0">
                <a:solidFill>
                  <a:srgbClr val="2E2E2E"/>
                </a:solidFill>
                <a:latin typeface="Calibri"/>
              </a:rPr>
              <a:t>▪ 'Emerging Ingredients ×</a:t>
            </a:r>
          </a:p>
        </p:txBody>
      </p:sp>
      <p:sp>
        <p:nvSpPr>
          <p:cNvPr id="67" name="TextBox 66"/>
          <p:cNvSpPr txBox="1"/>
          <p:nvPr/>
        </p:nvSpPr>
        <p:spPr>
          <a:xfrm>
            <a:off x="8124825" y="3661410"/>
            <a:ext cx="1223776" cy="194310"/>
          </a:xfrm>
          <a:prstGeom prst="rect">
            <a:avLst/>
          </a:prstGeom>
          <a:noFill/>
        </p:spPr>
        <p:txBody>
          <a:bodyPr wrap="none" lIns="0" rIns="0" tIns="0" bIns="0">
            <a:spAutoFit/>
          </a:bodyPr>
          <a:lstStyle/>
          <a:p>
            <a:r>
              <a:rPr sz="1150" b="0">
                <a:solidFill>
                  <a:srgbClr val="2E2E2E"/>
                </a:solidFill>
                <a:latin typeface="Calibri"/>
              </a:rPr>
              <a:t>Chemical Ceramide</a:t>
            </a:r>
          </a:p>
        </p:txBody>
      </p:sp>
      <p:sp>
        <p:nvSpPr>
          <p:cNvPr id="68" name="TextBox 67"/>
          <p:cNvSpPr txBox="1"/>
          <p:nvPr/>
        </p:nvSpPr>
        <p:spPr>
          <a:xfrm>
            <a:off x="8124825" y="3836669"/>
            <a:ext cx="1367544" cy="194310"/>
          </a:xfrm>
          <a:prstGeom prst="rect">
            <a:avLst/>
          </a:prstGeom>
          <a:noFill/>
        </p:spPr>
        <p:txBody>
          <a:bodyPr wrap="none" lIns="0" rIns="0" tIns="0" bIns="0">
            <a:spAutoFit/>
          </a:bodyPr>
          <a:lstStyle/>
          <a:p>
            <a:r>
              <a:rPr sz="1150" b="0">
                <a:solidFill>
                  <a:srgbClr val="2E2E2E"/>
                </a:solidFill>
                <a:latin typeface="Calibri"/>
              </a:rPr>
              <a:t>Sunscreen' grows at a</a:t>
            </a:r>
          </a:p>
        </p:txBody>
      </p:sp>
      <p:pic>
        <p:nvPicPr>
          <p:cNvPr id="69" name="Picture 68" descr="lock.png"/>
          <p:cNvPicPr>
            <a:picLocks noChangeAspect="1"/>
          </p:cNvPicPr>
          <p:nvPr/>
        </p:nvPicPr>
        <p:blipFill>
          <a:blip r:embed="rId4"/>
          <a:stretch>
            <a:fillRect/>
          </a:stretch>
        </p:blipFill>
        <p:spPr>
          <a:xfrm>
            <a:off x="9441523" y="3826446"/>
            <a:ext cx="134549" cy="195707"/>
          </a:xfrm>
          <a:prstGeom prst="rect">
            <a:avLst/>
          </a:prstGeom>
        </p:spPr>
      </p:pic>
      <p:sp>
        <p:nvSpPr>
          <p:cNvPr id="70" name="TextBox 69"/>
          <p:cNvSpPr txBox="1"/>
          <p:nvPr/>
        </p:nvSpPr>
        <p:spPr>
          <a:xfrm>
            <a:off x="8124825" y="401192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1" name="Picture 70" descr="lock.png"/>
          <p:cNvPicPr>
            <a:picLocks noChangeAspect="1"/>
          </p:cNvPicPr>
          <p:nvPr/>
        </p:nvPicPr>
        <p:blipFill>
          <a:blip r:embed="rId4"/>
          <a:stretch>
            <a:fillRect/>
          </a:stretch>
        </p:blipFill>
        <p:spPr>
          <a:xfrm>
            <a:off x="8520420" y="4001706"/>
            <a:ext cx="134549" cy="195707"/>
          </a:xfrm>
          <a:prstGeom prst="rect">
            <a:avLst/>
          </a:prstGeom>
        </p:spPr>
      </p:pic>
      <p:sp>
        <p:nvSpPr>
          <p:cNvPr id="72" name="TextBox 71"/>
          <p:cNvSpPr txBox="1"/>
          <p:nvPr/>
        </p:nvSpPr>
        <p:spPr>
          <a:xfrm>
            <a:off x="8695529" y="401192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3" name="TextBox 72"/>
          <p:cNvSpPr txBox="1"/>
          <p:nvPr/>
        </p:nvSpPr>
        <p:spPr>
          <a:xfrm>
            <a:off x="8124825" y="418718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Form Type × End-use 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Form Type × End-use Application,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form type sub-segment across end-use application sub-segments</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Form Type × End-use Application, 2026E and 2036F (US$ Mn)</a:t>
            </a:r>
          </a:p>
        </p:txBody>
      </p:sp>
      <p:graphicFrame>
        <p:nvGraphicFramePr>
          <p:cNvPr id="12" name="Table 11"/>
          <p:cNvGraphicFramePr>
            <a:graphicFrameLocks noGrp="1"/>
          </p:cNvGraphicFramePr>
          <p:nvPr/>
        </p:nvGraphicFramePr>
        <p:xfrm>
          <a:off x="152400" y="1238250"/>
          <a:ext cx="11887196" cy="1971675"/>
        </p:xfrm>
        <a:graphic>
          <a:graphicData uri="http://schemas.openxmlformats.org/drawingml/2006/table">
            <a:tbl>
              <a:tblPr>
                <a:tableStyleId>{5C22544A-7EE6-4342-B048-85BDC9FD1C3A}</a:tableStyleId>
              </a:tblPr>
              <a:tblGrid>
                <a:gridCol w="2953126"/>
                <a:gridCol w="893407"/>
                <a:gridCol w="893407"/>
                <a:gridCol w="893407"/>
                <a:gridCol w="893407"/>
                <a:gridCol w="893407"/>
                <a:gridCol w="893407"/>
                <a:gridCol w="893407"/>
                <a:gridCol w="893407"/>
                <a:gridCol w="893407"/>
                <a:gridCol w="893407"/>
              </a:tblGrid>
              <a:tr h="246126">
                <a:tc rowSpan="2">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Facial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Body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Face &amp; Body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Lip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7286625"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6099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Form Type → End-use Application, 2036F (US$ Mn)</a:t>
            </a:r>
          </a:p>
        </p:txBody>
      </p:sp>
      <p:sp>
        <p:nvSpPr>
          <p:cNvPr id="16" name="Freeform 15"/>
          <p:cNvSpPr/>
          <p:nvPr/>
        </p:nvSpPr>
        <p:spPr>
          <a:xfrm>
            <a:off x="2057400" y="3876675"/>
            <a:ext cx="3743325" cy="352425"/>
          </a:xfrm>
          <a:custGeom>
            <a:avLst/>
            <a:gdLst/>
            <a:ahLst/>
            <a:cxnLst/>
            <a:rect l="l" t="t" r="r" b="b"/>
            <a:pathLst>
              <a:path w="393" h="37">
                <a:moveTo>
                  <a:pt x="0" y="0"/>
                </a:moveTo>
                <a:lnTo>
                  <a:pt x="16" y="0"/>
                </a:lnTo>
                <a:lnTo>
                  <a:pt x="33" y="0"/>
                </a:lnTo>
                <a:lnTo>
                  <a:pt x="49" y="0"/>
                </a:lnTo>
                <a:lnTo>
                  <a:pt x="65" y="0"/>
                </a:lnTo>
                <a:lnTo>
                  <a:pt x="82" y="0"/>
                </a:lnTo>
                <a:lnTo>
                  <a:pt x="98" y="0"/>
                </a:lnTo>
                <a:lnTo>
                  <a:pt x="114" y="1"/>
                </a:lnTo>
                <a:lnTo>
                  <a:pt x="131" y="1"/>
                </a:lnTo>
                <a:lnTo>
                  <a:pt x="147" y="1"/>
                </a:lnTo>
                <a:lnTo>
                  <a:pt x="164" y="1"/>
                </a:lnTo>
                <a:lnTo>
                  <a:pt x="180" y="1"/>
                </a:lnTo>
                <a:lnTo>
                  <a:pt x="196" y="1"/>
                </a:lnTo>
                <a:lnTo>
                  <a:pt x="213" y="2"/>
                </a:lnTo>
                <a:lnTo>
                  <a:pt x="229" y="2"/>
                </a:lnTo>
                <a:lnTo>
                  <a:pt x="246" y="2"/>
                </a:lnTo>
                <a:lnTo>
                  <a:pt x="262" y="2"/>
                </a:lnTo>
                <a:lnTo>
                  <a:pt x="278" y="2"/>
                </a:lnTo>
                <a:lnTo>
                  <a:pt x="295" y="3"/>
                </a:lnTo>
                <a:lnTo>
                  <a:pt x="311" y="3"/>
                </a:lnTo>
                <a:lnTo>
                  <a:pt x="327" y="3"/>
                </a:lnTo>
                <a:lnTo>
                  <a:pt x="344" y="3"/>
                </a:lnTo>
                <a:lnTo>
                  <a:pt x="360" y="3"/>
                </a:lnTo>
                <a:lnTo>
                  <a:pt x="377" y="3"/>
                </a:lnTo>
                <a:lnTo>
                  <a:pt x="393" y="3"/>
                </a:lnTo>
                <a:lnTo>
                  <a:pt x="393" y="37"/>
                </a:lnTo>
                <a:lnTo>
                  <a:pt x="377" y="37"/>
                </a:lnTo>
                <a:lnTo>
                  <a:pt x="360" y="37"/>
                </a:lnTo>
                <a:lnTo>
                  <a:pt x="344" y="37"/>
                </a:lnTo>
                <a:lnTo>
                  <a:pt x="327" y="37"/>
                </a:lnTo>
                <a:lnTo>
                  <a:pt x="311" y="37"/>
                </a:lnTo>
                <a:lnTo>
                  <a:pt x="295" y="37"/>
                </a:lnTo>
                <a:lnTo>
                  <a:pt x="278" y="36"/>
                </a:lnTo>
                <a:lnTo>
                  <a:pt x="262" y="36"/>
                </a:lnTo>
                <a:lnTo>
                  <a:pt x="246" y="36"/>
                </a:lnTo>
                <a:lnTo>
                  <a:pt x="229" y="36"/>
                </a:lnTo>
                <a:lnTo>
                  <a:pt x="213" y="36"/>
                </a:lnTo>
                <a:lnTo>
                  <a:pt x="196" y="35"/>
                </a:lnTo>
                <a:lnTo>
                  <a:pt x="180" y="35"/>
                </a:lnTo>
                <a:lnTo>
                  <a:pt x="164" y="35"/>
                </a:lnTo>
                <a:lnTo>
                  <a:pt x="147" y="35"/>
                </a:lnTo>
                <a:lnTo>
                  <a:pt x="131" y="35"/>
                </a:lnTo>
                <a:lnTo>
                  <a:pt x="114" y="35"/>
                </a:lnTo>
                <a:lnTo>
                  <a:pt x="98" y="34"/>
                </a:lnTo>
                <a:lnTo>
                  <a:pt x="82" y="34"/>
                </a:lnTo>
                <a:lnTo>
                  <a:pt x="65" y="34"/>
                </a:lnTo>
                <a:lnTo>
                  <a:pt x="49" y="34"/>
                </a:lnTo>
                <a:lnTo>
                  <a:pt x="33" y="34"/>
                </a:lnTo>
                <a:lnTo>
                  <a:pt x="16" y="34"/>
                </a:lnTo>
                <a:lnTo>
                  <a:pt x="0" y="34"/>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200525"/>
            <a:ext cx="3743325" cy="923925"/>
          </a:xfrm>
          <a:custGeom>
            <a:avLst/>
            <a:gdLst/>
            <a:ahLst/>
            <a:cxnLst/>
            <a:rect l="l" t="t" r="r" b="b"/>
            <a:pathLst>
              <a:path w="393" h="97">
                <a:moveTo>
                  <a:pt x="0" y="0"/>
                </a:moveTo>
                <a:lnTo>
                  <a:pt x="16" y="0"/>
                </a:lnTo>
                <a:lnTo>
                  <a:pt x="33" y="1"/>
                </a:lnTo>
                <a:lnTo>
                  <a:pt x="49" y="3"/>
                </a:lnTo>
                <a:lnTo>
                  <a:pt x="65" y="6"/>
                </a:lnTo>
                <a:lnTo>
                  <a:pt x="82" y="8"/>
                </a:lnTo>
                <a:lnTo>
                  <a:pt x="98" y="12"/>
                </a:lnTo>
                <a:lnTo>
                  <a:pt x="114" y="16"/>
                </a:lnTo>
                <a:lnTo>
                  <a:pt x="131" y="20"/>
                </a:lnTo>
                <a:lnTo>
                  <a:pt x="147" y="24"/>
                </a:lnTo>
                <a:lnTo>
                  <a:pt x="164" y="28"/>
                </a:lnTo>
                <a:lnTo>
                  <a:pt x="180" y="33"/>
                </a:lnTo>
                <a:lnTo>
                  <a:pt x="196" y="38"/>
                </a:lnTo>
                <a:lnTo>
                  <a:pt x="213" y="42"/>
                </a:lnTo>
                <a:lnTo>
                  <a:pt x="229" y="47"/>
                </a:lnTo>
                <a:lnTo>
                  <a:pt x="246" y="52"/>
                </a:lnTo>
                <a:lnTo>
                  <a:pt x="262" y="56"/>
                </a:lnTo>
                <a:lnTo>
                  <a:pt x="278" y="60"/>
                </a:lnTo>
                <a:lnTo>
                  <a:pt x="295" y="64"/>
                </a:lnTo>
                <a:lnTo>
                  <a:pt x="311" y="67"/>
                </a:lnTo>
                <a:lnTo>
                  <a:pt x="327" y="70"/>
                </a:lnTo>
                <a:lnTo>
                  <a:pt x="344" y="72"/>
                </a:lnTo>
                <a:lnTo>
                  <a:pt x="360" y="74"/>
                </a:lnTo>
                <a:lnTo>
                  <a:pt x="377" y="75"/>
                </a:lnTo>
                <a:lnTo>
                  <a:pt x="393" y="76"/>
                </a:lnTo>
                <a:lnTo>
                  <a:pt x="393" y="97"/>
                </a:lnTo>
                <a:lnTo>
                  <a:pt x="377" y="96"/>
                </a:lnTo>
                <a:lnTo>
                  <a:pt x="360" y="95"/>
                </a:lnTo>
                <a:lnTo>
                  <a:pt x="344" y="94"/>
                </a:lnTo>
                <a:lnTo>
                  <a:pt x="327" y="91"/>
                </a:lnTo>
                <a:lnTo>
                  <a:pt x="311" y="88"/>
                </a:lnTo>
                <a:lnTo>
                  <a:pt x="295" y="85"/>
                </a:lnTo>
                <a:lnTo>
                  <a:pt x="278" y="81"/>
                </a:lnTo>
                <a:lnTo>
                  <a:pt x="262" y="77"/>
                </a:lnTo>
                <a:lnTo>
                  <a:pt x="246" y="73"/>
                </a:lnTo>
                <a:lnTo>
                  <a:pt x="229" y="68"/>
                </a:lnTo>
                <a:lnTo>
                  <a:pt x="213" y="64"/>
                </a:lnTo>
                <a:lnTo>
                  <a:pt x="196" y="59"/>
                </a:lnTo>
                <a:lnTo>
                  <a:pt x="180" y="54"/>
                </a:lnTo>
                <a:lnTo>
                  <a:pt x="164" y="50"/>
                </a:lnTo>
                <a:lnTo>
                  <a:pt x="147" y="45"/>
                </a:lnTo>
                <a:lnTo>
                  <a:pt x="131" y="41"/>
                </a:lnTo>
                <a:lnTo>
                  <a:pt x="114" y="37"/>
                </a:lnTo>
                <a:lnTo>
                  <a:pt x="98" y="33"/>
                </a:lnTo>
                <a:lnTo>
                  <a:pt x="82" y="30"/>
                </a:lnTo>
                <a:lnTo>
                  <a:pt x="65" y="27"/>
                </a:lnTo>
                <a:lnTo>
                  <a:pt x="49" y="25"/>
                </a:lnTo>
                <a:lnTo>
                  <a:pt x="33" y="23"/>
                </a:lnTo>
                <a:lnTo>
                  <a:pt x="16" y="22"/>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400550"/>
            <a:ext cx="3743325" cy="1314450"/>
          </a:xfrm>
          <a:custGeom>
            <a:avLst/>
            <a:gdLst/>
            <a:ahLst/>
            <a:cxnLst/>
            <a:rect l="l" t="t" r="r" b="b"/>
            <a:pathLst>
              <a:path w="393" h="138">
                <a:moveTo>
                  <a:pt x="0" y="0"/>
                </a:moveTo>
                <a:lnTo>
                  <a:pt x="16" y="1"/>
                </a:lnTo>
                <a:lnTo>
                  <a:pt x="33" y="3"/>
                </a:lnTo>
                <a:lnTo>
                  <a:pt x="49" y="6"/>
                </a:lnTo>
                <a:lnTo>
                  <a:pt x="65" y="9"/>
                </a:lnTo>
                <a:lnTo>
                  <a:pt x="82" y="14"/>
                </a:lnTo>
                <a:lnTo>
                  <a:pt x="98" y="20"/>
                </a:lnTo>
                <a:lnTo>
                  <a:pt x="114" y="26"/>
                </a:lnTo>
                <a:lnTo>
                  <a:pt x="131" y="32"/>
                </a:lnTo>
                <a:lnTo>
                  <a:pt x="147" y="39"/>
                </a:lnTo>
                <a:lnTo>
                  <a:pt x="164" y="47"/>
                </a:lnTo>
                <a:lnTo>
                  <a:pt x="180" y="54"/>
                </a:lnTo>
                <a:lnTo>
                  <a:pt x="196" y="62"/>
                </a:lnTo>
                <a:lnTo>
                  <a:pt x="213" y="70"/>
                </a:lnTo>
                <a:lnTo>
                  <a:pt x="229" y="77"/>
                </a:lnTo>
                <a:lnTo>
                  <a:pt x="246" y="85"/>
                </a:lnTo>
                <a:lnTo>
                  <a:pt x="262" y="92"/>
                </a:lnTo>
                <a:lnTo>
                  <a:pt x="278" y="98"/>
                </a:lnTo>
                <a:lnTo>
                  <a:pt x="295" y="104"/>
                </a:lnTo>
                <a:lnTo>
                  <a:pt x="311" y="110"/>
                </a:lnTo>
                <a:lnTo>
                  <a:pt x="327" y="115"/>
                </a:lnTo>
                <a:lnTo>
                  <a:pt x="344" y="118"/>
                </a:lnTo>
                <a:lnTo>
                  <a:pt x="360" y="121"/>
                </a:lnTo>
                <a:lnTo>
                  <a:pt x="377" y="123"/>
                </a:lnTo>
                <a:lnTo>
                  <a:pt x="393" y="124"/>
                </a:lnTo>
                <a:lnTo>
                  <a:pt x="393" y="138"/>
                </a:lnTo>
                <a:lnTo>
                  <a:pt x="377" y="137"/>
                </a:lnTo>
                <a:lnTo>
                  <a:pt x="360" y="136"/>
                </a:lnTo>
                <a:lnTo>
                  <a:pt x="344" y="133"/>
                </a:lnTo>
                <a:lnTo>
                  <a:pt x="327" y="129"/>
                </a:lnTo>
                <a:lnTo>
                  <a:pt x="311" y="124"/>
                </a:lnTo>
                <a:lnTo>
                  <a:pt x="295" y="119"/>
                </a:lnTo>
                <a:lnTo>
                  <a:pt x="278" y="113"/>
                </a:lnTo>
                <a:lnTo>
                  <a:pt x="262" y="106"/>
                </a:lnTo>
                <a:lnTo>
                  <a:pt x="246" y="99"/>
                </a:lnTo>
                <a:lnTo>
                  <a:pt x="229" y="92"/>
                </a:lnTo>
                <a:lnTo>
                  <a:pt x="213" y="84"/>
                </a:lnTo>
                <a:lnTo>
                  <a:pt x="196" y="76"/>
                </a:lnTo>
                <a:lnTo>
                  <a:pt x="180" y="69"/>
                </a:lnTo>
                <a:lnTo>
                  <a:pt x="164" y="61"/>
                </a:lnTo>
                <a:lnTo>
                  <a:pt x="147" y="54"/>
                </a:lnTo>
                <a:lnTo>
                  <a:pt x="131" y="47"/>
                </a:lnTo>
                <a:lnTo>
                  <a:pt x="114" y="40"/>
                </a:lnTo>
                <a:lnTo>
                  <a:pt x="98" y="34"/>
                </a:lnTo>
                <a:lnTo>
                  <a:pt x="82" y="28"/>
                </a:lnTo>
                <a:lnTo>
                  <a:pt x="65" y="24"/>
                </a:lnTo>
                <a:lnTo>
                  <a:pt x="49" y="20"/>
                </a:lnTo>
                <a:lnTo>
                  <a:pt x="33" y="17"/>
                </a:lnTo>
                <a:lnTo>
                  <a:pt x="16" y="15"/>
                </a:lnTo>
                <a:lnTo>
                  <a:pt x="0" y="1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543425"/>
            <a:ext cx="3743325" cy="1676400"/>
          </a:xfrm>
          <a:custGeom>
            <a:avLst/>
            <a:gdLst/>
            <a:ahLst/>
            <a:cxnLst/>
            <a:rect l="l" t="t" r="r" b="b"/>
            <a:pathLst>
              <a:path w="393" h="176">
                <a:moveTo>
                  <a:pt x="0" y="0"/>
                </a:moveTo>
                <a:lnTo>
                  <a:pt x="16" y="0"/>
                </a:lnTo>
                <a:lnTo>
                  <a:pt x="33" y="3"/>
                </a:lnTo>
                <a:lnTo>
                  <a:pt x="49" y="7"/>
                </a:lnTo>
                <a:lnTo>
                  <a:pt x="65" y="12"/>
                </a:lnTo>
                <a:lnTo>
                  <a:pt x="82" y="18"/>
                </a:lnTo>
                <a:lnTo>
                  <a:pt x="98" y="25"/>
                </a:lnTo>
                <a:lnTo>
                  <a:pt x="114" y="33"/>
                </a:lnTo>
                <a:lnTo>
                  <a:pt x="131" y="42"/>
                </a:lnTo>
                <a:lnTo>
                  <a:pt x="147" y="51"/>
                </a:lnTo>
                <a:lnTo>
                  <a:pt x="164" y="61"/>
                </a:lnTo>
                <a:lnTo>
                  <a:pt x="180" y="71"/>
                </a:lnTo>
                <a:lnTo>
                  <a:pt x="196" y="81"/>
                </a:lnTo>
                <a:lnTo>
                  <a:pt x="213" y="91"/>
                </a:lnTo>
                <a:lnTo>
                  <a:pt x="229" y="101"/>
                </a:lnTo>
                <a:lnTo>
                  <a:pt x="246" y="111"/>
                </a:lnTo>
                <a:lnTo>
                  <a:pt x="262" y="120"/>
                </a:lnTo>
                <a:lnTo>
                  <a:pt x="278" y="129"/>
                </a:lnTo>
                <a:lnTo>
                  <a:pt x="295" y="137"/>
                </a:lnTo>
                <a:lnTo>
                  <a:pt x="311" y="144"/>
                </a:lnTo>
                <a:lnTo>
                  <a:pt x="327" y="150"/>
                </a:lnTo>
                <a:lnTo>
                  <a:pt x="344" y="155"/>
                </a:lnTo>
                <a:lnTo>
                  <a:pt x="360" y="159"/>
                </a:lnTo>
                <a:lnTo>
                  <a:pt x="377" y="162"/>
                </a:lnTo>
                <a:lnTo>
                  <a:pt x="393" y="162"/>
                </a:lnTo>
                <a:lnTo>
                  <a:pt x="393" y="176"/>
                </a:lnTo>
                <a:lnTo>
                  <a:pt x="377" y="175"/>
                </a:lnTo>
                <a:lnTo>
                  <a:pt x="360" y="173"/>
                </a:lnTo>
                <a:lnTo>
                  <a:pt x="344" y="169"/>
                </a:lnTo>
                <a:lnTo>
                  <a:pt x="327" y="164"/>
                </a:lnTo>
                <a:lnTo>
                  <a:pt x="311" y="158"/>
                </a:lnTo>
                <a:lnTo>
                  <a:pt x="295" y="151"/>
                </a:lnTo>
                <a:lnTo>
                  <a:pt x="278" y="143"/>
                </a:lnTo>
                <a:lnTo>
                  <a:pt x="262" y="134"/>
                </a:lnTo>
                <a:lnTo>
                  <a:pt x="246" y="125"/>
                </a:lnTo>
                <a:lnTo>
                  <a:pt x="229" y="115"/>
                </a:lnTo>
                <a:lnTo>
                  <a:pt x="213" y="105"/>
                </a:lnTo>
                <a:lnTo>
                  <a:pt x="196" y="95"/>
                </a:lnTo>
                <a:lnTo>
                  <a:pt x="180" y="84"/>
                </a:lnTo>
                <a:lnTo>
                  <a:pt x="164" y="74"/>
                </a:lnTo>
                <a:lnTo>
                  <a:pt x="147" y="65"/>
                </a:lnTo>
                <a:lnTo>
                  <a:pt x="131" y="55"/>
                </a:lnTo>
                <a:lnTo>
                  <a:pt x="114" y="47"/>
                </a:lnTo>
                <a:lnTo>
                  <a:pt x="98" y="39"/>
                </a:lnTo>
                <a:lnTo>
                  <a:pt x="82" y="31"/>
                </a:lnTo>
                <a:lnTo>
                  <a:pt x="65" y="25"/>
                </a:lnTo>
                <a:lnTo>
                  <a:pt x="49" y="20"/>
                </a:lnTo>
                <a:lnTo>
                  <a:pt x="33" y="16"/>
                </a:lnTo>
                <a:lnTo>
                  <a:pt x="16" y="14"/>
                </a:lnTo>
                <a:lnTo>
                  <a:pt x="0" y="1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229100"/>
            <a:ext cx="3743325" cy="704850"/>
          </a:xfrm>
          <a:custGeom>
            <a:avLst/>
            <a:gdLst/>
            <a:ahLst/>
            <a:cxnLst/>
            <a:rect l="l" t="t" r="r" b="b"/>
            <a:pathLst>
              <a:path w="393" h="74">
                <a:moveTo>
                  <a:pt x="0" y="52"/>
                </a:moveTo>
                <a:lnTo>
                  <a:pt x="16" y="52"/>
                </a:lnTo>
                <a:lnTo>
                  <a:pt x="33" y="51"/>
                </a:lnTo>
                <a:lnTo>
                  <a:pt x="49" y="50"/>
                </a:lnTo>
                <a:lnTo>
                  <a:pt x="65" y="48"/>
                </a:lnTo>
                <a:lnTo>
                  <a:pt x="82" y="46"/>
                </a:lnTo>
                <a:lnTo>
                  <a:pt x="98" y="44"/>
                </a:lnTo>
                <a:lnTo>
                  <a:pt x="114" y="41"/>
                </a:lnTo>
                <a:lnTo>
                  <a:pt x="131" y="39"/>
                </a:lnTo>
                <a:lnTo>
                  <a:pt x="147" y="36"/>
                </a:lnTo>
                <a:lnTo>
                  <a:pt x="164" y="33"/>
                </a:lnTo>
                <a:lnTo>
                  <a:pt x="180" y="29"/>
                </a:lnTo>
                <a:lnTo>
                  <a:pt x="196" y="26"/>
                </a:lnTo>
                <a:lnTo>
                  <a:pt x="213" y="23"/>
                </a:lnTo>
                <a:lnTo>
                  <a:pt x="229" y="20"/>
                </a:lnTo>
                <a:lnTo>
                  <a:pt x="246" y="17"/>
                </a:lnTo>
                <a:lnTo>
                  <a:pt x="262" y="14"/>
                </a:lnTo>
                <a:lnTo>
                  <a:pt x="278" y="11"/>
                </a:lnTo>
                <a:lnTo>
                  <a:pt x="295" y="8"/>
                </a:lnTo>
                <a:lnTo>
                  <a:pt x="311" y="6"/>
                </a:lnTo>
                <a:lnTo>
                  <a:pt x="327" y="4"/>
                </a:lnTo>
                <a:lnTo>
                  <a:pt x="344" y="2"/>
                </a:lnTo>
                <a:lnTo>
                  <a:pt x="360" y="1"/>
                </a:lnTo>
                <a:lnTo>
                  <a:pt x="377" y="0"/>
                </a:lnTo>
                <a:lnTo>
                  <a:pt x="393" y="0"/>
                </a:lnTo>
                <a:lnTo>
                  <a:pt x="393" y="22"/>
                </a:lnTo>
                <a:lnTo>
                  <a:pt x="377" y="22"/>
                </a:lnTo>
                <a:lnTo>
                  <a:pt x="360" y="23"/>
                </a:lnTo>
                <a:lnTo>
                  <a:pt x="344" y="24"/>
                </a:lnTo>
                <a:lnTo>
                  <a:pt x="327" y="26"/>
                </a:lnTo>
                <a:lnTo>
                  <a:pt x="311" y="28"/>
                </a:lnTo>
                <a:lnTo>
                  <a:pt x="295" y="30"/>
                </a:lnTo>
                <a:lnTo>
                  <a:pt x="278" y="33"/>
                </a:lnTo>
                <a:lnTo>
                  <a:pt x="262" y="36"/>
                </a:lnTo>
                <a:lnTo>
                  <a:pt x="246" y="39"/>
                </a:lnTo>
                <a:lnTo>
                  <a:pt x="229" y="42"/>
                </a:lnTo>
                <a:lnTo>
                  <a:pt x="213" y="45"/>
                </a:lnTo>
                <a:lnTo>
                  <a:pt x="196" y="48"/>
                </a:lnTo>
                <a:lnTo>
                  <a:pt x="180" y="52"/>
                </a:lnTo>
                <a:lnTo>
                  <a:pt x="164" y="55"/>
                </a:lnTo>
                <a:lnTo>
                  <a:pt x="147" y="58"/>
                </a:lnTo>
                <a:lnTo>
                  <a:pt x="131" y="61"/>
                </a:lnTo>
                <a:lnTo>
                  <a:pt x="114" y="64"/>
                </a:lnTo>
                <a:lnTo>
                  <a:pt x="98" y="66"/>
                </a:lnTo>
                <a:lnTo>
                  <a:pt x="82" y="69"/>
                </a:lnTo>
                <a:lnTo>
                  <a:pt x="65" y="71"/>
                </a:lnTo>
                <a:lnTo>
                  <a:pt x="49" y="72"/>
                </a:lnTo>
                <a:lnTo>
                  <a:pt x="33" y="73"/>
                </a:lnTo>
                <a:lnTo>
                  <a:pt x="16" y="74"/>
                </a:lnTo>
                <a:lnTo>
                  <a:pt x="0" y="7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4933950"/>
            <a:ext cx="3743325" cy="333375"/>
          </a:xfrm>
          <a:custGeom>
            <a:avLst/>
            <a:gdLst/>
            <a:ahLst/>
            <a:cxnLst/>
            <a:rect l="l" t="t" r="r" b="b"/>
            <a:pathLst>
              <a:path w="393" h="35">
                <a:moveTo>
                  <a:pt x="0" y="0"/>
                </a:moveTo>
                <a:lnTo>
                  <a:pt x="16" y="0"/>
                </a:lnTo>
                <a:lnTo>
                  <a:pt x="33" y="1"/>
                </a:lnTo>
                <a:lnTo>
                  <a:pt x="49" y="1"/>
                </a:lnTo>
                <a:lnTo>
                  <a:pt x="65" y="2"/>
                </a:lnTo>
                <a:lnTo>
                  <a:pt x="82" y="3"/>
                </a:lnTo>
                <a:lnTo>
                  <a:pt x="98" y="3"/>
                </a:lnTo>
                <a:lnTo>
                  <a:pt x="114" y="4"/>
                </a:lnTo>
                <a:lnTo>
                  <a:pt x="131" y="5"/>
                </a:lnTo>
                <a:lnTo>
                  <a:pt x="147" y="7"/>
                </a:lnTo>
                <a:lnTo>
                  <a:pt x="164" y="8"/>
                </a:lnTo>
                <a:lnTo>
                  <a:pt x="180" y="9"/>
                </a:lnTo>
                <a:lnTo>
                  <a:pt x="196" y="10"/>
                </a:lnTo>
                <a:lnTo>
                  <a:pt x="213" y="11"/>
                </a:lnTo>
                <a:lnTo>
                  <a:pt x="229" y="13"/>
                </a:lnTo>
                <a:lnTo>
                  <a:pt x="246" y="14"/>
                </a:lnTo>
                <a:lnTo>
                  <a:pt x="262" y="15"/>
                </a:lnTo>
                <a:lnTo>
                  <a:pt x="278" y="16"/>
                </a:lnTo>
                <a:lnTo>
                  <a:pt x="295" y="17"/>
                </a:lnTo>
                <a:lnTo>
                  <a:pt x="311" y="18"/>
                </a:lnTo>
                <a:lnTo>
                  <a:pt x="327" y="18"/>
                </a:lnTo>
                <a:lnTo>
                  <a:pt x="344" y="19"/>
                </a:lnTo>
                <a:lnTo>
                  <a:pt x="360" y="19"/>
                </a:lnTo>
                <a:lnTo>
                  <a:pt x="377" y="20"/>
                </a:lnTo>
                <a:lnTo>
                  <a:pt x="393" y="20"/>
                </a:lnTo>
                <a:lnTo>
                  <a:pt x="393" y="35"/>
                </a:lnTo>
                <a:lnTo>
                  <a:pt x="377" y="35"/>
                </a:lnTo>
                <a:lnTo>
                  <a:pt x="360" y="35"/>
                </a:lnTo>
                <a:lnTo>
                  <a:pt x="344" y="34"/>
                </a:lnTo>
                <a:lnTo>
                  <a:pt x="327" y="33"/>
                </a:lnTo>
                <a:lnTo>
                  <a:pt x="311" y="33"/>
                </a:lnTo>
                <a:lnTo>
                  <a:pt x="295" y="32"/>
                </a:lnTo>
                <a:lnTo>
                  <a:pt x="278" y="31"/>
                </a:lnTo>
                <a:lnTo>
                  <a:pt x="262" y="30"/>
                </a:lnTo>
                <a:lnTo>
                  <a:pt x="246" y="29"/>
                </a:lnTo>
                <a:lnTo>
                  <a:pt x="229" y="28"/>
                </a:lnTo>
                <a:lnTo>
                  <a:pt x="213" y="26"/>
                </a:lnTo>
                <a:lnTo>
                  <a:pt x="196" y="25"/>
                </a:lnTo>
                <a:lnTo>
                  <a:pt x="180" y="24"/>
                </a:lnTo>
                <a:lnTo>
                  <a:pt x="164" y="23"/>
                </a:lnTo>
                <a:lnTo>
                  <a:pt x="147" y="22"/>
                </a:lnTo>
                <a:lnTo>
                  <a:pt x="131" y="20"/>
                </a:lnTo>
                <a:lnTo>
                  <a:pt x="114" y="19"/>
                </a:lnTo>
                <a:lnTo>
                  <a:pt x="98" y="18"/>
                </a:lnTo>
                <a:lnTo>
                  <a:pt x="82" y="18"/>
                </a:lnTo>
                <a:lnTo>
                  <a:pt x="65" y="17"/>
                </a:lnTo>
                <a:lnTo>
                  <a:pt x="49" y="16"/>
                </a:lnTo>
                <a:lnTo>
                  <a:pt x="33" y="16"/>
                </a:lnTo>
                <a:lnTo>
                  <a:pt x="16" y="16"/>
                </a:lnTo>
                <a:lnTo>
                  <a:pt x="0" y="1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076825"/>
            <a:ext cx="3743325" cy="752475"/>
          </a:xfrm>
          <a:custGeom>
            <a:avLst/>
            <a:gdLst/>
            <a:ahLst/>
            <a:cxnLst/>
            <a:rect l="l" t="t" r="r" b="b"/>
            <a:pathLst>
              <a:path w="393" h="79">
                <a:moveTo>
                  <a:pt x="0" y="0"/>
                </a:moveTo>
                <a:lnTo>
                  <a:pt x="16" y="1"/>
                </a:lnTo>
                <a:lnTo>
                  <a:pt x="33" y="2"/>
                </a:lnTo>
                <a:lnTo>
                  <a:pt x="49" y="3"/>
                </a:lnTo>
                <a:lnTo>
                  <a:pt x="65" y="5"/>
                </a:lnTo>
                <a:lnTo>
                  <a:pt x="82" y="8"/>
                </a:lnTo>
                <a:lnTo>
                  <a:pt x="98" y="11"/>
                </a:lnTo>
                <a:lnTo>
                  <a:pt x="114" y="14"/>
                </a:lnTo>
                <a:lnTo>
                  <a:pt x="131" y="18"/>
                </a:lnTo>
                <a:lnTo>
                  <a:pt x="147" y="22"/>
                </a:lnTo>
                <a:lnTo>
                  <a:pt x="164" y="25"/>
                </a:lnTo>
                <a:lnTo>
                  <a:pt x="180" y="30"/>
                </a:lnTo>
                <a:lnTo>
                  <a:pt x="196" y="34"/>
                </a:lnTo>
                <a:lnTo>
                  <a:pt x="213" y="38"/>
                </a:lnTo>
                <a:lnTo>
                  <a:pt x="229" y="42"/>
                </a:lnTo>
                <a:lnTo>
                  <a:pt x="246" y="46"/>
                </a:lnTo>
                <a:lnTo>
                  <a:pt x="262" y="50"/>
                </a:lnTo>
                <a:lnTo>
                  <a:pt x="278" y="53"/>
                </a:lnTo>
                <a:lnTo>
                  <a:pt x="295" y="57"/>
                </a:lnTo>
                <a:lnTo>
                  <a:pt x="311" y="60"/>
                </a:lnTo>
                <a:lnTo>
                  <a:pt x="327" y="62"/>
                </a:lnTo>
                <a:lnTo>
                  <a:pt x="344" y="64"/>
                </a:lnTo>
                <a:lnTo>
                  <a:pt x="360" y="66"/>
                </a:lnTo>
                <a:lnTo>
                  <a:pt x="377" y="67"/>
                </a:lnTo>
                <a:lnTo>
                  <a:pt x="393" y="67"/>
                </a:lnTo>
                <a:lnTo>
                  <a:pt x="393" y="79"/>
                </a:lnTo>
                <a:lnTo>
                  <a:pt x="377" y="79"/>
                </a:lnTo>
                <a:lnTo>
                  <a:pt x="360" y="78"/>
                </a:lnTo>
                <a:lnTo>
                  <a:pt x="344" y="76"/>
                </a:lnTo>
                <a:lnTo>
                  <a:pt x="327" y="74"/>
                </a:lnTo>
                <a:lnTo>
                  <a:pt x="311" y="72"/>
                </a:lnTo>
                <a:lnTo>
                  <a:pt x="295" y="69"/>
                </a:lnTo>
                <a:lnTo>
                  <a:pt x="278" y="66"/>
                </a:lnTo>
                <a:lnTo>
                  <a:pt x="262" y="62"/>
                </a:lnTo>
                <a:lnTo>
                  <a:pt x="246" y="58"/>
                </a:lnTo>
                <a:lnTo>
                  <a:pt x="229" y="54"/>
                </a:lnTo>
                <a:lnTo>
                  <a:pt x="213" y="50"/>
                </a:lnTo>
                <a:lnTo>
                  <a:pt x="196" y="46"/>
                </a:lnTo>
                <a:lnTo>
                  <a:pt x="180" y="42"/>
                </a:lnTo>
                <a:lnTo>
                  <a:pt x="164" y="38"/>
                </a:lnTo>
                <a:lnTo>
                  <a:pt x="147" y="34"/>
                </a:lnTo>
                <a:lnTo>
                  <a:pt x="131" y="30"/>
                </a:lnTo>
                <a:lnTo>
                  <a:pt x="114" y="26"/>
                </a:lnTo>
                <a:lnTo>
                  <a:pt x="98" y="23"/>
                </a:lnTo>
                <a:lnTo>
                  <a:pt x="82" y="20"/>
                </a:lnTo>
                <a:lnTo>
                  <a:pt x="65" y="18"/>
                </a:lnTo>
                <a:lnTo>
                  <a:pt x="49" y="16"/>
                </a:lnTo>
                <a:lnTo>
                  <a:pt x="33" y="14"/>
                </a:lnTo>
                <a:lnTo>
                  <a:pt x="16" y="13"/>
                </a:lnTo>
                <a:lnTo>
                  <a:pt x="0" y="1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200650"/>
            <a:ext cx="3743325" cy="1123950"/>
          </a:xfrm>
          <a:custGeom>
            <a:avLst/>
            <a:gdLst/>
            <a:ahLst/>
            <a:cxnLst/>
            <a:rect l="l" t="t" r="r" b="b"/>
            <a:pathLst>
              <a:path w="393" h="118">
                <a:moveTo>
                  <a:pt x="0" y="0"/>
                </a:moveTo>
                <a:lnTo>
                  <a:pt x="16" y="0"/>
                </a:lnTo>
                <a:lnTo>
                  <a:pt x="33" y="2"/>
                </a:lnTo>
                <a:lnTo>
                  <a:pt x="49" y="4"/>
                </a:lnTo>
                <a:lnTo>
                  <a:pt x="65" y="8"/>
                </a:lnTo>
                <a:lnTo>
                  <a:pt x="82" y="12"/>
                </a:lnTo>
                <a:lnTo>
                  <a:pt x="98" y="16"/>
                </a:lnTo>
                <a:lnTo>
                  <a:pt x="114" y="22"/>
                </a:lnTo>
                <a:lnTo>
                  <a:pt x="131" y="28"/>
                </a:lnTo>
                <a:lnTo>
                  <a:pt x="147" y="34"/>
                </a:lnTo>
                <a:lnTo>
                  <a:pt x="164" y="40"/>
                </a:lnTo>
                <a:lnTo>
                  <a:pt x="180" y="47"/>
                </a:lnTo>
                <a:lnTo>
                  <a:pt x="196" y="53"/>
                </a:lnTo>
                <a:lnTo>
                  <a:pt x="213" y="60"/>
                </a:lnTo>
                <a:lnTo>
                  <a:pt x="229" y="67"/>
                </a:lnTo>
                <a:lnTo>
                  <a:pt x="246" y="73"/>
                </a:lnTo>
                <a:lnTo>
                  <a:pt x="262" y="79"/>
                </a:lnTo>
                <a:lnTo>
                  <a:pt x="278" y="85"/>
                </a:lnTo>
                <a:lnTo>
                  <a:pt x="295" y="90"/>
                </a:lnTo>
                <a:lnTo>
                  <a:pt x="311" y="95"/>
                </a:lnTo>
                <a:lnTo>
                  <a:pt x="327" y="99"/>
                </a:lnTo>
                <a:lnTo>
                  <a:pt x="344" y="102"/>
                </a:lnTo>
                <a:lnTo>
                  <a:pt x="360" y="105"/>
                </a:lnTo>
                <a:lnTo>
                  <a:pt x="377" y="106"/>
                </a:lnTo>
                <a:lnTo>
                  <a:pt x="393" y="107"/>
                </a:lnTo>
                <a:lnTo>
                  <a:pt x="393" y="118"/>
                </a:lnTo>
                <a:lnTo>
                  <a:pt x="377" y="117"/>
                </a:lnTo>
                <a:lnTo>
                  <a:pt x="360" y="116"/>
                </a:lnTo>
                <a:lnTo>
                  <a:pt x="344" y="113"/>
                </a:lnTo>
                <a:lnTo>
                  <a:pt x="327" y="110"/>
                </a:lnTo>
                <a:lnTo>
                  <a:pt x="311" y="106"/>
                </a:lnTo>
                <a:lnTo>
                  <a:pt x="295" y="101"/>
                </a:lnTo>
                <a:lnTo>
                  <a:pt x="278" y="96"/>
                </a:lnTo>
                <a:lnTo>
                  <a:pt x="262" y="90"/>
                </a:lnTo>
                <a:lnTo>
                  <a:pt x="246" y="84"/>
                </a:lnTo>
                <a:lnTo>
                  <a:pt x="229" y="77"/>
                </a:lnTo>
                <a:lnTo>
                  <a:pt x="213" y="71"/>
                </a:lnTo>
                <a:lnTo>
                  <a:pt x="196" y="64"/>
                </a:lnTo>
                <a:lnTo>
                  <a:pt x="180" y="57"/>
                </a:lnTo>
                <a:lnTo>
                  <a:pt x="164" y="51"/>
                </a:lnTo>
                <a:lnTo>
                  <a:pt x="147" y="44"/>
                </a:lnTo>
                <a:lnTo>
                  <a:pt x="131" y="38"/>
                </a:lnTo>
                <a:lnTo>
                  <a:pt x="114" y="33"/>
                </a:lnTo>
                <a:lnTo>
                  <a:pt x="98" y="27"/>
                </a:lnTo>
                <a:lnTo>
                  <a:pt x="82" y="22"/>
                </a:lnTo>
                <a:lnTo>
                  <a:pt x="65" y="18"/>
                </a:lnTo>
                <a:lnTo>
                  <a:pt x="49" y="15"/>
                </a:lnTo>
                <a:lnTo>
                  <a:pt x="33" y="13"/>
                </a:lnTo>
                <a:lnTo>
                  <a:pt x="16" y="11"/>
                </a:lnTo>
                <a:lnTo>
                  <a:pt x="0" y="1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438650"/>
            <a:ext cx="3743325" cy="1123950"/>
          </a:xfrm>
          <a:custGeom>
            <a:avLst/>
            <a:gdLst/>
            <a:ahLst/>
            <a:cxnLst/>
            <a:rect l="l" t="t" r="r" b="b"/>
            <a:pathLst>
              <a:path w="393" h="118">
                <a:moveTo>
                  <a:pt x="0" y="96"/>
                </a:moveTo>
                <a:lnTo>
                  <a:pt x="16" y="96"/>
                </a:lnTo>
                <a:lnTo>
                  <a:pt x="33" y="95"/>
                </a:lnTo>
                <a:lnTo>
                  <a:pt x="49" y="92"/>
                </a:lnTo>
                <a:lnTo>
                  <a:pt x="65" y="89"/>
                </a:lnTo>
                <a:lnTo>
                  <a:pt x="82" y="86"/>
                </a:lnTo>
                <a:lnTo>
                  <a:pt x="98" y="81"/>
                </a:lnTo>
                <a:lnTo>
                  <a:pt x="114" y="77"/>
                </a:lnTo>
                <a:lnTo>
                  <a:pt x="131" y="71"/>
                </a:lnTo>
                <a:lnTo>
                  <a:pt x="147" y="66"/>
                </a:lnTo>
                <a:lnTo>
                  <a:pt x="164" y="60"/>
                </a:lnTo>
                <a:lnTo>
                  <a:pt x="180" y="54"/>
                </a:lnTo>
                <a:lnTo>
                  <a:pt x="196" y="48"/>
                </a:lnTo>
                <a:lnTo>
                  <a:pt x="213" y="42"/>
                </a:lnTo>
                <a:lnTo>
                  <a:pt x="229" y="36"/>
                </a:lnTo>
                <a:lnTo>
                  <a:pt x="246" y="31"/>
                </a:lnTo>
                <a:lnTo>
                  <a:pt x="262" y="25"/>
                </a:lnTo>
                <a:lnTo>
                  <a:pt x="278" y="20"/>
                </a:lnTo>
                <a:lnTo>
                  <a:pt x="295" y="15"/>
                </a:lnTo>
                <a:lnTo>
                  <a:pt x="311" y="11"/>
                </a:lnTo>
                <a:lnTo>
                  <a:pt x="327" y="7"/>
                </a:lnTo>
                <a:lnTo>
                  <a:pt x="344" y="4"/>
                </a:lnTo>
                <a:lnTo>
                  <a:pt x="360" y="2"/>
                </a:lnTo>
                <a:lnTo>
                  <a:pt x="377" y="1"/>
                </a:lnTo>
                <a:lnTo>
                  <a:pt x="393" y="0"/>
                </a:lnTo>
                <a:lnTo>
                  <a:pt x="393" y="22"/>
                </a:lnTo>
                <a:lnTo>
                  <a:pt x="377" y="22"/>
                </a:lnTo>
                <a:lnTo>
                  <a:pt x="360" y="24"/>
                </a:lnTo>
                <a:lnTo>
                  <a:pt x="344" y="26"/>
                </a:lnTo>
                <a:lnTo>
                  <a:pt x="327" y="29"/>
                </a:lnTo>
                <a:lnTo>
                  <a:pt x="311" y="33"/>
                </a:lnTo>
                <a:lnTo>
                  <a:pt x="295" y="37"/>
                </a:lnTo>
                <a:lnTo>
                  <a:pt x="278" y="42"/>
                </a:lnTo>
                <a:lnTo>
                  <a:pt x="262" y="47"/>
                </a:lnTo>
                <a:lnTo>
                  <a:pt x="246" y="52"/>
                </a:lnTo>
                <a:lnTo>
                  <a:pt x="229" y="58"/>
                </a:lnTo>
                <a:lnTo>
                  <a:pt x="213" y="64"/>
                </a:lnTo>
                <a:lnTo>
                  <a:pt x="196" y="70"/>
                </a:lnTo>
                <a:lnTo>
                  <a:pt x="180" y="76"/>
                </a:lnTo>
                <a:lnTo>
                  <a:pt x="164" y="82"/>
                </a:lnTo>
                <a:lnTo>
                  <a:pt x="147" y="88"/>
                </a:lnTo>
                <a:lnTo>
                  <a:pt x="131" y="93"/>
                </a:lnTo>
                <a:lnTo>
                  <a:pt x="114" y="98"/>
                </a:lnTo>
                <a:lnTo>
                  <a:pt x="98" y="103"/>
                </a:lnTo>
                <a:lnTo>
                  <a:pt x="82" y="107"/>
                </a:lnTo>
                <a:lnTo>
                  <a:pt x="65" y="111"/>
                </a:lnTo>
                <a:lnTo>
                  <a:pt x="49" y="114"/>
                </a:lnTo>
                <a:lnTo>
                  <a:pt x="33" y="116"/>
                </a:lnTo>
                <a:lnTo>
                  <a:pt x="16" y="118"/>
                </a:lnTo>
                <a:lnTo>
                  <a:pt x="0" y="11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267325"/>
            <a:ext cx="3743325" cy="419100"/>
          </a:xfrm>
          <a:custGeom>
            <a:avLst/>
            <a:gdLst/>
            <a:ahLst/>
            <a:cxnLst/>
            <a:rect l="l" t="t" r="r" b="b"/>
            <a:pathLst>
              <a:path w="393" h="44">
                <a:moveTo>
                  <a:pt x="0" y="31"/>
                </a:moveTo>
                <a:lnTo>
                  <a:pt x="16" y="31"/>
                </a:lnTo>
                <a:lnTo>
                  <a:pt x="33" y="31"/>
                </a:lnTo>
                <a:lnTo>
                  <a:pt x="49" y="30"/>
                </a:lnTo>
                <a:lnTo>
                  <a:pt x="65" y="29"/>
                </a:lnTo>
                <a:lnTo>
                  <a:pt x="82" y="28"/>
                </a:lnTo>
                <a:lnTo>
                  <a:pt x="98" y="26"/>
                </a:lnTo>
                <a:lnTo>
                  <a:pt x="114" y="25"/>
                </a:lnTo>
                <a:lnTo>
                  <a:pt x="131" y="23"/>
                </a:lnTo>
                <a:lnTo>
                  <a:pt x="147" y="21"/>
                </a:lnTo>
                <a:lnTo>
                  <a:pt x="164" y="19"/>
                </a:lnTo>
                <a:lnTo>
                  <a:pt x="180" y="18"/>
                </a:lnTo>
                <a:lnTo>
                  <a:pt x="196" y="16"/>
                </a:lnTo>
                <a:lnTo>
                  <a:pt x="213" y="14"/>
                </a:lnTo>
                <a:lnTo>
                  <a:pt x="229" y="12"/>
                </a:lnTo>
                <a:lnTo>
                  <a:pt x="246" y="10"/>
                </a:lnTo>
                <a:lnTo>
                  <a:pt x="262" y="8"/>
                </a:lnTo>
                <a:lnTo>
                  <a:pt x="278" y="6"/>
                </a:lnTo>
                <a:lnTo>
                  <a:pt x="295" y="5"/>
                </a:lnTo>
                <a:lnTo>
                  <a:pt x="311" y="3"/>
                </a:lnTo>
                <a:lnTo>
                  <a:pt x="327" y="2"/>
                </a:lnTo>
                <a:lnTo>
                  <a:pt x="344" y="1"/>
                </a:lnTo>
                <a:lnTo>
                  <a:pt x="360" y="1"/>
                </a:lnTo>
                <a:lnTo>
                  <a:pt x="377" y="0"/>
                </a:lnTo>
                <a:lnTo>
                  <a:pt x="393" y="0"/>
                </a:lnTo>
                <a:lnTo>
                  <a:pt x="393" y="13"/>
                </a:lnTo>
                <a:lnTo>
                  <a:pt x="377" y="13"/>
                </a:lnTo>
                <a:lnTo>
                  <a:pt x="360" y="13"/>
                </a:lnTo>
                <a:lnTo>
                  <a:pt x="344" y="14"/>
                </a:lnTo>
                <a:lnTo>
                  <a:pt x="327" y="15"/>
                </a:lnTo>
                <a:lnTo>
                  <a:pt x="311" y="16"/>
                </a:lnTo>
                <a:lnTo>
                  <a:pt x="295" y="18"/>
                </a:lnTo>
                <a:lnTo>
                  <a:pt x="278" y="19"/>
                </a:lnTo>
                <a:lnTo>
                  <a:pt x="262" y="21"/>
                </a:lnTo>
                <a:lnTo>
                  <a:pt x="246" y="23"/>
                </a:lnTo>
                <a:lnTo>
                  <a:pt x="229" y="25"/>
                </a:lnTo>
                <a:lnTo>
                  <a:pt x="213" y="26"/>
                </a:lnTo>
                <a:lnTo>
                  <a:pt x="196" y="28"/>
                </a:lnTo>
                <a:lnTo>
                  <a:pt x="180" y="30"/>
                </a:lnTo>
                <a:lnTo>
                  <a:pt x="164" y="32"/>
                </a:lnTo>
                <a:lnTo>
                  <a:pt x="147" y="34"/>
                </a:lnTo>
                <a:lnTo>
                  <a:pt x="131" y="36"/>
                </a:lnTo>
                <a:lnTo>
                  <a:pt x="114" y="38"/>
                </a:lnTo>
                <a:lnTo>
                  <a:pt x="98" y="39"/>
                </a:lnTo>
                <a:lnTo>
                  <a:pt x="82" y="41"/>
                </a:lnTo>
                <a:lnTo>
                  <a:pt x="65" y="42"/>
                </a:lnTo>
                <a:lnTo>
                  <a:pt x="49" y="43"/>
                </a:lnTo>
                <a:lnTo>
                  <a:pt x="33" y="43"/>
                </a:lnTo>
                <a:lnTo>
                  <a:pt x="16" y="44"/>
                </a:lnTo>
                <a:lnTo>
                  <a:pt x="0" y="4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686425"/>
            <a:ext cx="3743325" cy="247650"/>
          </a:xfrm>
          <a:custGeom>
            <a:avLst/>
            <a:gdLst/>
            <a:ahLst/>
            <a:cxnLst/>
            <a:rect l="l" t="t" r="r" b="b"/>
            <a:pathLst>
              <a:path w="393" h="26">
                <a:moveTo>
                  <a:pt x="0" y="0"/>
                </a:moveTo>
                <a:lnTo>
                  <a:pt x="16" y="0"/>
                </a:lnTo>
                <a:lnTo>
                  <a:pt x="33" y="0"/>
                </a:lnTo>
                <a:lnTo>
                  <a:pt x="49" y="1"/>
                </a:lnTo>
                <a:lnTo>
                  <a:pt x="65" y="1"/>
                </a:lnTo>
                <a:lnTo>
                  <a:pt x="82" y="2"/>
                </a:lnTo>
                <a:lnTo>
                  <a:pt x="98" y="2"/>
                </a:lnTo>
                <a:lnTo>
                  <a:pt x="114" y="3"/>
                </a:lnTo>
                <a:lnTo>
                  <a:pt x="131" y="4"/>
                </a:lnTo>
                <a:lnTo>
                  <a:pt x="147" y="5"/>
                </a:lnTo>
                <a:lnTo>
                  <a:pt x="164" y="6"/>
                </a:lnTo>
                <a:lnTo>
                  <a:pt x="180" y="7"/>
                </a:lnTo>
                <a:lnTo>
                  <a:pt x="196" y="8"/>
                </a:lnTo>
                <a:lnTo>
                  <a:pt x="213" y="9"/>
                </a:lnTo>
                <a:lnTo>
                  <a:pt x="229" y="10"/>
                </a:lnTo>
                <a:lnTo>
                  <a:pt x="246" y="10"/>
                </a:lnTo>
                <a:lnTo>
                  <a:pt x="262" y="11"/>
                </a:lnTo>
                <a:lnTo>
                  <a:pt x="278" y="12"/>
                </a:lnTo>
                <a:lnTo>
                  <a:pt x="295" y="13"/>
                </a:lnTo>
                <a:lnTo>
                  <a:pt x="311" y="14"/>
                </a:lnTo>
                <a:lnTo>
                  <a:pt x="327" y="14"/>
                </a:lnTo>
                <a:lnTo>
                  <a:pt x="344" y="15"/>
                </a:lnTo>
                <a:lnTo>
                  <a:pt x="360" y="15"/>
                </a:lnTo>
                <a:lnTo>
                  <a:pt x="377" y="15"/>
                </a:lnTo>
                <a:lnTo>
                  <a:pt x="393" y="15"/>
                </a:lnTo>
                <a:lnTo>
                  <a:pt x="393" y="26"/>
                </a:lnTo>
                <a:lnTo>
                  <a:pt x="377" y="25"/>
                </a:lnTo>
                <a:lnTo>
                  <a:pt x="360" y="25"/>
                </a:lnTo>
                <a:lnTo>
                  <a:pt x="344" y="25"/>
                </a:lnTo>
                <a:lnTo>
                  <a:pt x="327" y="24"/>
                </a:lnTo>
                <a:lnTo>
                  <a:pt x="311" y="24"/>
                </a:lnTo>
                <a:lnTo>
                  <a:pt x="295" y="23"/>
                </a:lnTo>
                <a:lnTo>
                  <a:pt x="278" y="22"/>
                </a:lnTo>
                <a:lnTo>
                  <a:pt x="262" y="22"/>
                </a:lnTo>
                <a:lnTo>
                  <a:pt x="246" y="21"/>
                </a:lnTo>
                <a:lnTo>
                  <a:pt x="229" y="20"/>
                </a:lnTo>
                <a:lnTo>
                  <a:pt x="213" y="19"/>
                </a:lnTo>
                <a:lnTo>
                  <a:pt x="196" y="18"/>
                </a:lnTo>
                <a:lnTo>
                  <a:pt x="180" y="17"/>
                </a:lnTo>
                <a:lnTo>
                  <a:pt x="164" y="16"/>
                </a:lnTo>
                <a:lnTo>
                  <a:pt x="147" y="15"/>
                </a:lnTo>
                <a:lnTo>
                  <a:pt x="131" y="14"/>
                </a:lnTo>
                <a:lnTo>
                  <a:pt x="114" y="13"/>
                </a:lnTo>
                <a:lnTo>
                  <a:pt x="98" y="13"/>
                </a:lnTo>
                <a:lnTo>
                  <a:pt x="82" y="12"/>
                </a:lnTo>
                <a:lnTo>
                  <a:pt x="65" y="11"/>
                </a:lnTo>
                <a:lnTo>
                  <a:pt x="49" y="11"/>
                </a:lnTo>
                <a:lnTo>
                  <a:pt x="33" y="11"/>
                </a:lnTo>
                <a:lnTo>
                  <a:pt x="16" y="10"/>
                </a:lnTo>
                <a:lnTo>
                  <a:pt x="0" y="1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781675"/>
            <a:ext cx="3743325" cy="638175"/>
          </a:xfrm>
          <a:custGeom>
            <a:avLst/>
            <a:gdLst/>
            <a:ahLst/>
            <a:cxnLst/>
            <a:rect l="l" t="t" r="r" b="b"/>
            <a:pathLst>
              <a:path w="393" h="67">
                <a:moveTo>
                  <a:pt x="0" y="0"/>
                </a:moveTo>
                <a:lnTo>
                  <a:pt x="16" y="1"/>
                </a:lnTo>
                <a:lnTo>
                  <a:pt x="33" y="1"/>
                </a:lnTo>
                <a:lnTo>
                  <a:pt x="49" y="3"/>
                </a:lnTo>
                <a:lnTo>
                  <a:pt x="65" y="5"/>
                </a:lnTo>
                <a:lnTo>
                  <a:pt x="82" y="7"/>
                </a:lnTo>
                <a:lnTo>
                  <a:pt x="98" y="9"/>
                </a:lnTo>
                <a:lnTo>
                  <a:pt x="114" y="12"/>
                </a:lnTo>
                <a:lnTo>
                  <a:pt x="131" y="15"/>
                </a:lnTo>
                <a:lnTo>
                  <a:pt x="147" y="18"/>
                </a:lnTo>
                <a:lnTo>
                  <a:pt x="164" y="22"/>
                </a:lnTo>
                <a:lnTo>
                  <a:pt x="180" y="25"/>
                </a:lnTo>
                <a:lnTo>
                  <a:pt x="196" y="29"/>
                </a:lnTo>
                <a:lnTo>
                  <a:pt x="213" y="32"/>
                </a:lnTo>
                <a:lnTo>
                  <a:pt x="229" y="36"/>
                </a:lnTo>
                <a:lnTo>
                  <a:pt x="246" y="39"/>
                </a:lnTo>
                <a:lnTo>
                  <a:pt x="262" y="42"/>
                </a:lnTo>
                <a:lnTo>
                  <a:pt x="278" y="45"/>
                </a:lnTo>
                <a:lnTo>
                  <a:pt x="295" y="48"/>
                </a:lnTo>
                <a:lnTo>
                  <a:pt x="311" y="50"/>
                </a:lnTo>
                <a:lnTo>
                  <a:pt x="327" y="53"/>
                </a:lnTo>
                <a:lnTo>
                  <a:pt x="344" y="54"/>
                </a:lnTo>
                <a:lnTo>
                  <a:pt x="360" y="56"/>
                </a:lnTo>
                <a:lnTo>
                  <a:pt x="377" y="57"/>
                </a:lnTo>
                <a:lnTo>
                  <a:pt x="393" y="57"/>
                </a:lnTo>
                <a:lnTo>
                  <a:pt x="393" y="67"/>
                </a:lnTo>
                <a:lnTo>
                  <a:pt x="377" y="66"/>
                </a:lnTo>
                <a:lnTo>
                  <a:pt x="360" y="65"/>
                </a:lnTo>
                <a:lnTo>
                  <a:pt x="344" y="64"/>
                </a:lnTo>
                <a:lnTo>
                  <a:pt x="327" y="62"/>
                </a:lnTo>
                <a:lnTo>
                  <a:pt x="311" y="60"/>
                </a:lnTo>
                <a:lnTo>
                  <a:pt x="295" y="58"/>
                </a:lnTo>
                <a:lnTo>
                  <a:pt x="278" y="55"/>
                </a:lnTo>
                <a:lnTo>
                  <a:pt x="262" y="52"/>
                </a:lnTo>
                <a:lnTo>
                  <a:pt x="246" y="49"/>
                </a:lnTo>
                <a:lnTo>
                  <a:pt x="229" y="45"/>
                </a:lnTo>
                <a:lnTo>
                  <a:pt x="213" y="42"/>
                </a:lnTo>
                <a:lnTo>
                  <a:pt x="196" y="38"/>
                </a:lnTo>
                <a:lnTo>
                  <a:pt x="180" y="35"/>
                </a:lnTo>
                <a:lnTo>
                  <a:pt x="164" y="31"/>
                </a:lnTo>
                <a:lnTo>
                  <a:pt x="147" y="28"/>
                </a:lnTo>
                <a:lnTo>
                  <a:pt x="131" y="25"/>
                </a:lnTo>
                <a:lnTo>
                  <a:pt x="114" y="22"/>
                </a:lnTo>
                <a:lnTo>
                  <a:pt x="98" y="19"/>
                </a:lnTo>
                <a:lnTo>
                  <a:pt x="82" y="16"/>
                </a:lnTo>
                <a:lnTo>
                  <a:pt x="65" y="14"/>
                </a:lnTo>
                <a:lnTo>
                  <a:pt x="49" y="12"/>
                </a:lnTo>
                <a:lnTo>
                  <a:pt x="33" y="11"/>
                </a:lnTo>
                <a:lnTo>
                  <a:pt x="16" y="10"/>
                </a:lnTo>
                <a:lnTo>
                  <a:pt x="0" y="1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648200"/>
            <a:ext cx="3743325" cy="1400175"/>
          </a:xfrm>
          <a:custGeom>
            <a:avLst/>
            <a:gdLst/>
            <a:ahLst/>
            <a:cxnLst/>
            <a:rect l="l" t="t" r="r" b="b"/>
            <a:pathLst>
              <a:path w="393" h="147">
                <a:moveTo>
                  <a:pt x="0" y="135"/>
                </a:moveTo>
                <a:lnTo>
                  <a:pt x="16" y="134"/>
                </a:lnTo>
                <a:lnTo>
                  <a:pt x="33" y="132"/>
                </a:lnTo>
                <a:lnTo>
                  <a:pt x="49" y="129"/>
                </a:lnTo>
                <a:lnTo>
                  <a:pt x="65" y="125"/>
                </a:lnTo>
                <a:lnTo>
                  <a:pt x="82" y="120"/>
                </a:lnTo>
                <a:lnTo>
                  <a:pt x="98" y="114"/>
                </a:lnTo>
                <a:lnTo>
                  <a:pt x="114" y="107"/>
                </a:lnTo>
                <a:lnTo>
                  <a:pt x="131" y="100"/>
                </a:lnTo>
                <a:lnTo>
                  <a:pt x="147" y="92"/>
                </a:lnTo>
                <a:lnTo>
                  <a:pt x="164" y="84"/>
                </a:lnTo>
                <a:lnTo>
                  <a:pt x="180" y="76"/>
                </a:lnTo>
                <a:lnTo>
                  <a:pt x="196" y="68"/>
                </a:lnTo>
                <a:lnTo>
                  <a:pt x="213" y="59"/>
                </a:lnTo>
                <a:lnTo>
                  <a:pt x="229" y="51"/>
                </a:lnTo>
                <a:lnTo>
                  <a:pt x="246" y="43"/>
                </a:lnTo>
                <a:lnTo>
                  <a:pt x="262" y="35"/>
                </a:lnTo>
                <a:lnTo>
                  <a:pt x="278" y="28"/>
                </a:lnTo>
                <a:lnTo>
                  <a:pt x="295" y="21"/>
                </a:lnTo>
                <a:lnTo>
                  <a:pt x="311" y="15"/>
                </a:lnTo>
                <a:lnTo>
                  <a:pt x="327" y="10"/>
                </a:lnTo>
                <a:lnTo>
                  <a:pt x="344" y="6"/>
                </a:lnTo>
                <a:lnTo>
                  <a:pt x="360" y="3"/>
                </a:lnTo>
                <a:lnTo>
                  <a:pt x="377" y="1"/>
                </a:lnTo>
                <a:lnTo>
                  <a:pt x="393" y="0"/>
                </a:lnTo>
                <a:lnTo>
                  <a:pt x="393" y="12"/>
                </a:lnTo>
                <a:lnTo>
                  <a:pt x="377" y="12"/>
                </a:lnTo>
                <a:lnTo>
                  <a:pt x="360" y="14"/>
                </a:lnTo>
                <a:lnTo>
                  <a:pt x="344" y="18"/>
                </a:lnTo>
                <a:lnTo>
                  <a:pt x="327" y="22"/>
                </a:lnTo>
                <a:lnTo>
                  <a:pt x="311" y="27"/>
                </a:lnTo>
                <a:lnTo>
                  <a:pt x="295" y="33"/>
                </a:lnTo>
                <a:lnTo>
                  <a:pt x="278" y="39"/>
                </a:lnTo>
                <a:lnTo>
                  <a:pt x="262" y="47"/>
                </a:lnTo>
                <a:lnTo>
                  <a:pt x="246" y="54"/>
                </a:lnTo>
                <a:lnTo>
                  <a:pt x="229" y="63"/>
                </a:lnTo>
                <a:lnTo>
                  <a:pt x="213" y="71"/>
                </a:lnTo>
                <a:lnTo>
                  <a:pt x="196" y="79"/>
                </a:lnTo>
                <a:lnTo>
                  <a:pt x="180" y="88"/>
                </a:lnTo>
                <a:lnTo>
                  <a:pt x="164" y="96"/>
                </a:lnTo>
                <a:lnTo>
                  <a:pt x="147" y="104"/>
                </a:lnTo>
                <a:lnTo>
                  <a:pt x="131" y="112"/>
                </a:lnTo>
                <a:lnTo>
                  <a:pt x="114" y="119"/>
                </a:lnTo>
                <a:lnTo>
                  <a:pt x="98" y="126"/>
                </a:lnTo>
                <a:lnTo>
                  <a:pt x="82" y="132"/>
                </a:lnTo>
                <a:lnTo>
                  <a:pt x="65" y="137"/>
                </a:lnTo>
                <a:lnTo>
                  <a:pt x="49" y="141"/>
                </a:lnTo>
                <a:lnTo>
                  <a:pt x="33" y="144"/>
                </a:lnTo>
                <a:lnTo>
                  <a:pt x="16" y="146"/>
                </a:lnTo>
                <a:lnTo>
                  <a:pt x="0" y="14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391150"/>
            <a:ext cx="3743325" cy="723900"/>
          </a:xfrm>
          <a:custGeom>
            <a:avLst/>
            <a:gdLst/>
            <a:ahLst/>
            <a:cxnLst/>
            <a:rect l="l" t="t" r="r" b="b"/>
            <a:pathLst>
              <a:path w="393" h="76">
                <a:moveTo>
                  <a:pt x="0" y="69"/>
                </a:moveTo>
                <a:lnTo>
                  <a:pt x="16" y="68"/>
                </a:lnTo>
                <a:lnTo>
                  <a:pt x="33" y="67"/>
                </a:lnTo>
                <a:lnTo>
                  <a:pt x="49" y="66"/>
                </a:lnTo>
                <a:lnTo>
                  <a:pt x="65" y="64"/>
                </a:lnTo>
                <a:lnTo>
                  <a:pt x="82" y="61"/>
                </a:lnTo>
                <a:lnTo>
                  <a:pt x="98" y="58"/>
                </a:lnTo>
                <a:lnTo>
                  <a:pt x="114" y="55"/>
                </a:lnTo>
                <a:lnTo>
                  <a:pt x="131" y="51"/>
                </a:lnTo>
                <a:lnTo>
                  <a:pt x="147" y="47"/>
                </a:lnTo>
                <a:lnTo>
                  <a:pt x="164" y="43"/>
                </a:lnTo>
                <a:lnTo>
                  <a:pt x="180" y="39"/>
                </a:lnTo>
                <a:lnTo>
                  <a:pt x="196" y="34"/>
                </a:lnTo>
                <a:lnTo>
                  <a:pt x="213" y="30"/>
                </a:lnTo>
                <a:lnTo>
                  <a:pt x="229" y="26"/>
                </a:lnTo>
                <a:lnTo>
                  <a:pt x="246" y="22"/>
                </a:lnTo>
                <a:lnTo>
                  <a:pt x="262" y="18"/>
                </a:lnTo>
                <a:lnTo>
                  <a:pt x="278" y="14"/>
                </a:lnTo>
                <a:lnTo>
                  <a:pt x="295" y="10"/>
                </a:lnTo>
                <a:lnTo>
                  <a:pt x="311" y="7"/>
                </a:lnTo>
                <a:lnTo>
                  <a:pt x="327" y="5"/>
                </a:lnTo>
                <a:lnTo>
                  <a:pt x="344" y="3"/>
                </a:lnTo>
                <a:lnTo>
                  <a:pt x="360" y="1"/>
                </a:lnTo>
                <a:lnTo>
                  <a:pt x="377" y="0"/>
                </a:lnTo>
                <a:lnTo>
                  <a:pt x="393" y="0"/>
                </a:lnTo>
                <a:lnTo>
                  <a:pt x="393" y="7"/>
                </a:lnTo>
                <a:lnTo>
                  <a:pt x="377" y="7"/>
                </a:lnTo>
                <a:lnTo>
                  <a:pt x="360" y="8"/>
                </a:lnTo>
                <a:lnTo>
                  <a:pt x="344" y="10"/>
                </a:lnTo>
                <a:lnTo>
                  <a:pt x="327" y="12"/>
                </a:lnTo>
                <a:lnTo>
                  <a:pt x="311" y="15"/>
                </a:lnTo>
                <a:lnTo>
                  <a:pt x="295" y="18"/>
                </a:lnTo>
                <a:lnTo>
                  <a:pt x="278" y="21"/>
                </a:lnTo>
                <a:lnTo>
                  <a:pt x="262" y="25"/>
                </a:lnTo>
                <a:lnTo>
                  <a:pt x="246" y="29"/>
                </a:lnTo>
                <a:lnTo>
                  <a:pt x="229" y="33"/>
                </a:lnTo>
                <a:lnTo>
                  <a:pt x="213" y="37"/>
                </a:lnTo>
                <a:lnTo>
                  <a:pt x="196" y="42"/>
                </a:lnTo>
                <a:lnTo>
                  <a:pt x="180" y="46"/>
                </a:lnTo>
                <a:lnTo>
                  <a:pt x="164" y="50"/>
                </a:lnTo>
                <a:lnTo>
                  <a:pt x="147" y="54"/>
                </a:lnTo>
                <a:lnTo>
                  <a:pt x="131" y="58"/>
                </a:lnTo>
                <a:lnTo>
                  <a:pt x="114" y="62"/>
                </a:lnTo>
                <a:lnTo>
                  <a:pt x="98" y="65"/>
                </a:lnTo>
                <a:lnTo>
                  <a:pt x="82" y="68"/>
                </a:lnTo>
                <a:lnTo>
                  <a:pt x="65" y="71"/>
                </a:lnTo>
                <a:lnTo>
                  <a:pt x="49" y="73"/>
                </a:lnTo>
                <a:lnTo>
                  <a:pt x="33" y="75"/>
                </a:lnTo>
                <a:lnTo>
                  <a:pt x="16" y="76"/>
                </a:lnTo>
                <a:lnTo>
                  <a:pt x="0" y="76"/>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934075"/>
            <a:ext cx="3743325" cy="238125"/>
          </a:xfrm>
          <a:custGeom>
            <a:avLst/>
            <a:gdLst/>
            <a:ahLst/>
            <a:cxnLst/>
            <a:rect l="l" t="t" r="r" b="b"/>
            <a:pathLst>
              <a:path w="393" h="25">
                <a:moveTo>
                  <a:pt x="0" y="19"/>
                </a:moveTo>
                <a:lnTo>
                  <a:pt x="16" y="19"/>
                </a:lnTo>
                <a:lnTo>
                  <a:pt x="33" y="19"/>
                </a:lnTo>
                <a:lnTo>
                  <a:pt x="49" y="18"/>
                </a:lnTo>
                <a:lnTo>
                  <a:pt x="65" y="18"/>
                </a:lnTo>
                <a:lnTo>
                  <a:pt x="82" y="17"/>
                </a:lnTo>
                <a:lnTo>
                  <a:pt x="98" y="16"/>
                </a:lnTo>
                <a:lnTo>
                  <a:pt x="114" y="15"/>
                </a:lnTo>
                <a:lnTo>
                  <a:pt x="131" y="14"/>
                </a:lnTo>
                <a:lnTo>
                  <a:pt x="147" y="13"/>
                </a:lnTo>
                <a:lnTo>
                  <a:pt x="164" y="12"/>
                </a:lnTo>
                <a:lnTo>
                  <a:pt x="180" y="11"/>
                </a:lnTo>
                <a:lnTo>
                  <a:pt x="196" y="9"/>
                </a:lnTo>
                <a:lnTo>
                  <a:pt x="213" y="8"/>
                </a:lnTo>
                <a:lnTo>
                  <a:pt x="229" y="7"/>
                </a:lnTo>
                <a:lnTo>
                  <a:pt x="246" y="6"/>
                </a:lnTo>
                <a:lnTo>
                  <a:pt x="262" y="5"/>
                </a:lnTo>
                <a:lnTo>
                  <a:pt x="278" y="4"/>
                </a:lnTo>
                <a:lnTo>
                  <a:pt x="295" y="3"/>
                </a:lnTo>
                <a:lnTo>
                  <a:pt x="311" y="2"/>
                </a:lnTo>
                <a:lnTo>
                  <a:pt x="327" y="1"/>
                </a:lnTo>
                <a:lnTo>
                  <a:pt x="344" y="0"/>
                </a:lnTo>
                <a:lnTo>
                  <a:pt x="360" y="0"/>
                </a:lnTo>
                <a:lnTo>
                  <a:pt x="377" y="0"/>
                </a:lnTo>
                <a:lnTo>
                  <a:pt x="393" y="0"/>
                </a:lnTo>
                <a:lnTo>
                  <a:pt x="393" y="6"/>
                </a:lnTo>
                <a:lnTo>
                  <a:pt x="377" y="6"/>
                </a:lnTo>
                <a:lnTo>
                  <a:pt x="360" y="6"/>
                </a:lnTo>
                <a:lnTo>
                  <a:pt x="344" y="7"/>
                </a:lnTo>
                <a:lnTo>
                  <a:pt x="327" y="7"/>
                </a:lnTo>
                <a:lnTo>
                  <a:pt x="311" y="8"/>
                </a:lnTo>
                <a:lnTo>
                  <a:pt x="295" y="9"/>
                </a:lnTo>
                <a:lnTo>
                  <a:pt x="278" y="10"/>
                </a:lnTo>
                <a:lnTo>
                  <a:pt x="262" y="11"/>
                </a:lnTo>
                <a:lnTo>
                  <a:pt x="246" y="12"/>
                </a:lnTo>
                <a:lnTo>
                  <a:pt x="229" y="13"/>
                </a:lnTo>
                <a:lnTo>
                  <a:pt x="213" y="14"/>
                </a:lnTo>
                <a:lnTo>
                  <a:pt x="196" y="16"/>
                </a:lnTo>
                <a:lnTo>
                  <a:pt x="180" y="17"/>
                </a:lnTo>
                <a:lnTo>
                  <a:pt x="164" y="18"/>
                </a:lnTo>
                <a:lnTo>
                  <a:pt x="147" y="19"/>
                </a:lnTo>
                <a:lnTo>
                  <a:pt x="131" y="20"/>
                </a:lnTo>
                <a:lnTo>
                  <a:pt x="114" y="21"/>
                </a:lnTo>
                <a:lnTo>
                  <a:pt x="98" y="22"/>
                </a:lnTo>
                <a:lnTo>
                  <a:pt x="82" y="23"/>
                </a:lnTo>
                <a:lnTo>
                  <a:pt x="65" y="24"/>
                </a:lnTo>
                <a:lnTo>
                  <a:pt x="49" y="24"/>
                </a:lnTo>
                <a:lnTo>
                  <a:pt x="33" y="25"/>
                </a:lnTo>
                <a:lnTo>
                  <a:pt x="16" y="25"/>
                </a:lnTo>
                <a:lnTo>
                  <a:pt x="0" y="2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6172200"/>
            <a:ext cx="3743325" cy="295275"/>
          </a:xfrm>
          <a:custGeom>
            <a:avLst/>
            <a:gdLst/>
            <a:ahLst/>
            <a:cxnLst/>
            <a:rect l="l" t="t" r="r" b="b"/>
            <a:pathLst>
              <a:path w="393" h="31">
                <a:moveTo>
                  <a:pt x="0" y="0"/>
                </a:moveTo>
                <a:lnTo>
                  <a:pt x="16" y="0"/>
                </a:lnTo>
                <a:lnTo>
                  <a:pt x="33" y="1"/>
                </a:lnTo>
                <a:lnTo>
                  <a:pt x="49" y="1"/>
                </a:lnTo>
                <a:lnTo>
                  <a:pt x="65" y="2"/>
                </a:lnTo>
                <a:lnTo>
                  <a:pt x="82" y="3"/>
                </a:lnTo>
                <a:lnTo>
                  <a:pt x="98" y="4"/>
                </a:lnTo>
                <a:lnTo>
                  <a:pt x="114" y="5"/>
                </a:lnTo>
                <a:lnTo>
                  <a:pt x="131" y="7"/>
                </a:lnTo>
                <a:lnTo>
                  <a:pt x="147" y="8"/>
                </a:lnTo>
                <a:lnTo>
                  <a:pt x="164" y="10"/>
                </a:lnTo>
                <a:lnTo>
                  <a:pt x="180" y="11"/>
                </a:lnTo>
                <a:lnTo>
                  <a:pt x="196" y="13"/>
                </a:lnTo>
                <a:lnTo>
                  <a:pt x="213" y="14"/>
                </a:lnTo>
                <a:lnTo>
                  <a:pt x="229" y="16"/>
                </a:lnTo>
                <a:lnTo>
                  <a:pt x="246" y="18"/>
                </a:lnTo>
                <a:lnTo>
                  <a:pt x="262" y="19"/>
                </a:lnTo>
                <a:lnTo>
                  <a:pt x="278" y="20"/>
                </a:lnTo>
                <a:lnTo>
                  <a:pt x="295" y="22"/>
                </a:lnTo>
                <a:lnTo>
                  <a:pt x="311" y="23"/>
                </a:lnTo>
                <a:lnTo>
                  <a:pt x="327" y="24"/>
                </a:lnTo>
                <a:lnTo>
                  <a:pt x="344" y="24"/>
                </a:lnTo>
                <a:lnTo>
                  <a:pt x="360" y="25"/>
                </a:lnTo>
                <a:lnTo>
                  <a:pt x="377" y="25"/>
                </a:lnTo>
                <a:lnTo>
                  <a:pt x="393" y="26"/>
                </a:lnTo>
                <a:lnTo>
                  <a:pt x="393" y="31"/>
                </a:lnTo>
                <a:lnTo>
                  <a:pt x="377" y="31"/>
                </a:lnTo>
                <a:lnTo>
                  <a:pt x="360" y="30"/>
                </a:lnTo>
                <a:lnTo>
                  <a:pt x="344" y="30"/>
                </a:lnTo>
                <a:lnTo>
                  <a:pt x="327" y="29"/>
                </a:lnTo>
                <a:lnTo>
                  <a:pt x="311" y="28"/>
                </a:lnTo>
                <a:lnTo>
                  <a:pt x="295" y="27"/>
                </a:lnTo>
                <a:lnTo>
                  <a:pt x="278" y="25"/>
                </a:lnTo>
                <a:lnTo>
                  <a:pt x="262" y="24"/>
                </a:lnTo>
                <a:lnTo>
                  <a:pt x="246" y="23"/>
                </a:lnTo>
                <a:lnTo>
                  <a:pt x="229" y="21"/>
                </a:lnTo>
                <a:lnTo>
                  <a:pt x="213" y="20"/>
                </a:lnTo>
                <a:lnTo>
                  <a:pt x="196" y="18"/>
                </a:lnTo>
                <a:lnTo>
                  <a:pt x="180" y="16"/>
                </a:lnTo>
                <a:lnTo>
                  <a:pt x="164" y="15"/>
                </a:lnTo>
                <a:lnTo>
                  <a:pt x="147" y="13"/>
                </a:lnTo>
                <a:lnTo>
                  <a:pt x="131" y="12"/>
                </a:lnTo>
                <a:lnTo>
                  <a:pt x="114" y="11"/>
                </a:lnTo>
                <a:lnTo>
                  <a:pt x="98" y="9"/>
                </a:lnTo>
                <a:lnTo>
                  <a:pt x="82" y="8"/>
                </a:lnTo>
                <a:lnTo>
                  <a:pt x="65" y="7"/>
                </a:lnTo>
                <a:lnTo>
                  <a:pt x="49" y="6"/>
                </a:lnTo>
                <a:lnTo>
                  <a:pt x="33" y="6"/>
                </a:lnTo>
                <a:lnTo>
                  <a:pt x="16" y="6"/>
                </a:lnTo>
                <a:lnTo>
                  <a:pt x="0" y="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762500"/>
            <a:ext cx="3743325" cy="1619250"/>
          </a:xfrm>
          <a:custGeom>
            <a:avLst/>
            <a:gdLst/>
            <a:ahLst/>
            <a:cxnLst/>
            <a:rect l="l" t="t" r="r" b="b"/>
            <a:pathLst>
              <a:path w="393" h="170">
                <a:moveTo>
                  <a:pt x="0" y="159"/>
                </a:moveTo>
                <a:lnTo>
                  <a:pt x="16" y="159"/>
                </a:lnTo>
                <a:lnTo>
                  <a:pt x="33" y="156"/>
                </a:lnTo>
                <a:lnTo>
                  <a:pt x="49" y="153"/>
                </a:lnTo>
                <a:lnTo>
                  <a:pt x="65" y="148"/>
                </a:lnTo>
                <a:lnTo>
                  <a:pt x="82" y="141"/>
                </a:lnTo>
                <a:lnTo>
                  <a:pt x="98" y="134"/>
                </a:lnTo>
                <a:lnTo>
                  <a:pt x="114" y="127"/>
                </a:lnTo>
                <a:lnTo>
                  <a:pt x="131" y="118"/>
                </a:lnTo>
                <a:lnTo>
                  <a:pt x="147" y="109"/>
                </a:lnTo>
                <a:lnTo>
                  <a:pt x="164" y="99"/>
                </a:lnTo>
                <a:lnTo>
                  <a:pt x="180" y="90"/>
                </a:lnTo>
                <a:lnTo>
                  <a:pt x="196" y="80"/>
                </a:lnTo>
                <a:lnTo>
                  <a:pt x="213" y="70"/>
                </a:lnTo>
                <a:lnTo>
                  <a:pt x="229" y="60"/>
                </a:lnTo>
                <a:lnTo>
                  <a:pt x="246" y="50"/>
                </a:lnTo>
                <a:lnTo>
                  <a:pt x="262" y="41"/>
                </a:lnTo>
                <a:lnTo>
                  <a:pt x="278" y="33"/>
                </a:lnTo>
                <a:lnTo>
                  <a:pt x="295" y="25"/>
                </a:lnTo>
                <a:lnTo>
                  <a:pt x="311" y="18"/>
                </a:lnTo>
                <a:lnTo>
                  <a:pt x="327" y="12"/>
                </a:lnTo>
                <a:lnTo>
                  <a:pt x="344" y="7"/>
                </a:lnTo>
                <a:lnTo>
                  <a:pt x="360" y="3"/>
                </a:lnTo>
                <a:lnTo>
                  <a:pt x="377" y="1"/>
                </a:lnTo>
                <a:lnTo>
                  <a:pt x="393" y="0"/>
                </a:lnTo>
                <a:lnTo>
                  <a:pt x="393" y="11"/>
                </a:lnTo>
                <a:lnTo>
                  <a:pt x="377" y="11"/>
                </a:lnTo>
                <a:lnTo>
                  <a:pt x="360" y="14"/>
                </a:lnTo>
                <a:lnTo>
                  <a:pt x="344" y="17"/>
                </a:lnTo>
                <a:lnTo>
                  <a:pt x="327" y="22"/>
                </a:lnTo>
                <a:lnTo>
                  <a:pt x="311" y="28"/>
                </a:lnTo>
                <a:lnTo>
                  <a:pt x="295" y="36"/>
                </a:lnTo>
                <a:lnTo>
                  <a:pt x="278" y="43"/>
                </a:lnTo>
                <a:lnTo>
                  <a:pt x="262" y="52"/>
                </a:lnTo>
                <a:lnTo>
                  <a:pt x="246" y="61"/>
                </a:lnTo>
                <a:lnTo>
                  <a:pt x="229" y="71"/>
                </a:lnTo>
                <a:lnTo>
                  <a:pt x="213" y="80"/>
                </a:lnTo>
                <a:lnTo>
                  <a:pt x="196" y="90"/>
                </a:lnTo>
                <a:lnTo>
                  <a:pt x="180" y="100"/>
                </a:lnTo>
                <a:lnTo>
                  <a:pt x="164" y="110"/>
                </a:lnTo>
                <a:lnTo>
                  <a:pt x="147" y="120"/>
                </a:lnTo>
                <a:lnTo>
                  <a:pt x="131" y="129"/>
                </a:lnTo>
                <a:lnTo>
                  <a:pt x="114" y="137"/>
                </a:lnTo>
                <a:lnTo>
                  <a:pt x="98" y="145"/>
                </a:lnTo>
                <a:lnTo>
                  <a:pt x="82" y="152"/>
                </a:lnTo>
                <a:lnTo>
                  <a:pt x="65" y="158"/>
                </a:lnTo>
                <a:lnTo>
                  <a:pt x="49" y="163"/>
                </a:lnTo>
                <a:lnTo>
                  <a:pt x="33" y="167"/>
                </a:lnTo>
                <a:lnTo>
                  <a:pt x="16" y="169"/>
                </a:lnTo>
                <a:lnTo>
                  <a:pt x="0" y="170"/>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5457825"/>
            <a:ext cx="3743325" cy="990600"/>
          </a:xfrm>
          <a:custGeom>
            <a:avLst/>
            <a:gdLst/>
            <a:ahLst/>
            <a:cxnLst/>
            <a:rect l="l" t="t" r="r" b="b"/>
            <a:pathLst>
              <a:path w="393" h="104">
                <a:moveTo>
                  <a:pt x="0" y="97"/>
                </a:moveTo>
                <a:lnTo>
                  <a:pt x="16" y="97"/>
                </a:lnTo>
                <a:lnTo>
                  <a:pt x="33" y="95"/>
                </a:lnTo>
                <a:lnTo>
                  <a:pt x="49" y="93"/>
                </a:lnTo>
                <a:lnTo>
                  <a:pt x="65" y="90"/>
                </a:lnTo>
                <a:lnTo>
                  <a:pt x="82" y="86"/>
                </a:lnTo>
                <a:lnTo>
                  <a:pt x="98" y="82"/>
                </a:lnTo>
                <a:lnTo>
                  <a:pt x="114" y="77"/>
                </a:lnTo>
                <a:lnTo>
                  <a:pt x="131" y="72"/>
                </a:lnTo>
                <a:lnTo>
                  <a:pt x="147" y="67"/>
                </a:lnTo>
                <a:lnTo>
                  <a:pt x="164" y="61"/>
                </a:lnTo>
                <a:lnTo>
                  <a:pt x="180" y="55"/>
                </a:lnTo>
                <a:lnTo>
                  <a:pt x="196" y="49"/>
                </a:lnTo>
                <a:lnTo>
                  <a:pt x="213" y="43"/>
                </a:lnTo>
                <a:lnTo>
                  <a:pt x="229" y="37"/>
                </a:lnTo>
                <a:lnTo>
                  <a:pt x="246" y="31"/>
                </a:lnTo>
                <a:lnTo>
                  <a:pt x="262" y="25"/>
                </a:lnTo>
                <a:lnTo>
                  <a:pt x="278" y="20"/>
                </a:lnTo>
                <a:lnTo>
                  <a:pt x="295" y="15"/>
                </a:lnTo>
                <a:lnTo>
                  <a:pt x="311" y="11"/>
                </a:lnTo>
                <a:lnTo>
                  <a:pt x="327" y="7"/>
                </a:lnTo>
                <a:lnTo>
                  <a:pt x="344" y="4"/>
                </a:lnTo>
                <a:lnTo>
                  <a:pt x="360" y="2"/>
                </a:lnTo>
                <a:lnTo>
                  <a:pt x="377" y="1"/>
                </a:lnTo>
                <a:lnTo>
                  <a:pt x="393" y="0"/>
                </a:lnTo>
                <a:lnTo>
                  <a:pt x="393" y="7"/>
                </a:lnTo>
                <a:lnTo>
                  <a:pt x="377" y="7"/>
                </a:lnTo>
                <a:lnTo>
                  <a:pt x="360" y="9"/>
                </a:lnTo>
                <a:lnTo>
                  <a:pt x="344" y="11"/>
                </a:lnTo>
                <a:lnTo>
                  <a:pt x="327" y="14"/>
                </a:lnTo>
                <a:lnTo>
                  <a:pt x="311" y="18"/>
                </a:lnTo>
                <a:lnTo>
                  <a:pt x="295" y="22"/>
                </a:lnTo>
                <a:lnTo>
                  <a:pt x="278" y="27"/>
                </a:lnTo>
                <a:lnTo>
                  <a:pt x="262" y="32"/>
                </a:lnTo>
                <a:lnTo>
                  <a:pt x="246" y="37"/>
                </a:lnTo>
                <a:lnTo>
                  <a:pt x="229" y="43"/>
                </a:lnTo>
                <a:lnTo>
                  <a:pt x="213" y="49"/>
                </a:lnTo>
                <a:lnTo>
                  <a:pt x="196" y="55"/>
                </a:lnTo>
                <a:lnTo>
                  <a:pt x="180" y="61"/>
                </a:lnTo>
                <a:lnTo>
                  <a:pt x="164" y="67"/>
                </a:lnTo>
                <a:lnTo>
                  <a:pt x="147" y="73"/>
                </a:lnTo>
                <a:lnTo>
                  <a:pt x="131" y="79"/>
                </a:lnTo>
                <a:lnTo>
                  <a:pt x="114" y="84"/>
                </a:lnTo>
                <a:lnTo>
                  <a:pt x="98" y="89"/>
                </a:lnTo>
                <a:lnTo>
                  <a:pt x="82" y="93"/>
                </a:lnTo>
                <a:lnTo>
                  <a:pt x="65" y="97"/>
                </a:lnTo>
                <a:lnTo>
                  <a:pt x="49" y="100"/>
                </a:lnTo>
                <a:lnTo>
                  <a:pt x="33" y="102"/>
                </a:lnTo>
                <a:lnTo>
                  <a:pt x="16" y="103"/>
                </a:lnTo>
                <a:lnTo>
                  <a:pt x="0" y="10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991225"/>
            <a:ext cx="3743325" cy="504825"/>
          </a:xfrm>
          <a:custGeom>
            <a:avLst/>
            <a:gdLst/>
            <a:ahLst/>
            <a:cxnLst/>
            <a:rect l="l" t="t" r="r" b="b"/>
            <a:pathLst>
              <a:path w="393" h="53">
                <a:moveTo>
                  <a:pt x="0" y="48"/>
                </a:moveTo>
                <a:lnTo>
                  <a:pt x="16" y="48"/>
                </a:lnTo>
                <a:lnTo>
                  <a:pt x="33" y="47"/>
                </a:lnTo>
                <a:lnTo>
                  <a:pt x="49" y="46"/>
                </a:lnTo>
                <a:lnTo>
                  <a:pt x="65" y="44"/>
                </a:lnTo>
                <a:lnTo>
                  <a:pt x="82" y="43"/>
                </a:lnTo>
                <a:lnTo>
                  <a:pt x="98" y="40"/>
                </a:lnTo>
                <a:lnTo>
                  <a:pt x="114" y="38"/>
                </a:lnTo>
                <a:lnTo>
                  <a:pt x="131" y="35"/>
                </a:lnTo>
                <a:lnTo>
                  <a:pt x="147" y="33"/>
                </a:lnTo>
                <a:lnTo>
                  <a:pt x="164" y="30"/>
                </a:lnTo>
                <a:lnTo>
                  <a:pt x="180" y="27"/>
                </a:lnTo>
                <a:lnTo>
                  <a:pt x="196" y="24"/>
                </a:lnTo>
                <a:lnTo>
                  <a:pt x="213" y="21"/>
                </a:lnTo>
                <a:lnTo>
                  <a:pt x="229" y="18"/>
                </a:lnTo>
                <a:lnTo>
                  <a:pt x="246" y="15"/>
                </a:lnTo>
                <a:lnTo>
                  <a:pt x="262" y="12"/>
                </a:lnTo>
                <a:lnTo>
                  <a:pt x="278" y="10"/>
                </a:lnTo>
                <a:lnTo>
                  <a:pt x="295" y="7"/>
                </a:lnTo>
                <a:lnTo>
                  <a:pt x="311" y="5"/>
                </a:lnTo>
                <a:lnTo>
                  <a:pt x="327" y="3"/>
                </a:lnTo>
                <a:lnTo>
                  <a:pt x="344" y="2"/>
                </a:lnTo>
                <a:lnTo>
                  <a:pt x="360" y="1"/>
                </a:lnTo>
                <a:lnTo>
                  <a:pt x="377" y="0"/>
                </a:lnTo>
                <a:lnTo>
                  <a:pt x="393" y="0"/>
                </a:lnTo>
                <a:lnTo>
                  <a:pt x="393" y="4"/>
                </a:lnTo>
                <a:lnTo>
                  <a:pt x="377" y="5"/>
                </a:lnTo>
                <a:lnTo>
                  <a:pt x="360" y="5"/>
                </a:lnTo>
                <a:lnTo>
                  <a:pt x="344" y="6"/>
                </a:lnTo>
                <a:lnTo>
                  <a:pt x="327" y="8"/>
                </a:lnTo>
                <a:lnTo>
                  <a:pt x="311" y="10"/>
                </a:lnTo>
                <a:lnTo>
                  <a:pt x="295" y="12"/>
                </a:lnTo>
                <a:lnTo>
                  <a:pt x="278" y="14"/>
                </a:lnTo>
                <a:lnTo>
                  <a:pt x="262" y="17"/>
                </a:lnTo>
                <a:lnTo>
                  <a:pt x="246" y="20"/>
                </a:lnTo>
                <a:lnTo>
                  <a:pt x="229" y="23"/>
                </a:lnTo>
                <a:lnTo>
                  <a:pt x="213" y="26"/>
                </a:lnTo>
                <a:lnTo>
                  <a:pt x="196" y="29"/>
                </a:lnTo>
                <a:lnTo>
                  <a:pt x="180" y="32"/>
                </a:lnTo>
                <a:lnTo>
                  <a:pt x="164" y="34"/>
                </a:lnTo>
                <a:lnTo>
                  <a:pt x="147" y="37"/>
                </a:lnTo>
                <a:lnTo>
                  <a:pt x="131" y="40"/>
                </a:lnTo>
                <a:lnTo>
                  <a:pt x="114" y="43"/>
                </a:lnTo>
                <a:lnTo>
                  <a:pt x="98" y="45"/>
                </a:lnTo>
                <a:lnTo>
                  <a:pt x="82" y="47"/>
                </a:lnTo>
                <a:lnTo>
                  <a:pt x="65" y="49"/>
                </a:lnTo>
                <a:lnTo>
                  <a:pt x="49" y="51"/>
                </a:lnTo>
                <a:lnTo>
                  <a:pt x="33" y="52"/>
                </a:lnTo>
                <a:lnTo>
                  <a:pt x="16" y="52"/>
                </a:lnTo>
                <a:lnTo>
                  <a:pt x="0" y="5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6467475"/>
            <a:ext cx="3743325" cy="66675"/>
          </a:xfrm>
          <a:custGeom>
            <a:avLst/>
            <a:gdLst/>
            <a:ahLst/>
            <a:cxnLst/>
            <a:rect l="l" t="t" r="r" b="b"/>
            <a:pathLst>
              <a:path w="393" h="7">
                <a:moveTo>
                  <a:pt x="0" y="3"/>
                </a:moveTo>
                <a:lnTo>
                  <a:pt x="16" y="3"/>
                </a:lnTo>
                <a:lnTo>
                  <a:pt x="33" y="3"/>
                </a:lnTo>
                <a:lnTo>
                  <a:pt x="49" y="3"/>
                </a:lnTo>
                <a:lnTo>
                  <a:pt x="65" y="2"/>
                </a:lnTo>
                <a:lnTo>
                  <a:pt x="82" y="2"/>
                </a:lnTo>
                <a:lnTo>
                  <a:pt x="98" y="2"/>
                </a:lnTo>
                <a:lnTo>
                  <a:pt x="114" y="2"/>
                </a:lnTo>
                <a:lnTo>
                  <a:pt x="131" y="2"/>
                </a:lnTo>
                <a:lnTo>
                  <a:pt x="147" y="2"/>
                </a:lnTo>
                <a:lnTo>
                  <a:pt x="164" y="2"/>
                </a:lnTo>
                <a:lnTo>
                  <a:pt x="180" y="1"/>
                </a:lnTo>
                <a:lnTo>
                  <a:pt x="196" y="1"/>
                </a:lnTo>
                <a:lnTo>
                  <a:pt x="213" y="1"/>
                </a:lnTo>
                <a:lnTo>
                  <a:pt x="229" y="1"/>
                </a:lnTo>
                <a:lnTo>
                  <a:pt x="246" y="1"/>
                </a:lnTo>
                <a:lnTo>
                  <a:pt x="262" y="0"/>
                </a:lnTo>
                <a:lnTo>
                  <a:pt x="278" y="0"/>
                </a:lnTo>
                <a:lnTo>
                  <a:pt x="295" y="0"/>
                </a:lnTo>
                <a:lnTo>
                  <a:pt x="311" y="0"/>
                </a:lnTo>
                <a:lnTo>
                  <a:pt x="327" y="0"/>
                </a:lnTo>
                <a:lnTo>
                  <a:pt x="344" y="0"/>
                </a:lnTo>
                <a:lnTo>
                  <a:pt x="360" y="0"/>
                </a:lnTo>
                <a:lnTo>
                  <a:pt x="377" y="0"/>
                </a:lnTo>
                <a:lnTo>
                  <a:pt x="393" y="0"/>
                </a:lnTo>
                <a:lnTo>
                  <a:pt x="393" y="4"/>
                </a:lnTo>
                <a:lnTo>
                  <a:pt x="377" y="4"/>
                </a:lnTo>
                <a:lnTo>
                  <a:pt x="360" y="4"/>
                </a:lnTo>
                <a:lnTo>
                  <a:pt x="344" y="4"/>
                </a:lnTo>
                <a:lnTo>
                  <a:pt x="327" y="4"/>
                </a:lnTo>
                <a:lnTo>
                  <a:pt x="311" y="4"/>
                </a:lnTo>
                <a:lnTo>
                  <a:pt x="295" y="4"/>
                </a:lnTo>
                <a:lnTo>
                  <a:pt x="278" y="5"/>
                </a:lnTo>
                <a:lnTo>
                  <a:pt x="262" y="5"/>
                </a:lnTo>
                <a:lnTo>
                  <a:pt x="246" y="5"/>
                </a:lnTo>
                <a:lnTo>
                  <a:pt x="229" y="5"/>
                </a:lnTo>
                <a:lnTo>
                  <a:pt x="213" y="5"/>
                </a:lnTo>
                <a:lnTo>
                  <a:pt x="196" y="5"/>
                </a:lnTo>
                <a:lnTo>
                  <a:pt x="180" y="6"/>
                </a:lnTo>
                <a:lnTo>
                  <a:pt x="164" y="6"/>
                </a:lnTo>
                <a:lnTo>
                  <a:pt x="147" y="6"/>
                </a:lnTo>
                <a:lnTo>
                  <a:pt x="131" y="6"/>
                </a:lnTo>
                <a:lnTo>
                  <a:pt x="114" y="6"/>
                </a:lnTo>
                <a:lnTo>
                  <a:pt x="98" y="7"/>
                </a:lnTo>
                <a:lnTo>
                  <a:pt x="82" y="7"/>
                </a:lnTo>
                <a:lnTo>
                  <a:pt x="65" y="7"/>
                </a:lnTo>
                <a:lnTo>
                  <a:pt x="49" y="7"/>
                </a:lnTo>
                <a:lnTo>
                  <a:pt x="33" y="7"/>
                </a:lnTo>
                <a:lnTo>
                  <a:pt x="16" y="7"/>
                </a:lnTo>
                <a:lnTo>
                  <a:pt x="0" y="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3876675"/>
            <a:ext cx="114300" cy="792786"/>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41195" y="4726611"/>
            <a:ext cx="114300" cy="573668"/>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941195" y="5357430"/>
            <a:ext cx="114300" cy="52008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41195" y="5934662"/>
            <a:ext cx="114300" cy="2889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41195" y="6280787"/>
            <a:ext cx="114300" cy="253363"/>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00725" y="3905250"/>
            <a:ext cx="114300" cy="9581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00725" y="4920539"/>
            <a:ext cx="114300" cy="60110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0725" y="5578789"/>
            <a:ext cx="114300" cy="45421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6090156"/>
            <a:ext cx="114300" cy="41541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420163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257175" y="494200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257175" y="554603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TextBox 47"/>
          <p:cNvSpPr txBox="1"/>
          <p:nvPr/>
        </p:nvSpPr>
        <p:spPr>
          <a:xfrm>
            <a:off x="257175" y="600771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257175" y="633603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5972175" y="4312882"/>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5972175" y="5149652"/>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5972175" y="573446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6226428"/>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Rounded Rectangle 53"/>
          <p:cNvSpPr/>
          <p:nvPr/>
        </p:nvSpPr>
        <p:spPr>
          <a:xfrm>
            <a:off x="7581900" y="3552825"/>
            <a:ext cx="445770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15250" y="363855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6" name="Rectangle 55"/>
          <p:cNvSpPr/>
          <p:nvPr/>
        </p:nvSpPr>
        <p:spPr>
          <a:xfrm>
            <a:off x="7715250" y="38766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15250" y="3962400"/>
            <a:ext cx="41910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8" name="TextBox 5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9" name="Picture 58" descr="lock.png"/>
          <p:cNvPicPr>
            <a:picLocks noChangeAspect="1"/>
          </p:cNvPicPr>
          <p:nvPr/>
        </p:nvPicPr>
        <p:blipFill>
          <a:blip r:embed="rId4"/>
          <a:stretch>
            <a:fillRect/>
          </a:stretch>
        </p:blipFill>
        <p:spPr>
          <a:xfrm>
            <a:off x="7385871" y="2203704"/>
            <a:ext cx="366712" cy="533400"/>
          </a:xfrm>
          <a:prstGeom prst="rect">
            <a:avLst/>
          </a:prstGeom>
        </p:spPr>
      </p:pic>
      <p:sp>
        <p:nvSpPr>
          <p:cNvPr id="60" name="TextBox 59"/>
          <p:cNvSpPr txBox="1"/>
          <p:nvPr/>
        </p:nvSpPr>
        <p:spPr>
          <a:xfrm>
            <a:off x="825460" y="4212718"/>
            <a:ext cx="1004833" cy="139750"/>
          </a:xfrm>
          <a:prstGeom prst="rect">
            <a:avLst/>
          </a:prstGeom>
          <a:noFill/>
        </p:spPr>
        <p:txBody>
          <a:bodyPr wrap="none" lIns="0" rIns="0" tIns="0" bIns="0">
            <a:spAutoFit/>
          </a:bodyPr>
          <a:lstStyle/>
          <a:p>
            <a:r>
              <a:rPr sz="791" b="1">
                <a:solidFill>
                  <a:srgbClr val="2E2E2E"/>
                </a:solidFill>
                <a:latin typeface="Calibri"/>
              </a:rPr>
              <a:t>Stick-based Sunscreen</a:t>
            </a:r>
          </a:p>
        </p:txBody>
      </p:sp>
      <p:pic>
        <p:nvPicPr>
          <p:cNvPr id="61" name="Picture 60" descr="lock.png"/>
          <p:cNvPicPr>
            <a:picLocks noChangeAspect="1"/>
          </p:cNvPicPr>
          <p:nvPr/>
        </p:nvPicPr>
        <p:blipFill>
          <a:blip r:embed="rId4"/>
          <a:stretch>
            <a:fillRect/>
          </a:stretch>
        </p:blipFill>
        <p:spPr>
          <a:xfrm>
            <a:off x="1771555" y="4205677"/>
            <a:ext cx="92663" cy="134782"/>
          </a:xfrm>
          <a:prstGeom prst="rect">
            <a:avLst/>
          </a:prstGeom>
        </p:spPr>
      </p:pic>
      <p:sp>
        <p:nvSpPr>
          <p:cNvPr id="62" name="TextBox 61"/>
          <p:cNvSpPr txBox="1"/>
          <p:nvPr/>
        </p:nvSpPr>
        <p:spPr>
          <a:xfrm>
            <a:off x="1229976" y="4953095"/>
            <a:ext cx="600318" cy="139750"/>
          </a:xfrm>
          <a:prstGeom prst="rect">
            <a:avLst/>
          </a:prstGeom>
          <a:noFill/>
        </p:spPr>
        <p:txBody>
          <a:bodyPr wrap="none" lIns="0" rIns="0" tIns="0" bIns="0">
            <a:spAutoFit/>
          </a:bodyPr>
          <a:lstStyle/>
          <a:p>
            <a:r>
              <a:rPr sz="791" b="1">
                <a:solidFill>
                  <a:srgbClr val="2E2E2E"/>
                </a:solidFill>
                <a:latin typeface="Calibri"/>
              </a:rPr>
              <a:t>Other Forms</a:t>
            </a:r>
          </a:p>
        </p:txBody>
      </p:sp>
      <p:pic>
        <p:nvPicPr>
          <p:cNvPr id="63" name="Picture 62" descr="lock.png"/>
          <p:cNvPicPr>
            <a:picLocks noChangeAspect="1"/>
          </p:cNvPicPr>
          <p:nvPr/>
        </p:nvPicPr>
        <p:blipFill>
          <a:blip r:embed="rId4"/>
          <a:stretch>
            <a:fillRect/>
          </a:stretch>
        </p:blipFill>
        <p:spPr>
          <a:xfrm>
            <a:off x="1771555" y="4946054"/>
            <a:ext cx="92663" cy="134782"/>
          </a:xfrm>
          <a:prstGeom prst="rect">
            <a:avLst/>
          </a:prstGeom>
        </p:spPr>
      </p:pic>
      <p:sp>
        <p:nvSpPr>
          <p:cNvPr id="64" name="TextBox 63"/>
          <p:cNvSpPr txBox="1"/>
          <p:nvPr/>
        </p:nvSpPr>
        <p:spPr>
          <a:xfrm>
            <a:off x="758666" y="5557120"/>
            <a:ext cx="1071627" cy="139750"/>
          </a:xfrm>
          <a:prstGeom prst="rect">
            <a:avLst/>
          </a:prstGeom>
          <a:noFill/>
        </p:spPr>
        <p:txBody>
          <a:bodyPr wrap="none" lIns="0" rIns="0" tIns="0" bIns="0">
            <a:spAutoFit/>
          </a:bodyPr>
          <a:lstStyle/>
          <a:p>
            <a:r>
              <a:rPr sz="791" b="1">
                <a:solidFill>
                  <a:srgbClr val="2E2E2E"/>
                </a:solidFill>
                <a:latin typeface="Calibri"/>
              </a:rPr>
              <a:t>Lotion-based Sunscreen</a:t>
            </a:r>
          </a:p>
        </p:txBody>
      </p:sp>
      <p:pic>
        <p:nvPicPr>
          <p:cNvPr id="65" name="Picture 64" descr="lock.png"/>
          <p:cNvPicPr>
            <a:picLocks noChangeAspect="1"/>
          </p:cNvPicPr>
          <p:nvPr/>
        </p:nvPicPr>
        <p:blipFill>
          <a:blip r:embed="rId4"/>
          <a:stretch>
            <a:fillRect/>
          </a:stretch>
        </p:blipFill>
        <p:spPr>
          <a:xfrm>
            <a:off x="1771555" y="5550079"/>
            <a:ext cx="92663" cy="134782"/>
          </a:xfrm>
          <a:prstGeom prst="rect">
            <a:avLst/>
          </a:prstGeom>
        </p:spPr>
      </p:pic>
      <p:sp>
        <p:nvSpPr>
          <p:cNvPr id="66" name="TextBox 65"/>
          <p:cNvSpPr txBox="1"/>
          <p:nvPr/>
        </p:nvSpPr>
        <p:spPr>
          <a:xfrm>
            <a:off x="883610" y="6018799"/>
            <a:ext cx="946683" cy="139750"/>
          </a:xfrm>
          <a:prstGeom prst="rect">
            <a:avLst/>
          </a:prstGeom>
          <a:noFill/>
        </p:spPr>
        <p:txBody>
          <a:bodyPr wrap="none" lIns="0" rIns="0" tIns="0" bIns="0">
            <a:spAutoFit/>
          </a:bodyPr>
          <a:lstStyle/>
          <a:p>
            <a:r>
              <a:rPr sz="791" b="1">
                <a:solidFill>
                  <a:srgbClr val="2E2E2E"/>
                </a:solidFill>
                <a:latin typeface="Calibri"/>
              </a:rPr>
              <a:t>Gel-based Sunscreen</a:t>
            </a:r>
          </a:p>
        </p:txBody>
      </p:sp>
      <p:pic>
        <p:nvPicPr>
          <p:cNvPr id="67" name="Picture 66" descr="lock.png"/>
          <p:cNvPicPr>
            <a:picLocks noChangeAspect="1"/>
          </p:cNvPicPr>
          <p:nvPr/>
        </p:nvPicPr>
        <p:blipFill>
          <a:blip r:embed="rId4"/>
          <a:stretch>
            <a:fillRect/>
          </a:stretch>
        </p:blipFill>
        <p:spPr>
          <a:xfrm>
            <a:off x="1771555" y="6011758"/>
            <a:ext cx="92663" cy="134782"/>
          </a:xfrm>
          <a:prstGeom prst="rect">
            <a:avLst/>
          </a:prstGeom>
        </p:spPr>
      </p:pic>
      <p:sp>
        <p:nvSpPr>
          <p:cNvPr id="68" name="TextBox 67"/>
          <p:cNvSpPr txBox="1"/>
          <p:nvPr/>
        </p:nvSpPr>
        <p:spPr>
          <a:xfrm>
            <a:off x="751790" y="6347118"/>
            <a:ext cx="1078503" cy="139750"/>
          </a:xfrm>
          <a:prstGeom prst="rect">
            <a:avLst/>
          </a:prstGeom>
          <a:noFill/>
        </p:spPr>
        <p:txBody>
          <a:bodyPr wrap="none" lIns="0" rIns="0" tIns="0" bIns="0">
            <a:spAutoFit/>
          </a:bodyPr>
          <a:lstStyle/>
          <a:p>
            <a:r>
              <a:rPr sz="791" b="1">
                <a:solidFill>
                  <a:srgbClr val="2E2E2E"/>
                </a:solidFill>
                <a:latin typeface="Calibri"/>
              </a:rPr>
              <a:t>Cream-based Sunscreen</a:t>
            </a:r>
          </a:p>
        </p:txBody>
      </p:sp>
      <p:pic>
        <p:nvPicPr>
          <p:cNvPr id="69" name="Picture 68" descr="lock.png"/>
          <p:cNvPicPr>
            <a:picLocks noChangeAspect="1"/>
          </p:cNvPicPr>
          <p:nvPr/>
        </p:nvPicPr>
        <p:blipFill>
          <a:blip r:embed="rId4"/>
          <a:stretch>
            <a:fillRect/>
          </a:stretch>
        </p:blipFill>
        <p:spPr>
          <a:xfrm>
            <a:off x="1771555" y="6340077"/>
            <a:ext cx="92663" cy="134782"/>
          </a:xfrm>
          <a:prstGeom prst="rect">
            <a:avLst/>
          </a:prstGeom>
        </p:spPr>
      </p:pic>
      <p:sp>
        <p:nvSpPr>
          <p:cNvPr id="70" name="TextBox 69"/>
          <p:cNvSpPr txBox="1"/>
          <p:nvPr/>
        </p:nvSpPr>
        <p:spPr>
          <a:xfrm>
            <a:off x="5972175" y="4323969"/>
            <a:ext cx="764921" cy="139750"/>
          </a:xfrm>
          <a:prstGeom prst="rect">
            <a:avLst/>
          </a:prstGeom>
          <a:noFill/>
        </p:spPr>
        <p:txBody>
          <a:bodyPr wrap="none" lIns="0" rIns="0" tIns="0" bIns="0">
            <a:spAutoFit/>
          </a:bodyPr>
          <a:lstStyle/>
          <a:p>
            <a:r>
              <a:rPr sz="791" b="1">
                <a:solidFill>
                  <a:srgbClr val="2E2E2E"/>
                </a:solidFill>
                <a:latin typeface="Calibri"/>
              </a:rPr>
              <a:t>Facial Sunscreen</a:t>
            </a:r>
          </a:p>
        </p:txBody>
      </p:sp>
      <p:pic>
        <p:nvPicPr>
          <p:cNvPr id="71" name="Picture 70" descr="lock.png"/>
          <p:cNvPicPr>
            <a:picLocks noChangeAspect="1"/>
          </p:cNvPicPr>
          <p:nvPr/>
        </p:nvPicPr>
        <p:blipFill>
          <a:blip r:embed="rId4"/>
          <a:stretch>
            <a:fillRect/>
          </a:stretch>
        </p:blipFill>
        <p:spPr>
          <a:xfrm>
            <a:off x="6678357" y="4316928"/>
            <a:ext cx="92663" cy="134782"/>
          </a:xfrm>
          <a:prstGeom prst="rect">
            <a:avLst/>
          </a:prstGeom>
        </p:spPr>
      </p:pic>
      <p:sp>
        <p:nvSpPr>
          <p:cNvPr id="72" name="TextBox 71"/>
          <p:cNvSpPr txBox="1"/>
          <p:nvPr/>
        </p:nvSpPr>
        <p:spPr>
          <a:xfrm>
            <a:off x="5972175" y="5160739"/>
            <a:ext cx="740015" cy="139750"/>
          </a:xfrm>
          <a:prstGeom prst="rect">
            <a:avLst/>
          </a:prstGeom>
          <a:noFill/>
        </p:spPr>
        <p:txBody>
          <a:bodyPr wrap="none" lIns="0" rIns="0" tIns="0" bIns="0">
            <a:spAutoFit/>
          </a:bodyPr>
          <a:lstStyle/>
          <a:p>
            <a:r>
              <a:rPr sz="791" b="1">
                <a:solidFill>
                  <a:srgbClr val="2E2E2E"/>
                </a:solidFill>
                <a:latin typeface="Calibri"/>
              </a:rPr>
              <a:t>Body Sunscreen</a:t>
            </a:r>
          </a:p>
        </p:txBody>
      </p:sp>
      <p:pic>
        <p:nvPicPr>
          <p:cNvPr id="73" name="Picture 72" descr="lock.png"/>
          <p:cNvPicPr>
            <a:picLocks noChangeAspect="1"/>
          </p:cNvPicPr>
          <p:nvPr/>
        </p:nvPicPr>
        <p:blipFill>
          <a:blip r:embed="rId4"/>
          <a:stretch>
            <a:fillRect/>
          </a:stretch>
        </p:blipFill>
        <p:spPr>
          <a:xfrm>
            <a:off x="6653451" y="5153698"/>
            <a:ext cx="92663" cy="134782"/>
          </a:xfrm>
          <a:prstGeom prst="rect">
            <a:avLst/>
          </a:prstGeom>
        </p:spPr>
      </p:pic>
      <p:sp>
        <p:nvSpPr>
          <p:cNvPr id="74" name="TextBox 73"/>
          <p:cNvSpPr txBox="1"/>
          <p:nvPr/>
        </p:nvSpPr>
        <p:spPr>
          <a:xfrm>
            <a:off x="5972175" y="5745547"/>
            <a:ext cx="649253" cy="139750"/>
          </a:xfrm>
          <a:prstGeom prst="rect">
            <a:avLst/>
          </a:prstGeom>
          <a:noFill/>
        </p:spPr>
        <p:txBody>
          <a:bodyPr wrap="none" lIns="0" rIns="0" tIns="0" bIns="0">
            <a:spAutoFit/>
          </a:bodyPr>
          <a:lstStyle/>
          <a:p>
            <a:r>
              <a:rPr sz="791" b="1">
                <a:solidFill>
                  <a:srgbClr val="2E2E2E"/>
                </a:solidFill>
                <a:latin typeface="Calibri"/>
              </a:rPr>
              <a:t>Lip Sunscreen</a:t>
            </a:r>
          </a:p>
        </p:txBody>
      </p:sp>
      <p:pic>
        <p:nvPicPr>
          <p:cNvPr id="75" name="Picture 74" descr="lock.png"/>
          <p:cNvPicPr>
            <a:picLocks noChangeAspect="1"/>
          </p:cNvPicPr>
          <p:nvPr/>
        </p:nvPicPr>
        <p:blipFill>
          <a:blip r:embed="rId4"/>
          <a:stretch>
            <a:fillRect/>
          </a:stretch>
        </p:blipFill>
        <p:spPr>
          <a:xfrm>
            <a:off x="6562689" y="5738506"/>
            <a:ext cx="92663" cy="134782"/>
          </a:xfrm>
          <a:prstGeom prst="rect">
            <a:avLst/>
          </a:prstGeom>
        </p:spPr>
      </p:pic>
      <p:sp>
        <p:nvSpPr>
          <p:cNvPr id="76" name="TextBox 75"/>
          <p:cNvSpPr txBox="1"/>
          <p:nvPr/>
        </p:nvSpPr>
        <p:spPr>
          <a:xfrm>
            <a:off x="5972175" y="6237515"/>
            <a:ext cx="1045063" cy="139750"/>
          </a:xfrm>
          <a:prstGeom prst="rect">
            <a:avLst/>
          </a:prstGeom>
          <a:noFill/>
        </p:spPr>
        <p:txBody>
          <a:bodyPr wrap="none" lIns="0" rIns="0" tIns="0" bIns="0">
            <a:spAutoFit/>
          </a:bodyPr>
          <a:lstStyle/>
          <a:p>
            <a:r>
              <a:rPr sz="791" b="1">
                <a:solidFill>
                  <a:srgbClr val="2E2E2E"/>
                </a:solidFill>
                <a:latin typeface="Calibri"/>
              </a:rPr>
              <a:t>Face &amp; Body Sunscreen</a:t>
            </a:r>
          </a:p>
        </p:txBody>
      </p:sp>
      <p:pic>
        <p:nvPicPr>
          <p:cNvPr id="77" name="Picture 76" descr="lock.png"/>
          <p:cNvPicPr>
            <a:picLocks noChangeAspect="1"/>
          </p:cNvPicPr>
          <p:nvPr/>
        </p:nvPicPr>
        <p:blipFill>
          <a:blip r:embed="rId4"/>
          <a:stretch>
            <a:fillRect/>
          </a:stretch>
        </p:blipFill>
        <p:spPr>
          <a:xfrm>
            <a:off x="6958499" y="6230474"/>
            <a:ext cx="92663" cy="134782"/>
          </a:xfrm>
          <a:prstGeom prst="rect">
            <a:avLst/>
          </a:prstGeom>
        </p:spPr>
      </p:pic>
      <p:sp>
        <p:nvSpPr>
          <p:cNvPr id="78" name="TextBox 77"/>
          <p:cNvSpPr txBox="1"/>
          <p:nvPr/>
        </p:nvSpPr>
        <p:spPr>
          <a:xfrm>
            <a:off x="7715250" y="3971925"/>
            <a:ext cx="4171950" cy="194310"/>
          </a:xfrm>
          <a:prstGeom prst="rect">
            <a:avLst/>
          </a:prstGeom>
          <a:noFill/>
        </p:spPr>
        <p:txBody>
          <a:bodyPr wrap="none" lIns="0" rIns="0" tIns="0" bIns="0">
            <a:spAutoFit/>
          </a:bodyPr>
          <a:lstStyle/>
          <a:p>
            <a:r>
              <a:rPr sz="1150" b="0">
                <a:solidFill>
                  <a:srgbClr val="2E2E2E"/>
                </a:solidFill>
                <a:latin typeface="Calibri"/>
              </a:rPr>
              <a:t>Stick-based sunscreen segment is projected to account for the largest</a:t>
            </a:r>
          </a:p>
        </p:txBody>
      </p:sp>
      <p:sp>
        <p:nvSpPr>
          <p:cNvPr id="79" name="TextBox 78"/>
          <p:cNvSpPr txBox="1"/>
          <p:nvPr/>
        </p:nvSpPr>
        <p:spPr>
          <a:xfrm>
            <a:off x="7715250" y="4147185"/>
            <a:ext cx="3641303" cy="194310"/>
          </a:xfrm>
          <a:prstGeom prst="rect">
            <a:avLst/>
          </a:prstGeom>
          <a:noFill/>
        </p:spPr>
        <p:txBody>
          <a:bodyPr wrap="none" lIns="0" rIns="0" tIns="0" bIns="0">
            <a:spAutoFit/>
          </a:bodyPr>
          <a:lstStyle/>
          <a:p>
            <a:r>
              <a:rPr sz="1150" b="0">
                <a:solidFill>
                  <a:srgbClr val="2E2E2E"/>
                </a:solidFill>
                <a:latin typeface="Calibri"/>
              </a:rPr>
              <a:t>share of the global ceramide sunscreen market, led by facial</a:t>
            </a:r>
          </a:p>
        </p:txBody>
      </p:sp>
      <p:sp>
        <p:nvSpPr>
          <p:cNvPr id="80" name="TextBox 79"/>
          <p:cNvSpPr txBox="1"/>
          <p:nvPr/>
        </p:nvSpPr>
        <p:spPr>
          <a:xfrm>
            <a:off x="7715250" y="4322445"/>
            <a:ext cx="1099120" cy="194310"/>
          </a:xfrm>
          <a:prstGeom prst="rect">
            <a:avLst/>
          </a:prstGeom>
          <a:noFill/>
        </p:spPr>
        <p:txBody>
          <a:bodyPr wrap="none" lIns="0" rIns="0" tIns="0" bIns="0">
            <a:spAutoFit/>
          </a:bodyPr>
          <a:lstStyle/>
          <a:p>
            <a:r>
              <a:rPr sz="1150" b="0">
                <a:solidFill>
                  <a:srgbClr val="2E2E2E"/>
                </a:solidFill>
                <a:latin typeface="Calibri"/>
              </a:rPr>
              <a:t>sunscreen at US$</a:t>
            </a:r>
          </a:p>
        </p:txBody>
      </p:sp>
      <p:pic>
        <p:nvPicPr>
          <p:cNvPr id="81" name="Picture 80" descr="lock.png"/>
          <p:cNvPicPr>
            <a:picLocks noChangeAspect="1"/>
          </p:cNvPicPr>
          <p:nvPr/>
        </p:nvPicPr>
        <p:blipFill>
          <a:blip r:embed="rId4"/>
          <a:stretch>
            <a:fillRect/>
          </a:stretch>
        </p:blipFill>
        <p:spPr>
          <a:xfrm>
            <a:off x="8763524" y="4312221"/>
            <a:ext cx="134549" cy="195707"/>
          </a:xfrm>
          <a:prstGeom prst="rect">
            <a:avLst/>
          </a:prstGeom>
        </p:spPr>
      </p:pic>
      <p:sp>
        <p:nvSpPr>
          <p:cNvPr id="82" name="TextBox 81"/>
          <p:cNvSpPr txBox="1"/>
          <p:nvPr/>
        </p:nvSpPr>
        <p:spPr>
          <a:xfrm>
            <a:off x="8938633" y="4322445"/>
            <a:ext cx="2649983" cy="194310"/>
          </a:xfrm>
          <a:prstGeom prst="rect">
            <a:avLst/>
          </a:prstGeom>
          <a:noFill/>
        </p:spPr>
        <p:txBody>
          <a:bodyPr wrap="none" lIns="0" rIns="0" tIns="0" bIns="0">
            <a:spAutoFit/>
          </a:bodyPr>
          <a:lstStyle/>
          <a:p>
            <a:r>
              <a:rPr sz="1150" b="0">
                <a:solidFill>
                  <a:srgbClr val="2E2E2E"/>
                </a:solidFill>
                <a:latin typeface="Calibri"/>
              </a:rPr>
              <a:t>Mn in 2036. 'Stick-based Sunscreen × Facial</a:t>
            </a:r>
          </a:p>
        </p:txBody>
      </p:sp>
      <p:sp>
        <p:nvSpPr>
          <p:cNvPr id="83" name="TextBox 82"/>
          <p:cNvSpPr txBox="1"/>
          <p:nvPr/>
        </p:nvSpPr>
        <p:spPr>
          <a:xfrm>
            <a:off x="7715250" y="4497704"/>
            <a:ext cx="3113583" cy="194310"/>
          </a:xfrm>
          <a:prstGeom prst="rect">
            <a:avLst/>
          </a:prstGeom>
          <a:noFill/>
        </p:spPr>
        <p:txBody>
          <a:bodyPr wrap="none" lIns="0" rIns="0" tIns="0" bIns="0">
            <a:spAutoFit/>
          </a:bodyPr>
          <a:lstStyle/>
          <a:p>
            <a:r>
              <a:rPr sz="1150" b="0">
                <a:solidFill>
                  <a:srgbClr val="2E2E2E"/>
                </a:solidFill>
                <a:latin typeface="Calibri"/>
              </a:rPr>
              <a:t>Sunscreen' is the single largest cross-sectional cell (</a:t>
            </a:r>
          </a:p>
        </p:txBody>
      </p:sp>
      <p:pic>
        <p:nvPicPr>
          <p:cNvPr id="84" name="Picture 83" descr="lock.png"/>
          <p:cNvPicPr>
            <a:picLocks noChangeAspect="1"/>
          </p:cNvPicPr>
          <p:nvPr/>
        </p:nvPicPr>
        <p:blipFill>
          <a:blip r:embed="rId4"/>
          <a:stretch>
            <a:fillRect/>
          </a:stretch>
        </p:blipFill>
        <p:spPr>
          <a:xfrm>
            <a:off x="10777987" y="4487481"/>
            <a:ext cx="134549" cy="195707"/>
          </a:xfrm>
          <a:prstGeom prst="rect">
            <a:avLst/>
          </a:prstGeom>
        </p:spPr>
      </p:pic>
      <p:sp>
        <p:nvSpPr>
          <p:cNvPr id="85" name="TextBox 84"/>
          <p:cNvSpPr txBox="1"/>
          <p:nvPr/>
        </p:nvSpPr>
        <p:spPr>
          <a:xfrm>
            <a:off x="10953096" y="4497704"/>
            <a:ext cx="5825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86" name="TextBox 85"/>
          <p:cNvSpPr txBox="1"/>
          <p:nvPr/>
        </p:nvSpPr>
        <p:spPr>
          <a:xfrm>
            <a:off x="7715250" y="4672964"/>
            <a:ext cx="4171950" cy="194310"/>
          </a:xfrm>
          <a:prstGeom prst="rect">
            <a:avLst/>
          </a:prstGeom>
          <a:noFill/>
        </p:spPr>
        <p:txBody>
          <a:bodyPr wrap="none" lIns="0" rIns="0" tIns="0" bIns="0">
            <a:spAutoFit/>
          </a:bodyPr>
          <a:lstStyle/>
          <a:p>
            <a:r>
              <a:rPr sz="1150" b="0">
                <a:solidFill>
                  <a:srgbClr val="2E2E2E"/>
                </a:solidFill>
                <a:latin typeface="Calibri"/>
              </a:rPr>
              <a:t>2026E), while 'Cream-based Sunscreen × Facial Sunscreen' records the</a:t>
            </a:r>
          </a:p>
        </p:txBody>
      </p:sp>
      <p:sp>
        <p:nvSpPr>
          <p:cNvPr id="87" name="TextBox 86"/>
          <p:cNvSpPr txBox="1"/>
          <p:nvPr/>
        </p:nvSpPr>
        <p:spPr>
          <a:xfrm>
            <a:off x="7715250" y="4848224"/>
            <a:ext cx="1712113" cy="194310"/>
          </a:xfrm>
          <a:prstGeom prst="rect">
            <a:avLst/>
          </a:prstGeom>
          <a:noFill/>
        </p:spPr>
        <p:txBody>
          <a:bodyPr wrap="none" lIns="0" rIns="0" tIns="0" bIns="0">
            <a:spAutoFit/>
          </a:bodyPr>
          <a:lstStyle/>
          <a:p>
            <a:r>
              <a:rPr sz="1150" b="0">
                <a:solidFill>
                  <a:srgbClr val="2E2E2E"/>
                </a:solidFill>
                <a:latin typeface="Calibri"/>
              </a:rPr>
              <a:t>fastest growth at a CAGR of</a:t>
            </a:r>
          </a:p>
        </p:txBody>
      </p:sp>
      <p:pic>
        <p:nvPicPr>
          <p:cNvPr id="88" name="Picture 87" descr="lock.png"/>
          <p:cNvPicPr>
            <a:picLocks noChangeAspect="1"/>
          </p:cNvPicPr>
          <p:nvPr/>
        </p:nvPicPr>
        <p:blipFill>
          <a:blip r:embed="rId4"/>
          <a:stretch>
            <a:fillRect/>
          </a:stretch>
        </p:blipFill>
        <p:spPr>
          <a:xfrm>
            <a:off x="9376517" y="4838001"/>
            <a:ext cx="134549" cy="195707"/>
          </a:xfrm>
          <a:prstGeom prst="rect">
            <a:avLst/>
          </a:prstGeom>
        </p:spPr>
      </p:pic>
      <p:sp>
        <p:nvSpPr>
          <p:cNvPr id="89" name="TextBox 88"/>
          <p:cNvSpPr txBox="1"/>
          <p:nvPr/>
        </p:nvSpPr>
        <p:spPr>
          <a:xfrm>
            <a:off x="9551626" y="4848224"/>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90" name="TextBox 89"/>
          <p:cNvSpPr txBox="1"/>
          <p:nvPr/>
        </p:nvSpPr>
        <p:spPr>
          <a:xfrm>
            <a:off x="7715250" y="5076062"/>
            <a:ext cx="3764533" cy="194310"/>
          </a:xfrm>
          <a:prstGeom prst="rect">
            <a:avLst/>
          </a:prstGeom>
          <a:noFill/>
        </p:spPr>
        <p:txBody>
          <a:bodyPr wrap="none" lIns="0" rIns="0" tIns="0" bIns="0">
            <a:spAutoFit/>
          </a:bodyPr>
          <a:lstStyle/>
          <a:p>
            <a:r>
              <a:rPr sz="1150" b="0">
                <a:solidFill>
                  <a:srgbClr val="2E2E2E"/>
                </a:solidFill>
                <a:latin typeface="Calibri"/>
              </a:rPr>
              <a:t>Combined, the top three form type × end-use application cells</a:t>
            </a:r>
          </a:p>
        </p:txBody>
      </p:sp>
      <p:sp>
        <p:nvSpPr>
          <p:cNvPr id="91" name="TextBox 90"/>
          <p:cNvSpPr txBox="1"/>
          <p:nvPr/>
        </p:nvSpPr>
        <p:spPr>
          <a:xfrm>
            <a:off x="7715250" y="525132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92" name="Picture 91" descr="lock.png"/>
          <p:cNvPicPr>
            <a:picLocks noChangeAspect="1"/>
          </p:cNvPicPr>
          <p:nvPr/>
        </p:nvPicPr>
        <p:blipFill>
          <a:blip r:embed="rId4"/>
          <a:stretch>
            <a:fillRect/>
          </a:stretch>
        </p:blipFill>
        <p:spPr>
          <a:xfrm>
            <a:off x="10004949" y="5241099"/>
            <a:ext cx="134549" cy="195707"/>
          </a:xfrm>
          <a:prstGeom prst="rect">
            <a:avLst/>
          </a:prstGeom>
        </p:spPr>
      </p:pic>
      <p:sp>
        <p:nvSpPr>
          <p:cNvPr id="93" name="TextBox 92"/>
          <p:cNvSpPr txBox="1"/>
          <p:nvPr/>
        </p:nvSpPr>
        <p:spPr>
          <a:xfrm>
            <a:off x="10180058" y="525132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Form Type × End-use Application,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end-use application sub-segments</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Form Type × End-use Application, 2026E (% of each row)</a:t>
            </a:r>
          </a:p>
        </p:txBody>
      </p:sp>
      <p:graphicFrame>
        <p:nvGraphicFramePr>
          <p:cNvPr id="12" name="Table 11"/>
          <p:cNvGraphicFramePr>
            <a:graphicFrameLocks noGrp="1"/>
          </p:cNvGraphicFramePr>
          <p:nvPr/>
        </p:nvGraphicFramePr>
        <p:xfrm>
          <a:off x="152400" y="1238250"/>
          <a:ext cx="11887198" cy="1724022"/>
        </p:xfrm>
        <a:graphic>
          <a:graphicData uri="http://schemas.openxmlformats.org/drawingml/2006/table">
            <a:tbl>
              <a:tblPr>
                <a:tableStyleId>{5C22544A-7EE6-4342-B048-85BDC9FD1C3A}</a:tableStyleId>
              </a:tblPr>
              <a:tblGrid>
                <a:gridCol w="2034798"/>
                <a:gridCol w="1970480"/>
                <a:gridCol w="1970480"/>
                <a:gridCol w="1970480"/>
                <a:gridCol w="1970480"/>
                <a:gridCol w="1970480"/>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Facial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Body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Face &amp; Body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Lip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7286625"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3623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End-use Application Mix by Form Type, 2026E (% share)</a:t>
            </a:r>
          </a:p>
        </p:txBody>
      </p:sp>
      <p:graphicFrame>
        <p:nvGraphicFramePr>
          <p:cNvPr id="16" name="Chart 15"/>
          <p:cNvGraphicFramePr>
            <a:graphicFrameLocks noGrp="1"/>
          </p:cNvGraphicFramePr>
          <p:nvPr/>
        </p:nvGraphicFramePr>
        <p:xfrm>
          <a:off x="238125" y="3590925"/>
          <a:ext cx="7096125" cy="298132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305175"/>
            <a:ext cx="445770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3909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6290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714750"/>
            <a:ext cx="419100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926707" y="1956623"/>
            <a:ext cx="366712" cy="533399"/>
          </a:xfrm>
          <a:prstGeom prst="rect">
            <a:avLst/>
          </a:prstGeom>
        </p:spPr>
      </p:pic>
      <p:pic>
        <p:nvPicPr>
          <p:cNvPr id="23" name="Picture 22" descr="lock.png"/>
          <p:cNvPicPr>
            <a:picLocks noChangeAspect="1"/>
          </p:cNvPicPr>
          <p:nvPr/>
        </p:nvPicPr>
        <p:blipFill>
          <a:blip r:embed="rId5"/>
          <a:stretch>
            <a:fillRect/>
          </a:stretch>
        </p:blipFill>
        <p:spPr>
          <a:xfrm>
            <a:off x="3760202" y="4257864"/>
            <a:ext cx="341043" cy="496063"/>
          </a:xfrm>
          <a:prstGeom prst="rect">
            <a:avLst/>
          </a:prstGeom>
        </p:spPr>
      </p:pic>
      <p:sp>
        <p:nvSpPr>
          <p:cNvPr id="24" name="TextBox 23"/>
          <p:cNvSpPr txBox="1"/>
          <p:nvPr/>
        </p:nvSpPr>
        <p:spPr>
          <a:xfrm>
            <a:off x="7715250" y="3724275"/>
            <a:ext cx="3627548" cy="194310"/>
          </a:xfrm>
          <a:prstGeom prst="rect">
            <a:avLst/>
          </a:prstGeom>
          <a:noFill/>
        </p:spPr>
        <p:txBody>
          <a:bodyPr wrap="none" lIns="0" rIns="0" tIns="0" bIns="0">
            <a:spAutoFit/>
          </a:bodyPr>
          <a:lstStyle/>
          <a:p>
            <a:r>
              <a:rPr sz="1150" b="0">
                <a:solidFill>
                  <a:srgbClr val="2E2E2E"/>
                </a:solidFill>
                <a:latin typeface="Calibri"/>
              </a:rPr>
              <a:t>▪ 'Facial Sunscreen' holds the highest share of 'Cream-based</a:t>
            </a:r>
          </a:p>
        </p:txBody>
      </p:sp>
      <p:sp>
        <p:nvSpPr>
          <p:cNvPr id="25" name="TextBox 24"/>
          <p:cNvSpPr txBox="1"/>
          <p:nvPr/>
        </p:nvSpPr>
        <p:spPr>
          <a:xfrm>
            <a:off x="7715250" y="3899535"/>
            <a:ext cx="873199" cy="194310"/>
          </a:xfrm>
          <a:prstGeom prst="rect">
            <a:avLst/>
          </a:prstGeom>
          <a:noFill/>
        </p:spPr>
        <p:txBody>
          <a:bodyPr wrap="none" lIns="0" rIns="0" tIns="0" bIns="0">
            <a:spAutoFit/>
          </a:bodyPr>
          <a:lstStyle/>
          <a:p>
            <a:r>
              <a:rPr sz="1150" b="0">
                <a:solidFill>
                  <a:srgbClr val="2E2E2E"/>
                </a:solidFill>
                <a:latin typeface="Calibri"/>
              </a:rPr>
              <a:t>Sunscreen' at</a:t>
            </a:r>
          </a:p>
        </p:txBody>
      </p:sp>
      <p:pic>
        <p:nvPicPr>
          <p:cNvPr id="26" name="Picture 25" descr="lock.png"/>
          <p:cNvPicPr>
            <a:picLocks noChangeAspect="1"/>
          </p:cNvPicPr>
          <p:nvPr/>
        </p:nvPicPr>
        <p:blipFill>
          <a:blip r:embed="rId5"/>
          <a:stretch>
            <a:fillRect/>
          </a:stretch>
        </p:blipFill>
        <p:spPr>
          <a:xfrm>
            <a:off x="8537603" y="3889311"/>
            <a:ext cx="134549" cy="195707"/>
          </a:xfrm>
          <a:prstGeom prst="rect">
            <a:avLst/>
          </a:prstGeom>
        </p:spPr>
      </p:pic>
      <p:sp>
        <p:nvSpPr>
          <p:cNvPr id="27" name="TextBox 26"/>
          <p:cNvSpPr txBox="1"/>
          <p:nvPr/>
        </p:nvSpPr>
        <p:spPr>
          <a:xfrm>
            <a:off x="8712712" y="38995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127372"/>
            <a:ext cx="3794484" cy="194310"/>
          </a:xfrm>
          <a:prstGeom prst="rect">
            <a:avLst/>
          </a:prstGeom>
          <a:noFill/>
        </p:spPr>
        <p:txBody>
          <a:bodyPr wrap="none" lIns="0" rIns="0" tIns="0" bIns="0">
            <a:spAutoFit/>
          </a:bodyPr>
          <a:lstStyle/>
          <a:p>
            <a:r>
              <a:rPr sz="1150" b="0">
                <a:solidFill>
                  <a:srgbClr val="2E2E2E"/>
                </a:solidFill>
                <a:latin typeface="Calibri"/>
              </a:rPr>
              <a:t>▪ 'Cream-based Sunscreen' is the most concentrated form type</a:t>
            </a:r>
          </a:p>
        </p:txBody>
      </p:sp>
      <p:sp>
        <p:nvSpPr>
          <p:cNvPr id="29" name="TextBox 28"/>
          <p:cNvSpPr txBox="1"/>
          <p:nvPr/>
        </p:nvSpPr>
        <p:spPr>
          <a:xfrm>
            <a:off x="7715250" y="4302632"/>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30" name="Picture 29" descr="lock.png"/>
          <p:cNvPicPr>
            <a:picLocks noChangeAspect="1"/>
          </p:cNvPicPr>
          <p:nvPr/>
        </p:nvPicPr>
        <p:blipFill>
          <a:blip r:embed="rId5"/>
          <a:stretch>
            <a:fillRect/>
          </a:stretch>
        </p:blipFill>
        <p:spPr>
          <a:xfrm>
            <a:off x="8843110" y="4292409"/>
            <a:ext cx="134549" cy="195707"/>
          </a:xfrm>
          <a:prstGeom prst="rect">
            <a:avLst/>
          </a:prstGeom>
        </p:spPr>
      </p:pic>
      <p:sp>
        <p:nvSpPr>
          <p:cNvPr id="31" name="TextBox 30"/>
          <p:cNvSpPr txBox="1"/>
          <p:nvPr/>
        </p:nvSpPr>
        <p:spPr>
          <a:xfrm>
            <a:off x="9018219" y="4302632"/>
            <a:ext cx="2041251" cy="194310"/>
          </a:xfrm>
          <a:prstGeom prst="rect">
            <a:avLst/>
          </a:prstGeom>
          <a:noFill/>
        </p:spPr>
        <p:txBody>
          <a:bodyPr wrap="none" lIns="0" rIns="0" tIns="0" bIns="0">
            <a:spAutoFit/>
          </a:bodyPr>
          <a:lstStyle/>
          <a:p>
            <a:r>
              <a:rPr sz="1150" b="0">
                <a:solidFill>
                  <a:srgbClr val="2E2E2E"/>
                </a:solidFill>
                <a:latin typeface="Calibri"/>
              </a:rPr>
              <a:t>of its value via 'Facial Sunscreen'.</a:t>
            </a:r>
          </a:p>
        </p:txBody>
      </p:sp>
      <p:sp>
        <p:nvSpPr>
          <p:cNvPr id="32" name="TextBox 31"/>
          <p:cNvSpPr txBox="1"/>
          <p:nvPr/>
        </p:nvSpPr>
        <p:spPr>
          <a:xfrm>
            <a:off x="7715250" y="4530470"/>
            <a:ext cx="1652165" cy="194310"/>
          </a:xfrm>
          <a:prstGeom prst="rect">
            <a:avLst/>
          </a:prstGeom>
          <a:noFill/>
        </p:spPr>
        <p:txBody>
          <a:bodyPr wrap="none" lIns="0" rIns="0" tIns="0" bIns="0">
            <a:spAutoFit/>
          </a:bodyPr>
          <a:lstStyle/>
          <a:p>
            <a:r>
              <a:rPr sz="1150" b="0">
                <a:solidFill>
                  <a:srgbClr val="2E2E2E"/>
                </a:solidFill>
                <a:latin typeface="Calibri"/>
              </a:rPr>
              <a:t>▪ 'Facial Sunscreen' gains +</a:t>
            </a:r>
          </a:p>
        </p:txBody>
      </p:sp>
      <p:pic>
        <p:nvPicPr>
          <p:cNvPr id="33" name="Picture 32" descr="lock.png"/>
          <p:cNvPicPr>
            <a:picLocks noChangeAspect="1"/>
          </p:cNvPicPr>
          <p:nvPr/>
        </p:nvPicPr>
        <p:blipFill>
          <a:blip r:embed="rId5"/>
          <a:stretch>
            <a:fillRect/>
          </a:stretch>
        </p:blipFill>
        <p:spPr>
          <a:xfrm>
            <a:off x="9316569" y="4520247"/>
            <a:ext cx="134549" cy="195707"/>
          </a:xfrm>
          <a:prstGeom prst="rect">
            <a:avLst/>
          </a:prstGeom>
        </p:spPr>
      </p:pic>
      <p:sp>
        <p:nvSpPr>
          <p:cNvPr id="34" name="TextBox 33"/>
          <p:cNvSpPr txBox="1"/>
          <p:nvPr/>
        </p:nvSpPr>
        <p:spPr>
          <a:xfrm>
            <a:off x="9491678" y="4530470"/>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35" name="TextBox 34"/>
          <p:cNvSpPr txBox="1"/>
          <p:nvPr/>
        </p:nvSpPr>
        <p:spPr>
          <a:xfrm>
            <a:off x="7715250" y="4705730"/>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6" name="lockshield_16"/>
          <p:cNvSpPr/>
          <p:nvPr/>
        </p:nvSpPr>
        <p:spPr>
          <a:xfrm>
            <a:off x="238125" y="3590925"/>
            <a:ext cx="7096125" cy="29813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Form Type × End-use Application,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Form Type × End-use Application, 2026E–2036F</a:t>
            </a:r>
          </a:p>
        </p:txBody>
      </p:sp>
      <p:graphicFrame>
        <p:nvGraphicFramePr>
          <p:cNvPr id="12" name="Table 11"/>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2510290"/>
                <a:gridCol w="937691"/>
                <a:gridCol w="937691"/>
                <a:gridCol w="937691"/>
                <a:gridCol w="937691"/>
                <a:gridCol w="937691"/>
                <a:gridCol w="937691"/>
                <a:gridCol w="937691"/>
                <a:gridCol w="937691"/>
                <a:gridCol w="937691"/>
                <a:gridCol w="937691"/>
              </a:tblGrid>
              <a:tr h="246126">
                <a:tc rowSpan="2">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Facial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Body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Face &amp; Body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Lip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560070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87667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53340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'Stick-based Sunscreen × Facial Sunscreen' ranks highest (5/5); 'Gel-based Sunscreen × Body Sunscreen'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164454" y="2203704"/>
            <a:ext cx="366712" cy="533400"/>
          </a:xfrm>
          <a:prstGeom prst="rect">
            <a:avLst/>
          </a:prstGeom>
        </p:spPr>
      </p:pic>
      <p:sp>
        <p:nvSpPr>
          <p:cNvPr id="32" name="TextBox 31"/>
          <p:cNvSpPr txBox="1"/>
          <p:nvPr/>
        </p:nvSpPr>
        <p:spPr>
          <a:xfrm>
            <a:off x="276225" y="3971925"/>
            <a:ext cx="2853369" cy="194310"/>
          </a:xfrm>
          <a:prstGeom prst="rect">
            <a:avLst/>
          </a:prstGeom>
          <a:noFill/>
        </p:spPr>
        <p:txBody>
          <a:bodyPr wrap="none" lIns="0" rIns="0" tIns="0" bIns="0">
            <a:spAutoFit/>
          </a:bodyPr>
          <a:lstStyle/>
          <a:p>
            <a:r>
              <a:rPr sz="1150" b="0">
                <a:solidFill>
                  <a:srgbClr val="2E2E2E"/>
                </a:solidFill>
                <a:latin typeface="Calibri"/>
              </a:rPr>
              <a:t>▪ 1. Stick-based Sunscreen × Facial Sunscreen –</a:t>
            </a:r>
          </a:p>
        </p:txBody>
      </p:sp>
      <p:pic>
        <p:nvPicPr>
          <p:cNvPr id="33" name="Picture 32" descr="lock.png"/>
          <p:cNvPicPr>
            <a:picLocks noChangeAspect="1"/>
          </p:cNvPicPr>
          <p:nvPr/>
        </p:nvPicPr>
        <p:blipFill>
          <a:blip r:embed="rId4"/>
          <a:stretch>
            <a:fillRect/>
          </a:stretch>
        </p:blipFill>
        <p:spPr>
          <a:xfrm>
            <a:off x="3078748" y="3961701"/>
            <a:ext cx="134549" cy="195707"/>
          </a:xfrm>
          <a:prstGeom prst="rect">
            <a:avLst/>
          </a:prstGeom>
        </p:spPr>
      </p:pic>
      <p:sp>
        <p:nvSpPr>
          <p:cNvPr id="34" name="TextBox 33"/>
          <p:cNvSpPr txBox="1"/>
          <p:nvPr/>
        </p:nvSpPr>
        <p:spPr>
          <a:xfrm>
            <a:off x="3253857" y="39719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316009" y="3961701"/>
            <a:ext cx="134549" cy="195707"/>
          </a:xfrm>
          <a:prstGeom prst="rect">
            <a:avLst/>
          </a:prstGeom>
        </p:spPr>
      </p:pic>
      <p:sp>
        <p:nvSpPr>
          <p:cNvPr id="36" name="TextBox 35"/>
          <p:cNvSpPr txBox="1"/>
          <p:nvPr/>
        </p:nvSpPr>
        <p:spPr>
          <a:xfrm>
            <a:off x="3491118" y="397192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199763"/>
            <a:ext cx="2950070" cy="194310"/>
          </a:xfrm>
          <a:prstGeom prst="rect">
            <a:avLst/>
          </a:prstGeom>
          <a:noFill/>
        </p:spPr>
        <p:txBody>
          <a:bodyPr wrap="none" lIns="0" rIns="0" tIns="0" bIns="0">
            <a:spAutoFit/>
          </a:bodyPr>
          <a:lstStyle/>
          <a:p>
            <a:r>
              <a:rPr sz="1150" b="0">
                <a:solidFill>
                  <a:srgbClr val="2E2E2E"/>
                </a:solidFill>
                <a:latin typeface="Calibri"/>
              </a:rPr>
              <a:t>▪ 2. Lotion-based Sunscreen × Facial Sunscreen –</a:t>
            </a:r>
          </a:p>
        </p:txBody>
      </p:sp>
      <p:pic>
        <p:nvPicPr>
          <p:cNvPr id="38" name="Picture 37" descr="lock.png"/>
          <p:cNvPicPr>
            <a:picLocks noChangeAspect="1"/>
          </p:cNvPicPr>
          <p:nvPr/>
        </p:nvPicPr>
        <p:blipFill>
          <a:blip r:embed="rId4"/>
          <a:stretch>
            <a:fillRect/>
          </a:stretch>
        </p:blipFill>
        <p:spPr>
          <a:xfrm>
            <a:off x="3175449" y="4189539"/>
            <a:ext cx="134549" cy="195707"/>
          </a:xfrm>
          <a:prstGeom prst="rect">
            <a:avLst/>
          </a:prstGeom>
        </p:spPr>
      </p:pic>
      <p:sp>
        <p:nvSpPr>
          <p:cNvPr id="39" name="TextBox 38"/>
          <p:cNvSpPr txBox="1"/>
          <p:nvPr/>
        </p:nvSpPr>
        <p:spPr>
          <a:xfrm>
            <a:off x="3350558" y="41997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412710" y="4189539"/>
            <a:ext cx="134549" cy="195707"/>
          </a:xfrm>
          <a:prstGeom prst="rect">
            <a:avLst/>
          </a:prstGeom>
        </p:spPr>
      </p:pic>
      <p:sp>
        <p:nvSpPr>
          <p:cNvPr id="41" name="TextBox 40"/>
          <p:cNvSpPr txBox="1"/>
          <p:nvPr/>
        </p:nvSpPr>
        <p:spPr>
          <a:xfrm>
            <a:off x="3587819" y="4199763"/>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2" name="TextBox 41"/>
          <p:cNvSpPr txBox="1"/>
          <p:nvPr/>
        </p:nvSpPr>
        <p:spPr>
          <a:xfrm>
            <a:off x="276225" y="4427600"/>
            <a:ext cx="2816919" cy="194310"/>
          </a:xfrm>
          <a:prstGeom prst="rect">
            <a:avLst/>
          </a:prstGeom>
          <a:noFill/>
        </p:spPr>
        <p:txBody>
          <a:bodyPr wrap="none" lIns="0" rIns="0" tIns="0" bIns="0">
            <a:spAutoFit/>
          </a:bodyPr>
          <a:lstStyle/>
          <a:p>
            <a:r>
              <a:rPr sz="1150" b="0">
                <a:solidFill>
                  <a:srgbClr val="2E2E2E"/>
                </a:solidFill>
                <a:latin typeface="Calibri"/>
              </a:rPr>
              <a:t>▪ 3. Stick-based Sunscreen × Body Sunscreen –</a:t>
            </a:r>
          </a:p>
        </p:txBody>
      </p:sp>
      <p:pic>
        <p:nvPicPr>
          <p:cNvPr id="43" name="Picture 42" descr="lock.png"/>
          <p:cNvPicPr>
            <a:picLocks noChangeAspect="1"/>
          </p:cNvPicPr>
          <p:nvPr/>
        </p:nvPicPr>
        <p:blipFill>
          <a:blip r:embed="rId4"/>
          <a:stretch>
            <a:fillRect/>
          </a:stretch>
        </p:blipFill>
        <p:spPr>
          <a:xfrm>
            <a:off x="3042298" y="4417377"/>
            <a:ext cx="134549" cy="195707"/>
          </a:xfrm>
          <a:prstGeom prst="rect">
            <a:avLst/>
          </a:prstGeom>
        </p:spPr>
      </p:pic>
      <p:sp>
        <p:nvSpPr>
          <p:cNvPr id="44" name="TextBox 43"/>
          <p:cNvSpPr txBox="1"/>
          <p:nvPr/>
        </p:nvSpPr>
        <p:spPr>
          <a:xfrm>
            <a:off x="3217407" y="442760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279559" y="4417377"/>
            <a:ext cx="134549" cy="195707"/>
          </a:xfrm>
          <a:prstGeom prst="rect">
            <a:avLst/>
          </a:prstGeom>
        </p:spPr>
      </p:pic>
      <p:sp>
        <p:nvSpPr>
          <p:cNvPr id="46" name="TextBox 45"/>
          <p:cNvSpPr txBox="1"/>
          <p:nvPr/>
        </p:nvSpPr>
        <p:spPr>
          <a:xfrm>
            <a:off x="3454668" y="4427600"/>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276225" y="4655438"/>
            <a:ext cx="2279692" cy="194310"/>
          </a:xfrm>
          <a:prstGeom prst="rect">
            <a:avLst/>
          </a:prstGeom>
          <a:noFill/>
        </p:spPr>
        <p:txBody>
          <a:bodyPr wrap="none" lIns="0" rIns="0" tIns="0" bIns="0">
            <a:spAutoFit/>
          </a:bodyPr>
          <a:lstStyle/>
          <a:p>
            <a:r>
              <a:rPr sz="1150" b="0">
                <a:solidFill>
                  <a:srgbClr val="2E2E2E"/>
                </a:solidFill>
                <a:latin typeface="Calibri"/>
              </a:rPr>
              <a:t>▪ 4. Other Forms × Facial Sunscreen –</a:t>
            </a:r>
          </a:p>
        </p:txBody>
      </p:sp>
      <p:pic>
        <p:nvPicPr>
          <p:cNvPr id="48" name="Picture 47" descr="lock.png"/>
          <p:cNvPicPr>
            <a:picLocks noChangeAspect="1"/>
          </p:cNvPicPr>
          <p:nvPr/>
        </p:nvPicPr>
        <p:blipFill>
          <a:blip r:embed="rId4"/>
          <a:stretch>
            <a:fillRect/>
          </a:stretch>
        </p:blipFill>
        <p:spPr>
          <a:xfrm>
            <a:off x="2505071" y="4645215"/>
            <a:ext cx="134549" cy="195707"/>
          </a:xfrm>
          <a:prstGeom prst="rect">
            <a:avLst/>
          </a:prstGeom>
        </p:spPr>
      </p:pic>
      <p:sp>
        <p:nvSpPr>
          <p:cNvPr id="49" name="TextBox 48"/>
          <p:cNvSpPr txBox="1"/>
          <p:nvPr/>
        </p:nvSpPr>
        <p:spPr>
          <a:xfrm>
            <a:off x="2680181" y="465543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2742332" y="4645215"/>
            <a:ext cx="134549" cy="195707"/>
          </a:xfrm>
          <a:prstGeom prst="rect">
            <a:avLst/>
          </a:prstGeom>
        </p:spPr>
      </p:pic>
      <p:sp>
        <p:nvSpPr>
          <p:cNvPr id="51" name="TextBox 50"/>
          <p:cNvSpPr txBox="1"/>
          <p:nvPr/>
        </p:nvSpPr>
        <p:spPr>
          <a:xfrm>
            <a:off x="2917441" y="4655438"/>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2" name="TextBox 51"/>
          <p:cNvSpPr txBox="1"/>
          <p:nvPr/>
        </p:nvSpPr>
        <p:spPr>
          <a:xfrm>
            <a:off x="276225" y="4883276"/>
            <a:ext cx="2689125" cy="194310"/>
          </a:xfrm>
          <a:prstGeom prst="rect">
            <a:avLst/>
          </a:prstGeom>
          <a:noFill/>
        </p:spPr>
        <p:txBody>
          <a:bodyPr wrap="none" lIns="0" rIns="0" tIns="0" bIns="0">
            <a:spAutoFit/>
          </a:bodyPr>
          <a:lstStyle/>
          <a:p>
            <a:r>
              <a:rPr sz="1150" b="0">
                <a:solidFill>
                  <a:srgbClr val="2E2E2E"/>
                </a:solidFill>
                <a:latin typeface="Calibri"/>
              </a:rPr>
              <a:t>▪ 5. Stick-based Sunscreen × Lip Sunscreen –</a:t>
            </a:r>
          </a:p>
        </p:txBody>
      </p:sp>
      <p:pic>
        <p:nvPicPr>
          <p:cNvPr id="53" name="Picture 52" descr="lock.png"/>
          <p:cNvPicPr>
            <a:picLocks noChangeAspect="1"/>
          </p:cNvPicPr>
          <p:nvPr/>
        </p:nvPicPr>
        <p:blipFill>
          <a:blip r:embed="rId4"/>
          <a:stretch>
            <a:fillRect/>
          </a:stretch>
        </p:blipFill>
        <p:spPr>
          <a:xfrm>
            <a:off x="2914504" y="4873053"/>
            <a:ext cx="134549" cy="195707"/>
          </a:xfrm>
          <a:prstGeom prst="rect">
            <a:avLst/>
          </a:prstGeom>
        </p:spPr>
      </p:pic>
      <p:sp>
        <p:nvSpPr>
          <p:cNvPr id="54" name="TextBox 53"/>
          <p:cNvSpPr txBox="1"/>
          <p:nvPr/>
        </p:nvSpPr>
        <p:spPr>
          <a:xfrm>
            <a:off x="3089613" y="488327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151765" y="4873053"/>
            <a:ext cx="134549" cy="195707"/>
          </a:xfrm>
          <a:prstGeom prst="rect">
            <a:avLst/>
          </a:prstGeom>
        </p:spPr>
      </p:pic>
      <p:sp>
        <p:nvSpPr>
          <p:cNvPr id="56" name="TextBox 55"/>
          <p:cNvSpPr txBox="1"/>
          <p:nvPr/>
        </p:nvSpPr>
        <p:spPr>
          <a:xfrm>
            <a:off x="3326874" y="4883276"/>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7" name="TextBox 56"/>
          <p:cNvSpPr txBox="1"/>
          <p:nvPr/>
        </p:nvSpPr>
        <p:spPr>
          <a:xfrm>
            <a:off x="6029325" y="3971925"/>
            <a:ext cx="1620849" cy="194310"/>
          </a:xfrm>
          <a:prstGeom prst="rect">
            <a:avLst/>
          </a:prstGeom>
          <a:noFill/>
        </p:spPr>
        <p:txBody>
          <a:bodyPr wrap="none" lIns="0" rIns="0" tIns="0" bIns="0">
            <a:spAutoFit/>
          </a:bodyPr>
          <a:lstStyle/>
          <a:p>
            <a:r>
              <a:rPr sz="1150" b="0">
                <a:solidFill>
                  <a:srgbClr val="2E2E2E"/>
                </a:solidFill>
                <a:latin typeface="Calibri"/>
              </a:rPr>
              <a:t>▪ 'Stick-based Sunscreen ×</a:t>
            </a:r>
          </a:p>
        </p:txBody>
      </p:sp>
      <p:sp>
        <p:nvSpPr>
          <p:cNvPr id="58" name="TextBox 57"/>
          <p:cNvSpPr txBox="1"/>
          <p:nvPr/>
        </p:nvSpPr>
        <p:spPr>
          <a:xfrm>
            <a:off x="6029325" y="4147185"/>
            <a:ext cx="1403709" cy="194310"/>
          </a:xfrm>
          <a:prstGeom prst="rect">
            <a:avLst/>
          </a:prstGeom>
          <a:noFill/>
        </p:spPr>
        <p:txBody>
          <a:bodyPr wrap="none" lIns="0" rIns="0" tIns="0" bIns="0">
            <a:spAutoFit/>
          </a:bodyPr>
          <a:lstStyle/>
          <a:p>
            <a:r>
              <a:rPr sz="1150" b="0">
                <a:solidFill>
                  <a:srgbClr val="2E2E2E"/>
                </a:solidFill>
                <a:latin typeface="Calibri"/>
              </a:rPr>
              <a:t>Facial Sunscreen' adds</a:t>
            </a:r>
          </a:p>
        </p:txBody>
      </p:sp>
      <p:pic>
        <p:nvPicPr>
          <p:cNvPr id="59" name="Picture 58" descr="lock.png"/>
          <p:cNvPicPr>
            <a:picLocks noChangeAspect="1"/>
          </p:cNvPicPr>
          <p:nvPr/>
        </p:nvPicPr>
        <p:blipFill>
          <a:blip r:embed="rId4"/>
          <a:stretch>
            <a:fillRect/>
          </a:stretch>
        </p:blipFill>
        <p:spPr>
          <a:xfrm>
            <a:off x="7382188" y="4136961"/>
            <a:ext cx="134549" cy="195707"/>
          </a:xfrm>
          <a:prstGeom prst="rect">
            <a:avLst/>
          </a:prstGeom>
        </p:spPr>
      </p:pic>
      <p:sp>
        <p:nvSpPr>
          <p:cNvPr id="60" name="TextBox 59"/>
          <p:cNvSpPr txBox="1"/>
          <p:nvPr/>
        </p:nvSpPr>
        <p:spPr>
          <a:xfrm>
            <a:off x="6029325" y="4322445"/>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1" name="Picture 60" descr="lock.png"/>
          <p:cNvPicPr>
            <a:picLocks noChangeAspect="1"/>
          </p:cNvPicPr>
          <p:nvPr/>
        </p:nvPicPr>
        <p:blipFill>
          <a:blip r:embed="rId4"/>
          <a:stretch>
            <a:fillRect/>
          </a:stretch>
        </p:blipFill>
        <p:spPr>
          <a:xfrm>
            <a:off x="7203111" y="4312221"/>
            <a:ext cx="134549" cy="195707"/>
          </a:xfrm>
          <a:prstGeom prst="rect">
            <a:avLst/>
          </a:prstGeom>
        </p:spPr>
      </p:pic>
      <p:sp>
        <p:nvSpPr>
          <p:cNvPr id="62" name="TextBox 61"/>
          <p:cNvSpPr txBox="1"/>
          <p:nvPr/>
        </p:nvSpPr>
        <p:spPr>
          <a:xfrm>
            <a:off x="7378220" y="4322445"/>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63" name="TextBox 62"/>
          <p:cNvSpPr txBox="1"/>
          <p:nvPr/>
        </p:nvSpPr>
        <p:spPr>
          <a:xfrm>
            <a:off x="6029325" y="4497704"/>
            <a:ext cx="1366403" cy="194310"/>
          </a:xfrm>
          <a:prstGeom prst="rect">
            <a:avLst/>
          </a:prstGeom>
          <a:noFill/>
        </p:spPr>
        <p:txBody>
          <a:bodyPr wrap="none" lIns="0" rIns="0" tIns="0" bIns="0">
            <a:spAutoFit/>
          </a:bodyPr>
          <a:lstStyle/>
          <a:p>
            <a:r>
              <a:rPr sz="1150" b="0">
                <a:solidFill>
                  <a:srgbClr val="2E2E2E"/>
                </a:solidFill>
                <a:latin typeface="Calibri"/>
              </a:rPr>
              <a:t>the total opportunity.</a:t>
            </a:r>
          </a:p>
        </p:txBody>
      </p:sp>
      <p:sp>
        <p:nvSpPr>
          <p:cNvPr id="64" name="TextBox 63"/>
          <p:cNvSpPr txBox="1"/>
          <p:nvPr/>
        </p:nvSpPr>
        <p:spPr>
          <a:xfrm>
            <a:off x="8124825" y="3971925"/>
            <a:ext cx="1657350" cy="194310"/>
          </a:xfrm>
          <a:prstGeom prst="rect">
            <a:avLst/>
          </a:prstGeom>
          <a:noFill/>
        </p:spPr>
        <p:txBody>
          <a:bodyPr wrap="none" lIns="0" rIns="0" tIns="0" bIns="0">
            <a:spAutoFit/>
          </a:bodyPr>
          <a:lstStyle/>
          <a:p>
            <a:r>
              <a:rPr sz="1150" b="0">
                <a:solidFill>
                  <a:srgbClr val="2E2E2E"/>
                </a:solidFill>
                <a:latin typeface="Calibri"/>
              </a:rPr>
              <a:t>▪ 'Cream-based Sunscreen ×</a:t>
            </a:r>
          </a:p>
        </p:txBody>
      </p:sp>
      <p:sp>
        <p:nvSpPr>
          <p:cNvPr id="65" name="TextBox 64"/>
          <p:cNvSpPr txBox="1"/>
          <p:nvPr/>
        </p:nvSpPr>
        <p:spPr>
          <a:xfrm>
            <a:off x="8124825" y="4147185"/>
            <a:ext cx="1633623" cy="194310"/>
          </a:xfrm>
          <a:prstGeom prst="rect">
            <a:avLst/>
          </a:prstGeom>
          <a:noFill/>
        </p:spPr>
        <p:txBody>
          <a:bodyPr wrap="none" lIns="0" rIns="0" tIns="0" bIns="0">
            <a:spAutoFit/>
          </a:bodyPr>
          <a:lstStyle/>
          <a:p>
            <a:r>
              <a:rPr sz="1150" b="0">
                <a:solidFill>
                  <a:srgbClr val="2E2E2E"/>
                </a:solidFill>
                <a:latin typeface="Calibri"/>
              </a:rPr>
              <a:t>Facial Sunscreen' grows at</a:t>
            </a:r>
          </a:p>
        </p:txBody>
      </p:sp>
      <p:sp>
        <p:nvSpPr>
          <p:cNvPr id="66" name="TextBox 65"/>
          <p:cNvSpPr txBox="1"/>
          <p:nvPr/>
        </p:nvSpPr>
        <p:spPr>
          <a:xfrm>
            <a:off x="8124825" y="4322445"/>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67" name="Picture 66" descr="lock.png"/>
          <p:cNvPicPr>
            <a:picLocks noChangeAspect="1"/>
          </p:cNvPicPr>
          <p:nvPr/>
        </p:nvPicPr>
        <p:blipFill>
          <a:blip r:embed="rId4"/>
          <a:stretch>
            <a:fillRect/>
          </a:stretch>
        </p:blipFill>
        <p:spPr>
          <a:xfrm>
            <a:off x="8220066" y="4312221"/>
            <a:ext cx="134549" cy="195707"/>
          </a:xfrm>
          <a:prstGeom prst="rect">
            <a:avLst/>
          </a:prstGeom>
        </p:spPr>
      </p:pic>
      <p:sp>
        <p:nvSpPr>
          <p:cNvPr id="68" name="TextBox 67"/>
          <p:cNvSpPr txBox="1"/>
          <p:nvPr/>
        </p:nvSpPr>
        <p:spPr>
          <a:xfrm>
            <a:off x="8395175" y="432244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9" name="Picture 68" descr="lock.png"/>
          <p:cNvPicPr>
            <a:picLocks noChangeAspect="1"/>
          </p:cNvPicPr>
          <p:nvPr/>
        </p:nvPicPr>
        <p:blipFill>
          <a:blip r:embed="rId4"/>
          <a:stretch>
            <a:fillRect/>
          </a:stretch>
        </p:blipFill>
        <p:spPr>
          <a:xfrm>
            <a:off x="8790771" y="4312221"/>
            <a:ext cx="134549" cy="195707"/>
          </a:xfrm>
          <a:prstGeom prst="rect">
            <a:avLst/>
          </a:prstGeom>
        </p:spPr>
      </p:pic>
      <p:sp>
        <p:nvSpPr>
          <p:cNvPr id="70" name="TextBox 69"/>
          <p:cNvSpPr txBox="1"/>
          <p:nvPr/>
        </p:nvSpPr>
        <p:spPr>
          <a:xfrm>
            <a:off x="8965880" y="4322445"/>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71" name="TextBox 70"/>
          <p:cNvSpPr txBox="1"/>
          <p:nvPr/>
        </p:nvSpPr>
        <p:spPr>
          <a:xfrm>
            <a:off x="8124825" y="4497704"/>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Pack Size × Price Tier</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Pack Size × Price Tier,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pack size sub-segment across price tier sub-segments</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Pack Size × Price Tier, 2026E and 2036F (US$ Mn)</a:t>
            </a:r>
          </a:p>
        </p:txBody>
      </p:sp>
      <p:graphicFrame>
        <p:nvGraphicFramePr>
          <p:cNvPr id="12" name="Table 11"/>
          <p:cNvGraphicFramePr>
            <a:graphicFrameLocks noGrp="1"/>
          </p:cNvGraphicFramePr>
          <p:nvPr/>
        </p:nvGraphicFramePr>
        <p:xfrm>
          <a:off x="152400" y="1238250"/>
          <a:ext cx="11887197" cy="1971675"/>
        </p:xfrm>
        <a:graphic>
          <a:graphicData uri="http://schemas.openxmlformats.org/drawingml/2006/table">
            <a:tbl>
              <a:tblPr>
                <a:tableStyleId>{5C22544A-7EE6-4342-B048-85BDC9FD1C3A}</a:tableStyleId>
              </a:tblPr>
              <a:tblGrid>
                <a:gridCol w="2652657"/>
                <a:gridCol w="923454"/>
                <a:gridCol w="923454"/>
                <a:gridCol w="923454"/>
                <a:gridCol w="923454"/>
                <a:gridCol w="923454"/>
                <a:gridCol w="923454"/>
                <a:gridCol w="923454"/>
                <a:gridCol w="923454"/>
                <a:gridCol w="923454"/>
                <a:gridCol w="923454"/>
              </a:tblGrid>
              <a:tr h="246126">
                <a:tc rowSpan="2">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Mass Market</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Masstige</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Premium</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Prestige / Luxury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1,750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3,780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7286625"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6099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Pack Size → Price Tier, 2036F (US$ Mn)</a:t>
            </a:r>
          </a:p>
        </p:txBody>
      </p:sp>
      <p:sp>
        <p:nvSpPr>
          <p:cNvPr id="16" name="Freeform 15"/>
          <p:cNvSpPr/>
          <p:nvPr/>
        </p:nvSpPr>
        <p:spPr>
          <a:xfrm>
            <a:off x="2057400" y="3876675"/>
            <a:ext cx="3743325" cy="457200"/>
          </a:xfrm>
          <a:custGeom>
            <a:avLst/>
            <a:gdLst/>
            <a:ahLst/>
            <a:cxnLst/>
            <a:rect l="l" t="t" r="r" b="b"/>
            <a:pathLst>
              <a:path w="393" h="48">
                <a:moveTo>
                  <a:pt x="0" y="0"/>
                </a:moveTo>
                <a:lnTo>
                  <a:pt x="16" y="0"/>
                </a:lnTo>
                <a:lnTo>
                  <a:pt x="33" y="0"/>
                </a:lnTo>
                <a:lnTo>
                  <a:pt x="49" y="0"/>
                </a:lnTo>
                <a:lnTo>
                  <a:pt x="65" y="0"/>
                </a:lnTo>
                <a:lnTo>
                  <a:pt x="82" y="0"/>
                </a:lnTo>
                <a:lnTo>
                  <a:pt x="98" y="0"/>
                </a:lnTo>
                <a:lnTo>
                  <a:pt x="114" y="1"/>
                </a:lnTo>
                <a:lnTo>
                  <a:pt x="131" y="1"/>
                </a:lnTo>
                <a:lnTo>
                  <a:pt x="147" y="1"/>
                </a:lnTo>
                <a:lnTo>
                  <a:pt x="164" y="1"/>
                </a:lnTo>
                <a:lnTo>
                  <a:pt x="180" y="1"/>
                </a:lnTo>
                <a:lnTo>
                  <a:pt x="196" y="1"/>
                </a:lnTo>
                <a:lnTo>
                  <a:pt x="213" y="2"/>
                </a:lnTo>
                <a:lnTo>
                  <a:pt x="229" y="2"/>
                </a:lnTo>
                <a:lnTo>
                  <a:pt x="246" y="2"/>
                </a:lnTo>
                <a:lnTo>
                  <a:pt x="262" y="2"/>
                </a:lnTo>
                <a:lnTo>
                  <a:pt x="278" y="2"/>
                </a:lnTo>
                <a:lnTo>
                  <a:pt x="295" y="3"/>
                </a:lnTo>
                <a:lnTo>
                  <a:pt x="311" y="3"/>
                </a:lnTo>
                <a:lnTo>
                  <a:pt x="327" y="3"/>
                </a:lnTo>
                <a:lnTo>
                  <a:pt x="344" y="3"/>
                </a:lnTo>
                <a:lnTo>
                  <a:pt x="360" y="3"/>
                </a:lnTo>
                <a:lnTo>
                  <a:pt x="377" y="3"/>
                </a:lnTo>
                <a:lnTo>
                  <a:pt x="393" y="3"/>
                </a:lnTo>
                <a:lnTo>
                  <a:pt x="393" y="48"/>
                </a:lnTo>
                <a:lnTo>
                  <a:pt x="377" y="48"/>
                </a:lnTo>
                <a:lnTo>
                  <a:pt x="360" y="48"/>
                </a:lnTo>
                <a:lnTo>
                  <a:pt x="344" y="48"/>
                </a:lnTo>
                <a:lnTo>
                  <a:pt x="327" y="48"/>
                </a:lnTo>
                <a:lnTo>
                  <a:pt x="311" y="48"/>
                </a:lnTo>
                <a:lnTo>
                  <a:pt x="295" y="47"/>
                </a:lnTo>
                <a:lnTo>
                  <a:pt x="278" y="47"/>
                </a:lnTo>
                <a:lnTo>
                  <a:pt x="262" y="47"/>
                </a:lnTo>
                <a:lnTo>
                  <a:pt x="246" y="47"/>
                </a:lnTo>
                <a:lnTo>
                  <a:pt x="229" y="47"/>
                </a:lnTo>
                <a:lnTo>
                  <a:pt x="213" y="47"/>
                </a:lnTo>
                <a:lnTo>
                  <a:pt x="196" y="46"/>
                </a:lnTo>
                <a:lnTo>
                  <a:pt x="180" y="46"/>
                </a:lnTo>
                <a:lnTo>
                  <a:pt x="164" y="46"/>
                </a:lnTo>
                <a:lnTo>
                  <a:pt x="147" y="46"/>
                </a:lnTo>
                <a:lnTo>
                  <a:pt x="131" y="46"/>
                </a:lnTo>
                <a:lnTo>
                  <a:pt x="114" y="45"/>
                </a:lnTo>
                <a:lnTo>
                  <a:pt x="98" y="45"/>
                </a:lnTo>
                <a:lnTo>
                  <a:pt x="82" y="45"/>
                </a:lnTo>
                <a:lnTo>
                  <a:pt x="65" y="45"/>
                </a:lnTo>
                <a:lnTo>
                  <a:pt x="49" y="45"/>
                </a:lnTo>
                <a:lnTo>
                  <a:pt x="33" y="45"/>
                </a:lnTo>
                <a:lnTo>
                  <a:pt x="16" y="45"/>
                </a:lnTo>
                <a:lnTo>
                  <a:pt x="0" y="4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305300"/>
            <a:ext cx="3743325" cy="1362075"/>
          </a:xfrm>
          <a:custGeom>
            <a:avLst/>
            <a:gdLst/>
            <a:ahLst/>
            <a:cxnLst/>
            <a:rect l="l" t="t" r="r" b="b"/>
            <a:pathLst>
              <a:path w="393" h="143">
                <a:moveTo>
                  <a:pt x="0" y="0"/>
                </a:moveTo>
                <a:lnTo>
                  <a:pt x="16" y="1"/>
                </a:lnTo>
                <a:lnTo>
                  <a:pt x="33" y="2"/>
                </a:lnTo>
                <a:lnTo>
                  <a:pt x="49" y="6"/>
                </a:lnTo>
                <a:lnTo>
                  <a:pt x="65" y="10"/>
                </a:lnTo>
                <a:lnTo>
                  <a:pt x="82" y="15"/>
                </a:lnTo>
                <a:lnTo>
                  <a:pt x="98" y="21"/>
                </a:lnTo>
                <a:lnTo>
                  <a:pt x="114" y="27"/>
                </a:lnTo>
                <a:lnTo>
                  <a:pt x="131" y="34"/>
                </a:lnTo>
                <a:lnTo>
                  <a:pt x="147" y="42"/>
                </a:lnTo>
                <a:lnTo>
                  <a:pt x="164" y="50"/>
                </a:lnTo>
                <a:lnTo>
                  <a:pt x="180" y="58"/>
                </a:lnTo>
                <a:lnTo>
                  <a:pt x="196" y="66"/>
                </a:lnTo>
                <a:lnTo>
                  <a:pt x="213" y="75"/>
                </a:lnTo>
                <a:lnTo>
                  <a:pt x="229" y="83"/>
                </a:lnTo>
                <a:lnTo>
                  <a:pt x="246" y="91"/>
                </a:lnTo>
                <a:lnTo>
                  <a:pt x="262" y="99"/>
                </a:lnTo>
                <a:lnTo>
                  <a:pt x="278" y="106"/>
                </a:lnTo>
                <a:lnTo>
                  <a:pt x="295" y="112"/>
                </a:lnTo>
                <a:lnTo>
                  <a:pt x="311" y="118"/>
                </a:lnTo>
                <a:lnTo>
                  <a:pt x="327" y="123"/>
                </a:lnTo>
                <a:lnTo>
                  <a:pt x="344" y="127"/>
                </a:lnTo>
                <a:lnTo>
                  <a:pt x="360" y="130"/>
                </a:lnTo>
                <a:lnTo>
                  <a:pt x="377" y="132"/>
                </a:lnTo>
                <a:lnTo>
                  <a:pt x="393" y="133"/>
                </a:lnTo>
                <a:lnTo>
                  <a:pt x="393" y="143"/>
                </a:lnTo>
                <a:lnTo>
                  <a:pt x="377" y="142"/>
                </a:lnTo>
                <a:lnTo>
                  <a:pt x="360" y="140"/>
                </a:lnTo>
                <a:lnTo>
                  <a:pt x="344" y="137"/>
                </a:lnTo>
                <a:lnTo>
                  <a:pt x="327" y="133"/>
                </a:lnTo>
                <a:lnTo>
                  <a:pt x="311" y="128"/>
                </a:lnTo>
                <a:lnTo>
                  <a:pt x="295" y="122"/>
                </a:lnTo>
                <a:lnTo>
                  <a:pt x="278" y="115"/>
                </a:lnTo>
                <a:lnTo>
                  <a:pt x="262" y="108"/>
                </a:lnTo>
                <a:lnTo>
                  <a:pt x="246" y="101"/>
                </a:lnTo>
                <a:lnTo>
                  <a:pt x="229" y="93"/>
                </a:lnTo>
                <a:lnTo>
                  <a:pt x="213" y="84"/>
                </a:lnTo>
                <a:lnTo>
                  <a:pt x="196" y="76"/>
                </a:lnTo>
                <a:lnTo>
                  <a:pt x="180" y="68"/>
                </a:lnTo>
                <a:lnTo>
                  <a:pt x="164" y="60"/>
                </a:lnTo>
                <a:lnTo>
                  <a:pt x="147" y="52"/>
                </a:lnTo>
                <a:lnTo>
                  <a:pt x="131" y="44"/>
                </a:lnTo>
                <a:lnTo>
                  <a:pt x="114" y="37"/>
                </a:lnTo>
                <a:lnTo>
                  <a:pt x="98" y="30"/>
                </a:lnTo>
                <a:lnTo>
                  <a:pt x="82" y="24"/>
                </a:lnTo>
                <a:lnTo>
                  <a:pt x="65" y="19"/>
                </a:lnTo>
                <a:lnTo>
                  <a:pt x="49" y="15"/>
                </a:lnTo>
                <a:lnTo>
                  <a:pt x="33" y="12"/>
                </a:lnTo>
                <a:lnTo>
                  <a:pt x="16" y="10"/>
                </a:lnTo>
                <a:lnTo>
                  <a:pt x="0" y="1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400550"/>
            <a:ext cx="3743325" cy="1638300"/>
          </a:xfrm>
          <a:custGeom>
            <a:avLst/>
            <a:gdLst/>
            <a:ahLst/>
            <a:cxnLst/>
            <a:rect l="l" t="t" r="r" b="b"/>
            <a:pathLst>
              <a:path w="393" h="172">
                <a:moveTo>
                  <a:pt x="0" y="0"/>
                </a:moveTo>
                <a:lnTo>
                  <a:pt x="16" y="0"/>
                </a:lnTo>
                <a:lnTo>
                  <a:pt x="33" y="3"/>
                </a:lnTo>
                <a:lnTo>
                  <a:pt x="49" y="7"/>
                </a:lnTo>
                <a:lnTo>
                  <a:pt x="65" y="12"/>
                </a:lnTo>
                <a:lnTo>
                  <a:pt x="82" y="18"/>
                </a:lnTo>
                <a:lnTo>
                  <a:pt x="98" y="25"/>
                </a:lnTo>
                <a:lnTo>
                  <a:pt x="114" y="33"/>
                </a:lnTo>
                <a:lnTo>
                  <a:pt x="131" y="42"/>
                </a:lnTo>
                <a:lnTo>
                  <a:pt x="147" y="52"/>
                </a:lnTo>
                <a:lnTo>
                  <a:pt x="164" y="61"/>
                </a:lnTo>
                <a:lnTo>
                  <a:pt x="180" y="71"/>
                </a:lnTo>
                <a:lnTo>
                  <a:pt x="196" y="82"/>
                </a:lnTo>
                <a:lnTo>
                  <a:pt x="213" y="92"/>
                </a:lnTo>
                <a:lnTo>
                  <a:pt x="229" y="102"/>
                </a:lnTo>
                <a:lnTo>
                  <a:pt x="246" y="112"/>
                </a:lnTo>
                <a:lnTo>
                  <a:pt x="262" y="121"/>
                </a:lnTo>
                <a:lnTo>
                  <a:pt x="278" y="130"/>
                </a:lnTo>
                <a:lnTo>
                  <a:pt x="295" y="138"/>
                </a:lnTo>
                <a:lnTo>
                  <a:pt x="311" y="146"/>
                </a:lnTo>
                <a:lnTo>
                  <a:pt x="327" y="152"/>
                </a:lnTo>
                <a:lnTo>
                  <a:pt x="344" y="157"/>
                </a:lnTo>
                <a:lnTo>
                  <a:pt x="360" y="161"/>
                </a:lnTo>
                <a:lnTo>
                  <a:pt x="377" y="163"/>
                </a:lnTo>
                <a:lnTo>
                  <a:pt x="393" y="164"/>
                </a:lnTo>
                <a:lnTo>
                  <a:pt x="393" y="172"/>
                </a:lnTo>
                <a:lnTo>
                  <a:pt x="377" y="171"/>
                </a:lnTo>
                <a:lnTo>
                  <a:pt x="360" y="168"/>
                </a:lnTo>
                <a:lnTo>
                  <a:pt x="344" y="165"/>
                </a:lnTo>
                <a:lnTo>
                  <a:pt x="327" y="160"/>
                </a:lnTo>
                <a:lnTo>
                  <a:pt x="311" y="153"/>
                </a:lnTo>
                <a:lnTo>
                  <a:pt x="295" y="146"/>
                </a:lnTo>
                <a:lnTo>
                  <a:pt x="278" y="138"/>
                </a:lnTo>
                <a:lnTo>
                  <a:pt x="262" y="129"/>
                </a:lnTo>
                <a:lnTo>
                  <a:pt x="246" y="120"/>
                </a:lnTo>
                <a:lnTo>
                  <a:pt x="229" y="110"/>
                </a:lnTo>
                <a:lnTo>
                  <a:pt x="213" y="100"/>
                </a:lnTo>
                <a:lnTo>
                  <a:pt x="196" y="89"/>
                </a:lnTo>
                <a:lnTo>
                  <a:pt x="180" y="79"/>
                </a:lnTo>
                <a:lnTo>
                  <a:pt x="164" y="69"/>
                </a:lnTo>
                <a:lnTo>
                  <a:pt x="147" y="59"/>
                </a:lnTo>
                <a:lnTo>
                  <a:pt x="131" y="50"/>
                </a:lnTo>
                <a:lnTo>
                  <a:pt x="114" y="41"/>
                </a:lnTo>
                <a:lnTo>
                  <a:pt x="98" y="33"/>
                </a:lnTo>
                <a:lnTo>
                  <a:pt x="82" y="26"/>
                </a:lnTo>
                <a:lnTo>
                  <a:pt x="65" y="19"/>
                </a:lnTo>
                <a:lnTo>
                  <a:pt x="49" y="14"/>
                </a:lnTo>
                <a:lnTo>
                  <a:pt x="33" y="10"/>
                </a:lnTo>
                <a:lnTo>
                  <a:pt x="16" y="8"/>
                </a:lnTo>
                <a:lnTo>
                  <a:pt x="0" y="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467225"/>
            <a:ext cx="3743325" cy="1885950"/>
          </a:xfrm>
          <a:custGeom>
            <a:avLst/>
            <a:gdLst/>
            <a:ahLst/>
            <a:cxnLst/>
            <a:rect l="l" t="t" r="r" b="b"/>
            <a:pathLst>
              <a:path w="393" h="198">
                <a:moveTo>
                  <a:pt x="0" y="0"/>
                </a:moveTo>
                <a:lnTo>
                  <a:pt x="16" y="1"/>
                </a:lnTo>
                <a:lnTo>
                  <a:pt x="33" y="4"/>
                </a:lnTo>
                <a:lnTo>
                  <a:pt x="49" y="9"/>
                </a:lnTo>
                <a:lnTo>
                  <a:pt x="65" y="15"/>
                </a:lnTo>
                <a:lnTo>
                  <a:pt x="82" y="22"/>
                </a:lnTo>
                <a:lnTo>
                  <a:pt x="98" y="30"/>
                </a:lnTo>
                <a:lnTo>
                  <a:pt x="114" y="40"/>
                </a:lnTo>
                <a:lnTo>
                  <a:pt x="131" y="50"/>
                </a:lnTo>
                <a:lnTo>
                  <a:pt x="147" y="61"/>
                </a:lnTo>
                <a:lnTo>
                  <a:pt x="164" y="73"/>
                </a:lnTo>
                <a:lnTo>
                  <a:pt x="180" y="85"/>
                </a:lnTo>
                <a:lnTo>
                  <a:pt x="196" y="97"/>
                </a:lnTo>
                <a:lnTo>
                  <a:pt x="213" y="109"/>
                </a:lnTo>
                <a:lnTo>
                  <a:pt x="229" y="120"/>
                </a:lnTo>
                <a:lnTo>
                  <a:pt x="246" y="132"/>
                </a:lnTo>
                <a:lnTo>
                  <a:pt x="262" y="143"/>
                </a:lnTo>
                <a:lnTo>
                  <a:pt x="278" y="153"/>
                </a:lnTo>
                <a:lnTo>
                  <a:pt x="295" y="163"/>
                </a:lnTo>
                <a:lnTo>
                  <a:pt x="311" y="171"/>
                </a:lnTo>
                <a:lnTo>
                  <a:pt x="327" y="179"/>
                </a:lnTo>
                <a:lnTo>
                  <a:pt x="344" y="185"/>
                </a:lnTo>
                <a:lnTo>
                  <a:pt x="360" y="189"/>
                </a:lnTo>
                <a:lnTo>
                  <a:pt x="377" y="192"/>
                </a:lnTo>
                <a:lnTo>
                  <a:pt x="393" y="193"/>
                </a:lnTo>
                <a:lnTo>
                  <a:pt x="393" y="198"/>
                </a:lnTo>
                <a:lnTo>
                  <a:pt x="377" y="197"/>
                </a:lnTo>
                <a:lnTo>
                  <a:pt x="360" y="194"/>
                </a:lnTo>
                <a:lnTo>
                  <a:pt x="344" y="190"/>
                </a:lnTo>
                <a:lnTo>
                  <a:pt x="327" y="184"/>
                </a:lnTo>
                <a:lnTo>
                  <a:pt x="311" y="177"/>
                </a:lnTo>
                <a:lnTo>
                  <a:pt x="295" y="168"/>
                </a:lnTo>
                <a:lnTo>
                  <a:pt x="278" y="159"/>
                </a:lnTo>
                <a:lnTo>
                  <a:pt x="262" y="148"/>
                </a:lnTo>
                <a:lnTo>
                  <a:pt x="246" y="137"/>
                </a:lnTo>
                <a:lnTo>
                  <a:pt x="229" y="126"/>
                </a:lnTo>
                <a:lnTo>
                  <a:pt x="213" y="114"/>
                </a:lnTo>
                <a:lnTo>
                  <a:pt x="196" y="102"/>
                </a:lnTo>
                <a:lnTo>
                  <a:pt x="180" y="90"/>
                </a:lnTo>
                <a:lnTo>
                  <a:pt x="164" y="78"/>
                </a:lnTo>
                <a:lnTo>
                  <a:pt x="147" y="66"/>
                </a:lnTo>
                <a:lnTo>
                  <a:pt x="131" y="55"/>
                </a:lnTo>
                <a:lnTo>
                  <a:pt x="114" y="45"/>
                </a:lnTo>
                <a:lnTo>
                  <a:pt x="98" y="36"/>
                </a:lnTo>
                <a:lnTo>
                  <a:pt x="82" y="27"/>
                </a:lnTo>
                <a:lnTo>
                  <a:pt x="65" y="20"/>
                </a:lnTo>
                <a:lnTo>
                  <a:pt x="49" y="14"/>
                </a:lnTo>
                <a:lnTo>
                  <a:pt x="33" y="9"/>
                </a:lnTo>
                <a:lnTo>
                  <a:pt x="16" y="7"/>
                </a:lnTo>
                <a:lnTo>
                  <a:pt x="0" y="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333875"/>
            <a:ext cx="3743325" cy="647700"/>
          </a:xfrm>
          <a:custGeom>
            <a:avLst/>
            <a:gdLst/>
            <a:ahLst/>
            <a:cxnLst/>
            <a:rect l="l" t="t" r="r" b="b"/>
            <a:pathLst>
              <a:path w="393" h="68">
                <a:moveTo>
                  <a:pt x="0" y="26"/>
                </a:moveTo>
                <a:lnTo>
                  <a:pt x="16" y="25"/>
                </a:lnTo>
                <a:lnTo>
                  <a:pt x="33" y="25"/>
                </a:lnTo>
                <a:lnTo>
                  <a:pt x="49" y="24"/>
                </a:lnTo>
                <a:lnTo>
                  <a:pt x="65" y="24"/>
                </a:lnTo>
                <a:lnTo>
                  <a:pt x="82" y="23"/>
                </a:lnTo>
                <a:lnTo>
                  <a:pt x="98" y="22"/>
                </a:lnTo>
                <a:lnTo>
                  <a:pt x="114" y="20"/>
                </a:lnTo>
                <a:lnTo>
                  <a:pt x="131" y="19"/>
                </a:lnTo>
                <a:lnTo>
                  <a:pt x="147" y="17"/>
                </a:lnTo>
                <a:lnTo>
                  <a:pt x="164" y="16"/>
                </a:lnTo>
                <a:lnTo>
                  <a:pt x="180" y="14"/>
                </a:lnTo>
                <a:lnTo>
                  <a:pt x="196" y="13"/>
                </a:lnTo>
                <a:lnTo>
                  <a:pt x="213" y="11"/>
                </a:lnTo>
                <a:lnTo>
                  <a:pt x="229" y="10"/>
                </a:lnTo>
                <a:lnTo>
                  <a:pt x="246" y="8"/>
                </a:lnTo>
                <a:lnTo>
                  <a:pt x="262" y="7"/>
                </a:lnTo>
                <a:lnTo>
                  <a:pt x="278" y="5"/>
                </a:lnTo>
                <a:lnTo>
                  <a:pt x="295" y="4"/>
                </a:lnTo>
                <a:lnTo>
                  <a:pt x="311" y="3"/>
                </a:lnTo>
                <a:lnTo>
                  <a:pt x="327" y="2"/>
                </a:lnTo>
                <a:lnTo>
                  <a:pt x="344" y="1"/>
                </a:lnTo>
                <a:lnTo>
                  <a:pt x="360" y="0"/>
                </a:lnTo>
                <a:lnTo>
                  <a:pt x="377" y="0"/>
                </a:lnTo>
                <a:lnTo>
                  <a:pt x="393" y="0"/>
                </a:lnTo>
                <a:lnTo>
                  <a:pt x="393" y="42"/>
                </a:lnTo>
                <a:lnTo>
                  <a:pt x="377" y="42"/>
                </a:lnTo>
                <a:lnTo>
                  <a:pt x="360" y="43"/>
                </a:lnTo>
                <a:lnTo>
                  <a:pt x="344" y="43"/>
                </a:lnTo>
                <a:lnTo>
                  <a:pt x="327" y="44"/>
                </a:lnTo>
                <a:lnTo>
                  <a:pt x="311" y="45"/>
                </a:lnTo>
                <a:lnTo>
                  <a:pt x="295" y="46"/>
                </a:lnTo>
                <a:lnTo>
                  <a:pt x="278" y="47"/>
                </a:lnTo>
                <a:lnTo>
                  <a:pt x="262" y="49"/>
                </a:lnTo>
                <a:lnTo>
                  <a:pt x="246" y="50"/>
                </a:lnTo>
                <a:lnTo>
                  <a:pt x="229" y="52"/>
                </a:lnTo>
                <a:lnTo>
                  <a:pt x="213" y="53"/>
                </a:lnTo>
                <a:lnTo>
                  <a:pt x="196" y="55"/>
                </a:lnTo>
                <a:lnTo>
                  <a:pt x="180" y="56"/>
                </a:lnTo>
                <a:lnTo>
                  <a:pt x="164" y="58"/>
                </a:lnTo>
                <a:lnTo>
                  <a:pt x="147" y="60"/>
                </a:lnTo>
                <a:lnTo>
                  <a:pt x="131" y="61"/>
                </a:lnTo>
                <a:lnTo>
                  <a:pt x="114" y="62"/>
                </a:lnTo>
                <a:lnTo>
                  <a:pt x="98" y="64"/>
                </a:lnTo>
                <a:lnTo>
                  <a:pt x="82" y="65"/>
                </a:lnTo>
                <a:lnTo>
                  <a:pt x="65" y="66"/>
                </a:lnTo>
                <a:lnTo>
                  <a:pt x="49" y="67"/>
                </a:lnTo>
                <a:lnTo>
                  <a:pt x="33" y="67"/>
                </a:lnTo>
                <a:lnTo>
                  <a:pt x="16" y="68"/>
                </a:lnTo>
                <a:lnTo>
                  <a:pt x="0" y="6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4981575"/>
            <a:ext cx="3743325" cy="781050"/>
          </a:xfrm>
          <a:custGeom>
            <a:avLst/>
            <a:gdLst/>
            <a:ahLst/>
            <a:cxnLst/>
            <a:rect l="l" t="t" r="r" b="b"/>
            <a:pathLst>
              <a:path w="393" h="82">
                <a:moveTo>
                  <a:pt x="0" y="0"/>
                </a:moveTo>
                <a:lnTo>
                  <a:pt x="16" y="0"/>
                </a:lnTo>
                <a:lnTo>
                  <a:pt x="33" y="1"/>
                </a:lnTo>
                <a:lnTo>
                  <a:pt x="49" y="3"/>
                </a:lnTo>
                <a:lnTo>
                  <a:pt x="65" y="5"/>
                </a:lnTo>
                <a:lnTo>
                  <a:pt x="82" y="8"/>
                </a:lnTo>
                <a:lnTo>
                  <a:pt x="98" y="11"/>
                </a:lnTo>
                <a:lnTo>
                  <a:pt x="114" y="14"/>
                </a:lnTo>
                <a:lnTo>
                  <a:pt x="131" y="18"/>
                </a:lnTo>
                <a:lnTo>
                  <a:pt x="147" y="22"/>
                </a:lnTo>
                <a:lnTo>
                  <a:pt x="164" y="27"/>
                </a:lnTo>
                <a:lnTo>
                  <a:pt x="180" y="31"/>
                </a:lnTo>
                <a:lnTo>
                  <a:pt x="196" y="36"/>
                </a:lnTo>
                <a:lnTo>
                  <a:pt x="213" y="40"/>
                </a:lnTo>
                <a:lnTo>
                  <a:pt x="229" y="45"/>
                </a:lnTo>
                <a:lnTo>
                  <a:pt x="246" y="49"/>
                </a:lnTo>
                <a:lnTo>
                  <a:pt x="262" y="53"/>
                </a:lnTo>
                <a:lnTo>
                  <a:pt x="278" y="57"/>
                </a:lnTo>
                <a:lnTo>
                  <a:pt x="295" y="60"/>
                </a:lnTo>
                <a:lnTo>
                  <a:pt x="311" y="64"/>
                </a:lnTo>
                <a:lnTo>
                  <a:pt x="327" y="66"/>
                </a:lnTo>
                <a:lnTo>
                  <a:pt x="344" y="69"/>
                </a:lnTo>
                <a:lnTo>
                  <a:pt x="360" y="70"/>
                </a:lnTo>
                <a:lnTo>
                  <a:pt x="377" y="71"/>
                </a:lnTo>
                <a:lnTo>
                  <a:pt x="393" y="72"/>
                </a:lnTo>
                <a:lnTo>
                  <a:pt x="393" y="82"/>
                </a:lnTo>
                <a:lnTo>
                  <a:pt x="377" y="81"/>
                </a:lnTo>
                <a:lnTo>
                  <a:pt x="360" y="80"/>
                </a:lnTo>
                <a:lnTo>
                  <a:pt x="344" y="79"/>
                </a:lnTo>
                <a:lnTo>
                  <a:pt x="327" y="76"/>
                </a:lnTo>
                <a:lnTo>
                  <a:pt x="311" y="74"/>
                </a:lnTo>
                <a:lnTo>
                  <a:pt x="295" y="70"/>
                </a:lnTo>
                <a:lnTo>
                  <a:pt x="278" y="67"/>
                </a:lnTo>
                <a:lnTo>
                  <a:pt x="262" y="63"/>
                </a:lnTo>
                <a:lnTo>
                  <a:pt x="246" y="59"/>
                </a:lnTo>
                <a:lnTo>
                  <a:pt x="229" y="55"/>
                </a:lnTo>
                <a:lnTo>
                  <a:pt x="213" y="50"/>
                </a:lnTo>
                <a:lnTo>
                  <a:pt x="196" y="46"/>
                </a:lnTo>
                <a:lnTo>
                  <a:pt x="180" y="41"/>
                </a:lnTo>
                <a:lnTo>
                  <a:pt x="164" y="37"/>
                </a:lnTo>
                <a:lnTo>
                  <a:pt x="147" y="33"/>
                </a:lnTo>
                <a:lnTo>
                  <a:pt x="131" y="28"/>
                </a:lnTo>
                <a:lnTo>
                  <a:pt x="114" y="25"/>
                </a:lnTo>
                <a:lnTo>
                  <a:pt x="98" y="21"/>
                </a:lnTo>
                <a:lnTo>
                  <a:pt x="82" y="18"/>
                </a:lnTo>
                <a:lnTo>
                  <a:pt x="65" y="15"/>
                </a:lnTo>
                <a:lnTo>
                  <a:pt x="49" y="13"/>
                </a:lnTo>
                <a:lnTo>
                  <a:pt x="33" y="11"/>
                </a:lnTo>
                <a:lnTo>
                  <a:pt x="16" y="10"/>
                </a:lnTo>
                <a:lnTo>
                  <a:pt x="0" y="1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076825"/>
            <a:ext cx="3743325" cy="1038225"/>
          </a:xfrm>
          <a:custGeom>
            <a:avLst/>
            <a:gdLst/>
            <a:ahLst/>
            <a:cxnLst/>
            <a:rect l="l" t="t" r="r" b="b"/>
            <a:pathLst>
              <a:path w="393" h="109">
                <a:moveTo>
                  <a:pt x="0" y="0"/>
                </a:moveTo>
                <a:lnTo>
                  <a:pt x="16" y="0"/>
                </a:lnTo>
                <a:lnTo>
                  <a:pt x="33" y="2"/>
                </a:lnTo>
                <a:lnTo>
                  <a:pt x="49" y="4"/>
                </a:lnTo>
                <a:lnTo>
                  <a:pt x="65" y="7"/>
                </a:lnTo>
                <a:lnTo>
                  <a:pt x="82" y="11"/>
                </a:lnTo>
                <a:lnTo>
                  <a:pt x="98" y="16"/>
                </a:lnTo>
                <a:lnTo>
                  <a:pt x="114" y="20"/>
                </a:lnTo>
                <a:lnTo>
                  <a:pt x="131" y="26"/>
                </a:lnTo>
                <a:lnTo>
                  <a:pt x="147" y="32"/>
                </a:lnTo>
                <a:lnTo>
                  <a:pt x="164" y="38"/>
                </a:lnTo>
                <a:lnTo>
                  <a:pt x="180" y="44"/>
                </a:lnTo>
                <a:lnTo>
                  <a:pt x="196" y="50"/>
                </a:lnTo>
                <a:lnTo>
                  <a:pt x="213" y="56"/>
                </a:lnTo>
                <a:lnTo>
                  <a:pt x="229" y="63"/>
                </a:lnTo>
                <a:lnTo>
                  <a:pt x="246" y="69"/>
                </a:lnTo>
                <a:lnTo>
                  <a:pt x="262" y="75"/>
                </a:lnTo>
                <a:lnTo>
                  <a:pt x="278" y="80"/>
                </a:lnTo>
                <a:lnTo>
                  <a:pt x="295" y="85"/>
                </a:lnTo>
                <a:lnTo>
                  <a:pt x="311" y="89"/>
                </a:lnTo>
                <a:lnTo>
                  <a:pt x="327" y="93"/>
                </a:lnTo>
                <a:lnTo>
                  <a:pt x="344" y="96"/>
                </a:lnTo>
                <a:lnTo>
                  <a:pt x="360" y="99"/>
                </a:lnTo>
                <a:lnTo>
                  <a:pt x="377" y="100"/>
                </a:lnTo>
                <a:lnTo>
                  <a:pt x="393" y="101"/>
                </a:lnTo>
                <a:lnTo>
                  <a:pt x="393" y="109"/>
                </a:lnTo>
                <a:lnTo>
                  <a:pt x="377" y="108"/>
                </a:lnTo>
                <a:lnTo>
                  <a:pt x="360" y="107"/>
                </a:lnTo>
                <a:lnTo>
                  <a:pt x="344" y="105"/>
                </a:lnTo>
                <a:lnTo>
                  <a:pt x="327" y="102"/>
                </a:lnTo>
                <a:lnTo>
                  <a:pt x="311" y="98"/>
                </a:lnTo>
                <a:lnTo>
                  <a:pt x="295" y="93"/>
                </a:lnTo>
                <a:lnTo>
                  <a:pt x="278" y="88"/>
                </a:lnTo>
                <a:lnTo>
                  <a:pt x="262" y="83"/>
                </a:lnTo>
                <a:lnTo>
                  <a:pt x="246" y="77"/>
                </a:lnTo>
                <a:lnTo>
                  <a:pt x="229" y="71"/>
                </a:lnTo>
                <a:lnTo>
                  <a:pt x="213" y="65"/>
                </a:lnTo>
                <a:lnTo>
                  <a:pt x="196" y="59"/>
                </a:lnTo>
                <a:lnTo>
                  <a:pt x="180" y="52"/>
                </a:lnTo>
                <a:lnTo>
                  <a:pt x="164" y="46"/>
                </a:lnTo>
                <a:lnTo>
                  <a:pt x="147" y="40"/>
                </a:lnTo>
                <a:lnTo>
                  <a:pt x="131" y="34"/>
                </a:lnTo>
                <a:lnTo>
                  <a:pt x="114" y="29"/>
                </a:lnTo>
                <a:lnTo>
                  <a:pt x="98" y="24"/>
                </a:lnTo>
                <a:lnTo>
                  <a:pt x="82" y="19"/>
                </a:lnTo>
                <a:lnTo>
                  <a:pt x="65" y="16"/>
                </a:lnTo>
                <a:lnTo>
                  <a:pt x="49" y="12"/>
                </a:lnTo>
                <a:lnTo>
                  <a:pt x="33" y="10"/>
                </a:lnTo>
                <a:lnTo>
                  <a:pt x="16" y="9"/>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153025"/>
            <a:ext cx="3743325" cy="1257300"/>
          </a:xfrm>
          <a:custGeom>
            <a:avLst/>
            <a:gdLst/>
            <a:ahLst/>
            <a:cxnLst/>
            <a:rect l="l" t="t" r="r" b="b"/>
            <a:pathLst>
              <a:path w="393" h="132">
                <a:moveTo>
                  <a:pt x="0" y="0"/>
                </a:moveTo>
                <a:lnTo>
                  <a:pt x="16" y="1"/>
                </a:lnTo>
                <a:lnTo>
                  <a:pt x="33" y="3"/>
                </a:lnTo>
                <a:lnTo>
                  <a:pt x="49" y="5"/>
                </a:lnTo>
                <a:lnTo>
                  <a:pt x="65" y="9"/>
                </a:lnTo>
                <a:lnTo>
                  <a:pt x="82" y="14"/>
                </a:lnTo>
                <a:lnTo>
                  <a:pt x="98" y="20"/>
                </a:lnTo>
                <a:lnTo>
                  <a:pt x="114" y="26"/>
                </a:lnTo>
                <a:lnTo>
                  <a:pt x="131" y="33"/>
                </a:lnTo>
                <a:lnTo>
                  <a:pt x="147" y="40"/>
                </a:lnTo>
                <a:lnTo>
                  <a:pt x="164" y="47"/>
                </a:lnTo>
                <a:lnTo>
                  <a:pt x="180" y="55"/>
                </a:lnTo>
                <a:lnTo>
                  <a:pt x="196" y="63"/>
                </a:lnTo>
                <a:lnTo>
                  <a:pt x="213" y="71"/>
                </a:lnTo>
                <a:lnTo>
                  <a:pt x="229" y="79"/>
                </a:lnTo>
                <a:lnTo>
                  <a:pt x="246" y="86"/>
                </a:lnTo>
                <a:lnTo>
                  <a:pt x="262" y="93"/>
                </a:lnTo>
                <a:lnTo>
                  <a:pt x="278" y="100"/>
                </a:lnTo>
                <a:lnTo>
                  <a:pt x="295" y="106"/>
                </a:lnTo>
                <a:lnTo>
                  <a:pt x="311" y="112"/>
                </a:lnTo>
                <a:lnTo>
                  <a:pt x="327" y="117"/>
                </a:lnTo>
                <a:lnTo>
                  <a:pt x="344" y="121"/>
                </a:lnTo>
                <a:lnTo>
                  <a:pt x="360" y="124"/>
                </a:lnTo>
                <a:lnTo>
                  <a:pt x="377" y="126"/>
                </a:lnTo>
                <a:lnTo>
                  <a:pt x="393" y="126"/>
                </a:lnTo>
                <a:lnTo>
                  <a:pt x="393" y="132"/>
                </a:lnTo>
                <a:lnTo>
                  <a:pt x="377" y="131"/>
                </a:lnTo>
                <a:lnTo>
                  <a:pt x="360" y="130"/>
                </a:lnTo>
                <a:lnTo>
                  <a:pt x="344" y="127"/>
                </a:lnTo>
                <a:lnTo>
                  <a:pt x="327" y="123"/>
                </a:lnTo>
                <a:lnTo>
                  <a:pt x="311" y="118"/>
                </a:lnTo>
                <a:lnTo>
                  <a:pt x="295" y="112"/>
                </a:lnTo>
                <a:lnTo>
                  <a:pt x="278" y="106"/>
                </a:lnTo>
                <a:lnTo>
                  <a:pt x="262" y="99"/>
                </a:lnTo>
                <a:lnTo>
                  <a:pt x="246" y="92"/>
                </a:lnTo>
                <a:lnTo>
                  <a:pt x="229" y="85"/>
                </a:lnTo>
                <a:lnTo>
                  <a:pt x="213" y="77"/>
                </a:lnTo>
                <a:lnTo>
                  <a:pt x="196" y="69"/>
                </a:lnTo>
                <a:lnTo>
                  <a:pt x="180" y="61"/>
                </a:lnTo>
                <a:lnTo>
                  <a:pt x="164" y="53"/>
                </a:lnTo>
                <a:lnTo>
                  <a:pt x="147" y="46"/>
                </a:lnTo>
                <a:lnTo>
                  <a:pt x="131" y="39"/>
                </a:lnTo>
                <a:lnTo>
                  <a:pt x="114" y="32"/>
                </a:lnTo>
                <a:lnTo>
                  <a:pt x="98" y="26"/>
                </a:lnTo>
                <a:lnTo>
                  <a:pt x="82" y="20"/>
                </a:lnTo>
                <a:lnTo>
                  <a:pt x="65" y="15"/>
                </a:lnTo>
                <a:lnTo>
                  <a:pt x="49" y="11"/>
                </a:lnTo>
                <a:lnTo>
                  <a:pt x="33" y="8"/>
                </a:lnTo>
                <a:lnTo>
                  <a:pt x="16" y="7"/>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733925"/>
            <a:ext cx="3743325" cy="914400"/>
          </a:xfrm>
          <a:custGeom>
            <a:avLst/>
            <a:gdLst/>
            <a:ahLst/>
            <a:cxnLst/>
            <a:rect l="l" t="t" r="r" b="b"/>
            <a:pathLst>
              <a:path w="393" h="96">
                <a:moveTo>
                  <a:pt x="0" y="56"/>
                </a:moveTo>
                <a:lnTo>
                  <a:pt x="16" y="56"/>
                </a:lnTo>
                <a:lnTo>
                  <a:pt x="33" y="55"/>
                </a:lnTo>
                <a:lnTo>
                  <a:pt x="49" y="54"/>
                </a:lnTo>
                <a:lnTo>
                  <a:pt x="65" y="52"/>
                </a:lnTo>
                <a:lnTo>
                  <a:pt x="82" y="50"/>
                </a:lnTo>
                <a:lnTo>
                  <a:pt x="98" y="47"/>
                </a:lnTo>
                <a:lnTo>
                  <a:pt x="114" y="44"/>
                </a:lnTo>
                <a:lnTo>
                  <a:pt x="131" y="41"/>
                </a:lnTo>
                <a:lnTo>
                  <a:pt x="147" y="38"/>
                </a:lnTo>
                <a:lnTo>
                  <a:pt x="164" y="35"/>
                </a:lnTo>
                <a:lnTo>
                  <a:pt x="180" y="31"/>
                </a:lnTo>
                <a:lnTo>
                  <a:pt x="196" y="28"/>
                </a:lnTo>
                <a:lnTo>
                  <a:pt x="213" y="25"/>
                </a:lnTo>
                <a:lnTo>
                  <a:pt x="229" y="21"/>
                </a:lnTo>
                <a:lnTo>
                  <a:pt x="246" y="18"/>
                </a:lnTo>
                <a:lnTo>
                  <a:pt x="262" y="15"/>
                </a:lnTo>
                <a:lnTo>
                  <a:pt x="278" y="12"/>
                </a:lnTo>
                <a:lnTo>
                  <a:pt x="295" y="9"/>
                </a:lnTo>
                <a:lnTo>
                  <a:pt x="311" y="6"/>
                </a:lnTo>
                <a:lnTo>
                  <a:pt x="327" y="4"/>
                </a:lnTo>
                <a:lnTo>
                  <a:pt x="344" y="2"/>
                </a:lnTo>
                <a:lnTo>
                  <a:pt x="360" y="1"/>
                </a:lnTo>
                <a:lnTo>
                  <a:pt x="377" y="0"/>
                </a:lnTo>
                <a:lnTo>
                  <a:pt x="393" y="0"/>
                </a:lnTo>
                <a:lnTo>
                  <a:pt x="393" y="40"/>
                </a:lnTo>
                <a:lnTo>
                  <a:pt x="377" y="40"/>
                </a:lnTo>
                <a:lnTo>
                  <a:pt x="360" y="41"/>
                </a:lnTo>
                <a:lnTo>
                  <a:pt x="344" y="43"/>
                </a:lnTo>
                <a:lnTo>
                  <a:pt x="327" y="44"/>
                </a:lnTo>
                <a:lnTo>
                  <a:pt x="311" y="46"/>
                </a:lnTo>
                <a:lnTo>
                  <a:pt x="295" y="49"/>
                </a:lnTo>
                <a:lnTo>
                  <a:pt x="278" y="52"/>
                </a:lnTo>
                <a:lnTo>
                  <a:pt x="262" y="55"/>
                </a:lnTo>
                <a:lnTo>
                  <a:pt x="246" y="58"/>
                </a:lnTo>
                <a:lnTo>
                  <a:pt x="229" y="61"/>
                </a:lnTo>
                <a:lnTo>
                  <a:pt x="213" y="65"/>
                </a:lnTo>
                <a:lnTo>
                  <a:pt x="196" y="68"/>
                </a:lnTo>
                <a:lnTo>
                  <a:pt x="180" y="72"/>
                </a:lnTo>
                <a:lnTo>
                  <a:pt x="164" y="75"/>
                </a:lnTo>
                <a:lnTo>
                  <a:pt x="147" y="78"/>
                </a:lnTo>
                <a:lnTo>
                  <a:pt x="131" y="82"/>
                </a:lnTo>
                <a:lnTo>
                  <a:pt x="114" y="85"/>
                </a:lnTo>
                <a:lnTo>
                  <a:pt x="98" y="87"/>
                </a:lnTo>
                <a:lnTo>
                  <a:pt x="82" y="90"/>
                </a:lnTo>
                <a:lnTo>
                  <a:pt x="65" y="92"/>
                </a:lnTo>
                <a:lnTo>
                  <a:pt x="49" y="94"/>
                </a:lnTo>
                <a:lnTo>
                  <a:pt x="33" y="95"/>
                </a:lnTo>
                <a:lnTo>
                  <a:pt x="16" y="96"/>
                </a:lnTo>
                <a:lnTo>
                  <a:pt x="0" y="9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648325"/>
            <a:ext cx="3743325" cy="180975"/>
          </a:xfrm>
          <a:custGeom>
            <a:avLst/>
            <a:gdLst/>
            <a:ahLst/>
            <a:cxnLst/>
            <a:rect l="l" t="t" r="r" b="b"/>
            <a:pathLst>
              <a:path w="393" h="19">
                <a:moveTo>
                  <a:pt x="0" y="0"/>
                </a:moveTo>
                <a:lnTo>
                  <a:pt x="16" y="0"/>
                </a:lnTo>
                <a:lnTo>
                  <a:pt x="33" y="0"/>
                </a:lnTo>
                <a:lnTo>
                  <a:pt x="49" y="1"/>
                </a:lnTo>
                <a:lnTo>
                  <a:pt x="65" y="1"/>
                </a:lnTo>
                <a:lnTo>
                  <a:pt x="82" y="1"/>
                </a:lnTo>
                <a:lnTo>
                  <a:pt x="98" y="2"/>
                </a:lnTo>
                <a:lnTo>
                  <a:pt x="114" y="2"/>
                </a:lnTo>
                <a:lnTo>
                  <a:pt x="131" y="3"/>
                </a:lnTo>
                <a:lnTo>
                  <a:pt x="147" y="4"/>
                </a:lnTo>
                <a:lnTo>
                  <a:pt x="164" y="4"/>
                </a:lnTo>
                <a:lnTo>
                  <a:pt x="180" y="5"/>
                </a:lnTo>
                <a:lnTo>
                  <a:pt x="196" y="6"/>
                </a:lnTo>
                <a:lnTo>
                  <a:pt x="213" y="7"/>
                </a:lnTo>
                <a:lnTo>
                  <a:pt x="229" y="7"/>
                </a:lnTo>
                <a:lnTo>
                  <a:pt x="246" y="8"/>
                </a:lnTo>
                <a:lnTo>
                  <a:pt x="262" y="9"/>
                </a:lnTo>
                <a:lnTo>
                  <a:pt x="278" y="9"/>
                </a:lnTo>
                <a:lnTo>
                  <a:pt x="295" y="10"/>
                </a:lnTo>
                <a:lnTo>
                  <a:pt x="311" y="10"/>
                </a:lnTo>
                <a:lnTo>
                  <a:pt x="327" y="11"/>
                </a:lnTo>
                <a:lnTo>
                  <a:pt x="344" y="11"/>
                </a:lnTo>
                <a:lnTo>
                  <a:pt x="360" y="12"/>
                </a:lnTo>
                <a:lnTo>
                  <a:pt x="377" y="12"/>
                </a:lnTo>
                <a:lnTo>
                  <a:pt x="393" y="12"/>
                </a:lnTo>
                <a:lnTo>
                  <a:pt x="393" y="19"/>
                </a:lnTo>
                <a:lnTo>
                  <a:pt x="377" y="19"/>
                </a:lnTo>
                <a:lnTo>
                  <a:pt x="360" y="18"/>
                </a:lnTo>
                <a:lnTo>
                  <a:pt x="344" y="18"/>
                </a:lnTo>
                <a:lnTo>
                  <a:pt x="327" y="18"/>
                </a:lnTo>
                <a:lnTo>
                  <a:pt x="311" y="17"/>
                </a:lnTo>
                <a:lnTo>
                  <a:pt x="295" y="17"/>
                </a:lnTo>
                <a:lnTo>
                  <a:pt x="278" y="16"/>
                </a:lnTo>
                <a:lnTo>
                  <a:pt x="262" y="16"/>
                </a:lnTo>
                <a:lnTo>
                  <a:pt x="246" y="15"/>
                </a:lnTo>
                <a:lnTo>
                  <a:pt x="229" y="14"/>
                </a:lnTo>
                <a:lnTo>
                  <a:pt x="213" y="14"/>
                </a:lnTo>
                <a:lnTo>
                  <a:pt x="196" y="13"/>
                </a:lnTo>
                <a:lnTo>
                  <a:pt x="180" y="12"/>
                </a:lnTo>
                <a:lnTo>
                  <a:pt x="164" y="11"/>
                </a:lnTo>
                <a:lnTo>
                  <a:pt x="147" y="11"/>
                </a:lnTo>
                <a:lnTo>
                  <a:pt x="131" y="10"/>
                </a:lnTo>
                <a:lnTo>
                  <a:pt x="114" y="9"/>
                </a:lnTo>
                <a:lnTo>
                  <a:pt x="98" y="9"/>
                </a:lnTo>
                <a:lnTo>
                  <a:pt x="82" y="8"/>
                </a:lnTo>
                <a:lnTo>
                  <a:pt x="65" y="8"/>
                </a:lnTo>
                <a:lnTo>
                  <a:pt x="49" y="8"/>
                </a:lnTo>
                <a:lnTo>
                  <a:pt x="33" y="7"/>
                </a:lnTo>
                <a:lnTo>
                  <a:pt x="16" y="7"/>
                </a:lnTo>
                <a:lnTo>
                  <a:pt x="0" y="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715000"/>
            <a:ext cx="3743325" cy="466725"/>
          </a:xfrm>
          <a:custGeom>
            <a:avLst/>
            <a:gdLst/>
            <a:ahLst/>
            <a:cxnLst/>
            <a:rect l="l" t="t" r="r" b="b"/>
            <a:pathLst>
              <a:path w="393" h="49">
                <a:moveTo>
                  <a:pt x="0" y="0"/>
                </a:moveTo>
                <a:lnTo>
                  <a:pt x="16" y="0"/>
                </a:lnTo>
                <a:lnTo>
                  <a:pt x="33" y="1"/>
                </a:lnTo>
                <a:lnTo>
                  <a:pt x="49" y="2"/>
                </a:lnTo>
                <a:lnTo>
                  <a:pt x="65" y="3"/>
                </a:lnTo>
                <a:lnTo>
                  <a:pt x="82" y="5"/>
                </a:lnTo>
                <a:lnTo>
                  <a:pt x="98" y="7"/>
                </a:lnTo>
                <a:lnTo>
                  <a:pt x="114" y="9"/>
                </a:lnTo>
                <a:lnTo>
                  <a:pt x="131" y="11"/>
                </a:lnTo>
                <a:lnTo>
                  <a:pt x="147" y="13"/>
                </a:lnTo>
                <a:lnTo>
                  <a:pt x="164" y="16"/>
                </a:lnTo>
                <a:lnTo>
                  <a:pt x="180" y="18"/>
                </a:lnTo>
                <a:lnTo>
                  <a:pt x="196" y="21"/>
                </a:lnTo>
                <a:lnTo>
                  <a:pt x="213" y="24"/>
                </a:lnTo>
                <a:lnTo>
                  <a:pt x="229" y="26"/>
                </a:lnTo>
                <a:lnTo>
                  <a:pt x="246" y="29"/>
                </a:lnTo>
                <a:lnTo>
                  <a:pt x="262" y="31"/>
                </a:lnTo>
                <a:lnTo>
                  <a:pt x="278" y="33"/>
                </a:lnTo>
                <a:lnTo>
                  <a:pt x="295" y="35"/>
                </a:lnTo>
                <a:lnTo>
                  <a:pt x="311" y="37"/>
                </a:lnTo>
                <a:lnTo>
                  <a:pt x="327" y="39"/>
                </a:lnTo>
                <a:lnTo>
                  <a:pt x="344" y="40"/>
                </a:lnTo>
                <a:lnTo>
                  <a:pt x="360" y="41"/>
                </a:lnTo>
                <a:lnTo>
                  <a:pt x="377" y="42"/>
                </a:lnTo>
                <a:lnTo>
                  <a:pt x="393" y="42"/>
                </a:lnTo>
                <a:lnTo>
                  <a:pt x="393" y="49"/>
                </a:lnTo>
                <a:lnTo>
                  <a:pt x="377" y="49"/>
                </a:lnTo>
                <a:lnTo>
                  <a:pt x="360" y="48"/>
                </a:lnTo>
                <a:lnTo>
                  <a:pt x="344" y="47"/>
                </a:lnTo>
                <a:lnTo>
                  <a:pt x="327" y="46"/>
                </a:lnTo>
                <a:lnTo>
                  <a:pt x="311" y="44"/>
                </a:lnTo>
                <a:lnTo>
                  <a:pt x="295" y="42"/>
                </a:lnTo>
                <a:lnTo>
                  <a:pt x="278" y="40"/>
                </a:lnTo>
                <a:lnTo>
                  <a:pt x="262" y="38"/>
                </a:lnTo>
                <a:lnTo>
                  <a:pt x="246" y="35"/>
                </a:lnTo>
                <a:lnTo>
                  <a:pt x="229" y="33"/>
                </a:lnTo>
                <a:lnTo>
                  <a:pt x="213" y="30"/>
                </a:lnTo>
                <a:lnTo>
                  <a:pt x="196" y="28"/>
                </a:lnTo>
                <a:lnTo>
                  <a:pt x="180" y="25"/>
                </a:lnTo>
                <a:lnTo>
                  <a:pt x="164" y="23"/>
                </a:lnTo>
                <a:lnTo>
                  <a:pt x="147" y="20"/>
                </a:lnTo>
                <a:lnTo>
                  <a:pt x="131" y="18"/>
                </a:lnTo>
                <a:lnTo>
                  <a:pt x="114" y="15"/>
                </a:lnTo>
                <a:lnTo>
                  <a:pt x="98" y="13"/>
                </a:lnTo>
                <a:lnTo>
                  <a:pt x="82" y="12"/>
                </a:lnTo>
                <a:lnTo>
                  <a:pt x="65" y="10"/>
                </a:lnTo>
                <a:lnTo>
                  <a:pt x="49" y="9"/>
                </a:lnTo>
                <a:lnTo>
                  <a:pt x="33" y="8"/>
                </a:lnTo>
                <a:lnTo>
                  <a:pt x="16" y="7"/>
                </a:lnTo>
                <a:lnTo>
                  <a:pt x="0" y="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781675"/>
            <a:ext cx="3743325" cy="676275"/>
          </a:xfrm>
          <a:custGeom>
            <a:avLst/>
            <a:gdLst/>
            <a:ahLst/>
            <a:cxnLst/>
            <a:rect l="l" t="t" r="r" b="b"/>
            <a:pathLst>
              <a:path w="393" h="71">
                <a:moveTo>
                  <a:pt x="0" y="0"/>
                </a:moveTo>
                <a:lnTo>
                  <a:pt x="16" y="0"/>
                </a:lnTo>
                <a:lnTo>
                  <a:pt x="33" y="1"/>
                </a:lnTo>
                <a:lnTo>
                  <a:pt x="49" y="3"/>
                </a:lnTo>
                <a:lnTo>
                  <a:pt x="65" y="5"/>
                </a:lnTo>
                <a:lnTo>
                  <a:pt x="82" y="7"/>
                </a:lnTo>
                <a:lnTo>
                  <a:pt x="98" y="10"/>
                </a:lnTo>
                <a:lnTo>
                  <a:pt x="114" y="13"/>
                </a:lnTo>
                <a:lnTo>
                  <a:pt x="131" y="17"/>
                </a:lnTo>
                <a:lnTo>
                  <a:pt x="147" y="21"/>
                </a:lnTo>
                <a:lnTo>
                  <a:pt x="164" y="25"/>
                </a:lnTo>
                <a:lnTo>
                  <a:pt x="180" y="29"/>
                </a:lnTo>
                <a:lnTo>
                  <a:pt x="196" y="33"/>
                </a:lnTo>
                <a:lnTo>
                  <a:pt x="213" y="37"/>
                </a:lnTo>
                <a:lnTo>
                  <a:pt x="229" y="41"/>
                </a:lnTo>
                <a:lnTo>
                  <a:pt x="246" y="45"/>
                </a:lnTo>
                <a:lnTo>
                  <a:pt x="262" y="49"/>
                </a:lnTo>
                <a:lnTo>
                  <a:pt x="278" y="52"/>
                </a:lnTo>
                <a:lnTo>
                  <a:pt x="295" y="56"/>
                </a:lnTo>
                <a:lnTo>
                  <a:pt x="311" y="59"/>
                </a:lnTo>
                <a:lnTo>
                  <a:pt x="327" y="61"/>
                </a:lnTo>
                <a:lnTo>
                  <a:pt x="344" y="63"/>
                </a:lnTo>
                <a:lnTo>
                  <a:pt x="360" y="65"/>
                </a:lnTo>
                <a:lnTo>
                  <a:pt x="377" y="66"/>
                </a:lnTo>
                <a:lnTo>
                  <a:pt x="393" y="66"/>
                </a:lnTo>
                <a:lnTo>
                  <a:pt x="393" y="71"/>
                </a:lnTo>
                <a:lnTo>
                  <a:pt x="377" y="71"/>
                </a:lnTo>
                <a:lnTo>
                  <a:pt x="360" y="70"/>
                </a:lnTo>
                <a:lnTo>
                  <a:pt x="344" y="68"/>
                </a:lnTo>
                <a:lnTo>
                  <a:pt x="327" y="66"/>
                </a:lnTo>
                <a:lnTo>
                  <a:pt x="311" y="64"/>
                </a:lnTo>
                <a:lnTo>
                  <a:pt x="295" y="61"/>
                </a:lnTo>
                <a:lnTo>
                  <a:pt x="278" y="58"/>
                </a:lnTo>
                <a:lnTo>
                  <a:pt x="262" y="54"/>
                </a:lnTo>
                <a:lnTo>
                  <a:pt x="246" y="50"/>
                </a:lnTo>
                <a:lnTo>
                  <a:pt x="229" y="46"/>
                </a:lnTo>
                <a:lnTo>
                  <a:pt x="213" y="42"/>
                </a:lnTo>
                <a:lnTo>
                  <a:pt x="196" y="38"/>
                </a:lnTo>
                <a:lnTo>
                  <a:pt x="180" y="34"/>
                </a:lnTo>
                <a:lnTo>
                  <a:pt x="164" y="30"/>
                </a:lnTo>
                <a:lnTo>
                  <a:pt x="147" y="26"/>
                </a:lnTo>
                <a:lnTo>
                  <a:pt x="131" y="22"/>
                </a:lnTo>
                <a:lnTo>
                  <a:pt x="114" y="19"/>
                </a:lnTo>
                <a:lnTo>
                  <a:pt x="98" y="15"/>
                </a:lnTo>
                <a:lnTo>
                  <a:pt x="82" y="12"/>
                </a:lnTo>
                <a:lnTo>
                  <a:pt x="65" y="10"/>
                </a:lnTo>
                <a:lnTo>
                  <a:pt x="49" y="8"/>
                </a:lnTo>
                <a:lnTo>
                  <a:pt x="33" y="6"/>
                </a:lnTo>
                <a:lnTo>
                  <a:pt x="16" y="5"/>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5114925"/>
            <a:ext cx="3743325" cy="1085850"/>
          </a:xfrm>
          <a:custGeom>
            <a:avLst/>
            <a:gdLst/>
            <a:ahLst/>
            <a:cxnLst/>
            <a:rect l="l" t="t" r="r" b="b"/>
            <a:pathLst>
              <a:path w="393" h="114">
                <a:moveTo>
                  <a:pt x="0" y="81"/>
                </a:moveTo>
                <a:lnTo>
                  <a:pt x="16" y="80"/>
                </a:lnTo>
                <a:lnTo>
                  <a:pt x="33" y="79"/>
                </a:lnTo>
                <a:lnTo>
                  <a:pt x="49" y="77"/>
                </a:lnTo>
                <a:lnTo>
                  <a:pt x="65" y="75"/>
                </a:lnTo>
                <a:lnTo>
                  <a:pt x="82" y="72"/>
                </a:lnTo>
                <a:lnTo>
                  <a:pt x="98" y="68"/>
                </a:lnTo>
                <a:lnTo>
                  <a:pt x="114" y="64"/>
                </a:lnTo>
                <a:lnTo>
                  <a:pt x="131" y="60"/>
                </a:lnTo>
                <a:lnTo>
                  <a:pt x="147" y="55"/>
                </a:lnTo>
                <a:lnTo>
                  <a:pt x="164" y="51"/>
                </a:lnTo>
                <a:lnTo>
                  <a:pt x="180" y="46"/>
                </a:lnTo>
                <a:lnTo>
                  <a:pt x="196" y="41"/>
                </a:lnTo>
                <a:lnTo>
                  <a:pt x="213" y="35"/>
                </a:lnTo>
                <a:lnTo>
                  <a:pt x="229" y="31"/>
                </a:lnTo>
                <a:lnTo>
                  <a:pt x="246" y="26"/>
                </a:lnTo>
                <a:lnTo>
                  <a:pt x="262" y="21"/>
                </a:lnTo>
                <a:lnTo>
                  <a:pt x="278" y="17"/>
                </a:lnTo>
                <a:lnTo>
                  <a:pt x="295" y="13"/>
                </a:lnTo>
                <a:lnTo>
                  <a:pt x="311" y="9"/>
                </a:lnTo>
                <a:lnTo>
                  <a:pt x="327" y="6"/>
                </a:lnTo>
                <a:lnTo>
                  <a:pt x="344" y="4"/>
                </a:lnTo>
                <a:lnTo>
                  <a:pt x="360" y="2"/>
                </a:lnTo>
                <a:lnTo>
                  <a:pt x="377" y="1"/>
                </a:lnTo>
                <a:lnTo>
                  <a:pt x="393" y="0"/>
                </a:lnTo>
                <a:lnTo>
                  <a:pt x="393" y="33"/>
                </a:lnTo>
                <a:lnTo>
                  <a:pt x="377" y="34"/>
                </a:lnTo>
                <a:lnTo>
                  <a:pt x="360" y="35"/>
                </a:lnTo>
                <a:lnTo>
                  <a:pt x="344" y="37"/>
                </a:lnTo>
                <a:lnTo>
                  <a:pt x="327" y="39"/>
                </a:lnTo>
                <a:lnTo>
                  <a:pt x="311" y="42"/>
                </a:lnTo>
                <a:lnTo>
                  <a:pt x="295" y="46"/>
                </a:lnTo>
                <a:lnTo>
                  <a:pt x="278" y="50"/>
                </a:lnTo>
                <a:lnTo>
                  <a:pt x="262" y="54"/>
                </a:lnTo>
                <a:lnTo>
                  <a:pt x="246" y="59"/>
                </a:lnTo>
                <a:lnTo>
                  <a:pt x="229" y="64"/>
                </a:lnTo>
                <a:lnTo>
                  <a:pt x="213" y="68"/>
                </a:lnTo>
                <a:lnTo>
                  <a:pt x="196" y="74"/>
                </a:lnTo>
                <a:lnTo>
                  <a:pt x="180" y="79"/>
                </a:lnTo>
                <a:lnTo>
                  <a:pt x="164" y="84"/>
                </a:lnTo>
                <a:lnTo>
                  <a:pt x="147" y="88"/>
                </a:lnTo>
                <a:lnTo>
                  <a:pt x="131" y="93"/>
                </a:lnTo>
                <a:lnTo>
                  <a:pt x="114" y="97"/>
                </a:lnTo>
                <a:lnTo>
                  <a:pt x="98" y="101"/>
                </a:lnTo>
                <a:lnTo>
                  <a:pt x="82" y="105"/>
                </a:lnTo>
                <a:lnTo>
                  <a:pt x="65" y="108"/>
                </a:lnTo>
                <a:lnTo>
                  <a:pt x="49" y="110"/>
                </a:lnTo>
                <a:lnTo>
                  <a:pt x="33" y="112"/>
                </a:lnTo>
                <a:lnTo>
                  <a:pt x="16" y="113"/>
                </a:lnTo>
                <a:lnTo>
                  <a:pt x="0" y="11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829300"/>
            <a:ext cx="3743325" cy="428625"/>
          </a:xfrm>
          <a:custGeom>
            <a:avLst/>
            <a:gdLst/>
            <a:ahLst/>
            <a:cxnLst/>
            <a:rect l="l" t="t" r="r" b="b"/>
            <a:pathLst>
              <a:path w="393" h="45">
                <a:moveTo>
                  <a:pt x="0" y="39"/>
                </a:moveTo>
                <a:lnTo>
                  <a:pt x="16" y="39"/>
                </a:lnTo>
                <a:lnTo>
                  <a:pt x="33" y="38"/>
                </a:lnTo>
                <a:lnTo>
                  <a:pt x="49" y="37"/>
                </a:lnTo>
                <a:lnTo>
                  <a:pt x="65" y="36"/>
                </a:lnTo>
                <a:lnTo>
                  <a:pt x="82" y="35"/>
                </a:lnTo>
                <a:lnTo>
                  <a:pt x="98" y="33"/>
                </a:lnTo>
                <a:lnTo>
                  <a:pt x="114" y="31"/>
                </a:lnTo>
                <a:lnTo>
                  <a:pt x="131" y="29"/>
                </a:lnTo>
                <a:lnTo>
                  <a:pt x="147" y="26"/>
                </a:lnTo>
                <a:lnTo>
                  <a:pt x="164" y="24"/>
                </a:lnTo>
                <a:lnTo>
                  <a:pt x="180" y="22"/>
                </a:lnTo>
                <a:lnTo>
                  <a:pt x="196" y="19"/>
                </a:lnTo>
                <a:lnTo>
                  <a:pt x="213" y="17"/>
                </a:lnTo>
                <a:lnTo>
                  <a:pt x="229" y="14"/>
                </a:lnTo>
                <a:lnTo>
                  <a:pt x="246" y="12"/>
                </a:lnTo>
                <a:lnTo>
                  <a:pt x="262" y="10"/>
                </a:lnTo>
                <a:lnTo>
                  <a:pt x="278" y="8"/>
                </a:lnTo>
                <a:lnTo>
                  <a:pt x="295" y="6"/>
                </a:lnTo>
                <a:lnTo>
                  <a:pt x="311" y="4"/>
                </a:lnTo>
                <a:lnTo>
                  <a:pt x="327" y="3"/>
                </a:lnTo>
                <a:lnTo>
                  <a:pt x="344" y="1"/>
                </a:lnTo>
                <a:lnTo>
                  <a:pt x="360" y="0"/>
                </a:lnTo>
                <a:lnTo>
                  <a:pt x="377" y="0"/>
                </a:lnTo>
                <a:lnTo>
                  <a:pt x="393" y="0"/>
                </a:lnTo>
                <a:lnTo>
                  <a:pt x="393" y="6"/>
                </a:lnTo>
                <a:lnTo>
                  <a:pt x="377" y="6"/>
                </a:lnTo>
                <a:lnTo>
                  <a:pt x="360" y="7"/>
                </a:lnTo>
                <a:lnTo>
                  <a:pt x="344" y="8"/>
                </a:lnTo>
                <a:lnTo>
                  <a:pt x="327" y="9"/>
                </a:lnTo>
                <a:lnTo>
                  <a:pt x="311" y="10"/>
                </a:lnTo>
                <a:lnTo>
                  <a:pt x="295" y="12"/>
                </a:lnTo>
                <a:lnTo>
                  <a:pt x="278" y="14"/>
                </a:lnTo>
                <a:lnTo>
                  <a:pt x="262" y="16"/>
                </a:lnTo>
                <a:lnTo>
                  <a:pt x="246" y="18"/>
                </a:lnTo>
                <a:lnTo>
                  <a:pt x="229" y="21"/>
                </a:lnTo>
                <a:lnTo>
                  <a:pt x="213" y="23"/>
                </a:lnTo>
                <a:lnTo>
                  <a:pt x="196" y="25"/>
                </a:lnTo>
                <a:lnTo>
                  <a:pt x="180" y="28"/>
                </a:lnTo>
                <a:lnTo>
                  <a:pt x="164" y="30"/>
                </a:lnTo>
                <a:lnTo>
                  <a:pt x="147" y="33"/>
                </a:lnTo>
                <a:lnTo>
                  <a:pt x="131" y="35"/>
                </a:lnTo>
                <a:lnTo>
                  <a:pt x="114" y="37"/>
                </a:lnTo>
                <a:lnTo>
                  <a:pt x="98" y="39"/>
                </a:lnTo>
                <a:lnTo>
                  <a:pt x="82" y="41"/>
                </a:lnTo>
                <a:lnTo>
                  <a:pt x="65" y="42"/>
                </a:lnTo>
                <a:lnTo>
                  <a:pt x="49" y="43"/>
                </a:lnTo>
                <a:lnTo>
                  <a:pt x="33" y="44"/>
                </a:lnTo>
                <a:lnTo>
                  <a:pt x="16" y="45"/>
                </a:lnTo>
                <a:lnTo>
                  <a:pt x="0" y="4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6181725"/>
            <a:ext cx="3743325" cy="133350"/>
          </a:xfrm>
          <a:custGeom>
            <a:avLst/>
            <a:gdLst/>
            <a:ahLst/>
            <a:cxnLst/>
            <a:rect l="l" t="t" r="r" b="b"/>
            <a:pathLst>
              <a:path w="393" h="14">
                <a:moveTo>
                  <a:pt x="0" y="8"/>
                </a:moveTo>
                <a:lnTo>
                  <a:pt x="16" y="8"/>
                </a:lnTo>
                <a:lnTo>
                  <a:pt x="33" y="8"/>
                </a:lnTo>
                <a:lnTo>
                  <a:pt x="49" y="8"/>
                </a:lnTo>
                <a:lnTo>
                  <a:pt x="65" y="7"/>
                </a:lnTo>
                <a:lnTo>
                  <a:pt x="82" y="7"/>
                </a:lnTo>
                <a:lnTo>
                  <a:pt x="98" y="7"/>
                </a:lnTo>
                <a:lnTo>
                  <a:pt x="114" y="6"/>
                </a:lnTo>
                <a:lnTo>
                  <a:pt x="131" y="6"/>
                </a:lnTo>
                <a:lnTo>
                  <a:pt x="147" y="5"/>
                </a:lnTo>
                <a:lnTo>
                  <a:pt x="164" y="5"/>
                </a:lnTo>
                <a:lnTo>
                  <a:pt x="180" y="4"/>
                </a:lnTo>
                <a:lnTo>
                  <a:pt x="196" y="4"/>
                </a:lnTo>
                <a:lnTo>
                  <a:pt x="213" y="3"/>
                </a:lnTo>
                <a:lnTo>
                  <a:pt x="229" y="3"/>
                </a:lnTo>
                <a:lnTo>
                  <a:pt x="246" y="2"/>
                </a:lnTo>
                <a:lnTo>
                  <a:pt x="262" y="2"/>
                </a:lnTo>
                <a:lnTo>
                  <a:pt x="278" y="1"/>
                </a:lnTo>
                <a:lnTo>
                  <a:pt x="295" y="1"/>
                </a:lnTo>
                <a:lnTo>
                  <a:pt x="311" y="1"/>
                </a:lnTo>
                <a:lnTo>
                  <a:pt x="327" y="0"/>
                </a:lnTo>
                <a:lnTo>
                  <a:pt x="344" y="0"/>
                </a:lnTo>
                <a:lnTo>
                  <a:pt x="360" y="0"/>
                </a:lnTo>
                <a:lnTo>
                  <a:pt x="377" y="0"/>
                </a:lnTo>
                <a:lnTo>
                  <a:pt x="393" y="0"/>
                </a:lnTo>
                <a:lnTo>
                  <a:pt x="393" y="5"/>
                </a:lnTo>
                <a:lnTo>
                  <a:pt x="377" y="5"/>
                </a:lnTo>
                <a:lnTo>
                  <a:pt x="360" y="5"/>
                </a:lnTo>
                <a:lnTo>
                  <a:pt x="344" y="6"/>
                </a:lnTo>
                <a:lnTo>
                  <a:pt x="327" y="6"/>
                </a:lnTo>
                <a:lnTo>
                  <a:pt x="311" y="6"/>
                </a:lnTo>
                <a:lnTo>
                  <a:pt x="295" y="7"/>
                </a:lnTo>
                <a:lnTo>
                  <a:pt x="278" y="7"/>
                </a:lnTo>
                <a:lnTo>
                  <a:pt x="262" y="7"/>
                </a:lnTo>
                <a:lnTo>
                  <a:pt x="246" y="8"/>
                </a:lnTo>
                <a:lnTo>
                  <a:pt x="229" y="8"/>
                </a:lnTo>
                <a:lnTo>
                  <a:pt x="213" y="9"/>
                </a:lnTo>
                <a:lnTo>
                  <a:pt x="196" y="9"/>
                </a:lnTo>
                <a:lnTo>
                  <a:pt x="180" y="10"/>
                </a:lnTo>
                <a:lnTo>
                  <a:pt x="164" y="10"/>
                </a:lnTo>
                <a:lnTo>
                  <a:pt x="147" y="11"/>
                </a:lnTo>
                <a:lnTo>
                  <a:pt x="131" y="11"/>
                </a:lnTo>
                <a:lnTo>
                  <a:pt x="114" y="12"/>
                </a:lnTo>
                <a:lnTo>
                  <a:pt x="98" y="12"/>
                </a:lnTo>
                <a:lnTo>
                  <a:pt x="82" y="13"/>
                </a:lnTo>
                <a:lnTo>
                  <a:pt x="65" y="13"/>
                </a:lnTo>
                <a:lnTo>
                  <a:pt x="49" y="13"/>
                </a:lnTo>
                <a:lnTo>
                  <a:pt x="33" y="13"/>
                </a:lnTo>
                <a:lnTo>
                  <a:pt x="16" y="14"/>
                </a:lnTo>
                <a:lnTo>
                  <a:pt x="0" y="1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6315075"/>
            <a:ext cx="3743325" cy="180975"/>
          </a:xfrm>
          <a:custGeom>
            <a:avLst/>
            <a:gdLst/>
            <a:ahLst/>
            <a:cxnLst/>
            <a:rect l="l" t="t" r="r" b="b"/>
            <a:pathLst>
              <a:path w="393" h="19">
                <a:moveTo>
                  <a:pt x="0" y="0"/>
                </a:moveTo>
                <a:lnTo>
                  <a:pt x="16" y="0"/>
                </a:lnTo>
                <a:lnTo>
                  <a:pt x="33" y="0"/>
                </a:lnTo>
                <a:lnTo>
                  <a:pt x="49" y="0"/>
                </a:lnTo>
                <a:lnTo>
                  <a:pt x="65" y="1"/>
                </a:lnTo>
                <a:lnTo>
                  <a:pt x="82" y="1"/>
                </a:lnTo>
                <a:lnTo>
                  <a:pt x="98" y="2"/>
                </a:lnTo>
                <a:lnTo>
                  <a:pt x="114" y="3"/>
                </a:lnTo>
                <a:lnTo>
                  <a:pt x="131" y="4"/>
                </a:lnTo>
                <a:lnTo>
                  <a:pt x="147" y="5"/>
                </a:lnTo>
                <a:lnTo>
                  <a:pt x="164" y="5"/>
                </a:lnTo>
                <a:lnTo>
                  <a:pt x="180" y="6"/>
                </a:lnTo>
                <a:lnTo>
                  <a:pt x="196" y="7"/>
                </a:lnTo>
                <a:lnTo>
                  <a:pt x="213" y="8"/>
                </a:lnTo>
                <a:lnTo>
                  <a:pt x="229" y="9"/>
                </a:lnTo>
                <a:lnTo>
                  <a:pt x="246" y="10"/>
                </a:lnTo>
                <a:lnTo>
                  <a:pt x="262" y="11"/>
                </a:lnTo>
                <a:lnTo>
                  <a:pt x="278" y="12"/>
                </a:lnTo>
                <a:lnTo>
                  <a:pt x="295" y="13"/>
                </a:lnTo>
                <a:lnTo>
                  <a:pt x="311" y="13"/>
                </a:lnTo>
                <a:lnTo>
                  <a:pt x="327" y="14"/>
                </a:lnTo>
                <a:lnTo>
                  <a:pt x="344" y="15"/>
                </a:lnTo>
                <a:lnTo>
                  <a:pt x="360" y="15"/>
                </a:lnTo>
                <a:lnTo>
                  <a:pt x="377" y="15"/>
                </a:lnTo>
                <a:lnTo>
                  <a:pt x="393" y="15"/>
                </a:lnTo>
                <a:lnTo>
                  <a:pt x="393" y="19"/>
                </a:lnTo>
                <a:lnTo>
                  <a:pt x="377" y="19"/>
                </a:lnTo>
                <a:lnTo>
                  <a:pt x="360" y="18"/>
                </a:lnTo>
                <a:lnTo>
                  <a:pt x="344" y="18"/>
                </a:lnTo>
                <a:lnTo>
                  <a:pt x="327" y="18"/>
                </a:lnTo>
                <a:lnTo>
                  <a:pt x="311" y="17"/>
                </a:lnTo>
                <a:lnTo>
                  <a:pt x="295" y="16"/>
                </a:lnTo>
                <a:lnTo>
                  <a:pt x="278" y="16"/>
                </a:lnTo>
                <a:lnTo>
                  <a:pt x="262" y="15"/>
                </a:lnTo>
                <a:lnTo>
                  <a:pt x="246" y="14"/>
                </a:lnTo>
                <a:lnTo>
                  <a:pt x="229" y="13"/>
                </a:lnTo>
                <a:lnTo>
                  <a:pt x="213" y="12"/>
                </a:lnTo>
                <a:lnTo>
                  <a:pt x="196" y="11"/>
                </a:lnTo>
                <a:lnTo>
                  <a:pt x="180" y="10"/>
                </a:lnTo>
                <a:lnTo>
                  <a:pt x="164" y="9"/>
                </a:lnTo>
                <a:lnTo>
                  <a:pt x="147" y="8"/>
                </a:lnTo>
                <a:lnTo>
                  <a:pt x="131" y="7"/>
                </a:lnTo>
                <a:lnTo>
                  <a:pt x="114" y="6"/>
                </a:lnTo>
                <a:lnTo>
                  <a:pt x="98" y="6"/>
                </a:lnTo>
                <a:lnTo>
                  <a:pt x="82" y="5"/>
                </a:lnTo>
                <a:lnTo>
                  <a:pt x="65" y="4"/>
                </a:lnTo>
                <a:lnTo>
                  <a:pt x="49" y="4"/>
                </a:lnTo>
                <a:lnTo>
                  <a:pt x="33" y="3"/>
                </a:lnTo>
                <a:lnTo>
                  <a:pt x="16" y="3"/>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5429250"/>
            <a:ext cx="3743325" cy="1057275"/>
          </a:xfrm>
          <a:custGeom>
            <a:avLst/>
            <a:gdLst/>
            <a:ahLst/>
            <a:cxnLst/>
            <a:rect l="l" t="t" r="r" b="b"/>
            <a:pathLst>
              <a:path w="393" h="111">
                <a:moveTo>
                  <a:pt x="0" y="102"/>
                </a:moveTo>
                <a:lnTo>
                  <a:pt x="16" y="102"/>
                </a:lnTo>
                <a:lnTo>
                  <a:pt x="33" y="100"/>
                </a:lnTo>
                <a:lnTo>
                  <a:pt x="49" y="98"/>
                </a:lnTo>
                <a:lnTo>
                  <a:pt x="65" y="95"/>
                </a:lnTo>
                <a:lnTo>
                  <a:pt x="82" y="91"/>
                </a:lnTo>
                <a:lnTo>
                  <a:pt x="98" y="86"/>
                </a:lnTo>
                <a:lnTo>
                  <a:pt x="114" y="81"/>
                </a:lnTo>
                <a:lnTo>
                  <a:pt x="131" y="76"/>
                </a:lnTo>
                <a:lnTo>
                  <a:pt x="147" y="70"/>
                </a:lnTo>
                <a:lnTo>
                  <a:pt x="164" y="64"/>
                </a:lnTo>
                <a:lnTo>
                  <a:pt x="180" y="57"/>
                </a:lnTo>
                <a:lnTo>
                  <a:pt x="196" y="51"/>
                </a:lnTo>
                <a:lnTo>
                  <a:pt x="213" y="45"/>
                </a:lnTo>
                <a:lnTo>
                  <a:pt x="229" y="39"/>
                </a:lnTo>
                <a:lnTo>
                  <a:pt x="246" y="32"/>
                </a:lnTo>
                <a:lnTo>
                  <a:pt x="262" y="27"/>
                </a:lnTo>
                <a:lnTo>
                  <a:pt x="278" y="21"/>
                </a:lnTo>
                <a:lnTo>
                  <a:pt x="295" y="16"/>
                </a:lnTo>
                <a:lnTo>
                  <a:pt x="311" y="12"/>
                </a:lnTo>
                <a:lnTo>
                  <a:pt x="327" y="8"/>
                </a:lnTo>
                <a:lnTo>
                  <a:pt x="344" y="5"/>
                </a:lnTo>
                <a:lnTo>
                  <a:pt x="360" y="2"/>
                </a:lnTo>
                <a:lnTo>
                  <a:pt x="377" y="1"/>
                </a:lnTo>
                <a:lnTo>
                  <a:pt x="393" y="0"/>
                </a:lnTo>
                <a:lnTo>
                  <a:pt x="393" y="9"/>
                </a:lnTo>
                <a:lnTo>
                  <a:pt x="377" y="10"/>
                </a:lnTo>
                <a:lnTo>
                  <a:pt x="360" y="11"/>
                </a:lnTo>
                <a:lnTo>
                  <a:pt x="344" y="13"/>
                </a:lnTo>
                <a:lnTo>
                  <a:pt x="327" y="17"/>
                </a:lnTo>
                <a:lnTo>
                  <a:pt x="311" y="20"/>
                </a:lnTo>
                <a:lnTo>
                  <a:pt x="295" y="25"/>
                </a:lnTo>
                <a:lnTo>
                  <a:pt x="278" y="30"/>
                </a:lnTo>
                <a:lnTo>
                  <a:pt x="262" y="35"/>
                </a:lnTo>
                <a:lnTo>
                  <a:pt x="246" y="41"/>
                </a:lnTo>
                <a:lnTo>
                  <a:pt x="229" y="47"/>
                </a:lnTo>
                <a:lnTo>
                  <a:pt x="213" y="54"/>
                </a:lnTo>
                <a:lnTo>
                  <a:pt x="196" y="60"/>
                </a:lnTo>
                <a:lnTo>
                  <a:pt x="180" y="66"/>
                </a:lnTo>
                <a:lnTo>
                  <a:pt x="164" y="73"/>
                </a:lnTo>
                <a:lnTo>
                  <a:pt x="147" y="79"/>
                </a:lnTo>
                <a:lnTo>
                  <a:pt x="131" y="85"/>
                </a:lnTo>
                <a:lnTo>
                  <a:pt x="114" y="90"/>
                </a:lnTo>
                <a:lnTo>
                  <a:pt x="98" y="95"/>
                </a:lnTo>
                <a:lnTo>
                  <a:pt x="82" y="100"/>
                </a:lnTo>
                <a:lnTo>
                  <a:pt x="65" y="103"/>
                </a:lnTo>
                <a:lnTo>
                  <a:pt x="49" y="107"/>
                </a:lnTo>
                <a:lnTo>
                  <a:pt x="33" y="109"/>
                </a:lnTo>
                <a:lnTo>
                  <a:pt x="16" y="110"/>
                </a:lnTo>
                <a:lnTo>
                  <a:pt x="0" y="11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5886450"/>
            <a:ext cx="3743325" cy="619125"/>
          </a:xfrm>
          <a:custGeom>
            <a:avLst/>
            <a:gdLst/>
            <a:ahLst/>
            <a:cxnLst/>
            <a:rect l="l" t="t" r="r" b="b"/>
            <a:pathLst>
              <a:path w="393" h="65">
                <a:moveTo>
                  <a:pt x="0" y="63"/>
                </a:moveTo>
                <a:lnTo>
                  <a:pt x="16" y="63"/>
                </a:lnTo>
                <a:lnTo>
                  <a:pt x="33" y="62"/>
                </a:lnTo>
                <a:lnTo>
                  <a:pt x="49" y="60"/>
                </a:lnTo>
                <a:lnTo>
                  <a:pt x="65" y="58"/>
                </a:lnTo>
                <a:lnTo>
                  <a:pt x="82" y="56"/>
                </a:lnTo>
                <a:lnTo>
                  <a:pt x="98" y="53"/>
                </a:lnTo>
                <a:lnTo>
                  <a:pt x="114" y="50"/>
                </a:lnTo>
                <a:lnTo>
                  <a:pt x="131" y="47"/>
                </a:lnTo>
                <a:lnTo>
                  <a:pt x="147" y="43"/>
                </a:lnTo>
                <a:lnTo>
                  <a:pt x="164" y="39"/>
                </a:lnTo>
                <a:lnTo>
                  <a:pt x="180" y="35"/>
                </a:lnTo>
                <a:lnTo>
                  <a:pt x="196" y="31"/>
                </a:lnTo>
                <a:lnTo>
                  <a:pt x="213" y="27"/>
                </a:lnTo>
                <a:lnTo>
                  <a:pt x="229" y="24"/>
                </a:lnTo>
                <a:lnTo>
                  <a:pt x="246" y="20"/>
                </a:lnTo>
                <a:lnTo>
                  <a:pt x="262" y="16"/>
                </a:lnTo>
                <a:lnTo>
                  <a:pt x="278" y="13"/>
                </a:lnTo>
                <a:lnTo>
                  <a:pt x="295" y="10"/>
                </a:lnTo>
                <a:lnTo>
                  <a:pt x="311" y="7"/>
                </a:lnTo>
                <a:lnTo>
                  <a:pt x="327" y="5"/>
                </a:lnTo>
                <a:lnTo>
                  <a:pt x="344" y="3"/>
                </a:lnTo>
                <a:lnTo>
                  <a:pt x="360" y="1"/>
                </a:lnTo>
                <a:lnTo>
                  <a:pt x="377" y="0"/>
                </a:lnTo>
                <a:lnTo>
                  <a:pt x="393" y="0"/>
                </a:lnTo>
                <a:lnTo>
                  <a:pt x="393" y="2"/>
                </a:lnTo>
                <a:lnTo>
                  <a:pt x="377" y="2"/>
                </a:lnTo>
                <a:lnTo>
                  <a:pt x="360" y="3"/>
                </a:lnTo>
                <a:lnTo>
                  <a:pt x="344" y="5"/>
                </a:lnTo>
                <a:lnTo>
                  <a:pt x="327" y="7"/>
                </a:lnTo>
                <a:lnTo>
                  <a:pt x="311" y="9"/>
                </a:lnTo>
                <a:lnTo>
                  <a:pt x="295" y="12"/>
                </a:lnTo>
                <a:lnTo>
                  <a:pt x="278" y="15"/>
                </a:lnTo>
                <a:lnTo>
                  <a:pt x="262" y="18"/>
                </a:lnTo>
                <a:lnTo>
                  <a:pt x="246" y="22"/>
                </a:lnTo>
                <a:lnTo>
                  <a:pt x="229" y="26"/>
                </a:lnTo>
                <a:lnTo>
                  <a:pt x="213" y="30"/>
                </a:lnTo>
                <a:lnTo>
                  <a:pt x="196" y="34"/>
                </a:lnTo>
                <a:lnTo>
                  <a:pt x="180" y="37"/>
                </a:lnTo>
                <a:lnTo>
                  <a:pt x="164" y="41"/>
                </a:lnTo>
                <a:lnTo>
                  <a:pt x="147" y="45"/>
                </a:lnTo>
                <a:lnTo>
                  <a:pt x="131" y="49"/>
                </a:lnTo>
                <a:lnTo>
                  <a:pt x="114" y="52"/>
                </a:lnTo>
                <a:lnTo>
                  <a:pt x="98" y="55"/>
                </a:lnTo>
                <a:lnTo>
                  <a:pt x="82" y="58"/>
                </a:lnTo>
                <a:lnTo>
                  <a:pt x="65" y="60"/>
                </a:lnTo>
                <a:lnTo>
                  <a:pt x="49" y="62"/>
                </a:lnTo>
                <a:lnTo>
                  <a:pt x="33" y="64"/>
                </a:lnTo>
                <a:lnTo>
                  <a:pt x="16" y="65"/>
                </a:lnTo>
                <a:lnTo>
                  <a:pt x="0" y="6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6229350"/>
            <a:ext cx="3743325" cy="295275"/>
          </a:xfrm>
          <a:custGeom>
            <a:avLst/>
            <a:gdLst/>
            <a:ahLst/>
            <a:cxnLst/>
            <a:rect l="l" t="t" r="r" b="b"/>
            <a:pathLst>
              <a:path w="393" h="31">
                <a:moveTo>
                  <a:pt x="0" y="29"/>
                </a:moveTo>
                <a:lnTo>
                  <a:pt x="16" y="29"/>
                </a:lnTo>
                <a:lnTo>
                  <a:pt x="33" y="29"/>
                </a:lnTo>
                <a:lnTo>
                  <a:pt x="49" y="28"/>
                </a:lnTo>
                <a:lnTo>
                  <a:pt x="65" y="27"/>
                </a:lnTo>
                <a:lnTo>
                  <a:pt x="82" y="26"/>
                </a:lnTo>
                <a:lnTo>
                  <a:pt x="98" y="25"/>
                </a:lnTo>
                <a:lnTo>
                  <a:pt x="114" y="23"/>
                </a:lnTo>
                <a:lnTo>
                  <a:pt x="131" y="22"/>
                </a:lnTo>
                <a:lnTo>
                  <a:pt x="147" y="20"/>
                </a:lnTo>
                <a:lnTo>
                  <a:pt x="164" y="18"/>
                </a:lnTo>
                <a:lnTo>
                  <a:pt x="180" y="16"/>
                </a:lnTo>
                <a:lnTo>
                  <a:pt x="196" y="15"/>
                </a:lnTo>
                <a:lnTo>
                  <a:pt x="213" y="13"/>
                </a:lnTo>
                <a:lnTo>
                  <a:pt x="229" y="11"/>
                </a:lnTo>
                <a:lnTo>
                  <a:pt x="246" y="9"/>
                </a:lnTo>
                <a:lnTo>
                  <a:pt x="262" y="8"/>
                </a:lnTo>
                <a:lnTo>
                  <a:pt x="278" y="6"/>
                </a:lnTo>
                <a:lnTo>
                  <a:pt x="295" y="5"/>
                </a:lnTo>
                <a:lnTo>
                  <a:pt x="311" y="3"/>
                </a:lnTo>
                <a:lnTo>
                  <a:pt x="327" y="2"/>
                </a:lnTo>
                <a:lnTo>
                  <a:pt x="344" y="1"/>
                </a:lnTo>
                <a:lnTo>
                  <a:pt x="360" y="1"/>
                </a:lnTo>
                <a:lnTo>
                  <a:pt x="377" y="0"/>
                </a:lnTo>
                <a:lnTo>
                  <a:pt x="393" y="0"/>
                </a:lnTo>
                <a:lnTo>
                  <a:pt x="393" y="2"/>
                </a:lnTo>
                <a:lnTo>
                  <a:pt x="377" y="2"/>
                </a:lnTo>
                <a:lnTo>
                  <a:pt x="360" y="2"/>
                </a:lnTo>
                <a:lnTo>
                  <a:pt x="344" y="3"/>
                </a:lnTo>
                <a:lnTo>
                  <a:pt x="327" y="4"/>
                </a:lnTo>
                <a:lnTo>
                  <a:pt x="311" y="5"/>
                </a:lnTo>
                <a:lnTo>
                  <a:pt x="295" y="6"/>
                </a:lnTo>
                <a:lnTo>
                  <a:pt x="278" y="8"/>
                </a:lnTo>
                <a:lnTo>
                  <a:pt x="262" y="9"/>
                </a:lnTo>
                <a:lnTo>
                  <a:pt x="246" y="11"/>
                </a:lnTo>
                <a:lnTo>
                  <a:pt x="229" y="13"/>
                </a:lnTo>
                <a:lnTo>
                  <a:pt x="213" y="15"/>
                </a:lnTo>
                <a:lnTo>
                  <a:pt x="196" y="16"/>
                </a:lnTo>
                <a:lnTo>
                  <a:pt x="180" y="18"/>
                </a:lnTo>
                <a:lnTo>
                  <a:pt x="164" y="20"/>
                </a:lnTo>
                <a:lnTo>
                  <a:pt x="147" y="22"/>
                </a:lnTo>
                <a:lnTo>
                  <a:pt x="131" y="23"/>
                </a:lnTo>
                <a:lnTo>
                  <a:pt x="114" y="25"/>
                </a:lnTo>
                <a:lnTo>
                  <a:pt x="98" y="26"/>
                </a:lnTo>
                <a:lnTo>
                  <a:pt x="82" y="28"/>
                </a:lnTo>
                <a:lnTo>
                  <a:pt x="65" y="29"/>
                </a:lnTo>
                <a:lnTo>
                  <a:pt x="49" y="30"/>
                </a:lnTo>
                <a:lnTo>
                  <a:pt x="33" y="30"/>
                </a:lnTo>
                <a:lnTo>
                  <a:pt x="16" y="31"/>
                </a:lnTo>
                <a:lnTo>
                  <a:pt x="0" y="3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6496050"/>
            <a:ext cx="3743325" cy="38100"/>
          </a:xfrm>
          <a:custGeom>
            <a:avLst/>
            <a:gdLst/>
            <a:ahLst/>
            <a:cxnLst/>
            <a:rect l="l" t="t" r="r" b="b"/>
            <a:pathLst>
              <a:path w="393" h="4">
                <a:moveTo>
                  <a:pt x="0" y="3"/>
                </a:moveTo>
                <a:lnTo>
                  <a:pt x="16" y="3"/>
                </a:lnTo>
                <a:lnTo>
                  <a:pt x="33" y="3"/>
                </a:lnTo>
                <a:lnTo>
                  <a:pt x="49" y="3"/>
                </a:lnTo>
                <a:lnTo>
                  <a:pt x="65" y="3"/>
                </a:lnTo>
                <a:lnTo>
                  <a:pt x="82" y="2"/>
                </a:lnTo>
                <a:lnTo>
                  <a:pt x="98" y="2"/>
                </a:lnTo>
                <a:lnTo>
                  <a:pt x="114" y="2"/>
                </a:lnTo>
                <a:lnTo>
                  <a:pt x="131" y="2"/>
                </a:lnTo>
                <a:lnTo>
                  <a:pt x="147" y="2"/>
                </a:lnTo>
                <a:lnTo>
                  <a:pt x="164" y="2"/>
                </a:lnTo>
                <a:lnTo>
                  <a:pt x="180" y="1"/>
                </a:lnTo>
                <a:lnTo>
                  <a:pt x="196" y="1"/>
                </a:lnTo>
                <a:lnTo>
                  <a:pt x="213" y="1"/>
                </a:lnTo>
                <a:lnTo>
                  <a:pt x="229" y="1"/>
                </a:lnTo>
                <a:lnTo>
                  <a:pt x="246" y="1"/>
                </a:lnTo>
                <a:lnTo>
                  <a:pt x="262" y="1"/>
                </a:lnTo>
                <a:lnTo>
                  <a:pt x="278" y="0"/>
                </a:lnTo>
                <a:lnTo>
                  <a:pt x="295" y="0"/>
                </a:lnTo>
                <a:lnTo>
                  <a:pt x="311" y="0"/>
                </a:lnTo>
                <a:lnTo>
                  <a:pt x="327" y="0"/>
                </a:lnTo>
                <a:lnTo>
                  <a:pt x="344" y="0"/>
                </a:lnTo>
                <a:lnTo>
                  <a:pt x="360" y="0"/>
                </a:lnTo>
                <a:lnTo>
                  <a:pt x="377" y="0"/>
                </a:lnTo>
                <a:lnTo>
                  <a:pt x="393" y="0"/>
                </a:lnTo>
                <a:lnTo>
                  <a:pt x="393" y="1"/>
                </a:lnTo>
                <a:lnTo>
                  <a:pt x="377" y="1"/>
                </a:lnTo>
                <a:lnTo>
                  <a:pt x="360" y="1"/>
                </a:lnTo>
                <a:lnTo>
                  <a:pt x="344" y="1"/>
                </a:lnTo>
                <a:lnTo>
                  <a:pt x="327" y="1"/>
                </a:lnTo>
                <a:lnTo>
                  <a:pt x="311" y="1"/>
                </a:lnTo>
                <a:lnTo>
                  <a:pt x="295" y="1"/>
                </a:lnTo>
                <a:lnTo>
                  <a:pt x="278" y="2"/>
                </a:lnTo>
                <a:lnTo>
                  <a:pt x="262" y="2"/>
                </a:lnTo>
                <a:lnTo>
                  <a:pt x="246" y="2"/>
                </a:lnTo>
                <a:lnTo>
                  <a:pt x="229" y="2"/>
                </a:lnTo>
                <a:lnTo>
                  <a:pt x="213" y="2"/>
                </a:lnTo>
                <a:lnTo>
                  <a:pt x="196" y="2"/>
                </a:lnTo>
                <a:lnTo>
                  <a:pt x="180" y="3"/>
                </a:lnTo>
                <a:lnTo>
                  <a:pt x="164" y="3"/>
                </a:lnTo>
                <a:lnTo>
                  <a:pt x="147" y="3"/>
                </a:lnTo>
                <a:lnTo>
                  <a:pt x="131" y="3"/>
                </a:lnTo>
                <a:lnTo>
                  <a:pt x="114" y="3"/>
                </a:lnTo>
                <a:lnTo>
                  <a:pt x="98" y="4"/>
                </a:lnTo>
                <a:lnTo>
                  <a:pt x="82" y="4"/>
                </a:lnTo>
                <a:lnTo>
                  <a:pt x="65" y="4"/>
                </a:lnTo>
                <a:lnTo>
                  <a:pt x="49" y="4"/>
                </a:lnTo>
                <a:lnTo>
                  <a:pt x="33" y="4"/>
                </a:lnTo>
                <a:lnTo>
                  <a:pt x="16" y="4"/>
                </a:lnTo>
                <a:lnTo>
                  <a:pt x="0" y="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3876675"/>
            <a:ext cx="114300" cy="643304"/>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41195" y="4577129"/>
            <a:ext cx="114300" cy="63285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941195" y="5267134"/>
            <a:ext cx="114300" cy="56116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41195" y="5885446"/>
            <a:ext cx="114300" cy="459399"/>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41195" y="6401995"/>
            <a:ext cx="114300" cy="13215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00725" y="3905250"/>
            <a:ext cx="114300" cy="161004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00725" y="5572442"/>
            <a:ext cx="114300" cy="33259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0725" y="5962185"/>
            <a:ext cx="114300" cy="2852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6304607"/>
            <a:ext cx="114300" cy="20096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4126889"/>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257175" y="4822119"/>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257175" y="5476277"/>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TextBox 47"/>
          <p:cNvSpPr txBox="1"/>
          <p:nvPr/>
        </p:nvSpPr>
        <p:spPr>
          <a:xfrm>
            <a:off x="257175" y="604370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257175" y="63912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5972175" y="463883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5972175" y="5667301"/>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5972175" y="603338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633365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Rounded Rectangle 53"/>
          <p:cNvSpPr/>
          <p:nvPr/>
        </p:nvSpPr>
        <p:spPr>
          <a:xfrm>
            <a:off x="7581900" y="3552825"/>
            <a:ext cx="445770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15250" y="363855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6" name="Rectangle 55"/>
          <p:cNvSpPr/>
          <p:nvPr/>
        </p:nvSpPr>
        <p:spPr>
          <a:xfrm>
            <a:off x="7715250" y="38766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15250" y="3962400"/>
            <a:ext cx="41910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8" name="TextBox 5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9" name="Picture 58" descr="lock.png"/>
          <p:cNvPicPr>
            <a:picLocks noChangeAspect="1"/>
          </p:cNvPicPr>
          <p:nvPr/>
        </p:nvPicPr>
        <p:blipFill>
          <a:blip r:embed="rId4"/>
          <a:stretch>
            <a:fillRect/>
          </a:stretch>
        </p:blipFill>
        <p:spPr>
          <a:xfrm>
            <a:off x="7235636" y="2203704"/>
            <a:ext cx="366712" cy="533400"/>
          </a:xfrm>
          <a:prstGeom prst="rect">
            <a:avLst/>
          </a:prstGeom>
        </p:spPr>
      </p:pic>
      <p:sp>
        <p:nvSpPr>
          <p:cNvPr id="60" name="TextBox 59"/>
          <p:cNvSpPr txBox="1"/>
          <p:nvPr/>
        </p:nvSpPr>
        <p:spPr>
          <a:xfrm>
            <a:off x="1177308" y="4137976"/>
            <a:ext cx="652986" cy="139750"/>
          </a:xfrm>
          <a:prstGeom prst="rect">
            <a:avLst/>
          </a:prstGeom>
          <a:noFill/>
        </p:spPr>
        <p:txBody>
          <a:bodyPr wrap="none" lIns="0" rIns="0" tIns="0" bIns="0">
            <a:spAutoFit/>
          </a:bodyPr>
          <a:lstStyle/>
          <a:p>
            <a:r>
              <a:rPr sz="791" b="1">
                <a:solidFill>
                  <a:srgbClr val="2E2E2E"/>
                </a:solidFill>
                <a:latin typeface="Calibri"/>
              </a:rPr>
              <a:t>Up to 30 g/ml</a:t>
            </a:r>
          </a:p>
        </p:txBody>
      </p:sp>
      <p:pic>
        <p:nvPicPr>
          <p:cNvPr id="61" name="Picture 60" descr="lock.png"/>
          <p:cNvPicPr>
            <a:picLocks noChangeAspect="1"/>
          </p:cNvPicPr>
          <p:nvPr/>
        </p:nvPicPr>
        <p:blipFill>
          <a:blip r:embed="rId4"/>
          <a:stretch>
            <a:fillRect/>
          </a:stretch>
        </p:blipFill>
        <p:spPr>
          <a:xfrm>
            <a:off x="1771555" y="4130935"/>
            <a:ext cx="92663" cy="134782"/>
          </a:xfrm>
          <a:prstGeom prst="rect">
            <a:avLst/>
          </a:prstGeom>
        </p:spPr>
      </p:pic>
      <p:sp>
        <p:nvSpPr>
          <p:cNvPr id="62" name="TextBox 61"/>
          <p:cNvSpPr txBox="1"/>
          <p:nvPr/>
        </p:nvSpPr>
        <p:spPr>
          <a:xfrm>
            <a:off x="1090475" y="4833206"/>
            <a:ext cx="739818" cy="139750"/>
          </a:xfrm>
          <a:prstGeom prst="rect">
            <a:avLst/>
          </a:prstGeom>
          <a:noFill/>
        </p:spPr>
        <p:txBody>
          <a:bodyPr wrap="none" lIns="0" rIns="0" tIns="0" bIns="0">
            <a:spAutoFit/>
          </a:bodyPr>
          <a:lstStyle/>
          <a:p>
            <a:r>
              <a:rPr sz="791" b="1">
                <a:solidFill>
                  <a:srgbClr val="2E2E2E"/>
                </a:solidFill>
                <a:latin typeface="Calibri"/>
              </a:rPr>
              <a:t>Above 200 g/ml</a:t>
            </a:r>
          </a:p>
        </p:txBody>
      </p:sp>
      <p:pic>
        <p:nvPicPr>
          <p:cNvPr id="63" name="Picture 62" descr="lock.png"/>
          <p:cNvPicPr>
            <a:picLocks noChangeAspect="1"/>
          </p:cNvPicPr>
          <p:nvPr/>
        </p:nvPicPr>
        <p:blipFill>
          <a:blip r:embed="rId4"/>
          <a:stretch>
            <a:fillRect/>
          </a:stretch>
        </p:blipFill>
        <p:spPr>
          <a:xfrm>
            <a:off x="1771555" y="4826165"/>
            <a:ext cx="92663" cy="134782"/>
          </a:xfrm>
          <a:prstGeom prst="rect">
            <a:avLst/>
          </a:prstGeom>
        </p:spPr>
      </p:pic>
      <p:sp>
        <p:nvSpPr>
          <p:cNvPr id="64" name="TextBox 63"/>
          <p:cNvSpPr txBox="1"/>
          <p:nvPr/>
        </p:nvSpPr>
        <p:spPr>
          <a:xfrm>
            <a:off x="989302" y="5487364"/>
            <a:ext cx="840992" cy="139750"/>
          </a:xfrm>
          <a:prstGeom prst="rect">
            <a:avLst/>
          </a:prstGeom>
          <a:noFill/>
        </p:spPr>
        <p:txBody>
          <a:bodyPr wrap="none" lIns="0" rIns="0" tIns="0" bIns="0">
            <a:spAutoFit/>
          </a:bodyPr>
          <a:lstStyle/>
          <a:p>
            <a:r>
              <a:rPr sz="791" b="1">
                <a:solidFill>
                  <a:srgbClr val="2E2E2E"/>
                </a:solidFill>
                <a:latin typeface="Calibri"/>
              </a:rPr>
              <a:t>Above 30–50 g/ml</a:t>
            </a:r>
          </a:p>
        </p:txBody>
      </p:sp>
      <p:pic>
        <p:nvPicPr>
          <p:cNvPr id="65" name="Picture 64" descr="lock.png"/>
          <p:cNvPicPr>
            <a:picLocks noChangeAspect="1"/>
          </p:cNvPicPr>
          <p:nvPr/>
        </p:nvPicPr>
        <p:blipFill>
          <a:blip r:embed="rId4"/>
          <a:stretch>
            <a:fillRect/>
          </a:stretch>
        </p:blipFill>
        <p:spPr>
          <a:xfrm>
            <a:off x="1771555" y="5480323"/>
            <a:ext cx="92663" cy="134782"/>
          </a:xfrm>
          <a:prstGeom prst="rect">
            <a:avLst/>
          </a:prstGeom>
        </p:spPr>
      </p:pic>
      <p:sp>
        <p:nvSpPr>
          <p:cNvPr id="66" name="TextBox 65"/>
          <p:cNvSpPr txBox="1"/>
          <p:nvPr/>
        </p:nvSpPr>
        <p:spPr>
          <a:xfrm>
            <a:off x="887146" y="6054795"/>
            <a:ext cx="943147" cy="139750"/>
          </a:xfrm>
          <a:prstGeom prst="rect">
            <a:avLst/>
          </a:prstGeom>
          <a:noFill/>
        </p:spPr>
        <p:txBody>
          <a:bodyPr wrap="none" lIns="0" rIns="0" tIns="0" bIns="0">
            <a:spAutoFit/>
          </a:bodyPr>
          <a:lstStyle/>
          <a:p>
            <a:r>
              <a:rPr sz="791" b="1">
                <a:solidFill>
                  <a:srgbClr val="2E2E2E"/>
                </a:solidFill>
                <a:latin typeface="Calibri"/>
              </a:rPr>
              <a:t>Above 100–200 g/ml</a:t>
            </a:r>
          </a:p>
        </p:txBody>
      </p:sp>
      <p:pic>
        <p:nvPicPr>
          <p:cNvPr id="67" name="Picture 66" descr="lock.png"/>
          <p:cNvPicPr>
            <a:picLocks noChangeAspect="1"/>
          </p:cNvPicPr>
          <p:nvPr/>
        </p:nvPicPr>
        <p:blipFill>
          <a:blip r:embed="rId4"/>
          <a:stretch>
            <a:fillRect/>
          </a:stretch>
        </p:blipFill>
        <p:spPr>
          <a:xfrm>
            <a:off x="1771555" y="6047754"/>
            <a:ext cx="92663" cy="134782"/>
          </a:xfrm>
          <a:prstGeom prst="rect">
            <a:avLst/>
          </a:prstGeom>
        </p:spPr>
      </p:pic>
      <p:sp>
        <p:nvSpPr>
          <p:cNvPr id="68" name="TextBox 67"/>
          <p:cNvSpPr txBox="1"/>
          <p:nvPr/>
        </p:nvSpPr>
        <p:spPr>
          <a:xfrm>
            <a:off x="938224" y="6402362"/>
            <a:ext cx="892069" cy="139750"/>
          </a:xfrm>
          <a:prstGeom prst="rect">
            <a:avLst/>
          </a:prstGeom>
          <a:noFill/>
        </p:spPr>
        <p:txBody>
          <a:bodyPr wrap="none" lIns="0" rIns="0" tIns="0" bIns="0">
            <a:spAutoFit/>
          </a:bodyPr>
          <a:lstStyle/>
          <a:p>
            <a:r>
              <a:rPr sz="791" b="1">
                <a:solidFill>
                  <a:srgbClr val="2E2E2E"/>
                </a:solidFill>
                <a:latin typeface="Calibri"/>
              </a:rPr>
              <a:t>Above 50–100 g/ml</a:t>
            </a:r>
          </a:p>
        </p:txBody>
      </p:sp>
      <p:pic>
        <p:nvPicPr>
          <p:cNvPr id="69" name="Picture 68" descr="lock.png"/>
          <p:cNvPicPr>
            <a:picLocks noChangeAspect="1"/>
          </p:cNvPicPr>
          <p:nvPr/>
        </p:nvPicPr>
        <p:blipFill>
          <a:blip r:embed="rId4"/>
          <a:stretch>
            <a:fillRect/>
          </a:stretch>
        </p:blipFill>
        <p:spPr>
          <a:xfrm>
            <a:off x="1771555" y="6395321"/>
            <a:ext cx="92663" cy="134782"/>
          </a:xfrm>
          <a:prstGeom prst="rect">
            <a:avLst/>
          </a:prstGeom>
        </p:spPr>
      </p:pic>
      <p:sp>
        <p:nvSpPr>
          <p:cNvPr id="70" name="TextBox 69"/>
          <p:cNvSpPr txBox="1"/>
          <p:nvPr/>
        </p:nvSpPr>
        <p:spPr>
          <a:xfrm>
            <a:off x="5972175" y="4649920"/>
            <a:ext cx="624304" cy="139750"/>
          </a:xfrm>
          <a:prstGeom prst="rect">
            <a:avLst/>
          </a:prstGeom>
          <a:noFill/>
        </p:spPr>
        <p:txBody>
          <a:bodyPr wrap="none" lIns="0" rIns="0" tIns="0" bIns="0">
            <a:spAutoFit/>
          </a:bodyPr>
          <a:lstStyle/>
          <a:p>
            <a:r>
              <a:rPr sz="791" b="1">
                <a:solidFill>
                  <a:srgbClr val="2E2E2E"/>
                </a:solidFill>
                <a:latin typeface="Calibri"/>
              </a:rPr>
              <a:t>Mass Market</a:t>
            </a:r>
          </a:p>
        </p:txBody>
      </p:sp>
      <p:pic>
        <p:nvPicPr>
          <p:cNvPr id="71" name="Picture 70" descr="lock.png"/>
          <p:cNvPicPr>
            <a:picLocks noChangeAspect="1"/>
          </p:cNvPicPr>
          <p:nvPr/>
        </p:nvPicPr>
        <p:blipFill>
          <a:blip r:embed="rId4"/>
          <a:stretch>
            <a:fillRect/>
          </a:stretch>
        </p:blipFill>
        <p:spPr>
          <a:xfrm>
            <a:off x="6537740" y="4642879"/>
            <a:ext cx="92663" cy="134782"/>
          </a:xfrm>
          <a:prstGeom prst="rect">
            <a:avLst/>
          </a:prstGeom>
        </p:spPr>
      </p:pic>
      <p:sp>
        <p:nvSpPr>
          <p:cNvPr id="72" name="TextBox 71"/>
          <p:cNvSpPr txBox="1"/>
          <p:nvPr/>
        </p:nvSpPr>
        <p:spPr>
          <a:xfrm>
            <a:off x="5972175" y="5678388"/>
            <a:ext cx="783627" cy="139750"/>
          </a:xfrm>
          <a:prstGeom prst="rect">
            <a:avLst/>
          </a:prstGeom>
          <a:noFill/>
        </p:spPr>
        <p:txBody>
          <a:bodyPr wrap="none" lIns="0" rIns="0" tIns="0" bIns="0">
            <a:spAutoFit/>
          </a:bodyPr>
          <a:lstStyle/>
          <a:p>
            <a:r>
              <a:rPr sz="791" b="1">
                <a:solidFill>
                  <a:srgbClr val="2E2E2E"/>
                </a:solidFill>
                <a:latin typeface="Calibri"/>
              </a:rPr>
              <a:t>Prestige / Luxury</a:t>
            </a:r>
          </a:p>
        </p:txBody>
      </p:sp>
      <p:pic>
        <p:nvPicPr>
          <p:cNvPr id="73" name="Picture 72" descr="lock.png"/>
          <p:cNvPicPr>
            <a:picLocks noChangeAspect="1"/>
          </p:cNvPicPr>
          <p:nvPr/>
        </p:nvPicPr>
        <p:blipFill>
          <a:blip r:embed="rId4"/>
          <a:stretch>
            <a:fillRect/>
          </a:stretch>
        </p:blipFill>
        <p:spPr>
          <a:xfrm>
            <a:off x="6697063" y="5671347"/>
            <a:ext cx="92663" cy="134782"/>
          </a:xfrm>
          <a:prstGeom prst="rect">
            <a:avLst/>
          </a:prstGeom>
        </p:spPr>
      </p:pic>
      <p:sp>
        <p:nvSpPr>
          <p:cNvPr id="74" name="TextBox 73"/>
          <p:cNvSpPr txBox="1"/>
          <p:nvPr/>
        </p:nvSpPr>
        <p:spPr>
          <a:xfrm>
            <a:off x="5972175" y="6044470"/>
            <a:ext cx="458890" cy="139750"/>
          </a:xfrm>
          <a:prstGeom prst="rect">
            <a:avLst/>
          </a:prstGeom>
          <a:noFill/>
        </p:spPr>
        <p:txBody>
          <a:bodyPr wrap="none" lIns="0" rIns="0" tIns="0" bIns="0">
            <a:spAutoFit/>
          </a:bodyPr>
          <a:lstStyle/>
          <a:p>
            <a:r>
              <a:rPr sz="791" b="1">
                <a:solidFill>
                  <a:srgbClr val="2E2E2E"/>
                </a:solidFill>
                <a:latin typeface="Calibri"/>
              </a:rPr>
              <a:t>Premium</a:t>
            </a:r>
          </a:p>
        </p:txBody>
      </p:sp>
      <p:pic>
        <p:nvPicPr>
          <p:cNvPr id="75" name="Picture 74" descr="lock.png"/>
          <p:cNvPicPr>
            <a:picLocks noChangeAspect="1"/>
          </p:cNvPicPr>
          <p:nvPr/>
        </p:nvPicPr>
        <p:blipFill>
          <a:blip r:embed="rId4"/>
          <a:stretch>
            <a:fillRect/>
          </a:stretch>
        </p:blipFill>
        <p:spPr>
          <a:xfrm>
            <a:off x="6372326" y="6037429"/>
            <a:ext cx="92663" cy="134782"/>
          </a:xfrm>
          <a:prstGeom prst="rect">
            <a:avLst/>
          </a:prstGeom>
        </p:spPr>
      </p:pic>
      <p:sp>
        <p:nvSpPr>
          <p:cNvPr id="76" name="TextBox 75"/>
          <p:cNvSpPr txBox="1"/>
          <p:nvPr/>
        </p:nvSpPr>
        <p:spPr>
          <a:xfrm>
            <a:off x="5972175" y="6344740"/>
            <a:ext cx="452211" cy="139750"/>
          </a:xfrm>
          <a:prstGeom prst="rect">
            <a:avLst/>
          </a:prstGeom>
          <a:noFill/>
        </p:spPr>
        <p:txBody>
          <a:bodyPr wrap="none" lIns="0" rIns="0" tIns="0" bIns="0">
            <a:spAutoFit/>
          </a:bodyPr>
          <a:lstStyle/>
          <a:p>
            <a:r>
              <a:rPr sz="791" b="1">
                <a:solidFill>
                  <a:srgbClr val="2E2E2E"/>
                </a:solidFill>
                <a:latin typeface="Calibri"/>
              </a:rPr>
              <a:t>Masstige</a:t>
            </a:r>
          </a:p>
        </p:txBody>
      </p:sp>
      <p:pic>
        <p:nvPicPr>
          <p:cNvPr id="77" name="Picture 76" descr="lock.png"/>
          <p:cNvPicPr>
            <a:picLocks noChangeAspect="1"/>
          </p:cNvPicPr>
          <p:nvPr/>
        </p:nvPicPr>
        <p:blipFill>
          <a:blip r:embed="rId4"/>
          <a:stretch>
            <a:fillRect/>
          </a:stretch>
        </p:blipFill>
        <p:spPr>
          <a:xfrm>
            <a:off x="6365647" y="6337699"/>
            <a:ext cx="92663" cy="134782"/>
          </a:xfrm>
          <a:prstGeom prst="rect">
            <a:avLst/>
          </a:prstGeom>
        </p:spPr>
      </p:pic>
      <p:sp>
        <p:nvSpPr>
          <p:cNvPr id="78" name="TextBox 77"/>
          <p:cNvSpPr txBox="1"/>
          <p:nvPr/>
        </p:nvSpPr>
        <p:spPr>
          <a:xfrm>
            <a:off x="7715250" y="3971925"/>
            <a:ext cx="4171950" cy="194310"/>
          </a:xfrm>
          <a:prstGeom prst="rect">
            <a:avLst/>
          </a:prstGeom>
          <a:noFill/>
        </p:spPr>
        <p:txBody>
          <a:bodyPr wrap="none" lIns="0" rIns="0" tIns="0" bIns="0">
            <a:spAutoFit/>
          </a:bodyPr>
          <a:lstStyle/>
          <a:p>
            <a:r>
              <a:rPr sz="1150" b="0">
                <a:solidFill>
                  <a:srgbClr val="2E2E2E"/>
                </a:solidFill>
                <a:latin typeface="Calibri"/>
              </a:rPr>
              <a:t>Up to 30 g/ml segment is projected to account for the largest share of</a:t>
            </a:r>
          </a:p>
        </p:txBody>
      </p:sp>
      <p:sp>
        <p:nvSpPr>
          <p:cNvPr id="79" name="TextBox 78"/>
          <p:cNvSpPr txBox="1"/>
          <p:nvPr/>
        </p:nvSpPr>
        <p:spPr>
          <a:xfrm>
            <a:off x="7715250" y="4147185"/>
            <a:ext cx="3992450" cy="194310"/>
          </a:xfrm>
          <a:prstGeom prst="rect">
            <a:avLst/>
          </a:prstGeom>
          <a:noFill/>
        </p:spPr>
        <p:txBody>
          <a:bodyPr wrap="none" lIns="0" rIns="0" tIns="0" bIns="0">
            <a:spAutoFit/>
          </a:bodyPr>
          <a:lstStyle/>
          <a:p>
            <a:r>
              <a:rPr sz="1150" b="0">
                <a:solidFill>
                  <a:srgbClr val="2E2E2E"/>
                </a:solidFill>
                <a:latin typeface="Calibri"/>
              </a:rPr>
              <a:t>the global ceramide sunscreen market, led by mass market at US$</a:t>
            </a:r>
          </a:p>
        </p:txBody>
      </p:sp>
      <p:pic>
        <p:nvPicPr>
          <p:cNvPr id="80" name="Picture 79" descr="lock.png"/>
          <p:cNvPicPr>
            <a:picLocks noChangeAspect="1"/>
          </p:cNvPicPr>
          <p:nvPr/>
        </p:nvPicPr>
        <p:blipFill>
          <a:blip r:embed="rId4"/>
          <a:stretch>
            <a:fillRect/>
          </a:stretch>
        </p:blipFill>
        <p:spPr>
          <a:xfrm>
            <a:off x="7701170" y="4312221"/>
            <a:ext cx="134549" cy="195707"/>
          </a:xfrm>
          <a:prstGeom prst="rect">
            <a:avLst/>
          </a:prstGeom>
        </p:spPr>
      </p:pic>
      <p:sp>
        <p:nvSpPr>
          <p:cNvPr id="81" name="TextBox 80"/>
          <p:cNvSpPr txBox="1"/>
          <p:nvPr/>
        </p:nvSpPr>
        <p:spPr>
          <a:xfrm>
            <a:off x="7876279" y="4322445"/>
            <a:ext cx="3786782" cy="194310"/>
          </a:xfrm>
          <a:prstGeom prst="rect">
            <a:avLst/>
          </a:prstGeom>
          <a:noFill/>
        </p:spPr>
        <p:txBody>
          <a:bodyPr wrap="none" lIns="0" rIns="0" tIns="0" bIns="0">
            <a:spAutoFit/>
          </a:bodyPr>
          <a:lstStyle/>
          <a:p>
            <a:r>
              <a:rPr sz="1150" b="0">
                <a:solidFill>
                  <a:srgbClr val="2E2E2E"/>
                </a:solidFill>
                <a:latin typeface="Calibri"/>
              </a:rPr>
              <a:t>Mn in 2036. 'Up to 30 g/ml × Mass Market' is the single largest</a:t>
            </a:r>
          </a:p>
        </p:txBody>
      </p:sp>
      <p:sp>
        <p:nvSpPr>
          <p:cNvPr id="82" name="TextBox 81"/>
          <p:cNvSpPr txBox="1"/>
          <p:nvPr/>
        </p:nvSpPr>
        <p:spPr>
          <a:xfrm>
            <a:off x="7715250" y="4497704"/>
            <a:ext cx="1269131" cy="194310"/>
          </a:xfrm>
          <a:prstGeom prst="rect">
            <a:avLst/>
          </a:prstGeom>
          <a:noFill/>
        </p:spPr>
        <p:txBody>
          <a:bodyPr wrap="none" lIns="0" rIns="0" tIns="0" bIns="0">
            <a:spAutoFit/>
          </a:bodyPr>
          <a:lstStyle/>
          <a:p>
            <a:r>
              <a:rPr sz="1150" b="0">
                <a:solidFill>
                  <a:srgbClr val="2E2E2E"/>
                </a:solidFill>
                <a:latin typeface="Calibri"/>
              </a:rPr>
              <a:t>cross-sectional cell (</a:t>
            </a:r>
          </a:p>
        </p:txBody>
      </p:sp>
      <p:pic>
        <p:nvPicPr>
          <p:cNvPr id="83" name="Picture 82" descr="lock.png"/>
          <p:cNvPicPr>
            <a:picLocks noChangeAspect="1"/>
          </p:cNvPicPr>
          <p:nvPr/>
        </p:nvPicPr>
        <p:blipFill>
          <a:blip r:embed="rId4"/>
          <a:stretch>
            <a:fillRect/>
          </a:stretch>
        </p:blipFill>
        <p:spPr>
          <a:xfrm>
            <a:off x="8933535" y="4487481"/>
            <a:ext cx="134549" cy="195707"/>
          </a:xfrm>
          <a:prstGeom prst="rect">
            <a:avLst/>
          </a:prstGeom>
        </p:spPr>
      </p:pic>
      <p:sp>
        <p:nvSpPr>
          <p:cNvPr id="84" name="TextBox 83"/>
          <p:cNvSpPr txBox="1"/>
          <p:nvPr/>
        </p:nvSpPr>
        <p:spPr>
          <a:xfrm>
            <a:off x="9108645" y="4497704"/>
            <a:ext cx="2720218" cy="194310"/>
          </a:xfrm>
          <a:prstGeom prst="rect">
            <a:avLst/>
          </a:prstGeom>
          <a:noFill/>
        </p:spPr>
        <p:txBody>
          <a:bodyPr wrap="none" lIns="0" rIns="0" tIns="0" bIns="0">
            <a:spAutoFit/>
          </a:bodyPr>
          <a:lstStyle/>
          <a:p>
            <a:r>
              <a:rPr sz="1150" b="0">
                <a:solidFill>
                  <a:srgbClr val="2E2E2E"/>
                </a:solidFill>
                <a:latin typeface="Calibri"/>
              </a:rPr>
              <a:t>US$ Mn, 2026E), while 'Above 100–200 g/ml</a:t>
            </a:r>
          </a:p>
        </p:txBody>
      </p:sp>
      <p:sp>
        <p:nvSpPr>
          <p:cNvPr id="85" name="TextBox 84"/>
          <p:cNvSpPr txBox="1"/>
          <p:nvPr/>
        </p:nvSpPr>
        <p:spPr>
          <a:xfrm>
            <a:off x="7715250" y="4672964"/>
            <a:ext cx="3594218" cy="194310"/>
          </a:xfrm>
          <a:prstGeom prst="rect">
            <a:avLst/>
          </a:prstGeom>
          <a:noFill/>
        </p:spPr>
        <p:txBody>
          <a:bodyPr wrap="none" lIns="0" rIns="0" tIns="0" bIns="0">
            <a:spAutoFit/>
          </a:bodyPr>
          <a:lstStyle/>
          <a:p>
            <a:r>
              <a:rPr sz="1150" b="0">
                <a:solidFill>
                  <a:srgbClr val="2E2E2E"/>
                </a:solidFill>
                <a:latin typeface="Calibri"/>
              </a:rPr>
              <a:t>× Prestige / Luxury' records the fastest growth at a CAGR of</a:t>
            </a:r>
          </a:p>
        </p:txBody>
      </p:sp>
      <p:pic>
        <p:nvPicPr>
          <p:cNvPr id="86" name="Picture 85" descr="lock.png"/>
          <p:cNvPicPr>
            <a:picLocks noChangeAspect="1"/>
          </p:cNvPicPr>
          <p:nvPr/>
        </p:nvPicPr>
        <p:blipFill>
          <a:blip r:embed="rId4"/>
          <a:stretch>
            <a:fillRect/>
          </a:stretch>
        </p:blipFill>
        <p:spPr>
          <a:xfrm>
            <a:off x="11258622" y="4662741"/>
            <a:ext cx="134549" cy="195707"/>
          </a:xfrm>
          <a:prstGeom prst="rect">
            <a:avLst/>
          </a:prstGeom>
        </p:spPr>
      </p:pic>
      <p:sp>
        <p:nvSpPr>
          <p:cNvPr id="87" name="TextBox 86"/>
          <p:cNvSpPr txBox="1"/>
          <p:nvPr/>
        </p:nvSpPr>
        <p:spPr>
          <a:xfrm>
            <a:off x="11433731" y="4672964"/>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88" name="TextBox 87"/>
          <p:cNvSpPr txBox="1"/>
          <p:nvPr/>
        </p:nvSpPr>
        <p:spPr>
          <a:xfrm>
            <a:off x="7715250" y="4848224"/>
            <a:ext cx="917199" cy="194310"/>
          </a:xfrm>
          <a:prstGeom prst="rect">
            <a:avLst/>
          </a:prstGeom>
          <a:noFill/>
        </p:spPr>
        <p:txBody>
          <a:bodyPr wrap="none" lIns="0" rIns="0" tIns="0" bIns="0">
            <a:spAutoFit/>
          </a:bodyPr>
          <a:lstStyle/>
          <a:p>
            <a:r>
              <a:rPr sz="1150" b="0">
                <a:solidFill>
                  <a:srgbClr val="2E2E2E"/>
                </a:solidFill>
                <a:latin typeface="Calibri"/>
              </a:rPr>
              <a:t>2026E–2036F.</a:t>
            </a:r>
          </a:p>
        </p:txBody>
      </p:sp>
      <p:sp>
        <p:nvSpPr>
          <p:cNvPr id="89" name="TextBox 88"/>
          <p:cNvSpPr txBox="1"/>
          <p:nvPr/>
        </p:nvSpPr>
        <p:spPr>
          <a:xfrm>
            <a:off x="7715250" y="5076062"/>
            <a:ext cx="3819301" cy="194310"/>
          </a:xfrm>
          <a:prstGeom prst="rect">
            <a:avLst/>
          </a:prstGeom>
          <a:noFill/>
        </p:spPr>
        <p:txBody>
          <a:bodyPr wrap="none" lIns="0" rIns="0" tIns="0" bIns="0">
            <a:spAutoFit/>
          </a:bodyPr>
          <a:lstStyle/>
          <a:p>
            <a:r>
              <a:rPr sz="1150" b="0">
                <a:solidFill>
                  <a:srgbClr val="2E2E2E"/>
                </a:solidFill>
                <a:latin typeface="Calibri"/>
              </a:rPr>
              <a:t>Combined, the top three pack size × price tier cells generate an</a:t>
            </a:r>
          </a:p>
        </p:txBody>
      </p:sp>
      <p:sp>
        <p:nvSpPr>
          <p:cNvPr id="90" name="TextBox 89"/>
          <p:cNvSpPr txBox="1"/>
          <p:nvPr/>
        </p:nvSpPr>
        <p:spPr>
          <a:xfrm>
            <a:off x="7715250" y="5251322"/>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91" name="Picture 90" descr="lock.png"/>
          <p:cNvPicPr>
            <a:picLocks noChangeAspect="1"/>
          </p:cNvPicPr>
          <p:nvPr/>
        </p:nvPicPr>
        <p:blipFill>
          <a:blip r:embed="rId4"/>
          <a:stretch>
            <a:fillRect/>
          </a:stretch>
        </p:blipFill>
        <p:spPr>
          <a:xfrm>
            <a:off x="9258439" y="5241099"/>
            <a:ext cx="134549" cy="195707"/>
          </a:xfrm>
          <a:prstGeom prst="rect">
            <a:avLst/>
          </a:prstGeom>
        </p:spPr>
      </p:pic>
      <p:sp>
        <p:nvSpPr>
          <p:cNvPr id="92" name="TextBox 91"/>
          <p:cNvSpPr txBox="1"/>
          <p:nvPr/>
        </p:nvSpPr>
        <p:spPr>
          <a:xfrm>
            <a:off x="9433549" y="525132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Pack Size × Price Tier,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price tier sub-segments</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Pack Size × Price Tier, 2026E (% of each row)</a:t>
            </a:r>
          </a:p>
        </p:txBody>
      </p:sp>
      <p:graphicFrame>
        <p:nvGraphicFramePr>
          <p:cNvPr id="12" name="Table 11"/>
          <p:cNvGraphicFramePr>
            <a:graphicFrameLocks noGrp="1"/>
          </p:cNvGraphicFramePr>
          <p:nvPr/>
        </p:nvGraphicFramePr>
        <p:xfrm>
          <a:off x="152400" y="1238250"/>
          <a:ext cx="11887198" cy="1724022"/>
        </p:xfrm>
        <a:graphic>
          <a:graphicData uri="http://schemas.openxmlformats.org/drawingml/2006/table">
            <a:tbl>
              <a:tblPr>
                <a:tableStyleId>{5C22544A-7EE6-4342-B048-85BDC9FD1C3A}</a:tableStyleId>
              </a:tblPr>
              <a:tblGrid>
                <a:gridCol w="2309733"/>
                <a:gridCol w="1915493"/>
                <a:gridCol w="1915493"/>
                <a:gridCol w="1915493"/>
                <a:gridCol w="1915493"/>
                <a:gridCol w="1915493"/>
              </a:tblGrid>
              <a:tr h="246126">
                <a:tc>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Mass Market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Masstige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Premium</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Prestige / Luxury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7286625"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3623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Tier Mix by Pack Size, 2026E (% share)</a:t>
            </a:r>
          </a:p>
        </p:txBody>
      </p:sp>
      <p:graphicFrame>
        <p:nvGraphicFramePr>
          <p:cNvPr id="16" name="Chart 15"/>
          <p:cNvGraphicFramePr>
            <a:graphicFrameLocks noGrp="1"/>
          </p:cNvGraphicFramePr>
          <p:nvPr/>
        </p:nvGraphicFramePr>
        <p:xfrm>
          <a:off x="238125" y="3590925"/>
          <a:ext cx="7096125" cy="298132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305175"/>
            <a:ext cx="445770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3909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6290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714750"/>
            <a:ext cx="419100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064175" y="1956623"/>
            <a:ext cx="366712" cy="533400"/>
          </a:xfrm>
          <a:prstGeom prst="rect">
            <a:avLst/>
          </a:prstGeom>
        </p:spPr>
      </p:pic>
      <p:pic>
        <p:nvPicPr>
          <p:cNvPr id="23" name="Picture 22" descr="lock.png"/>
          <p:cNvPicPr>
            <a:picLocks noChangeAspect="1"/>
          </p:cNvPicPr>
          <p:nvPr/>
        </p:nvPicPr>
        <p:blipFill>
          <a:blip r:embed="rId5"/>
          <a:stretch>
            <a:fillRect/>
          </a:stretch>
        </p:blipFill>
        <p:spPr>
          <a:xfrm>
            <a:off x="3760202" y="4257864"/>
            <a:ext cx="341043" cy="496063"/>
          </a:xfrm>
          <a:prstGeom prst="rect">
            <a:avLst/>
          </a:prstGeom>
        </p:spPr>
      </p:pic>
      <p:sp>
        <p:nvSpPr>
          <p:cNvPr id="24" name="TextBox 23"/>
          <p:cNvSpPr txBox="1"/>
          <p:nvPr/>
        </p:nvSpPr>
        <p:spPr>
          <a:xfrm>
            <a:off x="7715250" y="3724275"/>
            <a:ext cx="4056347" cy="194310"/>
          </a:xfrm>
          <a:prstGeom prst="rect">
            <a:avLst/>
          </a:prstGeom>
          <a:noFill/>
        </p:spPr>
        <p:txBody>
          <a:bodyPr wrap="none" lIns="0" rIns="0" tIns="0" bIns="0">
            <a:spAutoFit/>
          </a:bodyPr>
          <a:lstStyle/>
          <a:p>
            <a:r>
              <a:rPr sz="1150" b="0">
                <a:solidFill>
                  <a:srgbClr val="2E2E2E"/>
                </a:solidFill>
                <a:latin typeface="Calibri"/>
              </a:rPr>
              <a:t>▪ 'Mass Market' holds the highest share of 'Above 100–200 g/ml' at</a:t>
            </a:r>
          </a:p>
        </p:txBody>
      </p:sp>
      <p:pic>
        <p:nvPicPr>
          <p:cNvPr id="25" name="Picture 24" descr="lock.png"/>
          <p:cNvPicPr>
            <a:picLocks noChangeAspect="1"/>
          </p:cNvPicPr>
          <p:nvPr/>
        </p:nvPicPr>
        <p:blipFill>
          <a:blip r:embed="rId5"/>
          <a:stretch>
            <a:fillRect/>
          </a:stretch>
        </p:blipFill>
        <p:spPr>
          <a:xfrm>
            <a:off x="7701170" y="3889311"/>
            <a:ext cx="134549" cy="195707"/>
          </a:xfrm>
          <a:prstGeom prst="rect">
            <a:avLst/>
          </a:prstGeom>
        </p:spPr>
      </p:pic>
      <p:sp>
        <p:nvSpPr>
          <p:cNvPr id="26" name="TextBox 25"/>
          <p:cNvSpPr txBox="1"/>
          <p:nvPr/>
        </p:nvSpPr>
        <p:spPr>
          <a:xfrm>
            <a:off x="7876279" y="38995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7" name="TextBox 26"/>
          <p:cNvSpPr txBox="1"/>
          <p:nvPr/>
        </p:nvSpPr>
        <p:spPr>
          <a:xfrm>
            <a:off x="7715250" y="4127372"/>
            <a:ext cx="3540893" cy="194310"/>
          </a:xfrm>
          <a:prstGeom prst="rect">
            <a:avLst/>
          </a:prstGeom>
          <a:noFill/>
        </p:spPr>
        <p:txBody>
          <a:bodyPr wrap="none" lIns="0" rIns="0" tIns="0" bIns="0">
            <a:spAutoFit/>
          </a:bodyPr>
          <a:lstStyle/>
          <a:p>
            <a:r>
              <a:rPr sz="1150" b="0">
                <a:solidFill>
                  <a:srgbClr val="2E2E2E"/>
                </a:solidFill>
                <a:latin typeface="Calibri"/>
              </a:rPr>
              <a:t>▪ 'Above 100–200 g/ml' is the most concentrated pack size</a:t>
            </a:r>
          </a:p>
        </p:txBody>
      </p:sp>
      <p:sp>
        <p:nvSpPr>
          <p:cNvPr id="28" name="TextBox 27"/>
          <p:cNvSpPr txBox="1"/>
          <p:nvPr/>
        </p:nvSpPr>
        <p:spPr>
          <a:xfrm>
            <a:off x="7715250" y="4302632"/>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9" name="Picture 28" descr="lock.png"/>
          <p:cNvPicPr>
            <a:picLocks noChangeAspect="1"/>
          </p:cNvPicPr>
          <p:nvPr/>
        </p:nvPicPr>
        <p:blipFill>
          <a:blip r:embed="rId5"/>
          <a:stretch>
            <a:fillRect/>
          </a:stretch>
        </p:blipFill>
        <p:spPr>
          <a:xfrm>
            <a:off x="8843110" y="4292409"/>
            <a:ext cx="134549" cy="195707"/>
          </a:xfrm>
          <a:prstGeom prst="rect">
            <a:avLst/>
          </a:prstGeom>
        </p:spPr>
      </p:pic>
      <p:sp>
        <p:nvSpPr>
          <p:cNvPr id="30" name="TextBox 29"/>
          <p:cNvSpPr txBox="1"/>
          <p:nvPr/>
        </p:nvSpPr>
        <p:spPr>
          <a:xfrm>
            <a:off x="9018219" y="4302632"/>
            <a:ext cx="1835646" cy="194310"/>
          </a:xfrm>
          <a:prstGeom prst="rect">
            <a:avLst/>
          </a:prstGeom>
          <a:noFill/>
        </p:spPr>
        <p:txBody>
          <a:bodyPr wrap="none" lIns="0" rIns="0" tIns="0" bIns="0">
            <a:spAutoFit/>
          </a:bodyPr>
          <a:lstStyle/>
          <a:p>
            <a:r>
              <a:rPr sz="1150" b="0">
                <a:solidFill>
                  <a:srgbClr val="2E2E2E"/>
                </a:solidFill>
                <a:latin typeface="Calibri"/>
              </a:rPr>
              <a:t>of its value via 'Mass Market'.</a:t>
            </a:r>
          </a:p>
        </p:txBody>
      </p:sp>
      <p:sp>
        <p:nvSpPr>
          <p:cNvPr id="31" name="TextBox 30"/>
          <p:cNvSpPr txBox="1"/>
          <p:nvPr/>
        </p:nvSpPr>
        <p:spPr>
          <a:xfrm>
            <a:off x="7715250" y="4530470"/>
            <a:ext cx="1669057" cy="194310"/>
          </a:xfrm>
          <a:prstGeom prst="rect">
            <a:avLst/>
          </a:prstGeom>
          <a:noFill/>
        </p:spPr>
        <p:txBody>
          <a:bodyPr wrap="none" lIns="0" rIns="0" tIns="0" bIns="0">
            <a:spAutoFit/>
          </a:bodyPr>
          <a:lstStyle/>
          <a:p>
            <a:r>
              <a:rPr sz="1150" b="0">
                <a:solidFill>
                  <a:srgbClr val="2E2E2E"/>
                </a:solidFill>
                <a:latin typeface="Calibri"/>
              </a:rPr>
              <a:t>▪ 'Prestige / Luxury' gains +</a:t>
            </a:r>
          </a:p>
        </p:txBody>
      </p:sp>
      <p:pic>
        <p:nvPicPr>
          <p:cNvPr id="32" name="Picture 31" descr="lock.png"/>
          <p:cNvPicPr>
            <a:picLocks noChangeAspect="1"/>
          </p:cNvPicPr>
          <p:nvPr/>
        </p:nvPicPr>
        <p:blipFill>
          <a:blip r:embed="rId5"/>
          <a:stretch>
            <a:fillRect/>
          </a:stretch>
        </p:blipFill>
        <p:spPr>
          <a:xfrm>
            <a:off x="9333461" y="4520247"/>
            <a:ext cx="134549" cy="195707"/>
          </a:xfrm>
          <a:prstGeom prst="rect">
            <a:avLst/>
          </a:prstGeom>
        </p:spPr>
      </p:pic>
      <p:sp>
        <p:nvSpPr>
          <p:cNvPr id="33" name="TextBox 32"/>
          <p:cNvSpPr txBox="1"/>
          <p:nvPr/>
        </p:nvSpPr>
        <p:spPr>
          <a:xfrm>
            <a:off x="9508571" y="4530470"/>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34" name="TextBox 33"/>
          <p:cNvSpPr txBox="1"/>
          <p:nvPr/>
        </p:nvSpPr>
        <p:spPr>
          <a:xfrm>
            <a:off x="7715250" y="4705730"/>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5" name="lockshield_16"/>
          <p:cNvSpPr/>
          <p:nvPr/>
        </p:nvSpPr>
        <p:spPr>
          <a:xfrm>
            <a:off x="238125" y="3590925"/>
            <a:ext cx="7096125" cy="29813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Pack Size × Price Tier,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Pack Size × Price Tier, 2026E–2036F</a:t>
            </a:r>
          </a:p>
        </p:txBody>
      </p:sp>
      <p:graphicFrame>
        <p:nvGraphicFramePr>
          <p:cNvPr id="12" name="Table 11"/>
          <p:cNvGraphicFramePr>
            <a:graphicFrameLocks noGrp="1"/>
          </p:cNvGraphicFramePr>
          <p:nvPr/>
        </p:nvGraphicFramePr>
        <p:xfrm>
          <a:off x="152400" y="1238250"/>
          <a:ext cx="11887203" cy="1971675"/>
        </p:xfrm>
        <a:graphic>
          <a:graphicData uri="http://schemas.openxmlformats.org/drawingml/2006/table">
            <a:tbl>
              <a:tblPr>
                <a:tableStyleId>{5C22544A-7EE6-4342-B048-85BDC9FD1C3A}</a:tableStyleId>
              </a:tblPr>
              <a:tblGrid>
                <a:gridCol w="2243563"/>
                <a:gridCol w="964364"/>
                <a:gridCol w="964364"/>
                <a:gridCol w="964364"/>
                <a:gridCol w="964364"/>
                <a:gridCol w="964364"/>
                <a:gridCol w="964364"/>
                <a:gridCol w="964364"/>
                <a:gridCol w="964364"/>
                <a:gridCol w="964364"/>
                <a:gridCol w="964364"/>
              </a:tblGrid>
              <a:tr h="246126">
                <a:tc rowSpan="2">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Mass Market</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Masstige</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Premium</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Prestige / Luxury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8.0%</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560070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87667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53340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'Up to 30 g/ml × Mass Market' ranks highest (5/5); 'Above 50–100 g/ml × Masstige'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031093" y="2203704"/>
            <a:ext cx="366712" cy="533400"/>
          </a:xfrm>
          <a:prstGeom prst="rect">
            <a:avLst/>
          </a:prstGeom>
        </p:spPr>
      </p:pic>
      <p:sp>
        <p:nvSpPr>
          <p:cNvPr id="32" name="TextBox 31"/>
          <p:cNvSpPr txBox="1"/>
          <p:nvPr/>
        </p:nvSpPr>
        <p:spPr>
          <a:xfrm>
            <a:off x="276225" y="3971925"/>
            <a:ext cx="2145717" cy="194310"/>
          </a:xfrm>
          <a:prstGeom prst="rect">
            <a:avLst/>
          </a:prstGeom>
          <a:noFill/>
        </p:spPr>
        <p:txBody>
          <a:bodyPr wrap="none" lIns="0" rIns="0" tIns="0" bIns="0">
            <a:spAutoFit/>
          </a:bodyPr>
          <a:lstStyle/>
          <a:p>
            <a:r>
              <a:rPr sz="1150" b="0">
                <a:solidFill>
                  <a:srgbClr val="2E2E2E"/>
                </a:solidFill>
                <a:latin typeface="Calibri"/>
              </a:rPr>
              <a:t>▪ 1. Up to 30 g/ml × Mass Market –</a:t>
            </a:r>
          </a:p>
        </p:txBody>
      </p:sp>
      <p:pic>
        <p:nvPicPr>
          <p:cNvPr id="33" name="Picture 32" descr="lock.png"/>
          <p:cNvPicPr>
            <a:picLocks noChangeAspect="1"/>
          </p:cNvPicPr>
          <p:nvPr/>
        </p:nvPicPr>
        <p:blipFill>
          <a:blip r:embed="rId4"/>
          <a:stretch>
            <a:fillRect/>
          </a:stretch>
        </p:blipFill>
        <p:spPr>
          <a:xfrm>
            <a:off x="2371096" y="3961701"/>
            <a:ext cx="134549" cy="195707"/>
          </a:xfrm>
          <a:prstGeom prst="rect">
            <a:avLst/>
          </a:prstGeom>
        </p:spPr>
      </p:pic>
      <p:sp>
        <p:nvSpPr>
          <p:cNvPr id="34" name="TextBox 33"/>
          <p:cNvSpPr txBox="1"/>
          <p:nvPr/>
        </p:nvSpPr>
        <p:spPr>
          <a:xfrm>
            <a:off x="2546205" y="39719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2608356" y="3961701"/>
            <a:ext cx="134549" cy="195707"/>
          </a:xfrm>
          <a:prstGeom prst="rect">
            <a:avLst/>
          </a:prstGeom>
        </p:spPr>
      </p:pic>
      <p:sp>
        <p:nvSpPr>
          <p:cNvPr id="36" name="TextBox 35"/>
          <p:cNvSpPr txBox="1"/>
          <p:nvPr/>
        </p:nvSpPr>
        <p:spPr>
          <a:xfrm>
            <a:off x="2783466" y="397192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199763"/>
            <a:ext cx="2266949" cy="194310"/>
          </a:xfrm>
          <a:prstGeom prst="rect">
            <a:avLst/>
          </a:prstGeom>
          <a:noFill/>
        </p:spPr>
        <p:txBody>
          <a:bodyPr wrap="none" lIns="0" rIns="0" tIns="0" bIns="0">
            <a:spAutoFit/>
          </a:bodyPr>
          <a:lstStyle/>
          <a:p>
            <a:r>
              <a:rPr sz="1150" b="0">
                <a:solidFill>
                  <a:srgbClr val="2E2E2E"/>
                </a:solidFill>
                <a:latin typeface="Calibri"/>
              </a:rPr>
              <a:t>▪ 2. Above 200 g/ml × Mass Market –</a:t>
            </a:r>
          </a:p>
        </p:txBody>
      </p:sp>
      <p:pic>
        <p:nvPicPr>
          <p:cNvPr id="38" name="Picture 37" descr="lock.png"/>
          <p:cNvPicPr>
            <a:picLocks noChangeAspect="1"/>
          </p:cNvPicPr>
          <p:nvPr/>
        </p:nvPicPr>
        <p:blipFill>
          <a:blip r:embed="rId4"/>
          <a:stretch>
            <a:fillRect/>
          </a:stretch>
        </p:blipFill>
        <p:spPr>
          <a:xfrm>
            <a:off x="2492328" y="4189539"/>
            <a:ext cx="134549" cy="195707"/>
          </a:xfrm>
          <a:prstGeom prst="rect">
            <a:avLst/>
          </a:prstGeom>
        </p:spPr>
      </p:pic>
      <p:sp>
        <p:nvSpPr>
          <p:cNvPr id="39" name="TextBox 38"/>
          <p:cNvSpPr txBox="1"/>
          <p:nvPr/>
        </p:nvSpPr>
        <p:spPr>
          <a:xfrm>
            <a:off x="2667438" y="41997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2729589" y="4189539"/>
            <a:ext cx="134549" cy="195707"/>
          </a:xfrm>
          <a:prstGeom prst="rect">
            <a:avLst/>
          </a:prstGeom>
        </p:spPr>
      </p:pic>
      <p:sp>
        <p:nvSpPr>
          <p:cNvPr id="41" name="TextBox 40"/>
          <p:cNvSpPr txBox="1"/>
          <p:nvPr/>
        </p:nvSpPr>
        <p:spPr>
          <a:xfrm>
            <a:off x="2904699" y="419976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4427600"/>
            <a:ext cx="2562187" cy="194310"/>
          </a:xfrm>
          <a:prstGeom prst="rect">
            <a:avLst/>
          </a:prstGeom>
          <a:noFill/>
        </p:spPr>
        <p:txBody>
          <a:bodyPr wrap="none" lIns="0" rIns="0" tIns="0" bIns="0">
            <a:spAutoFit/>
          </a:bodyPr>
          <a:lstStyle/>
          <a:p>
            <a:r>
              <a:rPr sz="1150" b="0">
                <a:solidFill>
                  <a:srgbClr val="2E2E2E"/>
                </a:solidFill>
                <a:latin typeface="Calibri"/>
              </a:rPr>
              <a:t>▪ 3. Above 100–200 g/ml × Mass Market –</a:t>
            </a:r>
          </a:p>
        </p:txBody>
      </p:sp>
      <p:pic>
        <p:nvPicPr>
          <p:cNvPr id="43" name="Picture 42" descr="lock.png"/>
          <p:cNvPicPr>
            <a:picLocks noChangeAspect="1"/>
          </p:cNvPicPr>
          <p:nvPr/>
        </p:nvPicPr>
        <p:blipFill>
          <a:blip r:embed="rId4"/>
          <a:stretch>
            <a:fillRect/>
          </a:stretch>
        </p:blipFill>
        <p:spPr>
          <a:xfrm>
            <a:off x="2787566" y="4417377"/>
            <a:ext cx="134549" cy="195707"/>
          </a:xfrm>
          <a:prstGeom prst="rect">
            <a:avLst/>
          </a:prstGeom>
        </p:spPr>
      </p:pic>
      <p:sp>
        <p:nvSpPr>
          <p:cNvPr id="44" name="TextBox 43"/>
          <p:cNvSpPr txBox="1"/>
          <p:nvPr/>
        </p:nvSpPr>
        <p:spPr>
          <a:xfrm>
            <a:off x="2962676" y="442760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024827" y="4417377"/>
            <a:ext cx="134549" cy="195707"/>
          </a:xfrm>
          <a:prstGeom prst="rect">
            <a:avLst/>
          </a:prstGeom>
        </p:spPr>
      </p:pic>
      <p:sp>
        <p:nvSpPr>
          <p:cNvPr id="46" name="TextBox 45"/>
          <p:cNvSpPr txBox="1"/>
          <p:nvPr/>
        </p:nvSpPr>
        <p:spPr>
          <a:xfrm>
            <a:off x="3199936" y="442760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7" name="TextBox 46"/>
          <p:cNvSpPr txBox="1"/>
          <p:nvPr/>
        </p:nvSpPr>
        <p:spPr>
          <a:xfrm>
            <a:off x="276225" y="4655438"/>
            <a:ext cx="2413855" cy="194310"/>
          </a:xfrm>
          <a:prstGeom prst="rect">
            <a:avLst/>
          </a:prstGeom>
          <a:noFill/>
        </p:spPr>
        <p:txBody>
          <a:bodyPr wrap="none" lIns="0" rIns="0" tIns="0" bIns="0">
            <a:spAutoFit/>
          </a:bodyPr>
          <a:lstStyle/>
          <a:p>
            <a:r>
              <a:rPr sz="1150" b="0">
                <a:solidFill>
                  <a:srgbClr val="2E2E2E"/>
                </a:solidFill>
                <a:latin typeface="Calibri"/>
              </a:rPr>
              <a:t>▪ 4. Above 30–50 g/ml × Mass Market –</a:t>
            </a:r>
          </a:p>
        </p:txBody>
      </p:sp>
      <p:pic>
        <p:nvPicPr>
          <p:cNvPr id="48" name="Picture 47" descr="lock.png"/>
          <p:cNvPicPr>
            <a:picLocks noChangeAspect="1"/>
          </p:cNvPicPr>
          <p:nvPr/>
        </p:nvPicPr>
        <p:blipFill>
          <a:blip r:embed="rId4"/>
          <a:stretch>
            <a:fillRect/>
          </a:stretch>
        </p:blipFill>
        <p:spPr>
          <a:xfrm>
            <a:off x="2639234" y="4645215"/>
            <a:ext cx="134549" cy="195707"/>
          </a:xfrm>
          <a:prstGeom prst="rect">
            <a:avLst/>
          </a:prstGeom>
        </p:spPr>
      </p:pic>
      <p:sp>
        <p:nvSpPr>
          <p:cNvPr id="49" name="TextBox 48"/>
          <p:cNvSpPr txBox="1"/>
          <p:nvPr/>
        </p:nvSpPr>
        <p:spPr>
          <a:xfrm>
            <a:off x="2814343" y="465543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2876495" y="4645215"/>
            <a:ext cx="134549" cy="195707"/>
          </a:xfrm>
          <a:prstGeom prst="rect">
            <a:avLst/>
          </a:prstGeom>
        </p:spPr>
      </p:pic>
      <p:sp>
        <p:nvSpPr>
          <p:cNvPr id="51" name="TextBox 50"/>
          <p:cNvSpPr txBox="1"/>
          <p:nvPr/>
        </p:nvSpPr>
        <p:spPr>
          <a:xfrm>
            <a:off x="3051604" y="4655438"/>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2" name="TextBox 51"/>
          <p:cNvSpPr txBox="1"/>
          <p:nvPr/>
        </p:nvSpPr>
        <p:spPr>
          <a:xfrm>
            <a:off x="276225" y="4883276"/>
            <a:ext cx="2489448" cy="194310"/>
          </a:xfrm>
          <a:prstGeom prst="rect">
            <a:avLst/>
          </a:prstGeom>
          <a:noFill/>
        </p:spPr>
        <p:txBody>
          <a:bodyPr wrap="none" lIns="0" rIns="0" tIns="0" bIns="0">
            <a:spAutoFit/>
          </a:bodyPr>
          <a:lstStyle/>
          <a:p>
            <a:r>
              <a:rPr sz="1150" b="0">
                <a:solidFill>
                  <a:srgbClr val="2E2E2E"/>
                </a:solidFill>
                <a:latin typeface="Calibri"/>
              </a:rPr>
              <a:t>▪ 5. Above 200 g/ml × Prestige / Luxury –</a:t>
            </a:r>
          </a:p>
        </p:txBody>
      </p:sp>
      <p:pic>
        <p:nvPicPr>
          <p:cNvPr id="53" name="Picture 52" descr="lock.png"/>
          <p:cNvPicPr>
            <a:picLocks noChangeAspect="1"/>
          </p:cNvPicPr>
          <p:nvPr/>
        </p:nvPicPr>
        <p:blipFill>
          <a:blip r:embed="rId4"/>
          <a:stretch>
            <a:fillRect/>
          </a:stretch>
        </p:blipFill>
        <p:spPr>
          <a:xfrm>
            <a:off x="2714826" y="4873053"/>
            <a:ext cx="134549" cy="195707"/>
          </a:xfrm>
          <a:prstGeom prst="rect">
            <a:avLst/>
          </a:prstGeom>
        </p:spPr>
      </p:pic>
      <p:sp>
        <p:nvSpPr>
          <p:cNvPr id="54" name="TextBox 53"/>
          <p:cNvSpPr txBox="1"/>
          <p:nvPr/>
        </p:nvSpPr>
        <p:spPr>
          <a:xfrm>
            <a:off x="2889936" y="488327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2952087" y="4873053"/>
            <a:ext cx="134549" cy="195707"/>
          </a:xfrm>
          <a:prstGeom prst="rect">
            <a:avLst/>
          </a:prstGeom>
        </p:spPr>
      </p:pic>
      <p:sp>
        <p:nvSpPr>
          <p:cNvPr id="56" name="TextBox 55"/>
          <p:cNvSpPr txBox="1"/>
          <p:nvPr/>
        </p:nvSpPr>
        <p:spPr>
          <a:xfrm>
            <a:off x="3127197" y="4883276"/>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7" name="TextBox 56"/>
          <p:cNvSpPr txBox="1"/>
          <p:nvPr/>
        </p:nvSpPr>
        <p:spPr>
          <a:xfrm>
            <a:off x="6029325" y="3971925"/>
            <a:ext cx="1460822" cy="194310"/>
          </a:xfrm>
          <a:prstGeom prst="rect">
            <a:avLst/>
          </a:prstGeom>
          <a:noFill/>
        </p:spPr>
        <p:txBody>
          <a:bodyPr wrap="none" lIns="0" rIns="0" tIns="0" bIns="0">
            <a:spAutoFit/>
          </a:bodyPr>
          <a:lstStyle/>
          <a:p>
            <a:r>
              <a:rPr sz="1150" b="0">
                <a:solidFill>
                  <a:srgbClr val="2E2E2E"/>
                </a:solidFill>
                <a:latin typeface="Calibri"/>
              </a:rPr>
              <a:t>▪ 'Up to 30 g/ml × Mass</a:t>
            </a:r>
          </a:p>
        </p:txBody>
      </p:sp>
      <p:sp>
        <p:nvSpPr>
          <p:cNvPr id="58" name="TextBox 57"/>
          <p:cNvSpPr txBox="1"/>
          <p:nvPr/>
        </p:nvSpPr>
        <p:spPr>
          <a:xfrm>
            <a:off x="6029325" y="4147185"/>
            <a:ext cx="856084" cy="194310"/>
          </a:xfrm>
          <a:prstGeom prst="rect">
            <a:avLst/>
          </a:prstGeom>
          <a:noFill/>
        </p:spPr>
        <p:txBody>
          <a:bodyPr wrap="none" lIns="0" rIns="0" tIns="0" bIns="0">
            <a:spAutoFit/>
          </a:bodyPr>
          <a:lstStyle/>
          <a:p>
            <a:r>
              <a:rPr sz="1150" b="0">
                <a:solidFill>
                  <a:srgbClr val="2E2E2E"/>
                </a:solidFill>
                <a:latin typeface="Calibri"/>
              </a:rPr>
              <a:t>Market' adds</a:t>
            </a:r>
          </a:p>
        </p:txBody>
      </p:sp>
      <p:pic>
        <p:nvPicPr>
          <p:cNvPr id="59" name="Picture 58" descr="lock.png"/>
          <p:cNvPicPr>
            <a:picLocks noChangeAspect="1"/>
          </p:cNvPicPr>
          <p:nvPr/>
        </p:nvPicPr>
        <p:blipFill>
          <a:blip r:embed="rId4"/>
          <a:stretch>
            <a:fillRect/>
          </a:stretch>
        </p:blipFill>
        <p:spPr>
          <a:xfrm>
            <a:off x="6834563" y="4136961"/>
            <a:ext cx="134549" cy="195707"/>
          </a:xfrm>
          <a:prstGeom prst="rect">
            <a:avLst/>
          </a:prstGeom>
        </p:spPr>
      </p:pic>
      <p:sp>
        <p:nvSpPr>
          <p:cNvPr id="60" name="TextBox 59"/>
          <p:cNvSpPr txBox="1"/>
          <p:nvPr/>
        </p:nvSpPr>
        <p:spPr>
          <a:xfrm>
            <a:off x="7009672" y="4147185"/>
            <a:ext cx="546013"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61" name="TextBox 60"/>
          <p:cNvSpPr txBox="1"/>
          <p:nvPr/>
        </p:nvSpPr>
        <p:spPr>
          <a:xfrm>
            <a:off x="6029325" y="4322445"/>
            <a:ext cx="721729" cy="194310"/>
          </a:xfrm>
          <a:prstGeom prst="rect">
            <a:avLst/>
          </a:prstGeom>
          <a:noFill/>
        </p:spPr>
        <p:txBody>
          <a:bodyPr wrap="none" lIns="0" rIns="0" tIns="0" bIns="0">
            <a:spAutoFit/>
          </a:bodyPr>
          <a:lstStyle/>
          <a:p>
            <a:r>
              <a:rPr sz="1150" b="0">
                <a:solidFill>
                  <a:srgbClr val="2E2E2E"/>
                </a:solidFill>
                <a:latin typeface="Calibri"/>
              </a:rPr>
              <a:t>by 2036F –</a:t>
            </a:r>
          </a:p>
        </p:txBody>
      </p:sp>
      <p:pic>
        <p:nvPicPr>
          <p:cNvPr id="62" name="Picture 61" descr="lock.png"/>
          <p:cNvPicPr>
            <a:picLocks noChangeAspect="1"/>
          </p:cNvPicPr>
          <p:nvPr/>
        </p:nvPicPr>
        <p:blipFill>
          <a:blip r:embed="rId4"/>
          <a:stretch>
            <a:fillRect/>
          </a:stretch>
        </p:blipFill>
        <p:spPr>
          <a:xfrm>
            <a:off x="6700208" y="4312221"/>
            <a:ext cx="134549" cy="195707"/>
          </a:xfrm>
          <a:prstGeom prst="rect">
            <a:avLst/>
          </a:prstGeom>
        </p:spPr>
      </p:pic>
      <p:sp>
        <p:nvSpPr>
          <p:cNvPr id="63" name="TextBox 62"/>
          <p:cNvSpPr txBox="1"/>
          <p:nvPr/>
        </p:nvSpPr>
        <p:spPr>
          <a:xfrm>
            <a:off x="6875317" y="4322445"/>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4" name="TextBox 63"/>
          <p:cNvSpPr txBox="1"/>
          <p:nvPr/>
        </p:nvSpPr>
        <p:spPr>
          <a:xfrm>
            <a:off x="6029325" y="449770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5" name="TextBox 64"/>
          <p:cNvSpPr txBox="1"/>
          <p:nvPr/>
        </p:nvSpPr>
        <p:spPr>
          <a:xfrm>
            <a:off x="8124825" y="3971925"/>
            <a:ext cx="1535273" cy="194310"/>
          </a:xfrm>
          <a:prstGeom prst="rect">
            <a:avLst/>
          </a:prstGeom>
          <a:noFill/>
        </p:spPr>
        <p:txBody>
          <a:bodyPr wrap="none" lIns="0" rIns="0" tIns="0" bIns="0">
            <a:spAutoFit/>
          </a:bodyPr>
          <a:lstStyle/>
          <a:p>
            <a:r>
              <a:rPr sz="1150" b="0">
                <a:solidFill>
                  <a:srgbClr val="2E2E2E"/>
                </a:solidFill>
                <a:latin typeface="Calibri"/>
              </a:rPr>
              <a:t>▪ 'Above 100–200 g/ml ×</a:t>
            </a:r>
          </a:p>
        </p:txBody>
      </p:sp>
      <p:sp>
        <p:nvSpPr>
          <p:cNvPr id="66" name="TextBox 65"/>
          <p:cNvSpPr txBox="1"/>
          <p:nvPr/>
        </p:nvSpPr>
        <p:spPr>
          <a:xfrm>
            <a:off x="8124825" y="4147185"/>
            <a:ext cx="1650516" cy="194310"/>
          </a:xfrm>
          <a:prstGeom prst="rect">
            <a:avLst/>
          </a:prstGeom>
          <a:noFill/>
        </p:spPr>
        <p:txBody>
          <a:bodyPr wrap="none" lIns="0" rIns="0" tIns="0" bIns="0">
            <a:spAutoFit/>
          </a:bodyPr>
          <a:lstStyle/>
          <a:p>
            <a:r>
              <a:rPr sz="1150" b="0">
                <a:solidFill>
                  <a:srgbClr val="2E2E2E"/>
                </a:solidFill>
                <a:latin typeface="Calibri"/>
              </a:rPr>
              <a:t>Prestige / Luxury' grows at</a:t>
            </a:r>
          </a:p>
        </p:txBody>
      </p:sp>
      <p:sp>
        <p:nvSpPr>
          <p:cNvPr id="67" name="TextBox 66"/>
          <p:cNvSpPr txBox="1"/>
          <p:nvPr/>
        </p:nvSpPr>
        <p:spPr>
          <a:xfrm>
            <a:off x="8124825" y="4322445"/>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68" name="Picture 67" descr="lock.png"/>
          <p:cNvPicPr>
            <a:picLocks noChangeAspect="1"/>
          </p:cNvPicPr>
          <p:nvPr/>
        </p:nvPicPr>
        <p:blipFill>
          <a:blip r:embed="rId4"/>
          <a:stretch>
            <a:fillRect/>
          </a:stretch>
        </p:blipFill>
        <p:spPr>
          <a:xfrm>
            <a:off x="8220066" y="4312221"/>
            <a:ext cx="134549" cy="195707"/>
          </a:xfrm>
          <a:prstGeom prst="rect">
            <a:avLst/>
          </a:prstGeom>
        </p:spPr>
      </p:pic>
      <p:sp>
        <p:nvSpPr>
          <p:cNvPr id="69" name="TextBox 68"/>
          <p:cNvSpPr txBox="1"/>
          <p:nvPr/>
        </p:nvSpPr>
        <p:spPr>
          <a:xfrm>
            <a:off x="8395175" y="432244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0" name="Picture 69" descr="lock.png"/>
          <p:cNvPicPr>
            <a:picLocks noChangeAspect="1"/>
          </p:cNvPicPr>
          <p:nvPr/>
        </p:nvPicPr>
        <p:blipFill>
          <a:blip r:embed="rId4"/>
          <a:stretch>
            <a:fillRect/>
          </a:stretch>
        </p:blipFill>
        <p:spPr>
          <a:xfrm>
            <a:off x="8790771" y="4312221"/>
            <a:ext cx="134549" cy="195707"/>
          </a:xfrm>
          <a:prstGeom prst="rect">
            <a:avLst/>
          </a:prstGeom>
        </p:spPr>
      </p:pic>
      <p:sp>
        <p:nvSpPr>
          <p:cNvPr id="71" name="TextBox 70"/>
          <p:cNvSpPr txBox="1"/>
          <p:nvPr/>
        </p:nvSpPr>
        <p:spPr>
          <a:xfrm>
            <a:off x="8965880" y="4322445"/>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72" name="TextBox 71"/>
          <p:cNvSpPr txBox="1"/>
          <p:nvPr/>
        </p:nvSpPr>
        <p:spPr>
          <a:xfrm>
            <a:off x="8124825" y="4497704"/>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082800"/>
            <a:ext cx="7239000" cy="247650"/>
          </a:xfrm>
          <a:prstGeom prst="rect">
            <a:avLst/>
          </a:prstGeom>
          <a:noFill/>
        </p:spPr>
        <p:txBody>
          <a:bodyPr wrap="none" lIns="0" tIns="0">
            <a:spAutoFit/>
          </a:bodyPr>
          <a:lstStyle/>
          <a:p>
            <a:r>
              <a:rPr sz="1400" b="0">
                <a:solidFill>
                  <a:srgbClr val="8FC8F2"/>
                </a:solidFill>
                <a:latin typeface="Calibri"/>
              </a:rPr>
              <a:t>Ceramide Sunscreen Market</a:t>
            </a:r>
          </a:p>
        </p:txBody>
      </p:sp>
      <p:sp>
        <p:nvSpPr>
          <p:cNvPr id="6" name="FMI Breaker Title"/>
          <p:cNvSpPr txBox="1"/>
          <p:nvPr/>
        </p:nvSpPr>
        <p:spPr>
          <a:xfrm>
            <a:off x="914400" y="2387600"/>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549650"/>
            <a:ext cx="5067300" cy="26543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Form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SPF Rating</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Ingredient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End-use Application</a:t>
            </a:r>
          </a:p>
        </p:txBody>
      </p:sp>
      <p:sp>
        <p:nvSpPr>
          <p:cNvPr id="8" name="TextBox 7"/>
          <p:cNvSpPr txBox="1"/>
          <p:nvPr/>
        </p:nvSpPr>
        <p:spPr>
          <a:xfrm>
            <a:off x="6096000" y="3549650"/>
            <a:ext cx="5067300" cy="2418080"/>
          </a:xfrm>
          <a:prstGeom prst="rect">
            <a:avLst/>
          </a:prstGeom>
          <a:noFill/>
        </p:spPr>
        <p:txBody>
          <a:bodyPr wrap="square" lIns="0" rIns="0" tIns="0" bIns="0">
            <a:spAutoFit/>
          </a:bodyPr>
          <a:lstStyle/>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Pack Size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Price Tier</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SPF Rating</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Ingredient Type ×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Form Type × End-use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Pack Size × Price Tier</a:t>
            </a:r>
          </a:p>
        </p:txBody>
      </p:sp>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Summary, By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38550" cy="186689"/>
          </a:xfrm>
          <a:prstGeom prst="rect">
            <a:avLst/>
          </a:prstGeom>
          <a:noFill/>
        </p:spPr>
        <p:txBody>
          <a:bodyPr wrap="none" lIns="0" rIns="0" tIns="0" bIns="0">
            <a:spAutoFit/>
          </a:bodyPr>
          <a:lstStyle/>
          <a:p>
            <a:r>
              <a:rPr sz="1100" b="0">
                <a:solidFill>
                  <a:srgbClr val="2E2E2E"/>
                </a:solidFill>
                <a:latin typeface="Calibri"/>
              </a:rPr>
              <a:t>North America ceramide sunscreen market is projected to register</a:t>
            </a:r>
          </a:p>
        </p:txBody>
      </p:sp>
      <p:pic>
        <p:nvPicPr>
          <p:cNvPr id="35" name="Picture 34" descr="lock.png"/>
          <p:cNvPicPr>
            <a:picLocks noChangeAspect="1"/>
          </p:cNvPicPr>
          <p:nvPr/>
        </p:nvPicPr>
        <p:blipFill>
          <a:blip r:embed="rId6"/>
          <a:stretch>
            <a:fillRect/>
          </a:stretch>
        </p:blipFill>
        <p:spPr>
          <a:xfrm>
            <a:off x="8035157" y="2204848"/>
            <a:ext cx="128699" cy="187198"/>
          </a:xfrm>
          <a:prstGeom prst="rect">
            <a:avLst/>
          </a:prstGeom>
        </p:spPr>
      </p:pic>
      <p:sp>
        <p:nvSpPr>
          <p:cNvPr id="36" name="TextBox 35"/>
          <p:cNvSpPr txBox="1"/>
          <p:nvPr/>
        </p:nvSpPr>
        <p:spPr>
          <a:xfrm>
            <a:off x="8202653" y="2214627"/>
            <a:ext cx="3679750"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 North</a:t>
            </a:r>
          </a:p>
        </p:txBody>
      </p:sp>
      <p:sp>
        <p:nvSpPr>
          <p:cNvPr id="37" name="TextBox 36"/>
          <p:cNvSpPr txBox="1"/>
          <p:nvPr/>
        </p:nvSpPr>
        <p:spPr>
          <a:xfrm>
            <a:off x="8048625" y="2382267"/>
            <a:ext cx="3109763" cy="186689"/>
          </a:xfrm>
          <a:prstGeom prst="rect">
            <a:avLst/>
          </a:prstGeom>
          <a:noFill/>
        </p:spPr>
        <p:txBody>
          <a:bodyPr wrap="none" lIns="0" rIns="0" tIns="0" bIns="0">
            <a:spAutoFit/>
          </a:bodyPr>
          <a:lstStyle/>
          <a:p>
            <a:r>
              <a:rPr sz="1100" b="0">
                <a:solidFill>
                  <a:srgbClr val="2E2E2E"/>
                </a:solidFill>
                <a:latin typeface="Calibri"/>
              </a:rPr>
              <a:t>America ceramide sunscreen market volume stood at</a:t>
            </a:r>
          </a:p>
        </p:txBody>
      </p:sp>
      <p:pic>
        <p:nvPicPr>
          <p:cNvPr id="38" name="Picture 37" descr="lock.png"/>
          <p:cNvPicPr>
            <a:picLocks noChangeAspect="1"/>
          </p:cNvPicPr>
          <p:nvPr/>
        </p:nvPicPr>
        <p:blipFill>
          <a:blip r:embed="rId6"/>
          <a:stretch>
            <a:fillRect/>
          </a:stretch>
        </p:blipFill>
        <p:spPr>
          <a:xfrm>
            <a:off x="11106440" y="2372488"/>
            <a:ext cx="128699" cy="187198"/>
          </a:xfrm>
          <a:prstGeom prst="rect">
            <a:avLst/>
          </a:prstGeom>
        </p:spPr>
      </p:pic>
      <p:sp>
        <p:nvSpPr>
          <p:cNvPr id="39" name="TextBox 38"/>
          <p:cNvSpPr txBox="1"/>
          <p:nvPr/>
        </p:nvSpPr>
        <p:spPr>
          <a:xfrm>
            <a:off x="11273936" y="2382267"/>
            <a:ext cx="510306" cy="186689"/>
          </a:xfrm>
          <a:prstGeom prst="rect">
            <a:avLst/>
          </a:prstGeom>
          <a:noFill/>
        </p:spPr>
        <p:txBody>
          <a:bodyPr wrap="none" lIns="0" rIns="0" tIns="0" bIns="0">
            <a:spAutoFit/>
          </a:bodyPr>
          <a:lstStyle/>
          <a:p>
            <a:r>
              <a:rPr sz="1100" b="0">
                <a:solidFill>
                  <a:srgbClr val="2E2E2E"/>
                </a:solidFill>
                <a:latin typeface="Calibri"/>
              </a:rPr>
              <a:t>Units in</a:t>
            </a:r>
          </a:p>
        </p:txBody>
      </p:sp>
      <p:sp>
        <p:nvSpPr>
          <p:cNvPr id="40" name="TextBox 39"/>
          <p:cNvSpPr txBox="1"/>
          <p:nvPr/>
        </p:nvSpPr>
        <p:spPr>
          <a:xfrm>
            <a:off x="8048625" y="2549907"/>
            <a:ext cx="1779339" cy="186689"/>
          </a:xfrm>
          <a:prstGeom prst="rect">
            <a:avLst/>
          </a:prstGeom>
          <a:noFill/>
        </p:spPr>
        <p:txBody>
          <a:bodyPr wrap="none" lIns="0" rIns="0" tIns="0" bIns="0">
            <a:spAutoFit/>
          </a:bodyPr>
          <a:lstStyle/>
          <a:p>
            <a:r>
              <a:rPr sz="1100" b="0">
                <a:solidFill>
                  <a:srgbClr val="2E2E2E"/>
                </a:solidFill>
                <a:latin typeface="Calibri"/>
              </a:rPr>
              <a:t>2025 and is expected to reach</a:t>
            </a:r>
          </a:p>
        </p:txBody>
      </p:sp>
      <p:pic>
        <p:nvPicPr>
          <p:cNvPr id="41" name="Picture 40" descr="lock.png"/>
          <p:cNvPicPr>
            <a:picLocks noChangeAspect="1"/>
          </p:cNvPicPr>
          <p:nvPr/>
        </p:nvPicPr>
        <p:blipFill>
          <a:blip r:embed="rId6"/>
          <a:stretch>
            <a:fillRect/>
          </a:stretch>
        </p:blipFill>
        <p:spPr>
          <a:xfrm>
            <a:off x="9776016" y="2540128"/>
            <a:ext cx="128699" cy="187198"/>
          </a:xfrm>
          <a:prstGeom prst="rect">
            <a:avLst/>
          </a:prstGeom>
        </p:spPr>
      </p:pic>
      <p:sp>
        <p:nvSpPr>
          <p:cNvPr id="42" name="TextBox 41"/>
          <p:cNvSpPr txBox="1"/>
          <p:nvPr/>
        </p:nvSpPr>
        <p:spPr>
          <a:xfrm>
            <a:off x="9943511" y="2549907"/>
            <a:ext cx="1882460" cy="186689"/>
          </a:xfrm>
          <a:prstGeom prst="rect">
            <a:avLst/>
          </a:prstGeom>
          <a:noFill/>
        </p:spPr>
        <p:txBody>
          <a:bodyPr wrap="none" lIns="0" rIns="0" tIns="0" bIns="0">
            <a:spAutoFit/>
          </a:bodyPr>
          <a:lstStyle/>
          <a:p>
            <a:r>
              <a:rPr sz="1100" b="0">
                <a:solidFill>
                  <a:srgbClr val="2E2E2E"/>
                </a:solidFill>
                <a:latin typeface="Calibri"/>
              </a:rPr>
              <a:t>Units by 2036 end, at a CAGR of</a:t>
            </a:r>
          </a:p>
        </p:txBody>
      </p:sp>
      <p:pic>
        <p:nvPicPr>
          <p:cNvPr id="43" name="Picture 42" descr="lock.png"/>
          <p:cNvPicPr>
            <a:picLocks noChangeAspect="1"/>
          </p:cNvPicPr>
          <p:nvPr/>
        </p:nvPicPr>
        <p:blipFill>
          <a:blip r:embed="rId6"/>
          <a:stretch>
            <a:fillRect/>
          </a:stretch>
        </p:blipFill>
        <p:spPr>
          <a:xfrm>
            <a:off x="8035157" y="2707768"/>
            <a:ext cx="128699" cy="187198"/>
          </a:xfrm>
          <a:prstGeom prst="rect">
            <a:avLst/>
          </a:prstGeom>
        </p:spPr>
      </p:pic>
      <p:sp>
        <p:nvSpPr>
          <p:cNvPr id="44" name="TextBox 43"/>
          <p:cNvSpPr txBox="1"/>
          <p:nvPr/>
        </p:nvSpPr>
        <p:spPr>
          <a:xfrm>
            <a:off x="820265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6" name="TextBox 45"/>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7" name="TextBox 46"/>
          <p:cNvSpPr txBox="1"/>
          <p:nvPr/>
        </p:nvSpPr>
        <p:spPr>
          <a:xfrm>
            <a:off x="8048625" y="4456475"/>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48" name="Picture 47" descr="lock.png"/>
          <p:cNvPicPr>
            <a:picLocks noChangeAspect="1"/>
          </p:cNvPicPr>
          <p:nvPr/>
        </p:nvPicPr>
        <p:blipFill>
          <a:blip r:embed="rId6"/>
          <a:stretch>
            <a:fillRect/>
          </a:stretch>
        </p:blipFill>
        <p:spPr>
          <a:xfrm>
            <a:off x="10136079" y="4446251"/>
            <a:ext cx="134549" cy="195707"/>
          </a:xfrm>
          <a:prstGeom prst="rect">
            <a:avLst/>
          </a:prstGeom>
        </p:spPr>
      </p:pic>
      <p:sp>
        <p:nvSpPr>
          <p:cNvPr id="49" name="TextBox 48"/>
          <p:cNvSpPr txBox="1"/>
          <p:nvPr/>
        </p:nvSpPr>
        <p:spPr>
          <a:xfrm>
            <a:off x="10311188"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0" name="TextBox 49"/>
          <p:cNvSpPr txBox="1"/>
          <p:nvPr/>
        </p:nvSpPr>
        <p:spPr>
          <a:xfrm>
            <a:off x="8048625" y="4684312"/>
            <a:ext cx="3833849" cy="194310"/>
          </a:xfrm>
          <a:prstGeom prst="rect">
            <a:avLst/>
          </a:prstGeom>
          <a:noFill/>
        </p:spPr>
        <p:txBody>
          <a:bodyPr wrap="none" lIns="0" rIns="0" tIns="0" bIns="0">
            <a:spAutoFit/>
          </a:bodyPr>
          <a:lstStyle/>
          <a:p>
            <a:r>
              <a:rPr sz="1150" b="0">
                <a:solidFill>
                  <a:srgbClr val="2E2E2E"/>
                </a:solidFill>
                <a:latin typeface="Calibri"/>
              </a:rPr>
              <a:t>▪ Demand concentrates in 'Mineral Ceramide Sunscreen' within</a:t>
            </a:r>
          </a:p>
        </p:txBody>
      </p:sp>
      <p:sp>
        <p:nvSpPr>
          <p:cNvPr id="51" name="TextBox 50"/>
          <p:cNvSpPr txBox="1"/>
          <p:nvPr/>
        </p:nvSpPr>
        <p:spPr>
          <a:xfrm>
            <a:off x="8048625" y="4859572"/>
            <a:ext cx="901154" cy="194310"/>
          </a:xfrm>
          <a:prstGeom prst="rect">
            <a:avLst/>
          </a:prstGeom>
          <a:noFill/>
        </p:spPr>
        <p:txBody>
          <a:bodyPr wrap="none" lIns="0" rIns="0" tIns="0" bIns="0">
            <a:spAutoFit/>
          </a:bodyPr>
          <a:lstStyle/>
          <a:p>
            <a:r>
              <a:rPr sz="1150" b="0">
                <a:solidFill>
                  <a:srgbClr val="2E2E2E"/>
                </a:solidFill>
                <a:latin typeface="Calibri"/>
              </a:rPr>
              <a:t>Product Type.</a:t>
            </a:r>
          </a:p>
        </p:txBody>
      </p:sp>
      <p:sp>
        <p:nvSpPr>
          <p:cNvPr id="52" name="TextBox 51"/>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(US$/Units)</a:t>
            </a:r>
          </a:p>
        </p:txBody>
      </p:sp>
      <p:cxnSp>
        <p:nvCxnSpPr>
          <p:cNvPr id="12" name="Connector 11"/>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1825625" y="2513678"/>
            <a:ext cx="0" cy="49297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694180" y="300664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94180" y="251367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606550" y="2647256"/>
            <a:ext cx="438150" cy="24612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606550" y="277370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361278"/>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4162425" y="1670329"/>
            <a:ext cx="0" cy="72912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030980" y="239945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0309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3943350" y="1867984"/>
            <a:ext cx="438150" cy="36397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3943350" y="205500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994025" y="1517929"/>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6499225" y="2576039"/>
            <a:ext cx="0" cy="54351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3677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367780" y="257603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280150" y="2723390"/>
            <a:ext cx="438150" cy="27133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6280150" y="286279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330825" y="2423639"/>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4" name="TextBox 43"/>
          <p:cNvSpPr txBox="1"/>
          <p:nvPr/>
        </p:nvSpPr>
        <p:spPr>
          <a:xfrm>
            <a:off x="6572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Mineral Ceramide Suns…</a:t>
            </a:r>
          </a:p>
        </p:txBody>
      </p:sp>
      <p:sp>
        <p:nvSpPr>
          <p:cNvPr id="45" name="TextBox 44"/>
          <p:cNvSpPr txBox="1"/>
          <p:nvPr/>
        </p:nvSpPr>
        <p:spPr>
          <a:xfrm>
            <a:off x="29940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Chemical Ceramide Sun…</a:t>
            </a:r>
          </a:p>
        </p:txBody>
      </p:sp>
      <p:sp>
        <p:nvSpPr>
          <p:cNvPr id="46" name="TextBox 45"/>
          <p:cNvSpPr txBox="1"/>
          <p:nvPr/>
        </p:nvSpPr>
        <p:spPr>
          <a:xfrm>
            <a:off x="53308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Hybrid Ceramide Sunsc…</a:t>
            </a:r>
          </a:p>
        </p:txBody>
      </p:sp>
      <p:sp>
        <p:nvSpPr>
          <p:cNvPr id="47" name="Rounded Rectangle 46"/>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49" name="Connector 48"/>
          <p:cNvCxnSpPr/>
          <p:nvPr/>
        </p:nvCxnSpPr>
        <p:spPr>
          <a:xfrm>
            <a:off x="619125" y="433035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9125" y="476173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9125" y="562449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19125" y="605587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19125" y="4330354"/>
            <a:ext cx="0" cy="172552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0550" y="433035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47617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90550" y="562449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90550" y="605587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0" name="FMI Scale tick"/>
          <p:cNvSpPr txBox="1"/>
          <p:nvPr/>
        </p:nvSpPr>
        <p:spPr>
          <a:xfrm>
            <a:off x="138112" y="4263679"/>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sp>
        <p:nvSpPr>
          <p:cNvPr id="61" name="FMI Scale tick"/>
          <p:cNvSpPr txBox="1"/>
          <p:nvPr/>
        </p:nvSpPr>
        <p:spPr>
          <a:xfrm>
            <a:off x="138112" y="4695060"/>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62"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63" name="FMI Scale tick"/>
          <p:cNvSpPr txBox="1"/>
          <p:nvPr/>
        </p:nvSpPr>
        <p:spPr>
          <a:xfrm>
            <a:off x="164306" y="5557822"/>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64" name="FMI Scale tick"/>
          <p:cNvSpPr txBox="1"/>
          <p:nvPr/>
        </p:nvSpPr>
        <p:spPr>
          <a:xfrm>
            <a:off x="164306" y="5989203"/>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cxnSp>
        <p:nvCxnSpPr>
          <p:cNvPr id="65" name="Connector 64"/>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2152650" y="5193116"/>
            <a:ext cx="457200" cy="33333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MI Data Label"/>
          <p:cNvSpPr txBox="1"/>
          <p:nvPr/>
        </p:nvSpPr>
        <p:spPr>
          <a:xfrm>
            <a:off x="619125" y="5535975"/>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8" name="Rectangle 67"/>
          <p:cNvSpPr/>
          <p:nvPr/>
        </p:nvSpPr>
        <p:spPr>
          <a:xfrm>
            <a:off x="5676900"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MI Data Label"/>
          <p:cNvSpPr txBox="1"/>
          <p:nvPr/>
        </p:nvSpPr>
        <p:spPr>
          <a:xfrm>
            <a:off x="4143375" y="4294412"/>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0" name="TextBox 69"/>
          <p:cNvSpPr txBox="1"/>
          <p:nvPr/>
        </p:nvSpPr>
        <p:spPr>
          <a:xfrm>
            <a:off x="61912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71" name="TextBox 70"/>
          <p:cNvSpPr txBox="1"/>
          <p:nvPr/>
        </p:nvSpPr>
        <p:spPr>
          <a:xfrm>
            <a:off x="414337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72" name="Rounded Rectangle 71"/>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74" name="Rectangle 73"/>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lock.png"/>
          <p:cNvPicPr>
            <a:picLocks noChangeAspect="1"/>
          </p:cNvPicPr>
          <p:nvPr/>
        </p:nvPicPr>
        <p:blipFill>
          <a:blip r:embed="rId4"/>
          <a:stretch>
            <a:fillRect/>
          </a:stretch>
        </p:blipFill>
        <p:spPr>
          <a:xfrm>
            <a:off x="1761275" y="2334354"/>
            <a:ext cx="128699" cy="187198"/>
          </a:xfrm>
          <a:prstGeom prst="rect">
            <a:avLst/>
          </a:prstGeom>
        </p:spPr>
      </p:pic>
      <p:pic>
        <p:nvPicPr>
          <p:cNvPr id="78" name="Picture 77" descr="lock.png"/>
          <p:cNvPicPr>
            <a:picLocks noChangeAspect="1"/>
          </p:cNvPicPr>
          <p:nvPr/>
        </p:nvPicPr>
        <p:blipFill>
          <a:blip r:embed="rId4"/>
          <a:stretch>
            <a:fillRect/>
          </a:stretch>
        </p:blipFill>
        <p:spPr>
          <a:xfrm>
            <a:off x="4098075" y="1491005"/>
            <a:ext cx="128699" cy="187198"/>
          </a:xfrm>
          <a:prstGeom prst="rect">
            <a:avLst/>
          </a:prstGeom>
        </p:spPr>
      </p:pic>
      <p:pic>
        <p:nvPicPr>
          <p:cNvPr id="79" name="Picture 78" descr="lock.png"/>
          <p:cNvPicPr>
            <a:picLocks noChangeAspect="1"/>
          </p:cNvPicPr>
          <p:nvPr/>
        </p:nvPicPr>
        <p:blipFill>
          <a:blip r:embed="rId4"/>
          <a:stretch>
            <a:fillRect/>
          </a:stretch>
        </p:blipFill>
        <p:spPr>
          <a:xfrm>
            <a:off x="6434875" y="2396715"/>
            <a:ext cx="128699" cy="187198"/>
          </a:xfrm>
          <a:prstGeom prst="rect">
            <a:avLst/>
          </a:prstGeom>
        </p:spPr>
      </p:pic>
      <p:pic>
        <p:nvPicPr>
          <p:cNvPr id="80" name="Picture 79" descr="lock.png"/>
          <p:cNvPicPr>
            <a:picLocks noChangeAspect="1"/>
          </p:cNvPicPr>
          <p:nvPr/>
        </p:nvPicPr>
        <p:blipFill>
          <a:blip r:embed="rId4"/>
          <a:stretch>
            <a:fillRect/>
          </a:stretch>
        </p:blipFill>
        <p:spPr>
          <a:xfrm>
            <a:off x="2316900" y="5509050"/>
            <a:ext cx="128699" cy="187198"/>
          </a:xfrm>
          <a:prstGeom prst="rect">
            <a:avLst/>
          </a:prstGeom>
        </p:spPr>
      </p:pic>
      <p:pic>
        <p:nvPicPr>
          <p:cNvPr id="81" name="Picture 80" descr="lock.png"/>
          <p:cNvPicPr>
            <a:picLocks noChangeAspect="1"/>
          </p:cNvPicPr>
          <p:nvPr/>
        </p:nvPicPr>
        <p:blipFill>
          <a:blip r:embed="rId4"/>
          <a:stretch>
            <a:fillRect/>
          </a:stretch>
        </p:blipFill>
        <p:spPr>
          <a:xfrm>
            <a:off x="5841150" y="4267488"/>
            <a:ext cx="128699" cy="187198"/>
          </a:xfrm>
          <a:prstGeom prst="rect">
            <a:avLst/>
          </a:prstGeom>
        </p:spPr>
      </p:pic>
      <p:sp>
        <p:nvSpPr>
          <p:cNvPr id="82" name="TextBox 81"/>
          <p:cNvSpPr txBox="1"/>
          <p:nvPr/>
        </p:nvSpPr>
        <p:spPr>
          <a:xfrm>
            <a:off x="8048625" y="1471995"/>
            <a:ext cx="3848100" cy="194310"/>
          </a:xfrm>
          <a:prstGeom prst="rect">
            <a:avLst/>
          </a:prstGeom>
          <a:noFill/>
        </p:spPr>
        <p:txBody>
          <a:bodyPr wrap="none" lIns="0" rIns="0" tIns="0" bIns="0">
            <a:spAutoFit/>
          </a:bodyPr>
          <a:lstStyle/>
          <a:p>
            <a:r>
              <a:rPr sz="1150" b="0">
                <a:solidFill>
                  <a:srgbClr val="2E2E2E"/>
                </a:solidFill>
                <a:latin typeface="Calibri"/>
              </a:rPr>
              <a:t>Chemical ceramide sunscreen segment is expected to command</a:t>
            </a:r>
          </a:p>
        </p:txBody>
      </p:sp>
      <p:sp>
        <p:nvSpPr>
          <p:cNvPr id="83" name="TextBox 82"/>
          <p:cNvSpPr txBox="1"/>
          <p:nvPr/>
        </p:nvSpPr>
        <p:spPr>
          <a:xfrm>
            <a:off x="8048625" y="1647255"/>
            <a:ext cx="1998526" cy="194310"/>
          </a:xfrm>
          <a:prstGeom prst="rect">
            <a:avLst/>
          </a:prstGeom>
          <a:noFill/>
        </p:spPr>
        <p:txBody>
          <a:bodyPr wrap="none" lIns="0" rIns="0" tIns="0" bIns="0">
            <a:spAutoFit/>
          </a:bodyPr>
          <a:lstStyle/>
          <a:p>
            <a:r>
              <a:rPr sz="1150" b="0">
                <a:solidFill>
                  <a:srgbClr val="2E2E2E"/>
                </a:solidFill>
                <a:latin typeface="Calibri"/>
              </a:rPr>
              <a:t>the highest average price of US$</a:t>
            </a:r>
          </a:p>
        </p:txBody>
      </p:sp>
      <p:pic>
        <p:nvPicPr>
          <p:cNvPr id="84" name="Picture 83" descr="lock.png"/>
          <p:cNvPicPr>
            <a:picLocks noChangeAspect="1"/>
          </p:cNvPicPr>
          <p:nvPr/>
        </p:nvPicPr>
        <p:blipFill>
          <a:blip r:embed="rId4"/>
          <a:stretch>
            <a:fillRect/>
          </a:stretch>
        </p:blipFill>
        <p:spPr>
          <a:xfrm>
            <a:off x="9996305" y="1637031"/>
            <a:ext cx="134549" cy="195707"/>
          </a:xfrm>
          <a:prstGeom prst="rect">
            <a:avLst/>
          </a:prstGeom>
        </p:spPr>
      </p:pic>
      <p:sp>
        <p:nvSpPr>
          <p:cNvPr id="85" name="TextBox 84"/>
          <p:cNvSpPr txBox="1"/>
          <p:nvPr/>
        </p:nvSpPr>
        <p:spPr>
          <a:xfrm>
            <a:off x="10171414"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86" name="TextBox 85"/>
          <p:cNvSpPr txBox="1"/>
          <p:nvPr/>
        </p:nvSpPr>
        <p:spPr>
          <a:xfrm>
            <a:off x="8048625" y="1822515"/>
            <a:ext cx="3335225" cy="194310"/>
          </a:xfrm>
          <a:prstGeom prst="rect">
            <a:avLst/>
          </a:prstGeom>
          <a:noFill/>
        </p:spPr>
        <p:txBody>
          <a:bodyPr wrap="none" lIns="0" rIns="0" tIns="0" bIns="0">
            <a:spAutoFit/>
          </a:bodyPr>
          <a:lstStyle/>
          <a:p>
            <a:r>
              <a:rPr sz="1150" b="0">
                <a:solidFill>
                  <a:srgbClr val="2E2E2E"/>
                </a:solidFill>
                <a:latin typeface="Calibri"/>
              </a:rPr>
              <a:t>selling price of ceramide sunscreen is estimated at US$</a:t>
            </a:r>
          </a:p>
        </p:txBody>
      </p:sp>
      <p:pic>
        <p:nvPicPr>
          <p:cNvPr id="87" name="Picture 86" descr="lock.png"/>
          <p:cNvPicPr>
            <a:picLocks noChangeAspect="1"/>
          </p:cNvPicPr>
          <p:nvPr/>
        </p:nvPicPr>
        <p:blipFill>
          <a:blip r:embed="rId4"/>
          <a:stretch>
            <a:fillRect/>
          </a:stretch>
        </p:blipFill>
        <p:spPr>
          <a:xfrm>
            <a:off x="11333004" y="1812291"/>
            <a:ext cx="134549" cy="195707"/>
          </a:xfrm>
          <a:prstGeom prst="rect">
            <a:avLst/>
          </a:prstGeom>
        </p:spPr>
      </p:pic>
      <p:sp>
        <p:nvSpPr>
          <p:cNvPr id="88" name="TextBox 87"/>
          <p:cNvSpPr txBox="1"/>
          <p:nvPr/>
        </p:nvSpPr>
        <p:spPr>
          <a:xfrm>
            <a:off x="11508114" y="182251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89" name="TextBox 88"/>
          <p:cNvSpPr txBox="1"/>
          <p:nvPr/>
        </p:nvSpPr>
        <p:spPr>
          <a:xfrm>
            <a:off x="8048625" y="1997775"/>
            <a:ext cx="2904492" cy="194310"/>
          </a:xfrm>
          <a:prstGeom prst="rect">
            <a:avLst/>
          </a:prstGeom>
          <a:noFill/>
        </p:spPr>
        <p:txBody>
          <a:bodyPr wrap="none" lIns="0" rIns="0" tIns="0" bIns="0">
            <a:spAutoFit/>
          </a:bodyPr>
          <a:lstStyle/>
          <a:p>
            <a:r>
              <a:rPr sz="1150" b="0">
                <a:solidFill>
                  <a:srgbClr val="2E2E2E"/>
                </a:solidFill>
                <a:latin typeface="Calibri"/>
              </a:rPr>
              <a:t>Unit in 2025 and is projected to increase to US$</a:t>
            </a:r>
          </a:p>
        </p:txBody>
      </p:sp>
      <p:pic>
        <p:nvPicPr>
          <p:cNvPr id="90" name="Picture 89" descr="lock.png"/>
          <p:cNvPicPr>
            <a:picLocks noChangeAspect="1"/>
          </p:cNvPicPr>
          <p:nvPr/>
        </p:nvPicPr>
        <p:blipFill>
          <a:blip r:embed="rId4"/>
          <a:stretch>
            <a:fillRect/>
          </a:stretch>
        </p:blipFill>
        <p:spPr>
          <a:xfrm>
            <a:off x="10902271" y="1987551"/>
            <a:ext cx="134549" cy="195707"/>
          </a:xfrm>
          <a:prstGeom prst="rect">
            <a:avLst/>
          </a:prstGeom>
        </p:spPr>
      </p:pic>
      <p:sp>
        <p:nvSpPr>
          <p:cNvPr id="91" name="TextBox 90"/>
          <p:cNvSpPr txBox="1"/>
          <p:nvPr/>
        </p:nvSpPr>
        <p:spPr>
          <a:xfrm>
            <a:off x="11077380" y="1997775"/>
            <a:ext cx="739130" cy="194310"/>
          </a:xfrm>
          <a:prstGeom prst="rect">
            <a:avLst/>
          </a:prstGeom>
          <a:noFill/>
        </p:spPr>
        <p:txBody>
          <a:bodyPr wrap="none" lIns="0" rIns="0" tIns="0" bIns="0">
            <a:spAutoFit/>
          </a:bodyPr>
          <a:lstStyle/>
          <a:p>
            <a:r>
              <a:rPr sz="1150" b="0">
                <a:solidFill>
                  <a:srgbClr val="2E2E2E"/>
                </a:solidFill>
                <a:latin typeface="Calibri"/>
              </a:rPr>
              <a:t>per Unit by</a:t>
            </a:r>
          </a:p>
        </p:txBody>
      </p:sp>
      <p:sp>
        <p:nvSpPr>
          <p:cNvPr id="92" name="TextBox 91"/>
          <p:cNvSpPr txBox="1"/>
          <p:nvPr/>
        </p:nvSpPr>
        <p:spPr>
          <a:xfrm>
            <a:off x="8048625" y="2173035"/>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93" name="TextBox 92"/>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94" name="TextBox 93"/>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95" name="Picture 94" descr="lock.png"/>
          <p:cNvPicPr>
            <a:picLocks noChangeAspect="1"/>
          </p:cNvPicPr>
          <p:nvPr/>
        </p:nvPicPr>
        <p:blipFill>
          <a:blip r:embed="rId4"/>
          <a:stretch>
            <a:fillRect/>
          </a:stretch>
        </p:blipFill>
        <p:spPr>
          <a:xfrm>
            <a:off x="8034545" y="2741169"/>
            <a:ext cx="134549" cy="195707"/>
          </a:xfrm>
          <a:prstGeom prst="rect">
            <a:avLst/>
          </a:prstGeom>
        </p:spPr>
      </p:pic>
      <p:sp>
        <p:nvSpPr>
          <p:cNvPr id="96" name="TextBox 95"/>
          <p:cNvSpPr txBox="1"/>
          <p:nvPr/>
        </p:nvSpPr>
        <p:spPr>
          <a:xfrm>
            <a:off x="8209654" y="2751393"/>
            <a:ext cx="3195451" cy="194310"/>
          </a:xfrm>
          <a:prstGeom prst="rect">
            <a:avLst/>
          </a:prstGeom>
          <a:noFill/>
        </p:spPr>
        <p:txBody>
          <a:bodyPr wrap="none" lIns="0" rIns="0" tIns="0" bIns="0">
            <a:spAutoFit/>
          </a:bodyPr>
          <a:lstStyle/>
          <a:p>
            <a:r>
              <a:rPr sz="1150" b="0">
                <a:solidFill>
                  <a:srgbClr val="2E2E2E"/>
                </a:solidFill>
                <a:latin typeface="Calibri"/>
              </a:rPr>
              <a:t>US$/Units, 1 of 2 countries price above and 1 below.</a:t>
            </a:r>
          </a:p>
        </p:txBody>
      </p:sp>
      <p:sp>
        <p:nvSpPr>
          <p:cNvPr id="97" name="TextBox 96"/>
          <p:cNvSpPr txBox="1"/>
          <p:nvPr/>
        </p:nvSpPr>
        <p:spPr>
          <a:xfrm>
            <a:off x="8048625" y="297923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98" name="Picture 97" descr="lock.png"/>
          <p:cNvPicPr>
            <a:picLocks noChangeAspect="1"/>
          </p:cNvPicPr>
          <p:nvPr/>
        </p:nvPicPr>
        <p:blipFill>
          <a:blip r:embed="rId4"/>
          <a:stretch>
            <a:fillRect/>
          </a:stretch>
        </p:blipFill>
        <p:spPr>
          <a:xfrm>
            <a:off x="9675109" y="2969007"/>
            <a:ext cx="134549" cy="195707"/>
          </a:xfrm>
          <a:prstGeom prst="rect">
            <a:avLst/>
          </a:prstGeom>
        </p:spPr>
      </p:pic>
      <p:sp>
        <p:nvSpPr>
          <p:cNvPr id="99" name="TextBox 98"/>
          <p:cNvSpPr txBox="1"/>
          <p:nvPr/>
        </p:nvSpPr>
        <p:spPr>
          <a:xfrm>
            <a:off x="9850218" y="297923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100" name="TextBox 99"/>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01" name="Picture 100" descr="lock.png"/>
          <p:cNvPicPr>
            <a:picLocks noChangeAspect="1"/>
          </p:cNvPicPr>
          <p:nvPr/>
        </p:nvPicPr>
        <p:blipFill>
          <a:blip r:embed="rId4"/>
          <a:stretch>
            <a:fillRect/>
          </a:stretch>
        </p:blipFill>
        <p:spPr>
          <a:xfrm>
            <a:off x="8840741" y="3144267"/>
            <a:ext cx="134549" cy="195707"/>
          </a:xfrm>
          <a:prstGeom prst="rect">
            <a:avLst/>
          </a:prstGeom>
        </p:spPr>
      </p:pic>
      <p:sp>
        <p:nvSpPr>
          <p:cNvPr id="102" name="TextBox 101"/>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03" name="TextBox 102"/>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955981"/>
          </a:xfrm>
          <a:prstGeom prst="roundRect">
            <a:avLst>
              <a:gd name="adj" fmla="val 25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247020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4" name="Rounded Rectangle 23"/>
          <p:cNvSpPr/>
          <p:nvPr/>
        </p:nvSpPr>
        <p:spPr>
          <a:xfrm>
            <a:off x="7915275" y="4638629"/>
            <a:ext cx="4133850" cy="1917756"/>
          </a:xfrm>
          <a:prstGeom prst="roundRect">
            <a:avLst>
              <a:gd name="adj" fmla="val 39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724354"/>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962479"/>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5048204"/>
            <a:ext cx="3867150" cy="143198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33911" cy="186689"/>
          </a:xfrm>
          <a:prstGeom prst="rect">
            <a:avLst/>
          </a:prstGeom>
          <a:noFill/>
        </p:spPr>
        <p:txBody>
          <a:bodyPr wrap="none" lIns="0" rIns="0" tIns="0" bIns="0">
            <a:spAutoFit/>
          </a:bodyPr>
          <a:lstStyle/>
          <a:p>
            <a:r>
              <a:rPr sz="1100" b="0">
                <a:solidFill>
                  <a:srgbClr val="2E2E2E"/>
                </a:solidFill>
                <a:latin typeface="Calibri"/>
              </a:rPr>
              <a:t>Ceramide sunscreen market value in North America is expected to</a:t>
            </a:r>
          </a:p>
        </p:txBody>
      </p:sp>
      <p:sp>
        <p:nvSpPr>
          <p:cNvPr id="35" name="TextBox 34"/>
          <p:cNvSpPr txBox="1"/>
          <p:nvPr/>
        </p:nvSpPr>
        <p:spPr>
          <a:xfrm>
            <a:off x="8048625" y="2214627"/>
            <a:ext cx="550416" cy="186689"/>
          </a:xfrm>
          <a:prstGeom prst="rect">
            <a:avLst/>
          </a:prstGeom>
          <a:noFill/>
        </p:spPr>
        <p:txBody>
          <a:bodyPr wrap="none" lIns="0" rIns="0" tIns="0" bIns="0">
            <a:spAutoFit/>
          </a:bodyPr>
          <a:lstStyle/>
          <a:p>
            <a:r>
              <a:rPr sz="1100" b="0">
                <a:solidFill>
                  <a:srgbClr val="2E2E2E"/>
                </a:solidFill>
                <a:latin typeface="Calibri"/>
              </a:rPr>
              <a:t>increase</a:t>
            </a:r>
          </a:p>
        </p:txBody>
      </p:sp>
      <p:pic>
        <p:nvPicPr>
          <p:cNvPr id="36" name="Picture 35" descr="lock.png"/>
          <p:cNvPicPr>
            <a:picLocks noChangeAspect="1"/>
          </p:cNvPicPr>
          <p:nvPr/>
        </p:nvPicPr>
        <p:blipFill>
          <a:blip r:embed="rId6"/>
          <a:stretch>
            <a:fillRect/>
          </a:stretch>
        </p:blipFill>
        <p:spPr>
          <a:xfrm>
            <a:off x="8547092" y="2204848"/>
            <a:ext cx="128699" cy="187198"/>
          </a:xfrm>
          <a:prstGeom prst="rect">
            <a:avLst/>
          </a:prstGeom>
        </p:spPr>
      </p:pic>
      <p:sp>
        <p:nvSpPr>
          <p:cNvPr id="37" name="TextBox 36"/>
          <p:cNvSpPr txBox="1"/>
          <p:nvPr/>
        </p:nvSpPr>
        <p:spPr>
          <a:xfrm>
            <a:off x="8714588" y="2214627"/>
            <a:ext cx="2869108" cy="186689"/>
          </a:xfrm>
          <a:prstGeom prst="rect">
            <a:avLst/>
          </a:prstGeom>
          <a:noFill/>
        </p:spPr>
        <p:txBody>
          <a:bodyPr wrap="none" lIns="0" rIns="0" tIns="0" bIns="0">
            <a:spAutoFit/>
          </a:bodyPr>
          <a:lstStyle/>
          <a:p>
            <a:r>
              <a:rPr sz="1100" b="0">
                <a:solidFill>
                  <a:srgbClr val="2E2E2E"/>
                </a:solidFill>
                <a:latin typeface="Calibri"/>
              </a:rPr>
              <a:t>X between 2025 and 2036. In 2025, the ceramide</a:t>
            </a:r>
          </a:p>
        </p:txBody>
      </p:sp>
      <p:sp>
        <p:nvSpPr>
          <p:cNvPr id="38" name="TextBox 37"/>
          <p:cNvSpPr txBox="1"/>
          <p:nvPr/>
        </p:nvSpPr>
        <p:spPr>
          <a:xfrm>
            <a:off x="8048625" y="2382267"/>
            <a:ext cx="3159422" cy="186689"/>
          </a:xfrm>
          <a:prstGeom prst="rect">
            <a:avLst/>
          </a:prstGeom>
          <a:noFill/>
        </p:spPr>
        <p:txBody>
          <a:bodyPr wrap="none" lIns="0" rIns="0" tIns="0" bIns="0">
            <a:spAutoFit/>
          </a:bodyPr>
          <a:lstStyle/>
          <a:p>
            <a:r>
              <a:rPr sz="1100" b="0">
                <a:solidFill>
                  <a:srgbClr val="2E2E2E"/>
                </a:solidFill>
                <a:latin typeface="Calibri"/>
              </a:rPr>
              <a:t>sunscreen market in North America was valued at US$</a:t>
            </a:r>
          </a:p>
        </p:txBody>
      </p:sp>
      <p:pic>
        <p:nvPicPr>
          <p:cNvPr id="39" name="Picture 38" descr="lock.png"/>
          <p:cNvPicPr>
            <a:picLocks noChangeAspect="1"/>
          </p:cNvPicPr>
          <p:nvPr/>
        </p:nvPicPr>
        <p:blipFill>
          <a:blip r:embed="rId6"/>
          <a:stretch>
            <a:fillRect/>
          </a:stretch>
        </p:blipFill>
        <p:spPr>
          <a:xfrm>
            <a:off x="11156099" y="2372488"/>
            <a:ext cx="128699" cy="187198"/>
          </a:xfrm>
          <a:prstGeom prst="rect">
            <a:avLst/>
          </a:prstGeom>
        </p:spPr>
      </p:pic>
      <p:sp>
        <p:nvSpPr>
          <p:cNvPr id="40" name="TextBox 39"/>
          <p:cNvSpPr txBox="1"/>
          <p:nvPr/>
        </p:nvSpPr>
        <p:spPr>
          <a:xfrm>
            <a:off x="11323595" y="2382267"/>
            <a:ext cx="514399" cy="186689"/>
          </a:xfrm>
          <a:prstGeom prst="rect">
            <a:avLst/>
          </a:prstGeom>
          <a:noFill/>
        </p:spPr>
        <p:txBody>
          <a:bodyPr wrap="none" lIns="0" rIns="0" tIns="0" bIns="0">
            <a:spAutoFit/>
          </a:bodyPr>
          <a:lstStyle/>
          <a:p>
            <a:r>
              <a:rPr sz="1100" b="0">
                <a:solidFill>
                  <a:srgbClr val="2E2E2E"/>
                </a:solidFill>
                <a:latin typeface="Calibri"/>
              </a:rPr>
              <a:t>Mn and</a:t>
            </a:r>
          </a:p>
        </p:txBody>
      </p:sp>
      <p:sp>
        <p:nvSpPr>
          <p:cNvPr id="41" name="TextBox 40"/>
          <p:cNvSpPr txBox="1"/>
          <p:nvPr/>
        </p:nvSpPr>
        <p:spPr>
          <a:xfrm>
            <a:off x="8048625" y="2549907"/>
            <a:ext cx="1856010" cy="186689"/>
          </a:xfrm>
          <a:prstGeom prst="rect">
            <a:avLst/>
          </a:prstGeom>
          <a:noFill/>
        </p:spPr>
        <p:txBody>
          <a:bodyPr wrap="none" lIns="0" rIns="0" tIns="0" bIns="0">
            <a:spAutoFit/>
          </a:bodyPr>
          <a:lstStyle/>
          <a:p>
            <a:r>
              <a:rPr sz="1100" b="0">
                <a:solidFill>
                  <a:srgbClr val="2E2E2E"/>
                </a:solidFill>
                <a:latin typeface="Calibri"/>
              </a:rPr>
              <a:t>is estimated to account for US$</a:t>
            </a:r>
          </a:p>
        </p:txBody>
      </p:sp>
      <p:pic>
        <p:nvPicPr>
          <p:cNvPr id="42" name="Picture 41" descr="lock.png"/>
          <p:cNvPicPr>
            <a:picLocks noChangeAspect="1"/>
          </p:cNvPicPr>
          <p:nvPr/>
        </p:nvPicPr>
        <p:blipFill>
          <a:blip r:embed="rId6"/>
          <a:stretch>
            <a:fillRect/>
          </a:stretch>
        </p:blipFill>
        <p:spPr>
          <a:xfrm>
            <a:off x="9852687" y="2540128"/>
            <a:ext cx="128699" cy="187198"/>
          </a:xfrm>
          <a:prstGeom prst="rect">
            <a:avLst/>
          </a:prstGeom>
        </p:spPr>
      </p:pic>
      <p:sp>
        <p:nvSpPr>
          <p:cNvPr id="43" name="TextBox 42"/>
          <p:cNvSpPr txBox="1"/>
          <p:nvPr/>
        </p:nvSpPr>
        <p:spPr>
          <a:xfrm>
            <a:off x="10020183" y="2549907"/>
            <a:ext cx="1405259" cy="186689"/>
          </a:xfrm>
          <a:prstGeom prst="rect">
            <a:avLst/>
          </a:prstGeom>
          <a:noFill/>
        </p:spPr>
        <p:txBody>
          <a:bodyPr wrap="none" lIns="0" rIns="0" tIns="0" bIns="0">
            <a:spAutoFit/>
          </a:bodyPr>
          <a:lstStyle/>
          <a:p>
            <a:r>
              <a:rPr sz="1100" b="0">
                <a:solidFill>
                  <a:srgbClr val="2E2E2E"/>
                </a:solidFill>
                <a:latin typeface="Calibri"/>
              </a:rPr>
              <a:t>Mn by the end of 2026,</a:t>
            </a:r>
          </a:p>
        </p:txBody>
      </p:sp>
      <p:sp>
        <p:nvSpPr>
          <p:cNvPr id="44" name="TextBox 43"/>
          <p:cNvSpPr txBox="1"/>
          <p:nvPr/>
        </p:nvSpPr>
        <p:spPr>
          <a:xfrm>
            <a:off x="8048625" y="2717547"/>
            <a:ext cx="1894209" cy="186689"/>
          </a:xfrm>
          <a:prstGeom prst="rect">
            <a:avLst/>
          </a:prstGeom>
          <a:noFill/>
        </p:spPr>
        <p:txBody>
          <a:bodyPr wrap="none" lIns="0" rIns="0" tIns="0" bIns="0">
            <a:spAutoFit/>
          </a:bodyPr>
          <a:lstStyle/>
          <a:p>
            <a:r>
              <a:rPr sz="1100" b="0">
                <a:solidFill>
                  <a:srgbClr val="2E2E2E"/>
                </a:solidFill>
                <a:latin typeface="Calibri"/>
              </a:rPr>
              <a:t>reflecting a Y-o-Y growth rate of</a:t>
            </a:r>
          </a:p>
        </p:txBody>
      </p:sp>
      <p:pic>
        <p:nvPicPr>
          <p:cNvPr id="45" name="Picture 44" descr="lock.png"/>
          <p:cNvPicPr>
            <a:picLocks noChangeAspect="1"/>
          </p:cNvPicPr>
          <p:nvPr/>
        </p:nvPicPr>
        <p:blipFill>
          <a:blip r:embed="rId6"/>
          <a:stretch>
            <a:fillRect/>
          </a:stretch>
        </p:blipFill>
        <p:spPr>
          <a:xfrm>
            <a:off x="9890886" y="2707768"/>
            <a:ext cx="128699" cy="187198"/>
          </a:xfrm>
          <a:prstGeom prst="rect">
            <a:avLst/>
          </a:prstGeom>
        </p:spPr>
      </p:pic>
      <p:sp>
        <p:nvSpPr>
          <p:cNvPr id="46" name="TextBox 45"/>
          <p:cNvSpPr txBox="1"/>
          <p:nvPr/>
        </p:nvSpPr>
        <p:spPr>
          <a:xfrm>
            <a:off x="10058382"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8" name="Picture 47" descr="lock.png"/>
          <p:cNvPicPr>
            <a:picLocks noChangeAspect="1"/>
          </p:cNvPicPr>
          <p:nvPr/>
        </p:nvPicPr>
        <p:blipFill>
          <a:blip r:embed="rId6"/>
          <a:stretch>
            <a:fillRect/>
          </a:stretch>
        </p:blipFill>
        <p:spPr>
          <a:xfrm>
            <a:off x="8035157" y="3093340"/>
            <a:ext cx="128699" cy="187198"/>
          </a:xfrm>
          <a:prstGeom prst="rect">
            <a:avLst/>
          </a:prstGeom>
        </p:spPr>
      </p:pic>
      <p:sp>
        <p:nvSpPr>
          <p:cNvPr id="49" name="TextBox 48"/>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0" name="Picture 49" descr="lock.png"/>
          <p:cNvPicPr>
            <a:picLocks noChangeAspect="1"/>
          </p:cNvPicPr>
          <p:nvPr/>
        </p:nvPicPr>
        <p:blipFill>
          <a:blip r:embed="rId6"/>
          <a:stretch>
            <a:fillRect/>
          </a:stretch>
        </p:blipFill>
        <p:spPr>
          <a:xfrm>
            <a:off x="9646261" y="3093340"/>
            <a:ext cx="128699" cy="187198"/>
          </a:xfrm>
          <a:prstGeom prst="rect">
            <a:avLst/>
          </a:prstGeom>
        </p:spPr>
      </p:pic>
      <p:sp>
        <p:nvSpPr>
          <p:cNvPr id="51" name="TextBox 50"/>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2" name="TextBox 51"/>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3" name="Picture 52" descr="lock.png"/>
          <p:cNvPicPr>
            <a:picLocks noChangeAspect="1"/>
          </p:cNvPicPr>
          <p:nvPr/>
        </p:nvPicPr>
        <p:blipFill>
          <a:blip r:embed="rId6"/>
          <a:stretch>
            <a:fillRect/>
          </a:stretch>
        </p:blipFill>
        <p:spPr>
          <a:xfrm>
            <a:off x="8035157" y="3428620"/>
            <a:ext cx="128699" cy="187198"/>
          </a:xfrm>
          <a:prstGeom prst="rect">
            <a:avLst/>
          </a:prstGeom>
        </p:spPr>
      </p:pic>
      <p:sp>
        <p:nvSpPr>
          <p:cNvPr id="54" name="TextBox 53"/>
          <p:cNvSpPr txBox="1"/>
          <p:nvPr/>
        </p:nvSpPr>
        <p:spPr>
          <a:xfrm>
            <a:off x="8202653" y="3438399"/>
            <a:ext cx="3491483" cy="186689"/>
          </a:xfrm>
          <a:prstGeom prst="rect">
            <a:avLst/>
          </a:prstGeom>
          <a:noFill/>
        </p:spPr>
        <p:txBody>
          <a:bodyPr wrap="none" lIns="0" rIns="0" tIns="0" bIns="0">
            <a:spAutoFit/>
          </a:bodyPr>
          <a:lstStyle/>
          <a:p>
            <a:r>
              <a:rPr sz="1100" b="0">
                <a:solidFill>
                  <a:srgbClr val="2E2E2E"/>
                </a:solidFill>
                <a:latin typeface="Calibri"/>
              </a:rPr>
              <a:t>Mn for the overall ceramide sunscreen market from 2025 to</a:t>
            </a:r>
          </a:p>
        </p:txBody>
      </p:sp>
      <p:sp>
        <p:nvSpPr>
          <p:cNvPr id="55" name="TextBox 54"/>
          <p:cNvSpPr txBox="1"/>
          <p:nvPr/>
        </p:nvSpPr>
        <p:spPr>
          <a:xfrm>
            <a:off x="8048625" y="360603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56" name="TextBox 55"/>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7" name="Picture 56" descr="lock.png"/>
          <p:cNvPicPr>
            <a:picLocks noChangeAspect="1"/>
          </p:cNvPicPr>
          <p:nvPr/>
        </p:nvPicPr>
        <p:blipFill>
          <a:blip r:embed="rId6"/>
          <a:stretch>
            <a:fillRect/>
          </a:stretch>
        </p:blipFill>
        <p:spPr>
          <a:xfrm>
            <a:off x="10833861" y="3814192"/>
            <a:ext cx="128699" cy="187198"/>
          </a:xfrm>
          <a:prstGeom prst="rect">
            <a:avLst/>
          </a:prstGeom>
        </p:spPr>
      </p:pic>
      <p:sp>
        <p:nvSpPr>
          <p:cNvPr id="58" name="TextBox 57"/>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9" name="TextBox 58"/>
          <p:cNvSpPr txBox="1"/>
          <p:nvPr/>
        </p:nvSpPr>
        <p:spPr>
          <a:xfrm>
            <a:off x="8048625" y="5057729"/>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60" name="Picture 59" descr="lock.png"/>
          <p:cNvPicPr>
            <a:picLocks noChangeAspect="1"/>
          </p:cNvPicPr>
          <p:nvPr/>
        </p:nvPicPr>
        <p:blipFill>
          <a:blip r:embed="rId6"/>
          <a:stretch>
            <a:fillRect/>
          </a:stretch>
        </p:blipFill>
        <p:spPr>
          <a:xfrm>
            <a:off x="10136079" y="5047505"/>
            <a:ext cx="134549" cy="195707"/>
          </a:xfrm>
          <a:prstGeom prst="rect">
            <a:avLst/>
          </a:prstGeom>
        </p:spPr>
      </p:pic>
      <p:sp>
        <p:nvSpPr>
          <p:cNvPr id="61" name="TextBox 60"/>
          <p:cNvSpPr txBox="1"/>
          <p:nvPr/>
        </p:nvSpPr>
        <p:spPr>
          <a:xfrm>
            <a:off x="10311188" y="505772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2" name="TextBox 61"/>
          <p:cNvSpPr txBox="1"/>
          <p:nvPr/>
        </p:nvSpPr>
        <p:spPr>
          <a:xfrm>
            <a:off x="8048625" y="5285566"/>
            <a:ext cx="3833849" cy="194310"/>
          </a:xfrm>
          <a:prstGeom prst="rect">
            <a:avLst/>
          </a:prstGeom>
          <a:noFill/>
        </p:spPr>
        <p:txBody>
          <a:bodyPr wrap="none" lIns="0" rIns="0" tIns="0" bIns="0">
            <a:spAutoFit/>
          </a:bodyPr>
          <a:lstStyle/>
          <a:p>
            <a:r>
              <a:rPr sz="1150" b="0">
                <a:solidFill>
                  <a:srgbClr val="2E2E2E"/>
                </a:solidFill>
                <a:latin typeface="Calibri"/>
              </a:rPr>
              <a:t>▪ Demand concentrates in 'Mineral Ceramide Sunscreen' within</a:t>
            </a:r>
          </a:p>
        </p:txBody>
      </p:sp>
      <p:sp>
        <p:nvSpPr>
          <p:cNvPr id="63" name="TextBox 62"/>
          <p:cNvSpPr txBox="1"/>
          <p:nvPr/>
        </p:nvSpPr>
        <p:spPr>
          <a:xfrm>
            <a:off x="8048625" y="5460826"/>
            <a:ext cx="901154" cy="194310"/>
          </a:xfrm>
          <a:prstGeom prst="rect">
            <a:avLst/>
          </a:prstGeom>
          <a:noFill/>
        </p:spPr>
        <p:txBody>
          <a:bodyPr wrap="none" lIns="0" rIns="0" tIns="0" bIns="0">
            <a:spAutoFit/>
          </a:bodyPr>
          <a:lstStyle/>
          <a:p>
            <a:r>
              <a:rPr sz="1150" b="0">
                <a:solidFill>
                  <a:srgbClr val="2E2E2E"/>
                </a:solidFill>
                <a:latin typeface="Calibri"/>
              </a:rPr>
              <a:t>Product Type.</a:t>
            </a:r>
          </a:p>
        </p:txBody>
      </p:sp>
      <p:sp>
        <p:nvSpPr>
          <p:cNvPr id="64" name="TextBox 63"/>
          <p:cNvSpPr txBox="1"/>
          <p:nvPr/>
        </p:nvSpPr>
        <p:spPr>
          <a:xfrm>
            <a:off x="8048625" y="568866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5" name="TextBox 64"/>
          <p:cNvSpPr txBox="1"/>
          <p:nvPr/>
        </p:nvSpPr>
        <p:spPr>
          <a:xfrm>
            <a:off x="8048625" y="591650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6"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10" name="Rounded Rectangle 9"/>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12" name="Chart 11"/>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5" name="Chart 14"/>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&amp; Value Analysis</a:t>
            </a:r>
          </a:p>
        </p:txBody>
      </p:sp>
      <p:sp>
        <p:nvSpPr>
          <p:cNvPr id="22" name="Rectangle 21"/>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5356" y="2029222"/>
            <a:ext cx="202455" cy="294480"/>
          </a:xfrm>
          <a:prstGeom prst="rect">
            <a:avLst/>
          </a:prstGeom>
        </p:spPr>
      </p:pic>
      <p:pic>
        <p:nvPicPr>
          <p:cNvPr id="26" name="Picture 25" descr="lock.png"/>
          <p:cNvPicPr>
            <a:picLocks noChangeAspect="1"/>
          </p:cNvPicPr>
          <p:nvPr/>
        </p:nvPicPr>
        <p:blipFill>
          <a:blip r:embed="rId6"/>
          <a:stretch>
            <a:fillRect/>
          </a:stretch>
        </p:blipFill>
        <p:spPr>
          <a:xfrm>
            <a:off x="8532694" y="1990329"/>
            <a:ext cx="255933" cy="372266"/>
          </a:xfrm>
          <a:prstGeom prst="rect">
            <a:avLst/>
          </a:prstGeom>
        </p:spPr>
      </p:pic>
      <p:pic>
        <p:nvPicPr>
          <p:cNvPr id="27" name="Picture 26" descr="lock.png"/>
          <p:cNvPicPr>
            <a:picLocks noChangeAspect="1"/>
          </p:cNvPicPr>
          <p:nvPr/>
        </p:nvPicPr>
        <p:blipFill>
          <a:blip r:embed="rId6"/>
          <a:stretch>
            <a:fillRect/>
          </a:stretch>
        </p:blipFill>
        <p:spPr>
          <a:xfrm>
            <a:off x="13215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3950970"/>
            <a:ext cx="157162" cy="228600"/>
          </a:xfrm>
          <a:prstGeom prst="rect">
            <a:avLst/>
          </a:prstGeom>
        </p:spPr>
      </p:pic>
      <p:sp>
        <p:nvSpPr>
          <p:cNvPr id="31" name="TextBox 30"/>
          <p:cNvSpPr txBox="1"/>
          <p:nvPr/>
        </p:nvSpPr>
        <p:spPr>
          <a:xfrm>
            <a:off x="276225" y="4876800"/>
            <a:ext cx="4533577" cy="194310"/>
          </a:xfrm>
          <a:prstGeom prst="rect">
            <a:avLst/>
          </a:prstGeom>
          <a:noFill/>
        </p:spPr>
        <p:txBody>
          <a:bodyPr wrap="none" lIns="0" rIns="0" tIns="0" bIns="0">
            <a:spAutoFit/>
          </a:bodyPr>
          <a:lstStyle/>
          <a:p>
            <a:r>
              <a:rPr sz="1150" b="0">
                <a:solidFill>
                  <a:srgbClr val="2E2E2E"/>
                </a:solidFill>
                <a:latin typeface="Calibri"/>
              </a:rPr>
              <a:t>Ceramide sunscreen market value in North America is expected to increase</a:t>
            </a:r>
          </a:p>
        </p:txBody>
      </p:sp>
      <p:pic>
        <p:nvPicPr>
          <p:cNvPr id="32" name="Picture 31" descr="lock.png"/>
          <p:cNvPicPr>
            <a:picLocks noChangeAspect="1"/>
          </p:cNvPicPr>
          <p:nvPr/>
        </p:nvPicPr>
        <p:blipFill>
          <a:blip r:embed="rId6"/>
          <a:stretch>
            <a:fillRect/>
          </a:stretch>
        </p:blipFill>
        <p:spPr>
          <a:xfrm>
            <a:off x="4758956" y="4866576"/>
            <a:ext cx="134549" cy="195707"/>
          </a:xfrm>
          <a:prstGeom prst="rect">
            <a:avLst/>
          </a:prstGeom>
        </p:spPr>
      </p:pic>
      <p:sp>
        <p:nvSpPr>
          <p:cNvPr id="33" name="TextBox 32"/>
          <p:cNvSpPr txBox="1"/>
          <p:nvPr/>
        </p:nvSpPr>
        <p:spPr>
          <a:xfrm>
            <a:off x="4934065" y="4876800"/>
            <a:ext cx="6252517" cy="194310"/>
          </a:xfrm>
          <a:prstGeom prst="rect">
            <a:avLst/>
          </a:prstGeom>
          <a:noFill/>
        </p:spPr>
        <p:txBody>
          <a:bodyPr wrap="none" lIns="0" rIns="0" tIns="0" bIns="0">
            <a:spAutoFit/>
          </a:bodyPr>
          <a:lstStyle/>
          <a:p>
            <a:r>
              <a:rPr sz="1150" b="0">
                <a:solidFill>
                  <a:srgbClr val="2E2E2E"/>
                </a:solidFill>
                <a:latin typeface="Calibri"/>
              </a:rPr>
              <a:t>X between 2025 and 2036. In 2025, the ceramide sunscreen market in North America was valued at US$</a:t>
            </a:r>
          </a:p>
        </p:txBody>
      </p:sp>
      <p:pic>
        <p:nvPicPr>
          <p:cNvPr id="34" name="Picture 33" descr="lock.png"/>
          <p:cNvPicPr>
            <a:picLocks noChangeAspect="1"/>
          </p:cNvPicPr>
          <p:nvPr/>
        </p:nvPicPr>
        <p:blipFill>
          <a:blip r:embed="rId6"/>
          <a:stretch>
            <a:fillRect/>
          </a:stretch>
        </p:blipFill>
        <p:spPr>
          <a:xfrm>
            <a:off x="11135737" y="4866576"/>
            <a:ext cx="134549" cy="195707"/>
          </a:xfrm>
          <a:prstGeom prst="rect">
            <a:avLst/>
          </a:prstGeom>
        </p:spPr>
      </p:pic>
      <p:sp>
        <p:nvSpPr>
          <p:cNvPr id="35" name="TextBox 34"/>
          <p:cNvSpPr txBox="1"/>
          <p:nvPr/>
        </p:nvSpPr>
        <p:spPr>
          <a:xfrm>
            <a:off x="11310846" y="4876800"/>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6" name="TextBox 35"/>
          <p:cNvSpPr txBox="1"/>
          <p:nvPr/>
        </p:nvSpPr>
        <p:spPr>
          <a:xfrm>
            <a:off x="276225" y="5052060"/>
            <a:ext cx="2193354" cy="194310"/>
          </a:xfrm>
          <a:prstGeom prst="rect">
            <a:avLst/>
          </a:prstGeom>
          <a:noFill/>
        </p:spPr>
        <p:txBody>
          <a:bodyPr wrap="none" lIns="0" rIns="0" tIns="0" bIns="0">
            <a:spAutoFit/>
          </a:bodyPr>
          <a:lstStyle/>
          <a:p>
            <a:r>
              <a:rPr sz="1150" b="0">
                <a:solidFill>
                  <a:srgbClr val="2E2E2E"/>
                </a:solidFill>
                <a:latin typeface="Calibri"/>
              </a:rPr>
              <a:t>and is estimated to account for US$</a:t>
            </a:r>
          </a:p>
        </p:txBody>
      </p:sp>
      <p:pic>
        <p:nvPicPr>
          <p:cNvPr id="37" name="Picture 36" descr="lock.png"/>
          <p:cNvPicPr>
            <a:picLocks noChangeAspect="1"/>
          </p:cNvPicPr>
          <p:nvPr/>
        </p:nvPicPr>
        <p:blipFill>
          <a:blip r:embed="rId6"/>
          <a:stretch>
            <a:fillRect/>
          </a:stretch>
        </p:blipFill>
        <p:spPr>
          <a:xfrm>
            <a:off x="2418733" y="5041836"/>
            <a:ext cx="134549" cy="195707"/>
          </a:xfrm>
          <a:prstGeom prst="rect">
            <a:avLst/>
          </a:prstGeom>
        </p:spPr>
      </p:pic>
      <p:sp>
        <p:nvSpPr>
          <p:cNvPr id="38" name="TextBox 37"/>
          <p:cNvSpPr txBox="1"/>
          <p:nvPr/>
        </p:nvSpPr>
        <p:spPr>
          <a:xfrm>
            <a:off x="2593842"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9" name="Picture 38" descr="lock.png"/>
          <p:cNvPicPr>
            <a:picLocks noChangeAspect="1"/>
          </p:cNvPicPr>
          <p:nvPr/>
        </p:nvPicPr>
        <p:blipFill>
          <a:blip r:embed="rId6"/>
          <a:stretch>
            <a:fillRect/>
          </a:stretch>
        </p:blipFill>
        <p:spPr>
          <a:xfrm>
            <a:off x="5942404" y="5041836"/>
            <a:ext cx="134549" cy="195707"/>
          </a:xfrm>
          <a:prstGeom prst="rect">
            <a:avLst/>
          </a:prstGeom>
        </p:spPr>
      </p:pic>
      <p:sp>
        <p:nvSpPr>
          <p:cNvPr id="40" name="TextBox 39"/>
          <p:cNvSpPr txBox="1"/>
          <p:nvPr/>
        </p:nvSpPr>
        <p:spPr>
          <a:xfrm>
            <a:off x="6117513"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41" name="Picture 40" descr="lock.png"/>
          <p:cNvPicPr>
            <a:picLocks noChangeAspect="1"/>
          </p:cNvPicPr>
          <p:nvPr/>
        </p:nvPicPr>
        <p:blipFill>
          <a:blip r:embed="rId6"/>
          <a:stretch>
            <a:fillRect/>
          </a:stretch>
        </p:blipFill>
        <p:spPr>
          <a:xfrm>
            <a:off x="9782992" y="5041836"/>
            <a:ext cx="134549" cy="195707"/>
          </a:xfrm>
          <a:prstGeom prst="rect">
            <a:avLst/>
          </a:prstGeom>
        </p:spPr>
      </p:pic>
      <p:sp>
        <p:nvSpPr>
          <p:cNvPr id="42" name="TextBox 41"/>
          <p:cNvSpPr txBox="1"/>
          <p:nvPr/>
        </p:nvSpPr>
        <p:spPr>
          <a:xfrm>
            <a:off x="9958102" y="5052060"/>
            <a:ext cx="1560072" cy="194310"/>
          </a:xfrm>
          <a:prstGeom prst="rect">
            <a:avLst/>
          </a:prstGeom>
          <a:noFill/>
        </p:spPr>
        <p:txBody>
          <a:bodyPr wrap="none" lIns="0" rIns="0" tIns="0" bIns="0">
            <a:spAutoFit/>
          </a:bodyPr>
          <a:lstStyle/>
          <a:p>
            <a:r>
              <a:rPr sz="1150" b="0">
                <a:solidFill>
                  <a:srgbClr val="2E2E2E"/>
                </a:solidFill>
                <a:latin typeface="Calibri"/>
              </a:rPr>
              <a:t>Mn by 2036 at a CAGR of</a:t>
            </a:r>
          </a:p>
        </p:txBody>
      </p:sp>
      <p:pic>
        <p:nvPicPr>
          <p:cNvPr id="43" name="Picture 42" descr="lock.png"/>
          <p:cNvPicPr>
            <a:picLocks noChangeAspect="1"/>
          </p:cNvPicPr>
          <p:nvPr/>
        </p:nvPicPr>
        <p:blipFill>
          <a:blip r:embed="rId6"/>
          <a:stretch>
            <a:fillRect/>
          </a:stretch>
        </p:blipFill>
        <p:spPr>
          <a:xfrm>
            <a:off x="262145" y="5217096"/>
            <a:ext cx="134549" cy="195707"/>
          </a:xfrm>
          <a:prstGeom prst="rect">
            <a:avLst/>
          </a:prstGeom>
        </p:spPr>
      </p:pic>
      <p:sp>
        <p:nvSpPr>
          <p:cNvPr id="44" name="TextBox 43"/>
          <p:cNvSpPr txBox="1"/>
          <p:nvPr/>
        </p:nvSpPr>
        <p:spPr>
          <a:xfrm>
            <a:off x="437254" y="522732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5" name="TextBox 44"/>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6" name="Picture 45" descr="lock.png"/>
          <p:cNvPicPr>
            <a:picLocks noChangeAspect="1"/>
          </p:cNvPicPr>
          <p:nvPr/>
        </p:nvPicPr>
        <p:blipFill>
          <a:blip r:embed="rId6"/>
          <a:stretch>
            <a:fillRect/>
          </a:stretch>
        </p:blipFill>
        <p:spPr>
          <a:xfrm>
            <a:off x="4539310" y="5444934"/>
            <a:ext cx="134549" cy="195707"/>
          </a:xfrm>
          <a:prstGeom prst="rect">
            <a:avLst/>
          </a:prstGeom>
        </p:spPr>
      </p:pic>
      <p:sp>
        <p:nvSpPr>
          <p:cNvPr id="47" name="TextBox 46"/>
          <p:cNvSpPr txBox="1"/>
          <p:nvPr/>
        </p:nvSpPr>
        <p:spPr>
          <a:xfrm>
            <a:off x="4714420" y="5455157"/>
            <a:ext cx="6932848"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 2025 to 2036. Absolute $ value for 2026 is estimated to be US$</a:t>
            </a:r>
          </a:p>
        </p:txBody>
      </p:sp>
      <p:pic>
        <p:nvPicPr>
          <p:cNvPr id="48" name="Picture 47" descr="lock.png"/>
          <p:cNvPicPr>
            <a:picLocks noChangeAspect="1"/>
          </p:cNvPicPr>
          <p:nvPr/>
        </p:nvPicPr>
        <p:blipFill>
          <a:blip r:embed="rId6"/>
          <a:stretch>
            <a:fillRect/>
          </a:stretch>
        </p:blipFill>
        <p:spPr>
          <a:xfrm>
            <a:off x="262145" y="5620194"/>
            <a:ext cx="134549" cy="195707"/>
          </a:xfrm>
          <a:prstGeom prst="rect">
            <a:avLst/>
          </a:prstGeom>
        </p:spPr>
      </p:pic>
      <p:sp>
        <p:nvSpPr>
          <p:cNvPr id="49" name="TextBox 48"/>
          <p:cNvSpPr txBox="1"/>
          <p:nvPr/>
        </p:nvSpPr>
        <p:spPr>
          <a:xfrm>
            <a:off x="437254" y="5630417"/>
            <a:ext cx="4281127" cy="194310"/>
          </a:xfrm>
          <a:prstGeom prst="rect">
            <a:avLst/>
          </a:prstGeom>
          <a:noFill/>
        </p:spPr>
        <p:txBody>
          <a:bodyPr wrap="none" lIns="0" rIns="0" tIns="0" bIns="0">
            <a:spAutoFit/>
          </a:bodyPr>
          <a:lstStyle/>
          <a:p>
            <a:r>
              <a:rPr sz="1150" b="0">
                <a:solidFill>
                  <a:srgbClr val="2E2E2E"/>
                </a:solidFill>
                <a:latin typeface="Calibri"/>
              </a:rPr>
              <a:t>Mn. North America ceramide sunscreen market is projected to register</a:t>
            </a:r>
          </a:p>
        </p:txBody>
      </p:sp>
      <p:pic>
        <p:nvPicPr>
          <p:cNvPr id="50" name="Picture 49" descr="lock.png"/>
          <p:cNvPicPr>
            <a:picLocks noChangeAspect="1"/>
          </p:cNvPicPr>
          <p:nvPr/>
        </p:nvPicPr>
        <p:blipFill>
          <a:blip r:embed="rId6"/>
          <a:stretch>
            <a:fillRect/>
          </a:stretch>
        </p:blipFill>
        <p:spPr>
          <a:xfrm>
            <a:off x="4667536" y="5620194"/>
            <a:ext cx="134549" cy="195707"/>
          </a:xfrm>
          <a:prstGeom prst="rect">
            <a:avLst/>
          </a:prstGeom>
        </p:spPr>
      </p:pic>
      <p:sp>
        <p:nvSpPr>
          <p:cNvPr id="51" name="TextBox 50"/>
          <p:cNvSpPr txBox="1"/>
          <p:nvPr/>
        </p:nvSpPr>
        <p:spPr>
          <a:xfrm>
            <a:off x="4842645"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2" name="TextBox 51"/>
          <p:cNvSpPr txBox="1"/>
          <p:nvPr/>
        </p:nvSpPr>
        <p:spPr>
          <a:xfrm>
            <a:off x="276225" y="5858255"/>
            <a:ext cx="3629037" cy="194310"/>
          </a:xfrm>
          <a:prstGeom prst="rect">
            <a:avLst/>
          </a:prstGeom>
          <a:noFill/>
        </p:spPr>
        <p:txBody>
          <a:bodyPr wrap="none" lIns="0" rIns="0" tIns="0" bIns="0">
            <a:spAutoFit/>
          </a:bodyPr>
          <a:lstStyle/>
          <a:p>
            <a:r>
              <a:rPr sz="1150" b="0">
                <a:solidFill>
                  <a:srgbClr val="2E2E2E"/>
                </a:solidFill>
                <a:latin typeface="Calibri"/>
              </a:rPr>
              <a:t>North America ceramide sunscreen market volume stood at</a:t>
            </a:r>
          </a:p>
        </p:txBody>
      </p:sp>
      <p:pic>
        <p:nvPicPr>
          <p:cNvPr id="53" name="Picture 52" descr="lock.png"/>
          <p:cNvPicPr>
            <a:picLocks noChangeAspect="1"/>
          </p:cNvPicPr>
          <p:nvPr/>
        </p:nvPicPr>
        <p:blipFill>
          <a:blip r:embed="rId6"/>
          <a:stretch>
            <a:fillRect/>
          </a:stretch>
        </p:blipFill>
        <p:spPr>
          <a:xfrm>
            <a:off x="3854416" y="5848032"/>
            <a:ext cx="134549" cy="195707"/>
          </a:xfrm>
          <a:prstGeom prst="rect">
            <a:avLst/>
          </a:prstGeom>
        </p:spPr>
      </p:pic>
      <p:sp>
        <p:nvSpPr>
          <p:cNvPr id="54" name="TextBox 53"/>
          <p:cNvSpPr txBox="1"/>
          <p:nvPr/>
        </p:nvSpPr>
        <p:spPr>
          <a:xfrm>
            <a:off x="4029525" y="585825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55" name="Picture 54" descr="lock.png"/>
          <p:cNvPicPr>
            <a:picLocks noChangeAspect="1"/>
          </p:cNvPicPr>
          <p:nvPr/>
        </p:nvPicPr>
        <p:blipFill>
          <a:blip r:embed="rId6"/>
          <a:stretch>
            <a:fillRect/>
          </a:stretch>
        </p:blipFill>
        <p:spPr>
          <a:xfrm>
            <a:off x="6322362" y="5848032"/>
            <a:ext cx="134549" cy="195707"/>
          </a:xfrm>
          <a:prstGeom prst="rect">
            <a:avLst/>
          </a:prstGeom>
        </p:spPr>
      </p:pic>
      <p:sp>
        <p:nvSpPr>
          <p:cNvPr id="56" name="TextBox 55"/>
          <p:cNvSpPr txBox="1"/>
          <p:nvPr/>
        </p:nvSpPr>
        <p:spPr>
          <a:xfrm>
            <a:off x="6497472" y="585825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57" name="Picture 56" descr="lock.png"/>
          <p:cNvPicPr>
            <a:picLocks noChangeAspect="1"/>
          </p:cNvPicPr>
          <p:nvPr/>
        </p:nvPicPr>
        <p:blipFill>
          <a:blip r:embed="rId6"/>
          <a:stretch>
            <a:fillRect/>
          </a:stretch>
        </p:blipFill>
        <p:spPr>
          <a:xfrm>
            <a:off x="8411189" y="5848032"/>
            <a:ext cx="134549" cy="195707"/>
          </a:xfrm>
          <a:prstGeom prst="rect">
            <a:avLst/>
          </a:prstGeom>
        </p:spPr>
      </p:pic>
      <p:sp>
        <p:nvSpPr>
          <p:cNvPr id="58" name="TextBox 57"/>
          <p:cNvSpPr txBox="1"/>
          <p:nvPr/>
        </p:nvSpPr>
        <p:spPr>
          <a:xfrm>
            <a:off x="8586298" y="5858255"/>
            <a:ext cx="2864271"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a:t>
            </a:r>
          </a:p>
        </p:txBody>
      </p:sp>
      <p:sp>
        <p:nvSpPr>
          <p:cNvPr id="59" name="TextBox 58"/>
          <p:cNvSpPr txBox="1"/>
          <p:nvPr/>
        </p:nvSpPr>
        <p:spPr>
          <a:xfrm>
            <a:off x="276225" y="6033515"/>
            <a:ext cx="4232634" cy="194310"/>
          </a:xfrm>
          <a:prstGeom prst="rect">
            <a:avLst/>
          </a:prstGeom>
          <a:noFill/>
        </p:spPr>
        <p:txBody>
          <a:bodyPr wrap="none" lIns="0" rIns="0" tIns="0" bIns="0">
            <a:spAutoFit/>
          </a:bodyPr>
          <a:lstStyle/>
          <a:p>
            <a:r>
              <a:rPr sz="1150" b="0">
                <a:solidFill>
                  <a:srgbClr val="2E2E2E"/>
                </a:solidFill>
                <a:latin typeface="Calibri"/>
              </a:rPr>
              <a:t>over the forecast period, owing to an increase in average selling price.</a:t>
            </a:r>
          </a:p>
        </p:txBody>
      </p:sp>
      <p:sp>
        <p:nvSpPr>
          <p:cNvPr id="60" name="lockshield_12"/>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15"/>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Summary Country Indices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8892" cy="213206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42971">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E2E2E"/>
                          </a:solidFill>
                          <a:latin typeface="Calibri"/>
                        </a:rPr>
                        <a:t>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3091859"/>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4210050" y="4384870"/>
            <a:ext cx="3743325" cy="1493740"/>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ounded Rectangle 19"/>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2" name="Chart 21"/>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3" name="Rounded Rectangle 22"/>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8096250" y="3547710"/>
          <a:ext cx="3928892" cy="215945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56662">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5" name="TextBox 24"/>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6" name="Rounded Rectangle 25"/>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6"/>
          <a:stretch>
            <a:fillRect/>
          </a:stretch>
        </p:blipFill>
        <p:spPr>
          <a:xfrm>
            <a:off x="3188017" y="2125483"/>
            <a:ext cx="183356" cy="266700"/>
          </a:xfrm>
          <a:prstGeom prst="rect">
            <a:avLst/>
          </a:prstGeom>
        </p:spPr>
      </p:pic>
      <p:pic>
        <p:nvPicPr>
          <p:cNvPr id="29" name="Picture 28" descr="lock.png"/>
          <p:cNvPicPr>
            <a:picLocks noChangeAspect="1"/>
          </p:cNvPicPr>
          <p:nvPr/>
        </p:nvPicPr>
        <p:blipFill>
          <a:blip r:embed="rId6"/>
          <a:stretch>
            <a:fillRect/>
          </a:stretch>
        </p:blipFill>
        <p:spPr>
          <a:xfrm>
            <a:off x="2232897" y="4496595"/>
            <a:ext cx="355389" cy="516930"/>
          </a:xfrm>
          <a:prstGeom prst="rect">
            <a:avLst/>
          </a:prstGeom>
        </p:spPr>
      </p:pic>
      <p:pic>
        <p:nvPicPr>
          <p:cNvPr id="30" name="Picture 29" descr="lock.png"/>
          <p:cNvPicPr>
            <a:picLocks noChangeAspect="1"/>
          </p:cNvPicPr>
          <p:nvPr/>
        </p:nvPicPr>
        <p:blipFill>
          <a:blip r:embed="rId6"/>
          <a:stretch>
            <a:fillRect/>
          </a:stretch>
        </p:blipFill>
        <p:spPr>
          <a:xfrm>
            <a:off x="6024086" y="2838940"/>
            <a:ext cx="115252" cy="167639"/>
          </a:xfrm>
          <a:prstGeom prst="rect">
            <a:avLst/>
          </a:prstGeom>
        </p:spPr>
      </p:pic>
      <p:pic>
        <p:nvPicPr>
          <p:cNvPr id="31" name="Picture 30" descr="lock.png"/>
          <p:cNvPicPr>
            <a:picLocks noChangeAspect="1"/>
          </p:cNvPicPr>
          <p:nvPr/>
        </p:nvPicPr>
        <p:blipFill>
          <a:blip r:embed="rId6"/>
          <a:stretch>
            <a:fillRect/>
          </a:stretch>
        </p:blipFill>
        <p:spPr>
          <a:xfrm>
            <a:off x="6024086" y="5131740"/>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175439" y="4490163"/>
            <a:ext cx="357960" cy="520669"/>
          </a:xfrm>
          <a:prstGeom prst="rect">
            <a:avLst/>
          </a:prstGeom>
        </p:spPr>
      </p:pic>
      <p:sp>
        <p:nvSpPr>
          <p:cNvPr id="34" name="TextBox 33"/>
          <p:cNvSpPr txBox="1"/>
          <p:nvPr/>
        </p:nvSpPr>
        <p:spPr>
          <a:xfrm>
            <a:off x="257175" y="6160574"/>
            <a:ext cx="3471837" cy="186689"/>
          </a:xfrm>
          <a:prstGeom prst="rect">
            <a:avLst/>
          </a:prstGeom>
          <a:noFill/>
        </p:spPr>
        <p:txBody>
          <a:bodyPr wrap="none" lIns="0" rIns="0" tIns="0" bIns="0">
            <a:spAutoFit/>
          </a:bodyPr>
          <a:lstStyle/>
          <a:p>
            <a:r>
              <a:rPr sz="1100" b="0">
                <a:solidFill>
                  <a:srgbClr val="2E2E2E"/>
                </a:solidFill>
                <a:latin typeface="Calibri"/>
              </a:rPr>
              <a:t>The U.S. ceramide sunscreen market is projected to register</a:t>
            </a:r>
          </a:p>
        </p:txBody>
      </p:sp>
      <p:pic>
        <p:nvPicPr>
          <p:cNvPr id="35" name="Picture 34" descr="lock.png"/>
          <p:cNvPicPr>
            <a:picLocks noChangeAspect="1"/>
          </p:cNvPicPr>
          <p:nvPr/>
        </p:nvPicPr>
        <p:blipFill>
          <a:blip r:embed="rId6"/>
          <a:stretch>
            <a:fillRect/>
          </a:stretch>
        </p:blipFill>
        <p:spPr>
          <a:xfrm>
            <a:off x="3677064" y="6150795"/>
            <a:ext cx="128699" cy="187198"/>
          </a:xfrm>
          <a:prstGeom prst="rect">
            <a:avLst/>
          </a:prstGeom>
        </p:spPr>
      </p:pic>
      <p:sp>
        <p:nvSpPr>
          <p:cNvPr id="36" name="TextBox 35"/>
          <p:cNvSpPr txBox="1"/>
          <p:nvPr/>
        </p:nvSpPr>
        <p:spPr>
          <a:xfrm>
            <a:off x="3844560" y="6160574"/>
            <a:ext cx="4339761" cy="186689"/>
          </a:xfrm>
          <a:prstGeom prst="rect">
            <a:avLst/>
          </a:prstGeom>
          <a:noFill/>
        </p:spPr>
        <p:txBody>
          <a:bodyPr wrap="none" lIns="0" rIns="0" tIns="0" bIns="0">
            <a:spAutoFit/>
          </a:bodyPr>
          <a:lstStyle/>
          <a:p>
            <a:r>
              <a:rPr sz="1100" b="0">
                <a:solidFill>
                  <a:srgbClr val="2E2E2E"/>
                </a:solidFill>
                <a:latin typeface="Calibri"/>
              </a:rPr>
              <a:t>X higher value than Canada in 2036. Canada posts the highest CAGR Index (</a:t>
            </a:r>
          </a:p>
        </p:txBody>
      </p:sp>
      <p:pic>
        <p:nvPicPr>
          <p:cNvPr id="37" name="Picture 36" descr="lock.png"/>
          <p:cNvPicPr>
            <a:picLocks noChangeAspect="1"/>
          </p:cNvPicPr>
          <p:nvPr/>
        </p:nvPicPr>
        <p:blipFill>
          <a:blip r:embed="rId6"/>
          <a:stretch>
            <a:fillRect/>
          </a:stretch>
        </p:blipFill>
        <p:spPr>
          <a:xfrm>
            <a:off x="8132373" y="6150795"/>
            <a:ext cx="128699" cy="187198"/>
          </a:xfrm>
          <a:prstGeom prst="rect">
            <a:avLst/>
          </a:prstGeom>
        </p:spPr>
      </p:pic>
      <p:sp>
        <p:nvSpPr>
          <p:cNvPr id="38" name="TextBox 37"/>
          <p:cNvSpPr txBox="1"/>
          <p:nvPr/>
        </p:nvSpPr>
        <p:spPr>
          <a:xfrm>
            <a:off x="8299868"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9" name="Picture 38" descr="lock.png"/>
          <p:cNvPicPr>
            <a:picLocks noChangeAspect="1"/>
          </p:cNvPicPr>
          <p:nvPr/>
        </p:nvPicPr>
        <p:blipFill>
          <a:blip r:embed="rId6"/>
          <a:stretch>
            <a:fillRect/>
          </a:stretch>
        </p:blipFill>
        <p:spPr>
          <a:xfrm>
            <a:off x="9037900" y="6150795"/>
            <a:ext cx="128699" cy="187198"/>
          </a:xfrm>
          <a:prstGeom prst="rect">
            <a:avLst/>
          </a:prstGeom>
        </p:spPr>
      </p:pic>
      <p:sp>
        <p:nvSpPr>
          <p:cNvPr id="40" name="TextBox 39"/>
          <p:cNvSpPr txBox="1"/>
          <p:nvPr/>
        </p:nvSpPr>
        <p:spPr>
          <a:xfrm>
            <a:off x="9205396"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41" name="TextBox 40"/>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2" name="Picture 41" descr="lock.png"/>
          <p:cNvPicPr>
            <a:picLocks noChangeAspect="1"/>
          </p:cNvPicPr>
          <p:nvPr/>
        </p:nvPicPr>
        <p:blipFill>
          <a:blip r:embed="rId6"/>
          <a:stretch>
            <a:fillRect/>
          </a:stretch>
        </p:blipFill>
        <p:spPr>
          <a:xfrm>
            <a:off x="4286068" y="6318435"/>
            <a:ext cx="128699" cy="187198"/>
          </a:xfrm>
          <a:prstGeom prst="rect">
            <a:avLst/>
          </a:prstGeom>
        </p:spPr>
      </p:pic>
      <p:sp>
        <p:nvSpPr>
          <p:cNvPr id="43" name="TextBox 42"/>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4" name="Picture 43" descr="lock.png"/>
          <p:cNvPicPr>
            <a:picLocks noChangeAspect="1"/>
          </p:cNvPicPr>
          <p:nvPr/>
        </p:nvPicPr>
        <p:blipFill>
          <a:blip r:embed="rId6"/>
          <a:stretch>
            <a:fillRect/>
          </a:stretch>
        </p:blipFill>
        <p:spPr>
          <a:xfrm>
            <a:off x="7713563" y="6318435"/>
            <a:ext cx="128699" cy="187198"/>
          </a:xfrm>
          <a:prstGeom prst="rect">
            <a:avLst/>
          </a:prstGeom>
        </p:spPr>
      </p:pic>
      <p:sp>
        <p:nvSpPr>
          <p:cNvPr id="45" name="TextBox 44"/>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6"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22"/>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003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242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05325"/>
            <a:ext cx="3943350"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291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'Chemical Ceramide Sunscreen'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3 product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488407" cy="194310"/>
          </a:xfrm>
          <a:prstGeom prst="rect">
            <a:avLst/>
          </a:prstGeom>
          <a:noFill/>
        </p:spPr>
        <p:txBody>
          <a:bodyPr wrap="none" lIns="0" rIns="0" tIns="0" bIns="0">
            <a:spAutoFit/>
          </a:bodyPr>
          <a:lstStyle/>
          <a:p>
            <a:r>
              <a:rPr sz="1150" b="0">
                <a:solidFill>
                  <a:srgbClr val="2E2E2E"/>
                </a:solidFill>
                <a:latin typeface="Calibri"/>
              </a:rPr>
              <a:t>Global ceramide sunscreen market is expected to witness</a:t>
            </a:r>
          </a:p>
        </p:txBody>
      </p:sp>
      <p:pic>
        <p:nvPicPr>
          <p:cNvPr id="32" name="Picture 31" descr="lock.png"/>
          <p:cNvPicPr>
            <a:picLocks noChangeAspect="1"/>
          </p:cNvPicPr>
          <p:nvPr/>
        </p:nvPicPr>
        <p:blipFill>
          <a:blip r:embed="rId4"/>
          <a:stretch>
            <a:fillRect/>
          </a:stretch>
        </p:blipFill>
        <p:spPr>
          <a:xfrm>
            <a:off x="3713786" y="1389951"/>
            <a:ext cx="134549" cy="195707"/>
          </a:xfrm>
          <a:prstGeom prst="rect">
            <a:avLst/>
          </a:prstGeom>
        </p:spPr>
      </p:pic>
      <p:sp>
        <p:nvSpPr>
          <p:cNvPr id="33" name="TextBox 32"/>
          <p:cNvSpPr txBox="1"/>
          <p:nvPr/>
        </p:nvSpPr>
        <p:spPr>
          <a:xfrm>
            <a:off x="3888895" y="1400175"/>
            <a:ext cx="5377073" cy="194310"/>
          </a:xfrm>
          <a:prstGeom prst="rect">
            <a:avLst/>
          </a:prstGeom>
          <a:noFill/>
        </p:spPr>
        <p:txBody>
          <a:bodyPr wrap="none" lIns="0" rIns="0" tIns="0" bIns="0">
            <a:spAutoFit/>
          </a:bodyPr>
          <a:lstStyle/>
          <a:p>
            <a:r>
              <a:rPr sz="1150" b="0">
                <a:solidFill>
                  <a:srgbClr val="2E2E2E"/>
                </a:solidFill>
                <a:latin typeface="Calibri"/>
              </a:rPr>
              <a:t>X increase in revenue by 2036 end. Global ceramide sunscreen market accounted for US$</a:t>
            </a:r>
          </a:p>
        </p:txBody>
      </p:sp>
      <p:pic>
        <p:nvPicPr>
          <p:cNvPr id="34" name="Picture 33" descr="lock.png"/>
          <p:cNvPicPr>
            <a:picLocks noChangeAspect="1"/>
          </p:cNvPicPr>
          <p:nvPr/>
        </p:nvPicPr>
        <p:blipFill>
          <a:blip r:embed="rId4"/>
          <a:stretch>
            <a:fillRect/>
          </a:stretch>
        </p:blipFill>
        <p:spPr>
          <a:xfrm>
            <a:off x="9215122" y="1389951"/>
            <a:ext cx="134549" cy="195707"/>
          </a:xfrm>
          <a:prstGeom prst="rect">
            <a:avLst/>
          </a:prstGeom>
        </p:spPr>
      </p:pic>
      <p:sp>
        <p:nvSpPr>
          <p:cNvPr id="35" name="TextBox 34"/>
          <p:cNvSpPr txBox="1"/>
          <p:nvPr/>
        </p:nvSpPr>
        <p:spPr>
          <a:xfrm>
            <a:off x="9390231"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6" name="TextBox 35"/>
          <p:cNvSpPr txBox="1"/>
          <p:nvPr/>
        </p:nvSpPr>
        <p:spPr>
          <a:xfrm>
            <a:off x="276225" y="15754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37" name="Picture 36" descr="lock.png"/>
          <p:cNvPicPr>
            <a:picLocks noChangeAspect="1"/>
          </p:cNvPicPr>
          <p:nvPr/>
        </p:nvPicPr>
        <p:blipFill>
          <a:blip r:embed="rId4"/>
          <a:stretch>
            <a:fillRect/>
          </a:stretch>
        </p:blipFill>
        <p:spPr>
          <a:xfrm>
            <a:off x="1224660" y="1565211"/>
            <a:ext cx="134549" cy="195707"/>
          </a:xfrm>
          <a:prstGeom prst="rect">
            <a:avLst/>
          </a:prstGeom>
        </p:spPr>
      </p:pic>
      <p:sp>
        <p:nvSpPr>
          <p:cNvPr id="38" name="TextBox 37"/>
          <p:cNvSpPr txBox="1"/>
          <p:nvPr/>
        </p:nvSpPr>
        <p:spPr>
          <a:xfrm>
            <a:off x="1399769"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2876477" y="1565211"/>
            <a:ext cx="134549" cy="195707"/>
          </a:xfrm>
          <a:prstGeom prst="rect">
            <a:avLst/>
          </a:prstGeom>
        </p:spPr>
      </p:pic>
      <p:sp>
        <p:nvSpPr>
          <p:cNvPr id="40" name="TextBox 39"/>
          <p:cNvSpPr txBox="1"/>
          <p:nvPr/>
        </p:nvSpPr>
        <p:spPr>
          <a:xfrm>
            <a:off x="3051587"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620500" cy="194310"/>
          </a:xfrm>
          <a:prstGeom prst="rect">
            <a:avLst/>
          </a:prstGeom>
          <a:noFill/>
        </p:spPr>
        <p:txBody>
          <a:bodyPr wrap="none" lIns="0" rIns="0" tIns="0" bIns="0">
            <a:spAutoFit/>
          </a:bodyPr>
          <a:lstStyle/>
          <a:p>
            <a:r>
              <a:rPr sz="1150" b="0">
                <a:solidFill>
                  <a:srgbClr val="2E2E2E"/>
                </a:solidFill>
                <a:latin typeface="Calibri"/>
              </a:rPr>
              <a:t>The global ceramide sunscreen market has been analysed on the basis of product type, form type, SPF rating and ingredient type across the globe. U.S. is expected to remain the largest market for</a:t>
            </a:r>
          </a:p>
        </p:txBody>
      </p:sp>
      <p:sp>
        <p:nvSpPr>
          <p:cNvPr id="42" name="TextBox 41"/>
          <p:cNvSpPr txBox="1"/>
          <p:nvPr/>
        </p:nvSpPr>
        <p:spPr>
          <a:xfrm>
            <a:off x="276225" y="1978533"/>
            <a:ext cx="5589284" cy="194310"/>
          </a:xfrm>
          <a:prstGeom prst="rect">
            <a:avLst/>
          </a:prstGeom>
          <a:noFill/>
        </p:spPr>
        <p:txBody>
          <a:bodyPr wrap="none" lIns="0" rIns="0" tIns="0" bIns="0">
            <a:spAutoFit/>
          </a:bodyPr>
          <a:lstStyle/>
          <a:p>
            <a:r>
              <a:rPr sz="1150" b="0">
                <a:solidFill>
                  <a:srgbClr val="2E2E2E"/>
                </a:solidFill>
                <a:latin typeface="Calibri"/>
              </a:rPr>
              <a:t>ceramide sunscreen, while demand in Canada is projected to increase at the highest CAGR of</a:t>
            </a:r>
          </a:p>
        </p:txBody>
      </p:sp>
      <p:pic>
        <p:nvPicPr>
          <p:cNvPr id="43" name="Picture 42" descr="lock.png"/>
          <p:cNvPicPr>
            <a:picLocks noChangeAspect="1"/>
          </p:cNvPicPr>
          <p:nvPr/>
        </p:nvPicPr>
        <p:blipFill>
          <a:blip r:embed="rId4"/>
          <a:stretch>
            <a:fillRect/>
          </a:stretch>
        </p:blipFill>
        <p:spPr>
          <a:xfrm>
            <a:off x="5814663" y="1968309"/>
            <a:ext cx="134549" cy="195707"/>
          </a:xfrm>
          <a:prstGeom prst="rect">
            <a:avLst/>
          </a:prstGeom>
        </p:spPr>
      </p:pic>
      <p:sp>
        <p:nvSpPr>
          <p:cNvPr id="44" name="TextBox 43"/>
          <p:cNvSpPr txBox="1"/>
          <p:nvPr/>
        </p:nvSpPr>
        <p:spPr>
          <a:xfrm>
            <a:off x="5989772"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19450"/>
            <a:ext cx="6010337" cy="194310"/>
          </a:xfrm>
          <a:prstGeom prst="rect">
            <a:avLst/>
          </a:prstGeom>
          <a:noFill/>
        </p:spPr>
        <p:txBody>
          <a:bodyPr wrap="none" lIns="0" rIns="0" tIns="0" bIns="0">
            <a:spAutoFit/>
          </a:bodyPr>
          <a:lstStyle/>
          <a:p>
            <a:r>
              <a:rPr sz="1150" b="0">
                <a:solidFill>
                  <a:srgbClr val="2E2E2E"/>
                </a:solidFill>
                <a:latin typeface="Calibri"/>
              </a:rPr>
              <a:t>▪ The market is consolidated: the leading product type category 'Mineral Ceramide Sunscreen' holds</a:t>
            </a:r>
          </a:p>
        </p:txBody>
      </p:sp>
      <p:pic>
        <p:nvPicPr>
          <p:cNvPr id="46" name="Picture 45" descr="lock.png"/>
          <p:cNvPicPr>
            <a:picLocks noChangeAspect="1"/>
          </p:cNvPicPr>
          <p:nvPr/>
        </p:nvPicPr>
        <p:blipFill>
          <a:blip r:embed="rId4"/>
          <a:stretch>
            <a:fillRect/>
          </a:stretch>
        </p:blipFill>
        <p:spPr>
          <a:xfrm>
            <a:off x="6235715" y="3209226"/>
            <a:ext cx="134549" cy="195707"/>
          </a:xfrm>
          <a:prstGeom prst="rect">
            <a:avLst/>
          </a:prstGeom>
        </p:spPr>
      </p:pic>
      <p:sp>
        <p:nvSpPr>
          <p:cNvPr id="47" name="TextBox 46"/>
          <p:cNvSpPr txBox="1"/>
          <p:nvPr/>
        </p:nvSpPr>
        <p:spPr>
          <a:xfrm>
            <a:off x="6410825"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447287"/>
            <a:ext cx="5104085" cy="194310"/>
          </a:xfrm>
          <a:prstGeom prst="rect">
            <a:avLst/>
          </a:prstGeom>
          <a:noFill/>
        </p:spPr>
        <p:txBody>
          <a:bodyPr wrap="none" lIns="0" rIns="0" tIns="0" bIns="0">
            <a:spAutoFit/>
          </a:bodyPr>
          <a:lstStyle/>
          <a:p>
            <a:r>
              <a:rPr sz="1150" b="0">
                <a:solidFill>
                  <a:srgbClr val="2E2E2E"/>
                </a:solidFill>
                <a:latin typeface="Calibri"/>
              </a:rPr>
              <a:t>▪ Demand spans 2 countries and 12 segmentation lenses (3 product type categories).</a:t>
            </a:r>
          </a:p>
        </p:txBody>
      </p:sp>
      <p:sp>
        <p:nvSpPr>
          <p:cNvPr id="49" name="TextBox 48"/>
          <p:cNvSpPr txBox="1"/>
          <p:nvPr/>
        </p:nvSpPr>
        <p:spPr>
          <a:xfrm>
            <a:off x="276225" y="367512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50" name="Picture 49" descr="lock.png"/>
          <p:cNvPicPr>
            <a:picLocks noChangeAspect="1"/>
          </p:cNvPicPr>
          <p:nvPr/>
        </p:nvPicPr>
        <p:blipFill>
          <a:blip r:embed="rId4"/>
          <a:stretch>
            <a:fillRect/>
          </a:stretch>
        </p:blipFill>
        <p:spPr>
          <a:xfrm>
            <a:off x="2514293" y="3664902"/>
            <a:ext cx="134549" cy="195707"/>
          </a:xfrm>
          <a:prstGeom prst="rect">
            <a:avLst/>
          </a:prstGeom>
        </p:spPr>
      </p:pic>
      <p:sp>
        <p:nvSpPr>
          <p:cNvPr id="51" name="TextBox 50"/>
          <p:cNvSpPr txBox="1"/>
          <p:nvPr/>
        </p:nvSpPr>
        <p:spPr>
          <a:xfrm>
            <a:off x="2689402"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4924425"/>
            <a:ext cx="3465016" cy="194310"/>
          </a:xfrm>
          <a:prstGeom prst="rect">
            <a:avLst/>
          </a:prstGeom>
          <a:noFill/>
        </p:spPr>
        <p:txBody>
          <a:bodyPr wrap="none" lIns="0" rIns="0" tIns="0" bIns="0">
            <a:spAutoFit/>
          </a:bodyPr>
          <a:lstStyle/>
          <a:p>
            <a:r>
              <a:rPr sz="1150" b="0">
                <a:solidFill>
                  <a:srgbClr val="2E2E2E"/>
                </a:solidFill>
                <a:latin typeface="Calibri"/>
              </a:rPr>
              <a:t>▪ Accelerating uptake of 'Chemical Ceramide Sunscreen' (</a:t>
            </a:r>
          </a:p>
        </p:txBody>
      </p:sp>
      <p:pic>
        <p:nvPicPr>
          <p:cNvPr id="53" name="Picture 52" descr="lock.png"/>
          <p:cNvPicPr>
            <a:picLocks noChangeAspect="1"/>
          </p:cNvPicPr>
          <p:nvPr/>
        </p:nvPicPr>
        <p:blipFill>
          <a:blip r:embed="rId4"/>
          <a:stretch>
            <a:fillRect/>
          </a:stretch>
        </p:blipFill>
        <p:spPr>
          <a:xfrm>
            <a:off x="3690395" y="4914201"/>
            <a:ext cx="134549" cy="195707"/>
          </a:xfrm>
          <a:prstGeom prst="rect">
            <a:avLst/>
          </a:prstGeom>
        </p:spPr>
      </p:pic>
      <p:sp>
        <p:nvSpPr>
          <p:cNvPr id="54" name="TextBox 53"/>
          <p:cNvSpPr txBox="1"/>
          <p:nvPr/>
        </p:nvSpPr>
        <p:spPr>
          <a:xfrm>
            <a:off x="276225"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327522"/>
            <a:ext cx="2146510" cy="194310"/>
          </a:xfrm>
          <a:prstGeom prst="rect">
            <a:avLst/>
          </a:prstGeom>
          <a:noFill/>
        </p:spPr>
        <p:txBody>
          <a:bodyPr wrap="none" lIns="0" rIns="0" tIns="0" bIns="0">
            <a:spAutoFit/>
          </a:bodyPr>
          <a:lstStyle/>
          <a:p>
            <a:r>
              <a:rPr sz="1150" b="0">
                <a:solidFill>
                  <a:srgbClr val="2E2E2E"/>
                </a:solidFill>
                <a:latin typeface="Calibri"/>
              </a:rPr>
              <a:t>▪ Fast-growing demand in Canada (</a:t>
            </a:r>
          </a:p>
        </p:txBody>
      </p:sp>
      <p:pic>
        <p:nvPicPr>
          <p:cNvPr id="56" name="Picture 55" descr="lock.png"/>
          <p:cNvPicPr>
            <a:picLocks noChangeAspect="1"/>
          </p:cNvPicPr>
          <p:nvPr/>
        </p:nvPicPr>
        <p:blipFill>
          <a:blip r:embed="rId4"/>
          <a:stretch>
            <a:fillRect/>
          </a:stretch>
        </p:blipFill>
        <p:spPr>
          <a:xfrm>
            <a:off x="2371889" y="5317299"/>
            <a:ext cx="134549" cy="195707"/>
          </a:xfrm>
          <a:prstGeom prst="rect">
            <a:avLst/>
          </a:prstGeom>
        </p:spPr>
      </p:pic>
      <p:sp>
        <p:nvSpPr>
          <p:cNvPr id="57" name="TextBox 56"/>
          <p:cNvSpPr txBox="1"/>
          <p:nvPr/>
        </p:nvSpPr>
        <p:spPr>
          <a:xfrm>
            <a:off x="2546998"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555360"/>
            <a:ext cx="3348570" cy="194310"/>
          </a:xfrm>
          <a:prstGeom prst="rect">
            <a:avLst/>
          </a:prstGeom>
          <a:noFill/>
        </p:spPr>
        <p:txBody>
          <a:bodyPr wrap="none" lIns="0" rIns="0" tIns="0" bIns="0">
            <a:spAutoFit/>
          </a:bodyPr>
          <a:lstStyle/>
          <a:p>
            <a:r>
              <a:rPr sz="1150" b="0">
                <a:solidFill>
                  <a:srgbClr val="2E2E2E"/>
                </a:solidFill>
                <a:latin typeface="Calibri"/>
              </a:rPr>
              <a:t>▪ Momentum in Face &amp; Body Sunscreen within end-use</a:t>
            </a:r>
          </a:p>
        </p:txBody>
      </p:sp>
      <p:sp>
        <p:nvSpPr>
          <p:cNvPr id="59" name="TextBox 58"/>
          <p:cNvSpPr txBox="1"/>
          <p:nvPr/>
        </p:nvSpPr>
        <p:spPr>
          <a:xfrm>
            <a:off x="276225" y="5730620"/>
            <a:ext cx="812440" cy="194310"/>
          </a:xfrm>
          <a:prstGeom prst="rect">
            <a:avLst/>
          </a:prstGeom>
          <a:noFill/>
        </p:spPr>
        <p:txBody>
          <a:bodyPr wrap="none" lIns="0" rIns="0" tIns="0" bIns="0">
            <a:spAutoFit/>
          </a:bodyPr>
          <a:lstStyle/>
          <a:p>
            <a:r>
              <a:rPr sz="1150" b="0">
                <a:solidFill>
                  <a:srgbClr val="2E2E2E"/>
                </a:solidFill>
                <a:latin typeface="Calibri"/>
              </a:rPr>
              <a:t>application (</a:t>
            </a:r>
          </a:p>
        </p:txBody>
      </p:sp>
      <p:pic>
        <p:nvPicPr>
          <p:cNvPr id="60" name="Picture 59" descr="lock.png"/>
          <p:cNvPicPr>
            <a:picLocks noChangeAspect="1"/>
          </p:cNvPicPr>
          <p:nvPr/>
        </p:nvPicPr>
        <p:blipFill>
          <a:blip r:embed="rId4"/>
          <a:stretch>
            <a:fillRect/>
          </a:stretch>
        </p:blipFill>
        <p:spPr>
          <a:xfrm>
            <a:off x="1037819" y="5720397"/>
            <a:ext cx="134549" cy="195707"/>
          </a:xfrm>
          <a:prstGeom prst="rect">
            <a:avLst/>
          </a:prstGeom>
        </p:spPr>
      </p:pic>
      <p:sp>
        <p:nvSpPr>
          <p:cNvPr id="61" name="TextBox 60"/>
          <p:cNvSpPr txBox="1"/>
          <p:nvPr/>
        </p:nvSpPr>
        <p:spPr>
          <a:xfrm>
            <a:off x="1212928"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2" name="TextBox 61"/>
          <p:cNvSpPr txBox="1"/>
          <p:nvPr/>
        </p:nvSpPr>
        <p:spPr>
          <a:xfrm>
            <a:off x="4371975" y="4924425"/>
            <a:ext cx="3266194" cy="194310"/>
          </a:xfrm>
          <a:prstGeom prst="rect">
            <a:avLst/>
          </a:prstGeom>
          <a:noFill/>
        </p:spPr>
        <p:txBody>
          <a:bodyPr wrap="none" lIns="0" rIns="0" tIns="0" bIns="0">
            <a:spAutoFit/>
          </a:bodyPr>
          <a:lstStyle/>
          <a:p>
            <a:r>
              <a:rPr sz="1150" b="0">
                <a:solidFill>
                  <a:srgbClr val="2E2E2E"/>
                </a:solidFill>
                <a:latin typeface="Calibri"/>
              </a:rPr>
              <a:t>▪ Slower momentum in 'Hybrid Ceramide Sunscreen' (</a:t>
            </a:r>
          </a:p>
        </p:txBody>
      </p:sp>
      <p:pic>
        <p:nvPicPr>
          <p:cNvPr id="63" name="Picture 62" descr="lock.png"/>
          <p:cNvPicPr>
            <a:picLocks noChangeAspect="1"/>
          </p:cNvPicPr>
          <p:nvPr/>
        </p:nvPicPr>
        <p:blipFill>
          <a:blip r:embed="rId4"/>
          <a:stretch>
            <a:fillRect/>
          </a:stretch>
        </p:blipFill>
        <p:spPr>
          <a:xfrm>
            <a:off x="7587323" y="4914201"/>
            <a:ext cx="134549" cy="195707"/>
          </a:xfrm>
          <a:prstGeom prst="rect">
            <a:avLst/>
          </a:prstGeom>
        </p:spPr>
      </p:pic>
      <p:sp>
        <p:nvSpPr>
          <p:cNvPr id="64" name="TextBox 63"/>
          <p:cNvSpPr txBox="1"/>
          <p:nvPr/>
        </p:nvSpPr>
        <p:spPr>
          <a:xfrm>
            <a:off x="7762432" y="4924425"/>
            <a:ext cx="143317"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1522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3275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317299"/>
            <a:ext cx="134549" cy="195707"/>
          </a:xfrm>
          <a:prstGeom prst="rect">
            <a:avLst/>
          </a:prstGeom>
        </p:spPr>
      </p:pic>
      <p:sp>
        <p:nvSpPr>
          <p:cNvPr id="68" name="TextBox 67"/>
          <p:cNvSpPr txBox="1"/>
          <p:nvPr/>
        </p:nvSpPr>
        <p:spPr>
          <a:xfrm>
            <a:off x="5058510" y="53275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555360"/>
            <a:ext cx="3317540" cy="194310"/>
          </a:xfrm>
          <a:prstGeom prst="rect">
            <a:avLst/>
          </a:prstGeom>
          <a:noFill/>
        </p:spPr>
        <p:txBody>
          <a:bodyPr wrap="none" lIns="0" rIns="0" tIns="0" bIns="0">
            <a:spAutoFit/>
          </a:bodyPr>
          <a:lstStyle/>
          <a:p>
            <a:r>
              <a:rPr sz="1150" b="0">
                <a:solidFill>
                  <a:srgbClr val="2E2E2E"/>
                </a:solidFill>
                <a:latin typeface="Calibri"/>
              </a:rPr>
              <a:t>▪ Value concentration in 'Mineral Ceramide Sunscreen'</a:t>
            </a:r>
          </a:p>
        </p:txBody>
      </p:sp>
      <p:sp>
        <p:nvSpPr>
          <p:cNvPr id="70" name="TextBox 69"/>
          <p:cNvSpPr txBox="1"/>
          <p:nvPr/>
        </p:nvSpPr>
        <p:spPr>
          <a:xfrm>
            <a:off x="4371975" y="5730620"/>
            <a:ext cx="1978843" cy="194310"/>
          </a:xfrm>
          <a:prstGeom prst="rect">
            <a:avLst/>
          </a:prstGeom>
          <a:noFill/>
        </p:spPr>
        <p:txBody>
          <a:bodyPr wrap="none" lIns="0" rIns="0" tIns="0" bIns="0">
            <a:spAutoFit/>
          </a:bodyPr>
          <a:lstStyle/>
          <a:p>
            <a:r>
              <a:rPr sz="1150" b="0">
                <a:solidFill>
                  <a:srgbClr val="2E2E2E"/>
                </a:solidFill>
                <a:latin typeface="Calibri"/>
              </a:rPr>
              <a:t>raises barriers for new entrants.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47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'Chemical Ceramide Sunscreen' and Canada.</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U.S. and Canada.</a:t>
            </a:r>
          </a:p>
        </p:txBody>
      </p:sp>
      <p:sp>
        <p:nvSpPr>
          <p:cNvPr id="14" name="Rounded Rectangle 13"/>
          <p:cNvSpPr/>
          <p:nvPr/>
        </p:nvSpPr>
        <p:spPr>
          <a:xfrm>
            <a:off x="6172200" y="981075"/>
            <a:ext cx="5876925"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47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47975"/>
            <a:ext cx="5876925" cy="1428750"/>
          </a:xfrm>
          <a:prstGeom prst="roundRect">
            <a:avLst>
              <a:gd name="adj" fmla="val 53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33700"/>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1718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847975"/>
            <a:ext cx="5876925" cy="1428750"/>
          </a:xfrm>
          <a:prstGeom prst="roundRect">
            <a:avLst>
              <a:gd name="adj" fmla="val 53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33700"/>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1718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410075"/>
            <a:ext cx="11906250" cy="2209800"/>
          </a:xfrm>
          <a:prstGeom prst="roundRect">
            <a:avLst>
              <a:gd name="adj" fmla="val 34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467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8" name="Chart 27"/>
          <p:cNvGraphicFramePr>
            <a:graphicFrameLocks noGrp="1"/>
          </p:cNvGraphicFramePr>
          <p:nvPr/>
        </p:nvGraphicFramePr>
        <p:xfrm>
          <a:off x="238125" y="4695825"/>
          <a:ext cx="11715750" cy="1866900"/>
        </p:xfrm>
        <a:graphic>
          <a:graphicData uri="http://schemas.openxmlformats.org/drawingml/2006/chart">
            <c:chart xmlns:c="http://schemas.openxmlformats.org/drawingml/2006/chart" r:id="rId3"/>
          </a:graphicData>
        </a:graphic>
      </p:graphicFrame>
      <p:sp>
        <p:nvSpPr>
          <p:cNvPr id="29" name="TextBox 28"/>
          <p:cNvSpPr txBox="1"/>
          <p:nvPr/>
        </p:nvSpPr>
        <p:spPr>
          <a:xfrm>
            <a:off x="3892075" y="5514975"/>
            <a:ext cx="893125"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43964" y="5349744"/>
            <a:ext cx="366052" cy="532439"/>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2683296" cy="186689"/>
          </a:xfrm>
          <a:prstGeom prst="rect">
            <a:avLst/>
          </a:prstGeom>
          <a:noFill/>
        </p:spPr>
        <p:txBody>
          <a:bodyPr wrap="none" lIns="0" rIns="0" tIns="0" bIns="0">
            <a:spAutoFit/>
          </a:bodyPr>
          <a:lstStyle/>
          <a:p>
            <a:r>
              <a:rPr sz="1100" b="0">
                <a:solidFill>
                  <a:srgbClr val="2E2E2E"/>
                </a:solidFill>
                <a:latin typeface="Calibri"/>
              </a:rPr>
              <a:t>▪ Lead category 'Mineral Ceramide Sunscreen'</a:t>
            </a:r>
          </a:p>
        </p:txBody>
      </p:sp>
      <p:pic>
        <p:nvPicPr>
          <p:cNvPr id="41" name="Picture 40" descr="lock.png"/>
          <p:cNvPicPr>
            <a:picLocks noChangeAspect="1"/>
          </p:cNvPicPr>
          <p:nvPr/>
        </p:nvPicPr>
        <p:blipFill>
          <a:blip r:embed="rId5"/>
          <a:stretch>
            <a:fillRect/>
          </a:stretch>
        </p:blipFill>
        <p:spPr>
          <a:xfrm>
            <a:off x="8936898" y="1826260"/>
            <a:ext cx="128699" cy="187198"/>
          </a:xfrm>
          <a:prstGeom prst="rect">
            <a:avLst/>
          </a:prstGeom>
        </p:spPr>
      </p:pic>
      <p:sp>
        <p:nvSpPr>
          <p:cNvPr id="42" name="TextBox 41"/>
          <p:cNvSpPr txBox="1"/>
          <p:nvPr/>
        </p:nvSpPr>
        <p:spPr>
          <a:xfrm>
            <a:off x="9104394"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4" name="Picture 43" descr="lock.png"/>
          <p:cNvPicPr>
            <a:picLocks noChangeAspect="1"/>
          </p:cNvPicPr>
          <p:nvPr/>
        </p:nvPicPr>
        <p:blipFill>
          <a:blip r:embed="rId5"/>
          <a:stretch>
            <a:fillRect/>
          </a:stretch>
        </p:blipFill>
        <p:spPr>
          <a:xfrm>
            <a:off x="7405655" y="2044192"/>
            <a:ext cx="128699" cy="187198"/>
          </a:xfrm>
          <a:prstGeom prst="rect">
            <a:avLst/>
          </a:prstGeom>
        </p:spPr>
      </p:pic>
      <p:sp>
        <p:nvSpPr>
          <p:cNvPr id="45" name="TextBox 44"/>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267075"/>
            <a:ext cx="5061743"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'Chemical Ceramide Sunscreen' (</a:t>
            </a:r>
          </a:p>
        </p:txBody>
      </p:sp>
      <p:pic>
        <p:nvPicPr>
          <p:cNvPr id="50" name="Picture 49" descr="lock.png"/>
          <p:cNvPicPr>
            <a:picLocks noChangeAspect="1"/>
          </p:cNvPicPr>
          <p:nvPr/>
        </p:nvPicPr>
        <p:blipFill>
          <a:blip r:embed="rId5"/>
          <a:stretch>
            <a:fillRect/>
          </a:stretch>
        </p:blipFill>
        <p:spPr>
          <a:xfrm>
            <a:off x="5286020" y="3257296"/>
            <a:ext cx="128699" cy="187198"/>
          </a:xfrm>
          <a:prstGeom prst="rect">
            <a:avLst/>
          </a:prstGeom>
        </p:spPr>
      </p:pic>
      <p:sp>
        <p:nvSpPr>
          <p:cNvPr id="51" name="TextBox 50"/>
          <p:cNvSpPr txBox="1"/>
          <p:nvPr/>
        </p:nvSpPr>
        <p:spPr>
          <a:xfrm>
            <a:off x="5453516" y="326707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2" name="TextBox 51"/>
          <p:cNvSpPr txBox="1"/>
          <p:nvPr/>
        </p:nvSpPr>
        <p:spPr>
          <a:xfrm>
            <a:off x="276225" y="3485007"/>
            <a:ext cx="653008" cy="186689"/>
          </a:xfrm>
          <a:prstGeom prst="rect">
            <a:avLst/>
          </a:prstGeom>
          <a:noFill/>
        </p:spPr>
        <p:txBody>
          <a:bodyPr wrap="none" lIns="0" rIns="0" tIns="0" bIns="0">
            <a:spAutoFit/>
          </a:bodyPr>
          <a:lstStyle/>
          <a:p>
            <a:r>
              <a:rPr sz="1100" b="0">
                <a:solidFill>
                  <a:srgbClr val="2E2E2E"/>
                </a:solidFill>
                <a:latin typeface="Calibri"/>
              </a:rPr>
              <a:t>▪ Canada (</a:t>
            </a:r>
          </a:p>
        </p:txBody>
      </p:sp>
      <p:pic>
        <p:nvPicPr>
          <p:cNvPr id="53" name="Picture 52" descr="lock.png"/>
          <p:cNvPicPr>
            <a:picLocks noChangeAspect="1"/>
          </p:cNvPicPr>
          <p:nvPr/>
        </p:nvPicPr>
        <p:blipFill>
          <a:blip r:embed="rId5"/>
          <a:stretch>
            <a:fillRect/>
          </a:stretch>
        </p:blipFill>
        <p:spPr>
          <a:xfrm>
            <a:off x="877284" y="3475228"/>
            <a:ext cx="128699" cy="187198"/>
          </a:xfrm>
          <a:prstGeom prst="rect">
            <a:avLst/>
          </a:prstGeom>
        </p:spPr>
      </p:pic>
      <p:sp>
        <p:nvSpPr>
          <p:cNvPr id="54" name="TextBox 53"/>
          <p:cNvSpPr txBox="1"/>
          <p:nvPr/>
        </p:nvSpPr>
        <p:spPr>
          <a:xfrm>
            <a:off x="1044780" y="3485007"/>
            <a:ext cx="2262832" cy="186689"/>
          </a:xfrm>
          <a:prstGeom prst="rect">
            <a:avLst/>
          </a:prstGeom>
          <a:noFill/>
        </p:spPr>
        <p:txBody>
          <a:bodyPr wrap="none" lIns="0" rIns="0" tIns="0" bIns="0">
            <a:spAutoFit/>
          </a:bodyPr>
          <a:lstStyle/>
          <a:p>
            <a:r>
              <a:rPr sz="1100" b="0">
                <a:solidFill>
                  <a:srgbClr val="2E2E2E"/>
                </a:solidFill>
                <a:latin typeface="Calibri"/>
              </a:rPr>
              <a:t>) is a priority country for new capacity.</a:t>
            </a:r>
          </a:p>
        </p:txBody>
      </p:sp>
      <p:sp>
        <p:nvSpPr>
          <p:cNvPr id="55" name="TextBox 54"/>
          <p:cNvSpPr txBox="1"/>
          <p:nvPr/>
        </p:nvSpPr>
        <p:spPr>
          <a:xfrm>
            <a:off x="276225" y="3702939"/>
            <a:ext cx="3563515" cy="186689"/>
          </a:xfrm>
          <a:prstGeom prst="rect">
            <a:avLst/>
          </a:prstGeom>
          <a:noFill/>
        </p:spPr>
        <p:txBody>
          <a:bodyPr wrap="none" lIns="0" rIns="0" tIns="0" bIns="0">
            <a:spAutoFit/>
          </a:bodyPr>
          <a:lstStyle/>
          <a:p>
            <a:r>
              <a:rPr sz="1100" b="0">
                <a:solidFill>
                  <a:srgbClr val="2E2E2E"/>
                </a:solidFill>
                <a:latin typeface="Calibri"/>
              </a:rPr>
              <a:t>▪ Scale players anchor around 'Mineral Ceramide Sunscreen' (</a:t>
            </a:r>
          </a:p>
        </p:txBody>
      </p:sp>
      <p:pic>
        <p:nvPicPr>
          <p:cNvPr id="56" name="Picture 55" descr="lock.png"/>
          <p:cNvPicPr>
            <a:picLocks noChangeAspect="1"/>
          </p:cNvPicPr>
          <p:nvPr/>
        </p:nvPicPr>
        <p:blipFill>
          <a:blip r:embed="rId5"/>
          <a:stretch>
            <a:fillRect/>
          </a:stretch>
        </p:blipFill>
        <p:spPr>
          <a:xfrm>
            <a:off x="3787792" y="3693160"/>
            <a:ext cx="128699" cy="187198"/>
          </a:xfrm>
          <a:prstGeom prst="rect">
            <a:avLst/>
          </a:prstGeom>
        </p:spPr>
      </p:pic>
      <p:sp>
        <p:nvSpPr>
          <p:cNvPr id="57" name="TextBox 56"/>
          <p:cNvSpPr txBox="1"/>
          <p:nvPr/>
        </p:nvSpPr>
        <p:spPr>
          <a:xfrm>
            <a:off x="3955288" y="3702939"/>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8" name="TextBox 57"/>
          <p:cNvSpPr txBox="1"/>
          <p:nvPr/>
        </p:nvSpPr>
        <p:spPr>
          <a:xfrm>
            <a:off x="6305550" y="3267075"/>
            <a:ext cx="5458469" cy="186689"/>
          </a:xfrm>
          <a:prstGeom prst="rect">
            <a:avLst/>
          </a:prstGeom>
          <a:noFill/>
        </p:spPr>
        <p:txBody>
          <a:bodyPr wrap="none" lIns="0" rIns="0" tIns="0" bIns="0">
            <a:spAutoFit/>
          </a:bodyPr>
          <a:lstStyle/>
          <a:p>
            <a:r>
              <a:rPr sz="1100" b="0">
                <a:solidFill>
                  <a:srgbClr val="2E2E2E"/>
                </a:solidFill>
                <a:latin typeface="Calibri"/>
              </a:rPr>
              <a:t>▪ R&amp;D aligns with the migration to 'Chemical Ceramide Sunscreen' and adjacent premium tiers.</a:t>
            </a:r>
          </a:p>
        </p:txBody>
      </p:sp>
      <p:sp>
        <p:nvSpPr>
          <p:cNvPr id="59" name="TextBox 58"/>
          <p:cNvSpPr txBox="1"/>
          <p:nvPr/>
        </p:nvSpPr>
        <p:spPr>
          <a:xfrm>
            <a:off x="6305550" y="3485007"/>
            <a:ext cx="4406354" cy="186689"/>
          </a:xfrm>
          <a:prstGeom prst="rect">
            <a:avLst/>
          </a:prstGeom>
          <a:noFill/>
        </p:spPr>
        <p:txBody>
          <a:bodyPr wrap="none" lIns="0" rIns="0" tIns="0" bIns="0">
            <a:spAutoFit/>
          </a:bodyPr>
          <a:lstStyle/>
          <a:p>
            <a:r>
              <a:rPr sz="1100" b="0">
                <a:solidFill>
                  <a:srgbClr val="2E2E2E"/>
                </a:solidFill>
                <a:latin typeface="Calibri"/>
              </a:rPr>
              <a:t>▪ Development spend targets product type categories gaining share to 2036.</a:t>
            </a:r>
          </a:p>
        </p:txBody>
      </p:sp>
      <p:sp>
        <p:nvSpPr>
          <p:cNvPr id="60" name="TextBox 59"/>
          <p:cNvSpPr txBox="1"/>
          <p:nvPr/>
        </p:nvSpPr>
        <p:spPr>
          <a:xfrm>
            <a:off x="6305550" y="370293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847947" y="3693160"/>
            <a:ext cx="128699" cy="187198"/>
          </a:xfrm>
          <a:prstGeom prst="rect">
            <a:avLst/>
          </a:prstGeom>
        </p:spPr>
      </p:pic>
      <p:sp>
        <p:nvSpPr>
          <p:cNvPr id="62" name="TextBox 61"/>
          <p:cNvSpPr txBox="1"/>
          <p:nvPr/>
        </p:nvSpPr>
        <p:spPr>
          <a:xfrm>
            <a:off x="8015443" y="3702939"/>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3" name="lockshield_28"/>
          <p:cNvSpPr/>
          <p:nvPr/>
        </p:nvSpPr>
        <p:spPr>
          <a:xfrm>
            <a:off x="238125" y="4695825"/>
            <a:ext cx="11715750" cy="18669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'Chemical Ceramide Sunscreen' tier and Face &amp; Body Sunscreen within end-use application.</a:t>
            </a:r>
          </a:p>
        </p:txBody>
      </p:sp>
      <p:sp>
        <p:nvSpPr>
          <p:cNvPr id="18" name="Rounded Rectangle 17"/>
          <p:cNvSpPr/>
          <p:nvPr/>
        </p:nvSpPr>
        <p:spPr>
          <a:xfrm>
            <a:off x="142875"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19625"/>
            <a:ext cx="1190625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943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564199" cy="194310"/>
          </a:xfrm>
          <a:prstGeom prst="rect">
            <a:avLst/>
          </a:prstGeom>
          <a:noFill/>
        </p:spPr>
        <p:txBody>
          <a:bodyPr wrap="none" lIns="0" rIns="0" tIns="0" bIns="0">
            <a:spAutoFit/>
          </a:bodyPr>
          <a:lstStyle/>
          <a:p>
            <a:r>
              <a:rPr sz="1150" b="0">
                <a:solidFill>
                  <a:srgbClr val="2E2E2E"/>
                </a:solidFill>
                <a:latin typeface="Calibri"/>
              </a:rPr>
              <a:t>▪ Balance scale in 'Mineral Ceramide Sunscreen' with targeted growth in 'Chemical Ceramide</a:t>
            </a:r>
          </a:p>
        </p:txBody>
      </p:sp>
      <p:sp>
        <p:nvSpPr>
          <p:cNvPr id="32" name="TextBox 31"/>
          <p:cNvSpPr txBox="1"/>
          <p:nvPr/>
        </p:nvSpPr>
        <p:spPr>
          <a:xfrm>
            <a:off x="276225" y="1575435"/>
            <a:ext cx="1539837" cy="194310"/>
          </a:xfrm>
          <a:prstGeom prst="rect">
            <a:avLst/>
          </a:prstGeom>
          <a:noFill/>
        </p:spPr>
        <p:txBody>
          <a:bodyPr wrap="none" lIns="0" rIns="0" tIns="0" bIns="0">
            <a:spAutoFit/>
          </a:bodyPr>
          <a:lstStyle/>
          <a:p>
            <a:r>
              <a:rPr sz="1150" b="0">
                <a:solidFill>
                  <a:srgbClr val="2E2E2E"/>
                </a:solidFill>
                <a:latin typeface="Calibri"/>
              </a:rPr>
              <a:t>Sunscreen', pursuing the</a:t>
            </a:r>
          </a:p>
        </p:txBody>
      </p:sp>
      <p:pic>
        <p:nvPicPr>
          <p:cNvPr id="33" name="Picture 32" descr="lock.png"/>
          <p:cNvPicPr>
            <a:picLocks noChangeAspect="1"/>
          </p:cNvPicPr>
          <p:nvPr/>
        </p:nvPicPr>
        <p:blipFill>
          <a:blip r:embed="rId4"/>
          <a:stretch>
            <a:fillRect/>
          </a:stretch>
        </p:blipFill>
        <p:spPr>
          <a:xfrm>
            <a:off x="1765216" y="1565211"/>
            <a:ext cx="134549" cy="195707"/>
          </a:xfrm>
          <a:prstGeom prst="rect">
            <a:avLst/>
          </a:prstGeom>
        </p:spPr>
      </p:pic>
      <p:sp>
        <p:nvSpPr>
          <p:cNvPr id="34" name="TextBox 33"/>
          <p:cNvSpPr txBox="1"/>
          <p:nvPr/>
        </p:nvSpPr>
        <p:spPr>
          <a:xfrm>
            <a:off x="1940326"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3219450"/>
            <a:ext cx="2663738" cy="194310"/>
          </a:xfrm>
          <a:prstGeom prst="rect">
            <a:avLst/>
          </a:prstGeom>
          <a:noFill/>
        </p:spPr>
        <p:txBody>
          <a:bodyPr wrap="none" lIns="0" rIns="0" tIns="0" bIns="0">
            <a:spAutoFit/>
          </a:bodyPr>
          <a:lstStyle/>
          <a:p>
            <a:r>
              <a:rPr sz="1150" b="0">
                <a:solidFill>
                  <a:srgbClr val="2E2E2E"/>
                </a:solidFill>
                <a:latin typeface="Calibri"/>
              </a:rPr>
              <a:t>▪ Prioritise 'Chemical Ceramide Sunscreen' (</a:t>
            </a:r>
          </a:p>
        </p:txBody>
      </p:sp>
      <p:pic>
        <p:nvPicPr>
          <p:cNvPr id="36" name="Picture 35" descr="lock.png"/>
          <p:cNvPicPr>
            <a:picLocks noChangeAspect="1"/>
          </p:cNvPicPr>
          <p:nvPr/>
        </p:nvPicPr>
        <p:blipFill>
          <a:blip r:embed="rId4"/>
          <a:stretch>
            <a:fillRect/>
          </a:stretch>
        </p:blipFill>
        <p:spPr>
          <a:xfrm>
            <a:off x="2889117" y="3209226"/>
            <a:ext cx="134549" cy="195707"/>
          </a:xfrm>
          <a:prstGeom prst="rect">
            <a:avLst/>
          </a:prstGeom>
        </p:spPr>
      </p:pic>
      <p:sp>
        <p:nvSpPr>
          <p:cNvPr id="37" name="TextBox 36"/>
          <p:cNvSpPr txBox="1"/>
          <p:nvPr/>
        </p:nvSpPr>
        <p:spPr>
          <a:xfrm>
            <a:off x="3064226" y="3219450"/>
            <a:ext cx="2473473" cy="194310"/>
          </a:xfrm>
          <a:prstGeom prst="rect">
            <a:avLst/>
          </a:prstGeom>
          <a:noFill/>
        </p:spPr>
        <p:txBody>
          <a:bodyPr wrap="none" lIns="0" rIns="0" tIns="0" bIns="0">
            <a:spAutoFit/>
          </a:bodyPr>
          <a:lstStyle/>
          <a:p>
            <a:r>
              <a:rPr sz="1150" b="0">
                <a:solidFill>
                  <a:srgbClr val="2E2E2E"/>
                </a:solidFill>
                <a:latin typeface="Calibri"/>
              </a:rPr>
              <a:t>); 'Mineral Ceramide Sunscreen' anchors</a:t>
            </a:r>
          </a:p>
        </p:txBody>
      </p:sp>
      <p:pic>
        <p:nvPicPr>
          <p:cNvPr id="38" name="Picture 37" descr="lock.png"/>
          <p:cNvPicPr>
            <a:picLocks noChangeAspect="1"/>
          </p:cNvPicPr>
          <p:nvPr/>
        </p:nvPicPr>
        <p:blipFill>
          <a:blip r:embed="rId4"/>
          <a:stretch>
            <a:fillRect/>
          </a:stretch>
        </p:blipFill>
        <p:spPr>
          <a:xfrm>
            <a:off x="5486854" y="3209226"/>
            <a:ext cx="134549" cy="195707"/>
          </a:xfrm>
          <a:prstGeom prst="rect">
            <a:avLst/>
          </a:prstGeom>
        </p:spPr>
      </p:pic>
      <p:sp>
        <p:nvSpPr>
          <p:cNvPr id="39" name="TextBox 38"/>
          <p:cNvSpPr txBox="1"/>
          <p:nvPr/>
        </p:nvSpPr>
        <p:spPr>
          <a:xfrm>
            <a:off x="276225"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40" name="TextBox 39"/>
          <p:cNvSpPr txBox="1"/>
          <p:nvPr/>
        </p:nvSpPr>
        <p:spPr>
          <a:xfrm>
            <a:off x="6305550" y="321945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1" name="Picture 40" descr="lock.png"/>
          <p:cNvPicPr>
            <a:picLocks noChangeAspect="1"/>
          </p:cNvPicPr>
          <p:nvPr/>
        </p:nvPicPr>
        <p:blipFill>
          <a:blip r:embed="rId4"/>
          <a:stretch>
            <a:fillRect/>
          </a:stretch>
        </p:blipFill>
        <p:spPr>
          <a:xfrm>
            <a:off x="7338135" y="3209226"/>
            <a:ext cx="134549" cy="195707"/>
          </a:xfrm>
          <a:prstGeom prst="rect">
            <a:avLst/>
          </a:prstGeom>
        </p:spPr>
      </p:pic>
      <p:sp>
        <p:nvSpPr>
          <p:cNvPr id="42" name="TextBox 41"/>
          <p:cNvSpPr txBox="1"/>
          <p:nvPr/>
        </p:nvSpPr>
        <p:spPr>
          <a:xfrm>
            <a:off x="7513244" y="3219450"/>
            <a:ext cx="1772319" cy="194310"/>
          </a:xfrm>
          <a:prstGeom prst="rect">
            <a:avLst/>
          </a:prstGeom>
          <a:noFill/>
        </p:spPr>
        <p:txBody>
          <a:bodyPr wrap="none" lIns="0" rIns="0" tIns="0" bIns="0">
            <a:spAutoFit/>
          </a:bodyPr>
          <a:lstStyle/>
          <a:p>
            <a:r>
              <a:rPr sz="1150" b="0">
                <a:solidFill>
                  <a:srgbClr val="2E2E2E"/>
                </a:solidFill>
                <a:latin typeface="Calibri"/>
              </a:rPr>
              <a:t>); capture upside in Canada (</a:t>
            </a:r>
          </a:p>
        </p:txBody>
      </p:sp>
      <p:pic>
        <p:nvPicPr>
          <p:cNvPr id="43" name="Picture 42" descr="lock.png"/>
          <p:cNvPicPr>
            <a:picLocks noChangeAspect="1"/>
          </p:cNvPicPr>
          <p:nvPr/>
        </p:nvPicPr>
        <p:blipFill>
          <a:blip r:embed="rId4"/>
          <a:stretch>
            <a:fillRect/>
          </a:stretch>
        </p:blipFill>
        <p:spPr>
          <a:xfrm>
            <a:off x="9234718" y="3209226"/>
            <a:ext cx="134549" cy="195707"/>
          </a:xfrm>
          <a:prstGeom prst="rect">
            <a:avLst/>
          </a:prstGeom>
        </p:spPr>
      </p:pic>
      <p:sp>
        <p:nvSpPr>
          <p:cNvPr id="44" name="TextBox 43"/>
          <p:cNvSpPr txBox="1"/>
          <p:nvPr/>
        </p:nvSpPr>
        <p:spPr>
          <a:xfrm>
            <a:off x="9409827"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5038725"/>
            <a:ext cx="1691592" cy="194310"/>
          </a:xfrm>
          <a:prstGeom prst="rect">
            <a:avLst/>
          </a:prstGeom>
          <a:noFill/>
        </p:spPr>
        <p:txBody>
          <a:bodyPr wrap="none" lIns="0" rIns="0" tIns="0" bIns="0">
            <a:spAutoFit/>
          </a:bodyPr>
          <a:lstStyle/>
          <a:p>
            <a:r>
              <a:rPr sz="1150" b="0">
                <a:solidFill>
                  <a:srgbClr val="2E2E2E"/>
                </a:solidFill>
                <a:latin typeface="Calibri"/>
              </a:rPr>
              <a:t>▪ Ceramide Sunscreen adds</a:t>
            </a:r>
          </a:p>
        </p:txBody>
      </p:sp>
      <p:pic>
        <p:nvPicPr>
          <p:cNvPr id="46" name="Picture 45" descr="lock.png"/>
          <p:cNvPicPr>
            <a:picLocks noChangeAspect="1"/>
          </p:cNvPicPr>
          <p:nvPr/>
        </p:nvPicPr>
        <p:blipFill>
          <a:blip r:embed="rId4"/>
          <a:stretch>
            <a:fillRect/>
          </a:stretch>
        </p:blipFill>
        <p:spPr>
          <a:xfrm>
            <a:off x="1916971" y="5028501"/>
            <a:ext cx="134549" cy="195707"/>
          </a:xfrm>
          <a:prstGeom prst="rect">
            <a:avLst/>
          </a:prstGeom>
        </p:spPr>
      </p:pic>
      <p:sp>
        <p:nvSpPr>
          <p:cNvPr id="47" name="TextBox 46"/>
          <p:cNvSpPr txBox="1"/>
          <p:nvPr/>
        </p:nvSpPr>
        <p:spPr>
          <a:xfrm>
            <a:off x="2092081"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8" name="Picture 47" descr="lock.png"/>
          <p:cNvPicPr>
            <a:picLocks noChangeAspect="1"/>
          </p:cNvPicPr>
          <p:nvPr/>
        </p:nvPicPr>
        <p:blipFill>
          <a:blip r:embed="rId4"/>
          <a:stretch>
            <a:fillRect/>
          </a:stretch>
        </p:blipFill>
        <p:spPr>
          <a:xfrm>
            <a:off x="3856342" y="5028501"/>
            <a:ext cx="134549" cy="195707"/>
          </a:xfrm>
          <a:prstGeom prst="rect">
            <a:avLst/>
          </a:prstGeom>
        </p:spPr>
      </p:pic>
      <p:sp>
        <p:nvSpPr>
          <p:cNvPr id="49" name="TextBox 48"/>
          <p:cNvSpPr txBox="1"/>
          <p:nvPr/>
        </p:nvSpPr>
        <p:spPr>
          <a:xfrm>
            <a:off x="4031452"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0" name="TextBox 49"/>
          <p:cNvSpPr txBox="1"/>
          <p:nvPr/>
        </p:nvSpPr>
        <p:spPr>
          <a:xfrm>
            <a:off x="276225" y="5266563"/>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1" name="TextBox 50"/>
          <p:cNvSpPr txBox="1"/>
          <p:nvPr/>
        </p:nvSpPr>
        <p:spPr>
          <a:xfrm>
            <a:off x="276225" y="5494400"/>
            <a:ext cx="5074704" cy="194310"/>
          </a:xfrm>
          <a:prstGeom prst="rect">
            <a:avLst/>
          </a:prstGeom>
          <a:noFill/>
        </p:spPr>
        <p:txBody>
          <a:bodyPr wrap="none" lIns="0" rIns="0" tIns="0" bIns="0">
            <a:spAutoFit/>
          </a:bodyPr>
          <a:lstStyle/>
          <a:p>
            <a:r>
              <a:rPr sz="1150" b="0">
                <a:solidFill>
                  <a:srgbClr val="2E2E2E"/>
                </a:solidFill>
                <a:latin typeface="Calibri"/>
              </a:rPr>
              <a:t>▪ Defend share in 'Mineral Ceramide Sunscreen' as the value anchor of the portfolio.</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Ceramide Sunscreen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633346"/>
            <a:ext cx="635826" cy="671954"/>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121450"/>
            <a:ext cx="635826" cy="1183850"/>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884456"/>
            <a:ext cx="635826" cy="142084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605088"/>
            <a:ext cx="635826" cy="170021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88100"/>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83325"/>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730925"/>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626150"/>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71738"/>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66962"/>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Ceramide Sunscreen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91769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909476"/>
            <a:ext cx="108107" cy="157246"/>
          </a:xfrm>
          <a:prstGeom prst="rect">
            <a:avLst/>
          </a:prstGeom>
        </p:spPr>
      </p:pic>
      <p:sp>
        <p:nvSpPr>
          <p:cNvPr id="56" name="TextBox 55"/>
          <p:cNvSpPr txBox="1"/>
          <p:nvPr/>
        </p:nvSpPr>
        <p:spPr>
          <a:xfrm>
            <a:off x="2032418" y="266051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652301"/>
            <a:ext cx="108107" cy="157246"/>
          </a:xfrm>
          <a:prstGeom prst="rect">
            <a:avLst/>
          </a:prstGeom>
        </p:spPr>
      </p:pic>
      <p:sp>
        <p:nvSpPr>
          <p:cNvPr id="58" name="TextBox 57"/>
          <p:cNvSpPr txBox="1"/>
          <p:nvPr/>
        </p:nvSpPr>
        <p:spPr>
          <a:xfrm>
            <a:off x="2032418" y="2401328"/>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93113"/>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Ceramide Sunscreen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 Country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2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lock.png"/>
          <p:cNvPicPr>
            <a:picLocks noChangeAspect="1"/>
          </p:cNvPicPr>
          <p:nvPr/>
        </p:nvPicPr>
        <p:blipFill>
          <a:blip r:embed="rId4"/>
          <a:stretch>
            <a:fillRect/>
          </a:stretch>
        </p:blipFill>
        <p:spPr>
          <a:xfrm>
            <a:off x="4250888" y="2339922"/>
            <a:ext cx="175498" cy="255270"/>
          </a:xfrm>
          <a:prstGeom prst="rect">
            <a:avLst/>
          </a:prstGeom>
        </p:spPr>
      </p:pic>
      <p:pic>
        <p:nvPicPr>
          <p:cNvPr id="50" name="Picture 49" descr="lock.png"/>
          <p:cNvPicPr>
            <a:picLocks noChangeAspect="1"/>
          </p:cNvPicPr>
          <p:nvPr/>
        </p:nvPicPr>
        <p:blipFill>
          <a:blip r:embed="rId4"/>
          <a:stretch>
            <a:fillRect/>
          </a:stretch>
        </p:blipFill>
        <p:spPr>
          <a:xfrm>
            <a:off x="4250888" y="2832772"/>
            <a:ext cx="175498" cy="255270"/>
          </a:xfrm>
          <a:prstGeom prst="rect">
            <a:avLst/>
          </a:prstGeom>
        </p:spPr>
      </p:pic>
      <p:pic>
        <p:nvPicPr>
          <p:cNvPr id="51" name="Picture 50" descr="lock.png"/>
          <p:cNvPicPr>
            <a:picLocks noChangeAspect="1"/>
          </p:cNvPicPr>
          <p:nvPr/>
        </p:nvPicPr>
        <p:blipFill>
          <a:blip r:embed="rId4"/>
          <a:stretch>
            <a:fillRect/>
          </a:stretch>
        </p:blipFill>
        <p:spPr>
          <a:xfrm>
            <a:off x="4250888" y="3325622"/>
            <a:ext cx="175498" cy="255270"/>
          </a:xfrm>
          <a:prstGeom prst="rect">
            <a:avLst/>
          </a:prstGeom>
        </p:spPr>
      </p:pic>
      <p:pic>
        <p:nvPicPr>
          <p:cNvPr id="52" name="Picture 51" descr="lock.png"/>
          <p:cNvPicPr>
            <a:picLocks noChangeAspect="1"/>
          </p:cNvPicPr>
          <p:nvPr/>
        </p:nvPicPr>
        <p:blipFill>
          <a:blip r:embed="rId4"/>
          <a:stretch>
            <a:fillRect/>
          </a:stretch>
        </p:blipFill>
        <p:spPr>
          <a:xfrm>
            <a:off x="9308663" y="2339922"/>
            <a:ext cx="175498" cy="255270"/>
          </a:xfrm>
          <a:prstGeom prst="rect">
            <a:avLst/>
          </a:prstGeom>
        </p:spPr>
      </p:pic>
      <p:pic>
        <p:nvPicPr>
          <p:cNvPr id="53" name="Picture 52" descr="lock.png"/>
          <p:cNvPicPr>
            <a:picLocks noChangeAspect="1"/>
          </p:cNvPicPr>
          <p:nvPr/>
        </p:nvPicPr>
        <p:blipFill>
          <a:blip r:embed="rId4"/>
          <a:stretch>
            <a:fillRect/>
          </a:stretch>
        </p:blipFill>
        <p:spPr>
          <a:xfrm>
            <a:off x="9308663" y="2832772"/>
            <a:ext cx="175498" cy="255270"/>
          </a:xfrm>
          <a:prstGeom prst="rect">
            <a:avLst/>
          </a:prstGeom>
        </p:spPr>
      </p:pic>
      <p:pic>
        <p:nvPicPr>
          <p:cNvPr id="54" name="Picture 53" descr="lock.png"/>
          <p:cNvPicPr>
            <a:picLocks noChangeAspect="1"/>
          </p:cNvPicPr>
          <p:nvPr/>
        </p:nvPicPr>
        <p:blipFill>
          <a:blip r:embed="rId4"/>
          <a:stretch>
            <a:fillRect/>
          </a:stretch>
        </p:blipFill>
        <p:spPr>
          <a:xfrm>
            <a:off x="9308663" y="3325622"/>
            <a:ext cx="175498" cy="255270"/>
          </a:xfrm>
          <a:prstGeom prst="rect">
            <a:avLst/>
          </a:prstGeom>
        </p:spPr>
      </p:pic>
      <p:sp>
        <p:nvSpPr>
          <p:cNvPr id="55" name="TextBox 54"/>
          <p:cNvSpPr txBox="1"/>
          <p:nvPr/>
        </p:nvSpPr>
        <p:spPr>
          <a:xfrm>
            <a:off x="485775" y="4229437"/>
            <a:ext cx="2851646" cy="186689"/>
          </a:xfrm>
          <a:prstGeom prst="rect">
            <a:avLst/>
          </a:prstGeom>
          <a:noFill/>
        </p:spPr>
        <p:txBody>
          <a:bodyPr wrap="none" lIns="0" rIns="0" tIns="0" bIns="0">
            <a:spAutoFit/>
          </a:bodyPr>
          <a:lstStyle/>
          <a:p>
            <a:r>
              <a:rPr sz="1100" b="0">
                <a:solidFill>
                  <a:srgbClr val="2E2E2E"/>
                </a:solidFill>
                <a:latin typeface="Calibri"/>
              </a:rPr>
              <a:t>The U.S. ceramide sunscreen market is projected</a:t>
            </a:r>
          </a:p>
        </p:txBody>
      </p:sp>
      <p:sp>
        <p:nvSpPr>
          <p:cNvPr id="56" name="TextBox 55"/>
          <p:cNvSpPr txBox="1"/>
          <p:nvPr/>
        </p:nvSpPr>
        <p:spPr>
          <a:xfrm>
            <a:off x="485775" y="4397077"/>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57" name="Picture 56" descr="lock.png"/>
          <p:cNvPicPr>
            <a:picLocks noChangeAspect="1"/>
          </p:cNvPicPr>
          <p:nvPr/>
        </p:nvPicPr>
        <p:blipFill>
          <a:blip r:embed="rId4"/>
          <a:stretch>
            <a:fillRect/>
          </a:stretch>
        </p:blipFill>
        <p:spPr>
          <a:xfrm>
            <a:off x="1098567" y="4387298"/>
            <a:ext cx="128699" cy="187198"/>
          </a:xfrm>
          <a:prstGeom prst="rect">
            <a:avLst/>
          </a:prstGeom>
        </p:spPr>
      </p:pic>
      <p:sp>
        <p:nvSpPr>
          <p:cNvPr id="58" name="TextBox 57"/>
          <p:cNvSpPr txBox="1"/>
          <p:nvPr/>
        </p:nvSpPr>
        <p:spPr>
          <a:xfrm>
            <a:off x="1266063" y="4397077"/>
            <a:ext cx="2113855" cy="186689"/>
          </a:xfrm>
          <a:prstGeom prst="rect">
            <a:avLst/>
          </a:prstGeom>
          <a:noFill/>
        </p:spPr>
        <p:txBody>
          <a:bodyPr wrap="none" lIns="0" rIns="0" tIns="0" bIns="0">
            <a:spAutoFit/>
          </a:bodyPr>
          <a:lstStyle/>
          <a:p>
            <a:r>
              <a:rPr sz="1100" b="0">
                <a:solidFill>
                  <a:srgbClr val="2E2E2E"/>
                </a:solidFill>
                <a:latin typeface="Calibri"/>
              </a:rPr>
              <a:t>X higher value than Canada in 2036.</a:t>
            </a:r>
          </a:p>
        </p:txBody>
      </p:sp>
      <p:sp>
        <p:nvSpPr>
          <p:cNvPr id="59" name="TextBox 58"/>
          <p:cNvSpPr txBox="1"/>
          <p:nvPr/>
        </p:nvSpPr>
        <p:spPr>
          <a:xfrm>
            <a:off x="485775" y="4564717"/>
            <a:ext cx="2898030" cy="186689"/>
          </a:xfrm>
          <a:prstGeom prst="rect">
            <a:avLst/>
          </a:prstGeom>
          <a:noFill/>
        </p:spPr>
        <p:txBody>
          <a:bodyPr wrap="none" lIns="0" rIns="0" tIns="0" bIns="0">
            <a:spAutoFit/>
          </a:bodyPr>
          <a:lstStyle/>
          <a:p>
            <a:r>
              <a:rPr sz="1100" b="0">
                <a:solidFill>
                  <a:srgbClr val="2E2E2E"/>
                </a:solidFill>
                <a:latin typeface="Calibri"/>
              </a:rPr>
              <a:t>Among ceramide sunscreen by country, Canada is</a:t>
            </a:r>
          </a:p>
        </p:txBody>
      </p:sp>
      <p:sp>
        <p:nvSpPr>
          <p:cNvPr id="60" name="TextBox 59"/>
          <p:cNvSpPr txBox="1"/>
          <p:nvPr/>
        </p:nvSpPr>
        <p:spPr>
          <a:xfrm>
            <a:off x="485775" y="473235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1" name="Picture 60" descr="lock.png"/>
          <p:cNvPicPr>
            <a:picLocks noChangeAspect="1"/>
          </p:cNvPicPr>
          <p:nvPr/>
        </p:nvPicPr>
        <p:blipFill>
          <a:blip r:embed="rId4"/>
          <a:stretch>
            <a:fillRect/>
          </a:stretch>
        </p:blipFill>
        <p:spPr>
          <a:xfrm>
            <a:off x="2815059" y="4722578"/>
            <a:ext cx="128699" cy="187198"/>
          </a:xfrm>
          <a:prstGeom prst="rect">
            <a:avLst/>
          </a:prstGeom>
        </p:spPr>
      </p:pic>
      <p:sp>
        <p:nvSpPr>
          <p:cNvPr id="62" name="TextBox 61"/>
          <p:cNvSpPr txBox="1"/>
          <p:nvPr/>
        </p:nvSpPr>
        <p:spPr>
          <a:xfrm>
            <a:off x="2982555" y="473235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63" name="TextBox 62"/>
          <p:cNvSpPr txBox="1"/>
          <p:nvPr/>
        </p:nvSpPr>
        <p:spPr>
          <a:xfrm>
            <a:off x="485775" y="4899997"/>
            <a:ext cx="1197892" cy="186689"/>
          </a:xfrm>
          <a:prstGeom prst="rect">
            <a:avLst/>
          </a:prstGeom>
          <a:noFill/>
        </p:spPr>
        <p:txBody>
          <a:bodyPr wrap="none" lIns="0" rIns="0" tIns="0" bIns="0">
            <a:spAutoFit/>
          </a:bodyPr>
          <a:lstStyle/>
          <a:p>
            <a:r>
              <a:rPr sz="1100" b="0">
                <a:solidFill>
                  <a:srgbClr val="2E2E2E"/>
                </a:solidFill>
                <a:latin typeface="Calibri"/>
              </a:rPr>
              <a:t>the forecast period.</a:t>
            </a:r>
          </a:p>
        </p:txBody>
      </p:sp>
      <p:sp>
        <p:nvSpPr>
          <p:cNvPr id="64" name="TextBox 63"/>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65" name="TextBox 64"/>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6" name="Picture 65" descr="lock.png"/>
          <p:cNvPicPr>
            <a:picLocks noChangeAspect="1"/>
          </p:cNvPicPr>
          <p:nvPr/>
        </p:nvPicPr>
        <p:blipFill>
          <a:blip r:embed="rId4"/>
          <a:stretch>
            <a:fillRect/>
          </a:stretch>
        </p:blipFill>
        <p:spPr>
          <a:xfrm>
            <a:off x="2268827" y="5275790"/>
            <a:ext cx="128699" cy="187198"/>
          </a:xfrm>
          <a:prstGeom prst="rect">
            <a:avLst/>
          </a:prstGeom>
        </p:spPr>
      </p:pic>
      <p:sp>
        <p:nvSpPr>
          <p:cNvPr id="67" name="TextBox 66"/>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8" name="TextBox 67"/>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9" name="Picture 68" descr="lock.png"/>
          <p:cNvPicPr>
            <a:picLocks noChangeAspect="1"/>
          </p:cNvPicPr>
          <p:nvPr/>
        </p:nvPicPr>
        <p:blipFill>
          <a:blip r:embed="rId4"/>
          <a:stretch>
            <a:fillRect/>
          </a:stretch>
        </p:blipFill>
        <p:spPr>
          <a:xfrm>
            <a:off x="1330764" y="5443430"/>
            <a:ext cx="128699" cy="187198"/>
          </a:xfrm>
          <a:prstGeom prst="rect">
            <a:avLst/>
          </a:prstGeom>
        </p:spPr>
      </p:pic>
      <p:sp>
        <p:nvSpPr>
          <p:cNvPr id="70" name="TextBox 69"/>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1" name="TextBox 70"/>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72" name="Picture 71" descr="lock.png"/>
          <p:cNvPicPr>
            <a:picLocks noChangeAspect="1"/>
          </p:cNvPicPr>
          <p:nvPr/>
        </p:nvPicPr>
        <p:blipFill>
          <a:blip r:embed="rId4"/>
          <a:stretch>
            <a:fillRect/>
          </a:stretch>
        </p:blipFill>
        <p:spPr>
          <a:xfrm>
            <a:off x="4240453" y="4219658"/>
            <a:ext cx="128699" cy="187198"/>
          </a:xfrm>
          <a:prstGeom prst="rect">
            <a:avLst/>
          </a:prstGeom>
        </p:spPr>
      </p:pic>
      <p:sp>
        <p:nvSpPr>
          <p:cNvPr id="73" name="TextBox 72"/>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4" name="Picture 73" descr="lock.png"/>
          <p:cNvPicPr>
            <a:picLocks noChangeAspect="1"/>
          </p:cNvPicPr>
          <p:nvPr/>
        </p:nvPicPr>
        <p:blipFill>
          <a:blip r:embed="rId4"/>
          <a:stretch>
            <a:fillRect/>
          </a:stretch>
        </p:blipFill>
        <p:spPr>
          <a:xfrm>
            <a:off x="5267399" y="4219658"/>
            <a:ext cx="128699" cy="187198"/>
          </a:xfrm>
          <a:prstGeom prst="rect">
            <a:avLst/>
          </a:prstGeom>
        </p:spPr>
      </p:pic>
      <p:sp>
        <p:nvSpPr>
          <p:cNvPr id="75" name="TextBox 74"/>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76" name="TextBox 75"/>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77" name="Picture 76" descr="lock.png"/>
          <p:cNvPicPr>
            <a:picLocks noChangeAspect="1"/>
          </p:cNvPicPr>
          <p:nvPr/>
        </p:nvPicPr>
        <p:blipFill>
          <a:blip r:embed="rId4"/>
          <a:stretch>
            <a:fillRect/>
          </a:stretch>
        </p:blipFill>
        <p:spPr>
          <a:xfrm>
            <a:off x="4437997" y="4437590"/>
            <a:ext cx="128699" cy="187198"/>
          </a:xfrm>
          <a:prstGeom prst="rect">
            <a:avLst/>
          </a:prstGeom>
        </p:spPr>
      </p:pic>
      <p:sp>
        <p:nvSpPr>
          <p:cNvPr id="78" name="TextBox 77"/>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9" name="Picture 78" descr="lock.png"/>
          <p:cNvPicPr>
            <a:picLocks noChangeAspect="1"/>
          </p:cNvPicPr>
          <p:nvPr/>
        </p:nvPicPr>
        <p:blipFill>
          <a:blip r:embed="rId4"/>
          <a:stretch>
            <a:fillRect/>
          </a:stretch>
        </p:blipFill>
        <p:spPr>
          <a:xfrm>
            <a:off x="5464943" y="4437590"/>
            <a:ext cx="128699" cy="187198"/>
          </a:xfrm>
          <a:prstGeom prst="rect">
            <a:avLst/>
          </a:prstGeom>
        </p:spPr>
      </p:pic>
      <p:sp>
        <p:nvSpPr>
          <p:cNvPr id="80" name="TextBox 79"/>
          <p:cNvSpPr txBox="1"/>
          <p:nvPr/>
        </p:nvSpPr>
        <p:spPr>
          <a:xfrm>
            <a:off x="56324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1" name="TextBox 80"/>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82" name="TextBox 81"/>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3" name="Picture 82" descr="lock.png"/>
          <p:cNvPicPr>
            <a:picLocks noChangeAspect="1"/>
          </p:cNvPicPr>
          <p:nvPr/>
        </p:nvPicPr>
        <p:blipFill>
          <a:blip r:embed="rId4"/>
          <a:stretch>
            <a:fillRect/>
          </a:stretch>
        </p:blipFill>
        <p:spPr>
          <a:xfrm>
            <a:off x="9048826" y="6007677"/>
            <a:ext cx="134549" cy="195707"/>
          </a:xfrm>
          <a:prstGeom prst="rect">
            <a:avLst/>
          </a:prstGeom>
        </p:spPr>
      </p:pic>
      <p:sp>
        <p:nvSpPr>
          <p:cNvPr id="84" name="TextBox 83"/>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Analysis, By Country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3258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278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5162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135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6614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6138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78518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4709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0E72AE"/>
                </a:solidFill>
                <a:latin typeface="Calibri"/>
              </a:rPr>
              <a:t>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0E72AE"/>
                </a:solidFill>
                <a:latin typeface="Calibri"/>
              </a:rPr>
              <a:t>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2009775" y="6070282"/>
            <a:ext cx="209550" cy="304800"/>
          </a:xfrm>
          <a:prstGeom prst="rect">
            <a:avLst/>
          </a:prstGeom>
        </p:spPr>
      </p:pic>
      <p:pic>
        <p:nvPicPr>
          <p:cNvPr id="33" name="Picture 32" descr="lock.png"/>
          <p:cNvPicPr>
            <a:picLocks noChangeAspect="1"/>
          </p:cNvPicPr>
          <p:nvPr/>
        </p:nvPicPr>
        <p:blipFill>
          <a:blip r:embed="rId5"/>
          <a:stretch>
            <a:fillRect/>
          </a:stretch>
        </p:blipFill>
        <p:spPr>
          <a:xfrm>
            <a:off x="6043612"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10015537" y="6070282"/>
            <a:ext cx="209550" cy="304800"/>
          </a:xfrm>
          <a:prstGeom prst="rect">
            <a:avLst/>
          </a:prstGeom>
        </p:spPr>
      </p:pic>
      <p:sp>
        <p:nvSpPr>
          <p:cNvPr id="35" name="TextBox 34"/>
          <p:cNvSpPr txBox="1"/>
          <p:nvPr/>
        </p:nvSpPr>
        <p:spPr>
          <a:xfrm>
            <a:off x="7239000" y="1400175"/>
            <a:ext cx="3626184" cy="194310"/>
          </a:xfrm>
          <a:prstGeom prst="rect">
            <a:avLst/>
          </a:prstGeom>
          <a:noFill/>
        </p:spPr>
        <p:txBody>
          <a:bodyPr wrap="none" lIns="0" rIns="0" tIns="0" bIns="0">
            <a:spAutoFit/>
          </a:bodyPr>
          <a:lstStyle/>
          <a:p>
            <a:r>
              <a:rPr sz="1150" b="0">
                <a:solidFill>
                  <a:srgbClr val="2E2E2E"/>
                </a:solidFill>
                <a:latin typeface="Calibri"/>
              </a:rPr>
              <a:t>The U.S. ceramide sunscreen market is projected to register</a:t>
            </a:r>
          </a:p>
        </p:txBody>
      </p:sp>
      <p:pic>
        <p:nvPicPr>
          <p:cNvPr id="36" name="Picture 35" descr="lock.png"/>
          <p:cNvPicPr>
            <a:picLocks noChangeAspect="1"/>
          </p:cNvPicPr>
          <p:nvPr/>
        </p:nvPicPr>
        <p:blipFill>
          <a:blip r:embed="rId5"/>
          <a:stretch>
            <a:fillRect/>
          </a:stretch>
        </p:blipFill>
        <p:spPr>
          <a:xfrm>
            <a:off x="10814338" y="1389951"/>
            <a:ext cx="134549" cy="195707"/>
          </a:xfrm>
          <a:prstGeom prst="rect">
            <a:avLst/>
          </a:prstGeom>
        </p:spPr>
      </p:pic>
      <p:sp>
        <p:nvSpPr>
          <p:cNvPr id="37" name="TextBox 36"/>
          <p:cNvSpPr txBox="1"/>
          <p:nvPr/>
        </p:nvSpPr>
        <p:spPr>
          <a:xfrm>
            <a:off x="10989448"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8" name="TextBox 37"/>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volume than Canada in 2036. Among ceramide sunscreen by country, Canada</a:t>
            </a:r>
          </a:p>
        </p:txBody>
      </p:sp>
      <p:sp>
        <p:nvSpPr>
          <p:cNvPr id="39" name="TextBox 38"/>
          <p:cNvSpPr txBox="1"/>
          <p:nvPr/>
        </p:nvSpPr>
        <p:spPr>
          <a:xfrm>
            <a:off x="7239000" y="175069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40" name="Picture 39" descr="lock.png"/>
          <p:cNvPicPr>
            <a:picLocks noChangeAspect="1"/>
          </p:cNvPicPr>
          <p:nvPr/>
        </p:nvPicPr>
        <p:blipFill>
          <a:blip r:embed="rId5"/>
          <a:stretch>
            <a:fillRect/>
          </a:stretch>
        </p:blipFill>
        <p:spPr>
          <a:xfrm>
            <a:off x="9797961" y="1740471"/>
            <a:ext cx="134549" cy="195707"/>
          </a:xfrm>
          <a:prstGeom prst="rect">
            <a:avLst/>
          </a:prstGeom>
        </p:spPr>
      </p:pic>
      <p:sp>
        <p:nvSpPr>
          <p:cNvPr id="41" name="TextBox 40"/>
          <p:cNvSpPr txBox="1"/>
          <p:nvPr/>
        </p:nvSpPr>
        <p:spPr>
          <a:xfrm>
            <a:off x="99730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2" name="TextBox 41"/>
          <p:cNvSpPr txBox="1"/>
          <p:nvPr/>
        </p:nvSpPr>
        <p:spPr>
          <a:xfrm>
            <a:off x="7239000" y="197853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3" name="TextBox 42"/>
          <p:cNvSpPr txBox="1"/>
          <p:nvPr/>
        </p:nvSpPr>
        <p:spPr>
          <a:xfrm>
            <a:off x="7239000" y="215379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4" name="Picture 43" descr="lock.png"/>
          <p:cNvPicPr>
            <a:picLocks noChangeAspect="1"/>
          </p:cNvPicPr>
          <p:nvPr/>
        </p:nvPicPr>
        <p:blipFill>
          <a:blip r:embed="rId5"/>
          <a:stretch>
            <a:fillRect/>
          </a:stretch>
        </p:blipFill>
        <p:spPr>
          <a:xfrm>
            <a:off x="8106708" y="2143569"/>
            <a:ext cx="134549" cy="195707"/>
          </a:xfrm>
          <a:prstGeom prst="rect">
            <a:avLst/>
          </a:prstGeom>
        </p:spPr>
      </p:pic>
      <p:sp>
        <p:nvSpPr>
          <p:cNvPr id="45" name="TextBox 44"/>
          <p:cNvSpPr txBox="1"/>
          <p:nvPr/>
        </p:nvSpPr>
        <p:spPr>
          <a:xfrm>
            <a:off x="8281817"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6" name="Picture 45" descr="lock.png"/>
          <p:cNvPicPr>
            <a:picLocks noChangeAspect="1"/>
          </p:cNvPicPr>
          <p:nvPr/>
        </p:nvPicPr>
        <p:blipFill>
          <a:blip r:embed="rId5"/>
          <a:stretch>
            <a:fillRect/>
          </a:stretch>
        </p:blipFill>
        <p:spPr>
          <a:xfrm>
            <a:off x="9676961" y="2143569"/>
            <a:ext cx="134549" cy="195707"/>
          </a:xfrm>
          <a:prstGeom prst="rect">
            <a:avLst/>
          </a:prstGeom>
        </p:spPr>
      </p:pic>
      <p:sp>
        <p:nvSpPr>
          <p:cNvPr id="47" name="TextBox 46"/>
          <p:cNvSpPr txBox="1"/>
          <p:nvPr/>
        </p:nvSpPr>
        <p:spPr>
          <a:xfrm>
            <a:off x="9852070"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5936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5460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7840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4031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9292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8816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81196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7387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2009775" y="6070282"/>
            <a:ext cx="209550" cy="304800"/>
          </a:xfrm>
          <a:prstGeom prst="rect">
            <a:avLst/>
          </a:prstGeom>
        </p:spPr>
      </p:pic>
      <p:pic>
        <p:nvPicPr>
          <p:cNvPr id="33" name="Picture 32" descr="lock.png"/>
          <p:cNvPicPr>
            <a:picLocks noChangeAspect="1"/>
          </p:cNvPicPr>
          <p:nvPr/>
        </p:nvPicPr>
        <p:blipFill>
          <a:blip r:embed="rId5"/>
          <a:stretch>
            <a:fillRect/>
          </a:stretch>
        </p:blipFill>
        <p:spPr>
          <a:xfrm>
            <a:off x="6043612"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10015537" y="6070282"/>
            <a:ext cx="209550" cy="304800"/>
          </a:xfrm>
          <a:prstGeom prst="rect">
            <a:avLst/>
          </a:prstGeom>
        </p:spPr>
      </p:pic>
      <p:sp>
        <p:nvSpPr>
          <p:cNvPr id="35" name="TextBox 34"/>
          <p:cNvSpPr txBox="1"/>
          <p:nvPr/>
        </p:nvSpPr>
        <p:spPr>
          <a:xfrm>
            <a:off x="7239000" y="1400175"/>
            <a:ext cx="3626184" cy="194310"/>
          </a:xfrm>
          <a:prstGeom prst="rect">
            <a:avLst/>
          </a:prstGeom>
          <a:noFill/>
        </p:spPr>
        <p:txBody>
          <a:bodyPr wrap="none" lIns="0" rIns="0" tIns="0" bIns="0">
            <a:spAutoFit/>
          </a:bodyPr>
          <a:lstStyle/>
          <a:p>
            <a:r>
              <a:rPr sz="1150" b="0">
                <a:solidFill>
                  <a:srgbClr val="2E2E2E"/>
                </a:solidFill>
                <a:latin typeface="Calibri"/>
              </a:rPr>
              <a:t>The U.S. ceramide sunscreen market is projected to register</a:t>
            </a:r>
          </a:p>
        </p:txBody>
      </p:sp>
      <p:pic>
        <p:nvPicPr>
          <p:cNvPr id="36" name="Picture 35" descr="lock.png"/>
          <p:cNvPicPr>
            <a:picLocks noChangeAspect="1"/>
          </p:cNvPicPr>
          <p:nvPr/>
        </p:nvPicPr>
        <p:blipFill>
          <a:blip r:embed="rId5"/>
          <a:stretch>
            <a:fillRect/>
          </a:stretch>
        </p:blipFill>
        <p:spPr>
          <a:xfrm>
            <a:off x="10814338" y="1389951"/>
            <a:ext cx="134549" cy="195707"/>
          </a:xfrm>
          <a:prstGeom prst="rect">
            <a:avLst/>
          </a:prstGeom>
        </p:spPr>
      </p:pic>
      <p:sp>
        <p:nvSpPr>
          <p:cNvPr id="37" name="TextBox 36"/>
          <p:cNvSpPr txBox="1"/>
          <p:nvPr/>
        </p:nvSpPr>
        <p:spPr>
          <a:xfrm>
            <a:off x="10989448"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8" name="TextBox 37"/>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value than Canada in 2036. Among ceramide sunscreen by country, Canada is</a:t>
            </a:r>
          </a:p>
        </p:txBody>
      </p:sp>
      <p:sp>
        <p:nvSpPr>
          <p:cNvPr id="39" name="TextBox 38"/>
          <p:cNvSpPr txBox="1"/>
          <p:nvPr/>
        </p:nvSpPr>
        <p:spPr>
          <a:xfrm>
            <a:off x="7239000" y="175069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40" name="Picture 39" descr="lock.png"/>
          <p:cNvPicPr>
            <a:picLocks noChangeAspect="1"/>
          </p:cNvPicPr>
          <p:nvPr/>
        </p:nvPicPr>
        <p:blipFill>
          <a:blip r:embed="rId5"/>
          <a:stretch>
            <a:fillRect/>
          </a:stretch>
        </p:blipFill>
        <p:spPr>
          <a:xfrm>
            <a:off x="9674161" y="1740471"/>
            <a:ext cx="134549" cy="195707"/>
          </a:xfrm>
          <a:prstGeom prst="rect">
            <a:avLst/>
          </a:prstGeom>
        </p:spPr>
      </p:pic>
      <p:sp>
        <p:nvSpPr>
          <p:cNvPr id="41" name="TextBox 40"/>
          <p:cNvSpPr txBox="1"/>
          <p:nvPr/>
        </p:nvSpPr>
        <p:spPr>
          <a:xfrm>
            <a:off x="98492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2" name="TextBox 41"/>
          <p:cNvSpPr txBox="1"/>
          <p:nvPr/>
        </p:nvSpPr>
        <p:spPr>
          <a:xfrm>
            <a:off x="7239000" y="197853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3" name="TextBox 42"/>
          <p:cNvSpPr txBox="1"/>
          <p:nvPr/>
        </p:nvSpPr>
        <p:spPr>
          <a:xfrm>
            <a:off x="7239000" y="215379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4" name="Picture 43" descr="lock.png"/>
          <p:cNvPicPr>
            <a:picLocks noChangeAspect="1"/>
          </p:cNvPicPr>
          <p:nvPr/>
        </p:nvPicPr>
        <p:blipFill>
          <a:blip r:embed="rId5"/>
          <a:stretch>
            <a:fillRect/>
          </a:stretch>
        </p:blipFill>
        <p:spPr>
          <a:xfrm>
            <a:off x="7611222" y="2143569"/>
            <a:ext cx="134549" cy="195707"/>
          </a:xfrm>
          <a:prstGeom prst="rect">
            <a:avLst/>
          </a:prstGeom>
        </p:spPr>
      </p:pic>
      <p:sp>
        <p:nvSpPr>
          <p:cNvPr id="45" name="TextBox 44"/>
          <p:cNvSpPr txBox="1"/>
          <p:nvPr/>
        </p:nvSpPr>
        <p:spPr>
          <a:xfrm>
            <a:off x="7786331"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6" name="Picture 45" descr="lock.png"/>
          <p:cNvPicPr>
            <a:picLocks noChangeAspect="1"/>
          </p:cNvPicPr>
          <p:nvPr/>
        </p:nvPicPr>
        <p:blipFill>
          <a:blip r:embed="rId5"/>
          <a:stretch>
            <a:fillRect/>
          </a:stretch>
        </p:blipFill>
        <p:spPr>
          <a:xfrm>
            <a:off x="9181475" y="2143569"/>
            <a:ext cx="134549" cy="195707"/>
          </a:xfrm>
          <a:prstGeom prst="rect">
            <a:avLst/>
          </a:prstGeom>
        </p:spPr>
      </p:pic>
      <p:sp>
        <p:nvSpPr>
          <p:cNvPr id="47" name="TextBox 46"/>
          <p:cNvSpPr txBox="1"/>
          <p:nvPr/>
        </p:nvSpPr>
        <p:spPr>
          <a:xfrm>
            <a:off x="9356584"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Share Analysis, By Country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(Units)</a:t>
            </a:r>
          </a:p>
        </p:txBody>
      </p:sp>
      <p:graphicFrame>
        <p:nvGraphicFramePr>
          <p:cNvPr id="12" name="Table 11"/>
          <p:cNvGraphicFramePr>
            <a:graphicFrameLocks noGrp="1"/>
          </p:cNvGraphicFramePr>
          <p:nvPr/>
        </p:nvGraphicFramePr>
        <p:xfrm>
          <a:off x="152400" y="1238250"/>
          <a:ext cx="11887205" cy="990600"/>
        </p:xfrm>
        <a:graphic>
          <a:graphicData uri="http://schemas.openxmlformats.org/drawingml/2006/table">
            <a:tbl>
              <a:tblPr>
                <a:tableStyleId>{5C22544A-7EE6-4342-B048-85BDC9FD1C3A}</a:tableStyleId>
              </a:tblPr>
              <a:tblGrid>
                <a:gridCol w="663023"/>
                <a:gridCol w="660246"/>
                <a:gridCol w="660246"/>
                <a:gridCol w="660246"/>
                <a:gridCol w="660246"/>
                <a:gridCol w="660246"/>
                <a:gridCol w="660246"/>
                <a:gridCol w="660246"/>
                <a:gridCol w="660246"/>
                <a:gridCol w="660246"/>
                <a:gridCol w="660246"/>
                <a:gridCol w="660246"/>
                <a:gridCol w="660246"/>
                <a:gridCol w="660246"/>
                <a:gridCol w="660246"/>
                <a:gridCol w="660246"/>
                <a:gridCol w="660246"/>
                <a:gridCol w="660246"/>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40824" y="1589913"/>
            <a:ext cx="366712" cy="533400"/>
          </a:xfrm>
          <a:prstGeom prst="rect">
            <a:avLst/>
          </a:prstGeom>
        </p:spPr>
      </p:pic>
      <p:sp>
        <p:nvSpPr>
          <p:cNvPr id="20" name="TextBox 19"/>
          <p:cNvSpPr txBox="1"/>
          <p:nvPr/>
        </p:nvSpPr>
        <p:spPr>
          <a:xfrm>
            <a:off x="276225" y="2990850"/>
            <a:ext cx="3626184" cy="194310"/>
          </a:xfrm>
          <a:prstGeom prst="rect">
            <a:avLst/>
          </a:prstGeom>
          <a:noFill/>
        </p:spPr>
        <p:txBody>
          <a:bodyPr wrap="none" lIns="0" rIns="0" tIns="0" bIns="0">
            <a:spAutoFit/>
          </a:bodyPr>
          <a:lstStyle/>
          <a:p>
            <a:r>
              <a:rPr sz="1150" b="0">
                <a:solidFill>
                  <a:srgbClr val="2E2E2E"/>
                </a:solidFill>
                <a:latin typeface="Calibri"/>
              </a:rPr>
              <a:t>The U.S. ceramide sunscreen market is projected to register</a:t>
            </a:r>
          </a:p>
        </p:txBody>
      </p:sp>
      <p:pic>
        <p:nvPicPr>
          <p:cNvPr id="21" name="Picture 20" descr="lock.png"/>
          <p:cNvPicPr>
            <a:picLocks noChangeAspect="1"/>
          </p:cNvPicPr>
          <p:nvPr/>
        </p:nvPicPr>
        <p:blipFill>
          <a:blip r:embed="rId4"/>
          <a:stretch>
            <a:fillRect/>
          </a:stretch>
        </p:blipFill>
        <p:spPr>
          <a:xfrm>
            <a:off x="3851563" y="2980626"/>
            <a:ext cx="134549" cy="195707"/>
          </a:xfrm>
          <a:prstGeom prst="rect">
            <a:avLst/>
          </a:prstGeom>
        </p:spPr>
      </p:pic>
      <p:sp>
        <p:nvSpPr>
          <p:cNvPr id="22" name="TextBox 21"/>
          <p:cNvSpPr txBox="1"/>
          <p:nvPr/>
        </p:nvSpPr>
        <p:spPr>
          <a:xfrm>
            <a:off x="4026673" y="2990850"/>
            <a:ext cx="7756358" cy="194310"/>
          </a:xfrm>
          <a:prstGeom prst="rect">
            <a:avLst/>
          </a:prstGeom>
          <a:noFill/>
        </p:spPr>
        <p:txBody>
          <a:bodyPr wrap="none" lIns="0" rIns="0" tIns="0" bIns="0">
            <a:spAutoFit/>
          </a:bodyPr>
          <a:lstStyle/>
          <a:p>
            <a:r>
              <a:rPr sz="1150" b="0">
                <a:solidFill>
                  <a:srgbClr val="2E2E2E"/>
                </a:solidFill>
                <a:latin typeface="Calibri"/>
              </a:rPr>
              <a:t>X higher volume than Canada in 2036. Among ceramide sunscreen by country, Canada is expected to witness the highest CAGR of</a:t>
            </a:r>
          </a:p>
        </p:txBody>
      </p:sp>
      <p:pic>
        <p:nvPicPr>
          <p:cNvPr id="23" name="Picture 22" descr="lock.png"/>
          <p:cNvPicPr>
            <a:picLocks noChangeAspect="1"/>
          </p:cNvPicPr>
          <p:nvPr/>
        </p:nvPicPr>
        <p:blipFill>
          <a:blip r:embed="rId4"/>
          <a:stretch>
            <a:fillRect/>
          </a:stretch>
        </p:blipFill>
        <p:spPr>
          <a:xfrm>
            <a:off x="262145" y="3155886"/>
            <a:ext cx="134549" cy="195707"/>
          </a:xfrm>
          <a:prstGeom prst="rect">
            <a:avLst/>
          </a:prstGeom>
        </p:spPr>
      </p:pic>
      <p:sp>
        <p:nvSpPr>
          <p:cNvPr id="24" name="TextBox 23"/>
          <p:cNvSpPr txBox="1"/>
          <p:nvPr/>
        </p:nvSpPr>
        <p:spPr>
          <a:xfrm>
            <a:off x="437254"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339394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6" name="Picture 25" descr="lock.png"/>
          <p:cNvPicPr>
            <a:picLocks noChangeAspect="1"/>
          </p:cNvPicPr>
          <p:nvPr/>
        </p:nvPicPr>
        <p:blipFill>
          <a:blip r:embed="rId4"/>
          <a:stretch>
            <a:fillRect/>
          </a:stretch>
        </p:blipFill>
        <p:spPr>
          <a:xfrm>
            <a:off x="5332316" y="3383724"/>
            <a:ext cx="134549" cy="195707"/>
          </a:xfrm>
          <a:prstGeom prst="rect">
            <a:avLst/>
          </a:prstGeom>
        </p:spPr>
      </p:pic>
      <p:sp>
        <p:nvSpPr>
          <p:cNvPr id="27" name="TextBox 26"/>
          <p:cNvSpPr txBox="1"/>
          <p:nvPr/>
        </p:nvSpPr>
        <p:spPr>
          <a:xfrm>
            <a:off x="550742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6902569" y="3383724"/>
            <a:ext cx="134549" cy="195707"/>
          </a:xfrm>
          <a:prstGeom prst="rect">
            <a:avLst/>
          </a:prstGeom>
        </p:spPr>
      </p:pic>
      <p:sp>
        <p:nvSpPr>
          <p:cNvPr id="29" name="TextBox 28"/>
          <p:cNvSpPr txBox="1"/>
          <p:nvPr/>
        </p:nvSpPr>
        <p:spPr>
          <a:xfrm>
            <a:off x="70776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12" name="Table 11"/>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57436" y="1589913"/>
            <a:ext cx="366712" cy="533400"/>
          </a:xfrm>
          <a:prstGeom prst="rect">
            <a:avLst/>
          </a:prstGeom>
        </p:spPr>
      </p:pic>
      <p:sp>
        <p:nvSpPr>
          <p:cNvPr id="20" name="TextBox 19"/>
          <p:cNvSpPr txBox="1"/>
          <p:nvPr/>
        </p:nvSpPr>
        <p:spPr>
          <a:xfrm>
            <a:off x="276225" y="2990850"/>
            <a:ext cx="3626184" cy="194310"/>
          </a:xfrm>
          <a:prstGeom prst="rect">
            <a:avLst/>
          </a:prstGeom>
          <a:noFill/>
        </p:spPr>
        <p:txBody>
          <a:bodyPr wrap="none" lIns="0" rIns="0" tIns="0" bIns="0">
            <a:spAutoFit/>
          </a:bodyPr>
          <a:lstStyle/>
          <a:p>
            <a:r>
              <a:rPr sz="1150" b="0">
                <a:solidFill>
                  <a:srgbClr val="2E2E2E"/>
                </a:solidFill>
                <a:latin typeface="Calibri"/>
              </a:rPr>
              <a:t>The U.S. ceramide sunscreen market is projected to register</a:t>
            </a:r>
          </a:p>
        </p:txBody>
      </p:sp>
      <p:pic>
        <p:nvPicPr>
          <p:cNvPr id="21" name="Picture 20" descr="lock.png"/>
          <p:cNvPicPr>
            <a:picLocks noChangeAspect="1"/>
          </p:cNvPicPr>
          <p:nvPr/>
        </p:nvPicPr>
        <p:blipFill>
          <a:blip r:embed="rId4"/>
          <a:stretch>
            <a:fillRect/>
          </a:stretch>
        </p:blipFill>
        <p:spPr>
          <a:xfrm>
            <a:off x="3851563" y="2980626"/>
            <a:ext cx="134549" cy="195707"/>
          </a:xfrm>
          <a:prstGeom prst="rect">
            <a:avLst/>
          </a:prstGeom>
        </p:spPr>
      </p:pic>
      <p:sp>
        <p:nvSpPr>
          <p:cNvPr id="22" name="TextBox 21"/>
          <p:cNvSpPr txBox="1"/>
          <p:nvPr/>
        </p:nvSpPr>
        <p:spPr>
          <a:xfrm>
            <a:off x="4026673" y="2990850"/>
            <a:ext cx="7632558" cy="194310"/>
          </a:xfrm>
          <a:prstGeom prst="rect">
            <a:avLst/>
          </a:prstGeom>
          <a:noFill/>
        </p:spPr>
        <p:txBody>
          <a:bodyPr wrap="none" lIns="0" rIns="0" tIns="0" bIns="0">
            <a:spAutoFit/>
          </a:bodyPr>
          <a:lstStyle/>
          <a:p>
            <a:r>
              <a:rPr sz="1150" b="0">
                <a:solidFill>
                  <a:srgbClr val="2E2E2E"/>
                </a:solidFill>
                <a:latin typeface="Calibri"/>
              </a:rPr>
              <a:t>X higher value than Canada in 2036. Among ceramide sunscreen by country, Canada is expected to witness the highest CAGR of</a:t>
            </a:r>
          </a:p>
        </p:txBody>
      </p:sp>
      <p:pic>
        <p:nvPicPr>
          <p:cNvPr id="23" name="Picture 22" descr="lock.png"/>
          <p:cNvPicPr>
            <a:picLocks noChangeAspect="1"/>
          </p:cNvPicPr>
          <p:nvPr/>
        </p:nvPicPr>
        <p:blipFill>
          <a:blip r:embed="rId4"/>
          <a:stretch>
            <a:fillRect/>
          </a:stretch>
        </p:blipFill>
        <p:spPr>
          <a:xfrm>
            <a:off x="262145" y="3155886"/>
            <a:ext cx="134549" cy="195707"/>
          </a:xfrm>
          <a:prstGeom prst="rect">
            <a:avLst/>
          </a:prstGeom>
        </p:spPr>
      </p:pic>
      <p:sp>
        <p:nvSpPr>
          <p:cNvPr id="24" name="TextBox 23"/>
          <p:cNvSpPr txBox="1"/>
          <p:nvPr/>
        </p:nvSpPr>
        <p:spPr>
          <a:xfrm>
            <a:off x="437254"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339394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6" name="Picture 25" descr="lock.png"/>
          <p:cNvPicPr>
            <a:picLocks noChangeAspect="1"/>
          </p:cNvPicPr>
          <p:nvPr/>
        </p:nvPicPr>
        <p:blipFill>
          <a:blip r:embed="rId4"/>
          <a:stretch>
            <a:fillRect/>
          </a:stretch>
        </p:blipFill>
        <p:spPr>
          <a:xfrm>
            <a:off x="5208516" y="3383724"/>
            <a:ext cx="134549" cy="195707"/>
          </a:xfrm>
          <a:prstGeom prst="rect">
            <a:avLst/>
          </a:prstGeom>
        </p:spPr>
      </p:pic>
      <p:sp>
        <p:nvSpPr>
          <p:cNvPr id="27" name="TextBox 26"/>
          <p:cNvSpPr txBox="1"/>
          <p:nvPr/>
        </p:nvSpPr>
        <p:spPr>
          <a:xfrm>
            <a:off x="5383625"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6778769" y="3383724"/>
            <a:ext cx="134549" cy="195707"/>
          </a:xfrm>
          <a:prstGeom prst="rect">
            <a:avLst/>
          </a:prstGeom>
        </p:spPr>
      </p:pic>
      <p:sp>
        <p:nvSpPr>
          <p:cNvPr id="29" name="TextBox 28"/>
          <p:cNvSpPr txBox="1"/>
          <p:nvPr/>
        </p:nvSpPr>
        <p:spPr>
          <a:xfrm>
            <a:off x="69538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(Units)</a:t>
            </a:r>
          </a:p>
        </p:txBody>
      </p:sp>
      <p:graphicFrame>
        <p:nvGraphicFramePr>
          <p:cNvPr id="12" name="Chart 11"/>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5" name="Chart 14"/>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6058646" y="2026489"/>
            <a:ext cx="363375" cy="528545"/>
          </a:xfrm>
          <a:prstGeom prst="rect">
            <a:avLst/>
          </a:prstGeom>
        </p:spPr>
      </p:pic>
      <p:pic>
        <p:nvPicPr>
          <p:cNvPr id="18" name="Picture 17" descr="lock.png"/>
          <p:cNvPicPr>
            <a:picLocks noChangeAspect="1"/>
          </p:cNvPicPr>
          <p:nvPr/>
        </p:nvPicPr>
        <p:blipFill>
          <a:blip r:embed="rId6"/>
          <a:stretch>
            <a:fillRect/>
          </a:stretch>
        </p:blipFill>
        <p:spPr>
          <a:xfrm>
            <a:off x="6058646" y="4912564"/>
            <a:ext cx="363375" cy="528545"/>
          </a:xfrm>
          <a:prstGeom prst="rect">
            <a:avLst/>
          </a:prstGeom>
        </p:spPr>
      </p:pic>
      <p:sp>
        <p:nvSpPr>
          <p:cNvPr id="19" name="lockshield_12"/>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Ceramide Sunscreen Market Top 2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12" name="Rectangle 11"/>
          <p:cNvSpPr/>
          <p:nvPr/>
        </p:nvSpPr>
        <p:spPr>
          <a:xfrm>
            <a:off x="238125" y="1266825"/>
            <a:ext cx="7899393"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8137518" y="1266825"/>
            <a:ext cx="3816357" cy="5305425"/>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4130195" y="3919537"/>
            <a:ext cx="115252" cy="167639"/>
          </a:xfrm>
          <a:prstGeom prst="rect">
            <a:avLst/>
          </a:prstGeom>
        </p:spPr>
      </p:pic>
      <p:pic>
        <p:nvPicPr>
          <p:cNvPr id="16" name="Picture 15" descr="lock.png"/>
          <p:cNvPicPr>
            <a:picLocks noChangeAspect="1"/>
          </p:cNvPicPr>
          <p:nvPr/>
        </p:nvPicPr>
        <p:blipFill>
          <a:blip r:embed="rId4"/>
          <a:stretch>
            <a:fillRect/>
          </a:stretch>
        </p:blipFill>
        <p:spPr>
          <a:xfrm>
            <a:off x="9988070" y="3919537"/>
            <a:ext cx="115252" cy="167639"/>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176847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1113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Segments</a:t>
            </a:r>
          </a:p>
        </p:txBody>
      </p:sp>
      <p:sp>
        <p:nvSpPr>
          <p:cNvPr id="11" name="TextBox 10"/>
          <p:cNvSpPr txBox="1"/>
          <p:nvPr/>
        </p:nvSpPr>
        <p:spPr>
          <a:xfrm>
            <a:off x="914400" y="2797175"/>
            <a:ext cx="8458200" cy="32448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SPF Rating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Ingredient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Pack Size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Price Tier</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Product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Mineral Ceramide Sunscreen</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Hybrid Ceramide Sunscreen</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Chemical Ceramide Sunscreen</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336_6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669_1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7_1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173_9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336_3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6_8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67_0_605E5C.png"/>
          <p:cNvPicPr>
            <a:picLocks noChangeAspect="1"/>
          </p:cNvPicPr>
          <p:nvPr/>
        </p:nvPicPr>
        <p:blipFill>
          <a:blip r:embed="rId10"/>
          <a:stretch>
            <a:fillRect/>
          </a:stretch>
        </p:blipFill>
        <p:spPr>
          <a:xfrm>
            <a:off x="9748157" y="2286582"/>
            <a:ext cx="982436" cy="361950"/>
          </a:xfrm>
          <a:prstGeom prst="rect">
            <a:avLst/>
          </a:prstGeom>
        </p:spPr>
      </p:pic>
      <p:pic>
        <p:nvPicPr>
          <p:cNvPr id="63" name="Picture 62" descr="134_8_605E5C.png"/>
          <p:cNvPicPr>
            <a:picLocks noChangeAspect="1"/>
          </p:cNvPicPr>
          <p:nvPr/>
        </p:nvPicPr>
        <p:blipFill>
          <a:blip r:embed="rId11"/>
          <a:stretch>
            <a:fillRect/>
          </a:stretch>
        </p:blipFill>
        <p:spPr>
          <a:xfrm>
            <a:off x="9641511" y="2779432"/>
            <a:ext cx="1195728" cy="361950"/>
          </a:xfrm>
          <a:prstGeom prst="rect">
            <a:avLst/>
          </a:prstGeom>
        </p:spPr>
      </p:pic>
      <p:pic>
        <p:nvPicPr>
          <p:cNvPr id="64" name="Picture 63" descr="7_2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621086" cy="186689"/>
          </a:xfrm>
          <a:prstGeom prst="rect">
            <a:avLst/>
          </a:prstGeom>
          <a:noFill/>
        </p:spPr>
        <p:txBody>
          <a:bodyPr wrap="none" lIns="0" rIns="0" tIns="0" bIns="0">
            <a:spAutoFit/>
          </a:bodyPr>
          <a:lstStyle/>
          <a:p>
            <a:r>
              <a:rPr sz="1100" b="0">
                <a:solidFill>
                  <a:srgbClr val="2E2E2E"/>
                </a:solidFill>
                <a:latin typeface="Calibri"/>
              </a:rPr>
              <a:t>Among ceramide sunscreen by product type,</a:t>
            </a:r>
          </a:p>
        </p:txBody>
      </p:sp>
      <p:sp>
        <p:nvSpPr>
          <p:cNvPr id="69" name="TextBox 68"/>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chemical ceramide sunscreen segment is expected</a:t>
            </a:r>
          </a:p>
        </p:txBody>
      </p:sp>
      <p:sp>
        <p:nvSpPr>
          <p:cNvPr id="70" name="TextBox 69"/>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71" name="Picture 70" descr="lock.png"/>
          <p:cNvPicPr>
            <a:picLocks noChangeAspect="1"/>
          </p:cNvPicPr>
          <p:nvPr/>
        </p:nvPicPr>
        <p:blipFill>
          <a:blip r:embed="rId13"/>
          <a:stretch>
            <a:fillRect/>
          </a:stretch>
        </p:blipFill>
        <p:spPr>
          <a:xfrm>
            <a:off x="2261170" y="4554938"/>
            <a:ext cx="128699" cy="187198"/>
          </a:xfrm>
          <a:prstGeom prst="rect">
            <a:avLst/>
          </a:prstGeom>
        </p:spPr>
      </p:pic>
      <p:sp>
        <p:nvSpPr>
          <p:cNvPr id="72" name="TextBox 71"/>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73" name="TextBox 72"/>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forecast period. In terms of value share by product</a:t>
            </a:r>
          </a:p>
        </p:txBody>
      </p:sp>
      <p:sp>
        <p:nvSpPr>
          <p:cNvPr id="74" name="TextBox 73"/>
          <p:cNvSpPr txBox="1"/>
          <p:nvPr/>
        </p:nvSpPr>
        <p:spPr>
          <a:xfrm>
            <a:off x="485775" y="4899997"/>
            <a:ext cx="2864742" cy="186689"/>
          </a:xfrm>
          <a:prstGeom prst="rect">
            <a:avLst/>
          </a:prstGeom>
          <a:noFill/>
        </p:spPr>
        <p:txBody>
          <a:bodyPr wrap="none" lIns="0" rIns="0" tIns="0" bIns="0">
            <a:spAutoFit/>
          </a:bodyPr>
          <a:lstStyle/>
          <a:p>
            <a:r>
              <a:rPr sz="1100" b="0">
                <a:solidFill>
                  <a:srgbClr val="2E2E2E"/>
                </a:solidFill>
                <a:latin typeface="Calibri"/>
              </a:rPr>
              <a:t>type, the mineral ceramide sunscreen segment is</a:t>
            </a:r>
          </a:p>
        </p:txBody>
      </p:sp>
      <p:sp>
        <p:nvSpPr>
          <p:cNvPr id="75" name="TextBox 74"/>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76" name="Picture 75" descr="lock.png"/>
          <p:cNvPicPr>
            <a:picLocks noChangeAspect="1"/>
          </p:cNvPicPr>
          <p:nvPr/>
        </p:nvPicPr>
        <p:blipFill>
          <a:blip r:embed="rId13"/>
          <a:stretch>
            <a:fillRect/>
          </a:stretch>
        </p:blipFill>
        <p:spPr>
          <a:xfrm>
            <a:off x="2900479" y="5057858"/>
            <a:ext cx="128699" cy="187198"/>
          </a:xfrm>
          <a:prstGeom prst="rect">
            <a:avLst/>
          </a:prstGeom>
        </p:spPr>
      </p:pic>
      <p:sp>
        <p:nvSpPr>
          <p:cNvPr id="77" name="TextBox 76"/>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78" name="TextBox 7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79" name="Picture 78" descr="lock.png"/>
          <p:cNvPicPr>
            <a:picLocks noChangeAspect="1"/>
          </p:cNvPicPr>
          <p:nvPr/>
        </p:nvPicPr>
        <p:blipFill>
          <a:blip r:embed="rId13"/>
          <a:stretch>
            <a:fillRect/>
          </a:stretch>
        </p:blipFill>
        <p:spPr>
          <a:xfrm>
            <a:off x="1576057" y="5225498"/>
            <a:ext cx="128699" cy="187198"/>
          </a:xfrm>
          <a:prstGeom prst="rect">
            <a:avLst/>
          </a:prstGeom>
        </p:spPr>
      </p:pic>
      <p:sp>
        <p:nvSpPr>
          <p:cNvPr id="80" name="TextBox 7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911127" cy="186689"/>
          </a:xfrm>
          <a:prstGeom prst="rect">
            <a:avLst/>
          </a:prstGeom>
          <a:noFill/>
        </p:spPr>
        <p:txBody>
          <a:bodyPr wrap="none" lIns="0" rIns="0" tIns="0" bIns="0">
            <a:spAutoFit/>
          </a:bodyPr>
          <a:lstStyle/>
          <a:p>
            <a:r>
              <a:rPr sz="1100" b="0">
                <a:solidFill>
                  <a:srgbClr val="2E2E2E"/>
                </a:solidFill>
                <a:latin typeface="Calibri"/>
              </a:rPr>
              <a:t>Mineral ceramide sunscreen segment is projected</a:t>
            </a:r>
          </a:p>
        </p:txBody>
      </p:sp>
      <p:sp>
        <p:nvSpPr>
          <p:cNvPr id="82" name="TextBox 81"/>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83" name="Picture 82" descr="lock.png"/>
          <p:cNvPicPr>
            <a:picLocks noChangeAspect="1"/>
          </p:cNvPicPr>
          <p:nvPr/>
        </p:nvPicPr>
        <p:blipFill>
          <a:blip r:embed="rId13"/>
          <a:stretch>
            <a:fillRect/>
          </a:stretch>
        </p:blipFill>
        <p:spPr>
          <a:xfrm>
            <a:off x="1098567" y="5611070"/>
            <a:ext cx="128699" cy="187198"/>
          </a:xfrm>
          <a:prstGeom prst="rect">
            <a:avLst/>
          </a:prstGeom>
        </p:spPr>
      </p:pic>
      <p:sp>
        <p:nvSpPr>
          <p:cNvPr id="84" name="TextBox 83"/>
          <p:cNvSpPr txBox="1"/>
          <p:nvPr/>
        </p:nvSpPr>
        <p:spPr>
          <a:xfrm>
            <a:off x="1266063" y="5620849"/>
            <a:ext cx="2131590" cy="186689"/>
          </a:xfrm>
          <a:prstGeom prst="rect">
            <a:avLst/>
          </a:prstGeom>
          <a:noFill/>
        </p:spPr>
        <p:txBody>
          <a:bodyPr wrap="none" lIns="0" rIns="0" tIns="0" bIns="0">
            <a:spAutoFit/>
          </a:bodyPr>
          <a:lstStyle/>
          <a:p>
            <a:r>
              <a:rPr sz="1100" b="0">
                <a:solidFill>
                  <a:srgbClr val="2E2E2E"/>
                </a:solidFill>
                <a:latin typeface="Calibri"/>
              </a:rPr>
              <a:t>X higher value than hybrid ceramide</a:t>
            </a:r>
          </a:p>
        </p:txBody>
      </p:sp>
      <p:sp>
        <p:nvSpPr>
          <p:cNvPr id="85" name="TextBox 84"/>
          <p:cNvSpPr txBox="1"/>
          <p:nvPr/>
        </p:nvSpPr>
        <p:spPr>
          <a:xfrm>
            <a:off x="485775" y="5788489"/>
            <a:ext cx="1663650" cy="186689"/>
          </a:xfrm>
          <a:prstGeom prst="rect">
            <a:avLst/>
          </a:prstGeom>
          <a:noFill/>
        </p:spPr>
        <p:txBody>
          <a:bodyPr wrap="none" lIns="0" rIns="0" tIns="0" bIns="0">
            <a:spAutoFit/>
          </a:bodyPr>
          <a:lstStyle/>
          <a:p>
            <a:r>
              <a:rPr sz="1100" b="0">
                <a:solidFill>
                  <a:srgbClr val="2E2E2E"/>
                </a:solidFill>
                <a:latin typeface="Calibri"/>
              </a:rPr>
              <a:t>sunscreen segment in 2036.</a:t>
            </a:r>
          </a:p>
        </p:txBody>
      </p:sp>
      <p:sp>
        <p:nvSpPr>
          <p:cNvPr id="86" name="TextBox 85"/>
          <p:cNvSpPr txBox="1"/>
          <p:nvPr/>
        </p:nvSpPr>
        <p:spPr>
          <a:xfrm>
            <a:off x="3838575" y="4229437"/>
            <a:ext cx="1868016" cy="186689"/>
          </a:xfrm>
          <a:prstGeom prst="rect">
            <a:avLst/>
          </a:prstGeom>
          <a:noFill/>
        </p:spPr>
        <p:txBody>
          <a:bodyPr wrap="none" lIns="0" rIns="0" tIns="0" bIns="0">
            <a:spAutoFit/>
          </a:bodyPr>
          <a:lstStyle/>
          <a:p>
            <a:r>
              <a:rPr sz="1100" b="0">
                <a:solidFill>
                  <a:srgbClr val="2E2E2E"/>
                </a:solidFill>
                <a:latin typeface="Calibri"/>
              </a:rPr>
              <a:t>● Mineral Ceramide Sunscreen:</a:t>
            </a:r>
          </a:p>
        </p:txBody>
      </p:sp>
      <p:pic>
        <p:nvPicPr>
          <p:cNvPr id="87" name="Picture 86" descr="lock.png"/>
          <p:cNvPicPr>
            <a:picLocks noChangeAspect="1"/>
          </p:cNvPicPr>
          <p:nvPr/>
        </p:nvPicPr>
        <p:blipFill>
          <a:blip r:embed="rId13"/>
          <a:stretch>
            <a:fillRect/>
          </a:stretch>
        </p:blipFill>
        <p:spPr>
          <a:xfrm>
            <a:off x="5654642" y="4219658"/>
            <a:ext cx="128699" cy="187198"/>
          </a:xfrm>
          <a:prstGeom prst="rect">
            <a:avLst/>
          </a:prstGeom>
        </p:spPr>
      </p:pic>
      <p:sp>
        <p:nvSpPr>
          <p:cNvPr id="88" name="TextBox 87"/>
          <p:cNvSpPr txBox="1"/>
          <p:nvPr/>
        </p:nvSpPr>
        <p:spPr>
          <a:xfrm>
            <a:off x="582213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681588" y="4219658"/>
            <a:ext cx="128699" cy="187198"/>
          </a:xfrm>
          <a:prstGeom prst="rect">
            <a:avLst/>
          </a:prstGeom>
        </p:spPr>
      </p:pic>
      <p:sp>
        <p:nvSpPr>
          <p:cNvPr id="90" name="TextBox 89"/>
          <p:cNvSpPr txBox="1"/>
          <p:nvPr/>
        </p:nvSpPr>
        <p:spPr>
          <a:xfrm>
            <a:off x="6849084"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91" name="TextBox 90"/>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92" name="TextBox 91"/>
          <p:cNvSpPr txBox="1"/>
          <p:nvPr/>
        </p:nvSpPr>
        <p:spPr>
          <a:xfrm>
            <a:off x="3838575" y="4615009"/>
            <a:ext cx="1803623" cy="186689"/>
          </a:xfrm>
          <a:prstGeom prst="rect">
            <a:avLst/>
          </a:prstGeom>
          <a:noFill/>
        </p:spPr>
        <p:txBody>
          <a:bodyPr wrap="none" lIns="0" rIns="0" tIns="0" bIns="0">
            <a:spAutoFit/>
          </a:bodyPr>
          <a:lstStyle/>
          <a:p>
            <a:r>
              <a:rPr sz="1100" b="0">
                <a:solidFill>
                  <a:srgbClr val="2E2E2E"/>
                </a:solidFill>
                <a:latin typeface="Calibri"/>
              </a:rPr>
              <a:t>● Hybrid Ceramide Sunscreen:</a:t>
            </a:r>
          </a:p>
        </p:txBody>
      </p:sp>
      <p:pic>
        <p:nvPicPr>
          <p:cNvPr id="93" name="Picture 92" descr="lock.png"/>
          <p:cNvPicPr>
            <a:picLocks noChangeAspect="1"/>
          </p:cNvPicPr>
          <p:nvPr/>
        </p:nvPicPr>
        <p:blipFill>
          <a:blip r:embed="rId13"/>
          <a:stretch>
            <a:fillRect/>
          </a:stretch>
        </p:blipFill>
        <p:spPr>
          <a:xfrm>
            <a:off x="5590249" y="4605230"/>
            <a:ext cx="128699" cy="187198"/>
          </a:xfrm>
          <a:prstGeom prst="rect">
            <a:avLst/>
          </a:prstGeom>
        </p:spPr>
      </p:pic>
      <p:sp>
        <p:nvSpPr>
          <p:cNvPr id="94" name="TextBox 93"/>
          <p:cNvSpPr txBox="1"/>
          <p:nvPr/>
        </p:nvSpPr>
        <p:spPr>
          <a:xfrm>
            <a:off x="575774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6617195" y="4605230"/>
            <a:ext cx="128699" cy="187198"/>
          </a:xfrm>
          <a:prstGeom prst="rect">
            <a:avLst/>
          </a:prstGeom>
        </p:spPr>
      </p:pic>
      <p:sp>
        <p:nvSpPr>
          <p:cNvPr id="96" name="TextBox 95"/>
          <p:cNvSpPr txBox="1"/>
          <p:nvPr/>
        </p:nvSpPr>
        <p:spPr>
          <a:xfrm>
            <a:off x="6784691"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97" name="TextBox 96"/>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98" name="TextBox 97"/>
          <p:cNvSpPr txBox="1"/>
          <p:nvPr/>
        </p:nvSpPr>
        <p:spPr>
          <a:xfrm>
            <a:off x="3838575" y="5000581"/>
            <a:ext cx="1944960" cy="186689"/>
          </a:xfrm>
          <a:prstGeom prst="rect">
            <a:avLst/>
          </a:prstGeom>
          <a:noFill/>
        </p:spPr>
        <p:txBody>
          <a:bodyPr wrap="none" lIns="0" rIns="0" tIns="0" bIns="0">
            <a:spAutoFit/>
          </a:bodyPr>
          <a:lstStyle/>
          <a:p>
            <a:r>
              <a:rPr sz="1100" b="0">
                <a:solidFill>
                  <a:srgbClr val="2E2E2E"/>
                </a:solidFill>
                <a:latin typeface="Calibri"/>
              </a:rPr>
              <a:t>● Chemical Ceramide Sunscreen:</a:t>
            </a:r>
          </a:p>
        </p:txBody>
      </p:sp>
      <p:pic>
        <p:nvPicPr>
          <p:cNvPr id="99" name="Picture 98" descr="lock.png"/>
          <p:cNvPicPr>
            <a:picLocks noChangeAspect="1"/>
          </p:cNvPicPr>
          <p:nvPr/>
        </p:nvPicPr>
        <p:blipFill>
          <a:blip r:embed="rId13"/>
          <a:stretch>
            <a:fillRect/>
          </a:stretch>
        </p:blipFill>
        <p:spPr>
          <a:xfrm>
            <a:off x="5731586" y="4990801"/>
            <a:ext cx="128699" cy="187198"/>
          </a:xfrm>
          <a:prstGeom prst="rect">
            <a:avLst/>
          </a:prstGeom>
        </p:spPr>
      </p:pic>
      <p:sp>
        <p:nvSpPr>
          <p:cNvPr id="100" name="TextBox 99"/>
          <p:cNvSpPr txBox="1"/>
          <p:nvPr/>
        </p:nvSpPr>
        <p:spPr>
          <a:xfrm>
            <a:off x="5899082"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1" name="Picture 100" descr="lock.png"/>
          <p:cNvPicPr>
            <a:picLocks noChangeAspect="1"/>
          </p:cNvPicPr>
          <p:nvPr/>
        </p:nvPicPr>
        <p:blipFill>
          <a:blip r:embed="rId13"/>
          <a:stretch>
            <a:fillRect/>
          </a:stretch>
        </p:blipFill>
        <p:spPr>
          <a:xfrm>
            <a:off x="6758532" y="4990801"/>
            <a:ext cx="128699" cy="187198"/>
          </a:xfrm>
          <a:prstGeom prst="rect">
            <a:avLst/>
          </a:prstGeom>
        </p:spPr>
      </p:pic>
      <p:sp>
        <p:nvSpPr>
          <p:cNvPr id="102" name="TextBox 101"/>
          <p:cNvSpPr txBox="1"/>
          <p:nvPr/>
        </p:nvSpPr>
        <p:spPr>
          <a:xfrm>
            <a:off x="6926028" y="5000581"/>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03" name="TextBox 102"/>
          <p:cNvSpPr txBox="1"/>
          <p:nvPr/>
        </p:nvSpPr>
        <p:spPr>
          <a:xfrm>
            <a:off x="3838575" y="5168221"/>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04" name="TextBox 103"/>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segment is projected to grow at a</a:t>
            </a:r>
          </a:p>
        </p:txBody>
      </p:sp>
      <p:sp>
        <p:nvSpPr>
          <p:cNvPr id="105" name="TextBox 10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06" name="Picture 105" descr="lock.png"/>
          <p:cNvPicPr>
            <a:picLocks noChangeAspect="1"/>
          </p:cNvPicPr>
          <p:nvPr/>
        </p:nvPicPr>
        <p:blipFill>
          <a:blip r:embed="rId13"/>
          <a:stretch>
            <a:fillRect/>
          </a:stretch>
        </p:blipFill>
        <p:spPr>
          <a:xfrm>
            <a:off x="9048826" y="6007677"/>
            <a:ext cx="134549" cy="195707"/>
          </a:xfrm>
          <a:prstGeom prst="rect">
            <a:avLst/>
          </a:prstGeom>
        </p:spPr>
      </p:pic>
      <p:sp>
        <p:nvSpPr>
          <p:cNvPr id="107" name="TextBox 10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Product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85351" cy="186689"/>
          </a:xfrm>
          <a:prstGeom prst="rect">
            <a:avLst/>
          </a:prstGeom>
          <a:noFill/>
        </p:spPr>
        <p:txBody>
          <a:bodyPr wrap="none" lIns="0" rIns="0" tIns="0" bIns="0">
            <a:spAutoFit/>
          </a:bodyPr>
          <a:lstStyle/>
          <a:p>
            <a:r>
              <a:rPr sz="1100" b="0">
                <a:solidFill>
                  <a:srgbClr val="2E2E2E"/>
                </a:solidFill>
                <a:latin typeface="Calibri"/>
              </a:rPr>
              <a:t>Mineral ceramide sunscreen followed by hybrid ceramide sunscreen are expected to be the two most attractive product type segments in the North America ceramide sunscreen market in terms of value</a:t>
            </a:r>
          </a:p>
        </p:txBody>
      </p:sp>
      <p:sp>
        <p:nvSpPr>
          <p:cNvPr id="20" name="TextBox 19"/>
          <p:cNvSpPr txBox="1"/>
          <p:nvPr/>
        </p:nvSpPr>
        <p:spPr>
          <a:xfrm>
            <a:off x="257175" y="5861685"/>
            <a:ext cx="6300472" cy="186689"/>
          </a:xfrm>
          <a:prstGeom prst="rect">
            <a:avLst/>
          </a:prstGeom>
          <a:noFill/>
        </p:spPr>
        <p:txBody>
          <a:bodyPr wrap="none" lIns="0" rIns="0" tIns="0" bIns="0">
            <a:spAutoFit/>
          </a:bodyPr>
          <a:lstStyle/>
          <a:p>
            <a:r>
              <a:rPr sz="1100" b="0">
                <a:solidFill>
                  <a:srgbClr val="2E2E2E"/>
                </a:solidFill>
                <a:latin typeface="Calibri"/>
              </a:rPr>
              <a:t>over the forecast period. Mineral ceramide sunscreen and hybrid ceramide sunscreen exhibit a CAGR index of</a:t>
            </a:r>
          </a:p>
        </p:txBody>
      </p:sp>
      <p:pic>
        <p:nvPicPr>
          <p:cNvPr id="21" name="Picture 20" descr="lock.png"/>
          <p:cNvPicPr>
            <a:picLocks noChangeAspect="1"/>
          </p:cNvPicPr>
          <p:nvPr/>
        </p:nvPicPr>
        <p:blipFill>
          <a:blip r:embed="rId6"/>
          <a:stretch>
            <a:fillRect/>
          </a:stretch>
        </p:blipFill>
        <p:spPr>
          <a:xfrm>
            <a:off x="6505699" y="5851905"/>
            <a:ext cx="128699" cy="187198"/>
          </a:xfrm>
          <a:prstGeom prst="rect">
            <a:avLst/>
          </a:prstGeom>
        </p:spPr>
      </p:pic>
      <p:sp>
        <p:nvSpPr>
          <p:cNvPr id="22" name="TextBox 21"/>
          <p:cNvSpPr txBox="1"/>
          <p:nvPr/>
        </p:nvSpPr>
        <p:spPr>
          <a:xfrm>
            <a:off x="667319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6911089" y="5851905"/>
            <a:ext cx="128699" cy="187198"/>
          </a:xfrm>
          <a:prstGeom prst="rect">
            <a:avLst/>
          </a:prstGeom>
        </p:spPr>
      </p:pic>
      <p:sp>
        <p:nvSpPr>
          <p:cNvPr id="24" name="TextBox 23"/>
          <p:cNvSpPr txBox="1"/>
          <p:nvPr/>
        </p:nvSpPr>
        <p:spPr>
          <a:xfrm>
            <a:off x="7078585"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687558" y="5851905"/>
            <a:ext cx="128699" cy="187198"/>
          </a:xfrm>
          <a:prstGeom prst="rect">
            <a:avLst/>
          </a:prstGeom>
        </p:spPr>
      </p:pic>
      <p:sp>
        <p:nvSpPr>
          <p:cNvPr id="26" name="TextBox 25"/>
          <p:cNvSpPr txBox="1"/>
          <p:nvPr/>
        </p:nvSpPr>
        <p:spPr>
          <a:xfrm>
            <a:off x="885505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092949" y="5851905"/>
            <a:ext cx="128699" cy="187198"/>
          </a:xfrm>
          <a:prstGeom prst="rect">
            <a:avLst/>
          </a:prstGeom>
        </p:spPr>
      </p:pic>
      <p:sp>
        <p:nvSpPr>
          <p:cNvPr id="28" name="TextBox 27"/>
          <p:cNvSpPr txBox="1"/>
          <p:nvPr/>
        </p:nvSpPr>
        <p:spPr>
          <a:xfrm>
            <a:off x="9260444" y="586168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9" name="TextBox 28"/>
          <p:cNvSpPr txBox="1"/>
          <p:nvPr/>
        </p:nvSpPr>
        <p:spPr>
          <a:xfrm>
            <a:off x="257175" y="602932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0" name="Picture 29" descr="lock.png"/>
          <p:cNvPicPr>
            <a:picLocks noChangeAspect="1"/>
          </p:cNvPicPr>
          <p:nvPr/>
        </p:nvPicPr>
        <p:blipFill>
          <a:blip r:embed="rId6"/>
          <a:stretch>
            <a:fillRect/>
          </a:stretch>
        </p:blipFill>
        <p:spPr>
          <a:xfrm>
            <a:off x="879790" y="6019545"/>
            <a:ext cx="128699" cy="187198"/>
          </a:xfrm>
          <a:prstGeom prst="rect">
            <a:avLst/>
          </a:prstGeom>
        </p:spPr>
      </p:pic>
      <p:sp>
        <p:nvSpPr>
          <p:cNvPr id="31" name="TextBox 30"/>
          <p:cNvSpPr txBox="1"/>
          <p:nvPr/>
        </p:nvSpPr>
        <p:spPr>
          <a:xfrm>
            <a:off x="1047285" y="6029325"/>
            <a:ext cx="10787516" cy="186689"/>
          </a:xfrm>
          <a:prstGeom prst="rect">
            <a:avLst/>
          </a:prstGeom>
          <a:noFill/>
        </p:spPr>
        <p:txBody>
          <a:bodyPr wrap="none" lIns="0" rIns="0" tIns="0" bIns="0">
            <a:spAutoFit/>
          </a:bodyPr>
          <a:lstStyle/>
          <a:p>
            <a:r>
              <a:rPr sz="1100" b="0">
                <a:solidFill>
                  <a:srgbClr val="2E2E2E"/>
                </a:solidFill>
                <a:latin typeface="Calibri"/>
              </a:rPr>
              <a:t>. The chemical ceramide sunscreen segment is expected to be less attractive as compared to other segments over the forecast period, owing to its lower CAGR and incremental opportunity.</a:t>
            </a:r>
          </a:p>
        </p:txBody>
      </p:sp>
      <p:sp>
        <p:nvSpPr>
          <p:cNvPr id="32" name="TextBox 31"/>
          <p:cNvSpPr txBox="1"/>
          <p:nvPr/>
        </p:nvSpPr>
        <p:spPr>
          <a:xfrm>
            <a:off x="257175" y="6196965"/>
            <a:ext cx="4376869" cy="186689"/>
          </a:xfrm>
          <a:prstGeom prst="rect">
            <a:avLst/>
          </a:prstGeom>
          <a:noFill/>
        </p:spPr>
        <p:txBody>
          <a:bodyPr wrap="none" lIns="0" rIns="0" tIns="0" bIns="0">
            <a:spAutoFit/>
          </a:bodyPr>
          <a:lstStyle/>
          <a:p>
            <a:r>
              <a:rPr sz="1100" b="0">
                <a:solidFill>
                  <a:srgbClr val="2E2E2E"/>
                </a:solidFill>
                <a:latin typeface="Calibri"/>
              </a:rPr>
              <a:t>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Mineral Ceramide Sunscreen</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Chemical Ceramide Sunscreen</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Hybrid Ceramide Sunscreen</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Product Type</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484320"/>
            <a:ext cx="5179940" cy="194310"/>
          </a:xfrm>
          <a:prstGeom prst="rect">
            <a:avLst/>
          </a:prstGeom>
          <a:noFill/>
        </p:spPr>
        <p:txBody>
          <a:bodyPr wrap="none" lIns="0" rIns="0" tIns="0" bIns="0">
            <a:spAutoFit/>
          </a:bodyPr>
          <a:lstStyle/>
          <a:p>
            <a:r>
              <a:rPr sz="1150" b="0">
                <a:solidFill>
                  <a:srgbClr val="2E2E2E"/>
                </a:solidFill>
                <a:latin typeface="Calibri"/>
              </a:rPr>
              <a:t>By 2036, mineral ceramide sunscreen segment is anticipated to witness an increase of</a:t>
            </a:r>
          </a:p>
        </p:txBody>
      </p:sp>
      <p:pic>
        <p:nvPicPr>
          <p:cNvPr id="28" name="Picture 27" descr="lock.png"/>
          <p:cNvPicPr>
            <a:picLocks noChangeAspect="1"/>
          </p:cNvPicPr>
          <p:nvPr/>
        </p:nvPicPr>
        <p:blipFill>
          <a:blip r:embed="rId7"/>
          <a:stretch>
            <a:fillRect/>
          </a:stretch>
        </p:blipFill>
        <p:spPr>
          <a:xfrm>
            <a:off x="11434644" y="4474096"/>
            <a:ext cx="134549" cy="195707"/>
          </a:xfrm>
          <a:prstGeom prst="rect">
            <a:avLst/>
          </a:prstGeom>
        </p:spPr>
      </p:pic>
      <p:sp>
        <p:nvSpPr>
          <p:cNvPr id="29" name="TextBox 28"/>
          <p:cNvSpPr txBox="1"/>
          <p:nvPr/>
        </p:nvSpPr>
        <p:spPr>
          <a:xfrm>
            <a:off x="11609753" y="4484320"/>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0" name="TextBox 29"/>
          <p:cNvSpPr txBox="1"/>
          <p:nvPr/>
        </p:nvSpPr>
        <p:spPr>
          <a:xfrm>
            <a:off x="6305550" y="4659580"/>
            <a:ext cx="5591175" cy="194310"/>
          </a:xfrm>
          <a:prstGeom prst="rect">
            <a:avLst/>
          </a:prstGeom>
          <a:noFill/>
        </p:spPr>
        <p:txBody>
          <a:bodyPr wrap="none" lIns="0" rIns="0" tIns="0" bIns="0">
            <a:spAutoFit/>
          </a:bodyPr>
          <a:lstStyle/>
          <a:p>
            <a:r>
              <a:rPr sz="1150" b="0">
                <a:solidFill>
                  <a:srgbClr val="2E2E2E"/>
                </a:solidFill>
                <a:latin typeface="Calibri"/>
              </a:rPr>
              <a:t>in terms of value as compared to 2026. The mineral ceramide sunscreen segment is expected</a:t>
            </a:r>
          </a:p>
        </p:txBody>
      </p:sp>
      <p:sp>
        <p:nvSpPr>
          <p:cNvPr id="31" name="TextBox 30"/>
          <p:cNvSpPr txBox="1"/>
          <p:nvPr/>
        </p:nvSpPr>
        <p:spPr>
          <a:xfrm>
            <a:off x="6305550" y="4834840"/>
            <a:ext cx="2706241" cy="194310"/>
          </a:xfrm>
          <a:prstGeom prst="rect">
            <a:avLst/>
          </a:prstGeom>
          <a:noFill/>
        </p:spPr>
        <p:txBody>
          <a:bodyPr wrap="none" lIns="0" rIns="0" tIns="0" bIns="0">
            <a:spAutoFit/>
          </a:bodyPr>
          <a:lstStyle/>
          <a:p>
            <a:r>
              <a:rPr sz="1150" b="0">
                <a:solidFill>
                  <a:srgbClr val="2E2E2E"/>
                </a:solidFill>
                <a:latin typeface="Calibri"/>
              </a:rPr>
              <a:t>to create an incremental opportunity of US$</a:t>
            </a:r>
          </a:p>
        </p:txBody>
      </p:sp>
      <p:pic>
        <p:nvPicPr>
          <p:cNvPr id="32" name="Picture 31" descr="lock.png"/>
          <p:cNvPicPr>
            <a:picLocks noChangeAspect="1"/>
          </p:cNvPicPr>
          <p:nvPr/>
        </p:nvPicPr>
        <p:blipFill>
          <a:blip r:embed="rId7"/>
          <a:stretch>
            <a:fillRect/>
          </a:stretch>
        </p:blipFill>
        <p:spPr>
          <a:xfrm>
            <a:off x="8960944" y="4824616"/>
            <a:ext cx="134549" cy="195707"/>
          </a:xfrm>
          <a:prstGeom prst="rect">
            <a:avLst/>
          </a:prstGeom>
        </p:spPr>
      </p:pic>
      <p:sp>
        <p:nvSpPr>
          <p:cNvPr id="33" name="TextBox 32"/>
          <p:cNvSpPr txBox="1"/>
          <p:nvPr/>
        </p:nvSpPr>
        <p:spPr>
          <a:xfrm>
            <a:off x="9136054" y="4834840"/>
            <a:ext cx="2376487" cy="194310"/>
          </a:xfrm>
          <a:prstGeom prst="rect">
            <a:avLst/>
          </a:prstGeom>
          <a:noFill/>
        </p:spPr>
        <p:txBody>
          <a:bodyPr wrap="none" lIns="0" rIns="0" tIns="0" bIns="0">
            <a:spAutoFit/>
          </a:bodyPr>
          <a:lstStyle/>
          <a:p>
            <a:r>
              <a:rPr sz="1150" b="0">
                <a:solidFill>
                  <a:srgbClr val="2E2E2E"/>
                </a:solidFill>
                <a:latin typeface="Calibri"/>
              </a:rPr>
              <a:t>Mn for the overall ceramide sunscreen</a:t>
            </a:r>
          </a:p>
        </p:txBody>
      </p:sp>
      <p:sp>
        <p:nvSpPr>
          <p:cNvPr id="34" name="TextBox 33"/>
          <p:cNvSpPr txBox="1"/>
          <p:nvPr/>
        </p:nvSpPr>
        <p:spPr>
          <a:xfrm>
            <a:off x="6305550" y="5010100"/>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5" name="TextBox 34"/>
          <p:cNvSpPr txBox="1"/>
          <p:nvPr/>
        </p:nvSpPr>
        <p:spPr>
          <a:xfrm>
            <a:off x="6305550" y="5237938"/>
            <a:ext cx="5580174" cy="194310"/>
          </a:xfrm>
          <a:prstGeom prst="rect">
            <a:avLst/>
          </a:prstGeom>
          <a:noFill/>
        </p:spPr>
        <p:txBody>
          <a:bodyPr wrap="none" lIns="0" rIns="0" tIns="0" bIns="0">
            <a:spAutoFit/>
          </a:bodyPr>
          <a:lstStyle/>
          <a:p>
            <a:r>
              <a:rPr sz="1150" b="0">
                <a:solidFill>
                  <a:srgbClr val="2E2E2E"/>
                </a:solidFill>
                <a:latin typeface="Calibri"/>
              </a:rPr>
              <a:t>The hybrid ceramide sunscreen segment is expected to create an incremental opportunity of</a:t>
            </a:r>
          </a:p>
        </p:txBody>
      </p:sp>
      <p:sp>
        <p:nvSpPr>
          <p:cNvPr id="36" name="TextBox 35"/>
          <p:cNvSpPr txBox="1"/>
          <p:nvPr/>
        </p:nvSpPr>
        <p:spPr>
          <a:xfrm>
            <a:off x="6305550" y="541319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7" name="Picture 36" descr="lock.png"/>
          <p:cNvPicPr>
            <a:picLocks noChangeAspect="1"/>
          </p:cNvPicPr>
          <p:nvPr/>
        </p:nvPicPr>
        <p:blipFill>
          <a:blip r:embed="rId7"/>
          <a:stretch>
            <a:fillRect/>
          </a:stretch>
        </p:blipFill>
        <p:spPr>
          <a:xfrm>
            <a:off x="6565953" y="5402974"/>
            <a:ext cx="134549" cy="195707"/>
          </a:xfrm>
          <a:prstGeom prst="rect">
            <a:avLst/>
          </a:prstGeom>
        </p:spPr>
      </p:pic>
      <p:sp>
        <p:nvSpPr>
          <p:cNvPr id="38" name="TextBox 37"/>
          <p:cNvSpPr txBox="1"/>
          <p:nvPr/>
        </p:nvSpPr>
        <p:spPr>
          <a:xfrm>
            <a:off x="6741062" y="5413197"/>
            <a:ext cx="4827389"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 2026 to 2036. The chemical</a:t>
            </a:r>
          </a:p>
        </p:txBody>
      </p:sp>
      <p:sp>
        <p:nvSpPr>
          <p:cNvPr id="39" name="TextBox 38"/>
          <p:cNvSpPr txBox="1"/>
          <p:nvPr/>
        </p:nvSpPr>
        <p:spPr>
          <a:xfrm>
            <a:off x="6305550" y="5588457"/>
            <a:ext cx="5180248" cy="194310"/>
          </a:xfrm>
          <a:prstGeom prst="rect">
            <a:avLst/>
          </a:prstGeom>
          <a:noFill/>
        </p:spPr>
        <p:txBody>
          <a:bodyPr wrap="none" lIns="0" rIns="0" tIns="0" bIns="0">
            <a:spAutoFit/>
          </a:bodyPr>
          <a:lstStyle/>
          <a:p>
            <a:r>
              <a:rPr sz="1150" b="0">
                <a:solidFill>
                  <a:srgbClr val="2E2E2E"/>
                </a:solidFill>
                <a:latin typeface="Calibri"/>
              </a:rPr>
              <a:t>ceramide sunscreen segment is expected to create an incremental opportunity of US$</a:t>
            </a:r>
          </a:p>
        </p:txBody>
      </p:sp>
      <p:pic>
        <p:nvPicPr>
          <p:cNvPr id="40" name="Picture 39" descr="lock.png"/>
          <p:cNvPicPr>
            <a:picLocks noChangeAspect="1"/>
          </p:cNvPicPr>
          <p:nvPr/>
        </p:nvPicPr>
        <p:blipFill>
          <a:blip r:embed="rId7"/>
          <a:stretch>
            <a:fillRect/>
          </a:stretch>
        </p:blipFill>
        <p:spPr>
          <a:xfrm>
            <a:off x="11434952" y="5578234"/>
            <a:ext cx="134549" cy="195707"/>
          </a:xfrm>
          <a:prstGeom prst="rect">
            <a:avLst/>
          </a:prstGeom>
        </p:spPr>
      </p:pic>
      <p:sp>
        <p:nvSpPr>
          <p:cNvPr id="41" name="TextBox 40"/>
          <p:cNvSpPr txBox="1"/>
          <p:nvPr/>
        </p:nvSpPr>
        <p:spPr>
          <a:xfrm>
            <a:off x="11610061" y="5588457"/>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42" name="TextBox 41"/>
          <p:cNvSpPr txBox="1"/>
          <p:nvPr/>
        </p:nvSpPr>
        <p:spPr>
          <a:xfrm>
            <a:off x="6305550" y="5763717"/>
            <a:ext cx="3778510" cy="194310"/>
          </a:xfrm>
          <a:prstGeom prst="rect">
            <a:avLst/>
          </a:prstGeom>
          <a:noFill/>
        </p:spPr>
        <p:txBody>
          <a:bodyPr wrap="none" lIns="0" rIns="0" tIns="0" bIns="0">
            <a:spAutoFit/>
          </a:bodyPr>
          <a:lstStyle/>
          <a:p>
            <a:r>
              <a:rPr sz="1150" b="0">
                <a:solidFill>
                  <a:srgbClr val="2E2E2E"/>
                </a:solidFill>
                <a:latin typeface="Calibri"/>
              </a:rPr>
              <a:t>for the overall ceramide sunscreen market from 2026 to 2036.</a:t>
            </a:r>
          </a:p>
        </p:txBody>
      </p:sp>
      <p:sp>
        <p:nvSpPr>
          <p:cNvPr id="43"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Type (US$ Mn)</a:t>
            </a:r>
          </a:p>
        </p:txBody>
      </p:sp>
      <p:graphicFrame>
        <p:nvGraphicFramePr>
          <p:cNvPr id="12" name="Table 11"/>
          <p:cNvGraphicFramePr>
            <a:graphicFrameLocks noGrp="1"/>
          </p:cNvGraphicFramePr>
          <p:nvPr/>
        </p:nvGraphicFramePr>
        <p:xfrm>
          <a:off x="152400" y="1238250"/>
          <a:ext cx="11887201" cy="1971675"/>
        </p:xfrm>
        <a:graphic>
          <a:graphicData uri="http://schemas.openxmlformats.org/drawingml/2006/table">
            <a:tbl>
              <a:tblPr>
                <a:tableStyleId>{5C22544A-7EE6-4342-B048-85BDC9FD1C3A}</a:tableStyleId>
              </a:tblPr>
              <a:tblGrid>
                <a:gridCol w="3073675"/>
                <a:gridCol w="529415"/>
                <a:gridCol w="529415"/>
                <a:gridCol w="529415"/>
                <a:gridCol w="529415"/>
                <a:gridCol w="529415"/>
                <a:gridCol w="510766"/>
                <a:gridCol w="505438"/>
                <a:gridCol w="505438"/>
                <a:gridCol w="505438"/>
                <a:gridCol w="505438"/>
                <a:gridCol w="505438"/>
                <a:gridCol w="505438"/>
                <a:gridCol w="505438"/>
                <a:gridCol w="505438"/>
                <a:gridCol w="505438"/>
                <a:gridCol w="505438"/>
                <a:gridCol w="601305"/>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Zinc Oxide-based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Titanium Dioxide-based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Zinc Oxide &amp; Titanium Dioxide Combination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Product Type</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446148" y="2080450"/>
            <a:ext cx="366712" cy="533400"/>
          </a:xfrm>
          <a:prstGeom prst="rect">
            <a:avLst/>
          </a:prstGeom>
        </p:spPr>
      </p:pic>
      <p:sp>
        <p:nvSpPr>
          <p:cNvPr id="20" name="TextBox 19"/>
          <p:cNvSpPr txBox="1"/>
          <p:nvPr/>
        </p:nvSpPr>
        <p:spPr>
          <a:xfrm>
            <a:off x="276225" y="3971925"/>
            <a:ext cx="3688370" cy="194310"/>
          </a:xfrm>
          <a:prstGeom prst="rect">
            <a:avLst/>
          </a:prstGeom>
          <a:noFill/>
        </p:spPr>
        <p:txBody>
          <a:bodyPr wrap="none" lIns="0" rIns="0" tIns="0" bIns="0">
            <a:spAutoFit/>
          </a:bodyPr>
          <a:lstStyle/>
          <a:p>
            <a:r>
              <a:rPr sz="1150" b="0">
                <a:solidFill>
                  <a:srgbClr val="2E2E2E"/>
                </a:solidFill>
                <a:latin typeface="Calibri"/>
              </a:rPr>
              <a:t>Mineral ceramide sunscreen segment is projected to register</a:t>
            </a:r>
          </a:p>
        </p:txBody>
      </p:sp>
      <p:pic>
        <p:nvPicPr>
          <p:cNvPr id="21" name="Picture 20" descr="lock.png"/>
          <p:cNvPicPr>
            <a:picLocks noChangeAspect="1"/>
          </p:cNvPicPr>
          <p:nvPr/>
        </p:nvPicPr>
        <p:blipFill>
          <a:blip r:embed="rId4"/>
          <a:stretch>
            <a:fillRect/>
          </a:stretch>
        </p:blipFill>
        <p:spPr>
          <a:xfrm>
            <a:off x="3913749" y="3961701"/>
            <a:ext cx="134549" cy="195707"/>
          </a:xfrm>
          <a:prstGeom prst="rect">
            <a:avLst/>
          </a:prstGeom>
        </p:spPr>
      </p:pic>
      <p:sp>
        <p:nvSpPr>
          <p:cNvPr id="22" name="TextBox 21"/>
          <p:cNvSpPr txBox="1"/>
          <p:nvPr/>
        </p:nvSpPr>
        <p:spPr>
          <a:xfrm>
            <a:off x="4088858" y="3971925"/>
            <a:ext cx="7760084" cy="194310"/>
          </a:xfrm>
          <a:prstGeom prst="rect">
            <a:avLst/>
          </a:prstGeom>
          <a:noFill/>
        </p:spPr>
        <p:txBody>
          <a:bodyPr wrap="none" lIns="0" rIns="0" tIns="0" bIns="0">
            <a:spAutoFit/>
          </a:bodyPr>
          <a:lstStyle/>
          <a:p>
            <a:r>
              <a:rPr sz="1150" b="0">
                <a:solidFill>
                  <a:srgbClr val="2E2E2E"/>
                </a:solidFill>
                <a:latin typeface="Calibri"/>
              </a:rPr>
              <a:t>X higher value than hybrid ceramide sunscreen segment in 2036. Among ceramide sunscreen by product type, chemical ceramide</a:t>
            </a:r>
          </a:p>
        </p:txBody>
      </p:sp>
      <p:sp>
        <p:nvSpPr>
          <p:cNvPr id="23" name="TextBox 22"/>
          <p:cNvSpPr txBox="1"/>
          <p:nvPr/>
        </p:nvSpPr>
        <p:spPr>
          <a:xfrm>
            <a:off x="276225" y="4147185"/>
            <a:ext cx="3792470" cy="194310"/>
          </a:xfrm>
          <a:prstGeom prst="rect">
            <a:avLst/>
          </a:prstGeom>
          <a:noFill/>
        </p:spPr>
        <p:txBody>
          <a:bodyPr wrap="none" lIns="0" rIns="0" tIns="0" bIns="0">
            <a:spAutoFit/>
          </a:bodyPr>
          <a:lstStyle/>
          <a:p>
            <a:r>
              <a:rPr sz="1150" b="0">
                <a:solidFill>
                  <a:srgbClr val="2E2E2E"/>
                </a:solidFill>
                <a:latin typeface="Calibri"/>
              </a:rPr>
              <a:t>sunscreen segment is expected to witness the highest CAGR of</a:t>
            </a:r>
          </a:p>
        </p:txBody>
      </p:sp>
      <p:pic>
        <p:nvPicPr>
          <p:cNvPr id="24" name="Picture 23" descr="lock.png"/>
          <p:cNvPicPr>
            <a:picLocks noChangeAspect="1"/>
          </p:cNvPicPr>
          <p:nvPr/>
        </p:nvPicPr>
        <p:blipFill>
          <a:blip r:embed="rId4"/>
          <a:stretch>
            <a:fillRect/>
          </a:stretch>
        </p:blipFill>
        <p:spPr>
          <a:xfrm>
            <a:off x="4017849" y="4136961"/>
            <a:ext cx="134549" cy="195707"/>
          </a:xfrm>
          <a:prstGeom prst="rect">
            <a:avLst/>
          </a:prstGeom>
        </p:spPr>
      </p:pic>
      <p:sp>
        <p:nvSpPr>
          <p:cNvPr id="25" name="TextBox 24"/>
          <p:cNvSpPr txBox="1"/>
          <p:nvPr/>
        </p:nvSpPr>
        <p:spPr>
          <a:xfrm>
            <a:off x="419295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595492" cy="194310"/>
          </a:xfrm>
          <a:prstGeom prst="rect">
            <a:avLst/>
          </a:prstGeom>
          <a:noFill/>
        </p:spPr>
        <p:txBody>
          <a:bodyPr wrap="none" lIns="0" rIns="0" tIns="0" bIns="0">
            <a:spAutoFit/>
          </a:bodyPr>
          <a:lstStyle/>
          <a:p>
            <a:r>
              <a:rPr sz="1150" b="0">
                <a:solidFill>
                  <a:srgbClr val="2E2E2E"/>
                </a:solidFill>
                <a:latin typeface="Calibri"/>
              </a:rPr>
              <a:t>In terms of value share by product type, the mineral ceramide sunscreen segment is expected to dominate the market, gaining</a:t>
            </a:r>
          </a:p>
        </p:txBody>
      </p:sp>
      <p:pic>
        <p:nvPicPr>
          <p:cNvPr id="27" name="Picture 26" descr="lock.png"/>
          <p:cNvPicPr>
            <a:picLocks noChangeAspect="1"/>
          </p:cNvPicPr>
          <p:nvPr/>
        </p:nvPicPr>
        <p:blipFill>
          <a:blip r:embed="rId4"/>
          <a:stretch>
            <a:fillRect/>
          </a:stretch>
        </p:blipFill>
        <p:spPr>
          <a:xfrm>
            <a:off x="7820871" y="4364799"/>
            <a:ext cx="134549" cy="195707"/>
          </a:xfrm>
          <a:prstGeom prst="rect">
            <a:avLst/>
          </a:prstGeom>
        </p:spPr>
      </p:pic>
      <p:sp>
        <p:nvSpPr>
          <p:cNvPr id="28" name="TextBox 27"/>
          <p:cNvSpPr txBox="1"/>
          <p:nvPr/>
        </p:nvSpPr>
        <p:spPr>
          <a:xfrm>
            <a:off x="7995981"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391124" y="4364799"/>
            <a:ext cx="134549" cy="195707"/>
          </a:xfrm>
          <a:prstGeom prst="rect">
            <a:avLst/>
          </a:prstGeom>
        </p:spPr>
      </p:pic>
      <p:sp>
        <p:nvSpPr>
          <p:cNvPr id="30" name="TextBox 29"/>
          <p:cNvSpPr txBox="1"/>
          <p:nvPr/>
        </p:nvSpPr>
        <p:spPr>
          <a:xfrm>
            <a:off x="9566233" y="4375022"/>
            <a:ext cx="1614289" cy="194310"/>
          </a:xfrm>
          <a:prstGeom prst="rect">
            <a:avLst/>
          </a:prstGeom>
          <a:noFill/>
        </p:spPr>
        <p:txBody>
          <a:bodyPr wrap="none" lIns="0" rIns="0" tIns="0" bIns="0">
            <a:spAutoFit/>
          </a:bodyPr>
          <a:lstStyle/>
          <a:p>
            <a:r>
              <a:rPr sz="1150" b="0">
                <a:solidFill>
                  <a:srgbClr val="2E2E2E"/>
                </a:solidFill>
                <a:latin typeface="Calibri"/>
              </a:rPr>
              <a:t>share by 2036. The hybrid</a:t>
            </a:r>
          </a:p>
        </p:txBody>
      </p:sp>
      <p:sp>
        <p:nvSpPr>
          <p:cNvPr id="31" name="TextBox 30"/>
          <p:cNvSpPr txBox="1"/>
          <p:nvPr/>
        </p:nvSpPr>
        <p:spPr>
          <a:xfrm>
            <a:off x="276225" y="4550282"/>
            <a:ext cx="2949847" cy="194310"/>
          </a:xfrm>
          <a:prstGeom prst="rect">
            <a:avLst/>
          </a:prstGeom>
          <a:noFill/>
        </p:spPr>
        <p:txBody>
          <a:bodyPr wrap="none" lIns="0" rIns="0" tIns="0" bIns="0">
            <a:spAutoFit/>
          </a:bodyPr>
          <a:lstStyle/>
          <a:p>
            <a:r>
              <a:rPr sz="1150" b="0">
                <a:solidFill>
                  <a:srgbClr val="2E2E2E"/>
                </a:solidFill>
                <a:latin typeface="Calibri"/>
              </a:rPr>
              <a:t>ceramide sunscreen segment is expected to lose</a:t>
            </a:r>
          </a:p>
        </p:txBody>
      </p:sp>
      <p:pic>
        <p:nvPicPr>
          <p:cNvPr id="32" name="Picture 31" descr="lock.png"/>
          <p:cNvPicPr>
            <a:picLocks noChangeAspect="1"/>
          </p:cNvPicPr>
          <p:nvPr/>
        </p:nvPicPr>
        <p:blipFill>
          <a:blip r:embed="rId4"/>
          <a:stretch>
            <a:fillRect/>
          </a:stretch>
        </p:blipFill>
        <p:spPr>
          <a:xfrm>
            <a:off x="3175226" y="4540059"/>
            <a:ext cx="134549" cy="195707"/>
          </a:xfrm>
          <a:prstGeom prst="rect">
            <a:avLst/>
          </a:prstGeom>
        </p:spPr>
      </p:pic>
      <p:sp>
        <p:nvSpPr>
          <p:cNvPr id="33" name="TextBox 32"/>
          <p:cNvSpPr txBox="1"/>
          <p:nvPr/>
        </p:nvSpPr>
        <p:spPr>
          <a:xfrm>
            <a:off x="3350336"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937840" y="4540059"/>
            <a:ext cx="134549" cy="195707"/>
          </a:xfrm>
          <a:prstGeom prst="rect">
            <a:avLst/>
          </a:prstGeom>
        </p:spPr>
      </p:pic>
      <p:sp>
        <p:nvSpPr>
          <p:cNvPr id="35" name="TextBox 34"/>
          <p:cNvSpPr txBox="1"/>
          <p:nvPr/>
        </p:nvSpPr>
        <p:spPr>
          <a:xfrm>
            <a:off x="6112949"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4160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93684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6064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Chemical Ceramide Sunscreen</a:t>
            </a:r>
          </a:p>
        </p:txBody>
      </p:sp>
      <p:sp>
        <p:nvSpPr>
          <p:cNvPr id="18" name="BPS Value 1"/>
          <p:cNvSpPr txBox="1"/>
          <p:nvPr/>
        </p:nvSpPr>
        <p:spPr>
          <a:xfrm>
            <a:off x="6896100" y="192255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88625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88148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80528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Hybrid Ceramide Sunscreen</a:t>
            </a:r>
          </a:p>
        </p:txBody>
      </p:sp>
      <p:sp>
        <p:nvSpPr>
          <p:cNvPr id="22" name="BPS Value 2"/>
          <p:cNvSpPr txBox="1"/>
          <p:nvPr/>
        </p:nvSpPr>
        <p:spPr>
          <a:xfrm>
            <a:off x="6896100" y="28672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490209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489733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8211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Mineral Ceramide Sunscreen</a:t>
            </a:r>
          </a:p>
        </p:txBody>
      </p:sp>
      <p:sp>
        <p:nvSpPr>
          <p:cNvPr id="26" name="BPS Value 3"/>
          <p:cNvSpPr txBox="1"/>
          <p:nvPr/>
        </p:nvSpPr>
        <p:spPr>
          <a:xfrm>
            <a:off x="6896100" y="488304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Product Type</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833622"/>
            <a:ext cx="275034" cy="400050"/>
          </a:xfrm>
          <a:prstGeom prst="rect">
            <a:avLst/>
          </a:prstGeom>
        </p:spPr>
      </p:pic>
      <p:sp>
        <p:nvSpPr>
          <p:cNvPr id="33" name="TextBox 32"/>
          <p:cNvSpPr txBox="1"/>
          <p:nvPr/>
        </p:nvSpPr>
        <p:spPr>
          <a:xfrm>
            <a:off x="7829550" y="1400175"/>
            <a:ext cx="3885480" cy="194310"/>
          </a:xfrm>
          <a:prstGeom prst="rect">
            <a:avLst/>
          </a:prstGeom>
          <a:noFill/>
        </p:spPr>
        <p:txBody>
          <a:bodyPr wrap="none" lIns="0" rIns="0" tIns="0" bIns="0">
            <a:spAutoFit/>
          </a:bodyPr>
          <a:lstStyle/>
          <a:p>
            <a:r>
              <a:rPr sz="1150" b="0">
                <a:solidFill>
                  <a:srgbClr val="2E2E2E"/>
                </a:solidFill>
                <a:latin typeface="Calibri"/>
              </a:rPr>
              <a:t>Among ceramide sunscreen by product type, chemical ceramide</a:t>
            </a:r>
          </a:p>
        </p:txBody>
      </p:sp>
      <p:sp>
        <p:nvSpPr>
          <p:cNvPr id="34" name="TextBox 33"/>
          <p:cNvSpPr txBox="1"/>
          <p:nvPr/>
        </p:nvSpPr>
        <p:spPr>
          <a:xfrm>
            <a:off x="7829550" y="1575435"/>
            <a:ext cx="3792470" cy="194310"/>
          </a:xfrm>
          <a:prstGeom prst="rect">
            <a:avLst/>
          </a:prstGeom>
          <a:noFill/>
        </p:spPr>
        <p:txBody>
          <a:bodyPr wrap="none" lIns="0" rIns="0" tIns="0" bIns="0">
            <a:spAutoFit/>
          </a:bodyPr>
          <a:lstStyle/>
          <a:p>
            <a:r>
              <a:rPr sz="1150" b="0">
                <a:solidFill>
                  <a:srgbClr val="2E2E2E"/>
                </a:solidFill>
                <a:latin typeface="Calibri"/>
              </a:rPr>
              <a:t>sunscreen segment is expected to witness the highest CAGR of</a:t>
            </a:r>
          </a:p>
        </p:txBody>
      </p:sp>
      <p:pic>
        <p:nvPicPr>
          <p:cNvPr id="35" name="Picture 34" descr="lock.png"/>
          <p:cNvPicPr>
            <a:picLocks noChangeAspect="1"/>
          </p:cNvPicPr>
          <p:nvPr/>
        </p:nvPicPr>
        <p:blipFill>
          <a:blip r:embed="rId5"/>
          <a:stretch>
            <a:fillRect/>
          </a:stretch>
        </p:blipFill>
        <p:spPr>
          <a:xfrm>
            <a:off x="11571174" y="1565211"/>
            <a:ext cx="134549" cy="195707"/>
          </a:xfrm>
          <a:prstGeom prst="rect">
            <a:avLst/>
          </a:prstGeom>
        </p:spPr>
      </p:pic>
      <p:sp>
        <p:nvSpPr>
          <p:cNvPr id="36" name="TextBox 35"/>
          <p:cNvSpPr txBox="1"/>
          <p:nvPr/>
        </p:nvSpPr>
        <p:spPr>
          <a:xfrm>
            <a:off x="7829550" y="1750695"/>
            <a:ext cx="395479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product type,</a:t>
            </a:r>
          </a:p>
        </p:txBody>
      </p:sp>
      <p:sp>
        <p:nvSpPr>
          <p:cNvPr id="37" name="TextBox 36"/>
          <p:cNvSpPr txBox="1"/>
          <p:nvPr/>
        </p:nvSpPr>
        <p:spPr>
          <a:xfrm>
            <a:off x="7829550" y="1925955"/>
            <a:ext cx="4001008" cy="194310"/>
          </a:xfrm>
          <a:prstGeom prst="rect">
            <a:avLst/>
          </a:prstGeom>
          <a:noFill/>
        </p:spPr>
        <p:txBody>
          <a:bodyPr wrap="none" lIns="0" rIns="0" tIns="0" bIns="0">
            <a:spAutoFit/>
          </a:bodyPr>
          <a:lstStyle/>
          <a:p>
            <a:r>
              <a:rPr sz="1150" b="0">
                <a:solidFill>
                  <a:srgbClr val="2E2E2E"/>
                </a:solidFill>
                <a:latin typeface="Calibri"/>
              </a:rPr>
              <a:t>the mineral ceramide sunscreen segment is expected to dominate</a:t>
            </a:r>
          </a:p>
        </p:txBody>
      </p:sp>
      <p:sp>
        <p:nvSpPr>
          <p:cNvPr id="38" name="TextBox 37"/>
          <p:cNvSpPr txBox="1"/>
          <p:nvPr/>
        </p:nvSpPr>
        <p:spPr>
          <a:xfrm>
            <a:off x="7829550" y="2101215"/>
            <a:ext cx="1231478" cy="194310"/>
          </a:xfrm>
          <a:prstGeom prst="rect">
            <a:avLst/>
          </a:prstGeom>
          <a:noFill/>
        </p:spPr>
        <p:txBody>
          <a:bodyPr wrap="none" lIns="0" rIns="0" tIns="0" bIns="0">
            <a:spAutoFit/>
          </a:bodyPr>
          <a:lstStyle/>
          <a:p>
            <a:r>
              <a:rPr sz="1150" b="0">
                <a:solidFill>
                  <a:srgbClr val="2E2E2E"/>
                </a:solidFill>
                <a:latin typeface="Calibri"/>
              </a:rPr>
              <a:t>the market, gaining</a:t>
            </a:r>
          </a:p>
        </p:txBody>
      </p:sp>
      <p:pic>
        <p:nvPicPr>
          <p:cNvPr id="39" name="Picture 38" descr="lock.png"/>
          <p:cNvPicPr>
            <a:picLocks noChangeAspect="1"/>
          </p:cNvPicPr>
          <p:nvPr/>
        </p:nvPicPr>
        <p:blipFill>
          <a:blip r:embed="rId5"/>
          <a:stretch>
            <a:fillRect/>
          </a:stretch>
        </p:blipFill>
        <p:spPr>
          <a:xfrm>
            <a:off x="9010182" y="2090991"/>
            <a:ext cx="134549" cy="195707"/>
          </a:xfrm>
          <a:prstGeom prst="rect">
            <a:avLst/>
          </a:prstGeom>
        </p:spPr>
      </p:pic>
      <p:sp>
        <p:nvSpPr>
          <p:cNvPr id="40" name="TextBox 39"/>
          <p:cNvSpPr txBox="1"/>
          <p:nvPr/>
        </p:nvSpPr>
        <p:spPr>
          <a:xfrm>
            <a:off x="918529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1" name="Picture 40" descr="lock.png"/>
          <p:cNvPicPr>
            <a:picLocks noChangeAspect="1"/>
          </p:cNvPicPr>
          <p:nvPr/>
        </p:nvPicPr>
        <p:blipFill>
          <a:blip r:embed="rId5"/>
          <a:stretch>
            <a:fillRect/>
          </a:stretch>
        </p:blipFill>
        <p:spPr>
          <a:xfrm>
            <a:off x="10580434" y="2090991"/>
            <a:ext cx="134549" cy="195707"/>
          </a:xfrm>
          <a:prstGeom prst="rect">
            <a:avLst/>
          </a:prstGeom>
        </p:spPr>
      </p:pic>
      <p:sp>
        <p:nvSpPr>
          <p:cNvPr id="42" name="TextBox 41"/>
          <p:cNvSpPr txBox="1"/>
          <p:nvPr/>
        </p:nvSpPr>
        <p:spPr>
          <a:xfrm>
            <a:off x="10755543"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3" name="TextBox 42"/>
          <p:cNvSpPr txBox="1"/>
          <p:nvPr/>
        </p:nvSpPr>
        <p:spPr>
          <a:xfrm>
            <a:off x="7829550" y="2329053"/>
            <a:ext cx="3617912" cy="194310"/>
          </a:xfrm>
          <a:prstGeom prst="rect">
            <a:avLst/>
          </a:prstGeom>
          <a:noFill/>
        </p:spPr>
        <p:txBody>
          <a:bodyPr wrap="none" lIns="0" rIns="0" tIns="0" bIns="0">
            <a:spAutoFit/>
          </a:bodyPr>
          <a:lstStyle/>
          <a:p>
            <a:r>
              <a:rPr sz="1150" b="0">
                <a:solidFill>
                  <a:srgbClr val="2E2E2E"/>
                </a:solidFill>
                <a:latin typeface="Calibri"/>
              </a:rPr>
              <a:t>The hybrid ceramide sunscreen segment is expected to lose</a:t>
            </a:r>
          </a:p>
        </p:txBody>
      </p:sp>
      <p:pic>
        <p:nvPicPr>
          <p:cNvPr id="44" name="Picture 43" descr="lock.png"/>
          <p:cNvPicPr>
            <a:picLocks noChangeAspect="1"/>
          </p:cNvPicPr>
          <p:nvPr/>
        </p:nvPicPr>
        <p:blipFill>
          <a:blip r:embed="rId5"/>
          <a:stretch>
            <a:fillRect/>
          </a:stretch>
        </p:blipFill>
        <p:spPr>
          <a:xfrm>
            <a:off x="11396616" y="2318829"/>
            <a:ext cx="134549" cy="195707"/>
          </a:xfrm>
          <a:prstGeom prst="rect">
            <a:avLst/>
          </a:prstGeom>
        </p:spPr>
      </p:pic>
      <p:sp>
        <p:nvSpPr>
          <p:cNvPr id="45" name="TextBox 44"/>
          <p:cNvSpPr txBox="1"/>
          <p:nvPr/>
        </p:nvSpPr>
        <p:spPr>
          <a:xfrm>
            <a:off x="7829550"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6" name="Picture 45" descr="lock.png"/>
          <p:cNvPicPr>
            <a:picLocks noChangeAspect="1"/>
          </p:cNvPicPr>
          <p:nvPr/>
        </p:nvPicPr>
        <p:blipFill>
          <a:blip r:embed="rId5"/>
          <a:stretch>
            <a:fillRect/>
          </a:stretch>
        </p:blipFill>
        <p:spPr>
          <a:xfrm>
            <a:off x="10417054" y="2494089"/>
            <a:ext cx="134549" cy="195707"/>
          </a:xfrm>
          <a:prstGeom prst="rect">
            <a:avLst/>
          </a:prstGeom>
        </p:spPr>
      </p:pic>
      <p:sp>
        <p:nvSpPr>
          <p:cNvPr id="47" name="TextBox 46"/>
          <p:cNvSpPr txBox="1"/>
          <p:nvPr/>
        </p:nvSpPr>
        <p:spPr>
          <a:xfrm>
            <a:off x="1059216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Form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Form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Form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Form Type segment categorizes the market by form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Stick-based Sunscreen</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Forms</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Lotion-based Sunscreen</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Gel-based Sunscreen</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Cream-based Sunscreen</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Form Type split shows how demand is distributed across form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171_9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369_5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8_0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148_1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280_4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6_6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115_9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227_9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7_0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89_9_605E5C.png"/>
          <p:cNvPicPr>
            <a:picLocks noChangeAspect="1"/>
          </p:cNvPicPr>
          <p:nvPr/>
        </p:nvPicPr>
        <p:blipFill>
          <a:blip r:embed="rId13"/>
          <a:stretch>
            <a:fillRect/>
          </a:stretch>
        </p:blipFill>
        <p:spPr>
          <a:xfrm>
            <a:off x="8399417" y="2286582"/>
            <a:ext cx="982436" cy="361950"/>
          </a:xfrm>
          <a:prstGeom prst="rect">
            <a:avLst/>
          </a:prstGeom>
        </p:spPr>
      </p:pic>
      <p:pic>
        <p:nvPicPr>
          <p:cNvPr id="80" name="Picture 79" descr="142_3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4_7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51_7_605E5C.png"/>
          <p:cNvPicPr>
            <a:picLocks noChangeAspect="1"/>
          </p:cNvPicPr>
          <p:nvPr/>
        </p:nvPicPr>
        <p:blipFill>
          <a:blip r:embed="rId16"/>
          <a:stretch>
            <a:fillRect/>
          </a:stretch>
        </p:blipFill>
        <p:spPr>
          <a:xfrm>
            <a:off x="10422527" y="2286582"/>
            <a:ext cx="982436" cy="361950"/>
          </a:xfrm>
          <a:prstGeom prst="rect">
            <a:avLst/>
          </a:prstGeom>
        </p:spPr>
      </p:pic>
      <p:pic>
        <p:nvPicPr>
          <p:cNvPr id="83" name="Picture 82" descr="120_1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8_8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448917" cy="186689"/>
          </a:xfrm>
          <a:prstGeom prst="rect">
            <a:avLst/>
          </a:prstGeom>
          <a:noFill/>
        </p:spPr>
        <p:txBody>
          <a:bodyPr wrap="none" lIns="0" rIns="0" tIns="0" bIns="0">
            <a:spAutoFit/>
          </a:bodyPr>
          <a:lstStyle/>
          <a:p>
            <a:r>
              <a:rPr sz="1100" b="0">
                <a:solidFill>
                  <a:srgbClr val="2E2E2E"/>
                </a:solidFill>
                <a:latin typeface="Calibri"/>
              </a:rPr>
              <a:t>Among ceramide sunscreen by form type,</a:t>
            </a:r>
          </a:p>
        </p:txBody>
      </p:sp>
      <p:sp>
        <p:nvSpPr>
          <p:cNvPr id="91" name="TextBox 90"/>
          <p:cNvSpPr txBox="1"/>
          <p:nvPr/>
        </p:nvSpPr>
        <p:spPr>
          <a:xfrm>
            <a:off x="485775" y="4397077"/>
            <a:ext cx="2768699" cy="186689"/>
          </a:xfrm>
          <a:prstGeom prst="rect">
            <a:avLst/>
          </a:prstGeom>
          <a:noFill/>
        </p:spPr>
        <p:txBody>
          <a:bodyPr wrap="none" lIns="0" rIns="0" tIns="0" bIns="0">
            <a:spAutoFit/>
          </a:bodyPr>
          <a:lstStyle/>
          <a:p>
            <a:r>
              <a:rPr sz="1100" b="0">
                <a:solidFill>
                  <a:srgbClr val="2E2E2E"/>
                </a:solidFill>
                <a:latin typeface="Calibri"/>
              </a:rPr>
              <a:t>cream-based sunscreen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9"/>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833365" cy="186689"/>
          </a:xfrm>
          <a:prstGeom prst="rect">
            <a:avLst/>
          </a:prstGeom>
          <a:noFill/>
        </p:spPr>
        <p:txBody>
          <a:bodyPr wrap="none" lIns="0" rIns="0" tIns="0" bIns="0">
            <a:spAutoFit/>
          </a:bodyPr>
          <a:lstStyle/>
          <a:p>
            <a:r>
              <a:rPr sz="1100" b="0">
                <a:solidFill>
                  <a:srgbClr val="2E2E2E"/>
                </a:solidFill>
                <a:latin typeface="Calibri"/>
              </a:rPr>
              <a:t>period. In terms of value share by form type, the</a:t>
            </a:r>
          </a:p>
        </p:txBody>
      </p:sp>
      <p:sp>
        <p:nvSpPr>
          <p:cNvPr id="96" name="TextBox 95"/>
          <p:cNvSpPr txBox="1"/>
          <p:nvPr/>
        </p:nvSpPr>
        <p:spPr>
          <a:xfrm>
            <a:off x="485775" y="4899997"/>
            <a:ext cx="2669108" cy="186689"/>
          </a:xfrm>
          <a:prstGeom prst="rect">
            <a:avLst/>
          </a:prstGeom>
          <a:noFill/>
        </p:spPr>
        <p:txBody>
          <a:bodyPr wrap="none" lIns="0" rIns="0" tIns="0" bIns="0">
            <a:spAutoFit/>
          </a:bodyPr>
          <a:lstStyle/>
          <a:p>
            <a:r>
              <a:rPr sz="1100" b="0">
                <a:solidFill>
                  <a:srgbClr val="2E2E2E"/>
                </a:solidFill>
                <a:latin typeface="Calibri"/>
              </a:rPr>
              <a:t>stick-based sunscreen segment is expected to</a:t>
            </a:r>
          </a:p>
        </p:txBody>
      </p:sp>
      <p:sp>
        <p:nvSpPr>
          <p:cNvPr id="97" name="TextBox 96"/>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98" name="Picture 97" descr="lock.png"/>
          <p:cNvPicPr>
            <a:picLocks noChangeAspect="1"/>
          </p:cNvPicPr>
          <p:nvPr/>
        </p:nvPicPr>
        <p:blipFill>
          <a:blip r:embed="rId19"/>
          <a:stretch>
            <a:fillRect/>
          </a:stretch>
        </p:blipFill>
        <p:spPr>
          <a:xfrm>
            <a:off x="2194339" y="5057858"/>
            <a:ext cx="128699" cy="187198"/>
          </a:xfrm>
          <a:prstGeom prst="rect">
            <a:avLst/>
          </a:prstGeom>
        </p:spPr>
      </p:pic>
      <p:sp>
        <p:nvSpPr>
          <p:cNvPr id="99" name="TextBox 98"/>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0" name="TextBox 9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01" name="Picture 100" descr="lock.png"/>
          <p:cNvPicPr>
            <a:picLocks noChangeAspect="1"/>
          </p:cNvPicPr>
          <p:nvPr/>
        </p:nvPicPr>
        <p:blipFill>
          <a:blip r:embed="rId19"/>
          <a:stretch>
            <a:fillRect/>
          </a:stretch>
        </p:blipFill>
        <p:spPr>
          <a:xfrm>
            <a:off x="1330764" y="5225498"/>
            <a:ext cx="128699" cy="187198"/>
          </a:xfrm>
          <a:prstGeom prst="rect">
            <a:avLst/>
          </a:prstGeom>
        </p:spPr>
      </p:pic>
      <p:sp>
        <p:nvSpPr>
          <p:cNvPr id="102" name="TextBox 10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704579" cy="186689"/>
          </a:xfrm>
          <a:prstGeom prst="rect">
            <a:avLst/>
          </a:prstGeom>
          <a:noFill/>
        </p:spPr>
        <p:txBody>
          <a:bodyPr wrap="none" lIns="0" rIns="0" tIns="0" bIns="0">
            <a:spAutoFit/>
          </a:bodyPr>
          <a:lstStyle/>
          <a:p>
            <a:r>
              <a:rPr sz="1100" b="0">
                <a:solidFill>
                  <a:srgbClr val="2E2E2E"/>
                </a:solidFill>
                <a:latin typeface="Calibri"/>
              </a:rPr>
              <a:t>Stick-based sunscreen segment is projected to</a:t>
            </a:r>
          </a:p>
        </p:txBody>
      </p:sp>
      <p:sp>
        <p:nvSpPr>
          <p:cNvPr id="104" name="TextBox 103"/>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05" name="Picture 104" descr="lock.png"/>
          <p:cNvPicPr>
            <a:picLocks noChangeAspect="1"/>
          </p:cNvPicPr>
          <p:nvPr/>
        </p:nvPicPr>
        <p:blipFill>
          <a:blip r:embed="rId19"/>
          <a:stretch>
            <a:fillRect/>
          </a:stretch>
        </p:blipFill>
        <p:spPr>
          <a:xfrm>
            <a:off x="946316" y="5611070"/>
            <a:ext cx="128699" cy="187198"/>
          </a:xfrm>
          <a:prstGeom prst="rect">
            <a:avLst/>
          </a:prstGeom>
        </p:spPr>
      </p:pic>
      <p:sp>
        <p:nvSpPr>
          <p:cNvPr id="106" name="TextBox 105"/>
          <p:cNvSpPr txBox="1"/>
          <p:nvPr/>
        </p:nvSpPr>
        <p:spPr>
          <a:xfrm>
            <a:off x="1113812" y="5620849"/>
            <a:ext cx="1879475" cy="186689"/>
          </a:xfrm>
          <a:prstGeom prst="rect">
            <a:avLst/>
          </a:prstGeom>
          <a:noFill/>
        </p:spPr>
        <p:txBody>
          <a:bodyPr wrap="none" lIns="0" rIns="0" tIns="0" bIns="0">
            <a:spAutoFit/>
          </a:bodyPr>
          <a:lstStyle/>
          <a:p>
            <a:r>
              <a:rPr sz="1100" b="0">
                <a:solidFill>
                  <a:srgbClr val="2E2E2E"/>
                </a:solidFill>
                <a:latin typeface="Calibri"/>
              </a:rPr>
              <a:t>X higher value than other forms</a:t>
            </a:r>
          </a:p>
        </p:txBody>
      </p:sp>
      <p:sp>
        <p:nvSpPr>
          <p:cNvPr id="107" name="TextBox 106"/>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8" name="TextBox 107"/>
          <p:cNvSpPr txBox="1"/>
          <p:nvPr/>
        </p:nvSpPr>
        <p:spPr>
          <a:xfrm>
            <a:off x="3838575" y="4229437"/>
            <a:ext cx="1493936" cy="186689"/>
          </a:xfrm>
          <a:prstGeom prst="rect">
            <a:avLst/>
          </a:prstGeom>
          <a:noFill/>
        </p:spPr>
        <p:txBody>
          <a:bodyPr wrap="none" lIns="0" rIns="0" tIns="0" bIns="0">
            <a:spAutoFit/>
          </a:bodyPr>
          <a:lstStyle/>
          <a:p>
            <a:r>
              <a:rPr sz="1100" b="0">
                <a:solidFill>
                  <a:srgbClr val="2E2E2E"/>
                </a:solidFill>
                <a:latin typeface="Calibri"/>
              </a:rPr>
              <a:t>● Stick-based Sunscreen:</a:t>
            </a:r>
          </a:p>
        </p:txBody>
      </p:sp>
      <p:pic>
        <p:nvPicPr>
          <p:cNvPr id="109" name="Picture 108" descr="lock.png"/>
          <p:cNvPicPr>
            <a:picLocks noChangeAspect="1"/>
          </p:cNvPicPr>
          <p:nvPr/>
        </p:nvPicPr>
        <p:blipFill>
          <a:blip r:embed="rId19"/>
          <a:stretch>
            <a:fillRect/>
          </a:stretch>
        </p:blipFill>
        <p:spPr>
          <a:xfrm>
            <a:off x="5280563" y="4219658"/>
            <a:ext cx="128699" cy="187198"/>
          </a:xfrm>
          <a:prstGeom prst="rect">
            <a:avLst/>
          </a:prstGeom>
        </p:spPr>
      </p:pic>
      <p:sp>
        <p:nvSpPr>
          <p:cNvPr id="110" name="TextBox 109"/>
          <p:cNvSpPr txBox="1"/>
          <p:nvPr/>
        </p:nvSpPr>
        <p:spPr>
          <a:xfrm>
            <a:off x="544805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9"/>
          <a:stretch>
            <a:fillRect/>
          </a:stretch>
        </p:blipFill>
        <p:spPr>
          <a:xfrm>
            <a:off x="6307509" y="4219658"/>
            <a:ext cx="128699" cy="187198"/>
          </a:xfrm>
          <a:prstGeom prst="rect">
            <a:avLst/>
          </a:prstGeom>
        </p:spPr>
      </p:pic>
      <p:sp>
        <p:nvSpPr>
          <p:cNvPr id="112" name="TextBox 111"/>
          <p:cNvSpPr txBox="1"/>
          <p:nvPr/>
        </p:nvSpPr>
        <p:spPr>
          <a:xfrm>
            <a:off x="6475005"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13" name="TextBox 112"/>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14" name="TextBox 113"/>
          <p:cNvSpPr txBox="1"/>
          <p:nvPr/>
        </p:nvSpPr>
        <p:spPr>
          <a:xfrm>
            <a:off x="3838575" y="4615009"/>
            <a:ext cx="945202" cy="186689"/>
          </a:xfrm>
          <a:prstGeom prst="rect">
            <a:avLst/>
          </a:prstGeom>
          <a:noFill/>
        </p:spPr>
        <p:txBody>
          <a:bodyPr wrap="none" lIns="0" rIns="0" tIns="0" bIns="0">
            <a:spAutoFit/>
          </a:bodyPr>
          <a:lstStyle/>
          <a:p>
            <a:r>
              <a:rPr sz="1100" b="0">
                <a:solidFill>
                  <a:srgbClr val="2E2E2E"/>
                </a:solidFill>
                <a:latin typeface="Calibri"/>
              </a:rPr>
              <a:t>● Other Forms:</a:t>
            </a:r>
          </a:p>
        </p:txBody>
      </p:sp>
      <p:pic>
        <p:nvPicPr>
          <p:cNvPr id="115" name="Picture 114" descr="lock.png"/>
          <p:cNvPicPr>
            <a:picLocks noChangeAspect="1"/>
          </p:cNvPicPr>
          <p:nvPr/>
        </p:nvPicPr>
        <p:blipFill>
          <a:blip r:embed="rId19"/>
          <a:stretch>
            <a:fillRect/>
          </a:stretch>
        </p:blipFill>
        <p:spPr>
          <a:xfrm>
            <a:off x="4731828" y="4605230"/>
            <a:ext cx="128699" cy="187198"/>
          </a:xfrm>
          <a:prstGeom prst="rect">
            <a:avLst/>
          </a:prstGeom>
        </p:spPr>
      </p:pic>
      <p:sp>
        <p:nvSpPr>
          <p:cNvPr id="116" name="TextBox 115"/>
          <p:cNvSpPr txBox="1"/>
          <p:nvPr/>
        </p:nvSpPr>
        <p:spPr>
          <a:xfrm>
            <a:off x="4899324"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7" name="Picture 116" descr="lock.png"/>
          <p:cNvPicPr>
            <a:picLocks noChangeAspect="1"/>
          </p:cNvPicPr>
          <p:nvPr/>
        </p:nvPicPr>
        <p:blipFill>
          <a:blip r:embed="rId19"/>
          <a:stretch>
            <a:fillRect/>
          </a:stretch>
        </p:blipFill>
        <p:spPr>
          <a:xfrm>
            <a:off x="5758775" y="4605230"/>
            <a:ext cx="128699" cy="187198"/>
          </a:xfrm>
          <a:prstGeom prst="rect">
            <a:avLst/>
          </a:prstGeom>
        </p:spPr>
      </p:pic>
      <p:sp>
        <p:nvSpPr>
          <p:cNvPr id="118" name="TextBox 117"/>
          <p:cNvSpPr txBox="1"/>
          <p:nvPr/>
        </p:nvSpPr>
        <p:spPr>
          <a:xfrm>
            <a:off x="5926270"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9" name="TextBox 118"/>
          <p:cNvSpPr txBox="1"/>
          <p:nvPr/>
        </p:nvSpPr>
        <p:spPr>
          <a:xfrm>
            <a:off x="3838575" y="4832941"/>
            <a:ext cx="1586433" cy="186689"/>
          </a:xfrm>
          <a:prstGeom prst="rect">
            <a:avLst/>
          </a:prstGeom>
          <a:noFill/>
        </p:spPr>
        <p:txBody>
          <a:bodyPr wrap="none" lIns="0" rIns="0" tIns="0" bIns="0">
            <a:spAutoFit/>
          </a:bodyPr>
          <a:lstStyle/>
          <a:p>
            <a:r>
              <a:rPr sz="1100" b="0">
                <a:solidFill>
                  <a:srgbClr val="2E2E2E"/>
                </a:solidFill>
                <a:latin typeface="Calibri"/>
              </a:rPr>
              <a:t>● Lotion-based Sunscreen:</a:t>
            </a:r>
          </a:p>
        </p:txBody>
      </p:sp>
      <p:pic>
        <p:nvPicPr>
          <p:cNvPr id="120" name="Picture 119" descr="lock.png"/>
          <p:cNvPicPr>
            <a:picLocks noChangeAspect="1"/>
          </p:cNvPicPr>
          <p:nvPr/>
        </p:nvPicPr>
        <p:blipFill>
          <a:blip r:embed="rId19"/>
          <a:stretch>
            <a:fillRect/>
          </a:stretch>
        </p:blipFill>
        <p:spPr>
          <a:xfrm>
            <a:off x="5373059" y="4823162"/>
            <a:ext cx="128699" cy="187198"/>
          </a:xfrm>
          <a:prstGeom prst="rect">
            <a:avLst/>
          </a:prstGeom>
        </p:spPr>
      </p:pic>
      <p:sp>
        <p:nvSpPr>
          <p:cNvPr id="121" name="TextBox 120"/>
          <p:cNvSpPr txBox="1"/>
          <p:nvPr/>
        </p:nvSpPr>
        <p:spPr>
          <a:xfrm>
            <a:off x="5540555"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19"/>
          <a:stretch>
            <a:fillRect/>
          </a:stretch>
        </p:blipFill>
        <p:spPr>
          <a:xfrm>
            <a:off x="6400006" y="4823162"/>
            <a:ext cx="128699" cy="187198"/>
          </a:xfrm>
          <a:prstGeom prst="rect">
            <a:avLst/>
          </a:prstGeom>
        </p:spPr>
      </p:pic>
      <p:sp>
        <p:nvSpPr>
          <p:cNvPr id="123" name="TextBox 122"/>
          <p:cNvSpPr txBox="1"/>
          <p:nvPr/>
        </p:nvSpPr>
        <p:spPr>
          <a:xfrm>
            <a:off x="6567501"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4" name="TextBox 123"/>
          <p:cNvSpPr txBox="1"/>
          <p:nvPr/>
        </p:nvSpPr>
        <p:spPr>
          <a:xfrm>
            <a:off x="3838575" y="5050872"/>
            <a:ext cx="1417811" cy="186689"/>
          </a:xfrm>
          <a:prstGeom prst="rect">
            <a:avLst/>
          </a:prstGeom>
          <a:noFill/>
        </p:spPr>
        <p:txBody>
          <a:bodyPr wrap="none" lIns="0" rIns="0" tIns="0" bIns="0">
            <a:spAutoFit/>
          </a:bodyPr>
          <a:lstStyle/>
          <a:p>
            <a:r>
              <a:rPr sz="1100" b="0">
                <a:solidFill>
                  <a:srgbClr val="2E2E2E"/>
                </a:solidFill>
                <a:latin typeface="Calibri"/>
              </a:rPr>
              <a:t>● Gel-based Sunscreen:</a:t>
            </a:r>
          </a:p>
        </p:txBody>
      </p:sp>
      <p:pic>
        <p:nvPicPr>
          <p:cNvPr id="125" name="Picture 124" descr="lock.png"/>
          <p:cNvPicPr>
            <a:picLocks noChangeAspect="1"/>
          </p:cNvPicPr>
          <p:nvPr/>
        </p:nvPicPr>
        <p:blipFill>
          <a:blip r:embed="rId19"/>
          <a:stretch>
            <a:fillRect/>
          </a:stretch>
        </p:blipFill>
        <p:spPr>
          <a:xfrm>
            <a:off x="5204437" y="5041093"/>
            <a:ext cx="128699" cy="187198"/>
          </a:xfrm>
          <a:prstGeom prst="rect">
            <a:avLst/>
          </a:prstGeom>
        </p:spPr>
      </p:pic>
      <p:sp>
        <p:nvSpPr>
          <p:cNvPr id="126" name="TextBox 125"/>
          <p:cNvSpPr txBox="1"/>
          <p:nvPr/>
        </p:nvSpPr>
        <p:spPr>
          <a:xfrm>
            <a:off x="5371933"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19"/>
          <a:stretch>
            <a:fillRect/>
          </a:stretch>
        </p:blipFill>
        <p:spPr>
          <a:xfrm>
            <a:off x="6231383" y="5041093"/>
            <a:ext cx="128699" cy="187198"/>
          </a:xfrm>
          <a:prstGeom prst="rect">
            <a:avLst/>
          </a:prstGeom>
        </p:spPr>
      </p:pic>
      <p:sp>
        <p:nvSpPr>
          <p:cNvPr id="128" name="TextBox 127"/>
          <p:cNvSpPr txBox="1"/>
          <p:nvPr/>
        </p:nvSpPr>
        <p:spPr>
          <a:xfrm>
            <a:off x="6398879"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9" name="TextBox 128"/>
          <p:cNvSpPr txBox="1"/>
          <p:nvPr/>
        </p:nvSpPr>
        <p:spPr>
          <a:xfrm>
            <a:off x="3838575" y="5268804"/>
            <a:ext cx="1599257" cy="186689"/>
          </a:xfrm>
          <a:prstGeom prst="rect">
            <a:avLst/>
          </a:prstGeom>
          <a:noFill/>
        </p:spPr>
        <p:txBody>
          <a:bodyPr wrap="none" lIns="0" rIns="0" tIns="0" bIns="0">
            <a:spAutoFit/>
          </a:bodyPr>
          <a:lstStyle/>
          <a:p>
            <a:r>
              <a:rPr sz="1100" b="0">
                <a:solidFill>
                  <a:srgbClr val="2E2E2E"/>
                </a:solidFill>
                <a:latin typeface="Calibri"/>
              </a:rPr>
              <a:t>● Cream-based Sunscreen:</a:t>
            </a:r>
          </a:p>
        </p:txBody>
      </p:sp>
      <p:pic>
        <p:nvPicPr>
          <p:cNvPr id="130" name="Picture 129" descr="lock.png"/>
          <p:cNvPicPr>
            <a:picLocks noChangeAspect="1"/>
          </p:cNvPicPr>
          <p:nvPr/>
        </p:nvPicPr>
        <p:blipFill>
          <a:blip r:embed="rId19"/>
          <a:stretch>
            <a:fillRect/>
          </a:stretch>
        </p:blipFill>
        <p:spPr>
          <a:xfrm>
            <a:off x="5385884" y="5259025"/>
            <a:ext cx="128699" cy="187198"/>
          </a:xfrm>
          <a:prstGeom prst="rect">
            <a:avLst/>
          </a:prstGeom>
        </p:spPr>
      </p:pic>
      <p:sp>
        <p:nvSpPr>
          <p:cNvPr id="131" name="TextBox 130"/>
          <p:cNvSpPr txBox="1"/>
          <p:nvPr/>
        </p:nvSpPr>
        <p:spPr>
          <a:xfrm>
            <a:off x="5553379" y="5268804"/>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19"/>
          <a:stretch>
            <a:fillRect/>
          </a:stretch>
        </p:blipFill>
        <p:spPr>
          <a:xfrm>
            <a:off x="6412830" y="5259025"/>
            <a:ext cx="128699" cy="187198"/>
          </a:xfrm>
          <a:prstGeom prst="rect">
            <a:avLst/>
          </a:prstGeom>
        </p:spPr>
      </p:pic>
      <p:sp>
        <p:nvSpPr>
          <p:cNvPr id="133" name="TextBox 132"/>
          <p:cNvSpPr txBox="1"/>
          <p:nvPr/>
        </p:nvSpPr>
        <p:spPr>
          <a:xfrm>
            <a:off x="6580325" y="5268804"/>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4" name="TextBox 133"/>
          <p:cNvSpPr txBox="1"/>
          <p:nvPr/>
        </p:nvSpPr>
        <p:spPr>
          <a:xfrm>
            <a:off x="8524875" y="5842641"/>
            <a:ext cx="3042243" cy="194310"/>
          </a:xfrm>
          <a:prstGeom prst="rect">
            <a:avLst/>
          </a:prstGeom>
          <a:noFill/>
        </p:spPr>
        <p:txBody>
          <a:bodyPr wrap="none" lIns="0" rIns="0" tIns="0" bIns="0">
            <a:spAutoFit/>
          </a:bodyPr>
          <a:lstStyle/>
          <a:p>
            <a:r>
              <a:rPr sz="1150" b="1">
                <a:solidFill>
                  <a:srgbClr val="0B2E4A"/>
                </a:solidFill>
                <a:latin typeface="Calibri"/>
              </a:rPr>
              <a:t>The Form Type segment is projected to grow at a</a:t>
            </a:r>
          </a:p>
        </p:txBody>
      </p:sp>
      <p:sp>
        <p:nvSpPr>
          <p:cNvPr id="135" name="TextBox 13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6" name="Picture 135" descr="lock.png"/>
          <p:cNvPicPr>
            <a:picLocks noChangeAspect="1"/>
          </p:cNvPicPr>
          <p:nvPr/>
        </p:nvPicPr>
        <p:blipFill>
          <a:blip r:embed="rId19"/>
          <a:stretch>
            <a:fillRect/>
          </a:stretch>
        </p:blipFill>
        <p:spPr>
          <a:xfrm>
            <a:off x="9048826" y="6007677"/>
            <a:ext cx="134549" cy="195707"/>
          </a:xfrm>
          <a:prstGeom prst="rect">
            <a:avLst/>
          </a:prstGeom>
        </p:spPr>
      </p:pic>
      <p:sp>
        <p:nvSpPr>
          <p:cNvPr id="137" name="TextBox 13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Form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Form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Form Type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34192" cy="186689"/>
          </a:xfrm>
          <a:prstGeom prst="rect">
            <a:avLst/>
          </a:prstGeom>
          <a:noFill/>
        </p:spPr>
        <p:txBody>
          <a:bodyPr wrap="none" lIns="0" rIns="0" tIns="0" bIns="0">
            <a:spAutoFit/>
          </a:bodyPr>
          <a:lstStyle/>
          <a:p>
            <a:r>
              <a:rPr sz="1100" b="0">
                <a:solidFill>
                  <a:srgbClr val="2E2E2E"/>
                </a:solidFill>
                <a:latin typeface="Calibri"/>
              </a:rPr>
              <a:t>Stick-based sunscreen followed by other forms are expected to be the two most attractive form type segments in the North America ceramide sunscreen market in terms of value over the forecast period.</a:t>
            </a:r>
          </a:p>
        </p:txBody>
      </p:sp>
      <p:sp>
        <p:nvSpPr>
          <p:cNvPr id="20" name="TextBox 19"/>
          <p:cNvSpPr txBox="1"/>
          <p:nvPr/>
        </p:nvSpPr>
        <p:spPr>
          <a:xfrm>
            <a:off x="257175" y="5861685"/>
            <a:ext cx="3641261" cy="186689"/>
          </a:xfrm>
          <a:prstGeom prst="rect">
            <a:avLst/>
          </a:prstGeom>
          <a:noFill/>
        </p:spPr>
        <p:txBody>
          <a:bodyPr wrap="none" lIns="0" rIns="0" tIns="0" bIns="0">
            <a:spAutoFit/>
          </a:bodyPr>
          <a:lstStyle/>
          <a:p>
            <a:r>
              <a:rPr sz="1100" b="0">
                <a:solidFill>
                  <a:srgbClr val="2E2E2E"/>
                </a:solidFill>
                <a:latin typeface="Calibri"/>
              </a:rPr>
              <a:t>Stick-based sunscreen and other forms exhibit a CAGR index of</a:t>
            </a:r>
          </a:p>
        </p:txBody>
      </p:sp>
      <p:pic>
        <p:nvPicPr>
          <p:cNvPr id="21" name="Picture 20" descr="lock.png"/>
          <p:cNvPicPr>
            <a:picLocks noChangeAspect="1"/>
          </p:cNvPicPr>
          <p:nvPr/>
        </p:nvPicPr>
        <p:blipFill>
          <a:blip r:embed="rId6"/>
          <a:stretch>
            <a:fillRect/>
          </a:stretch>
        </p:blipFill>
        <p:spPr>
          <a:xfrm>
            <a:off x="3846488" y="5851905"/>
            <a:ext cx="128699" cy="187198"/>
          </a:xfrm>
          <a:prstGeom prst="rect">
            <a:avLst/>
          </a:prstGeom>
        </p:spPr>
      </p:pic>
      <p:sp>
        <p:nvSpPr>
          <p:cNvPr id="22" name="TextBox 21"/>
          <p:cNvSpPr txBox="1"/>
          <p:nvPr/>
        </p:nvSpPr>
        <p:spPr>
          <a:xfrm>
            <a:off x="401398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251878" y="5851905"/>
            <a:ext cx="128699" cy="187198"/>
          </a:xfrm>
          <a:prstGeom prst="rect">
            <a:avLst/>
          </a:prstGeom>
        </p:spPr>
      </p:pic>
      <p:sp>
        <p:nvSpPr>
          <p:cNvPr id="24" name="TextBox 23"/>
          <p:cNvSpPr txBox="1"/>
          <p:nvPr/>
        </p:nvSpPr>
        <p:spPr>
          <a:xfrm>
            <a:off x="441937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028347" y="5851905"/>
            <a:ext cx="128699" cy="187198"/>
          </a:xfrm>
          <a:prstGeom prst="rect">
            <a:avLst/>
          </a:prstGeom>
        </p:spPr>
      </p:pic>
      <p:sp>
        <p:nvSpPr>
          <p:cNvPr id="26" name="TextBox 25"/>
          <p:cNvSpPr txBox="1"/>
          <p:nvPr/>
        </p:nvSpPr>
        <p:spPr>
          <a:xfrm>
            <a:off x="619584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433737" y="5851905"/>
            <a:ext cx="128699" cy="187198"/>
          </a:xfrm>
          <a:prstGeom prst="rect">
            <a:avLst/>
          </a:prstGeom>
        </p:spPr>
      </p:pic>
      <p:sp>
        <p:nvSpPr>
          <p:cNvPr id="28" name="TextBox 27"/>
          <p:cNvSpPr txBox="1"/>
          <p:nvPr/>
        </p:nvSpPr>
        <p:spPr>
          <a:xfrm>
            <a:off x="6601233"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155637" y="5851905"/>
            <a:ext cx="128699" cy="187198"/>
          </a:xfrm>
          <a:prstGeom prst="rect">
            <a:avLst/>
          </a:prstGeom>
        </p:spPr>
      </p:pic>
      <p:sp>
        <p:nvSpPr>
          <p:cNvPr id="30" name="TextBox 29"/>
          <p:cNvSpPr txBox="1"/>
          <p:nvPr/>
        </p:nvSpPr>
        <p:spPr>
          <a:xfrm>
            <a:off x="9323133" y="5861685"/>
            <a:ext cx="2065287" cy="186689"/>
          </a:xfrm>
          <a:prstGeom prst="rect">
            <a:avLst/>
          </a:prstGeom>
          <a:noFill/>
        </p:spPr>
        <p:txBody>
          <a:bodyPr wrap="none" lIns="0" rIns="0" tIns="0" bIns="0">
            <a:spAutoFit/>
          </a:bodyPr>
          <a:lstStyle/>
          <a:p>
            <a:r>
              <a:rPr sz="1100" b="0">
                <a:solidFill>
                  <a:srgbClr val="2E2E2E"/>
                </a:solidFill>
                <a:latin typeface="Calibri"/>
              </a:rPr>
              <a:t>. The gel-based sunscreen segment</a:t>
            </a:r>
          </a:p>
        </p:txBody>
      </p:sp>
      <p:sp>
        <p:nvSpPr>
          <p:cNvPr id="31" name="TextBox 30"/>
          <p:cNvSpPr txBox="1"/>
          <p:nvPr/>
        </p:nvSpPr>
        <p:spPr>
          <a:xfrm>
            <a:off x="257175" y="6029325"/>
            <a:ext cx="11539751" cy="186689"/>
          </a:xfrm>
          <a:prstGeom prst="rect">
            <a:avLst/>
          </a:prstGeom>
          <a:noFill/>
        </p:spPr>
        <p:txBody>
          <a:bodyPr wrap="none" lIns="0" rIns="0" tIns="0" bIns="0">
            <a:spAutoFit/>
          </a:bodyPr>
          <a:lstStyle/>
          <a:p>
            <a:r>
              <a:rPr sz="1100" b="0">
                <a:solidFill>
                  <a:srgbClr val="2E2E2E"/>
                </a:solidFill>
                <a:latin typeface="Calibri"/>
              </a:rPr>
              <a:t>is 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Form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Cream-based Sunscreen</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Lotion-based Sunscreen</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Gel-based Sunscreen</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Stick-based Sunscreen</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Form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Forms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Form Type</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4059" y="3583939"/>
            <a:ext cx="402511" cy="585471"/>
          </a:xfrm>
          <a:prstGeom prst="rect">
            <a:avLst/>
          </a:prstGeom>
        </p:spPr>
      </p:pic>
      <p:sp>
        <p:nvSpPr>
          <p:cNvPr id="19" name="TextBox 18"/>
          <p:cNvSpPr txBox="1"/>
          <p:nvPr/>
        </p:nvSpPr>
        <p:spPr>
          <a:xfrm>
            <a:off x="6305550" y="1598245"/>
            <a:ext cx="4803120" cy="194310"/>
          </a:xfrm>
          <a:prstGeom prst="rect">
            <a:avLst/>
          </a:prstGeom>
          <a:noFill/>
        </p:spPr>
        <p:txBody>
          <a:bodyPr wrap="none" lIns="0" rIns="0" tIns="0" bIns="0">
            <a:spAutoFit/>
          </a:bodyPr>
          <a:lstStyle/>
          <a:p>
            <a:r>
              <a:rPr sz="1150" b="0">
                <a:solidFill>
                  <a:srgbClr val="2E2E2E"/>
                </a:solidFill>
                <a:latin typeface="Calibri"/>
              </a:rPr>
              <a:t>By 2036, stick-based sunscreen segment is anticipated to witness an increase of</a:t>
            </a:r>
          </a:p>
        </p:txBody>
      </p:sp>
      <p:pic>
        <p:nvPicPr>
          <p:cNvPr id="20" name="Picture 19" descr="lock.png"/>
          <p:cNvPicPr>
            <a:picLocks noChangeAspect="1"/>
          </p:cNvPicPr>
          <p:nvPr/>
        </p:nvPicPr>
        <p:blipFill>
          <a:blip r:embed="rId5"/>
          <a:stretch>
            <a:fillRect/>
          </a:stretch>
        </p:blipFill>
        <p:spPr>
          <a:xfrm>
            <a:off x="11057824" y="1588021"/>
            <a:ext cx="134549" cy="195707"/>
          </a:xfrm>
          <a:prstGeom prst="rect">
            <a:avLst/>
          </a:prstGeom>
        </p:spPr>
      </p:pic>
      <p:sp>
        <p:nvSpPr>
          <p:cNvPr id="21" name="TextBox 20"/>
          <p:cNvSpPr txBox="1"/>
          <p:nvPr/>
        </p:nvSpPr>
        <p:spPr>
          <a:xfrm>
            <a:off x="11232933" y="159824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2" name="TextBox 21"/>
          <p:cNvSpPr txBox="1"/>
          <p:nvPr/>
        </p:nvSpPr>
        <p:spPr>
          <a:xfrm>
            <a:off x="6305550" y="1773505"/>
            <a:ext cx="5591175" cy="194310"/>
          </a:xfrm>
          <a:prstGeom prst="rect">
            <a:avLst/>
          </a:prstGeom>
          <a:noFill/>
        </p:spPr>
        <p:txBody>
          <a:bodyPr wrap="none" lIns="0" rIns="0" tIns="0" bIns="0">
            <a:spAutoFit/>
          </a:bodyPr>
          <a:lstStyle/>
          <a:p>
            <a:r>
              <a:rPr sz="1150" b="0">
                <a:solidFill>
                  <a:srgbClr val="2E2E2E"/>
                </a:solidFill>
                <a:latin typeface="Calibri"/>
              </a:rPr>
              <a:t>terms of value as compared to 2026. The stick-based sunscreen segment is expected to create</a:t>
            </a:r>
          </a:p>
        </p:txBody>
      </p:sp>
      <p:sp>
        <p:nvSpPr>
          <p:cNvPr id="23" name="TextBox 22"/>
          <p:cNvSpPr txBox="1"/>
          <p:nvPr/>
        </p:nvSpPr>
        <p:spPr>
          <a:xfrm>
            <a:off x="6305550" y="1948765"/>
            <a:ext cx="2136588" cy="194310"/>
          </a:xfrm>
          <a:prstGeom prst="rect">
            <a:avLst/>
          </a:prstGeom>
          <a:noFill/>
        </p:spPr>
        <p:txBody>
          <a:bodyPr wrap="none" lIns="0" rIns="0" tIns="0" bIns="0">
            <a:spAutoFit/>
          </a:bodyPr>
          <a:lstStyle/>
          <a:p>
            <a:r>
              <a:rPr sz="1150" b="0">
                <a:solidFill>
                  <a:srgbClr val="2E2E2E"/>
                </a:solidFill>
                <a:latin typeface="Calibri"/>
              </a:rPr>
              <a:t>an incremental opportunity of US$</a:t>
            </a:r>
          </a:p>
        </p:txBody>
      </p:sp>
      <p:pic>
        <p:nvPicPr>
          <p:cNvPr id="24" name="Picture 23" descr="lock.png"/>
          <p:cNvPicPr>
            <a:picLocks noChangeAspect="1"/>
          </p:cNvPicPr>
          <p:nvPr/>
        </p:nvPicPr>
        <p:blipFill>
          <a:blip r:embed="rId5"/>
          <a:stretch>
            <a:fillRect/>
          </a:stretch>
        </p:blipFill>
        <p:spPr>
          <a:xfrm>
            <a:off x="8391292" y="1938541"/>
            <a:ext cx="134549" cy="195707"/>
          </a:xfrm>
          <a:prstGeom prst="rect">
            <a:avLst/>
          </a:prstGeom>
        </p:spPr>
      </p:pic>
      <p:sp>
        <p:nvSpPr>
          <p:cNvPr id="25" name="TextBox 24"/>
          <p:cNvSpPr txBox="1"/>
          <p:nvPr/>
        </p:nvSpPr>
        <p:spPr>
          <a:xfrm>
            <a:off x="8566402" y="1948765"/>
            <a:ext cx="3157797"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a:t>
            </a:r>
          </a:p>
        </p:txBody>
      </p:sp>
      <p:sp>
        <p:nvSpPr>
          <p:cNvPr id="26" name="TextBox 25"/>
          <p:cNvSpPr txBox="1"/>
          <p:nvPr/>
        </p:nvSpPr>
        <p:spPr>
          <a:xfrm>
            <a:off x="6305550" y="212402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27" name="TextBox 26"/>
          <p:cNvSpPr txBox="1"/>
          <p:nvPr/>
        </p:nvSpPr>
        <p:spPr>
          <a:xfrm>
            <a:off x="6305550" y="2351863"/>
            <a:ext cx="4948907" cy="194310"/>
          </a:xfrm>
          <a:prstGeom prst="rect">
            <a:avLst/>
          </a:prstGeom>
          <a:noFill/>
        </p:spPr>
        <p:txBody>
          <a:bodyPr wrap="none" lIns="0" rIns="0" tIns="0" bIns="0">
            <a:spAutoFit/>
          </a:bodyPr>
          <a:lstStyle/>
          <a:p>
            <a:r>
              <a:rPr sz="1150" b="0">
                <a:solidFill>
                  <a:srgbClr val="2E2E2E"/>
                </a:solidFill>
                <a:latin typeface="Calibri"/>
              </a:rPr>
              <a:t>The other forms segment is expected to create an incremental opportunity of US$</a:t>
            </a:r>
          </a:p>
        </p:txBody>
      </p:sp>
      <p:pic>
        <p:nvPicPr>
          <p:cNvPr id="28" name="Picture 27" descr="lock.png"/>
          <p:cNvPicPr>
            <a:picLocks noChangeAspect="1"/>
          </p:cNvPicPr>
          <p:nvPr/>
        </p:nvPicPr>
        <p:blipFill>
          <a:blip r:embed="rId5"/>
          <a:stretch>
            <a:fillRect/>
          </a:stretch>
        </p:blipFill>
        <p:spPr>
          <a:xfrm>
            <a:off x="11203611" y="2341639"/>
            <a:ext cx="134549" cy="195707"/>
          </a:xfrm>
          <a:prstGeom prst="rect">
            <a:avLst/>
          </a:prstGeom>
        </p:spPr>
      </p:pic>
      <p:sp>
        <p:nvSpPr>
          <p:cNvPr id="29" name="TextBox 28"/>
          <p:cNvSpPr txBox="1"/>
          <p:nvPr/>
        </p:nvSpPr>
        <p:spPr>
          <a:xfrm>
            <a:off x="11378720" y="235186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0" name="TextBox 29"/>
          <p:cNvSpPr txBox="1"/>
          <p:nvPr/>
        </p:nvSpPr>
        <p:spPr>
          <a:xfrm>
            <a:off x="6305550" y="2527123"/>
            <a:ext cx="5240721" cy="194310"/>
          </a:xfrm>
          <a:prstGeom prst="rect">
            <a:avLst/>
          </a:prstGeom>
          <a:noFill/>
        </p:spPr>
        <p:txBody>
          <a:bodyPr wrap="none" lIns="0" rIns="0" tIns="0" bIns="0">
            <a:spAutoFit/>
          </a:bodyPr>
          <a:lstStyle/>
          <a:p>
            <a:r>
              <a:rPr sz="1150" b="0">
                <a:solidFill>
                  <a:srgbClr val="2E2E2E"/>
                </a:solidFill>
                <a:latin typeface="Calibri"/>
              </a:rPr>
              <a:t>the overall ceramide sunscreen market from 2026 to 2036. The lotion-based sunscreen</a:t>
            </a:r>
          </a:p>
        </p:txBody>
      </p:sp>
      <p:sp>
        <p:nvSpPr>
          <p:cNvPr id="31" name="TextBox 30"/>
          <p:cNvSpPr txBox="1"/>
          <p:nvPr/>
        </p:nvSpPr>
        <p:spPr>
          <a:xfrm>
            <a:off x="6305550" y="2702383"/>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2" name="Picture 31" descr="lock.png"/>
          <p:cNvPicPr>
            <a:picLocks noChangeAspect="1"/>
          </p:cNvPicPr>
          <p:nvPr/>
        </p:nvPicPr>
        <p:blipFill>
          <a:blip r:embed="rId5"/>
          <a:stretch>
            <a:fillRect/>
          </a:stretch>
        </p:blipFill>
        <p:spPr>
          <a:xfrm>
            <a:off x="10210642" y="2692159"/>
            <a:ext cx="134549" cy="195707"/>
          </a:xfrm>
          <a:prstGeom prst="rect">
            <a:avLst/>
          </a:prstGeom>
        </p:spPr>
      </p:pic>
      <p:sp>
        <p:nvSpPr>
          <p:cNvPr id="33" name="TextBox 32"/>
          <p:cNvSpPr txBox="1"/>
          <p:nvPr/>
        </p:nvSpPr>
        <p:spPr>
          <a:xfrm>
            <a:off x="10385751" y="2702383"/>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4" name="TextBox 33"/>
          <p:cNvSpPr txBox="1"/>
          <p:nvPr/>
        </p:nvSpPr>
        <p:spPr>
          <a:xfrm>
            <a:off x="6305550" y="2877643"/>
            <a:ext cx="2904207" cy="194310"/>
          </a:xfrm>
          <a:prstGeom prst="rect">
            <a:avLst/>
          </a:prstGeom>
          <a:noFill/>
        </p:spPr>
        <p:txBody>
          <a:bodyPr wrap="none" lIns="0" rIns="0" tIns="0" bIns="0">
            <a:spAutoFit/>
          </a:bodyPr>
          <a:lstStyle/>
          <a:p>
            <a:r>
              <a:rPr sz="1150" b="0">
                <a:solidFill>
                  <a:srgbClr val="2E2E2E"/>
                </a:solidFill>
                <a:latin typeface="Calibri"/>
              </a:rPr>
              <a:t>ceramide sunscreen market from 2026 to 2036.</a:t>
            </a:r>
          </a:p>
        </p:txBody>
      </p:sp>
      <p:sp>
        <p:nvSpPr>
          <p:cNvPr id="35"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Form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Form Type, 2021–2036, highlighting the sub-segments driving growth</a:t>
            </a:r>
          </a:p>
        </p:txBody>
      </p:sp>
      <p:sp>
        <p:nvSpPr>
          <p:cNvPr id="10" name="Rounded Rectangle 9"/>
          <p:cNvSpPr/>
          <p:nvPr/>
        </p:nvSpPr>
        <p:spPr>
          <a:xfrm>
            <a:off x="142875" y="981075"/>
            <a:ext cx="11906250" cy="4162425"/>
          </a:xfrm>
          <a:prstGeom prst="roundRect">
            <a:avLst>
              <a:gd name="adj" fmla="val 18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Form Type (US$ Mn)</a:t>
            </a:r>
          </a:p>
        </p:txBody>
      </p:sp>
      <p:graphicFrame>
        <p:nvGraphicFramePr>
          <p:cNvPr id="12" name="Table 11"/>
          <p:cNvGraphicFramePr>
            <a:graphicFrameLocks noGrp="1"/>
          </p:cNvGraphicFramePr>
          <p:nvPr/>
        </p:nvGraphicFramePr>
        <p:xfrm>
          <a:off x="152400" y="1238250"/>
          <a:ext cx="11887199" cy="3695698"/>
        </p:xfrm>
        <a:graphic>
          <a:graphicData uri="http://schemas.openxmlformats.org/drawingml/2006/table">
            <a:tbl>
              <a:tblPr>
                <a:tableStyleId>{5C22544A-7EE6-4342-B048-85BDC9FD1C3A}</a:tableStyleId>
              </a:tblPr>
              <a:tblGrid>
                <a:gridCol w="1779968"/>
                <a:gridCol w="594543"/>
                <a:gridCol w="594543"/>
                <a:gridCol w="594543"/>
                <a:gridCol w="594543"/>
                <a:gridCol w="594543"/>
                <a:gridCol w="594543"/>
                <a:gridCol w="594543"/>
                <a:gridCol w="594543"/>
                <a:gridCol w="594543"/>
                <a:gridCol w="594543"/>
                <a:gridCol w="594543"/>
                <a:gridCol w="594543"/>
                <a:gridCol w="594543"/>
                <a:gridCol w="594543"/>
                <a:gridCol w="594543"/>
                <a:gridCol w="594543"/>
                <a:gridCol w="594543"/>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98">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Traditional Cream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Gel-Cream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Standard Lotion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Lightweight Fluid / Milk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Water-based Gel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Oil-free Gel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Spray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Serum-based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943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276850"/>
            <a:ext cx="11906250" cy="1352550"/>
          </a:xfrm>
          <a:prstGeom prst="roundRect">
            <a:avLst>
              <a:gd name="adj" fmla="val 56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3625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Form Type</a:t>
            </a:r>
          </a:p>
        </p:txBody>
      </p:sp>
      <p:sp>
        <p:nvSpPr>
          <p:cNvPr id="16" name="Rectangle 15"/>
          <p:cNvSpPr/>
          <p:nvPr/>
        </p:nvSpPr>
        <p:spPr>
          <a:xfrm>
            <a:off x="276225" y="5600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686425"/>
            <a:ext cx="11639550" cy="866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99293" y="2942461"/>
            <a:ext cx="366712" cy="533400"/>
          </a:xfrm>
          <a:prstGeom prst="rect">
            <a:avLst/>
          </a:prstGeom>
        </p:spPr>
      </p:pic>
      <p:sp>
        <p:nvSpPr>
          <p:cNvPr id="20" name="TextBox 19"/>
          <p:cNvSpPr txBox="1"/>
          <p:nvPr/>
        </p:nvSpPr>
        <p:spPr>
          <a:xfrm>
            <a:off x="276225" y="5695950"/>
            <a:ext cx="3172519" cy="186689"/>
          </a:xfrm>
          <a:prstGeom prst="rect">
            <a:avLst/>
          </a:prstGeom>
          <a:noFill/>
        </p:spPr>
        <p:txBody>
          <a:bodyPr wrap="none" lIns="0" rIns="0" tIns="0" bIns="0">
            <a:spAutoFit/>
          </a:bodyPr>
          <a:lstStyle/>
          <a:p>
            <a:r>
              <a:rPr sz="1100" b="0">
                <a:solidFill>
                  <a:srgbClr val="2E2E2E"/>
                </a:solidFill>
                <a:latin typeface="Calibri"/>
              </a:rPr>
              <a:t>Stick-based sunscreen segment is projected to register</a:t>
            </a:r>
          </a:p>
        </p:txBody>
      </p:sp>
      <p:pic>
        <p:nvPicPr>
          <p:cNvPr id="21" name="Picture 20" descr="lock.png"/>
          <p:cNvPicPr>
            <a:picLocks noChangeAspect="1"/>
          </p:cNvPicPr>
          <p:nvPr/>
        </p:nvPicPr>
        <p:blipFill>
          <a:blip r:embed="rId4"/>
          <a:stretch>
            <a:fillRect/>
          </a:stretch>
        </p:blipFill>
        <p:spPr>
          <a:xfrm>
            <a:off x="3396796" y="5686170"/>
            <a:ext cx="128699" cy="187198"/>
          </a:xfrm>
          <a:prstGeom prst="rect">
            <a:avLst/>
          </a:prstGeom>
        </p:spPr>
      </p:pic>
      <p:sp>
        <p:nvSpPr>
          <p:cNvPr id="22" name="TextBox 21"/>
          <p:cNvSpPr txBox="1"/>
          <p:nvPr/>
        </p:nvSpPr>
        <p:spPr>
          <a:xfrm>
            <a:off x="3564291" y="5695950"/>
            <a:ext cx="8018908" cy="186689"/>
          </a:xfrm>
          <a:prstGeom prst="rect">
            <a:avLst/>
          </a:prstGeom>
          <a:noFill/>
        </p:spPr>
        <p:txBody>
          <a:bodyPr wrap="none" lIns="0" rIns="0" tIns="0" bIns="0">
            <a:spAutoFit/>
          </a:bodyPr>
          <a:lstStyle/>
          <a:p>
            <a:r>
              <a:rPr sz="1100" b="0">
                <a:solidFill>
                  <a:srgbClr val="2E2E2E"/>
                </a:solidFill>
                <a:latin typeface="Calibri"/>
              </a:rPr>
              <a:t>X higher value than other forms segment in 2036. Among ceramide sunscreen by form type, cream-based sunscreen segment is expected to</a:t>
            </a:r>
          </a:p>
        </p:txBody>
      </p:sp>
      <p:sp>
        <p:nvSpPr>
          <p:cNvPr id="23" name="TextBox 22"/>
          <p:cNvSpPr txBox="1"/>
          <p:nvPr/>
        </p:nvSpPr>
        <p:spPr>
          <a:xfrm>
            <a:off x="276225" y="5863590"/>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899369" y="5853810"/>
            <a:ext cx="128699" cy="187198"/>
          </a:xfrm>
          <a:prstGeom prst="rect">
            <a:avLst/>
          </a:prstGeom>
        </p:spPr>
      </p:pic>
      <p:sp>
        <p:nvSpPr>
          <p:cNvPr id="25" name="TextBox 24"/>
          <p:cNvSpPr txBox="1"/>
          <p:nvPr/>
        </p:nvSpPr>
        <p:spPr>
          <a:xfrm>
            <a:off x="2066865" y="5863590"/>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26" name="TextBox 25"/>
          <p:cNvSpPr txBox="1"/>
          <p:nvPr/>
        </p:nvSpPr>
        <p:spPr>
          <a:xfrm>
            <a:off x="276225" y="6081522"/>
            <a:ext cx="6735960" cy="186689"/>
          </a:xfrm>
          <a:prstGeom prst="rect">
            <a:avLst/>
          </a:prstGeom>
          <a:noFill/>
        </p:spPr>
        <p:txBody>
          <a:bodyPr wrap="none" lIns="0" rIns="0" tIns="0" bIns="0">
            <a:spAutoFit/>
          </a:bodyPr>
          <a:lstStyle/>
          <a:p>
            <a:r>
              <a:rPr sz="1100" b="0">
                <a:solidFill>
                  <a:srgbClr val="2E2E2E"/>
                </a:solidFill>
                <a:latin typeface="Calibri"/>
              </a:rPr>
              <a:t>In terms of value share by form type, the stick-based sunscreen segment is expected to dominate the market, gaining</a:t>
            </a:r>
          </a:p>
        </p:txBody>
      </p:sp>
      <p:pic>
        <p:nvPicPr>
          <p:cNvPr id="27" name="Picture 26" descr="lock.png"/>
          <p:cNvPicPr>
            <a:picLocks noChangeAspect="1"/>
          </p:cNvPicPr>
          <p:nvPr/>
        </p:nvPicPr>
        <p:blipFill>
          <a:blip r:embed="rId4"/>
          <a:stretch>
            <a:fillRect/>
          </a:stretch>
        </p:blipFill>
        <p:spPr>
          <a:xfrm>
            <a:off x="6960237" y="6071742"/>
            <a:ext cx="128699" cy="187198"/>
          </a:xfrm>
          <a:prstGeom prst="rect">
            <a:avLst/>
          </a:prstGeom>
        </p:spPr>
      </p:pic>
      <p:sp>
        <p:nvSpPr>
          <p:cNvPr id="28" name="TextBox 27"/>
          <p:cNvSpPr txBox="1"/>
          <p:nvPr/>
        </p:nvSpPr>
        <p:spPr>
          <a:xfrm>
            <a:off x="7127733" y="6081522"/>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462218" y="6071742"/>
            <a:ext cx="128699" cy="187198"/>
          </a:xfrm>
          <a:prstGeom prst="rect">
            <a:avLst/>
          </a:prstGeom>
        </p:spPr>
      </p:pic>
      <p:sp>
        <p:nvSpPr>
          <p:cNvPr id="30" name="TextBox 29"/>
          <p:cNvSpPr txBox="1"/>
          <p:nvPr/>
        </p:nvSpPr>
        <p:spPr>
          <a:xfrm>
            <a:off x="8629713" y="6081522"/>
            <a:ext cx="2980704" cy="186689"/>
          </a:xfrm>
          <a:prstGeom prst="rect">
            <a:avLst/>
          </a:prstGeom>
          <a:noFill/>
        </p:spPr>
        <p:txBody>
          <a:bodyPr wrap="none" lIns="0" rIns="0" tIns="0" bIns="0">
            <a:spAutoFit/>
          </a:bodyPr>
          <a:lstStyle/>
          <a:p>
            <a:r>
              <a:rPr sz="1100" b="0">
                <a:solidFill>
                  <a:srgbClr val="2E2E2E"/>
                </a:solidFill>
                <a:latin typeface="Calibri"/>
              </a:rPr>
              <a:t>share by 2036. The gel-based sunscreen segment is</a:t>
            </a:r>
          </a:p>
        </p:txBody>
      </p:sp>
      <p:sp>
        <p:nvSpPr>
          <p:cNvPr id="31" name="TextBox 30"/>
          <p:cNvSpPr txBox="1"/>
          <p:nvPr/>
        </p:nvSpPr>
        <p:spPr>
          <a:xfrm>
            <a:off x="276225" y="6249162"/>
            <a:ext cx="1012353" cy="186689"/>
          </a:xfrm>
          <a:prstGeom prst="rect">
            <a:avLst/>
          </a:prstGeom>
          <a:noFill/>
        </p:spPr>
        <p:txBody>
          <a:bodyPr wrap="none" lIns="0" rIns="0" tIns="0" bIns="0">
            <a:spAutoFit/>
          </a:bodyPr>
          <a:lstStyle/>
          <a:p>
            <a:r>
              <a:rPr sz="1100" b="0">
                <a:solidFill>
                  <a:srgbClr val="2E2E2E"/>
                </a:solidFill>
                <a:latin typeface="Calibri"/>
              </a:rPr>
              <a:t>expected to lose</a:t>
            </a:r>
          </a:p>
        </p:txBody>
      </p:sp>
      <p:pic>
        <p:nvPicPr>
          <p:cNvPr id="32" name="Picture 31" descr="lock.png"/>
          <p:cNvPicPr>
            <a:picLocks noChangeAspect="1"/>
          </p:cNvPicPr>
          <p:nvPr/>
        </p:nvPicPr>
        <p:blipFill>
          <a:blip r:embed="rId4"/>
          <a:stretch>
            <a:fillRect/>
          </a:stretch>
        </p:blipFill>
        <p:spPr>
          <a:xfrm>
            <a:off x="1236630" y="6239383"/>
            <a:ext cx="128699" cy="187198"/>
          </a:xfrm>
          <a:prstGeom prst="rect">
            <a:avLst/>
          </a:prstGeom>
        </p:spPr>
      </p:pic>
      <p:sp>
        <p:nvSpPr>
          <p:cNvPr id="33" name="TextBox 32"/>
          <p:cNvSpPr txBox="1"/>
          <p:nvPr/>
        </p:nvSpPr>
        <p:spPr>
          <a:xfrm>
            <a:off x="1404126" y="6249162"/>
            <a:ext cx="2526952" cy="186689"/>
          </a:xfrm>
          <a:prstGeom prst="rect">
            <a:avLst/>
          </a:prstGeom>
          <a:noFill/>
        </p:spPr>
        <p:txBody>
          <a:bodyPr wrap="none" lIns="0" rIns="0" tIns="0" bIns="0">
            <a:spAutoFit/>
          </a:bodyPr>
          <a:lstStyle/>
          <a:p>
            <a:r>
              <a:rPr sz="110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879130" y="6239383"/>
            <a:ext cx="128699" cy="187198"/>
          </a:xfrm>
          <a:prstGeom prst="rect">
            <a:avLst/>
          </a:prstGeom>
        </p:spPr>
      </p:pic>
      <p:sp>
        <p:nvSpPr>
          <p:cNvPr id="35" name="TextBox 34"/>
          <p:cNvSpPr txBox="1"/>
          <p:nvPr/>
        </p:nvSpPr>
        <p:spPr>
          <a:xfrm>
            <a:off x="4046626" y="6249162"/>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Form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Form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Form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12085"/>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9073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3112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Cream-based Sunscreen</a:t>
            </a:r>
          </a:p>
        </p:txBody>
      </p:sp>
      <p:sp>
        <p:nvSpPr>
          <p:cNvPr id="18" name="BPS Value 1"/>
          <p:cNvSpPr txBox="1"/>
          <p:nvPr/>
        </p:nvSpPr>
        <p:spPr>
          <a:xfrm>
            <a:off x="6896100" y="18930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438234"/>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43347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35727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Gel-based Sunscreen</a:t>
            </a:r>
          </a:p>
        </p:txBody>
      </p:sp>
      <p:sp>
        <p:nvSpPr>
          <p:cNvPr id="22" name="BPS Value 2"/>
          <p:cNvSpPr txBox="1"/>
          <p:nvPr/>
        </p:nvSpPr>
        <p:spPr>
          <a:xfrm>
            <a:off x="6896100" y="241918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18055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17579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09959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Lotion-based Sunscreen</a:t>
            </a:r>
          </a:p>
        </p:txBody>
      </p:sp>
      <p:sp>
        <p:nvSpPr>
          <p:cNvPr id="26" name="BPS Value 3"/>
          <p:cNvSpPr txBox="1"/>
          <p:nvPr/>
        </p:nvSpPr>
        <p:spPr>
          <a:xfrm>
            <a:off x="6896100" y="316150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419980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41950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11883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Forms</a:t>
            </a:r>
          </a:p>
        </p:txBody>
      </p:sp>
      <p:sp>
        <p:nvSpPr>
          <p:cNvPr id="30" name="BPS Value 4"/>
          <p:cNvSpPr txBox="1"/>
          <p:nvPr/>
        </p:nvSpPr>
        <p:spPr>
          <a:xfrm>
            <a:off x="6896100" y="418075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550283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549807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542187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Stick-based Sunscreen</a:t>
            </a:r>
          </a:p>
        </p:txBody>
      </p:sp>
      <p:sp>
        <p:nvSpPr>
          <p:cNvPr id="34" name="BPS Value 5"/>
          <p:cNvSpPr txBox="1"/>
          <p:nvPr/>
        </p:nvSpPr>
        <p:spPr>
          <a:xfrm>
            <a:off x="6896100" y="548378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Form Type</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833622"/>
            <a:ext cx="275034" cy="400050"/>
          </a:xfrm>
          <a:prstGeom prst="rect">
            <a:avLst/>
          </a:prstGeom>
        </p:spPr>
      </p:pic>
      <p:sp>
        <p:nvSpPr>
          <p:cNvPr id="41" name="TextBox 40"/>
          <p:cNvSpPr txBox="1"/>
          <p:nvPr/>
        </p:nvSpPr>
        <p:spPr>
          <a:xfrm>
            <a:off x="7829550" y="1400175"/>
            <a:ext cx="3995873" cy="194310"/>
          </a:xfrm>
          <a:prstGeom prst="rect">
            <a:avLst/>
          </a:prstGeom>
          <a:noFill/>
        </p:spPr>
        <p:txBody>
          <a:bodyPr wrap="none" lIns="0" rIns="0" tIns="0" bIns="0">
            <a:spAutoFit/>
          </a:bodyPr>
          <a:lstStyle/>
          <a:p>
            <a:r>
              <a:rPr sz="1150" b="0">
                <a:solidFill>
                  <a:srgbClr val="2E2E2E"/>
                </a:solidFill>
                <a:latin typeface="Calibri"/>
              </a:rPr>
              <a:t>Among ceramide sunscreen by form type, cream-based sunscreen</a:t>
            </a:r>
          </a:p>
        </p:txBody>
      </p:sp>
      <p:sp>
        <p:nvSpPr>
          <p:cNvPr id="42" name="TextBox 4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3" name="Picture 42" descr="lock.png"/>
          <p:cNvPicPr>
            <a:picLocks noChangeAspect="1"/>
          </p:cNvPicPr>
          <p:nvPr/>
        </p:nvPicPr>
        <p:blipFill>
          <a:blip r:embed="rId5"/>
          <a:stretch>
            <a:fillRect/>
          </a:stretch>
        </p:blipFill>
        <p:spPr>
          <a:xfrm>
            <a:off x="10935343" y="1565211"/>
            <a:ext cx="134549" cy="195707"/>
          </a:xfrm>
          <a:prstGeom prst="rect">
            <a:avLst/>
          </a:prstGeom>
        </p:spPr>
      </p:pic>
      <p:sp>
        <p:nvSpPr>
          <p:cNvPr id="44" name="TextBox 4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5" name="TextBox 44"/>
          <p:cNvSpPr txBox="1"/>
          <p:nvPr/>
        </p:nvSpPr>
        <p:spPr>
          <a:xfrm>
            <a:off x="7829550" y="1750695"/>
            <a:ext cx="3475000" cy="194310"/>
          </a:xfrm>
          <a:prstGeom prst="rect">
            <a:avLst/>
          </a:prstGeom>
          <a:noFill/>
        </p:spPr>
        <p:txBody>
          <a:bodyPr wrap="none" lIns="0" rIns="0" tIns="0" bIns="0">
            <a:spAutoFit/>
          </a:bodyPr>
          <a:lstStyle/>
          <a:p>
            <a:r>
              <a:rPr sz="1150" b="0">
                <a:solidFill>
                  <a:srgbClr val="2E2E2E"/>
                </a:solidFill>
                <a:latin typeface="Calibri"/>
              </a:rPr>
              <a:t>forecast period. In terms of value share by form type, the</a:t>
            </a:r>
          </a:p>
        </p:txBody>
      </p:sp>
      <p:sp>
        <p:nvSpPr>
          <p:cNvPr id="46" name="TextBox 45"/>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stick-based sunscreen segment is expected to dominate the market,</a:t>
            </a:r>
          </a:p>
        </p:txBody>
      </p:sp>
      <p:sp>
        <p:nvSpPr>
          <p:cNvPr id="47" name="TextBox 46"/>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48" name="Picture 47" descr="lock.png"/>
          <p:cNvPicPr>
            <a:picLocks noChangeAspect="1"/>
          </p:cNvPicPr>
          <p:nvPr/>
        </p:nvPicPr>
        <p:blipFill>
          <a:blip r:embed="rId5"/>
          <a:stretch>
            <a:fillRect/>
          </a:stretch>
        </p:blipFill>
        <p:spPr>
          <a:xfrm>
            <a:off x="8283070" y="2090991"/>
            <a:ext cx="134549" cy="195707"/>
          </a:xfrm>
          <a:prstGeom prst="rect">
            <a:avLst/>
          </a:prstGeom>
        </p:spPr>
      </p:pic>
      <p:sp>
        <p:nvSpPr>
          <p:cNvPr id="49" name="TextBox 48"/>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0" name="Picture 49" descr="lock.png"/>
          <p:cNvPicPr>
            <a:picLocks noChangeAspect="1"/>
          </p:cNvPicPr>
          <p:nvPr/>
        </p:nvPicPr>
        <p:blipFill>
          <a:blip r:embed="rId5"/>
          <a:stretch>
            <a:fillRect/>
          </a:stretch>
        </p:blipFill>
        <p:spPr>
          <a:xfrm>
            <a:off x="9853322" y="2090991"/>
            <a:ext cx="134549" cy="195707"/>
          </a:xfrm>
          <a:prstGeom prst="rect">
            <a:avLst/>
          </a:prstGeom>
        </p:spPr>
      </p:pic>
      <p:sp>
        <p:nvSpPr>
          <p:cNvPr id="51" name="TextBox 50"/>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TextBox 51"/>
          <p:cNvSpPr txBox="1"/>
          <p:nvPr/>
        </p:nvSpPr>
        <p:spPr>
          <a:xfrm>
            <a:off x="7829550" y="2329053"/>
            <a:ext cx="3221409" cy="194310"/>
          </a:xfrm>
          <a:prstGeom prst="rect">
            <a:avLst/>
          </a:prstGeom>
          <a:noFill/>
        </p:spPr>
        <p:txBody>
          <a:bodyPr wrap="none" lIns="0" rIns="0" tIns="0" bIns="0">
            <a:spAutoFit/>
          </a:bodyPr>
          <a:lstStyle/>
          <a:p>
            <a:r>
              <a:rPr sz="1150" b="0">
                <a:solidFill>
                  <a:srgbClr val="2E2E2E"/>
                </a:solidFill>
                <a:latin typeface="Calibri"/>
              </a:rPr>
              <a:t>The gel-based sunscreen segment is expected to lose</a:t>
            </a:r>
          </a:p>
        </p:txBody>
      </p:sp>
      <p:pic>
        <p:nvPicPr>
          <p:cNvPr id="53" name="Picture 52" descr="lock.png"/>
          <p:cNvPicPr>
            <a:picLocks noChangeAspect="1"/>
          </p:cNvPicPr>
          <p:nvPr/>
        </p:nvPicPr>
        <p:blipFill>
          <a:blip r:embed="rId5"/>
          <a:stretch>
            <a:fillRect/>
          </a:stretch>
        </p:blipFill>
        <p:spPr>
          <a:xfrm>
            <a:off x="11000113" y="2318829"/>
            <a:ext cx="134549" cy="195707"/>
          </a:xfrm>
          <a:prstGeom prst="rect">
            <a:avLst/>
          </a:prstGeom>
        </p:spPr>
      </p:pic>
      <p:sp>
        <p:nvSpPr>
          <p:cNvPr id="54" name="TextBox 53"/>
          <p:cNvSpPr txBox="1"/>
          <p:nvPr/>
        </p:nvSpPr>
        <p:spPr>
          <a:xfrm>
            <a:off x="11175222" y="232905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55" name="TextBox 54"/>
          <p:cNvSpPr txBox="1"/>
          <p:nvPr/>
        </p:nvSpPr>
        <p:spPr>
          <a:xfrm>
            <a:off x="7829550" y="250431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56" name="Picture 55" descr="lock.png"/>
          <p:cNvPicPr>
            <a:picLocks noChangeAspect="1"/>
          </p:cNvPicPr>
          <p:nvPr/>
        </p:nvPicPr>
        <p:blipFill>
          <a:blip r:embed="rId5"/>
          <a:stretch>
            <a:fillRect/>
          </a:stretch>
        </p:blipFill>
        <p:spPr>
          <a:xfrm>
            <a:off x="9861950" y="2494089"/>
            <a:ext cx="134549" cy="195707"/>
          </a:xfrm>
          <a:prstGeom prst="rect">
            <a:avLst/>
          </a:prstGeom>
        </p:spPr>
      </p:pic>
      <p:sp>
        <p:nvSpPr>
          <p:cNvPr id="57" name="TextBox 56"/>
          <p:cNvSpPr txBox="1"/>
          <p:nvPr/>
        </p:nvSpPr>
        <p:spPr>
          <a:xfrm>
            <a:off x="10037059"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8"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SPF Rating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SPF Rating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SPF Rating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SPF Rating,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SPF Rating segment categorizes the market by spf rating.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50</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Above SPF 50</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Below SPF 30</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SPF Rating split shows how demand is distributed across spf rating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244_3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421_5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5_6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162_1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382_7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9_0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30_49_605E5C.png"/>
          <p:cNvPicPr>
            <a:picLocks noChangeAspect="1"/>
          </p:cNvPicPr>
          <p:nvPr/>
        </p:nvPicPr>
        <p:blipFill>
          <a:blip r:embed="rId10"/>
          <a:stretch>
            <a:fillRect/>
          </a:stretch>
        </p:blipFill>
        <p:spPr>
          <a:xfrm>
            <a:off x="7693535" y="1860245"/>
            <a:ext cx="876864" cy="265429"/>
          </a:xfrm>
          <a:prstGeom prst="rect">
            <a:avLst/>
          </a:prstGeom>
        </p:spPr>
      </p:pic>
      <p:pic>
        <p:nvPicPr>
          <p:cNvPr id="70" name="Picture 69" descr="106_4_605E5C.png"/>
          <p:cNvPicPr>
            <a:picLocks noChangeAspect="1"/>
          </p:cNvPicPr>
          <p:nvPr/>
        </p:nvPicPr>
        <p:blipFill>
          <a:blip r:embed="rId11"/>
          <a:stretch>
            <a:fillRect/>
          </a:stretch>
        </p:blipFill>
        <p:spPr>
          <a:xfrm>
            <a:off x="7534105" y="2286582"/>
            <a:ext cx="1195728" cy="361950"/>
          </a:xfrm>
          <a:prstGeom prst="rect">
            <a:avLst/>
          </a:prstGeom>
        </p:spPr>
      </p:pic>
      <p:pic>
        <p:nvPicPr>
          <p:cNvPr id="71" name="Picture 70" descr="187_7_605E5C.png"/>
          <p:cNvPicPr>
            <a:picLocks noChangeAspect="1"/>
          </p:cNvPicPr>
          <p:nvPr/>
        </p:nvPicPr>
        <p:blipFill>
          <a:blip r:embed="rId12"/>
          <a:stretch>
            <a:fillRect/>
          </a:stretch>
        </p:blipFill>
        <p:spPr>
          <a:xfrm>
            <a:off x="7534105" y="2779432"/>
            <a:ext cx="1195728" cy="361950"/>
          </a:xfrm>
          <a:prstGeom prst="rect">
            <a:avLst/>
          </a:prstGeom>
        </p:spPr>
      </p:pic>
      <p:pic>
        <p:nvPicPr>
          <p:cNvPr id="72" name="Picture 71" descr="5_8__605E5C.png"/>
          <p:cNvPicPr>
            <a:picLocks noChangeAspect="1"/>
          </p:cNvPicPr>
          <p:nvPr/>
        </p:nvPicPr>
        <p:blipFill>
          <a:blip r:embed="rId13"/>
          <a:stretch>
            <a:fillRect/>
          </a:stretch>
        </p:blipFill>
        <p:spPr>
          <a:xfrm>
            <a:off x="7640751" y="3272281"/>
            <a:ext cx="982436" cy="361950"/>
          </a:xfrm>
          <a:prstGeom prst="rect">
            <a:avLst/>
          </a:prstGeom>
        </p:spPr>
      </p:pic>
      <p:pic>
        <p:nvPicPr>
          <p:cNvPr id="73" name="Picture 72" descr="64_7_605E5C.png"/>
          <p:cNvPicPr>
            <a:picLocks noChangeAspect="1"/>
          </p:cNvPicPr>
          <p:nvPr/>
        </p:nvPicPr>
        <p:blipFill>
          <a:blip r:embed="rId14"/>
          <a:stretch>
            <a:fillRect/>
          </a:stretch>
        </p:blipFill>
        <p:spPr>
          <a:xfrm>
            <a:off x="10169638" y="2286582"/>
            <a:ext cx="982436" cy="361950"/>
          </a:xfrm>
          <a:prstGeom prst="rect">
            <a:avLst/>
          </a:prstGeom>
        </p:spPr>
      </p:pic>
      <p:pic>
        <p:nvPicPr>
          <p:cNvPr id="74" name="Picture 73" descr="148_4_605E5C.png"/>
          <p:cNvPicPr>
            <a:picLocks noChangeAspect="1"/>
          </p:cNvPicPr>
          <p:nvPr/>
        </p:nvPicPr>
        <p:blipFill>
          <a:blip r:embed="rId15"/>
          <a:stretch>
            <a:fillRect/>
          </a:stretch>
        </p:blipFill>
        <p:spPr>
          <a:xfrm>
            <a:off x="10062992" y="2779432"/>
            <a:ext cx="1195728" cy="361950"/>
          </a:xfrm>
          <a:prstGeom prst="rect">
            <a:avLst/>
          </a:prstGeom>
        </p:spPr>
      </p:pic>
      <p:pic>
        <p:nvPicPr>
          <p:cNvPr id="75" name="Picture 74" descr="8_7__605E5C.png"/>
          <p:cNvPicPr>
            <a:picLocks noChangeAspect="1"/>
          </p:cNvPicPr>
          <p:nvPr/>
        </p:nvPicPr>
        <p:blipFill>
          <a:blip r:embed="rId16"/>
          <a:stretch>
            <a:fillRect/>
          </a:stretch>
        </p:blipFill>
        <p:spPr>
          <a:xfrm>
            <a:off x="10169638" y="3272281"/>
            <a:ext cx="982436" cy="361950"/>
          </a:xfrm>
          <a:prstGeom prst="rect">
            <a:avLst/>
          </a:prstGeom>
        </p:spPr>
      </p:pic>
      <p:pic>
        <p:nvPicPr>
          <p:cNvPr id="76" name="Picture 75" descr="lock.png"/>
          <p:cNvPicPr>
            <a:picLocks noChangeAspect="1"/>
          </p:cNvPicPr>
          <p:nvPr/>
        </p:nvPicPr>
        <p:blipFill>
          <a:blip r:embed="rId17"/>
          <a:stretch>
            <a:fillRect/>
          </a:stretch>
        </p:blipFill>
        <p:spPr>
          <a:xfrm>
            <a:off x="2980848" y="2827057"/>
            <a:ext cx="183356" cy="266700"/>
          </a:xfrm>
          <a:prstGeom prst="rect">
            <a:avLst/>
          </a:prstGeom>
        </p:spPr>
      </p:pic>
      <p:pic>
        <p:nvPicPr>
          <p:cNvPr id="77" name="Picture 76" descr="lock.png"/>
          <p:cNvPicPr>
            <a:picLocks noChangeAspect="1"/>
          </p:cNvPicPr>
          <p:nvPr/>
        </p:nvPicPr>
        <p:blipFill>
          <a:blip r:embed="rId17"/>
          <a:stretch>
            <a:fillRect/>
          </a:stretch>
        </p:blipFill>
        <p:spPr>
          <a:xfrm>
            <a:off x="5509737" y="2827057"/>
            <a:ext cx="183356" cy="266700"/>
          </a:xfrm>
          <a:prstGeom prst="rect">
            <a:avLst/>
          </a:prstGeom>
        </p:spPr>
      </p:pic>
      <p:pic>
        <p:nvPicPr>
          <p:cNvPr id="78" name="Picture 77" descr="lock.png"/>
          <p:cNvPicPr>
            <a:picLocks noChangeAspect="1"/>
          </p:cNvPicPr>
          <p:nvPr/>
        </p:nvPicPr>
        <p:blipFill>
          <a:blip r:embed="rId17"/>
          <a:stretch>
            <a:fillRect/>
          </a:stretch>
        </p:blipFill>
        <p:spPr>
          <a:xfrm>
            <a:off x="8038624" y="2598885"/>
            <a:ext cx="183356" cy="266700"/>
          </a:xfrm>
          <a:prstGeom prst="rect">
            <a:avLst/>
          </a:prstGeom>
        </p:spPr>
      </p:pic>
      <p:pic>
        <p:nvPicPr>
          <p:cNvPr id="79" name="Picture 78" descr="lock.png"/>
          <p:cNvPicPr>
            <a:picLocks noChangeAspect="1"/>
          </p:cNvPicPr>
          <p:nvPr/>
        </p:nvPicPr>
        <p:blipFill>
          <a:blip r:embed="rId17"/>
          <a:stretch>
            <a:fillRect/>
          </a:stretch>
        </p:blipFill>
        <p:spPr>
          <a:xfrm>
            <a:off x="10567511" y="2827057"/>
            <a:ext cx="183356" cy="266700"/>
          </a:xfrm>
          <a:prstGeom prst="rect">
            <a:avLst/>
          </a:prstGeom>
        </p:spPr>
      </p:pic>
      <p:sp>
        <p:nvSpPr>
          <p:cNvPr id="80" name="TextBox 79"/>
          <p:cNvSpPr txBox="1"/>
          <p:nvPr/>
        </p:nvSpPr>
        <p:spPr>
          <a:xfrm>
            <a:off x="485775" y="4229437"/>
            <a:ext cx="2831727" cy="186689"/>
          </a:xfrm>
          <a:prstGeom prst="rect">
            <a:avLst/>
          </a:prstGeom>
          <a:noFill/>
        </p:spPr>
        <p:txBody>
          <a:bodyPr wrap="none" lIns="0" rIns="0" tIns="0" bIns="0">
            <a:spAutoFit/>
          </a:bodyPr>
          <a:lstStyle/>
          <a:p>
            <a:r>
              <a:rPr sz="1100" b="0">
                <a:solidFill>
                  <a:srgbClr val="2E2E2E"/>
                </a:solidFill>
                <a:latin typeface="Calibri"/>
              </a:rPr>
              <a:t>Among ceramide sunscreen by SPF rating, above</a:t>
            </a:r>
          </a:p>
        </p:txBody>
      </p:sp>
      <p:sp>
        <p:nvSpPr>
          <p:cNvPr id="81" name="TextBox 80"/>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SPF 50 segment is expected to witness the highest</a:t>
            </a:r>
          </a:p>
        </p:txBody>
      </p:sp>
      <p:sp>
        <p:nvSpPr>
          <p:cNvPr id="82" name="TextBox 81"/>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83" name="Picture 82" descr="lock.png"/>
          <p:cNvPicPr>
            <a:picLocks noChangeAspect="1"/>
          </p:cNvPicPr>
          <p:nvPr/>
        </p:nvPicPr>
        <p:blipFill>
          <a:blip r:embed="rId17"/>
          <a:stretch>
            <a:fillRect/>
          </a:stretch>
        </p:blipFill>
        <p:spPr>
          <a:xfrm>
            <a:off x="977131" y="4554938"/>
            <a:ext cx="128699" cy="187198"/>
          </a:xfrm>
          <a:prstGeom prst="rect">
            <a:avLst/>
          </a:prstGeom>
        </p:spPr>
      </p:pic>
      <p:sp>
        <p:nvSpPr>
          <p:cNvPr id="84" name="TextBox 83"/>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85" name="TextBox 84"/>
          <p:cNvSpPr txBox="1"/>
          <p:nvPr/>
        </p:nvSpPr>
        <p:spPr>
          <a:xfrm>
            <a:off x="485775" y="4732357"/>
            <a:ext cx="2795984" cy="186689"/>
          </a:xfrm>
          <a:prstGeom prst="rect">
            <a:avLst/>
          </a:prstGeom>
          <a:noFill/>
        </p:spPr>
        <p:txBody>
          <a:bodyPr wrap="none" lIns="0" rIns="0" tIns="0" bIns="0">
            <a:spAutoFit/>
          </a:bodyPr>
          <a:lstStyle/>
          <a:p>
            <a:r>
              <a:rPr sz="1100" b="0">
                <a:solidFill>
                  <a:srgbClr val="2E2E2E"/>
                </a:solidFill>
                <a:latin typeface="Calibri"/>
              </a:rPr>
              <a:t>value share by SPF rating, the SPF 50 segment is</a:t>
            </a:r>
          </a:p>
        </p:txBody>
      </p:sp>
      <p:sp>
        <p:nvSpPr>
          <p:cNvPr id="86" name="TextBox 85"/>
          <p:cNvSpPr txBox="1"/>
          <p:nvPr/>
        </p:nvSpPr>
        <p:spPr>
          <a:xfrm>
            <a:off x="485775" y="489999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87" name="Picture 86" descr="lock.png"/>
          <p:cNvPicPr>
            <a:picLocks noChangeAspect="1"/>
          </p:cNvPicPr>
          <p:nvPr/>
        </p:nvPicPr>
        <p:blipFill>
          <a:blip r:embed="rId17"/>
          <a:stretch>
            <a:fillRect/>
          </a:stretch>
        </p:blipFill>
        <p:spPr>
          <a:xfrm>
            <a:off x="2822716" y="4890217"/>
            <a:ext cx="128699" cy="187198"/>
          </a:xfrm>
          <a:prstGeom prst="rect">
            <a:avLst/>
          </a:prstGeom>
        </p:spPr>
      </p:pic>
      <p:sp>
        <p:nvSpPr>
          <p:cNvPr id="88" name="TextBox 87"/>
          <p:cNvSpPr txBox="1"/>
          <p:nvPr/>
        </p:nvSpPr>
        <p:spPr>
          <a:xfrm>
            <a:off x="2990212"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9" name="TextBox 88"/>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90" name="Picture 89" descr="lock.png"/>
          <p:cNvPicPr>
            <a:picLocks noChangeAspect="1"/>
          </p:cNvPicPr>
          <p:nvPr/>
        </p:nvPicPr>
        <p:blipFill>
          <a:blip r:embed="rId17"/>
          <a:stretch>
            <a:fillRect/>
          </a:stretch>
        </p:blipFill>
        <p:spPr>
          <a:xfrm>
            <a:off x="1576057" y="5057858"/>
            <a:ext cx="128699" cy="187198"/>
          </a:xfrm>
          <a:prstGeom prst="rect">
            <a:avLst/>
          </a:prstGeom>
        </p:spPr>
      </p:pic>
      <p:sp>
        <p:nvSpPr>
          <p:cNvPr id="91" name="TextBox 90"/>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285569"/>
            <a:ext cx="2291754" cy="186689"/>
          </a:xfrm>
          <a:prstGeom prst="rect">
            <a:avLst/>
          </a:prstGeom>
          <a:noFill/>
        </p:spPr>
        <p:txBody>
          <a:bodyPr wrap="none" lIns="0" rIns="0" tIns="0" bIns="0">
            <a:spAutoFit/>
          </a:bodyPr>
          <a:lstStyle/>
          <a:p>
            <a:r>
              <a:rPr sz="1100" b="0">
                <a:solidFill>
                  <a:srgbClr val="2E2E2E"/>
                </a:solidFill>
                <a:latin typeface="Calibri"/>
              </a:rPr>
              <a:t>SPF 50 segment is projected to register</a:t>
            </a:r>
          </a:p>
        </p:txBody>
      </p:sp>
      <p:pic>
        <p:nvPicPr>
          <p:cNvPr id="93" name="Picture 92" descr="lock.png"/>
          <p:cNvPicPr>
            <a:picLocks noChangeAspect="1"/>
          </p:cNvPicPr>
          <p:nvPr/>
        </p:nvPicPr>
        <p:blipFill>
          <a:blip r:embed="rId17"/>
          <a:stretch>
            <a:fillRect/>
          </a:stretch>
        </p:blipFill>
        <p:spPr>
          <a:xfrm>
            <a:off x="2725581" y="5275790"/>
            <a:ext cx="128699" cy="187198"/>
          </a:xfrm>
          <a:prstGeom prst="rect">
            <a:avLst/>
          </a:prstGeom>
        </p:spPr>
      </p:pic>
      <p:sp>
        <p:nvSpPr>
          <p:cNvPr id="94" name="TextBox 93"/>
          <p:cNvSpPr txBox="1"/>
          <p:nvPr/>
        </p:nvSpPr>
        <p:spPr>
          <a:xfrm>
            <a:off x="2893077"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95" name="TextBox 94"/>
          <p:cNvSpPr txBox="1"/>
          <p:nvPr/>
        </p:nvSpPr>
        <p:spPr>
          <a:xfrm>
            <a:off x="485775" y="5453209"/>
            <a:ext cx="2863105" cy="186689"/>
          </a:xfrm>
          <a:prstGeom prst="rect">
            <a:avLst/>
          </a:prstGeom>
          <a:noFill/>
        </p:spPr>
        <p:txBody>
          <a:bodyPr wrap="none" lIns="0" rIns="0" tIns="0" bIns="0">
            <a:spAutoFit/>
          </a:bodyPr>
          <a:lstStyle/>
          <a:p>
            <a:r>
              <a:rPr sz="1100" b="0">
                <a:solidFill>
                  <a:srgbClr val="2E2E2E"/>
                </a:solidFill>
                <a:latin typeface="Calibri"/>
              </a:rPr>
              <a:t>higher value than above SPF 50 segment in 2036.</a:t>
            </a:r>
          </a:p>
        </p:txBody>
      </p:sp>
      <p:sp>
        <p:nvSpPr>
          <p:cNvPr id="96" name="TextBox 95"/>
          <p:cNvSpPr txBox="1"/>
          <p:nvPr/>
        </p:nvSpPr>
        <p:spPr>
          <a:xfrm>
            <a:off x="3838575" y="4229437"/>
            <a:ext cx="603622" cy="186689"/>
          </a:xfrm>
          <a:prstGeom prst="rect">
            <a:avLst/>
          </a:prstGeom>
          <a:noFill/>
        </p:spPr>
        <p:txBody>
          <a:bodyPr wrap="none" lIns="0" rIns="0" tIns="0" bIns="0">
            <a:spAutoFit/>
          </a:bodyPr>
          <a:lstStyle/>
          <a:p>
            <a:r>
              <a:rPr sz="1100" b="0">
                <a:solidFill>
                  <a:srgbClr val="2E2E2E"/>
                </a:solidFill>
                <a:latin typeface="Calibri"/>
              </a:rPr>
              <a:t>● SPF 50:</a:t>
            </a:r>
          </a:p>
        </p:txBody>
      </p:sp>
      <p:pic>
        <p:nvPicPr>
          <p:cNvPr id="97" name="Picture 96" descr="lock.png"/>
          <p:cNvPicPr>
            <a:picLocks noChangeAspect="1"/>
          </p:cNvPicPr>
          <p:nvPr/>
        </p:nvPicPr>
        <p:blipFill>
          <a:blip r:embed="rId17"/>
          <a:stretch>
            <a:fillRect/>
          </a:stretch>
        </p:blipFill>
        <p:spPr>
          <a:xfrm>
            <a:off x="4390248" y="4219658"/>
            <a:ext cx="128699" cy="187198"/>
          </a:xfrm>
          <a:prstGeom prst="rect">
            <a:avLst/>
          </a:prstGeom>
        </p:spPr>
      </p:pic>
      <p:sp>
        <p:nvSpPr>
          <p:cNvPr id="98" name="TextBox 97"/>
          <p:cNvSpPr txBox="1"/>
          <p:nvPr/>
        </p:nvSpPr>
        <p:spPr>
          <a:xfrm>
            <a:off x="455774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7"/>
          <a:stretch>
            <a:fillRect/>
          </a:stretch>
        </p:blipFill>
        <p:spPr>
          <a:xfrm>
            <a:off x="5417194" y="4219658"/>
            <a:ext cx="128699" cy="187198"/>
          </a:xfrm>
          <a:prstGeom prst="rect">
            <a:avLst/>
          </a:prstGeom>
        </p:spPr>
      </p:pic>
      <p:sp>
        <p:nvSpPr>
          <p:cNvPr id="100" name="TextBox 99"/>
          <p:cNvSpPr txBox="1"/>
          <p:nvPr/>
        </p:nvSpPr>
        <p:spPr>
          <a:xfrm>
            <a:off x="5584690"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1" name="TextBox 100"/>
          <p:cNvSpPr txBox="1"/>
          <p:nvPr/>
        </p:nvSpPr>
        <p:spPr>
          <a:xfrm>
            <a:off x="3838575" y="4447369"/>
            <a:ext cx="995709" cy="186689"/>
          </a:xfrm>
          <a:prstGeom prst="rect">
            <a:avLst/>
          </a:prstGeom>
          <a:noFill/>
        </p:spPr>
        <p:txBody>
          <a:bodyPr wrap="none" lIns="0" rIns="0" tIns="0" bIns="0">
            <a:spAutoFit/>
          </a:bodyPr>
          <a:lstStyle/>
          <a:p>
            <a:r>
              <a:rPr sz="1100" b="0">
                <a:solidFill>
                  <a:srgbClr val="2E2E2E"/>
                </a:solidFill>
                <a:latin typeface="Calibri"/>
              </a:rPr>
              <a:t>● Above SPF 50:</a:t>
            </a:r>
          </a:p>
        </p:txBody>
      </p:sp>
      <p:pic>
        <p:nvPicPr>
          <p:cNvPr id="102" name="Picture 101" descr="lock.png"/>
          <p:cNvPicPr>
            <a:picLocks noChangeAspect="1"/>
          </p:cNvPicPr>
          <p:nvPr/>
        </p:nvPicPr>
        <p:blipFill>
          <a:blip r:embed="rId17"/>
          <a:stretch>
            <a:fillRect/>
          </a:stretch>
        </p:blipFill>
        <p:spPr>
          <a:xfrm>
            <a:off x="4782336" y="4437590"/>
            <a:ext cx="128699" cy="187198"/>
          </a:xfrm>
          <a:prstGeom prst="rect">
            <a:avLst/>
          </a:prstGeom>
        </p:spPr>
      </p:pic>
      <p:sp>
        <p:nvSpPr>
          <p:cNvPr id="103" name="TextBox 102"/>
          <p:cNvSpPr txBox="1"/>
          <p:nvPr/>
        </p:nvSpPr>
        <p:spPr>
          <a:xfrm>
            <a:off x="494983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7"/>
          <a:stretch>
            <a:fillRect/>
          </a:stretch>
        </p:blipFill>
        <p:spPr>
          <a:xfrm>
            <a:off x="5809282" y="4437590"/>
            <a:ext cx="128699" cy="187198"/>
          </a:xfrm>
          <a:prstGeom prst="rect">
            <a:avLst/>
          </a:prstGeom>
        </p:spPr>
      </p:pic>
      <p:sp>
        <p:nvSpPr>
          <p:cNvPr id="105" name="TextBox 104"/>
          <p:cNvSpPr txBox="1"/>
          <p:nvPr/>
        </p:nvSpPr>
        <p:spPr>
          <a:xfrm>
            <a:off x="5976778"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06" name="TextBox 105"/>
          <p:cNvSpPr txBox="1"/>
          <p:nvPr/>
        </p:nvSpPr>
        <p:spPr>
          <a:xfrm>
            <a:off x="3838575" y="4665301"/>
            <a:ext cx="815082" cy="186689"/>
          </a:xfrm>
          <a:prstGeom prst="rect">
            <a:avLst/>
          </a:prstGeom>
          <a:noFill/>
        </p:spPr>
        <p:txBody>
          <a:bodyPr wrap="none" lIns="0" rIns="0" tIns="0" bIns="0">
            <a:spAutoFit/>
          </a:bodyPr>
          <a:lstStyle/>
          <a:p>
            <a:r>
              <a:rPr sz="1100" b="0">
                <a:solidFill>
                  <a:srgbClr val="2E2E2E"/>
                </a:solidFill>
                <a:latin typeface="Calibri"/>
              </a:rPr>
              <a:t>● SPF 30–49:</a:t>
            </a:r>
          </a:p>
        </p:txBody>
      </p:sp>
      <p:pic>
        <p:nvPicPr>
          <p:cNvPr id="107" name="Picture 106" descr="lock.png"/>
          <p:cNvPicPr>
            <a:picLocks noChangeAspect="1"/>
          </p:cNvPicPr>
          <p:nvPr/>
        </p:nvPicPr>
        <p:blipFill>
          <a:blip r:embed="rId17"/>
          <a:stretch>
            <a:fillRect/>
          </a:stretch>
        </p:blipFill>
        <p:spPr>
          <a:xfrm>
            <a:off x="4601708" y="4655522"/>
            <a:ext cx="128699" cy="187198"/>
          </a:xfrm>
          <a:prstGeom prst="rect">
            <a:avLst/>
          </a:prstGeom>
        </p:spPr>
      </p:pic>
      <p:sp>
        <p:nvSpPr>
          <p:cNvPr id="108" name="TextBox 107"/>
          <p:cNvSpPr txBox="1"/>
          <p:nvPr/>
        </p:nvSpPr>
        <p:spPr>
          <a:xfrm>
            <a:off x="4769204"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9" name="Picture 108" descr="lock.png"/>
          <p:cNvPicPr>
            <a:picLocks noChangeAspect="1"/>
          </p:cNvPicPr>
          <p:nvPr/>
        </p:nvPicPr>
        <p:blipFill>
          <a:blip r:embed="rId17"/>
          <a:stretch>
            <a:fillRect/>
          </a:stretch>
        </p:blipFill>
        <p:spPr>
          <a:xfrm>
            <a:off x="5628654" y="4655522"/>
            <a:ext cx="128699" cy="187198"/>
          </a:xfrm>
          <a:prstGeom prst="rect">
            <a:avLst/>
          </a:prstGeom>
        </p:spPr>
      </p:pic>
      <p:sp>
        <p:nvSpPr>
          <p:cNvPr id="110" name="TextBox 109"/>
          <p:cNvSpPr txBox="1"/>
          <p:nvPr/>
        </p:nvSpPr>
        <p:spPr>
          <a:xfrm>
            <a:off x="5796150"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1" name="TextBox 110"/>
          <p:cNvSpPr txBox="1"/>
          <p:nvPr/>
        </p:nvSpPr>
        <p:spPr>
          <a:xfrm>
            <a:off x="3838575" y="4883233"/>
            <a:ext cx="986705" cy="186689"/>
          </a:xfrm>
          <a:prstGeom prst="rect">
            <a:avLst/>
          </a:prstGeom>
          <a:noFill/>
        </p:spPr>
        <p:txBody>
          <a:bodyPr wrap="none" lIns="0" rIns="0" tIns="0" bIns="0">
            <a:spAutoFit/>
          </a:bodyPr>
          <a:lstStyle/>
          <a:p>
            <a:r>
              <a:rPr sz="1100" b="0">
                <a:solidFill>
                  <a:srgbClr val="2E2E2E"/>
                </a:solidFill>
                <a:latin typeface="Calibri"/>
              </a:rPr>
              <a:t>● Below SPF 30:</a:t>
            </a:r>
          </a:p>
        </p:txBody>
      </p:sp>
      <p:pic>
        <p:nvPicPr>
          <p:cNvPr id="112" name="Picture 111" descr="lock.png"/>
          <p:cNvPicPr>
            <a:picLocks noChangeAspect="1"/>
          </p:cNvPicPr>
          <p:nvPr/>
        </p:nvPicPr>
        <p:blipFill>
          <a:blip r:embed="rId17"/>
          <a:stretch>
            <a:fillRect/>
          </a:stretch>
        </p:blipFill>
        <p:spPr>
          <a:xfrm>
            <a:off x="4773332" y="4873454"/>
            <a:ext cx="128699" cy="187198"/>
          </a:xfrm>
          <a:prstGeom prst="rect">
            <a:avLst/>
          </a:prstGeom>
        </p:spPr>
      </p:pic>
      <p:sp>
        <p:nvSpPr>
          <p:cNvPr id="113" name="TextBox 112"/>
          <p:cNvSpPr txBox="1"/>
          <p:nvPr/>
        </p:nvSpPr>
        <p:spPr>
          <a:xfrm>
            <a:off x="4940828"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4" name="Picture 113" descr="lock.png"/>
          <p:cNvPicPr>
            <a:picLocks noChangeAspect="1"/>
          </p:cNvPicPr>
          <p:nvPr/>
        </p:nvPicPr>
        <p:blipFill>
          <a:blip r:embed="rId17"/>
          <a:stretch>
            <a:fillRect/>
          </a:stretch>
        </p:blipFill>
        <p:spPr>
          <a:xfrm>
            <a:off x="5800278" y="4873454"/>
            <a:ext cx="128699" cy="187198"/>
          </a:xfrm>
          <a:prstGeom prst="rect">
            <a:avLst/>
          </a:prstGeom>
        </p:spPr>
      </p:pic>
      <p:sp>
        <p:nvSpPr>
          <p:cNvPr id="115" name="TextBox 114"/>
          <p:cNvSpPr txBox="1"/>
          <p:nvPr/>
        </p:nvSpPr>
        <p:spPr>
          <a:xfrm>
            <a:off x="5967774"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6" name="TextBox 115"/>
          <p:cNvSpPr txBox="1"/>
          <p:nvPr/>
        </p:nvSpPr>
        <p:spPr>
          <a:xfrm>
            <a:off x="8524875" y="5842641"/>
            <a:ext cx="3034853" cy="194310"/>
          </a:xfrm>
          <a:prstGeom prst="rect">
            <a:avLst/>
          </a:prstGeom>
          <a:noFill/>
        </p:spPr>
        <p:txBody>
          <a:bodyPr wrap="none" lIns="0" rIns="0" tIns="0" bIns="0">
            <a:spAutoFit/>
          </a:bodyPr>
          <a:lstStyle/>
          <a:p>
            <a:r>
              <a:rPr sz="1150" b="1">
                <a:solidFill>
                  <a:srgbClr val="0B2E4A"/>
                </a:solidFill>
                <a:latin typeface="Calibri"/>
              </a:rPr>
              <a:t>The SPF Rating segment is projected to grow at a</a:t>
            </a:r>
          </a:p>
        </p:txBody>
      </p:sp>
      <p:sp>
        <p:nvSpPr>
          <p:cNvPr id="117" name="TextBox 116"/>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18" name="Picture 117" descr="lock.png"/>
          <p:cNvPicPr>
            <a:picLocks noChangeAspect="1"/>
          </p:cNvPicPr>
          <p:nvPr/>
        </p:nvPicPr>
        <p:blipFill>
          <a:blip r:embed="rId17"/>
          <a:stretch>
            <a:fillRect/>
          </a:stretch>
        </p:blipFill>
        <p:spPr>
          <a:xfrm>
            <a:off x="9048826" y="6007677"/>
            <a:ext cx="134549" cy="195707"/>
          </a:xfrm>
          <a:prstGeom prst="rect">
            <a:avLst/>
          </a:prstGeom>
        </p:spPr>
      </p:pic>
      <p:sp>
        <p:nvSpPr>
          <p:cNvPr id="119" name="TextBox 118"/>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SPF Rating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SPF Rating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SPF Rating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SPF Rating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486033" cy="186689"/>
          </a:xfrm>
          <a:prstGeom prst="rect">
            <a:avLst/>
          </a:prstGeom>
          <a:noFill/>
        </p:spPr>
        <p:txBody>
          <a:bodyPr wrap="none" lIns="0" rIns="0" tIns="0" bIns="0">
            <a:spAutoFit/>
          </a:bodyPr>
          <a:lstStyle/>
          <a:p>
            <a:r>
              <a:rPr sz="1100" b="0">
                <a:solidFill>
                  <a:srgbClr val="2E2E2E"/>
                </a:solidFill>
                <a:latin typeface="Calibri"/>
              </a:rPr>
              <a:t>SPF 50 followed by above SPF 50 are expected to be the two most attractive SPF rating segments in the North America ceramide sunscreen market in terms of value over the forecast period. SPF 50 and</a:t>
            </a:r>
          </a:p>
        </p:txBody>
      </p:sp>
      <p:sp>
        <p:nvSpPr>
          <p:cNvPr id="20" name="TextBox 19"/>
          <p:cNvSpPr txBox="1"/>
          <p:nvPr/>
        </p:nvSpPr>
        <p:spPr>
          <a:xfrm>
            <a:off x="257175" y="5945505"/>
            <a:ext cx="2186416" cy="186689"/>
          </a:xfrm>
          <a:prstGeom prst="rect">
            <a:avLst/>
          </a:prstGeom>
          <a:noFill/>
        </p:spPr>
        <p:txBody>
          <a:bodyPr wrap="none" lIns="0" rIns="0" tIns="0" bIns="0">
            <a:spAutoFit/>
          </a:bodyPr>
          <a:lstStyle/>
          <a:p>
            <a:r>
              <a:rPr sz="1100" b="0">
                <a:solidFill>
                  <a:srgbClr val="2E2E2E"/>
                </a:solidFill>
                <a:latin typeface="Calibri"/>
              </a:rPr>
              <a:t>above SPF 50 exhibit a CAGR index of</a:t>
            </a:r>
          </a:p>
        </p:txBody>
      </p:sp>
      <p:pic>
        <p:nvPicPr>
          <p:cNvPr id="21" name="Picture 20" descr="lock.png"/>
          <p:cNvPicPr>
            <a:picLocks noChangeAspect="1"/>
          </p:cNvPicPr>
          <p:nvPr/>
        </p:nvPicPr>
        <p:blipFill>
          <a:blip r:embed="rId6"/>
          <a:stretch>
            <a:fillRect/>
          </a:stretch>
        </p:blipFill>
        <p:spPr>
          <a:xfrm>
            <a:off x="2391643" y="5935726"/>
            <a:ext cx="128699" cy="187198"/>
          </a:xfrm>
          <a:prstGeom prst="rect">
            <a:avLst/>
          </a:prstGeom>
        </p:spPr>
      </p:pic>
      <p:sp>
        <p:nvSpPr>
          <p:cNvPr id="22" name="TextBox 21"/>
          <p:cNvSpPr txBox="1"/>
          <p:nvPr/>
        </p:nvSpPr>
        <p:spPr>
          <a:xfrm>
            <a:off x="2559139"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797033" y="5935726"/>
            <a:ext cx="128699" cy="187198"/>
          </a:xfrm>
          <a:prstGeom prst="rect">
            <a:avLst/>
          </a:prstGeom>
        </p:spPr>
      </p:pic>
      <p:sp>
        <p:nvSpPr>
          <p:cNvPr id="24" name="TextBox 23"/>
          <p:cNvSpPr txBox="1"/>
          <p:nvPr/>
        </p:nvSpPr>
        <p:spPr>
          <a:xfrm>
            <a:off x="2964529"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4573503" y="5935726"/>
            <a:ext cx="128699" cy="187198"/>
          </a:xfrm>
          <a:prstGeom prst="rect">
            <a:avLst/>
          </a:prstGeom>
        </p:spPr>
      </p:pic>
      <p:sp>
        <p:nvSpPr>
          <p:cNvPr id="26" name="TextBox 25"/>
          <p:cNvSpPr txBox="1"/>
          <p:nvPr/>
        </p:nvSpPr>
        <p:spPr>
          <a:xfrm>
            <a:off x="474099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978893" y="5935726"/>
            <a:ext cx="128699" cy="187198"/>
          </a:xfrm>
          <a:prstGeom prst="rect">
            <a:avLst/>
          </a:prstGeom>
        </p:spPr>
      </p:pic>
      <p:sp>
        <p:nvSpPr>
          <p:cNvPr id="28" name="TextBox 27"/>
          <p:cNvSpPr txBox="1"/>
          <p:nvPr/>
        </p:nvSpPr>
        <p:spPr>
          <a:xfrm>
            <a:off x="5146389"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7700793" y="5935726"/>
            <a:ext cx="128699" cy="187198"/>
          </a:xfrm>
          <a:prstGeom prst="rect">
            <a:avLst/>
          </a:prstGeom>
        </p:spPr>
      </p:pic>
      <p:sp>
        <p:nvSpPr>
          <p:cNvPr id="30" name="TextBox 29"/>
          <p:cNvSpPr txBox="1"/>
          <p:nvPr/>
        </p:nvSpPr>
        <p:spPr>
          <a:xfrm>
            <a:off x="7868288" y="5945505"/>
            <a:ext cx="3441551" cy="186689"/>
          </a:xfrm>
          <a:prstGeom prst="rect">
            <a:avLst/>
          </a:prstGeom>
          <a:noFill/>
        </p:spPr>
        <p:txBody>
          <a:bodyPr wrap="none" lIns="0" rIns="0" tIns="0" bIns="0">
            <a:spAutoFit/>
          </a:bodyPr>
          <a:lstStyle/>
          <a:p>
            <a:r>
              <a:rPr sz="1100" b="0">
                <a:solidFill>
                  <a:srgbClr val="2E2E2E"/>
                </a:solidFill>
                <a:latin typeface="Calibri"/>
              </a:rPr>
              <a:t>. The SPF 30-49 segment is expected to be less attractive as</a:t>
            </a:r>
          </a:p>
        </p:txBody>
      </p:sp>
      <p:sp>
        <p:nvSpPr>
          <p:cNvPr id="31" name="TextBox 30"/>
          <p:cNvSpPr txBox="1"/>
          <p:nvPr/>
        </p:nvSpPr>
        <p:spPr>
          <a:xfrm>
            <a:off x="257175" y="6113145"/>
            <a:ext cx="10606326" cy="186689"/>
          </a:xfrm>
          <a:prstGeom prst="rect">
            <a:avLst/>
          </a:prstGeom>
          <a:noFill/>
        </p:spPr>
        <p:txBody>
          <a:bodyPr wrap="none" lIns="0" rIns="0" tIns="0" bIns="0">
            <a:spAutoFit/>
          </a:bodyPr>
          <a:lstStyle/>
          <a:p>
            <a:r>
              <a:rPr sz="1100" b="0">
                <a:solidFill>
                  <a:srgbClr val="2E2E2E"/>
                </a:solidFill>
                <a:latin typeface="Calibri"/>
              </a:rPr>
              <a:t>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SPF Rating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SPF Rating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Below SPF 30</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SPF 30–49</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SPF 50</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SPF 50</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SPF Rating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SPF Rating,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SPF Rating (US$ Mn)</a:t>
            </a:r>
          </a:p>
        </p:txBody>
      </p:sp>
      <p:graphicFrame>
        <p:nvGraphicFramePr>
          <p:cNvPr id="12" name="Table 11"/>
          <p:cNvGraphicFramePr>
            <a:graphicFrameLocks noGrp="1"/>
          </p:cNvGraphicFramePr>
          <p:nvPr/>
        </p:nvGraphicFramePr>
        <p:xfrm>
          <a:off x="152400" y="1238250"/>
          <a:ext cx="11887206" cy="1485896"/>
        </p:xfrm>
        <a:graphic>
          <a:graphicData uri="http://schemas.openxmlformats.org/drawingml/2006/table">
            <a:tbl>
              <a:tblPr>
                <a:tableStyleId>{5C22544A-7EE6-4342-B048-85BDC9FD1C3A}</a:tableStyleId>
              </a:tblPr>
              <a:tblGrid>
                <a:gridCol w="1052477"/>
                <a:gridCol w="637337"/>
                <a:gridCol w="637337"/>
                <a:gridCol w="637337"/>
                <a:gridCol w="637337"/>
                <a:gridCol w="637337"/>
                <a:gridCol w="637337"/>
                <a:gridCol w="637337"/>
                <a:gridCol w="637337"/>
                <a:gridCol w="637337"/>
                <a:gridCol w="637337"/>
                <a:gridCol w="637337"/>
                <a:gridCol w="637337"/>
                <a:gridCol w="637337"/>
                <a:gridCol w="637337"/>
                <a:gridCol w="637337"/>
                <a:gridCol w="637337"/>
                <a:gridCol w="637337"/>
              </a:tblGrid>
              <a:tr h="246126">
                <a:tc>
                  <a:txBody>
                    <a:bodyPr wrap="none"/>
                    <a:lstStyle/>
                    <a:p>
                      <a:pPr algn="l"/>
                      <a:r>
                        <a:rPr sz="1100" b="1">
                          <a:solidFill>
                            <a:srgbClr val="0B2E4A"/>
                          </a:solidFill>
                          <a:latin typeface="Calibri"/>
                        </a:rPr>
                        <a:t>SPF Rating</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Below SPF 30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SPF 30–49</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SPF 50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Above SPF 50</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SPF Rating</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35551" y="1837563"/>
            <a:ext cx="366712" cy="533400"/>
          </a:xfrm>
          <a:prstGeom prst="rect">
            <a:avLst/>
          </a:prstGeom>
        </p:spPr>
      </p:pic>
      <p:sp>
        <p:nvSpPr>
          <p:cNvPr id="20" name="TextBox 19"/>
          <p:cNvSpPr txBox="1"/>
          <p:nvPr/>
        </p:nvSpPr>
        <p:spPr>
          <a:xfrm>
            <a:off x="276225" y="3486150"/>
            <a:ext cx="2392461" cy="194310"/>
          </a:xfrm>
          <a:prstGeom prst="rect">
            <a:avLst/>
          </a:prstGeom>
          <a:noFill/>
        </p:spPr>
        <p:txBody>
          <a:bodyPr wrap="none" lIns="0" rIns="0" tIns="0" bIns="0">
            <a:spAutoFit/>
          </a:bodyPr>
          <a:lstStyle/>
          <a:p>
            <a:r>
              <a:rPr sz="1150" b="0">
                <a:solidFill>
                  <a:srgbClr val="2E2E2E"/>
                </a:solidFill>
                <a:latin typeface="Calibri"/>
              </a:rPr>
              <a:t>SPF 50 segment is projected to register</a:t>
            </a:r>
          </a:p>
        </p:txBody>
      </p:sp>
      <p:pic>
        <p:nvPicPr>
          <p:cNvPr id="21" name="Picture 20" descr="lock.png"/>
          <p:cNvPicPr>
            <a:picLocks noChangeAspect="1"/>
          </p:cNvPicPr>
          <p:nvPr/>
        </p:nvPicPr>
        <p:blipFill>
          <a:blip r:embed="rId4"/>
          <a:stretch>
            <a:fillRect/>
          </a:stretch>
        </p:blipFill>
        <p:spPr>
          <a:xfrm>
            <a:off x="2617840" y="3475926"/>
            <a:ext cx="134549" cy="195707"/>
          </a:xfrm>
          <a:prstGeom prst="rect">
            <a:avLst/>
          </a:prstGeom>
        </p:spPr>
      </p:pic>
      <p:sp>
        <p:nvSpPr>
          <p:cNvPr id="22" name="TextBox 21"/>
          <p:cNvSpPr txBox="1"/>
          <p:nvPr/>
        </p:nvSpPr>
        <p:spPr>
          <a:xfrm>
            <a:off x="2792949" y="3486150"/>
            <a:ext cx="9028893" cy="194310"/>
          </a:xfrm>
          <a:prstGeom prst="rect">
            <a:avLst/>
          </a:prstGeom>
          <a:noFill/>
        </p:spPr>
        <p:txBody>
          <a:bodyPr wrap="none" lIns="0" rIns="0" tIns="0" bIns="0">
            <a:spAutoFit/>
          </a:bodyPr>
          <a:lstStyle/>
          <a:p>
            <a:r>
              <a:rPr sz="1150" b="0">
                <a:solidFill>
                  <a:srgbClr val="2E2E2E"/>
                </a:solidFill>
                <a:latin typeface="Calibri"/>
              </a:rPr>
              <a:t>X higher value than above SPF 50 segment in 2036. Among ceramide sunscreen by SPF rating, above SPF 50 segment is expected to witness the highest</a:t>
            </a:r>
          </a:p>
        </p:txBody>
      </p:sp>
      <p:sp>
        <p:nvSpPr>
          <p:cNvPr id="23" name="TextBox 22"/>
          <p:cNvSpPr txBox="1"/>
          <p:nvPr/>
        </p:nvSpPr>
        <p:spPr>
          <a:xfrm>
            <a:off x="276225" y="366141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4" name="Picture 23" descr="lock.png"/>
          <p:cNvPicPr>
            <a:picLocks noChangeAspect="1"/>
          </p:cNvPicPr>
          <p:nvPr/>
        </p:nvPicPr>
        <p:blipFill>
          <a:blip r:embed="rId4"/>
          <a:stretch>
            <a:fillRect/>
          </a:stretch>
        </p:blipFill>
        <p:spPr>
          <a:xfrm>
            <a:off x="789915" y="3651186"/>
            <a:ext cx="134549" cy="195707"/>
          </a:xfrm>
          <a:prstGeom prst="rect">
            <a:avLst/>
          </a:prstGeom>
        </p:spPr>
      </p:pic>
      <p:sp>
        <p:nvSpPr>
          <p:cNvPr id="25" name="TextBox 24"/>
          <p:cNvSpPr txBox="1"/>
          <p:nvPr/>
        </p:nvSpPr>
        <p:spPr>
          <a:xfrm>
            <a:off x="965025"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6051413" cy="194310"/>
          </a:xfrm>
          <a:prstGeom prst="rect">
            <a:avLst/>
          </a:prstGeom>
          <a:noFill/>
        </p:spPr>
        <p:txBody>
          <a:bodyPr wrap="none" lIns="0" rIns="0" tIns="0" bIns="0">
            <a:spAutoFit/>
          </a:bodyPr>
          <a:lstStyle/>
          <a:p>
            <a:r>
              <a:rPr sz="1150" b="0">
                <a:solidFill>
                  <a:srgbClr val="2E2E2E"/>
                </a:solidFill>
                <a:latin typeface="Calibri"/>
              </a:rPr>
              <a:t>In terms of value share by SPF rating, the SPF 50 segment is expected to dominate the market, losing</a:t>
            </a:r>
          </a:p>
        </p:txBody>
      </p:sp>
      <p:pic>
        <p:nvPicPr>
          <p:cNvPr id="27" name="Picture 26" descr="lock.png"/>
          <p:cNvPicPr>
            <a:picLocks noChangeAspect="1"/>
          </p:cNvPicPr>
          <p:nvPr/>
        </p:nvPicPr>
        <p:blipFill>
          <a:blip r:embed="rId4"/>
          <a:stretch>
            <a:fillRect/>
          </a:stretch>
        </p:blipFill>
        <p:spPr>
          <a:xfrm>
            <a:off x="6276792" y="3879024"/>
            <a:ext cx="134549" cy="195707"/>
          </a:xfrm>
          <a:prstGeom prst="rect">
            <a:avLst/>
          </a:prstGeom>
        </p:spPr>
      </p:pic>
      <p:sp>
        <p:nvSpPr>
          <p:cNvPr id="28" name="TextBox 27"/>
          <p:cNvSpPr txBox="1"/>
          <p:nvPr/>
        </p:nvSpPr>
        <p:spPr>
          <a:xfrm>
            <a:off x="6451901"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7044" y="3879024"/>
            <a:ext cx="134549" cy="195707"/>
          </a:xfrm>
          <a:prstGeom prst="rect">
            <a:avLst/>
          </a:prstGeom>
        </p:spPr>
      </p:pic>
      <p:sp>
        <p:nvSpPr>
          <p:cNvPr id="30" name="TextBox 29"/>
          <p:cNvSpPr txBox="1"/>
          <p:nvPr/>
        </p:nvSpPr>
        <p:spPr>
          <a:xfrm>
            <a:off x="8022154" y="38892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SPF Rating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SPF Rating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SPF Rating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6879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96403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8783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Below SPF 30</a:t>
            </a:r>
          </a:p>
        </p:txBody>
      </p:sp>
      <p:sp>
        <p:nvSpPr>
          <p:cNvPr id="18" name="BPS Value 1"/>
          <p:cNvSpPr txBox="1"/>
          <p:nvPr/>
        </p:nvSpPr>
        <p:spPr>
          <a:xfrm>
            <a:off x="6896100" y="194974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64266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63790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56170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30–49</a:t>
            </a:r>
          </a:p>
        </p:txBody>
      </p:sp>
      <p:sp>
        <p:nvSpPr>
          <p:cNvPr id="22" name="BPS Value 2"/>
          <p:cNvSpPr txBox="1"/>
          <p:nvPr/>
        </p:nvSpPr>
        <p:spPr>
          <a:xfrm>
            <a:off x="6896100" y="262361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78625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378149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7052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Above SPF 50</a:t>
            </a:r>
          </a:p>
        </p:txBody>
      </p:sp>
      <p:sp>
        <p:nvSpPr>
          <p:cNvPr id="26" name="BPS Value 3"/>
          <p:cNvSpPr txBox="1"/>
          <p:nvPr/>
        </p:nvSpPr>
        <p:spPr>
          <a:xfrm>
            <a:off x="6896100" y="376720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539857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539380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31760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50</a:t>
            </a:r>
          </a:p>
        </p:txBody>
      </p:sp>
      <p:sp>
        <p:nvSpPr>
          <p:cNvPr id="30" name="BPS Value 4"/>
          <p:cNvSpPr txBox="1"/>
          <p:nvPr/>
        </p:nvSpPr>
        <p:spPr>
          <a:xfrm>
            <a:off x="6896100" y="537952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SPF Rating</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4051783" cy="194310"/>
          </a:xfrm>
          <a:prstGeom prst="rect">
            <a:avLst/>
          </a:prstGeom>
          <a:noFill/>
        </p:spPr>
        <p:txBody>
          <a:bodyPr wrap="none" lIns="0" rIns="0" tIns="0" bIns="0">
            <a:spAutoFit/>
          </a:bodyPr>
          <a:lstStyle/>
          <a:p>
            <a:r>
              <a:rPr sz="1150" b="0">
                <a:solidFill>
                  <a:srgbClr val="2E2E2E"/>
                </a:solidFill>
                <a:latin typeface="Calibri"/>
              </a:rPr>
              <a:t>Among ceramide sunscreen by SPF rating, above SPF 50 segment is</a:t>
            </a:r>
          </a:p>
        </p:txBody>
      </p:sp>
      <p:sp>
        <p:nvSpPr>
          <p:cNvPr id="38" name="TextBox 37"/>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9" name="Picture 38" descr="lock.png"/>
          <p:cNvPicPr>
            <a:picLocks noChangeAspect="1"/>
          </p:cNvPicPr>
          <p:nvPr/>
        </p:nvPicPr>
        <p:blipFill>
          <a:blip r:embed="rId5"/>
          <a:stretch>
            <a:fillRect/>
          </a:stretch>
        </p:blipFill>
        <p:spPr>
          <a:xfrm>
            <a:off x="10264711" y="1565211"/>
            <a:ext cx="134549" cy="195707"/>
          </a:xfrm>
          <a:prstGeom prst="rect">
            <a:avLst/>
          </a:prstGeom>
        </p:spPr>
      </p:pic>
      <p:sp>
        <p:nvSpPr>
          <p:cNvPr id="40" name="TextBox 39"/>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1" name="TextBox 40"/>
          <p:cNvSpPr txBox="1"/>
          <p:nvPr/>
        </p:nvSpPr>
        <p:spPr>
          <a:xfrm>
            <a:off x="7829550" y="175069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2" name="TextBox 41"/>
          <p:cNvSpPr txBox="1"/>
          <p:nvPr/>
        </p:nvSpPr>
        <p:spPr>
          <a:xfrm>
            <a:off x="7829550" y="1978533"/>
            <a:ext cx="3600512" cy="194310"/>
          </a:xfrm>
          <a:prstGeom prst="rect">
            <a:avLst/>
          </a:prstGeom>
          <a:noFill/>
        </p:spPr>
        <p:txBody>
          <a:bodyPr wrap="none" lIns="0" rIns="0" tIns="0" bIns="0">
            <a:spAutoFit/>
          </a:bodyPr>
          <a:lstStyle/>
          <a:p>
            <a:r>
              <a:rPr sz="1150" b="0">
                <a:solidFill>
                  <a:srgbClr val="2E2E2E"/>
                </a:solidFill>
                <a:latin typeface="Calibri"/>
              </a:rPr>
              <a:t>In terms of value share by SPF rating, the SPF 50 segment is</a:t>
            </a:r>
          </a:p>
        </p:txBody>
      </p:sp>
      <p:sp>
        <p:nvSpPr>
          <p:cNvPr id="43" name="TextBox 42"/>
          <p:cNvSpPr txBox="1"/>
          <p:nvPr/>
        </p:nvSpPr>
        <p:spPr>
          <a:xfrm>
            <a:off x="7829550" y="2153793"/>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44" name="Picture 43" descr="lock.png"/>
          <p:cNvPicPr>
            <a:picLocks noChangeAspect="1"/>
          </p:cNvPicPr>
          <p:nvPr/>
        </p:nvPicPr>
        <p:blipFill>
          <a:blip r:embed="rId5"/>
          <a:stretch>
            <a:fillRect/>
          </a:stretch>
        </p:blipFill>
        <p:spPr>
          <a:xfrm>
            <a:off x="10272716" y="2143569"/>
            <a:ext cx="134549" cy="195707"/>
          </a:xfrm>
          <a:prstGeom prst="rect">
            <a:avLst/>
          </a:prstGeom>
        </p:spPr>
      </p:pic>
      <p:sp>
        <p:nvSpPr>
          <p:cNvPr id="45" name="TextBox 44"/>
          <p:cNvSpPr txBox="1"/>
          <p:nvPr/>
        </p:nvSpPr>
        <p:spPr>
          <a:xfrm>
            <a:off x="10447825" y="2153793"/>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6" name="TextBox 45"/>
          <p:cNvSpPr txBox="1"/>
          <p:nvPr/>
        </p:nvSpPr>
        <p:spPr>
          <a:xfrm>
            <a:off x="7829550" y="2329053"/>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7" name="Picture 46" descr="lock.png"/>
          <p:cNvPicPr>
            <a:picLocks noChangeAspect="1"/>
          </p:cNvPicPr>
          <p:nvPr/>
        </p:nvPicPr>
        <p:blipFill>
          <a:blip r:embed="rId5"/>
          <a:stretch>
            <a:fillRect/>
          </a:stretch>
        </p:blipFill>
        <p:spPr>
          <a:xfrm>
            <a:off x="8027482" y="2318829"/>
            <a:ext cx="134549" cy="195707"/>
          </a:xfrm>
          <a:prstGeom prst="rect">
            <a:avLst/>
          </a:prstGeom>
        </p:spPr>
      </p:pic>
      <p:sp>
        <p:nvSpPr>
          <p:cNvPr id="48" name="TextBox 47"/>
          <p:cNvSpPr txBox="1"/>
          <p:nvPr/>
        </p:nvSpPr>
        <p:spPr>
          <a:xfrm>
            <a:off x="8202591"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Ingredient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Ingredient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Ingredient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Ingredient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Ingredient Type segment categorizes the market by ingredient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Regular Ingredients</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Emerging Ingredients</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Niche Ingredients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Ingredient Type split shows how demand is distributed across ingredient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276_1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537_1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6_9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184_7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395_4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7_9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116_7_605E5C.png"/>
          <p:cNvPicPr>
            <a:picLocks noChangeAspect="1"/>
          </p:cNvPicPr>
          <p:nvPr/>
        </p:nvPicPr>
        <p:blipFill>
          <a:blip r:embed="rId10"/>
          <a:stretch>
            <a:fillRect/>
          </a:stretch>
        </p:blipFill>
        <p:spPr>
          <a:xfrm>
            <a:off x="9641511" y="2286582"/>
            <a:ext cx="1195728" cy="361950"/>
          </a:xfrm>
          <a:prstGeom prst="rect">
            <a:avLst/>
          </a:prstGeom>
        </p:spPr>
      </p:pic>
      <p:pic>
        <p:nvPicPr>
          <p:cNvPr id="63" name="Picture 62" descr="207_9_605E5C.png"/>
          <p:cNvPicPr>
            <a:picLocks noChangeAspect="1"/>
          </p:cNvPicPr>
          <p:nvPr/>
        </p:nvPicPr>
        <p:blipFill>
          <a:blip r:embed="rId11"/>
          <a:stretch>
            <a:fillRect/>
          </a:stretch>
        </p:blipFill>
        <p:spPr>
          <a:xfrm>
            <a:off x="9641511" y="2779432"/>
            <a:ext cx="1195728" cy="361950"/>
          </a:xfrm>
          <a:prstGeom prst="rect">
            <a:avLst/>
          </a:prstGeom>
        </p:spPr>
      </p:pic>
      <p:pic>
        <p:nvPicPr>
          <p:cNvPr id="64" name="Picture 63" descr="5_9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757512" cy="186689"/>
          </a:xfrm>
          <a:prstGeom prst="rect">
            <a:avLst/>
          </a:prstGeom>
          <a:noFill/>
        </p:spPr>
        <p:txBody>
          <a:bodyPr wrap="none" lIns="0" rIns="0" tIns="0" bIns="0">
            <a:spAutoFit/>
          </a:bodyPr>
          <a:lstStyle/>
          <a:p>
            <a:r>
              <a:rPr sz="1100" b="0">
                <a:solidFill>
                  <a:srgbClr val="2E2E2E"/>
                </a:solidFill>
                <a:latin typeface="Calibri"/>
              </a:rPr>
              <a:t>Among ceramide sunscreen by ingredient type,</a:t>
            </a:r>
          </a:p>
        </p:txBody>
      </p:sp>
      <p:sp>
        <p:nvSpPr>
          <p:cNvPr id="69" name="TextBox 68"/>
          <p:cNvSpPr txBox="1"/>
          <p:nvPr/>
        </p:nvSpPr>
        <p:spPr>
          <a:xfrm>
            <a:off x="485775" y="4397077"/>
            <a:ext cx="2632000" cy="186689"/>
          </a:xfrm>
          <a:prstGeom prst="rect">
            <a:avLst/>
          </a:prstGeom>
          <a:noFill/>
        </p:spPr>
        <p:txBody>
          <a:bodyPr wrap="none" lIns="0" rIns="0" tIns="0" bIns="0">
            <a:spAutoFit/>
          </a:bodyPr>
          <a:lstStyle/>
          <a:p>
            <a:r>
              <a:rPr sz="1100" b="0">
                <a:solidFill>
                  <a:srgbClr val="2E2E2E"/>
                </a:solidFill>
                <a:latin typeface="Calibri"/>
              </a:rPr>
              <a:t>emerging ingredients segment is expected to</a:t>
            </a:r>
          </a:p>
        </p:txBody>
      </p:sp>
      <p:sp>
        <p:nvSpPr>
          <p:cNvPr id="70" name="TextBox 69"/>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71" name="Picture 70" descr="lock.png"/>
          <p:cNvPicPr>
            <a:picLocks noChangeAspect="1"/>
          </p:cNvPicPr>
          <p:nvPr/>
        </p:nvPicPr>
        <p:blipFill>
          <a:blip r:embed="rId13"/>
          <a:stretch>
            <a:fillRect/>
          </a:stretch>
        </p:blipFill>
        <p:spPr>
          <a:xfrm>
            <a:off x="2108919" y="4554938"/>
            <a:ext cx="128699" cy="187198"/>
          </a:xfrm>
          <a:prstGeom prst="rect">
            <a:avLst/>
          </a:prstGeom>
        </p:spPr>
      </p:pic>
      <p:sp>
        <p:nvSpPr>
          <p:cNvPr id="72" name="TextBox 71"/>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73" name="TextBox 72"/>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period. In terms of value share by ingredient type,</a:t>
            </a:r>
          </a:p>
        </p:txBody>
      </p:sp>
      <p:sp>
        <p:nvSpPr>
          <p:cNvPr id="74" name="TextBox 73"/>
          <p:cNvSpPr txBox="1"/>
          <p:nvPr/>
        </p:nvSpPr>
        <p:spPr>
          <a:xfrm>
            <a:off x="485775" y="4899997"/>
            <a:ext cx="2722314" cy="186689"/>
          </a:xfrm>
          <a:prstGeom prst="rect">
            <a:avLst/>
          </a:prstGeom>
          <a:noFill/>
        </p:spPr>
        <p:txBody>
          <a:bodyPr wrap="none" lIns="0" rIns="0" tIns="0" bIns="0">
            <a:spAutoFit/>
          </a:bodyPr>
          <a:lstStyle/>
          <a:p>
            <a:r>
              <a:rPr sz="1100" b="0">
                <a:solidFill>
                  <a:srgbClr val="2E2E2E"/>
                </a:solidFill>
                <a:latin typeface="Calibri"/>
              </a:rPr>
              <a:t>the regular ingredients segment is expected to</a:t>
            </a:r>
          </a:p>
        </p:txBody>
      </p:sp>
      <p:sp>
        <p:nvSpPr>
          <p:cNvPr id="75" name="TextBox 74"/>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76" name="Picture 75" descr="lock.png"/>
          <p:cNvPicPr>
            <a:picLocks noChangeAspect="1"/>
          </p:cNvPicPr>
          <p:nvPr/>
        </p:nvPicPr>
        <p:blipFill>
          <a:blip r:embed="rId13"/>
          <a:stretch>
            <a:fillRect/>
          </a:stretch>
        </p:blipFill>
        <p:spPr>
          <a:xfrm>
            <a:off x="2116576" y="5057858"/>
            <a:ext cx="128699" cy="187198"/>
          </a:xfrm>
          <a:prstGeom prst="rect">
            <a:avLst/>
          </a:prstGeom>
        </p:spPr>
      </p:pic>
      <p:sp>
        <p:nvSpPr>
          <p:cNvPr id="77" name="TextBox 76"/>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78" name="TextBox 77"/>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79" name="Picture 78" descr="lock.png"/>
          <p:cNvPicPr>
            <a:picLocks noChangeAspect="1"/>
          </p:cNvPicPr>
          <p:nvPr/>
        </p:nvPicPr>
        <p:blipFill>
          <a:blip r:embed="rId13"/>
          <a:stretch>
            <a:fillRect/>
          </a:stretch>
        </p:blipFill>
        <p:spPr>
          <a:xfrm>
            <a:off x="1330764" y="5225498"/>
            <a:ext cx="128699" cy="187198"/>
          </a:xfrm>
          <a:prstGeom prst="rect">
            <a:avLst/>
          </a:prstGeom>
        </p:spPr>
      </p:pic>
      <p:sp>
        <p:nvSpPr>
          <p:cNvPr id="80" name="TextBox 79"/>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553692" cy="186689"/>
          </a:xfrm>
          <a:prstGeom prst="rect">
            <a:avLst/>
          </a:prstGeom>
          <a:noFill/>
        </p:spPr>
        <p:txBody>
          <a:bodyPr wrap="none" lIns="0" rIns="0" tIns="0" bIns="0">
            <a:spAutoFit/>
          </a:bodyPr>
          <a:lstStyle/>
          <a:p>
            <a:r>
              <a:rPr sz="1100" b="0">
                <a:solidFill>
                  <a:srgbClr val="2E2E2E"/>
                </a:solidFill>
                <a:latin typeface="Calibri"/>
              </a:rPr>
              <a:t>Regular ingredients segment is projected to</a:t>
            </a:r>
          </a:p>
        </p:txBody>
      </p:sp>
      <p:sp>
        <p:nvSpPr>
          <p:cNvPr id="82" name="TextBox 81"/>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83" name="Picture 82" descr="lock.png"/>
          <p:cNvPicPr>
            <a:picLocks noChangeAspect="1"/>
          </p:cNvPicPr>
          <p:nvPr/>
        </p:nvPicPr>
        <p:blipFill>
          <a:blip r:embed="rId13"/>
          <a:stretch>
            <a:fillRect/>
          </a:stretch>
        </p:blipFill>
        <p:spPr>
          <a:xfrm>
            <a:off x="946316" y="5611070"/>
            <a:ext cx="128699" cy="187198"/>
          </a:xfrm>
          <a:prstGeom prst="rect">
            <a:avLst/>
          </a:prstGeom>
        </p:spPr>
      </p:pic>
      <p:sp>
        <p:nvSpPr>
          <p:cNvPr id="84" name="TextBox 83"/>
          <p:cNvSpPr txBox="1"/>
          <p:nvPr/>
        </p:nvSpPr>
        <p:spPr>
          <a:xfrm>
            <a:off x="1113812" y="5620849"/>
            <a:ext cx="1740867" cy="186689"/>
          </a:xfrm>
          <a:prstGeom prst="rect">
            <a:avLst/>
          </a:prstGeom>
          <a:noFill/>
        </p:spPr>
        <p:txBody>
          <a:bodyPr wrap="none" lIns="0" rIns="0" tIns="0" bIns="0">
            <a:spAutoFit/>
          </a:bodyPr>
          <a:lstStyle/>
          <a:p>
            <a:r>
              <a:rPr sz="1100" b="0">
                <a:solidFill>
                  <a:srgbClr val="2E2E2E"/>
                </a:solidFill>
                <a:latin typeface="Calibri"/>
              </a:rPr>
              <a:t>X higher value than emerging</a:t>
            </a:r>
          </a:p>
        </p:txBody>
      </p:sp>
      <p:sp>
        <p:nvSpPr>
          <p:cNvPr id="85" name="TextBox 84"/>
          <p:cNvSpPr txBox="1"/>
          <p:nvPr/>
        </p:nvSpPr>
        <p:spPr>
          <a:xfrm>
            <a:off x="485775" y="5788489"/>
            <a:ext cx="1726951" cy="186689"/>
          </a:xfrm>
          <a:prstGeom prst="rect">
            <a:avLst/>
          </a:prstGeom>
          <a:noFill/>
        </p:spPr>
        <p:txBody>
          <a:bodyPr wrap="none" lIns="0" rIns="0" tIns="0" bIns="0">
            <a:spAutoFit/>
          </a:bodyPr>
          <a:lstStyle/>
          <a:p>
            <a:r>
              <a:rPr sz="1100" b="0">
                <a:solidFill>
                  <a:srgbClr val="2E2E2E"/>
                </a:solidFill>
                <a:latin typeface="Calibri"/>
              </a:rPr>
              <a:t>ingredients segment in 2036.</a:t>
            </a:r>
          </a:p>
        </p:txBody>
      </p:sp>
      <p:sp>
        <p:nvSpPr>
          <p:cNvPr id="86" name="TextBox 85"/>
          <p:cNvSpPr txBox="1"/>
          <p:nvPr/>
        </p:nvSpPr>
        <p:spPr>
          <a:xfrm>
            <a:off x="3838575" y="4229437"/>
            <a:ext cx="1336501" cy="186689"/>
          </a:xfrm>
          <a:prstGeom prst="rect">
            <a:avLst/>
          </a:prstGeom>
          <a:noFill/>
        </p:spPr>
        <p:txBody>
          <a:bodyPr wrap="none" lIns="0" rIns="0" tIns="0" bIns="0">
            <a:spAutoFit/>
          </a:bodyPr>
          <a:lstStyle/>
          <a:p>
            <a:r>
              <a:rPr sz="1100" b="0">
                <a:solidFill>
                  <a:srgbClr val="2E2E2E"/>
                </a:solidFill>
                <a:latin typeface="Calibri"/>
              </a:rPr>
              <a:t>● Regular Ingredients:</a:t>
            </a:r>
          </a:p>
        </p:txBody>
      </p:sp>
      <p:pic>
        <p:nvPicPr>
          <p:cNvPr id="87" name="Picture 86" descr="lock.png"/>
          <p:cNvPicPr>
            <a:picLocks noChangeAspect="1"/>
          </p:cNvPicPr>
          <p:nvPr/>
        </p:nvPicPr>
        <p:blipFill>
          <a:blip r:embed="rId13"/>
          <a:stretch>
            <a:fillRect/>
          </a:stretch>
        </p:blipFill>
        <p:spPr>
          <a:xfrm>
            <a:off x="5123127" y="4219658"/>
            <a:ext cx="128699" cy="187198"/>
          </a:xfrm>
          <a:prstGeom prst="rect">
            <a:avLst/>
          </a:prstGeom>
        </p:spPr>
      </p:pic>
      <p:sp>
        <p:nvSpPr>
          <p:cNvPr id="88" name="TextBox 87"/>
          <p:cNvSpPr txBox="1"/>
          <p:nvPr/>
        </p:nvSpPr>
        <p:spPr>
          <a:xfrm>
            <a:off x="529062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150074" y="4219658"/>
            <a:ext cx="128699" cy="187198"/>
          </a:xfrm>
          <a:prstGeom prst="rect">
            <a:avLst/>
          </a:prstGeom>
        </p:spPr>
      </p:pic>
      <p:sp>
        <p:nvSpPr>
          <p:cNvPr id="90" name="TextBox 89"/>
          <p:cNvSpPr txBox="1"/>
          <p:nvPr/>
        </p:nvSpPr>
        <p:spPr>
          <a:xfrm>
            <a:off x="6317569"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1" name="TextBox 90"/>
          <p:cNvSpPr txBox="1"/>
          <p:nvPr/>
        </p:nvSpPr>
        <p:spPr>
          <a:xfrm>
            <a:off x="3838575" y="4447369"/>
            <a:ext cx="1439366" cy="186689"/>
          </a:xfrm>
          <a:prstGeom prst="rect">
            <a:avLst/>
          </a:prstGeom>
          <a:noFill/>
        </p:spPr>
        <p:txBody>
          <a:bodyPr wrap="none" lIns="0" rIns="0" tIns="0" bIns="0">
            <a:spAutoFit/>
          </a:bodyPr>
          <a:lstStyle/>
          <a:p>
            <a:r>
              <a:rPr sz="1100" b="0">
                <a:solidFill>
                  <a:srgbClr val="2E2E2E"/>
                </a:solidFill>
                <a:latin typeface="Calibri"/>
              </a:rPr>
              <a:t>● Emerging Ingredients:</a:t>
            </a:r>
          </a:p>
        </p:txBody>
      </p:sp>
      <p:pic>
        <p:nvPicPr>
          <p:cNvPr id="92" name="Picture 91" descr="lock.png"/>
          <p:cNvPicPr>
            <a:picLocks noChangeAspect="1"/>
          </p:cNvPicPr>
          <p:nvPr/>
        </p:nvPicPr>
        <p:blipFill>
          <a:blip r:embed="rId13"/>
          <a:stretch>
            <a:fillRect/>
          </a:stretch>
        </p:blipFill>
        <p:spPr>
          <a:xfrm>
            <a:off x="5225993" y="4437590"/>
            <a:ext cx="128699" cy="187198"/>
          </a:xfrm>
          <a:prstGeom prst="rect">
            <a:avLst/>
          </a:prstGeom>
        </p:spPr>
      </p:pic>
      <p:sp>
        <p:nvSpPr>
          <p:cNvPr id="93" name="TextBox 92"/>
          <p:cNvSpPr txBox="1"/>
          <p:nvPr/>
        </p:nvSpPr>
        <p:spPr>
          <a:xfrm>
            <a:off x="5393488"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4" name="Picture 93" descr="lock.png"/>
          <p:cNvPicPr>
            <a:picLocks noChangeAspect="1"/>
          </p:cNvPicPr>
          <p:nvPr/>
        </p:nvPicPr>
        <p:blipFill>
          <a:blip r:embed="rId13"/>
          <a:stretch>
            <a:fillRect/>
          </a:stretch>
        </p:blipFill>
        <p:spPr>
          <a:xfrm>
            <a:off x="6252939" y="4437590"/>
            <a:ext cx="128699" cy="187198"/>
          </a:xfrm>
          <a:prstGeom prst="rect">
            <a:avLst/>
          </a:prstGeom>
        </p:spPr>
      </p:pic>
      <p:sp>
        <p:nvSpPr>
          <p:cNvPr id="95" name="TextBox 94"/>
          <p:cNvSpPr txBox="1"/>
          <p:nvPr/>
        </p:nvSpPr>
        <p:spPr>
          <a:xfrm>
            <a:off x="6420434"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6" name="TextBox 95"/>
          <p:cNvSpPr txBox="1"/>
          <p:nvPr/>
        </p:nvSpPr>
        <p:spPr>
          <a:xfrm>
            <a:off x="3838575" y="4665301"/>
            <a:ext cx="1228725" cy="186689"/>
          </a:xfrm>
          <a:prstGeom prst="rect">
            <a:avLst/>
          </a:prstGeom>
          <a:noFill/>
        </p:spPr>
        <p:txBody>
          <a:bodyPr wrap="none" lIns="0" rIns="0" tIns="0" bIns="0">
            <a:spAutoFit/>
          </a:bodyPr>
          <a:lstStyle/>
          <a:p>
            <a:r>
              <a:rPr sz="1100" b="0">
                <a:solidFill>
                  <a:srgbClr val="2E2E2E"/>
                </a:solidFill>
                <a:latin typeface="Calibri"/>
              </a:rPr>
              <a:t>● Niche Ingredients:</a:t>
            </a:r>
          </a:p>
        </p:txBody>
      </p:sp>
      <p:pic>
        <p:nvPicPr>
          <p:cNvPr id="97" name="Picture 96" descr="lock.png"/>
          <p:cNvPicPr>
            <a:picLocks noChangeAspect="1"/>
          </p:cNvPicPr>
          <p:nvPr/>
        </p:nvPicPr>
        <p:blipFill>
          <a:blip r:embed="rId13"/>
          <a:stretch>
            <a:fillRect/>
          </a:stretch>
        </p:blipFill>
        <p:spPr>
          <a:xfrm>
            <a:off x="5015351" y="4655522"/>
            <a:ext cx="128699" cy="187198"/>
          </a:xfrm>
          <a:prstGeom prst="rect">
            <a:avLst/>
          </a:prstGeom>
        </p:spPr>
      </p:pic>
      <p:sp>
        <p:nvSpPr>
          <p:cNvPr id="98" name="TextBox 97"/>
          <p:cNvSpPr txBox="1"/>
          <p:nvPr/>
        </p:nvSpPr>
        <p:spPr>
          <a:xfrm>
            <a:off x="518284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3"/>
          <a:stretch>
            <a:fillRect/>
          </a:stretch>
        </p:blipFill>
        <p:spPr>
          <a:xfrm>
            <a:off x="6042297" y="4655522"/>
            <a:ext cx="128699" cy="187198"/>
          </a:xfrm>
          <a:prstGeom prst="rect">
            <a:avLst/>
          </a:prstGeom>
        </p:spPr>
      </p:pic>
      <p:sp>
        <p:nvSpPr>
          <p:cNvPr id="100" name="TextBox 99"/>
          <p:cNvSpPr txBox="1"/>
          <p:nvPr/>
        </p:nvSpPr>
        <p:spPr>
          <a:xfrm>
            <a:off x="6209793"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1" name="TextBox 100"/>
          <p:cNvSpPr txBox="1"/>
          <p:nvPr/>
        </p:nvSpPr>
        <p:spPr>
          <a:xfrm>
            <a:off x="8524875" y="5842641"/>
            <a:ext cx="3094186" cy="194310"/>
          </a:xfrm>
          <a:prstGeom prst="rect">
            <a:avLst/>
          </a:prstGeom>
          <a:noFill/>
        </p:spPr>
        <p:txBody>
          <a:bodyPr wrap="none" lIns="0" rIns="0" tIns="0" bIns="0">
            <a:spAutoFit/>
          </a:bodyPr>
          <a:lstStyle/>
          <a:p>
            <a:r>
              <a:rPr sz="1150" b="1">
                <a:solidFill>
                  <a:srgbClr val="0B2E4A"/>
                </a:solidFill>
                <a:latin typeface="Calibri"/>
              </a:rPr>
              <a:t>The Ingredient Type segment is projected to grow</a:t>
            </a:r>
          </a:p>
        </p:txBody>
      </p:sp>
      <p:sp>
        <p:nvSpPr>
          <p:cNvPr id="102" name="TextBox 101"/>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03" name="Picture 102" descr="lock.png"/>
          <p:cNvPicPr>
            <a:picLocks noChangeAspect="1"/>
          </p:cNvPicPr>
          <p:nvPr/>
        </p:nvPicPr>
        <p:blipFill>
          <a:blip r:embed="rId13"/>
          <a:stretch>
            <a:fillRect/>
          </a:stretch>
        </p:blipFill>
        <p:spPr>
          <a:xfrm>
            <a:off x="9310118" y="6007677"/>
            <a:ext cx="134549" cy="195707"/>
          </a:xfrm>
          <a:prstGeom prst="rect">
            <a:avLst/>
          </a:prstGeom>
        </p:spPr>
      </p:pic>
      <p:sp>
        <p:nvSpPr>
          <p:cNvPr id="104" name="TextBox 103"/>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Ingredient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Ingredient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Ingredient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Ingredient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392991" cy="186689"/>
          </a:xfrm>
          <a:prstGeom prst="rect">
            <a:avLst/>
          </a:prstGeom>
          <a:noFill/>
        </p:spPr>
        <p:txBody>
          <a:bodyPr wrap="none" lIns="0" rIns="0" tIns="0" bIns="0">
            <a:spAutoFit/>
          </a:bodyPr>
          <a:lstStyle/>
          <a:p>
            <a:r>
              <a:rPr sz="1100" b="0">
                <a:solidFill>
                  <a:srgbClr val="2E2E2E"/>
                </a:solidFill>
                <a:latin typeface="Calibri"/>
              </a:rPr>
              <a:t>Regular ingredients followed by emerging ingredients are expected to be the two most attractive ingredient type segments in the North America ceramide sunscreen market in terms of value over the</a:t>
            </a:r>
          </a:p>
        </p:txBody>
      </p:sp>
      <p:sp>
        <p:nvSpPr>
          <p:cNvPr id="20" name="TextBox 19"/>
          <p:cNvSpPr txBox="1"/>
          <p:nvPr/>
        </p:nvSpPr>
        <p:spPr>
          <a:xfrm>
            <a:off x="257175" y="5861685"/>
            <a:ext cx="4955041" cy="186689"/>
          </a:xfrm>
          <a:prstGeom prst="rect">
            <a:avLst/>
          </a:prstGeom>
          <a:noFill/>
        </p:spPr>
        <p:txBody>
          <a:bodyPr wrap="none" lIns="0" rIns="0" tIns="0" bIns="0">
            <a:spAutoFit/>
          </a:bodyPr>
          <a:lstStyle/>
          <a:p>
            <a:r>
              <a:rPr sz="1100" b="0">
                <a:solidFill>
                  <a:srgbClr val="2E2E2E"/>
                </a:solidFill>
                <a:latin typeface="Calibri"/>
              </a:rPr>
              <a:t>forecast period. Regular ingredients and emerging ingredients exhibit a CAGR index of</a:t>
            </a:r>
          </a:p>
        </p:txBody>
      </p:sp>
      <p:pic>
        <p:nvPicPr>
          <p:cNvPr id="21" name="Picture 20" descr="lock.png"/>
          <p:cNvPicPr>
            <a:picLocks noChangeAspect="1"/>
          </p:cNvPicPr>
          <p:nvPr/>
        </p:nvPicPr>
        <p:blipFill>
          <a:blip r:embed="rId6"/>
          <a:stretch>
            <a:fillRect/>
          </a:stretch>
        </p:blipFill>
        <p:spPr>
          <a:xfrm>
            <a:off x="5160268" y="5851905"/>
            <a:ext cx="128699" cy="187198"/>
          </a:xfrm>
          <a:prstGeom prst="rect">
            <a:avLst/>
          </a:prstGeom>
        </p:spPr>
      </p:pic>
      <p:sp>
        <p:nvSpPr>
          <p:cNvPr id="22" name="TextBox 21"/>
          <p:cNvSpPr txBox="1"/>
          <p:nvPr/>
        </p:nvSpPr>
        <p:spPr>
          <a:xfrm>
            <a:off x="532776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565658" y="5851905"/>
            <a:ext cx="128699" cy="187198"/>
          </a:xfrm>
          <a:prstGeom prst="rect">
            <a:avLst/>
          </a:prstGeom>
        </p:spPr>
      </p:pic>
      <p:sp>
        <p:nvSpPr>
          <p:cNvPr id="24" name="TextBox 23"/>
          <p:cNvSpPr txBox="1"/>
          <p:nvPr/>
        </p:nvSpPr>
        <p:spPr>
          <a:xfrm>
            <a:off x="573315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342127" y="5851905"/>
            <a:ext cx="128699" cy="187198"/>
          </a:xfrm>
          <a:prstGeom prst="rect">
            <a:avLst/>
          </a:prstGeom>
        </p:spPr>
      </p:pic>
      <p:sp>
        <p:nvSpPr>
          <p:cNvPr id="26" name="TextBox 25"/>
          <p:cNvSpPr txBox="1"/>
          <p:nvPr/>
        </p:nvSpPr>
        <p:spPr>
          <a:xfrm>
            <a:off x="750962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747518" y="5851905"/>
            <a:ext cx="128699" cy="187198"/>
          </a:xfrm>
          <a:prstGeom prst="rect">
            <a:avLst/>
          </a:prstGeom>
        </p:spPr>
      </p:pic>
      <p:sp>
        <p:nvSpPr>
          <p:cNvPr id="28" name="TextBox 27"/>
          <p:cNvSpPr txBox="1"/>
          <p:nvPr/>
        </p:nvSpPr>
        <p:spPr>
          <a:xfrm>
            <a:off x="7915013"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469417" y="5851905"/>
            <a:ext cx="128699" cy="187198"/>
          </a:xfrm>
          <a:prstGeom prst="rect">
            <a:avLst/>
          </a:prstGeom>
        </p:spPr>
      </p:pic>
      <p:sp>
        <p:nvSpPr>
          <p:cNvPr id="30" name="TextBox 29"/>
          <p:cNvSpPr txBox="1"/>
          <p:nvPr/>
        </p:nvSpPr>
        <p:spPr>
          <a:xfrm>
            <a:off x="10636913" y="5861685"/>
            <a:ext cx="693663" cy="186689"/>
          </a:xfrm>
          <a:prstGeom prst="rect">
            <a:avLst/>
          </a:prstGeom>
          <a:noFill/>
        </p:spPr>
        <p:txBody>
          <a:bodyPr wrap="none" lIns="0" rIns="0" tIns="0" bIns="0">
            <a:spAutoFit/>
          </a:bodyPr>
          <a:lstStyle/>
          <a:p>
            <a:r>
              <a:rPr sz="1100" b="0">
                <a:solidFill>
                  <a:srgbClr val="2E2E2E"/>
                </a:solidFill>
                <a:latin typeface="Calibri"/>
              </a:rPr>
              <a:t>. The niche</a:t>
            </a:r>
          </a:p>
        </p:txBody>
      </p:sp>
      <p:sp>
        <p:nvSpPr>
          <p:cNvPr id="31" name="TextBox 30"/>
          <p:cNvSpPr txBox="1"/>
          <p:nvPr/>
        </p:nvSpPr>
        <p:spPr>
          <a:xfrm>
            <a:off x="257175" y="6029325"/>
            <a:ext cx="11539751" cy="186689"/>
          </a:xfrm>
          <a:prstGeom prst="rect">
            <a:avLst/>
          </a:prstGeom>
          <a:noFill/>
        </p:spPr>
        <p:txBody>
          <a:bodyPr wrap="none" lIns="0" rIns="0" tIns="0" bIns="0">
            <a:spAutoFit/>
          </a:bodyPr>
          <a:lstStyle/>
          <a:p>
            <a:r>
              <a:rPr sz="1100" b="0">
                <a:solidFill>
                  <a:srgbClr val="2E2E2E"/>
                </a:solidFill>
                <a:latin typeface="Calibri"/>
              </a:rPr>
              <a:t>ingredients segment is expected to be less attractive as compared to other segments over the forecast period, owing to its lower CAGR and incremental opportunity. Bubbles right of the CAGR-Index line</a:t>
            </a:r>
          </a:p>
        </p:txBody>
      </p:sp>
      <p:sp>
        <p:nvSpPr>
          <p:cNvPr id="32" name="TextBox 31"/>
          <p:cNvSpPr txBox="1"/>
          <p:nvPr/>
        </p:nvSpPr>
        <p:spPr>
          <a:xfrm>
            <a:off x="257175" y="619696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Ingredient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Ingredient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Regular Ingredients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Niche Ingredients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Emerging Ingredients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Ingredient Type</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484320"/>
            <a:ext cx="4627118" cy="194310"/>
          </a:xfrm>
          <a:prstGeom prst="rect">
            <a:avLst/>
          </a:prstGeom>
          <a:noFill/>
        </p:spPr>
        <p:txBody>
          <a:bodyPr wrap="none" lIns="0" rIns="0" tIns="0" bIns="0">
            <a:spAutoFit/>
          </a:bodyPr>
          <a:lstStyle/>
          <a:p>
            <a:r>
              <a:rPr sz="1150" b="0">
                <a:solidFill>
                  <a:srgbClr val="2E2E2E"/>
                </a:solidFill>
                <a:latin typeface="Calibri"/>
              </a:rPr>
              <a:t>By 2036, regular ingredients segment is anticipated to witness an increase of</a:t>
            </a:r>
          </a:p>
        </p:txBody>
      </p:sp>
      <p:pic>
        <p:nvPicPr>
          <p:cNvPr id="28" name="Picture 27" descr="lock.png"/>
          <p:cNvPicPr>
            <a:picLocks noChangeAspect="1"/>
          </p:cNvPicPr>
          <p:nvPr/>
        </p:nvPicPr>
        <p:blipFill>
          <a:blip r:embed="rId7"/>
          <a:stretch>
            <a:fillRect/>
          </a:stretch>
        </p:blipFill>
        <p:spPr>
          <a:xfrm>
            <a:off x="10881822" y="4474096"/>
            <a:ext cx="134549" cy="195707"/>
          </a:xfrm>
          <a:prstGeom prst="rect">
            <a:avLst/>
          </a:prstGeom>
        </p:spPr>
      </p:pic>
      <p:sp>
        <p:nvSpPr>
          <p:cNvPr id="29" name="TextBox 28"/>
          <p:cNvSpPr txBox="1"/>
          <p:nvPr/>
        </p:nvSpPr>
        <p:spPr>
          <a:xfrm>
            <a:off x="11056931" y="448432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0" name="TextBox 29"/>
          <p:cNvSpPr txBox="1"/>
          <p:nvPr/>
        </p:nvSpPr>
        <p:spPr>
          <a:xfrm>
            <a:off x="6305550" y="4659580"/>
            <a:ext cx="5128617" cy="194310"/>
          </a:xfrm>
          <a:prstGeom prst="rect">
            <a:avLst/>
          </a:prstGeom>
          <a:noFill/>
        </p:spPr>
        <p:txBody>
          <a:bodyPr wrap="none" lIns="0" rIns="0" tIns="0" bIns="0">
            <a:spAutoFit/>
          </a:bodyPr>
          <a:lstStyle/>
          <a:p>
            <a:r>
              <a:rPr sz="1150" b="0">
                <a:solidFill>
                  <a:srgbClr val="2E2E2E"/>
                </a:solidFill>
                <a:latin typeface="Calibri"/>
              </a:rPr>
              <a:t>value as compared to 2026. The regular ingredients segment is expected to create an</a:t>
            </a:r>
          </a:p>
        </p:txBody>
      </p:sp>
      <p:sp>
        <p:nvSpPr>
          <p:cNvPr id="31" name="TextBox 30"/>
          <p:cNvSpPr txBox="1"/>
          <p:nvPr/>
        </p:nvSpPr>
        <p:spPr>
          <a:xfrm>
            <a:off x="6305550" y="4834840"/>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32" name="Picture 31" descr="lock.png"/>
          <p:cNvPicPr>
            <a:picLocks noChangeAspect="1"/>
          </p:cNvPicPr>
          <p:nvPr/>
        </p:nvPicPr>
        <p:blipFill>
          <a:blip r:embed="rId7"/>
          <a:stretch>
            <a:fillRect/>
          </a:stretch>
        </p:blipFill>
        <p:spPr>
          <a:xfrm>
            <a:off x="8211582" y="4824616"/>
            <a:ext cx="134549" cy="195707"/>
          </a:xfrm>
          <a:prstGeom prst="rect">
            <a:avLst/>
          </a:prstGeom>
        </p:spPr>
      </p:pic>
      <p:sp>
        <p:nvSpPr>
          <p:cNvPr id="33" name="TextBox 32"/>
          <p:cNvSpPr txBox="1"/>
          <p:nvPr/>
        </p:nvSpPr>
        <p:spPr>
          <a:xfrm>
            <a:off x="8386692" y="4834840"/>
            <a:ext cx="3487551"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 2026</a:t>
            </a:r>
          </a:p>
        </p:txBody>
      </p:sp>
      <p:sp>
        <p:nvSpPr>
          <p:cNvPr id="34" name="TextBox 33"/>
          <p:cNvSpPr txBox="1"/>
          <p:nvPr/>
        </p:nvSpPr>
        <p:spPr>
          <a:xfrm>
            <a:off x="6305550" y="5010100"/>
            <a:ext cx="568833" cy="194310"/>
          </a:xfrm>
          <a:prstGeom prst="rect">
            <a:avLst/>
          </a:prstGeom>
          <a:noFill/>
        </p:spPr>
        <p:txBody>
          <a:bodyPr wrap="none" lIns="0" rIns="0" tIns="0" bIns="0">
            <a:spAutoFit/>
          </a:bodyPr>
          <a:lstStyle/>
          <a:p>
            <a:r>
              <a:rPr sz="1150" b="0">
                <a:solidFill>
                  <a:srgbClr val="2E2E2E"/>
                </a:solidFill>
                <a:latin typeface="Calibri"/>
              </a:rPr>
              <a:t>to 2036.</a:t>
            </a:r>
          </a:p>
        </p:txBody>
      </p:sp>
      <p:sp>
        <p:nvSpPr>
          <p:cNvPr id="35" name="TextBox 34"/>
          <p:cNvSpPr txBox="1"/>
          <p:nvPr/>
        </p:nvSpPr>
        <p:spPr>
          <a:xfrm>
            <a:off x="6305550" y="5237938"/>
            <a:ext cx="5506008" cy="194310"/>
          </a:xfrm>
          <a:prstGeom prst="rect">
            <a:avLst/>
          </a:prstGeom>
          <a:noFill/>
        </p:spPr>
        <p:txBody>
          <a:bodyPr wrap="none" lIns="0" rIns="0" tIns="0" bIns="0">
            <a:spAutoFit/>
          </a:bodyPr>
          <a:lstStyle/>
          <a:p>
            <a:r>
              <a:rPr sz="1150" b="0">
                <a:solidFill>
                  <a:srgbClr val="2E2E2E"/>
                </a:solidFill>
                <a:latin typeface="Calibri"/>
              </a:rPr>
              <a:t>The emerging ingredients segment is expected to create an incremental opportunity of US$</a:t>
            </a:r>
          </a:p>
        </p:txBody>
      </p:sp>
      <p:pic>
        <p:nvPicPr>
          <p:cNvPr id="36" name="Picture 35" descr="lock.png"/>
          <p:cNvPicPr>
            <a:picLocks noChangeAspect="1"/>
          </p:cNvPicPr>
          <p:nvPr/>
        </p:nvPicPr>
        <p:blipFill>
          <a:blip r:embed="rId7"/>
          <a:stretch>
            <a:fillRect/>
          </a:stretch>
        </p:blipFill>
        <p:spPr>
          <a:xfrm>
            <a:off x="6291470" y="5402974"/>
            <a:ext cx="134549" cy="195707"/>
          </a:xfrm>
          <a:prstGeom prst="rect">
            <a:avLst/>
          </a:prstGeom>
        </p:spPr>
      </p:pic>
      <p:sp>
        <p:nvSpPr>
          <p:cNvPr id="37" name="TextBox 36"/>
          <p:cNvSpPr txBox="1"/>
          <p:nvPr/>
        </p:nvSpPr>
        <p:spPr>
          <a:xfrm>
            <a:off x="6466579" y="5413197"/>
            <a:ext cx="5324016"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 2026 to 2036. The niche ingredients</a:t>
            </a:r>
          </a:p>
        </p:txBody>
      </p:sp>
      <p:sp>
        <p:nvSpPr>
          <p:cNvPr id="38" name="TextBox 37"/>
          <p:cNvSpPr txBox="1"/>
          <p:nvPr/>
        </p:nvSpPr>
        <p:spPr>
          <a:xfrm>
            <a:off x="6305550" y="5588457"/>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10210642" y="5578234"/>
            <a:ext cx="134549" cy="195707"/>
          </a:xfrm>
          <a:prstGeom prst="rect">
            <a:avLst/>
          </a:prstGeom>
        </p:spPr>
      </p:pic>
      <p:sp>
        <p:nvSpPr>
          <p:cNvPr id="40" name="TextBox 39"/>
          <p:cNvSpPr txBox="1"/>
          <p:nvPr/>
        </p:nvSpPr>
        <p:spPr>
          <a:xfrm>
            <a:off x="10385751" y="5588457"/>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41" name="TextBox 40"/>
          <p:cNvSpPr txBox="1"/>
          <p:nvPr/>
        </p:nvSpPr>
        <p:spPr>
          <a:xfrm>
            <a:off x="6305550" y="5763717"/>
            <a:ext cx="2904207" cy="194310"/>
          </a:xfrm>
          <a:prstGeom prst="rect">
            <a:avLst/>
          </a:prstGeom>
          <a:noFill/>
        </p:spPr>
        <p:txBody>
          <a:bodyPr wrap="none" lIns="0" rIns="0" tIns="0" bIns="0">
            <a:spAutoFit/>
          </a:bodyPr>
          <a:lstStyle/>
          <a:p>
            <a:r>
              <a:rPr sz="1150" b="0">
                <a:solidFill>
                  <a:srgbClr val="2E2E2E"/>
                </a:solidFill>
                <a:latin typeface="Calibri"/>
              </a:rPr>
              <a:t>ceramide sunscreen market from 2026 to 2036.</a:t>
            </a:r>
          </a:p>
        </p:txBody>
      </p:sp>
      <p:sp>
        <p:nvSpPr>
          <p:cNvPr id="42"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Ingredient Type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Ingredient Type, 2021–2036, highlighting the sub-segments driving growth</a:t>
            </a:r>
          </a:p>
        </p:txBody>
      </p:sp>
      <p:sp>
        <p:nvSpPr>
          <p:cNvPr id="10" name="Rounded Rectangle 9"/>
          <p:cNvSpPr/>
          <p:nvPr/>
        </p:nvSpPr>
        <p:spPr>
          <a:xfrm>
            <a:off x="142875" y="981075"/>
            <a:ext cx="11906250" cy="4162425"/>
          </a:xfrm>
          <a:prstGeom prst="roundRect">
            <a:avLst>
              <a:gd name="adj" fmla="val 18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Ingredient Type (US$ Mn)</a:t>
            </a:r>
          </a:p>
        </p:txBody>
      </p:sp>
      <p:graphicFrame>
        <p:nvGraphicFramePr>
          <p:cNvPr id="12" name="Table 11"/>
          <p:cNvGraphicFramePr>
            <a:graphicFrameLocks noGrp="1"/>
          </p:cNvGraphicFramePr>
          <p:nvPr/>
        </p:nvGraphicFramePr>
        <p:xfrm>
          <a:off x="152400" y="1238250"/>
          <a:ext cx="11887203" cy="3695698"/>
        </p:xfrm>
        <a:graphic>
          <a:graphicData uri="http://schemas.openxmlformats.org/drawingml/2006/table">
            <a:tbl>
              <a:tblPr>
                <a:tableStyleId>{5C22544A-7EE6-4342-B048-85BDC9FD1C3A}</a:tableStyleId>
              </a:tblPr>
              <a:tblGrid>
                <a:gridCol w="2813372"/>
                <a:gridCol w="545051"/>
                <a:gridCol w="545051"/>
                <a:gridCol w="545051"/>
                <a:gridCol w="545051"/>
                <a:gridCol w="545051"/>
                <a:gridCol w="525851"/>
                <a:gridCol w="520366"/>
                <a:gridCol w="520366"/>
                <a:gridCol w="520366"/>
                <a:gridCol w="520366"/>
                <a:gridCol w="520366"/>
                <a:gridCol w="520366"/>
                <a:gridCol w="520366"/>
                <a:gridCol w="520366"/>
                <a:gridCol w="520366"/>
                <a:gridCol w="520366"/>
                <a:gridCol w="619065"/>
              </a:tblGrid>
              <a:tr h="246126">
                <a:tc>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98">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Ceramide NP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 AP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Ceramide EOP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 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Ceramide 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 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Multi-ceramide blends and complexes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Niche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Ceramide EOS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 EOH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Specialized ceramide-lipid complexes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Ceramide-based liquid-crystal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Emerging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943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315997" y="2942461"/>
            <a:ext cx="366712" cy="533400"/>
          </a:xfrm>
          <a:prstGeom prst="rect">
            <a:avLst/>
          </a:prstGeom>
        </p:spPr>
      </p:pic>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Ingredient Type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Ingredient Type,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Ingredient Type (US$ Mn)</a:t>
            </a:r>
          </a:p>
        </p:txBody>
      </p:sp>
      <p:graphicFrame>
        <p:nvGraphicFramePr>
          <p:cNvPr id="12" name="Table 11"/>
          <p:cNvGraphicFramePr>
            <a:graphicFrameLocks noGrp="1"/>
          </p:cNvGraphicFramePr>
          <p:nvPr/>
        </p:nvGraphicFramePr>
        <p:xfrm>
          <a:off x="152400" y="1238250"/>
          <a:ext cx="11887205" cy="1724022"/>
        </p:xfrm>
        <a:graphic>
          <a:graphicData uri="http://schemas.openxmlformats.org/drawingml/2006/table">
            <a:tbl>
              <a:tblPr>
                <a:tableStyleId>{5C22544A-7EE6-4342-B048-85BDC9FD1C3A}</a:tableStyleId>
              </a:tblPr>
              <a:tblGrid>
                <a:gridCol w="2979849"/>
                <a:gridCol w="535051"/>
                <a:gridCol w="535051"/>
                <a:gridCol w="535051"/>
                <a:gridCol w="535051"/>
                <a:gridCol w="535051"/>
                <a:gridCol w="516204"/>
                <a:gridCol w="510819"/>
                <a:gridCol w="510819"/>
                <a:gridCol w="510819"/>
                <a:gridCol w="510819"/>
                <a:gridCol w="510819"/>
                <a:gridCol w="510819"/>
                <a:gridCol w="510819"/>
                <a:gridCol w="510819"/>
                <a:gridCol w="510819"/>
                <a:gridCol w="510819"/>
                <a:gridCol w="607707"/>
              </a:tblGrid>
              <a:tr h="246126">
                <a:tc>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 Fermentation-derived ceramides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Biotechnologically produced ceramides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Encapsulated ceramide delivery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Ceramide-loaded liposomal systems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Advanced ceramide delivery technologies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Ingredient Type</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99237" y="1956623"/>
            <a:ext cx="366712" cy="533400"/>
          </a:xfrm>
          <a:prstGeom prst="rect">
            <a:avLst/>
          </a:prstGeom>
        </p:spPr>
      </p:pic>
      <p:sp>
        <p:nvSpPr>
          <p:cNvPr id="20" name="TextBox 19"/>
          <p:cNvSpPr txBox="1"/>
          <p:nvPr/>
        </p:nvSpPr>
        <p:spPr>
          <a:xfrm>
            <a:off x="276225" y="3724275"/>
            <a:ext cx="3155515" cy="194310"/>
          </a:xfrm>
          <a:prstGeom prst="rect">
            <a:avLst/>
          </a:prstGeom>
          <a:noFill/>
        </p:spPr>
        <p:txBody>
          <a:bodyPr wrap="none" lIns="0" rIns="0" tIns="0" bIns="0">
            <a:spAutoFit/>
          </a:bodyPr>
          <a:lstStyle/>
          <a:p>
            <a:r>
              <a:rPr sz="1150" b="0">
                <a:solidFill>
                  <a:srgbClr val="2E2E2E"/>
                </a:solidFill>
                <a:latin typeface="Calibri"/>
              </a:rPr>
              <a:t>Regular ingredients segment is projected to register</a:t>
            </a:r>
          </a:p>
        </p:txBody>
      </p:sp>
      <p:pic>
        <p:nvPicPr>
          <p:cNvPr id="21" name="Picture 20" descr="lock.png"/>
          <p:cNvPicPr>
            <a:picLocks noChangeAspect="1"/>
          </p:cNvPicPr>
          <p:nvPr/>
        </p:nvPicPr>
        <p:blipFill>
          <a:blip r:embed="rId4"/>
          <a:stretch>
            <a:fillRect/>
          </a:stretch>
        </p:blipFill>
        <p:spPr>
          <a:xfrm>
            <a:off x="3380894" y="3714051"/>
            <a:ext cx="134549" cy="195707"/>
          </a:xfrm>
          <a:prstGeom prst="rect">
            <a:avLst/>
          </a:prstGeom>
        </p:spPr>
      </p:pic>
      <p:sp>
        <p:nvSpPr>
          <p:cNvPr id="22" name="TextBox 21"/>
          <p:cNvSpPr txBox="1"/>
          <p:nvPr/>
        </p:nvSpPr>
        <p:spPr>
          <a:xfrm>
            <a:off x="3556004" y="3724275"/>
            <a:ext cx="8254714" cy="194310"/>
          </a:xfrm>
          <a:prstGeom prst="rect">
            <a:avLst/>
          </a:prstGeom>
          <a:noFill/>
        </p:spPr>
        <p:txBody>
          <a:bodyPr wrap="none" lIns="0" rIns="0" tIns="0" bIns="0">
            <a:spAutoFit/>
          </a:bodyPr>
          <a:lstStyle/>
          <a:p>
            <a:r>
              <a:rPr sz="1150" b="0">
                <a:solidFill>
                  <a:srgbClr val="2E2E2E"/>
                </a:solidFill>
                <a:latin typeface="Calibri"/>
              </a:rPr>
              <a:t>X higher value than emerging ingredients segment in 2036. Among ceramide sunscreen by ingredient type, emerging ingredients segment</a:t>
            </a:r>
          </a:p>
        </p:txBody>
      </p:sp>
      <p:sp>
        <p:nvSpPr>
          <p:cNvPr id="23" name="TextBox 22"/>
          <p:cNvSpPr txBox="1"/>
          <p:nvPr/>
        </p:nvSpPr>
        <p:spPr>
          <a:xfrm>
            <a:off x="276225" y="389953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24" name="Picture 23" descr="lock.png"/>
          <p:cNvPicPr>
            <a:picLocks noChangeAspect="1"/>
          </p:cNvPicPr>
          <p:nvPr/>
        </p:nvPicPr>
        <p:blipFill>
          <a:blip r:embed="rId4"/>
          <a:stretch>
            <a:fillRect/>
          </a:stretch>
        </p:blipFill>
        <p:spPr>
          <a:xfrm>
            <a:off x="2835186" y="3889311"/>
            <a:ext cx="134549" cy="195707"/>
          </a:xfrm>
          <a:prstGeom prst="rect">
            <a:avLst/>
          </a:prstGeom>
        </p:spPr>
      </p:pic>
      <p:sp>
        <p:nvSpPr>
          <p:cNvPr id="25" name="TextBox 24"/>
          <p:cNvSpPr txBox="1"/>
          <p:nvPr/>
        </p:nvSpPr>
        <p:spPr>
          <a:xfrm>
            <a:off x="3010295"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7104000" cy="194310"/>
          </a:xfrm>
          <a:prstGeom prst="rect">
            <a:avLst/>
          </a:prstGeom>
          <a:noFill/>
        </p:spPr>
        <p:txBody>
          <a:bodyPr wrap="none" lIns="0" rIns="0" tIns="0" bIns="0">
            <a:spAutoFit/>
          </a:bodyPr>
          <a:lstStyle/>
          <a:p>
            <a:r>
              <a:rPr sz="1150" b="0">
                <a:solidFill>
                  <a:srgbClr val="2E2E2E"/>
                </a:solidFill>
                <a:latin typeface="Calibri"/>
              </a:rPr>
              <a:t>In terms of value share by ingredient type, the regular ingredients segment is expected to dominate the market, losing</a:t>
            </a:r>
          </a:p>
        </p:txBody>
      </p:sp>
      <p:pic>
        <p:nvPicPr>
          <p:cNvPr id="27" name="Picture 26" descr="lock.png"/>
          <p:cNvPicPr>
            <a:picLocks noChangeAspect="1"/>
          </p:cNvPicPr>
          <p:nvPr/>
        </p:nvPicPr>
        <p:blipFill>
          <a:blip r:embed="rId4"/>
          <a:stretch>
            <a:fillRect/>
          </a:stretch>
        </p:blipFill>
        <p:spPr>
          <a:xfrm>
            <a:off x="7329379" y="4117149"/>
            <a:ext cx="134549" cy="195707"/>
          </a:xfrm>
          <a:prstGeom prst="rect">
            <a:avLst/>
          </a:prstGeom>
        </p:spPr>
      </p:pic>
      <p:sp>
        <p:nvSpPr>
          <p:cNvPr id="28" name="TextBox 27"/>
          <p:cNvSpPr txBox="1"/>
          <p:nvPr/>
        </p:nvSpPr>
        <p:spPr>
          <a:xfrm>
            <a:off x="7504488"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899631" y="4117149"/>
            <a:ext cx="134549" cy="195707"/>
          </a:xfrm>
          <a:prstGeom prst="rect">
            <a:avLst/>
          </a:prstGeom>
        </p:spPr>
      </p:pic>
      <p:sp>
        <p:nvSpPr>
          <p:cNvPr id="30" name="TextBox 29"/>
          <p:cNvSpPr txBox="1"/>
          <p:nvPr/>
        </p:nvSpPr>
        <p:spPr>
          <a:xfrm>
            <a:off x="9074741" y="4127372"/>
            <a:ext cx="2256966" cy="194310"/>
          </a:xfrm>
          <a:prstGeom prst="rect">
            <a:avLst/>
          </a:prstGeom>
          <a:noFill/>
        </p:spPr>
        <p:txBody>
          <a:bodyPr wrap="none" lIns="0" rIns="0" tIns="0" bIns="0">
            <a:spAutoFit/>
          </a:bodyPr>
          <a:lstStyle/>
          <a:p>
            <a:r>
              <a:rPr sz="1150" b="0">
                <a:solidFill>
                  <a:srgbClr val="2E2E2E"/>
                </a:solidFill>
                <a:latin typeface="Calibri"/>
              </a:rPr>
              <a:t>share by 2036. The niche ingredients</a:t>
            </a:r>
          </a:p>
        </p:txBody>
      </p:sp>
      <p:sp>
        <p:nvSpPr>
          <p:cNvPr id="31" name="TextBox 30"/>
          <p:cNvSpPr txBox="1"/>
          <p:nvPr/>
        </p:nvSpPr>
        <p:spPr>
          <a:xfrm>
            <a:off x="276225" y="430263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2" name="Picture 31" descr="lock.png"/>
          <p:cNvPicPr>
            <a:picLocks noChangeAspect="1"/>
          </p:cNvPicPr>
          <p:nvPr/>
        </p:nvPicPr>
        <p:blipFill>
          <a:blip r:embed="rId4"/>
          <a:stretch>
            <a:fillRect/>
          </a:stretch>
        </p:blipFill>
        <p:spPr>
          <a:xfrm>
            <a:off x="1950917" y="4292409"/>
            <a:ext cx="134549" cy="195707"/>
          </a:xfrm>
          <a:prstGeom prst="rect">
            <a:avLst/>
          </a:prstGeom>
        </p:spPr>
      </p:pic>
      <p:sp>
        <p:nvSpPr>
          <p:cNvPr id="33" name="TextBox 32"/>
          <p:cNvSpPr txBox="1"/>
          <p:nvPr/>
        </p:nvSpPr>
        <p:spPr>
          <a:xfrm>
            <a:off x="2126026"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713530" y="4292409"/>
            <a:ext cx="134549" cy="195707"/>
          </a:xfrm>
          <a:prstGeom prst="rect">
            <a:avLst/>
          </a:prstGeom>
        </p:spPr>
      </p:pic>
      <p:sp>
        <p:nvSpPr>
          <p:cNvPr id="35" name="TextBox 34"/>
          <p:cNvSpPr txBox="1"/>
          <p:nvPr/>
        </p:nvSpPr>
        <p:spPr>
          <a:xfrm>
            <a:off x="4888640"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Ingredient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Ingredient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Ingredient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08799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08322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00702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Niche Ingredients</a:t>
            </a:r>
          </a:p>
        </p:txBody>
      </p:sp>
      <p:sp>
        <p:nvSpPr>
          <p:cNvPr id="18" name="BPS Value 1"/>
          <p:cNvSpPr txBox="1"/>
          <p:nvPr/>
        </p:nvSpPr>
        <p:spPr>
          <a:xfrm>
            <a:off x="6896100" y="206894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329742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329266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321646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Emerging Ingredients</a:t>
            </a:r>
          </a:p>
        </p:txBody>
      </p:sp>
      <p:sp>
        <p:nvSpPr>
          <p:cNvPr id="22" name="BPS Value 2"/>
          <p:cNvSpPr txBox="1"/>
          <p:nvPr/>
        </p:nvSpPr>
        <p:spPr>
          <a:xfrm>
            <a:off x="6896100" y="327837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516688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516212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508592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Regular Ingredients</a:t>
            </a:r>
          </a:p>
        </p:txBody>
      </p:sp>
      <p:sp>
        <p:nvSpPr>
          <p:cNvPr id="26" name="BPS Value 3"/>
          <p:cNvSpPr txBox="1"/>
          <p:nvPr/>
        </p:nvSpPr>
        <p:spPr>
          <a:xfrm>
            <a:off x="6896100" y="514783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Ingredient Type</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833622"/>
            <a:ext cx="275034" cy="400050"/>
          </a:xfrm>
          <a:prstGeom prst="rect">
            <a:avLst/>
          </a:prstGeom>
        </p:spPr>
      </p:pic>
      <p:sp>
        <p:nvSpPr>
          <p:cNvPr id="33" name="TextBox 32"/>
          <p:cNvSpPr txBox="1"/>
          <p:nvPr/>
        </p:nvSpPr>
        <p:spPr>
          <a:xfrm>
            <a:off x="7829550" y="1400175"/>
            <a:ext cx="3473574" cy="194310"/>
          </a:xfrm>
          <a:prstGeom prst="rect">
            <a:avLst/>
          </a:prstGeom>
          <a:noFill/>
        </p:spPr>
        <p:txBody>
          <a:bodyPr wrap="none" lIns="0" rIns="0" tIns="0" bIns="0">
            <a:spAutoFit/>
          </a:bodyPr>
          <a:lstStyle/>
          <a:p>
            <a:r>
              <a:rPr sz="1150" b="0">
                <a:solidFill>
                  <a:srgbClr val="2E2E2E"/>
                </a:solidFill>
                <a:latin typeface="Calibri"/>
              </a:rPr>
              <a:t>Among ceramide sunscreen by ingredient type, emerging</a:t>
            </a:r>
          </a:p>
        </p:txBody>
      </p:sp>
      <p:sp>
        <p:nvSpPr>
          <p:cNvPr id="34" name="TextBox 33"/>
          <p:cNvSpPr txBox="1"/>
          <p:nvPr/>
        </p:nvSpPr>
        <p:spPr>
          <a:xfrm>
            <a:off x="7829550" y="1575435"/>
            <a:ext cx="3858648" cy="194310"/>
          </a:xfrm>
          <a:prstGeom prst="rect">
            <a:avLst/>
          </a:prstGeom>
          <a:noFill/>
        </p:spPr>
        <p:txBody>
          <a:bodyPr wrap="none" lIns="0" rIns="0" tIns="0" bIns="0">
            <a:spAutoFit/>
          </a:bodyPr>
          <a:lstStyle/>
          <a:p>
            <a:r>
              <a:rPr sz="1150" b="0">
                <a:solidFill>
                  <a:srgbClr val="2E2E2E"/>
                </a:solidFill>
                <a:latin typeface="Calibri"/>
              </a:rPr>
              <a:t>ingredients segment is expected to witness the highest CAGR of</a:t>
            </a:r>
          </a:p>
        </p:txBody>
      </p:sp>
      <p:pic>
        <p:nvPicPr>
          <p:cNvPr id="35" name="Picture 34" descr="lock.png"/>
          <p:cNvPicPr>
            <a:picLocks noChangeAspect="1"/>
          </p:cNvPicPr>
          <p:nvPr/>
        </p:nvPicPr>
        <p:blipFill>
          <a:blip r:embed="rId5"/>
          <a:stretch>
            <a:fillRect/>
          </a:stretch>
        </p:blipFill>
        <p:spPr>
          <a:xfrm>
            <a:off x="7815470" y="1740471"/>
            <a:ext cx="134549" cy="195707"/>
          </a:xfrm>
          <a:prstGeom prst="rect">
            <a:avLst/>
          </a:prstGeom>
        </p:spPr>
      </p:pic>
      <p:sp>
        <p:nvSpPr>
          <p:cNvPr id="36" name="TextBox 35"/>
          <p:cNvSpPr txBox="1"/>
          <p:nvPr/>
        </p:nvSpPr>
        <p:spPr>
          <a:xfrm>
            <a:off x="7990579" y="1750695"/>
            <a:ext cx="3763106"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ingredient</a:t>
            </a:r>
          </a:p>
        </p:txBody>
      </p:sp>
      <p:sp>
        <p:nvSpPr>
          <p:cNvPr id="37" name="TextBox 36"/>
          <p:cNvSpPr txBox="1"/>
          <p:nvPr/>
        </p:nvSpPr>
        <p:spPr>
          <a:xfrm>
            <a:off x="7829550" y="1925955"/>
            <a:ext cx="4014130" cy="194310"/>
          </a:xfrm>
          <a:prstGeom prst="rect">
            <a:avLst/>
          </a:prstGeom>
          <a:noFill/>
        </p:spPr>
        <p:txBody>
          <a:bodyPr wrap="none" lIns="0" rIns="0" tIns="0" bIns="0">
            <a:spAutoFit/>
          </a:bodyPr>
          <a:lstStyle/>
          <a:p>
            <a:r>
              <a:rPr sz="1150" b="0">
                <a:solidFill>
                  <a:srgbClr val="2E2E2E"/>
                </a:solidFill>
                <a:latin typeface="Calibri"/>
              </a:rPr>
              <a:t>type, the regular ingredients segment is expected to dominate the</a:t>
            </a:r>
          </a:p>
        </p:txBody>
      </p:sp>
      <p:sp>
        <p:nvSpPr>
          <p:cNvPr id="38" name="TextBox 37"/>
          <p:cNvSpPr txBox="1"/>
          <p:nvPr/>
        </p:nvSpPr>
        <p:spPr>
          <a:xfrm>
            <a:off x="7829550" y="2101215"/>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39" name="Picture 38" descr="lock.png"/>
          <p:cNvPicPr>
            <a:picLocks noChangeAspect="1"/>
          </p:cNvPicPr>
          <p:nvPr/>
        </p:nvPicPr>
        <p:blipFill>
          <a:blip r:embed="rId5"/>
          <a:stretch>
            <a:fillRect/>
          </a:stretch>
        </p:blipFill>
        <p:spPr>
          <a:xfrm>
            <a:off x="8697258" y="2090991"/>
            <a:ext cx="134549" cy="195707"/>
          </a:xfrm>
          <a:prstGeom prst="rect">
            <a:avLst/>
          </a:prstGeom>
        </p:spPr>
      </p:pic>
      <p:sp>
        <p:nvSpPr>
          <p:cNvPr id="40" name="TextBox 39"/>
          <p:cNvSpPr txBox="1"/>
          <p:nvPr/>
        </p:nvSpPr>
        <p:spPr>
          <a:xfrm>
            <a:off x="8872367"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1" name="Picture 40" descr="lock.png"/>
          <p:cNvPicPr>
            <a:picLocks noChangeAspect="1"/>
          </p:cNvPicPr>
          <p:nvPr/>
        </p:nvPicPr>
        <p:blipFill>
          <a:blip r:embed="rId5"/>
          <a:stretch>
            <a:fillRect/>
          </a:stretch>
        </p:blipFill>
        <p:spPr>
          <a:xfrm>
            <a:off x="10267511" y="2090991"/>
            <a:ext cx="134549" cy="195707"/>
          </a:xfrm>
          <a:prstGeom prst="rect">
            <a:avLst/>
          </a:prstGeom>
        </p:spPr>
      </p:pic>
      <p:sp>
        <p:nvSpPr>
          <p:cNvPr id="42" name="TextBox 41"/>
          <p:cNvSpPr txBox="1"/>
          <p:nvPr/>
        </p:nvSpPr>
        <p:spPr>
          <a:xfrm>
            <a:off x="1044262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3" name="TextBox 42"/>
          <p:cNvSpPr txBox="1"/>
          <p:nvPr/>
        </p:nvSpPr>
        <p:spPr>
          <a:xfrm>
            <a:off x="7829550" y="2329053"/>
            <a:ext cx="3036279" cy="194310"/>
          </a:xfrm>
          <a:prstGeom prst="rect">
            <a:avLst/>
          </a:prstGeom>
          <a:noFill/>
        </p:spPr>
        <p:txBody>
          <a:bodyPr wrap="none" lIns="0" rIns="0" tIns="0" bIns="0">
            <a:spAutoFit/>
          </a:bodyPr>
          <a:lstStyle/>
          <a:p>
            <a:r>
              <a:rPr sz="1150" b="0">
                <a:solidFill>
                  <a:srgbClr val="2E2E2E"/>
                </a:solidFill>
                <a:latin typeface="Calibri"/>
              </a:rPr>
              <a:t>The niche ingredients segment is expected to lose</a:t>
            </a:r>
          </a:p>
        </p:txBody>
      </p:sp>
      <p:pic>
        <p:nvPicPr>
          <p:cNvPr id="44" name="Picture 43" descr="lock.png"/>
          <p:cNvPicPr>
            <a:picLocks noChangeAspect="1"/>
          </p:cNvPicPr>
          <p:nvPr/>
        </p:nvPicPr>
        <p:blipFill>
          <a:blip r:embed="rId5"/>
          <a:stretch>
            <a:fillRect/>
          </a:stretch>
        </p:blipFill>
        <p:spPr>
          <a:xfrm>
            <a:off x="10814983" y="2318829"/>
            <a:ext cx="134549" cy="195707"/>
          </a:xfrm>
          <a:prstGeom prst="rect">
            <a:avLst/>
          </a:prstGeom>
        </p:spPr>
      </p:pic>
      <p:sp>
        <p:nvSpPr>
          <p:cNvPr id="45" name="TextBox 44"/>
          <p:cNvSpPr txBox="1"/>
          <p:nvPr/>
        </p:nvSpPr>
        <p:spPr>
          <a:xfrm>
            <a:off x="10990092"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46" name="TextBox 45"/>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47" name="Picture 46" descr="lock.png"/>
          <p:cNvPicPr>
            <a:picLocks noChangeAspect="1"/>
          </p:cNvPicPr>
          <p:nvPr/>
        </p:nvPicPr>
        <p:blipFill>
          <a:blip r:embed="rId5"/>
          <a:stretch>
            <a:fillRect/>
          </a:stretch>
        </p:blipFill>
        <p:spPr>
          <a:xfrm>
            <a:off x="9630324" y="2494089"/>
            <a:ext cx="134549" cy="195707"/>
          </a:xfrm>
          <a:prstGeom prst="rect">
            <a:avLst/>
          </a:prstGeom>
        </p:spPr>
      </p:pic>
      <p:sp>
        <p:nvSpPr>
          <p:cNvPr id="48" name="TextBox 47"/>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End-use 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End-use Application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End-use Application,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End-use Application segment categorizes the market by end-use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Facial Sunscreen</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Body Sunscreen</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Lip Sunscreen</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Face &amp; Body Sunscreen</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220_8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446_2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7_3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158_5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297_1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6_5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101_3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200_0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7_0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97_0_605E5C.png"/>
          <p:cNvPicPr>
            <a:picLocks noChangeAspect="1"/>
          </p:cNvPicPr>
          <p:nvPr/>
        </p:nvPicPr>
        <p:blipFill>
          <a:blip r:embed="rId13"/>
          <a:stretch>
            <a:fillRect/>
          </a:stretch>
        </p:blipFill>
        <p:spPr>
          <a:xfrm>
            <a:off x="10169638" y="2286582"/>
            <a:ext cx="982436" cy="361950"/>
          </a:xfrm>
          <a:prstGeom prst="rect">
            <a:avLst/>
          </a:prstGeom>
        </p:spPr>
      </p:pic>
      <p:pic>
        <p:nvPicPr>
          <p:cNvPr id="73" name="Picture 72" descr="197_0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7_3__605E5C.png"/>
          <p:cNvPicPr>
            <a:picLocks noChangeAspect="1"/>
          </p:cNvPicPr>
          <p:nvPr/>
        </p:nvPicPr>
        <p:blipFill>
          <a:blip r:embed="rId6"/>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5"/>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5"/>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5"/>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5"/>
          <a:stretch>
            <a:fillRect/>
          </a:stretch>
        </p:blipFill>
        <p:spPr>
          <a:xfrm>
            <a:off x="10567511" y="2827057"/>
            <a:ext cx="183356" cy="266700"/>
          </a:xfrm>
          <a:prstGeom prst="rect">
            <a:avLst/>
          </a:prstGeom>
        </p:spPr>
      </p:pic>
      <p:sp>
        <p:nvSpPr>
          <p:cNvPr id="79" name="TextBox 78"/>
          <p:cNvSpPr txBox="1"/>
          <p:nvPr/>
        </p:nvSpPr>
        <p:spPr>
          <a:xfrm>
            <a:off x="485775" y="4229437"/>
            <a:ext cx="2309217" cy="186689"/>
          </a:xfrm>
          <a:prstGeom prst="rect">
            <a:avLst/>
          </a:prstGeom>
          <a:noFill/>
        </p:spPr>
        <p:txBody>
          <a:bodyPr wrap="none" lIns="0" rIns="0" tIns="0" bIns="0">
            <a:spAutoFit/>
          </a:bodyPr>
          <a:lstStyle/>
          <a:p>
            <a:r>
              <a:rPr sz="1100" b="0">
                <a:solidFill>
                  <a:srgbClr val="2E2E2E"/>
                </a:solidFill>
                <a:latin typeface="Calibri"/>
              </a:rPr>
              <a:t>Among ceramide sunscreen by end-use</a:t>
            </a:r>
          </a:p>
        </p:txBody>
      </p:sp>
      <p:sp>
        <p:nvSpPr>
          <p:cNvPr id="80" name="TextBox 79"/>
          <p:cNvSpPr txBox="1"/>
          <p:nvPr/>
        </p:nvSpPr>
        <p:spPr>
          <a:xfrm>
            <a:off x="485775" y="4397077"/>
            <a:ext cx="2703214" cy="186689"/>
          </a:xfrm>
          <a:prstGeom prst="rect">
            <a:avLst/>
          </a:prstGeom>
          <a:noFill/>
        </p:spPr>
        <p:txBody>
          <a:bodyPr wrap="none" lIns="0" rIns="0" tIns="0" bIns="0">
            <a:spAutoFit/>
          </a:bodyPr>
          <a:lstStyle/>
          <a:p>
            <a:r>
              <a:rPr sz="1100" b="0">
                <a:solidFill>
                  <a:srgbClr val="2E2E2E"/>
                </a:solidFill>
                <a:latin typeface="Calibri"/>
              </a:rPr>
              <a:t>application, face &amp; body sunscreen segment is</a:t>
            </a:r>
          </a:p>
        </p:txBody>
      </p:sp>
      <p:sp>
        <p:nvSpPr>
          <p:cNvPr id="81" name="TextBox 80"/>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82" name="Picture 81" descr="lock.png"/>
          <p:cNvPicPr>
            <a:picLocks noChangeAspect="1"/>
          </p:cNvPicPr>
          <p:nvPr/>
        </p:nvPicPr>
        <p:blipFill>
          <a:blip r:embed="rId15"/>
          <a:stretch>
            <a:fillRect/>
          </a:stretch>
        </p:blipFill>
        <p:spPr>
          <a:xfrm>
            <a:off x="2815059" y="4554938"/>
            <a:ext cx="128699" cy="187198"/>
          </a:xfrm>
          <a:prstGeom prst="rect">
            <a:avLst/>
          </a:prstGeom>
        </p:spPr>
      </p:pic>
      <p:sp>
        <p:nvSpPr>
          <p:cNvPr id="83" name="TextBox 82"/>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84" name="TextBox 83"/>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85" name="TextBox 84"/>
          <p:cNvSpPr txBox="1"/>
          <p:nvPr/>
        </p:nvSpPr>
        <p:spPr>
          <a:xfrm>
            <a:off x="485775" y="4899997"/>
            <a:ext cx="2914129" cy="186689"/>
          </a:xfrm>
          <a:prstGeom prst="rect">
            <a:avLst/>
          </a:prstGeom>
          <a:noFill/>
        </p:spPr>
        <p:txBody>
          <a:bodyPr wrap="none" lIns="0" rIns="0" tIns="0" bIns="0">
            <a:spAutoFit/>
          </a:bodyPr>
          <a:lstStyle/>
          <a:p>
            <a:r>
              <a:rPr sz="1100" b="0">
                <a:solidFill>
                  <a:srgbClr val="2E2E2E"/>
                </a:solidFill>
                <a:latin typeface="Calibri"/>
              </a:rPr>
              <a:t>end-use application, the facial sunscreen segment</a:t>
            </a:r>
          </a:p>
        </p:txBody>
      </p:sp>
      <p:sp>
        <p:nvSpPr>
          <p:cNvPr id="86" name="TextBox 85"/>
          <p:cNvSpPr txBox="1"/>
          <p:nvPr/>
        </p:nvSpPr>
        <p:spPr>
          <a:xfrm>
            <a:off x="485775" y="5067637"/>
            <a:ext cx="2585070" cy="186689"/>
          </a:xfrm>
          <a:prstGeom prst="rect">
            <a:avLst/>
          </a:prstGeom>
          <a:noFill/>
        </p:spPr>
        <p:txBody>
          <a:bodyPr wrap="none" lIns="0" rIns="0" tIns="0" bIns="0">
            <a:spAutoFit/>
          </a:bodyPr>
          <a:lstStyle/>
          <a:p>
            <a:r>
              <a:rPr sz="1100" b="0">
                <a:solidFill>
                  <a:srgbClr val="2E2E2E"/>
                </a:solidFill>
                <a:latin typeface="Calibri"/>
              </a:rPr>
              <a:t>is expected to dominate the market, gaining</a:t>
            </a:r>
          </a:p>
        </p:txBody>
      </p:sp>
      <p:pic>
        <p:nvPicPr>
          <p:cNvPr id="87" name="Picture 86" descr="lock.png"/>
          <p:cNvPicPr>
            <a:picLocks noChangeAspect="1"/>
          </p:cNvPicPr>
          <p:nvPr/>
        </p:nvPicPr>
        <p:blipFill>
          <a:blip r:embed="rId15"/>
          <a:stretch>
            <a:fillRect/>
          </a:stretch>
        </p:blipFill>
        <p:spPr>
          <a:xfrm>
            <a:off x="3018896" y="5057858"/>
            <a:ext cx="128699" cy="187198"/>
          </a:xfrm>
          <a:prstGeom prst="rect">
            <a:avLst/>
          </a:prstGeom>
        </p:spPr>
      </p:pic>
      <p:sp>
        <p:nvSpPr>
          <p:cNvPr id="88" name="TextBox 87"/>
          <p:cNvSpPr txBox="1"/>
          <p:nvPr/>
        </p:nvSpPr>
        <p:spPr>
          <a:xfrm>
            <a:off x="485775"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89" name="Picture 88" descr="lock.png"/>
          <p:cNvPicPr>
            <a:picLocks noChangeAspect="1"/>
          </p:cNvPicPr>
          <p:nvPr/>
        </p:nvPicPr>
        <p:blipFill>
          <a:blip r:embed="rId15"/>
          <a:stretch>
            <a:fillRect/>
          </a:stretch>
        </p:blipFill>
        <p:spPr>
          <a:xfrm>
            <a:off x="1820259" y="5225498"/>
            <a:ext cx="128699" cy="187198"/>
          </a:xfrm>
          <a:prstGeom prst="rect">
            <a:avLst/>
          </a:prstGeom>
        </p:spPr>
      </p:pic>
      <p:sp>
        <p:nvSpPr>
          <p:cNvPr id="90" name="TextBox 89"/>
          <p:cNvSpPr txBox="1"/>
          <p:nvPr/>
        </p:nvSpPr>
        <p:spPr>
          <a:xfrm>
            <a:off x="198775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1" name="TextBox 90"/>
          <p:cNvSpPr txBox="1"/>
          <p:nvPr/>
        </p:nvSpPr>
        <p:spPr>
          <a:xfrm>
            <a:off x="485775" y="5453209"/>
            <a:ext cx="2847220" cy="186689"/>
          </a:xfrm>
          <a:prstGeom prst="rect">
            <a:avLst/>
          </a:prstGeom>
          <a:noFill/>
        </p:spPr>
        <p:txBody>
          <a:bodyPr wrap="none" lIns="0" rIns="0" tIns="0" bIns="0">
            <a:spAutoFit/>
          </a:bodyPr>
          <a:lstStyle/>
          <a:p>
            <a:r>
              <a:rPr sz="1100" b="0">
                <a:solidFill>
                  <a:srgbClr val="2E2E2E"/>
                </a:solidFill>
                <a:latin typeface="Calibri"/>
              </a:rPr>
              <a:t>Facial sunscreen segment is projected to register</a:t>
            </a:r>
          </a:p>
        </p:txBody>
      </p:sp>
      <p:pic>
        <p:nvPicPr>
          <p:cNvPr id="92" name="Picture 91" descr="lock.png"/>
          <p:cNvPicPr>
            <a:picLocks noChangeAspect="1"/>
          </p:cNvPicPr>
          <p:nvPr/>
        </p:nvPicPr>
        <p:blipFill>
          <a:blip r:embed="rId15"/>
          <a:stretch>
            <a:fillRect/>
          </a:stretch>
        </p:blipFill>
        <p:spPr>
          <a:xfrm>
            <a:off x="472307" y="5611070"/>
            <a:ext cx="128699" cy="187198"/>
          </a:xfrm>
          <a:prstGeom prst="rect">
            <a:avLst/>
          </a:prstGeom>
        </p:spPr>
      </p:pic>
      <p:sp>
        <p:nvSpPr>
          <p:cNvPr id="93" name="TextBox 92"/>
          <p:cNvSpPr txBox="1"/>
          <p:nvPr/>
        </p:nvSpPr>
        <p:spPr>
          <a:xfrm>
            <a:off x="639803" y="5620849"/>
            <a:ext cx="2619176" cy="186689"/>
          </a:xfrm>
          <a:prstGeom prst="rect">
            <a:avLst/>
          </a:prstGeom>
          <a:noFill/>
        </p:spPr>
        <p:txBody>
          <a:bodyPr wrap="none" lIns="0" rIns="0" tIns="0" bIns="0">
            <a:spAutoFit/>
          </a:bodyPr>
          <a:lstStyle/>
          <a:p>
            <a:r>
              <a:rPr sz="1100" b="0">
                <a:solidFill>
                  <a:srgbClr val="2E2E2E"/>
                </a:solidFill>
                <a:latin typeface="Calibri"/>
              </a:rPr>
              <a:t>X higher value than body sunscreen segment</a:t>
            </a:r>
          </a:p>
        </p:txBody>
      </p:sp>
      <p:sp>
        <p:nvSpPr>
          <p:cNvPr id="94" name="TextBox 93"/>
          <p:cNvSpPr txBox="1"/>
          <p:nvPr/>
        </p:nvSpPr>
        <p:spPr>
          <a:xfrm>
            <a:off x="485775" y="5788489"/>
            <a:ext cx="532407" cy="186689"/>
          </a:xfrm>
          <a:prstGeom prst="rect">
            <a:avLst/>
          </a:prstGeom>
          <a:noFill/>
        </p:spPr>
        <p:txBody>
          <a:bodyPr wrap="none" lIns="0" rIns="0" tIns="0" bIns="0">
            <a:spAutoFit/>
          </a:bodyPr>
          <a:lstStyle/>
          <a:p>
            <a:r>
              <a:rPr sz="1100" b="0">
                <a:solidFill>
                  <a:srgbClr val="2E2E2E"/>
                </a:solidFill>
                <a:latin typeface="Calibri"/>
              </a:rPr>
              <a:t>in 2036.</a:t>
            </a:r>
          </a:p>
        </p:txBody>
      </p:sp>
      <p:sp>
        <p:nvSpPr>
          <p:cNvPr id="95" name="TextBox 94"/>
          <p:cNvSpPr txBox="1"/>
          <p:nvPr/>
        </p:nvSpPr>
        <p:spPr>
          <a:xfrm>
            <a:off x="3838575" y="4229437"/>
            <a:ext cx="1168637" cy="186689"/>
          </a:xfrm>
          <a:prstGeom prst="rect">
            <a:avLst/>
          </a:prstGeom>
          <a:noFill/>
        </p:spPr>
        <p:txBody>
          <a:bodyPr wrap="none" lIns="0" rIns="0" tIns="0" bIns="0">
            <a:spAutoFit/>
          </a:bodyPr>
          <a:lstStyle/>
          <a:p>
            <a:r>
              <a:rPr sz="1100" b="0">
                <a:solidFill>
                  <a:srgbClr val="2E2E2E"/>
                </a:solidFill>
                <a:latin typeface="Calibri"/>
              </a:rPr>
              <a:t>● Facial Sunscreen:</a:t>
            </a:r>
          </a:p>
        </p:txBody>
      </p:sp>
      <p:pic>
        <p:nvPicPr>
          <p:cNvPr id="96" name="Picture 95" descr="lock.png"/>
          <p:cNvPicPr>
            <a:picLocks noChangeAspect="1"/>
          </p:cNvPicPr>
          <p:nvPr/>
        </p:nvPicPr>
        <p:blipFill>
          <a:blip r:embed="rId15"/>
          <a:stretch>
            <a:fillRect/>
          </a:stretch>
        </p:blipFill>
        <p:spPr>
          <a:xfrm>
            <a:off x="4955264" y="4219658"/>
            <a:ext cx="128699" cy="187198"/>
          </a:xfrm>
          <a:prstGeom prst="rect">
            <a:avLst/>
          </a:prstGeom>
        </p:spPr>
      </p:pic>
      <p:sp>
        <p:nvSpPr>
          <p:cNvPr id="97" name="TextBox 96"/>
          <p:cNvSpPr txBox="1"/>
          <p:nvPr/>
        </p:nvSpPr>
        <p:spPr>
          <a:xfrm>
            <a:off x="512276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5"/>
          <a:stretch>
            <a:fillRect/>
          </a:stretch>
        </p:blipFill>
        <p:spPr>
          <a:xfrm>
            <a:off x="5982210" y="4219658"/>
            <a:ext cx="128699" cy="187198"/>
          </a:xfrm>
          <a:prstGeom prst="rect">
            <a:avLst/>
          </a:prstGeom>
        </p:spPr>
      </p:pic>
      <p:sp>
        <p:nvSpPr>
          <p:cNvPr id="99" name="TextBox 98"/>
          <p:cNvSpPr txBox="1"/>
          <p:nvPr/>
        </p:nvSpPr>
        <p:spPr>
          <a:xfrm>
            <a:off x="614970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0" name="TextBox 99"/>
          <p:cNvSpPr txBox="1"/>
          <p:nvPr/>
        </p:nvSpPr>
        <p:spPr>
          <a:xfrm>
            <a:off x="3838575" y="4447369"/>
            <a:ext cx="1133772" cy="186689"/>
          </a:xfrm>
          <a:prstGeom prst="rect">
            <a:avLst/>
          </a:prstGeom>
          <a:noFill/>
        </p:spPr>
        <p:txBody>
          <a:bodyPr wrap="none" lIns="0" rIns="0" tIns="0" bIns="0">
            <a:spAutoFit/>
          </a:bodyPr>
          <a:lstStyle/>
          <a:p>
            <a:r>
              <a:rPr sz="1100" b="0">
                <a:solidFill>
                  <a:srgbClr val="2E2E2E"/>
                </a:solidFill>
                <a:latin typeface="Calibri"/>
              </a:rPr>
              <a:t>● Body Sunscreen:</a:t>
            </a:r>
          </a:p>
        </p:txBody>
      </p:sp>
      <p:pic>
        <p:nvPicPr>
          <p:cNvPr id="101" name="Picture 100" descr="lock.png"/>
          <p:cNvPicPr>
            <a:picLocks noChangeAspect="1"/>
          </p:cNvPicPr>
          <p:nvPr/>
        </p:nvPicPr>
        <p:blipFill>
          <a:blip r:embed="rId15"/>
          <a:stretch>
            <a:fillRect/>
          </a:stretch>
        </p:blipFill>
        <p:spPr>
          <a:xfrm>
            <a:off x="4920399" y="4437590"/>
            <a:ext cx="128699" cy="187198"/>
          </a:xfrm>
          <a:prstGeom prst="rect">
            <a:avLst/>
          </a:prstGeom>
        </p:spPr>
      </p:pic>
      <p:sp>
        <p:nvSpPr>
          <p:cNvPr id="102" name="TextBox 101"/>
          <p:cNvSpPr txBox="1"/>
          <p:nvPr/>
        </p:nvSpPr>
        <p:spPr>
          <a:xfrm>
            <a:off x="508789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3" name="Picture 102" descr="lock.png"/>
          <p:cNvPicPr>
            <a:picLocks noChangeAspect="1"/>
          </p:cNvPicPr>
          <p:nvPr/>
        </p:nvPicPr>
        <p:blipFill>
          <a:blip r:embed="rId15"/>
          <a:stretch>
            <a:fillRect/>
          </a:stretch>
        </p:blipFill>
        <p:spPr>
          <a:xfrm>
            <a:off x="5947345" y="4437590"/>
            <a:ext cx="128699" cy="187198"/>
          </a:xfrm>
          <a:prstGeom prst="rect">
            <a:avLst/>
          </a:prstGeom>
        </p:spPr>
      </p:pic>
      <p:sp>
        <p:nvSpPr>
          <p:cNvPr id="104" name="TextBox 103"/>
          <p:cNvSpPr txBox="1"/>
          <p:nvPr/>
        </p:nvSpPr>
        <p:spPr>
          <a:xfrm>
            <a:off x="6114841"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5" name="TextBox 104"/>
          <p:cNvSpPr txBox="1"/>
          <p:nvPr/>
        </p:nvSpPr>
        <p:spPr>
          <a:xfrm>
            <a:off x="3838575" y="4665301"/>
            <a:ext cx="1011535" cy="186689"/>
          </a:xfrm>
          <a:prstGeom prst="rect">
            <a:avLst/>
          </a:prstGeom>
          <a:noFill/>
        </p:spPr>
        <p:txBody>
          <a:bodyPr wrap="none" lIns="0" rIns="0" tIns="0" bIns="0">
            <a:spAutoFit/>
          </a:bodyPr>
          <a:lstStyle/>
          <a:p>
            <a:r>
              <a:rPr sz="1100" b="0">
                <a:solidFill>
                  <a:srgbClr val="2E2E2E"/>
                </a:solidFill>
                <a:latin typeface="Calibri"/>
              </a:rPr>
              <a:t>● Lip Sunscreen:</a:t>
            </a:r>
          </a:p>
        </p:txBody>
      </p:sp>
      <p:pic>
        <p:nvPicPr>
          <p:cNvPr id="106" name="Picture 105" descr="lock.png"/>
          <p:cNvPicPr>
            <a:picLocks noChangeAspect="1"/>
          </p:cNvPicPr>
          <p:nvPr/>
        </p:nvPicPr>
        <p:blipFill>
          <a:blip r:embed="rId15"/>
          <a:stretch>
            <a:fillRect/>
          </a:stretch>
        </p:blipFill>
        <p:spPr>
          <a:xfrm>
            <a:off x="4798161" y="4655522"/>
            <a:ext cx="128699" cy="187198"/>
          </a:xfrm>
          <a:prstGeom prst="rect">
            <a:avLst/>
          </a:prstGeom>
        </p:spPr>
      </p:pic>
      <p:sp>
        <p:nvSpPr>
          <p:cNvPr id="107" name="TextBox 106"/>
          <p:cNvSpPr txBox="1"/>
          <p:nvPr/>
        </p:nvSpPr>
        <p:spPr>
          <a:xfrm>
            <a:off x="496565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8" name="Picture 107" descr="lock.png"/>
          <p:cNvPicPr>
            <a:picLocks noChangeAspect="1"/>
          </p:cNvPicPr>
          <p:nvPr/>
        </p:nvPicPr>
        <p:blipFill>
          <a:blip r:embed="rId15"/>
          <a:stretch>
            <a:fillRect/>
          </a:stretch>
        </p:blipFill>
        <p:spPr>
          <a:xfrm>
            <a:off x="5825107" y="4655522"/>
            <a:ext cx="128699" cy="187198"/>
          </a:xfrm>
          <a:prstGeom prst="rect">
            <a:avLst/>
          </a:prstGeom>
        </p:spPr>
      </p:pic>
      <p:sp>
        <p:nvSpPr>
          <p:cNvPr id="109" name="TextBox 108"/>
          <p:cNvSpPr txBox="1"/>
          <p:nvPr/>
        </p:nvSpPr>
        <p:spPr>
          <a:xfrm>
            <a:off x="5992603"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0" name="TextBox 109"/>
          <p:cNvSpPr txBox="1"/>
          <p:nvPr/>
        </p:nvSpPr>
        <p:spPr>
          <a:xfrm>
            <a:off x="3838575" y="4883233"/>
            <a:ext cx="1551994" cy="186689"/>
          </a:xfrm>
          <a:prstGeom prst="rect">
            <a:avLst/>
          </a:prstGeom>
          <a:noFill/>
        </p:spPr>
        <p:txBody>
          <a:bodyPr wrap="none" lIns="0" rIns="0" tIns="0" bIns="0">
            <a:spAutoFit/>
          </a:bodyPr>
          <a:lstStyle/>
          <a:p>
            <a:r>
              <a:rPr sz="1100" b="0">
                <a:solidFill>
                  <a:srgbClr val="2E2E2E"/>
                </a:solidFill>
                <a:latin typeface="Calibri"/>
              </a:rPr>
              <a:t>● Face &amp; Body Sunscreen:</a:t>
            </a:r>
          </a:p>
        </p:txBody>
      </p:sp>
      <p:pic>
        <p:nvPicPr>
          <p:cNvPr id="111" name="Picture 110" descr="lock.png"/>
          <p:cNvPicPr>
            <a:picLocks noChangeAspect="1"/>
          </p:cNvPicPr>
          <p:nvPr/>
        </p:nvPicPr>
        <p:blipFill>
          <a:blip r:embed="rId15"/>
          <a:stretch>
            <a:fillRect/>
          </a:stretch>
        </p:blipFill>
        <p:spPr>
          <a:xfrm>
            <a:off x="5338621" y="4873454"/>
            <a:ext cx="128699" cy="187198"/>
          </a:xfrm>
          <a:prstGeom prst="rect">
            <a:avLst/>
          </a:prstGeom>
        </p:spPr>
      </p:pic>
      <p:sp>
        <p:nvSpPr>
          <p:cNvPr id="112" name="TextBox 111"/>
          <p:cNvSpPr txBox="1"/>
          <p:nvPr/>
        </p:nvSpPr>
        <p:spPr>
          <a:xfrm>
            <a:off x="550611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3" name="Picture 112" descr="lock.png"/>
          <p:cNvPicPr>
            <a:picLocks noChangeAspect="1"/>
          </p:cNvPicPr>
          <p:nvPr/>
        </p:nvPicPr>
        <p:blipFill>
          <a:blip r:embed="rId15"/>
          <a:stretch>
            <a:fillRect/>
          </a:stretch>
        </p:blipFill>
        <p:spPr>
          <a:xfrm>
            <a:off x="6365567" y="4873454"/>
            <a:ext cx="128699" cy="187198"/>
          </a:xfrm>
          <a:prstGeom prst="rect">
            <a:avLst/>
          </a:prstGeom>
        </p:spPr>
      </p:pic>
      <p:sp>
        <p:nvSpPr>
          <p:cNvPr id="114" name="TextBox 113"/>
          <p:cNvSpPr txBox="1"/>
          <p:nvPr/>
        </p:nvSpPr>
        <p:spPr>
          <a:xfrm>
            <a:off x="653306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15" name="TextBox 114"/>
          <p:cNvSpPr txBox="1"/>
          <p:nvPr/>
        </p:nvSpPr>
        <p:spPr>
          <a:xfrm>
            <a:off x="8524875" y="5842641"/>
            <a:ext cx="3006328" cy="194310"/>
          </a:xfrm>
          <a:prstGeom prst="rect">
            <a:avLst/>
          </a:prstGeom>
          <a:noFill/>
        </p:spPr>
        <p:txBody>
          <a:bodyPr wrap="none" lIns="0" rIns="0" tIns="0" bIns="0">
            <a:spAutoFit/>
          </a:bodyPr>
          <a:lstStyle/>
          <a:p>
            <a:r>
              <a:rPr sz="1150" b="1">
                <a:solidFill>
                  <a:srgbClr val="0B2E4A"/>
                </a:solidFill>
                <a:latin typeface="Calibri"/>
              </a:rPr>
              <a:t>The End-use Application segment is projected to</a:t>
            </a:r>
          </a:p>
        </p:txBody>
      </p:sp>
      <p:sp>
        <p:nvSpPr>
          <p:cNvPr id="116" name="TextBox 115"/>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17" name="Picture 116" descr="lock.png"/>
          <p:cNvPicPr>
            <a:picLocks noChangeAspect="1"/>
          </p:cNvPicPr>
          <p:nvPr/>
        </p:nvPicPr>
        <p:blipFill>
          <a:blip r:embed="rId15"/>
          <a:stretch>
            <a:fillRect/>
          </a:stretch>
        </p:blipFill>
        <p:spPr>
          <a:xfrm>
            <a:off x="9651852" y="6007677"/>
            <a:ext cx="134549" cy="195707"/>
          </a:xfrm>
          <a:prstGeom prst="rect">
            <a:avLst/>
          </a:prstGeom>
        </p:spPr>
      </p:pic>
      <p:sp>
        <p:nvSpPr>
          <p:cNvPr id="118" name="TextBox 117"/>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End-use Application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End-use Application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End-use Application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End-use Application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44773" cy="186689"/>
          </a:xfrm>
          <a:prstGeom prst="rect">
            <a:avLst/>
          </a:prstGeom>
          <a:noFill/>
        </p:spPr>
        <p:txBody>
          <a:bodyPr wrap="none" lIns="0" rIns="0" tIns="0" bIns="0">
            <a:spAutoFit/>
          </a:bodyPr>
          <a:lstStyle/>
          <a:p>
            <a:r>
              <a:rPr sz="1100" b="0">
                <a:solidFill>
                  <a:srgbClr val="2E2E2E"/>
                </a:solidFill>
                <a:latin typeface="Calibri"/>
              </a:rPr>
              <a:t>Facial sunscreen followed by body sunscreen are expected to be the two most attractive end-use application segments in the North America ceramide sunscreen market in terms of value over the forecast</a:t>
            </a:r>
          </a:p>
        </p:txBody>
      </p:sp>
      <p:sp>
        <p:nvSpPr>
          <p:cNvPr id="20" name="TextBox 19"/>
          <p:cNvSpPr txBox="1"/>
          <p:nvPr/>
        </p:nvSpPr>
        <p:spPr>
          <a:xfrm>
            <a:off x="257175" y="5861685"/>
            <a:ext cx="3970533" cy="186689"/>
          </a:xfrm>
          <a:prstGeom prst="rect">
            <a:avLst/>
          </a:prstGeom>
          <a:noFill/>
        </p:spPr>
        <p:txBody>
          <a:bodyPr wrap="none" lIns="0" rIns="0" tIns="0" bIns="0">
            <a:spAutoFit/>
          </a:bodyPr>
          <a:lstStyle/>
          <a:p>
            <a:r>
              <a:rPr sz="1100" b="0">
                <a:solidFill>
                  <a:srgbClr val="2E2E2E"/>
                </a:solidFill>
                <a:latin typeface="Calibri"/>
              </a:rPr>
              <a:t>period. Facial sunscreen and body sunscreen exhibit a CAGR index of</a:t>
            </a:r>
          </a:p>
        </p:txBody>
      </p:sp>
      <p:pic>
        <p:nvPicPr>
          <p:cNvPr id="21" name="Picture 20" descr="lock.png"/>
          <p:cNvPicPr>
            <a:picLocks noChangeAspect="1"/>
          </p:cNvPicPr>
          <p:nvPr/>
        </p:nvPicPr>
        <p:blipFill>
          <a:blip r:embed="rId6"/>
          <a:stretch>
            <a:fillRect/>
          </a:stretch>
        </p:blipFill>
        <p:spPr>
          <a:xfrm>
            <a:off x="4175760" y="5851905"/>
            <a:ext cx="128699" cy="187198"/>
          </a:xfrm>
          <a:prstGeom prst="rect">
            <a:avLst/>
          </a:prstGeom>
        </p:spPr>
      </p:pic>
      <p:sp>
        <p:nvSpPr>
          <p:cNvPr id="22" name="TextBox 21"/>
          <p:cNvSpPr txBox="1"/>
          <p:nvPr/>
        </p:nvSpPr>
        <p:spPr>
          <a:xfrm>
            <a:off x="434325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581150" y="5851905"/>
            <a:ext cx="128699" cy="187198"/>
          </a:xfrm>
          <a:prstGeom prst="rect">
            <a:avLst/>
          </a:prstGeom>
        </p:spPr>
      </p:pic>
      <p:sp>
        <p:nvSpPr>
          <p:cNvPr id="24" name="TextBox 23"/>
          <p:cNvSpPr txBox="1"/>
          <p:nvPr/>
        </p:nvSpPr>
        <p:spPr>
          <a:xfrm>
            <a:off x="4748646"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357619" y="5851905"/>
            <a:ext cx="128699" cy="187198"/>
          </a:xfrm>
          <a:prstGeom prst="rect">
            <a:avLst/>
          </a:prstGeom>
        </p:spPr>
      </p:pic>
      <p:sp>
        <p:nvSpPr>
          <p:cNvPr id="26" name="TextBox 25"/>
          <p:cNvSpPr txBox="1"/>
          <p:nvPr/>
        </p:nvSpPr>
        <p:spPr>
          <a:xfrm>
            <a:off x="652511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763009" y="5851905"/>
            <a:ext cx="128699" cy="187198"/>
          </a:xfrm>
          <a:prstGeom prst="rect">
            <a:avLst/>
          </a:prstGeom>
        </p:spPr>
      </p:pic>
      <p:sp>
        <p:nvSpPr>
          <p:cNvPr id="28" name="TextBox 27"/>
          <p:cNvSpPr txBox="1"/>
          <p:nvPr/>
        </p:nvSpPr>
        <p:spPr>
          <a:xfrm>
            <a:off x="6930505"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484909" y="5851905"/>
            <a:ext cx="128699" cy="187198"/>
          </a:xfrm>
          <a:prstGeom prst="rect">
            <a:avLst/>
          </a:prstGeom>
        </p:spPr>
      </p:pic>
      <p:sp>
        <p:nvSpPr>
          <p:cNvPr id="30" name="TextBox 29"/>
          <p:cNvSpPr txBox="1"/>
          <p:nvPr/>
        </p:nvSpPr>
        <p:spPr>
          <a:xfrm>
            <a:off x="9652405" y="5861685"/>
            <a:ext cx="1773336" cy="186689"/>
          </a:xfrm>
          <a:prstGeom prst="rect">
            <a:avLst/>
          </a:prstGeom>
          <a:noFill/>
        </p:spPr>
        <p:txBody>
          <a:bodyPr wrap="none" lIns="0" rIns="0" tIns="0" bIns="0">
            <a:spAutoFit/>
          </a:bodyPr>
          <a:lstStyle/>
          <a:p>
            <a:r>
              <a:rPr sz="1100" b="0">
                <a:solidFill>
                  <a:srgbClr val="2E2E2E"/>
                </a:solidFill>
                <a:latin typeface="Calibri"/>
              </a:rPr>
              <a:t>. The lip sunscreen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End-use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Facial Sunscreen</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Body Sunscreen</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Face &amp; Body Sunscreen</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Lip Sunscreen</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End-use Application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End-use Application,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End-use Application (US$ Mn)</a:t>
            </a:r>
          </a:p>
        </p:txBody>
      </p:sp>
      <p:graphicFrame>
        <p:nvGraphicFramePr>
          <p:cNvPr id="12" name="Table 11"/>
          <p:cNvGraphicFramePr>
            <a:graphicFrameLocks noGrp="1"/>
          </p:cNvGraphicFramePr>
          <p:nvPr/>
        </p:nvGraphicFramePr>
        <p:xfrm>
          <a:off x="152400" y="1238250"/>
          <a:ext cx="11887207" cy="1485896"/>
        </p:xfrm>
        <a:graphic>
          <a:graphicData uri="http://schemas.openxmlformats.org/drawingml/2006/table">
            <a:tbl>
              <a:tblPr>
                <a:tableStyleId>{5C22544A-7EE6-4342-B048-85BDC9FD1C3A}</a:tableStyleId>
              </a:tblPr>
              <a:tblGrid>
                <a:gridCol w="1639097"/>
                <a:gridCol w="602830"/>
                <a:gridCol w="602830"/>
                <a:gridCol w="602830"/>
                <a:gridCol w="602830"/>
                <a:gridCol w="602830"/>
                <a:gridCol w="602830"/>
                <a:gridCol w="602830"/>
                <a:gridCol w="602830"/>
                <a:gridCol w="602830"/>
                <a:gridCol w="602830"/>
                <a:gridCol w="602830"/>
                <a:gridCol w="602830"/>
                <a:gridCol w="602830"/>
                <a:gridCol w="602830"/>
                <a:gridCol w="602830"/>
                <a:gridCol w="602830"/>
                <a:gridCol w="602830"/>
              </a:tblGrid>
              <a:tr h="246126">
                <a:tc>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Facial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Body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Face &amp; Body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Lip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End-use Application</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28861" y="1837563"/>
            <a:ext cx="366712" cy="533400"/>
          </a:xfrm>
          <a:prstGeom prst="rect">
            <a:avLst/>
          </a:prstGeom>
        </p:spPr>
      </p:pic>
      <p:sp>
        <p:nvSpPr>
          <p:cNvPr id="20" name="TextBox 19"/>
          <p:cNvSpPr txBox="1"/>
          <p:nvPr/>
        </p:nvSpPr>
        <p:spPr>
          <a:xfrm>
            <a:off x="276225" y="3486150"/>
            <a:ext cx="2973176" cy="194310"/>
          </a:xfrm>
          <a:prstGeom prst="rect">
            <a:avLst/>
          </a:prstGeom>
          <a:noFill/>
        </p:spPr>
        <p:txBody>
          <a:bodyPr wrap="none" lIns="0" rIns="0" tIns="0" bIns="0">
            <a:spAutoFit/>
          </a:bodyPr>
          <a:lstStyle/>
          <a:p>
            <a:r>
              <a:rPr sz="1150" b="0">
                <a:solidFill>
                  <a:srgbClr val="2E2E2E"/>
                </a:solidFill>
                <a:latin typeface="Calibri"/>
              </a:rPr>
              <a:t>Facial sunscreen segment is projected to register</a:t>
            </a:r>
          </a:p>
        </p:txBody>
      </p:sp>
      <p:pic>
        <p:nvPicPr>
          <p:cNvPr id="21" name="Picture 20" descr="lock.png"/>
          <p:cNvPicPr>
            <a:picLocks noChangeAspect="1"/>
          </p:cNvPicPr>
          <p:nvPr/>
        </p:nvPicPr>
        <p:blipFill>
          <a:blip r:embed="rId4"/>
          <a:stretch>
            <a:fillRect/>
          </a:stretch>
        </p:blipFill>
        <p:spPr>
          <a:xfrm>
            <a:off x="3198555" y="3475926"/>
            <a:ext cx="134549" cy="195707"/>
          </a:xfrm>
          <a:prstGeom prst="rect">
            <a:avLst/>
          </a:prstGeom>
        </p:spPr>
      </p:pic>
      <p:sp>
        <p:nvSpPr>
          <p:cNvPr id="22" name="TextBox 21"/>
          <p:cNvSpPr txBox="1"/>
          <p:nvPr/>
        </p:nvSpPr>
        <p:spPr>
          <a:xfrm>
            <a:off x="3373664" y="3486150"/>
            <a:ext cx="8391921" cy="194310"/>
          </a:xfrm>
          <a:prstGeom prst="rect">
            <a:avLst/>
          </a:prstGeom>
          <a:noFill/>
        </p:spPr>
        <p:txBody>
          <a:bodyPr wrap="none" lIns="0" rIns="0" tIns="0" bIns="0">
            <a:spAutoFit/>
          </a:bodyPr>
          <a:lstStyle/>
          <a:p>
            <a:r>
              <a:rPr sz="1150" b="0">
                <a:solidFill>
                  <a:srgbClr val="2E2E2E"/>
                </a:solidFill>
                <a:latin typeface="Calibri"/>
              </a:rPr>
              <a:t>X higher value than body sunscreen segment in 2036. Among ceramide sunscreen by end-use application, face &amp; body sunscreen segment is</a:t>
            </a:r>
          </a:p>
        </p:txBody>
      </p:sp>
      <p:sp>
        <p:nvSpPr>
          <p:cNvPr id="23" name="TextBox 22"/>
          <p:cNvSpPr txBox="1"/>
          <p:nvPr/>
        </p:nvSpPr>
        <p:spPr>
          <a:xfrm>
            <a:off x="276225" y="3661410"/>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3651186"/>
            <a:ext cx="134549" cy="195707"/>
          </a:xfrm>
          <a:prstGeom prst="rect">
            <a:avLst/>
          </a:prstGeom>
        </p:spPr>
      </p:pic>
      <p:sp>
        <p:nvSpPr>
          <p:cNvPr id="25" name="TextBox 24"/>
          <p:cNvSpPr txBox="1"/>
          <p:nvPr/>
        </p:nvSpPr>
        <p:spPr>
          <a:xfrm>
            <a:off x="2886495"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7268591" cy="194310"/>
          </a:xfrm>
          <a:prstGeom prst="rect">
            <a:avLst/>
          </a:prstGeom>
          <a:noFill/>
        </p:spPr>
        <p:txBody>
          <a:bodyPr wrap="none" lIns="0" rIns="0" tIns="0" bIns="0">
            <a:spAutoFit/>
          </a:bodyPr>
          <a:lstStyle/>
          <a:p>
            <a:r>
              <a:rPr sz="1150" b="0">
                <a:solidFill>
                  <a:srgbClr val="2E2E2E"/>
                </a:solidFill>
                <a:latin typeface="Calibri"/>
              </a:rPr>
              <a:t>In terms of value share by end-use application, the facial sunscreen segment is expected to dominate the market, gaining</a:t>
            </a:r>
          </a:p>
        </p:txBody>
      </p:sp>
      <p:pic>
        <p:nvPicPr>
          <p:cNvPr id="27" name="Picture 26" descr="lock.png"/>
          <p:cNvPicPr>
            <a:picLocks noChangeAspect="1"/>
          </p:cNvPicPr>
          <p:nvPr/>
        </p:nvPicPr>
        <p:blipFill>
          <a:blip r:embed="rId4"/>
          <a:stretch>
            <a:fillRect/>
          </a:stretch>
        </p:blipFill>
        <p:spPr>
          <a:xfrm>
            <a:off x="7493970" y="3879024"/>
            <a:ext cx="134549" cy="195707"/>
          </a:xfrm>
          <a:prstGeom prst="rect">
            <a:avLst/>
          </a:prstGeom>
        </p:spPr>
      </p:pic>
      <p:sp>
        <p:nvSpPr>
          <p:cNvPr id="28" name="TextBox 27"/>
          <p:cNvSpPr txBox="1"/>
          <p:nvPr/>
        </p:nvSpPr>
        <p:spPr>
          <a:xfrm>
            <a:off x="7669080"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064223" y="3879024"/>
            <a:ext cx="134549" cy="195707"/>
          </a:xfrm>
          <a:prstGeom prst="rect">
            <a:avLst/>
          </a:prstGeom>
        </p:spPr>
      </p:pic>
      <p:sp>
        <p:nvSpPr>
          <p:cNvPr id="30" name="TextBox 29"/>
          <p:cNvSpPr txBox="1"/>
          <p:nvPr/>
        </p:nvSpPr>
        <p:spPr>
          <a:xfrm>
            <a:off x="9239332" y="3889247"/>
            <a:ext cx="2165684" cy="194310"/>
          </a:xfrm>
          <a:prstGeom prst="rect">
            <a:avLst/>
          </a:prstGeom>
          <a:noFill/>
        </p:spPr>
        <p:txBody>
          <a:bodyPr wrap="none" lIns="0" rIns="0" tIns="0" bIns="0">
            <a:spAutoFit/>
          </a:bodyPr>
          <a:lstStyle/>
          <a:p>
            <a:r>
              <a:rPr sz="1150" b="0">
                <a:solidFill>
                  <a:srgbClr val="2E2E2E"/>
                </a:solidFill>
                <a:latin typeface="Calibri"/>
              </a:rPr>
              <a:t>share by 2036. The body sunscreen</a:t>
            </a:r>
          </a:p>
        </p:txBody>
      </p:sp>
      <p:sp>
        <p:nvSpPr>
          <p:cNvPr id="31" name="TextBox 30"/>
          <p:cNvSpPr txBox="1"/>
          <p:nvPr/>
        </p:nvSpPr>
        <p:spPr>
          <a:xfrm>
            <a:off x="276225" y="4064507"/>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2" name="Picture 31" descr="lock.png"/>
          <p:cNvPicPr>
            <a:picLocks noChangeAspect="1"/>
          </p:cNvPicPr>
          <p:nvPr/>
        </p:nvPicPr>
        <p:blipFill>
          <a:blip r:embed="rId4"/>
          <a:stretch>
            <a:fillRect/>
          </a:stretch>
        </p:blipFill>
        <p:spPr>
          <a:xfrm>
            <a:off x="1950917" y="4054284"/>
            <a:ext cx="134549" cy="195707"/>
          </a:xfrm>
          <a:prstGeom prst="rect">
            <a:avLst/>
          </a:prstGeom>
        </p:spPr>
      </p:pic>
      <p:sp>
        <p:nvSpPr>
          <p:cNvPr id="33" name="TextBox 32"/>
          <p:cNvSpPr txBox="1"/>
          <p:nvPr/>
        </p:nvSpPr>
        <p:spPr>
          <a:xfrm>
            <a:off x="2126026"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713530" y="4054284"/>
            <a:ext cx="134549" cy="195707"/>
          </a:xfrm>
          <a:prstGeom prst="rect">
            <a:avLst/>
          </a:prstGeom>
        </p:spPr>
      </p:pic>
      <p:sp>
        <p:nvSpPr>
          <p:cNvPr id="35" name="TextBox 34"/>
          <p:cNvSpPr txBox="1"/>
          <p:nvPr/>
        </p:nvSpPr>
        <p:spPr>
          <a:xfrm>
            <a:off x="4888640"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End-use Application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End-use Application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066234"/>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06147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8527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Face &amp; Body Sunscreen</a:t>
            </a:r>
          </a:p>
        </p:txBody>
      </p:sp>
      <p:sp>
        <p:nvSpPr>
          <p:cNvPr id="18" name="BPS Value 1"/>
          <p:cNvSpPr txBox="1"/>
          <p:nvPr/>
        </p:nvSpPr>
        <p:spPr>
          <a:xfrm>
            <a:off x="6896100" y="204718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86214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85738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78118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Lip Sunscreen</a:t>
            </a:r>
          </a:p>
        </p:txBody>
      </p:sp>
      <p:sp>
        <p:nvSpPr>
          <p:cNvPr id="22" name="BPS Value 2"/>
          <p:cNvSpPr txBox="1"/>
          <p:nvPr/>
        </p:nvSpPr>
        <p:spPr>
          <a:xfrm>
            <a:off x="6896100" y="284309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85880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85404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77784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Body Sunscreen</a:t>
            </a:r>
          </a:p>
        </p:txBody>
      </p:sp>
      <p:sp>
        <p:nvSpPr>
          <p:cNvPr id="26" name="BPS Value 3"/>
          <p:cNvSpPr txBox="1"/>
          <p:nvPr/>
        </p:nvSpPr>
        <p:spPr>
          <a:xfrm>
            <a:off x="6896100" y="383975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534908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534432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26812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Facial Sunscreen</a:t>
            </a:r>
          </a:p>
        </p:txBody>
      </p:sp>
      <p:sp>
        <p:nvSpPr>
          <p:cNvPr id="30" name="BPS Value 4"/>
          <p:cNvSpPr txBox="1"/>
          <p:nvPr/>
        </p:nvSpPr>
        <p:spPr>
          <a:xfrm>
            <a:off x="6896100" y="533003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End-use Application</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883769" cy="194310"/>
          </a:xfrm>
          <a:prstGeom prst="rect">
            <a:avLst/>
          </a:prstGeom>
          <a:noFill/>
        </p:spPr>
        <p:txBody>
          <a:bodyPr wrap="none" lIns="0" rIns="0" tIns="0" bIns="0">
            <a:spAutoFit/>
          </a:bodyPr>
          <a:lstStyle/>
          <a:p>
            <a:r>
              <a:rPr sz="1150" b="0">
                <a:solidFill>
                  <a:srgbClr val="2E2E2E"/>
                </a:solidFill>
                <a:latin typeface="Calibri"/>
              </a:rPr>
              <a:t>Among ceramide sunscreen by end-use application, face &amp; body</a:t>
            </a:r>
          </a:p>
        </p:txBody>
      </p:sp>
      <p:sp>
        <p:nvSpPr>
          <p:cNvPr id="38" name="TextBox 37"/>
          <p:cNvSpPr txBox="1"/>
          <p:nvPr/>
        </p:nvSpPr>
        <p:spPr>
          <a:xfrm>
            <a:off x="7829550" y="1575435"/>
            <a:ext cx="3792470" cy="194310"/>
          </a:xfrm>
          <a:prstGeom prst="rect">
            <a:avLst/>
          </a:prstGeom>
          <a:noFill/>
        </p:spPr>
        <p:txBody>
          <a:bodyPr wrap="none" lIns="0" rIns="0" tIns="0" bIns="0">
            <a:spAutoFit/>
          </a:bodyPr>
          <a:lstStyle/>
          <a:p>
            <a:r>
              <a:rPr sz="1150" b="0">
                <a:solidFill>
                  <a:srgbClr val="2E2E2E"/>
                </a:solidFill>
                <a:latin typeface="Calibri"/>
              </a:rPr>
              <a:t>sunscreen segment is expected to witness the highest CAGR of</a:t>
            </a:r>
          </a:p>
        </p:txBody>
      </p:sp>
      <p:pic>
        <p:nvPicPr>
          <p:cNvPr id="39" name="Picture 38" descr="lock.png"/>
          <p:cNvPicPr>
            <a:picLocks noChangeAspect="1"/>
          </p:cNvPicPr>
          <p:nvPr/>
        </p:nvPicPr>
        <p:blipFill>
          <a:blip r:embed="rId5"/>
          <a:stretch>
            <a:fillRect/>
          </a:stretch>
        </p:blipFill>
        <p:spPr>
          <a:xfrm>
            <a:off x="11571174" y="1565211"/>
            <a:ext cx="134549" cy="195707"/>
          </a:xfrm>
          <a:prstGeom prst="rect">
            <a:avLst/>
          </a:prstGeom>
        </p:spPr>
      </p:pic>
      <p:sp>
        <p:nvSpPr>
          <p:cNvPr id="40" name="TextBox 39"/>
          <p:cNvSpPr txBox="1"/>
          <p:nvPr/>
        </p:nvSpPr>
        <p:spPr>
          <a:xfrm>
            <a:off x="7829550" y="1750695"/>
            <a:ext cx="3628752"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end-use</a:t>
            </a:r>
          </a:p>
        </p:txBody>
      </p:sp>
      <p:sp>
        <p:nvSpPr>
          <p:cNvPr id="41" name="TextBox 40"/>
          <p:cNvSpPr txBox="1"/>
          <p:nvPr/>
        </p:nvSpPr>
        <p:spPr>
          <a:xfrm>
            <a:off x="7829550" y="1925955"/>
            <a:ext cx="4000152" cy="194310"/>
          </a:xfrm>
          <a:prstGeom prst="rect">
            <a:avLst/>
          </a:prstGeom>
          <a:noFill/>
        </p:spPr>
        <p:txBody>
          <a:bodyPr wrap="none" lIns="0" rIns="0" tIns="0" bIns="0">
            <a:spAutoFit/>
          </a:bodyPr>
          <a:lstStyle/>
          <a:p>
            <a:r>
              <a:rPr sz="1150" b="0">
                <a:solidFill>
                  <a:srgbClr val="2E2E2E"/>
                </a:solidFill>
                <a:latin typeface="Calibri"/>
              </a:rPr>
              <a:t>application, the facial sunscreen segment is expected to dominate</a:t>
            </a:r>
          </a:p>
        </p:txBody>
      </p:sp>
      <p:sp>
        <p:nvSpPr>
          <p:cNvPr id="42" name="TextBox 41"/>
          <p:cNvSpPr txBox="1"/>
          <p:nvPr/>
        </p:nvSpPr>
        <p:spPr>
          <a:xfrm>
            <a:off x="7829550" y="2101215"/>
            <a:ext cx="1231478" cy="194310"/>
          </a:xfrm>
          <a:prstGeom prst="rect">
            <a:avLst/>
          </a:prstGeom>
          <a:noFill/>
        </p:spPr>
        <p:txBody>
          <a:bodyPr wrap="none" lIns="0" rIns="0" tIns="0" bIns="0">
            <a:spAutoFit/>
          </a:bodyPr>
          <a:lstStyle/>
          <a:p>
            <a:r>
              <a:rPr sz="1150" b="0">
                <a:solidFill>
                  <a:srgbClr val="2E2E2E"/>
                </a:solidFill>
                <a:latin typeface="Calibri"/>
              </a:rPr>
              <a:t>the market, gaining</a:t>
            </a:r>
          </a:p>
        </p:txBody>
      </p:sp>
      <p:pic>
        <p:nvPicPr>
          <p:cNvPr id="43" name="Picture 42" descr="lock.png"/>
          <p:cNvPicPr>
            <a:picLocks noChangeAspect="1"/>
          </p:cNvPicPr>
          <p:nvPr/>
        </p:nvPicPr>
        <p:blipFill>
          <a:blip r:embed="rId5"/>
          <a:stretch>
            <a:fillRect/>
          </a:stretch>
        </p:blipFill>
        <p:spPr>
          <a:xfrm>
            <a:off x="9010182" y="2090991"/>
            <a:ext cx="134549" cy="195707"/>
          </a:xfrm>
          <a:prstGeom prst="rect">
            <a:avLst/>
          </a:prstGeom>
        </p:spPr>
      </p:pic>
      <p:sp>
        <p:nvSpPr>
          <p:cNvPr id="44" name="TextBox 43"/>
          <p:cNvSpPr txBox="1"/>
          <p:nvPr/>
        </p:nvSpPr>
        <p:spPr>
          <a:xfrm>
            <a:off x="918529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5" name="Picture 44" descr="lock.png"/>
          <p:cNvPicPr>
            <a:picLocks noChangeAspect="1"/>
          </p:cNvPicPr>
          <p:nvPr/>
        </p:nvPicPr>
        <p:blipFill>
          <a:blip r:embed="rId5"/>
          <a:stretch>
            <a:fillRect/>
          </a:stretch>
        </p:blipFill>
        <p:spPr>
          <a:xfrm>
            <a:off x="10580434" y="2090991"/>
            <a:ext cx="134549" cy="195707"/>
          </a:xfrm>
          <a:prstGeom prst="rect">
            <a:avLst/>
          </a:prstGeom>
        </p:spPr>
      </p:pic>
      <p:sp>
        <p:nvSpPr>
          <p:cNvPr id="46" name="TextBox 45"/>
          <p:cNvSpPr txBox="1"/>
          <p:nvPr/>
        </p:nvSpPr>
        <p:spPr>
          <a:xfrm>
            <a:off x="10755543"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TextBox 46"/>
          <p:cNvSpPr txBox="1"/>
          <p:nvPr/>
        </p:nvSpPr>
        <p:spPr>
          <a:xfrm>
            <a:off x="7829550" y="2329053"/>
            <a:ext cx="2944998" cy="194310"/>
          </a:xfrm>
          <a:prstGeom prst="rect">
            <a:avLst/>
          </a:prstGeom>
          <a:noFill/>
        </p:spPr>
        <p:txBody>
          <a:bodyPr wrap="none" lIns="0" rIns="0" tIns="0" bIns="0">
            <a:spAutoFit/>
          </a:bodyPr>
          <a:lstStyle/>
          <a:p>
            <a:r>
              <a:rPr sz="1150" b="0">
                <a:solidFill>
                  <a:srgbClr val="2E2E2E"/>
                </a:solidFill>
                <a:latin typeface="Calibri"/>
              </a:rPr>
              <a:t>The body sunscreen segment is expected to lose</a:t>
            </a:r>
          </a:p>
        </p:txBody>
      </p:sp>
      <p:pic>
        <p:nvPicPr>
          <p:cNvPr id="48" name="Picture 47" descr="lock.png"/>
          <p:cNvPicPr>
            <a:picLocks noChangeAspect="1"/>
          </p:cNvPicPr>
          <p:nvPr/>
        </p:nvPicPr>
        <p:blipFill>
          <a:blip r:embed="rId5"/>
          <a:stretch>
            <a:fillRect/>
          </a:stretch>
        </p:blipFill>
        <p:spPr>
          <a:xfrm>
            <a:off x="10723702" y="2318829"/>
            <a:ext cx="134549" cy="195707"/>
          </a:xfrm>
          <a:prstGeom prst="rect">
            <a:avLst/>
          </a:prstGeom>
        </p:spPr>
      </p:pic>
      <p:sp>
        <p:nvSpPr>
          <p:cNvPr id="49" name="TextBox 48"/>
          <p:cNvSpPr txBox="1"/>
          <p:nvPr/>
        </p:nvSpPr>
        <p:spPr>
          <a:xfrm>
            <a:off x="10898811"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0" name="TextBox 49"/>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1" name="Picture 50" descr="lock.png"/>
          <p:cNvPicPr>
            <a:picLocks noChangeAspect="1"/>
          </p:cNvPicPr>
          <p:nvPr/>
        </p:nvPicPr>
        <p:blipFill>
          <a:blip r:embed="rId5"/>
          <a:stretch>
            <a:fillRect/>
          </a:stretch>
        </p:blipFill>
        <p:spPr>
          <a:xfrm>
            <a:off x="9630324" y="2494089"/>
            <a:ext cx="134549" cy="195707"/>
          </a:xfrm>
          <a:prstGeom prst="rect">
            <a:avLst/>
          </a:prstGeom>
        </p:spPr>
      </p:pic>
      <p:sp>
        <p:nvSpPr>
          <p:cNvPr id="52" name="TextBox 51"/>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Pack Size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Pack Size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Pack Size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Pack Size,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Pack Size segment categorizes the market by pack size.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Up to 30 g/ml</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Pack Size split shows how demand is distributed across pack size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158_8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316_0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7_1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200_g_ml_605E5C.png"/>
          <p:cNvPicPr>
            <a:picLocks noChangeAspect="1"/>
          </p:cNvPicPr>
          <p:nvPr/>
        </p:nvPicPr>
        <p:blipFill>
          <a:blip r:embed="rId7"/>
          <a:stretch>
            <a:fillRect/>
          </a:stretch>
        </p:blipFill>
        <p:spPr>
          <a:xfrm>
            <a:off x="4168990" y="1860245"/>
            <a:ext cx="1350844" cy="265429"/>
          </a:xfrm>
          <a:prstGeom prst="rect">
            <a:avLst/>
          </a:prstGeom>
        </p:spPr>
      </p:pic>
      <p:pic>
        <p:nvPicPr>
          <p:cNvPr id="74" name="Picture 73" descr="154_7_605E5C.png"/>
          <p:cNvPicPr>
            <a:picLocks noChangeAspect="1"/>
          </p:cNvPicPr>
          <p:nvPr/>
        </p:nvPicPr>
        <p:blipFill>
          <a:blip r:embed="rId8"/>
          <a:stretch>
            <a:fillRect/>
          </a:stretch>
        </p:blipFill>
        <p:spPr>
          <a:xfrm>
            <a:off x="4246551" y="2286582"/>
            <a:ext cx="1195728" cy="361950"/>
          </a:xfrm>
          <a:prstGeom prst="rect">
            <a:avLst/>
          </a:prstGeom>
        </p:spPr>
      </p:pic>
      <p:pic>
        <p:nvPicPr>
          <p:cNvPr id="75" name="Picture 74" descr="308_0_605E5C.png"/>
          <p:cNvPicPr>
            <a:picLocks noChangeAspect="1"/>
          </p:cNvPicPr>
          <p:nvPr/>
        </p:nvPicPr>
        <p:blipFill>
          <a:blip r:embed="rId9"/>
          <a:stretch>
            <a:fillRect/>
          </a:stretch>
        </p:blipFill>
        <p:spPr>
          <a:xfrm>
            <a:off x="4246551" y="2779432"/>
            <a:ext cx="1195728" cy="361950"/>
          </a:xfrm>
          <a:prstGeom prst="rect">
            <a:avLst/>
          </a:prstGeom>
        </p:spPr>
      </p:pic>
      <p:pic>
        <p:nvPicPr>
          <p:cNvPr id="76" name="Picture 75" descr="7_1__605E5C.png"/>
          <p:cNvPicPr>
            <a:picLocks noChangeAspect="1"/>
          </p:cNvPicPr>
          <p:nvPr/>
        </p:nvPicPr>
        <p:blipFill>
          <a:blip r:embed="rId6"/>
          <a:stretch>
            <a:fillRect/>
          </a:stretch>
        </p:blipFill>
        <p:spPr>
          <a:xfrm>
            <a:off x="4353197" y="3272281"/>
            <a:ext cx="982436" cy="361950"/>
          </a:xfrm>
          <a:prstGeom prst="rect">
            <a:avLst/>
          </a:prstGeom>
        </p:spPr>
      </p:pic>
      <p:pic>
        <p:nvPicPr>
          <p:cNvPr id="77" name="Picture 76" descr="30_50_g_ml_605E5C.png"/>
          <p:cNvPicPr>
            <a:picLocks noChangeAspect="1"/>
          </p:cNvPicPr>
          <p:nvPr/>
        </p:nvPicPr>
        <p:blipFill>
          <a:blip r:embed="rId10"/>
          <a:stretch>
            <a:fillRect/>
          </a:stretch>
        </p:blipFill>
        <p:spPr>
          <a:xfrm>
            <a:off x="6035686" y="1860245"/>
            <a:ext cx="1663671" cy="265429"/>
          </a:xfrm>
          <a:prstGeom prst="rect">
            <a:avLst/>
          </a:prstGeom>
        </p:spPr>
      </p:pic>
      <p:pic>
        <p:nvPicPr>
          <p:cNvPr id="78" name="Picture 77" descr="143_8_605E5C.png"/>
          <p:cNvPicPr>
            <a:picLocks noChangeAspect="1"/>
          </p:cNvPicPr>
          <p:nvPr/>
        </p:nvPicPr>
        <p:blipFill>
          <a:blip r:embed="rId11"/>
          <a:stretch>
            <a:fillRect/>
          </a:stretch>
        </p:blipFill>
        <p:spPr>
          <a:xfrm>
            <a:off x="6269661" y="2286582"/>
            <a:ext cx="1195728" cy="361950"/>
          </a:xfrm>
          <a:prstGeom prst="rect">
            <a:avLst/>
          </a:prstGeom>
        </p:spPr>
      </p:pic>
      <p:pic>
        <p:nvPicPr>
          <p:cNvPr id="79" name="Picture 78" descr="262_9_605E5C.png"/>
          <p:cNvPicPr>
            <a:picLocks noChangeAspect="1"/>
          </p:cNvPicPr>
          <p:nvPr/>
        </p:nvPicPr>
        <p:blipFill>
          <a:blip r:embed="rId12"/>
          <a:stretch>
            <a:fillRect/>
          </a:stretch>
        </p:blipFill>
        <p:spPr>
          <a:xfrm>
            <a:off x="6269661" y="2779432"/>
            <a:ext cx="1195728" cy="361950"/>
          </a:xfrm>
          <a:prstGeom prst="rect">
            <a:avLst/>
          </a:prstGeom>
        </p:spPr>
      </p:pic>
      <p:pic>
        <p:nvPicPr>
          <p:cNvPr id="80" name="Picture 79" descr="6_2__605E5C.png"/>
          <p:cNvPicPr>
            <a:picLocks noChangeAspect="1"/>
          </p:cNvPicPr>
          <p:nvPr/>
        </p:nvPicPr>
        <p:blipFill>
          <a:blip r:embed="rId13"/>
          <a:stretch>
            <a:fillRect/>
          </a:stretch>
        </p:blipFill>
        <p:spPr>
          <a:xfrm>
            <a:off x="6376307" y="3272281"/>
            <a:ext cx="982436" cy="361950"/>
          </a:xfrm>
          <a:prstGeom prst="rect">
            <a:avLst/>
          </a:prstGeom>
        </p:spPr>
      </p:pic>
      <p:pic>
        <p:nvPicPr>
          <p:cNvPr id="81" name="Picture 80" descr="100_200_g_ml_605E5C.png"/>
          <p:cNvPicPr>
            <a:picLocks noChangeAspect="1"/>
          </p:cNvPicPr>
          <p:nvPr/>
        </p:nvPicPr>
        <p:blipFill>
          <a:blip r:embed="rId14"/>
          <a:stretch>
            <a:fillRect/>
          </a:stretch>
        </p:blipFill>
        <p:spPr>
          <a:xfrm>
            <a:off x="7902382" y="1860245"/>
            <a:ext cx="1976498" cy="265429"/>
          </a:xfrm>
          <a:prstGeom prst="rect">
            <a:avLst/>
          </a:prstGeom>
        </p:spPr>
      </p:pic>
      <p:pic>
        <p:nvPicPr>
          <p:cNvPr id="82" name="Picture 81" descr="79_4_605E5C.png"/>
          <p:cNvPicPr>
            <a:picLocks noChangeAspect="1"/>
          </p:cNvPicPr>
          <p:nvPr/>
        </p:nvPicPr>
        <p:blipFill>
          <a:blip r:embed="rId15"/>
          <a:stretch>
            <a:fillRect/>
          </a:stretch>
        </p:blipFill>
        <p:spPr>
          <a:xfrm>
            <a:off x="8399417" y="2286582"/>
            <a:ext cx="982436" cy="361950"/>
          </a:xfrm>
          <a:prstGeom prst="rect">
            <a:avLst/>
          </a:prstGeom>
        </p:spPr>
      </p:pic>
      <p:pic>
        <p:nvPicPr>
          <p:cNvPr id="83" name="Picture 82" descr="190_9_605E5C.png"/>
          <p:cNvPicPr>
            <a:picLocks noChangeAspect="1"/>
          </p:cNvPicPr>
          <p:nvPr/>
        </p:nvPicPr>
        <p:blipFill>
          <a:blip r:embed="rId16"/>
          <a:stretch>
            <a:fillRect/>
          </a:stretch>
        </p:blipFill>
        <p:spPr>
          <a:xfrm>
            <a:off x="8292771" y="2779432"/>
            <a:ext cx="1195728" cy="361950"/>
          </a:xfrm>
          <a:prstGeom prst="rect">
            <a:avLst/>
          </a:prstGeom>
        </p:spPr>
      </p:pic>
      <p:pic>
        <p:nvPicPr>
          <p:cNvPr id="84" name="Picture 83" descr="9_2__605E5C.png"/>
          <p:cNvPicPr>
            <a:picLocks noChangeAspect="1"/>
          </p:cNvPicPr>
          <p:nvPr/>
        </p:nvPicPr>
        <p:blipFill>
          <a:blip r:embed="rId17"/>
          <a:stretch>
            <a:fillRect/>
          </a:stretch>
        </p:blipFill>
        <p:spPr>
          <a:xfrm>
            <a:off x="8399417" y="3272281"/>
            <a:ext cx="982436" cy="361950"/>
          </a:xfrm>
          <a:prstGeom prst="rect">
            <a:avLst/>
          </a:prstGeom>
        </p:spPr>
      </p:pic>
      <p:pic>
        <p:nvPicPr>
          <p:cNvPr id="85" name="Picture 84" descr="50_100_g_ml_605E5C.png"/>
          <p:cNvPicPr>
            <a:picLocks noChangeAspect="1"/>
          </p:cNvPicPr>
          <p:nvPr/>
        </p:nvPicPr>
        <p:blipFill>
          <a:blip r:embed="rId18"/>
          <a:stretch>
            <a:fillRect/>
          </a:stretch>
        </p:blipFill>
        <p:spPr>
          <a:xfrm>
            <a:off x="10003699" y="1860245"/>
            <a:ext cx="1820085" cy="265429"/>
          </a:xfrm>
          <a:prstGeom prst="rect">
            <a:avLst/>
          </a:prstGeom>
        </p:spPr>
      </p:pic>
      <p:pic>
        <p:nvPicPr>
          <p:cNvPr id="86" name="Picture 85" descr="40_7_605E5C.png"/>
          <p:cNvPicPr>
            <a:picLocks noChangeAspect="1"/>
          </p:cNvPicPr>
          <p:nvPr/>
        </p:nvPicPr>
        <p:blipFill>
          <a:blip r:embed="rId19"/>
          <a:stretch>
            <a:fillRect/>
          </a:stretch>
        </p:blipFill>
        <p:spPr>
          <a:xfrm>
            <a:off x="10422527" y="2286582"/>
            <a:ext cx="982436" cy="361950"/>
          </a:xfrm>
          <a:prstGeom prst="rect">
            <a:avLst/>
          </a:prstGeom>
        </p:spPr>
      </p:pic>
      <p:pic>
        <p:nvPicPr>
          <p:cNvPr id="87" name="Picture 86" descr="62_5_605E5C.png"/>
          <p:cNvPicPr>
            <a:picLocks noChangeAspect="1"/>
          </p:cNvPicPr>
          <p:nvPr/>
        </p:nvPicPr>
        <p:blipFill>
          <a:blip r:embed="rId20"/>
          <a:stretch>
            <a:fillRect/>
          </a:stretch>
        </p:blipFill>
        <p:spPr>
          <a:xfrm>
            <a:off x="10422527" y="2779432"/>
            <a:ext cx="982436" cy="361950"/>
          </a:xfrm>
          <a:prstGeom prst="rect">
            <a:avLst/>
          </a:prstGeom>
        </p:spPr>
      </p:pic>
      <p:pic>
        <p:nvPicPr>
          <p:cNvPr id="88" name="Picture 87" descr="4_4__605E5C.png"/>
          <p:cNvPicPr>
            <a:picLocks noChangeAspect="1"/>
          </p:cNvPicPr>
          <p:nvPr/>
        </p:nvPicPr>
        <p:blipFill>
          <a:blip r:embed="rId21"/>
          <a:stretch>
            <a:fillRect/>
          </a:stretch>
        </p:blipFill>
        <p:spPr>
          <a:xfrm>
            <a:off x="10422527" y="3272281"/>
            <a:ext cx="982436" cy="361950"/>
          </a:xfrm>
          <a:prstGeom prst="rect">
            <a:avLst/>
          </a:prstGeom>
        </p:spPr>
      </p:pic>
      <p:pic>
        <p:nvPicPr>
          <p:cNvPr id="89" name="Picture 88" descr="lock.png"/>
          <p:cNvPicPr>
            <a:picLocks noChangeAspect="1"/>
          </p:cNvPicPr>
          <p:nvPr/>
        </p:nvPicPr>
        <p:blipFill>
          <a:blip r:embed="rId22"/>
          <a:stretch>
            <a:fillRect/>
          </a:stretch>
        </p:blipFill>
        <p:spPr>
          <a:xfrm>
            <a:off x="2727960" y="2827057"/>
            <a:ext cx="183356" cy="266700"/>
          </a:xfrm>
          <a:prstGeom prst="rect">
            <a:avLst/>
          </a:prstGeom>
        </p:spPr>
      </p:pic>
      <p:pic>
        <p:nvPicPr>
          <p:cNvPr id="90" name="Picture 89" descr="lock.png"/>
          <p:cNvPicPr>
            <a:picLocks noChangeAspect="1"/>
          </p:cNvPicPr>
          <p:nvPr/>
        </p:nvPicPr>
        <p:blipFill>
          <a:blip r:embed="rId22"/>
          <a:stretch>
            <a:fillRect/>
          </a:stretch>
        </p:blipFill>
        <p:spPr>
          <a:xfrm>
            <a:off x="4751070" y="2598885"/>
            <a:ext cx="183356" cy="266700"/>
          </a:xfrm>
          <a:prstGeom prst="rect">
            <a:avLst/>
          </a:prstGeom>
        </p:spPr>
      </p:pic>
      <p:pic>
        <p:nvPicPr>
          <p:cNvPr id="91" name="Picture 90" descr="lock.png"/>
          <p:cNvPicPr>
            <a:picLocks noChangeAspect="1"/>
          </p:cNvPicPr>
          <p:nvPr/>
        </p:nvPicPr>
        <p:blipFill>
          <a:blip r:embed="rId22"/>
          <a:stretch>
            <a:fillRect/>
          </a:stretch>
        </p:blipFill>
        <p:spPr>
          <a:xfrm>
            <a:off x="6774180" y="2598885"/>
            <a:ext cx="183356" cy="266700"/>
          </a:xfrm>
          <a:prstGeom prst="rect">
            <a:avLst/>
          </a:prstGeom>
        </p:spPr>
      </p:pic>
      <p:pic>
        <p:nvPicPr>
          <p:cNvPr id="92" name="Picture 91" descr="lock.png"/>
          <p:cNvPicPr>
            <a:picLocks noChangeAspect="1"/>
          </p:cNvPicPr>
          <p:nvPr/>
        </p:nvPicPr>
        <p:blipFill>
          <a:blip r:embed="rId22"/>
          <a:stretch>
            <a:fillRect/>
          </a:stretch>
        </p:blipFill>
        <p:spPr>
          <a:xfrm>
            <a:off x="8806302" y="1872486"/>
            <a:ext cx="165652" cy="240948"/>
          </a:xfrm>
          <a:prstGeom prst="rect">
            <a:avLst/>
          </a:prstGeom>
        </p:spPr>
      </p:pic>
      <p:pic>
        <p:nvPicPr>
          <p:cNvPr id="93" name="Picture 92" descr="lock.png"/>
          <p:cNvPicPr>
            <a:picLocks noChangeAspect="1"/>
          </p:cNvPicPr>
          <p:nvPr/>
        </p:nvPicPr>
        <p:blipFill>
          <a:blip r:embed="rId22"/>
          <a:stretch>
            <a:fillRect/>
          </a:stretch>
        </p:blipFill>
        <p:spPr>
          <a:xfrm>
            <a:off x="8797290"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10820400" y="2598885"/>
            <a:ext cx="183356" cy="266700"/>
          </a:xfrm>
          <a:prstGeom prst="rect">
            <a:avLst/>
          </a:prstGeom>
        </p:spPr>
      </p:pic>
      <p:sp>
        <p:nvSpPr>
          <p:cNvPr id="95" name="TextBox 94"/>
          <p:cNvSpPr txBox="1"/>
          <p:nvPr/>
        </p:nvSpPr>
        <p:spPr>
          <a:xfrm>
            <a:off x="485775" y="4229437"/>
            <a:ext cx="2771700" cy="186689"/>
          </a:xfrm>
          <a:prstGeom prst="rect">
            <a:avLst/>
          </a:prstGeom>
          <a:noFill/>
        </p:spPr>
        <p:txBody>
          <a:bodyPr wrap="none" lIns="0" rIns="0" tIns="0" bIns="0">
            <a:spAutoFit/>
          </a:bodyPr>
          <a:lstStyle/>
          <a:p>
            <a:r>
              <a:rPr sz="1100" b="0">
                <a:solidFill>
                  <a:srgbClr val="2E2E2E"/>
                </a:solidFill>
                <a:latin typeface="Calibri"/>
              </a:rPr>
              <a:t>Among ceramide sunscreen by pack size, above</a:t>
            </a:r>
          </a:p>
        </p:txBody>
      </p:sp>
      <p:sp>
        <p:nvSpPr>
          <p:cNvPr id="96" name="TextBox 95"/>
          <p:cNvSpPr txBox="1"/>
          <p:nvPr/>
        </p:nvSpPr>
        <p:spPr>
          <a:xfrm>
            <a:off x="485775" y="4397077"/>
            <a:ext cx="2871837" cy="186689"/>
          </a:xfrm>
          <a:prstGeom prst="rect">
            <a:avLst/>
          </a:prstGeom>
          <a:noFill/>
        </p:spPr>
        <p:txBody>
          <a:bodyPr wrap="none" lIns="0" rIns="0" tIns="0" bIns="0">
            <a:spAutoFit/>
          </a:bodyPr>
          <a:lstStyle/>
          <a:p>
            <a:r>
              <a:rPr sz="1100" b="0">
                <a:solidFill>
                  <a:srgbClr val="2E2E2E"/>
                </a:solidFill>
                <a:latin typeface="Calibri"/>
              </a:rPr>
              <a:t>100-200 g/ml segment is expected to witness the</a:t>
            </a:r>
          </a:p>
        </p:txBody>
      </p:sp>
      <p:sp>
        <p:nvSpPr>
          <p:cNvPr id="97" name="TextBox 96"/>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98" name="Picture 97" descr="lock.png"/>
          <p:cNvPicPr>
            <a:picLocks noChangeAspect="1"/>
          </p:cNvPicPr>
          <p:nvPr/>
        </p:nvPicPr>
        <p:blipFill>
          <a:blip r:embed="rId22"/>
          <a:stretch>
            <a:fillRect/>
          </a:stretch>
        </p:blipFill>
        <p:spPr>
          <a:xfrm>
            <a:off x="1424607" y="4554938"/>
            <a:ext cx="128699" cy="187198"/>
          </a:xfrm>
          <a:prstGeom prst="rect">
            <a:avLst/>
          </a:prstGeom>
        </p:spPr>
      </p:pic>
      <p:sp>
        <p:nvSpPr>
          <p:cNvPr id="99" name="TextBox 98"/>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100" name="TextBox 99"/>
          <p:cNvSpPr txBox="1"/>
          <p:nvPr/>
        </p:nvSpPr>
        <p:spPr>
          <a:xfrm>
            <a:off x="485775" y="4732357"/>
            <a:ext cx="2704033" cy="186689"/>
          </a:xfrm>
          <a:prstGeom prst="rect">
            <a:avLst/>
          </a:prstGeom>
          <a:noFill/>
        </p:spPr>
        <p:txBody>
          <a:bodyPr wrap="none" lIns="0" rIns="0" tIns="0" bIns="0">
            <a:spAutoFit/>
          </a:bodyPr>
          <a:lstStyle/>
          <a:p>
            <a:r>
              <a:rPr sz="1100" b="0">
                <a:solidFill>
                  <a:srgbClr val="2E2E2E"/>
                </a:solidFill>
                <a:latin typeface="Calibri"/>
              </a:rPr>
              <a:t>terms of value share by pack size, the up to 30</a:t>
            </a:r>
          </a:p>
        </p:txBody>
      </p:sp>
      <p:sp>
        <p:nvSpPr>
          <p:cNvPr id="101" name="TextBox 100"/>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g/ml segment is expected to dominate the market,</a:t>
            </a:r>
          </a:p>
        </p:txBody>
      </p:sp>
      <p:sp>
        <p:nvSpPr>
          <p:cNvPr id="102" name="TextBox 101"/>
          <p:cNvSpPr txBox="1"/>
          <p:nvPr/>
        </p:nvSpPr>
        <p:spPr>
          <a:xfrm>
            <a:off x="485775" y="506763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103" name="Picture 102" descr="lock.png"/>
          <p:cNvPicPr>
            <a:picLocks noChangeAspect="1"/>
          </p:cNvPicPr>
          <p:nvPr/>
        </p:nvPicPr>
        <p:blipFill>
          <a:blip r:embed="rId22"/>
          <a:stretch>
            <a:fillRect/>
          </a:stretch>
        </p:blipFill>
        <p:spPr>
          <a:xfrm>
            <a:off x="919576" y="5057858"/>
            <a:ext cx="128699" cy="187198"/>
          </a:xfrm>
          <a:prstGeom prst="rect">
            <a:avLst/>
          </a:prstGeom>
        </p:spPr>
      </p:pic>
      <p:sp>
        <p:nvSpPr>
          <p:cNvPr id="104" name="TextBox 103"/>
          <p:cNvSpPr txBox="1"/>
          <p:nvPr/>
        </p:nvSpPr>
        <p:spPr>
          <a:xfrm>
            <a:off x="1087072"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05" name="Picture 104" descr="lock.png"/>
          <p:cNvPicPr>
            <a:picLocks noChangeAspect="1"/>
          </p:cNvPicPr>
          <p:nvPr/>
        </p:nvPicPr>
        <p:blipFill>
          <a:blip r:embed="rId22"/>
          <a:stretch>
            <a:fillRect/>
          </a:stretch>
        </p:blipFill>
        <p:spPr>
          <a:xfrm>
            <a:off x="2421557" y="5057858"/>
            <a:ext cx="128699" cy="187198"/>
          </a:xfrm>
          <a:prstGeom prst="rect">
            <a:avLst/>
          </a:prstGeom>
        </p:spPr>
      </p:pic>
      <p:sp>
        <p:nvSpPr>
          <p:cNvPr id="106" name="TextBox 105"/>
          <p:cNvSpPr txBox="1"/>
          <p:nvPr/>
        </p:nvSpPr>
        <p:spPr>
          <a:xfrm>
            <a:off x="2589053" y="506763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107" name="TextBox 106"/>
          <p:cNvSpPr txBox="1"/>
          <p:nvPr/>
        </p:nvSpPr>
        <p:spPr>
          <a:xfrm>
            <a:off x="485775" y="523527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08" name="TextBox 107"/>
          <p:cNvSpPr txBox="1"/>
          <p:nvPr/>
        </p:nvSpPr>
        <p:spPr>
          <a:xfrm>
            <a:off x="485775" y="5453209"/>
            <a:ext cx="2701850" cy="186689"/>
          </a:xfrm>
          <a:prstGeom prst="rect">
            <a:avLst/>
          </a:prstGeom>
          <a:noFill/>
        </p:spPr>
        <p:txBody>
          <a:bodyPr wrap="none" lIns="0" rIns="0" tIns="0" bIns="0">
            <a:spAutoFit/>
          </a:bodyPr>
          <a:lstStyle/>
          <a:p>
            <a:r>
              <a:rPr sz="1100" b="0">
                <a:solidFill>
                  <a:srgbClr val="2E2E2E"/>
                </a:solidFill>
                <a:latin typeface="Calibri"/>
              </a:rPr>
              <a:t>Up to 30 g/ml segment is projected to register</a:t>
            </a:r>
          </a:p>
        </p:txBody>
      </p:sp>
      <p:pic>
        <p:nvPicPr>
          <p:cNvPr id="109" name="Picture 108" descr="lock.png"/>
          <p:cNvPicPr>
            <a:picLocks noChangeAspect="1"/>
          </p:cNvPicPr>
          <p:nvPr/>
        </p:nvPicPr>
        <p:blipFill>
          <a:blip r:embed="rId22"/>
          <a:stretch>
            <a:fillRect/>
          </a:stretch>
        </p:blipFill>
        <p:spPr>
          <a:xfrm>
            <a:off x="472307" y="5611070"/>
            <a:ext cx="128699" cy="187198"/>
          </a:xfrm>
          <a:prstGeom prst="rect">
            <a:avLst/>
          </a:prstGeom>
        </p:spPr>
      </p:pic>
      <p:sp>
        <p:nvSpPr>
          <p:cNvPr id="110" name="TextBox 109"/>
          <p:cNvSpPr txBox="1"/>
          <p:nvPr/>
        </p:nvSpPr>
        <p:spPr>
          <a:xfrm>
            <a:off x="639803" y="5620849"/>
            <a:ext cx="2750691" cy="186689"/>
          </a:xfrm>
          <a:prstGeom prst="rect">
            <a:avLst/>
          </a:prstGeom>
          <a:noFill/>
        </p:spPr>
        <p:txBody>
          <a:bodyPr wrap="none" lIns="0" rIns="0" tIns="0" bIns="0">
            <a:spAutoFit/>
          </a:bodyPr>
          <a:lstStyle/>
          <a:p>
            <a:r>
              <a:rPr sz="1100" b="0">
                <a:solidFill>
                  <a:srgbClr val="2E2E2E"/>
                </a:solidFill>
                <a:latin typeface="Calibri"/>
              </a:rPr>
              <a:t>X higher value than above 200 g/ml segment in</a:t>
            </a:r>
          </a:p>
        </p:txBody>
      </p:sp>
      <p:sp>
        <p:nvSpPr>
          <p:cNvPr id="111" name="TextBox 110"/>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12" name="TextBox 111"/>
          <p:cNvSpPr txBox="1"/>
          <p:nvPr/>
        </p:nvSpPr>
        <p:spPr>
          <a:xfrm>
            <a:off x="3838575" y="4229437"/>
            <a:ext cx="1013717" cy="186689"/>
          </a:xfrm>
          <a:prstGeom prst="rect">
            <a:avLst/>
          </a:prstGeom>
          <a:noFill/>
        </p:spPr>
        <p:txBody>
          <a:bodyPr wrap="none" lIns="0" rIns="0" tIns="0" bIns="0">
            <a:spAutoFit/>
          </a:bodyPr>
          <a:lstStyle/>
          <a:p>
            <a:r>
              <a:rPr sz="1100" b="0">
                <a:solidFill>
                  <a:srgbClr val="2E2E2E"/>
                </a:solidFill>
                <a:latin typeface="Calibri"/>
              </a:rPr>
              <a:t>● Up to 30 g/ml:</a:t>
            </a:r>
          </a:p>
        </p:txBody>
      </p:sp>
      <p:pic>
        <p:nvPicPr>
          <p:cNvPr id="113" name="Picture 112" descr="lock.png"/>
          <p:cNvPicPr>
            <a:picLocks noChangeAspect="1"/>
          </p:cNvPicPr>
          <p:nvPr/>
        </p:nvPicPr>
        <p:blipFill>
          <a:blip r:embed="rId22"/>
          <a:stretch>
            <a:fillRect/>
          </a:stretch>
        </p:blipFill>
        <p:spPr>
          <a:xfrm>
            <a:off x="4800344" y="4219658"/>
            <a:ext cx="128699" cy="187198"/>
          </a:xfrm>
          <a:prstGeom prst="rect">
            <a:avLst/>
          </a:prstGeom>
        </p:spPr>
      </p:pic>
      <p:sp>
        <p:nvSpPr>
          <p:cNvPr id="114" name="TextBox 113"/>
          <p:cNvSpPr txBox="1"/>
          <p:nvPr/>
        </p:nvSpPr>
        <p:spPr>
          <a:xfrm>
            <a:off x="496784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22"/>
          <a:stretch>
            <a:fillRect/>
          </a:stretch>
        </p:blipFill>
        <p:spPr>
          <a:xfrm>
            <a:off x="5827290" y="4219658"/>
            <a:ext cx="128699" cy="187198"/>
          </a:xfrm>
          <a:prstGeom prst="rect">
            <a:avLst/>
          </a:prstGeom>
        </p:spPr>
      </p:pic>
      <p:sp>
        <p:nvSpPr>
          <p:cNvPr id="116" name="TextBox 115"/>
          <p:cNvSpPr txBox="1"/>
          <p:nvPr/>
        </p:nvSpPr>
        <p:spPr>
          <a:xfrm>
            <a:off x="599478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7" name="TextBox 116"/>
          <p:cNvSpPr txBox="1"/>
          <p:nvPr/>
        </p:nvSpPr>
        <p:spPr>
          <a:xfrm>
            <a:off x="3838575" y="4447369"/>
            <a:ext cx="1129679" cy="186689"/>
          </a:xfrm>
          <a:prstGeom prst="rect">
            <a:avLst/>
          </a:prstGeom>
          <a:noFill/>
        </p:spPr>
        <p:txBody>
          <a:bodyPr wrap="none" lIns="0" rIns="0" tIns="0" bIns="0">
            <a:spAutoFit/>
          </a:bodyPr>
          <a:lstStyle/>
          <a:p>
            <a:r>
              <a:rPr sz="1100" b="0">
                <a:solidFill>
                  <a:srgbClr val="2E2E2E"/>
                </a:solidFill>
                <a:latin typeface="Calibri"/>
              </a:rPr>
              <a:t>● Above 200 g/ml:</a:t>
            </a:r>
          </a:p>
        </p:txBody>
      </p:sp>
      <p:pic>
        <p:nvPicPr>
          <p:cNvPr id="118" name="Picture 117" descr="lock.png"/>
          <p:cNvPicPr>
            <a:picLocks noChangeAspect="1"/>
          </p:cNvPicPr>
          <p:nvPr/>
        </p:nvPicPr>
        <p:blipFill>
          <a:blip r:embed="rId22"/>
          <a:stretch>
            <a:fillRect/>
          </a:stretch>
        </p:blipFill>
        <p:spPr>
          <a:xfrm>
            <a:off x="4916306" y="4437590"/>
            <a:ext cx="128699" cy="187198"/>
          </a:xfrm>
          <a:prstGeom prst="rect">
            <a:avLst/>
          </a:prstGeom>
        </p:spPr>
      </p:pic>
      <p:sp>
        <p:nvSpPr>
          <p:cNvPr id="119" name="TextBox 118"/>
          <p:cNvSpPr txBox="1"/>
          <p:nvPr/>
        </p:nvSpPr>
        <p:spPr>
          <a:xfrm>
            <a:off x="508380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5943252" y="4437590"/>
            <a:ext cx="128699" cy="187198"/>
          </a:xfrm>
          <a:prstGeom prst="rect">
            <a:avLst/>
          </a:prstGeom>
        </p:spPr>
      </p:pic>
      <p:sp>
        <p:nvSpPr>
          <p:cNvPr id="121" name="TextBox 120"/>
          <p:cNvSpPr txBox="1"/>
          <p:nvPr/>
        </p:nvSpPr>
        <p:spPr>
          <a:xfrm>
            <a:off x="6110748"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2" name="TextBox 121"/>
          <p:cNvSpPr txBox="1"/>
          <p:nvPr/>
        </p:nvSpPr>
        <p:spPr>
          <a:xfrm>
            <a:off x="3838575" y="4665301"/>
            <a:ext cx="1270198" cy="186689"/>
          </a:xfrm>
          <a:prstGeom prst="rect">
            <a:avLst/>
          </a:prstGeom>
          <a:noFill/>
        </p:spPr>
        <p:txBody>
          <a:bodyPr wrap="none" lIns="0" rIns="0" tIns="0" bIns="0">
            <a:spAutoFit/>
          </a:bodyPr>
          <a:lstStyle/>
          <a:p>
            <a:r>
              <a:rPr sz="1100" b="0">
                <a:solidFill>
                  <a:srgbClr val="2E2E2E"/>
                </a:solidFill>
                <a:latin typeface="Calibri"/>
              </a:rPr>
              <a:t>● Above 30–50 g/ml:</a:t>
            </a:r>
          </a:p>
        </p:txBody>
      </p:sp>
      <p:pic>
        <p:nvPicPr>
          <p:cNvPr id="123" name="Picture 122" descr="lock.png"/>
          <p:cNvPicPr>
            <a:picLocks noChangeAspect="1"/>
          </p:cNvPicPr>
          <p:nvPr/>
        </p:nvPicPr>
        <p:blipFill>
          <a:blip r:embed="rId22"/>
          <a:stretch>
            <a:fillRect/>
          </a:stretch>
        </p:blipFill>
        <p:spPr>
          <a:xfrm>
            <a:off x="5056825" y="4655522"/>
            <a:ext cx="128699" cy="187198"/>
          </a:xfrm>
          <a:prstGeom prst="rect">
            <a:avLst/>
          </a:prstGeom>
        </p:spPr>
      </p:pic>
      <p:sp>
        <p:nvSpPr>
          <p:cNvPr id="124" name="TextBox 123"/>
          <p:cNvSpPr txBox="1"/>
          <p:nvPr/>
        </p:nvSpPr>
        <p:spPr>
          <a:xfrm>
            <a:off x="522432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22"/>
          <a:stretch>
            <a:fillRect/>
          </a:stretch>
        </p:blipFill>
        <p:spPr>
          <a:xfrm>
            <a:off x="6083771" y="4655522"/>
            <a:ext cx="128699" cy="187198"/>
          </a:xfrm>
          <a:prstGeom prst="rect">
            <a:avLst/>
          </a:prstGeom>
        </p:spPr>
      </p:pic>
      <p:sp>
        <p:nvSpPr>
          <p:cNvPr id="126" name="TextBox 125"/>
          <p:cNvSpPr txBox="1"/>
          <p:nvPr/>
        </p:nvSpPr>
        <p:spPr>
          <a:xfrm>
            <a:off x="6251266"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7" name="TextBox 126"/>
          <p:cNvSpPr txBox="1"/>
          <p:nvPr/>
        </p:nvSpPr>
        <p:spPr>
          <a:xfrm>
            <a:off x="3838575" y="4883233"/>
            <a:ext cx="1412081" cy="186689"/>
          </a:xfrm>
          <a:prstGeom prst="rect">
            <a:avLst/>
          </a:prstGeom>
          <a:noFill/>
        </p:spPr>
        <p:txBody>
          <a:bodyPr wrap="none" lIns="0" rIns="0" tIns="0" bIns="0">
            <a:spAutoFit/>
          </a:bodyPr>
          <a:lstStyle/>
          <a:p>
            <a:r>
              <a:rPr sz="1100" b="0">
                <a:solidFill>
                  <a:srgbClr val="2E2E2E"/>
                </a:solidFill>
                <a:latin typeface="Calibri"/>
              </a:rPr>
              <a:t>● Above 100–200 g/ml:</a:t>
            </a:r>
          </a:p>
        </p:txBody>
      </p:sp>
      <p:pic>
        <p:nvPicPr>
          <p:cNvPr id="128" name="Picture 127" descr="lock.png"/>
          <p:cNvPicPr>
            <a:picLocks noChangeAspect="1"/>
          </p:cNvPicPr>
          <p:nvPr/>
        </p:nvPicPr>
        <p:blipFill>
          <a:blip r:embed="rId22"/>
          <a:stretch>
            <a:fillRect/>
          </a:stretch>
        </p:blipFill>
        <p:spPr>
          <a:xfrm>
            <a:off x="5198707" y="4873454"/>
            <a:ext cx="128699" cy="187198"/>
          </a:xfrm>
          <a:prstGeom prst="rect">
            <a:avLst/>
          </a:prstGeom>
        </p:spPr>
      </p:pic>
      <p:sp>
        <p:nvSpPr>
          <p:cNvPr id="129" name="TextBox 128"/>
          <p:cNvSpPr txBox="1"/>
          <p:nvPr/>
        </p:nvSpPr>
        <p:spPr>
          <a:xfrm>
            <a:off x="5366203"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2"/>
          <a:stretch>
            <a:fillRect/>
          </a:stretch>
        </p:blipFill>
        <p:spPr>
          <a:xfrm>
            <a:off x="6225653" y="4873454"/>
            <a:ext cx="128699" cy="187198"/>
          </a:xfrm>
          <a:prstGeom prst="rect">
            <a:avLst/>
          </a:prstGeom>
        </p:spPr>
      </p:pic>
      <p:sp>
        <p:nvSpPr>
          <p:cNvPr id="131" name="TextBox 130"/>
          <p:cNvSpPr txBox="1"/>
          <p:nvPr/>
        </p:nvSpPr>
        <p:spPr>
          <a:xfrm>
            <a:off x="6393149"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2" name="TextBox 131"/>
          <p:cNvSpPr txBox="1"/>
          <p:nvPr/>
        </p:nvSpPr>
        <p:spPr>
          <a:xfrm>
            <a:off x="3838575" y="5101165"/>
            <a:ext cx="1341139" cy="186689"/>
          </a:xfrm>
          <a:prstGeom prst="rect">
            <a:avLst/>
          </a:prstGeom>
          <a:noFill/>
        </p:spPr>
        <p:txBody>
          <a:bodyPr wrap="none" lIns="0" rIns="0" tIns="0" bIns="0">
            <a:spAutoFit/>
          </a:bodyPr>
          <a:lstStyle/>
          <a:p>
            <a:r>
              <a:rPr sz="1100" b="0">
                <a:solidFill>
                  <a:srgbClr val="2E2E2E"/>
                </a:solidFill>
                <a:latin typeface="Calibri"/>
              </a:rPr>
              <a:t>● Above 50–100 g/ml:</a:t>
            </a:r>
          </a:p>
        </p:txBody>
      </p:sp>
      <p:pic>
        <p:nvPicPr>
          <p:cNvPr id="133" name="Picture 132" descr="lock.png"/>
          <p:cNvPicPr>
            <a:picLocks noChangeAspect="1"/>
          </p:cNvPicPr>
          <p:nvPr/>
        </p:nvPicPr>
        <p:blipFill>
          <a:blip r:embed="rId22"/>
          <a:stretch>
            <a:fillRect/>
          </a:stretch>
        </p:blipFill>
        <p:spPr>
          <a:xfrm>
            <a:off x="5127766" y="5091385"/>
            <a:ext cx="128699" cy="187198"/>
          </a:xfrm>
          <a:prstGeom prst="rect">
            <a:avLst/>
          </a:prstGeom>
        </p:spPr>
      </p:pic>
      <p:sp>
        <p:nvSpPr>
          <p:cNvPr id="134" name="TextBox 133"/>
          <p:cNvSpPr txBox="1"/>
          <p:nvPr/>
        </p:nvSpPr>
        <p:spPr>
          <a:xfrm>
            <a:off x="5295262"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2"/>
          <a:stretch>
            <a:fillRect/>
          </a:stretch>
        </p:blipFill>
        <p:spPr>
          <a:xfrm>
            <a:off x="6154712" y="5091385"/>
            <a:ext cx="128699" cy="187198"/>
          </a:xfrm>
          <a:prstGeom prst="rect">
            <a:avLst/>
          </a:prstGeom>
        </p:spPr>
      </p:pic>
      <p:sp>
        <p:nvSpPr>
          <p:cNvPr id="136" name="TextBox 135"/>
          <p:cNvSpPr txBox="1"/>
          <p:nvPr/>
        </p:nvSpPr>
        <p:spPr>
          <a:xfrm>
            <a:off x="6322208"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7" name="TextBox 136"/>
          <p:cNvSpPr txBox="1"/>
          <p:nvPr/>
        </p:nvSpPr>
        <p:spPr>
          <a:xfrm>
            <a:off x="8524875" y="5842641"/>
            <a:ext cx="2950133" cy="194310"/>
          </a:xfrm>
          <a:prstGeom prst="rect">
            <a:avLst/>
          </a:prstGeom>
          <a:noFill/>
        </p:spPr>
        <p:txBody>
          <a:bodyPr wrap="none" lIns="0" rIns="0" tIns="0" bIns="0">
            <a:spAutoFit/>
          </a:bodyPr>
          <a:lstStyle/>
          <a:p>
            <a:r>
              <a:rPr sz="1150" b="1">
                <a:solidFill>
                  <a:srgbClr val="0B2E4A"/>
                </a:solidFill>
                <a:latin typeface="Calibri"/>
              </a:rPr>
              <a:t>The Pack Size segment is projected to grow at a</a:t>
            </a:r>
          </a:p>
        </p:txBody>
      </p:sp>
      <p:sp>
        <p:nvSpPr>
          <p:cNvPr id="138" name="TextBox 137"/>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9" name="Picture 138" descr="lock.png"/>
          <p:cNvPicPr>
            <a:picLocks noChangeAspect="1"/>
          </p:cNvPicPr>
          <p:nvPr/>
        </p:nvPicPr>
        <p:blipFill>
          <a:blip r:embed="rId22"/>
          <a:stretch>
            <a:fillRect/>
          </a:stretch>
        </p:blipFill>
        <p:spPr>
          <a:xfrm>
            <a:off x="9048826" y="6007677"/>
            <a:ext cx="134549" cy="195707"/>
          </a:xfrm>
          <a:prstGeom prst="rect">
            <a:avLst/>
          </a:prstGeom>
        </p:spPr>
      </p:pic>
      <p:sp>
        <p:nvSpPr>
          <p:cNvPr id="140" name="TextBox 139"/>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Pack Size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Pack Size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Pack Size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Pack Size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66115" cy="186689"/>
          </a:xfrm>
          <a:prstGeom prst="rect">
            <a:avLst/>
          </a:prstGeom>
          <a:noFill/>
        </p:spPr>
        <p:txBody>
          <a:bodyPr wrap="none" lIns="0" rIns="0" tIns="0" bIns="0">
            <a:spAutoFit/>
          </a:bodyPr>
          <a:lstStyle/>
          <a:p>
            <a:r>
              <a:rPr sz="1100" b="0">
                <a:solidFill>
                  <a:srgbClr val="2E2E2E"/>
                </a:solidFill>
                <a:latin typeface="Calibri"/>
              </a:rPr>
              <a:t>Up to 30 g/ml followed by above 200 g/ml are expected to be the two most attractive pack size segments in the North America ceramide sunscreen market in terms of value over the forecast period. Up to</a:t>
            </a:r>
          </a:p>
        </p:txBody>
      </p:sp>
      <p:sp>
        <p:nvSpPr>
          <p:cNvPr id="20" name="TextBox 19"/>
          <p:cNvSpPr txBox="1"/>
          <p:nvPr/>
        </p:nvSpPr>
        <p:spPr>
          <a:xfrm>
            <a:off x="257175" y="5861685"/>
            <a:ext cx="3034439" cy="186689"/>
          </a:xfrm>
          <a:prstGeom prst="rect">
            <a:avLst/>
          </a:prstGeom>
          <a:noFill/>
        </p:spPr>
        <p:txBody>
          <a:bodyPr wrap="none" lIns="0" rIns="0" tIns="0" bIns="0">
            <a:spAutoFit/>
          </a:bodyPr>
          <a:lstStyle/>
          <a:p>
            <a:r>
              <a:rPr sz="1100" b="0">
                <a:solidFill>
                  <a:srgbClr val="2E2E2E"/>
                </a:solidFill>
                <a:latin typeface="Calibri"/>
              </a:rPr>
              <a:t>30 g/ml and above 200 g/ml exhibit a CAGR index of</a:t>
            </a:r>
          </a:p>
        </p:txBody>
      </p:sp>
      <p:pic>
        <p:nvPicPr>
          <p:cNvPr id="21" name="Picture 20" descr="lock.png"/>
          <p:cNvPicPr>
            <a:picLocks noChangeAspect="1"/>
          </p:cNvPicPr>
          <p:nvPr/>
        </p:nvPicPr>
        <p:blipFill>
          <a:blip r:embed="rId6"/>
          <a:stretch>
            <a:fillRect/>
          </a:stretch>
        </p:blipFill>
        <p:spPr>
          <a:xfrm>
            <a:off x="3239666" y="5851905"/>
            <a:ext cx="128699" cy="187198"/>
          </a:xfrm>
          <a:prstGeom prst="rect">
            <a:avLst/>
          </a:prstGeom>
        </p:spPr>
      </p:pic>
      <p:sp>
        <p:nvSpPr>
          <p:cNvPr id="22" name="TextBox 21"/>
          <p:cNvSpPr txBox="1"/>
          <p:nvPr/>
        </p:nvSpPr>
        <p:spPr>
          <a:xfrm>
            <a:off x="340716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645056" y="5851905"/>
            <a:ext cx="128699" cy="187198"/>
          </a:xfrm>
          <a:prstGeom prst="rect">
            <a:avLst/>
          </a:prstGeom>
        </p:spPr>
      </p:pic>
      <p:sp>
        <p:nvSpPr>
          <p:cNvPr id="24" name="TextBox 23"/>
          <p:cNvSpPr txBox="1"/>
          <p:nvPr/>
        </p:nvSpPr>
        <p:spPr>
          <a:xfrm>
            <a:off x="381255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421525" y="5851905"/>
            <a:ext cx="128699" cy="187198"/>
          </a:xfrm>
          <a:prstGeom prst="rect">
            <a:avLst/>
          </a:prstGeom>
        </p:spPr>
      </p:pic>
      <p:sp>
        <p:nvSpPr>
          <p:cNvPr id="26" name="TextBox 25"/>
          <p:cNvSpPr txBox="1"/>
          <p:nvPr/>
        </p:nvSpPr>
        <p:spPr>
          <a:xfrm>
            <a:off x="558902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826915" y="5851905"/>
            <a:ext cx="128699" cy="187198"/>
          </a:xfrm>
          <a:prstGeom prst="rect">
            <a:avLst/>
          </a:prstGeom>
        </p:spPr>
      </p:pic>
      <p:sp>
        <p:nvSpPr>
          <p:cNvPr id="28" name="TextBox 27"/>
          <p:cNvSpPr txBox="1"/>
          <p:nvPr/>
        </p:nvSpPr>
        <p:spPr>
          <a:xfrm>
            <a:off x="5994411"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548815" y="5851905"/>
            <a:ext cx="128699" cy="187198"/>
          </a:xfrm>
          <a:prstGeom prst="rect">
            <a:avLst/>
          </a:prstGeom>
        </p:spPr>
      </p:pic>
      <p:sp>
        <p:nvSpPr>
          <p:cNvPr id="30" name="TextBox 29"/>
          <p:cNvSpPr txBox="1"/>
          <p:nvPr/>
        </p:nvSpPr>
        <p:spPr>
          <a:xfrm>
            <a:off x="8716311" y="5861685"/>
            <a:ext cx="2652191" cy="186689"/>
          </a:xfrm>
          <a:prstGeom prst="rect">
            <a:avLst/>
          </a:prstGeom>
          <a:noFill/>
        </p:spPr>
        <p:txBody>
          <a:bodyPr wrap="none" lIns="0" rIns="0" tIns="0" bIns="0">
            <a:spAutoFit/>
          </a:bodyPr>
          <a:lstStyle/>
          <a:p>
            <a:r>
              <a:rPr sz="1100" b="0">
                <a:solidFill>
                  <a:srgbClr val="2E2E2E"/>
                </a:solidFill>
                <a:latin typeface="Calibri"/>
              </a:rPr>
              <a:t>. The above 50-100 g/ml segment is expected</a:t>
            </a:r>
          </a:p>
        </p:txBody>
      </p:sp>
      <p:sp>
        <p:nvSpPr>
          <p:cNvPr id="31" name="TextBox 30"/>
          <p:cNvSpPr txBox="1"/>
          <p:nvPr/>
        </p:nvSpPr>
        <p:spPr>
          <a:xfrm>
            <a:off x="257175" y="6029325"/>
            <a:ext cx="11390501" cy="186689"/>
          </a:xfrm>
          <a:prstGeom prst="rect">
            <a:avLst/>
          </a:prstGeom>
          <a:noFill/>
        </p:spPr>
        <p:txBody>
          <a:bodyPr wrap="none" lIns="0" rIns="0" tIns="0" bIns="0">
            <a:spAutoFit/>
          </a:bodyPr>
          <a:lstStyle/>
          <a:p>
            <a:r>
              <a:rPr sz="1100" b="0">
                <a:solidFill>
                  <a:srgbClr val="2E2E2E"/>
                </a:solidFill>
                <a:latin typeface="Calibri"/>
              </a:rPr>
              <a:t>to be less attractive as compared to other segments over the forecast period, owing to its lower CAGR and incremental opportunity. Bubbles right of the CAGR-Index line grow faster than the segment</a:t>
            </a:r>
          </a:p>
        </p:txBody>
      </p:sp>
      <p:sp>
        <p:nvSpPr>
          <p:cNvPr id="32" name="TextBox 31"/>
          <p:cNvSpPr txBox="1"/>
          <p:nvPr/>
        </p:nvSpPr>
        <p:spPr>
          <a:xfrm>
            <a:off x="257175" y="6196965"/>
            <a:ext cx="561875" cy="186689"/>
          </a:xfrm>
          <a:prstGeom prst="rect">
            <a:avLst/>
          </a:prstGeom>
          <a:noFill/>
        </p:spPr>
        <p:txBody>
          <a:bodyPr wrap="none" lIns="0" rIns="0" tIns="0" bIns="0">
            <a:spAutoFit/>
          </a:bodyPr>
          <a:lstStyle/>
          <a:p>
            <a:r>
              <a:rPr sz="1100" b="0">
                <a:solidFill>
                  <a:srgbClr val="2E2E2E"/>
                </a:solidFill>
                <a:latin typeface="Calibri"/>
              </a:rPr>
              <a:t>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Pack Size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Pack Size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Up to 30 g/ml</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30–50 g/ml</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50–100 g/ml</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100–200 g/ml</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Pack Size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Pack Size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200 g/ml</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Pack Size</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598245"/>
            <a:ext cx="4303925" cy="194310"/>
          </a:xfrm>
          <a:prstGeom prst="rect">
            <a:avLst/>
          </a:prstGeom>
          <a:noFill/>
        </p:spPr>
        <p:txBody>
          <a:bodyPr wrap="none" lIns="0" rIns="0" tIns="0" bIns="0">
            <a:spAutoFit/>
          </a:bodyPr>
          <a:lstStyle/>
          <a:p>
            <a:r>
              <a:rPr sz="1150" b="0">
                <a:solidFill>
                  <a:srgbClr val="2E2E2E"/>
                </a:solidFill>
                <a:latin typeface="Calibri"/>
              </a:rPr>
              <a:t>By 2036, up to 30 g/ml segment is anticipated to witness an increase of</a:t>
            </a:r>
          </a:p>
        </p:txBody>
      </p:sp>
      <p:pic>
        <p:nvPicPr>
          <p:cNvPr id="20" name="Picture 19" descr="lock.png"/>
          <p:cNvPicPr>
            <a:picLocks noChangeAspect="1"/>
          </p:cNvPicPr>
          <p:nvPr/>
        </p:nvPicPr>
        <p:blipFill>
          <a:blip r:embed="rId5"/>
          <a:stretch>
            <a:fillRect/>
          </a:stretch>
        </p:blipFill>
        <p:spPr>
          <a:xfrm>
            <a:off x="10558629" y="1588021"/>
            <a:ext cx="134549" cy="195707"/>
          </a:xfrm>
          <a:prstGeom prst="rect">
            <a:avLst/>
          </a:prstGeom>
        </p:spPr>
      </p:pic>
      <p:sp>
        <p:nvSpPr>
          <p:cNvPr id="21" name="TextBox 20"/>
          <p:cNvSpPr txBox="1"/>
          <p:nvPr/>
        </p:nvSpPr>
        <p:spPr>
          <a:xfrm>
            <a:off x="10733739" y="1598245"/>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22" name="TextBox 21"/>
          <p:cNvSpPr txBox="1"/>
          <p:nvPr/>
        </p:nvSpPr>
        <p:spPr>
          <a:xfrm>
            <a:off x="6305550" y="1773505"/>
            <a:ext cx="5553360" cy="194310"/>
          </a:xfrm>
          <a:prstGeom prst="rect">
            <a:avLst/>
          </a:prstGeom>
          <a:noFill/>
        </p:spPr>
        <p:txBody>
          <a:bodyPr wrap="none" lIns="0" rIns="0" tIns="0" bIns="0">
            <a:spAutoFit/>
          </a:bodyPr>
          <a:lstStyle/>
          <a:p>
            <a:r>
              <a:rPr sz="1150" b="0">
                <a:solidFill>
                  <a:srgbClr val="2E2E2E"/>
                </a:solidFill>
                <a:latin typeface="Calibri"/>
              </a:rPr>
              <a:t>value as compared to 2026. The up to 30 g/ml segment is expected to create an incremental</a:t>
            </a:r>
          </a:p>
        </p:txBody>
      </p:sp>
      <p:sp>
        <p:nvSpPr>
          <p:cNvPr id="23" name="TextBox 22"/>
          <p:cNvSpPr txBox="1"/>
          <p:nvPr/>
        </p:nvSpPr>
        <p:spPr>
          <a:xfrm>
            <a:off x="6305550" y="1948765"/>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4" name="Picture 23" descr="lock.png"/>
          <p:cNvPicPr>
            <a:picLocks noChangeAspect="1"/>
          </p:cNvPicPr>
          <p:nvPr/>
        </p:nvPicPr>
        <p:blipFill>
          <a:blip r:embed="rId5"/>
          <a:stretch>
            <a:fillRect/>
          </a:stretch>
        </p:blipFill>
        <p:spPr>
          <a:xfrm>
            <a:off x="7463647" y="1938541"/>
            <a:ext cx="134549" cy="195707"/>
          </a:xfrm>
          <a:prstGeom prst="rect">
            <a:avLst/>
          </a:prstGeom>
        </p:spPr>
      </p:pic>
      <p:sp>
        <p:nvSpPr>
          <p:cNvPr id="25" name="TextBox 24"/>
          <p:cNvSpPr txBox="1"/>
          <p:nvPr/>
        </p:nvSpPr>
        <p:spPr>
          <a:xfrm>
            <a:off x="7638756" y="1948765"/>
            <a:ext cx="4013274" cy="194310"/>
          </a:xfrm>
          <a:prstGeom prst="rect">
            <a:avLst/>
          </a:prstGeom>
          <a:noFill/>
        </p:spPr>
        <p:txBody>
          <a:bodyPr wrap="none" lIns="0" rIns="0" tIns="0" bIns="0">
            <a:spAutoFit/>
          </a:bodyPr>
          <a:lstStyle/>
          <a:p>
            <a:r>
              <a:rPr sz="1150" b="0">
                <a:solidFill>
                  <a:srgbClr val="2E2E2E"/>
                </a:solidFill>
                <a:latin typeface="Calibri"/>
              </a:rPr>
              <a:t>Mn for the overall ceramide sunscreen market from 2026 to 2036.</a:t>
            </a:r>
          </a:p>
        </p:txBody>
      </p:sp>
      <p:sp>
        <p:nvSpPr>
          <p:cNvPr id="26" name="TextBox 25"/>
          <p:cNvSpPr txBox="1"/>
          <p:nvPr/>
        </p:nvSpPr>
        <p:spPr>
          <a:xfrm>
            <a:off x="6305550" y="2176603"/>
            <a:ext cx="5169408" cy="194310"/>
          </a:xfrm>
          <a:prstGeom prst="rect">
            <a:avLst/>
          </a:prstGeom>
          <a:noFill/>
        </p:spPr>
        <p:txBody>
          <a:bodyPr wrap="none" lIns="0" rIns="0" tIns="0" bIns="0">
            <a:spAutoFit/>
          </a:bodyPr>
          <a:lstStyle/>
          <a:p>
            <a:r>
              <a:rPr sz="1150" b="0">
                <a:solidFill>
                  <a:srgbClr val="2E2E2E"/>
                </a:solidFill>
                <a:latin typeface="Calibri"/>
              </a:rPr>
              <a:t>The above 200 g/ml segment is expected to create an incremental opportunity of US$</a:t>
            </a:r>
          </a:p>
        </p:txBody>
      </p:sp>
      <p:pic>
        <p:nvPicPr>
          <p:cNvPr id="27" name="Picture 26" descr="lock.png"/>
          <p:cNvPicPr>
            <a:picLocks noChangeAspect="1"/>
          </p:cNvPicPr>
          <p:nvPr/>
        </p:nvPicPr>
        <p:blipFill>
          <a:blip r:embed="rId5"/>
          <a:stretch>
            <a:fillRect/>
          </a:stretch>
        </p:blipFill>
        <p:spPr>
          <a:xfrm>
            <a:off x="11424112" y="2166379"/>
            <a:ext cx="134549" cy="195707"/>
          </a:xfrm>
          <a:prstGeom prst="rect">
            <a:avLst/>
          </a:prstGeom>
        </p:spPr>
      </p:pic>
      <p:sp>
        <p:nvSpPr>
          <p:cNvPr id="28" name="TextBox 27"/>
          <p:cNvSpPr txBox="1"/>
          <p:nvPr/>
        </p:nvSpPr>
        <p:spPr>
          <a:xfrm>
            <a:off x="11599221" y="217660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29" name="TextBox 28"/>
          <p:cNvSpPr txBox="1"/>
          <p:nvPr/>
        </p:nvSpPr>
        <p:spPr>
          <a:xfrm>
            <a:off x="6305550" y="2351863"/>
            <a:ext cx="5138886" cy="194310"/>
          </a:xfrm>
          <a:prstGeom prst="rect">
            <a:avLst/>
          </a:prstGeom>
          <a:noFill/>
        </p:spPr>
        <p:txBody>
          <a:bodyPr wrap="none" lIns="0" rIns="0" tIns="0" bIns="0">
            <a:spAutoFit/>
          </a:bodyPr>
          <a:lstStyle/>
          <a:p>
            <a:r>
              <a:rPr sz="1150" b="0">
                <a:solidFill>
                  <a:srgbClr val="2E2E2E"/>
                </a:solidFill>
                <a:latin typeface="Calibri"/>
              </a:rPr>
              <a:t>for the overall ceramide sunscreen market from 2026 to 2036. The above 30–50 g/ml</a:t>
            </a:r>
          </a:p>
        </p:txBody>
      </p:sp>
      <p:sp>
        <p:nvSpPr>
          <p:cNvPr id="30" name="TextBox 29"/>
          <p:cNvSpPr txBox="1"/>
          <p:nvPr/>
        </p:nvSpPr>
        <p:spPr>
          <a:xfrm>
            <a:off x="6305550" y="2527123"/>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10210642" y="2516899"/>
            <a:ext cx="134549" cy="195707"/>
          </a:xfrm>
          <a:prstGeom prst="rect">
            <a:avLst/>
          </a:prstGeom>
        </p:spPr>
      </p:pic>
      <p:sp>
        <p:nvSpPr>
          <p:cNvPr id="32" name="TextBox 31"/>
          <p:cNvSpPr txBox="1"/>
          <p:nvPr/>
        </p:nvSpPr>
        <p:spPr>
          <a:xfrm>
            <a:off x="10385751" y="2527123"/>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3" name="TextBox 32"/>
          <p:cNvSpPr txBox="1"/>
          <p:nvPr/>
        </p:nvSpPr>
        <p:spPr>
          <a:xfrm>
            <a:off x="6305550" y="2702383"/>
            <a:ext cx="2904207" cy="194310"/>
          </a:xfrm>
          <a:prstGeom prst="rect">
            <a:avLst/>
          </a:prstGeom>
          <a:noFill/>
        </p:spPr>
        <p:txBody>
          <a:bodyPr wrap="none" lIns="0" rIns="0" tIns="0" bIns="0">
            <a:spAutoFit/>
          </a:bodyPr>
          <a:lstStyle/>
          <a:p>
            <a:r>
              <a:rPr sz="1150" b="0">
                <a:solidFill>
                  <a:srgbClr val="2E2E2E"/>
                </a:solidFill>
                <a:latin typeface="Calibri"/>
              </a:rPr>
              <a:t>ceramide sunscreen market from 2026 to 2036.</a:t>
            </a:r>
          </a:p>
        </p:txBody>
      </p:sp>
      <p:sp>
        <p:nvSpPr>
          <p:cNvPr id="34"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Pack Size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Pack Size,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Pack Size (US$ Mn)</a:t>
            </a:r>
          </a:p>
        </p:txBody>
      </p:sp>
      <p:graphicFrame>
        <p:nvGraphicFramePr>
          <p:cNvPr id="12" name="Table 11"/>
          <p:cNvGraphicFramePr>
            <a:graphicFrameLocks noGrp="1"/>
          </p:cNvGraphicFramePr>
          <p:nvPr/>
        </p:nvGraphicFramePr>
        <p:xfrm>
          <a:off x="152400" y="1238250"/>
          <a:ext cx="11887200" cy="1724022"/>
        </p:xfrm>
        <a:graphic>
          <a:graphicData uri="http://schemas.openxmlformats.org/drawingml/2006/table">
            <a:tbl>
              <a:tblPr>
                <a:tableStyleId>{5C22544A-7EE6-4342-B048-85BDC9FD1C3A}</a:tableStyleId>
              </a:tblPr>
              <a:tblGrid>
                <a:gridCol w="1492023"/>
                <a:gridCol w="611481"/>
                <a:gridCol w="611481"/>
                <a:gridCol w="611481"/>
                <a:gridCol w="611481"/>
                <a:gridCol w="611481"/>
                <a:gridCol w="611481"/>
                <a:gridCol w="611481"/>
                <a:gridCol w="611481"/>
                <a:gridCol w="611481"/>
                <a:gridCol w="611481"/>
                <a:gridCol w="611481"/>
                <a:gridCol w="611481"/>
                <a:gridCol w="611481"/>
                <a:gridCol w="611481"/>
                <a:gridCol w="611481"/>
                <a:gridCol w="611481"/>
                <a:gridCol w="611481"/>
              </a:tblGrid>
              <a:tr h="246126">
                <a:tc>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Pack Size</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55321" y="1956623"/>
            <a:ext cx="366712" cy="533399"/>
          </a:xfrm>
          <a:prstGeom prst="rect">
            <a:avLst/>
          </a:prstGeom>
        </p:spPr>
      </p:pic>
      <p:sp>
        <p:nvSpPr>
          <p:cNvPr id="20" name="TextBox 19"/>
          <p:cNvSpPr txBox="1"/>
          <p:nvPr/>
        </p:nvSpPr>
        <p:spPr>
          <a:xfrm>
            <a:off x="276225" y="3724275"/>
            <a:ext cx="2821198" cy="194310"/>
          </a:xfrm>
          <a:prstGeom prst="rect">
            <a:avLst/>
          </a:prstGeom>
          <a:noFill/>
        </p:spPr>
        <p:txBody>
          <a:bodyPr wrap="none" lIns="0" rIns="0" tIns="0" bIns="0">
            <a:spAutoFit/>
          </a:bodyPr>
          <a:lstStyle/>
          <a:p>
            <a:r>
              <a:rPr sz="1150" b="0">
                <a:solidFill>
                  <a:srgbClr val="2E2E2E"/>
                </a:solidFill>
                <a:latin typeface="Calibri"/>
              </a:rPr>
              <a:t>Up to 30 g/ml segment is projected to register</a:t>
            </a:r>
          </a:p>
        </p:txBody>
      </p:sp>
      <p:pic>
        <p:nvPicPr>
          <p:cNvPr id="21" name="Picture 20" descr="lock.png"/>
          <p:cNvPicPr>
            <a:picLocks noChangeAspect="1"/>
          </p:cNvPicPr>
          <p:nvPr/>
        </p:nvPicPr>
        <p:blipFill>
          <a:blip r:embed="rId4"/>
          <a:stretch>
            <a:fillRect/>
          </a:stretch>
        </p:blipFill>
        <p:spPr>
          <a:xfrm>
            <a:off x="3046577" y="3714051"/>
            <a:ext cx="134549" cy="195707"/>
          </a:xfrm>
          <a:prstGeom prst="rect">
            <a:avLst/>
          </a:prstGeom>
        </p:spPr>
      </p:pic>
      <p:sp>
        <p:nvSpPr>
          <p:cNvPr id="22" name="TextBox 21"/>
          <p:cNvSpPr txBox="1"/>
          <p:nvPr/>
        </p:nvSpPr>
        <p:spPr>
          <a:xfrm>
            <a:off x="3221686" y="3724275"/>
            <a:ext cx="8330307" cy="194310"/>
          </a:xfrm>
          <a:prstGeom prst="rect">
            <a:avLst/>
          </a:prstGeom>
          <a:noFill/>
        </p:spPr>
        <p:txBody>
          <a:bodyPr wrap="none" lIns="0" rIns="0" tIns="0" bIns="0">
            <a:spAutoFit/>
          </a:bodyPr>
          <a:lstStyle/>
          <a:p>
            <a:r>
              <a:rPr sz="1150" b="0">
                <a:solidFill>
                  <a:srgbClr val="2E2E2E"/>
                </a:solidFill>
                <a:latin typeface="Calibri"/>
              </a:rPr>
              <a:t>X higher value than above 200 g/ml segment in 2036. Among ceramide sunscreen by pack size, above 100-200 g/ml segment is expected to</a:t>
            </a:r>
          </a:p>
        </p:txBody>
      </p:sp>
      <p:sp>
        <p:nvSpPr>
          <p:cNvPr id="23" name="TextBox 22"/>
          <p:cNvSpPr txBox="1"/>
          <p:nvPr/>
        </p:nvSpPr>
        <p:spPr>
          <a:xfrm>
            <a:off x="276225" y="38995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3889311"/>
            <a:ext cx="134549" cy="195707"/>
          </a:xfrm>
          <a:prstGeom prst="rect">
            <a:avLst/>
          </a:prstGeom>
        </p:spPr>
      </p:pic>
      <p:sp>
        <p:nvSpPr>
          <p:cNvPr id="25" name="TextBox 24"/>
          <p:cNvSpPr txBox="1"/>
          <p:nvPr/>
        </p:nvSpPr>
        <p:spPr>
          <a:xfrm>
            <a:off x="2148258"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6481576" cy="194310"/>
          </a:xfrm>
          <a:prstGeom prst="rect">
            <a:avLst/>
          </a:prstGeom>
          <a:noFill/>
        </p:spPr>
        <p:txBody>
          <a:bodyPr wrap="none" lIns="0" rIns="0" tIns="0" bIns="0">
            <a:spAutoFit/>
          </a:bodyPr>
          <a:lstStyle/>
          <a:p>
            <a:r>
              <a:rPr sz="1150" b="0">
                <a:solidFill>
                  <a:srgbClr val="2E2E2E"/>
                </a:solidFill>
                <a:latin typeface="Calibri"/>
              </a:rPr>
              <a:t>In terms of value share by pack size, the up to 30 g/ml segment is expected to dominate the market, gaining</a:t>
            </a:r>
          </a:p>
        </p:txBody>
      </p:sp>
      <p:pic>
        <p:nvPicPr>
          <p:cNvPr id="27" name="Picture 26" descr="lock.png"/>
          <p:cNvPicPr>
            <a:picLocks noChangeAspect="1"/>
          </p:cNvPicPr>
          <p:nvPr/>
        </p:nvPicPr>
        <p:blipFill>
          <a:blip r:embed="rId4"/>
          <a:stretch>
            <a:fillRect/>
          </a:stretch>
        </p:blipFill>
        <p:spPr>
          <a:xfrm>
            <a:off x="6706955" y="4117149"/>
            <a:ext cx="134549" cy="195707"/>
          </a:xfrm>
          <a:prstGeom prst="rect">
            <a:avLst/>
          </a:prstGeom>
        </p:spPr>
      </p:pic>
      <p:sp>
        <p:nvSpPr>
          <p:cNvPr id="28" name="TextBox 27"/>
          <p:cNvSpPr txBox="1"/>
          <p:nvPr/>
        </p:nvSpPr>
        <p:spPr>
          <a:xfrm>
            <a:off x="6882064"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277207" y="4117149"/>
            <a:ext cx="134549" cy="195707"/>
          </a:xfrm>
          <a:prstGeom prst="rect">
            <a:avLst/>
          </a:prstGeom>
        </p:spPr>
      </p:pic>
      <p:sp>
        <p:nvSpPr>
          <p:cNvPr id="30" name="TextBox 29"/>
          <p:cNvSpPr txBox="1"/>
          <p:nvPr/>
        </p:nvSpPr>
        <p:spPr>
          <a:xfrm>
            <a:off x="8452317" y="4127372"/>
            <a:ext cx="2949277" cy="194310"/>
          </a:xfrm>
          <a:prstGeom prst="rect">
            <a:avLst/>
          </a:prstGeom>
          <a:noFill/>
        </p:spPr>
        <p:txBody>
          <a:bodyPr wrap="none" lIns="0" rIns="0" tIns="0" bIns="0">
            <a:spAutoFit/>
          </a:bodyPr>
          <a:lstStyle/>
          <a:p>
            <a:r>
              <a:rPr sz="1150" b="0">
                <a:solidFill>
                  <a:srgbClr val="2E2E2E"/>
                </a:solidFill>
                <a:latin typeface="Calibri"/>
              </a:rPr>
              <a:t>share by 2036. The above 30-50 g/ml segment is</a:t>
            </a:r>
          </a:p>
        </p:txBody>
      </p:sp>
      <p:sp>
        <p:nvSpPr>
          <p:cNvPr id="31" name="TextBox 30"/>
          <p:cNvSpPr txBox="1"/>
          <p:nvPr/>
        </p:nvSpPr>
        <p:spPr>
          <a:xfrm>
            <a:off x="276225" y="430263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2" name="Picture 31" descr="lock.png"/>
          <p:cNvPicPr>
            <a:picLocks noChangeAspect="1"/>
          </p:cNvPicPr>
          <p:nvPr/>
        </p:nvPicPr>
        <p:blipFill>
          <a:blip r:embed="rId4"/>
          <a:stretch>
            <a:fillRect/>
          </a:stretch>
        </p:blipFill>
        <p:spPr>
          <a:xfrm>
            <a:off x="1280285" y="4292409"/>
            <a:ext cx="134549" cy="195707"/>
          </a:xfrm>
          <a:prstGeom prst="rect">
            <a:avLst/>
          </a:prstGeom>
        </p:spPr>
      </p:pic>
      <p:sp>
        <p:nvSpPr>
          <p:cNvPr id="33" name="TextBox 32"/>
          <p:cNvSpPr txBox="1"/>
          <p:nvPr/>
        </p:nvSpPr>
        <p:spPr>
          <a:xfrm>
            <a:off x="1455394"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042898" y="4292409"/>
            <a:ext cx="134549" cy="195707"/>
          </a:xfrm>
          <a:prstGeom prst="rect">
            <a:avLst/>
          </a:prstGeom>
        </p:spPr>
      </p:pic>
      <p:sp>
        <p:nvSpPr>
          <p:cNvPr id="35" name="TextBox 34"/>
          <p:cNvSpPr txBox="1"/>
          <p:nvPr/>
        </p:nvSpPr>
        <p:spPr>
          <a:xfrm>
            <a:off x="4218008"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Pack Size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Pack Size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Pack Size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9660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9184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1564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50–100 g/ml</a:t>
            </a:r>
          </a:p>
        </p:txBody>
      </p:sp>
      <p:sp>
        <p:nvSpPr>
          <p:cNvPr id="18" name="BPS Value 1"/>
          <p:cNvSpPr txBox="1"/>
          <p:nvPr/>
        </p:nvSpPr>
        <p:spPr>
          <a:xfrm>
            <a:off x="6896100" y="177755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304687"/>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2999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2237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100–200 g/ml</a:t>
            </a:r>
          </a:p>
        </p:txBody>
      </p:sp>
      <p:sp>
        <p:nvSpPr>
          <p:cNvPr id="22" name="BPS Value 2"/>
          <p:cNvSpPr txBox="1"/>
          <p:nvPr/>
        </p:nvSpPr>
        <p:spPr>
          <a:xfrm>
            <a:off x="6896100" y="228563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321447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20971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13351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30–50 g/ml</a:t>
            </a:r>
          </a:p>
        </p:txBody>
      </p:sp>
      <p:sp>
        <p:nvSpPr>
          <p:cNvPr id="26" name="BPS Value 3"/>
          <p:cNvSpPr txBox="1"/>
          <p:nvPr/>
        </p:nvSpPr>
        <p:spPr>
          <a:xfrm>
            <a:off x="6896100" y="319542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435912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435436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27816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200 g/ml</a:t>
            </a:r>
          </a:p>
        </p:txBody>
      </p:sp>
      <p:sp>
        <p:nvSpPr>
          <p:cNvPr id="30" name="BPS Value 4"/>
          <p:cNvSpPr txBox="1"/>
          <p:nvPr/>
        </p:nvSpPr>
        <p:spPr>
          <a:xfrm>
            <a:off x="6896100" y="434007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561018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560541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552921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Up to 30 g/ml</a:t>
            </a:r>
          </a:p>
        </p:txBody>
      </p:sp>
      <p:sp>
        <p:nvSpPr>
          <p:cNvPr id="34" name="BPS Value 5"/>
          <p:cNvSpPr txBox="1"/>
          <p:nvPr/>
        </p:nvSpPr>
        <p:spPr>
          <a:xfrm>
            <a:off x="6896100" y="559113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Pack Size</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833622"/>
            <a:ext cx="275034" cy="400050"/>
          </a:xfrm>
          <a:prstGeom prst="rect">
            <a:avLst/>
          </a:prstGeom>
        </p:spPr>
      </p:pic>
      <p:sp>
        <p:nvSpPr>
          <p:cNvPr id="41" name="TextBox 40"/>
          <p:cNvSpPr txBox="1"/>
          <p:nvPr/>
        </p:nvSpPr>
        <p:spPr>
          <a:xfrm>
            <a:off x="7829550" y="1400175"/>
            <a:ext cx="3725738" cy="194310"/>
          </a:xfrm>
          <a:prstGeom prst="rect">
            <a:avLst/>
          </a:prstGeom>
          <a:noFill/>
        </p:spPr>
        <p:txBody>
          <a:bodyPr wrap="none" lIns="0" rIns="0" tIns="0" bIns="0">
            <a:spAutoFit/>
          </a:bodyPr>
          <a:lstStyle/>
          <a:p>
            <a:r>
              <a:rPr sz="1150" b="0">
                <a:solidFill>
                  <a:srgbClr val="2E2E2E"/>
                </a:solidFill>
                <a:latin typeface="Calibri"/>
              </a:rPr>
              <a:t>Among ceramide sunscreen by pack size, above 100-200 g/ml</a:t>
            </a:r>
          </a:p>
        </p:txBody>
      </p:sp>
      <p:sp>
        <p:nvSpPr>
          <p:cNvPr id="42" name="TextBox 4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3" name="Picture 42" descr="lock.png"/>
          <p:cNvPicPr>
            <a:picLocks noChangeAspect="1"/>
          </p:cNvPicPr>
          <p:nvPr/>
        </p:nvPicPr>
        <p:blipFill>
          <a:blip r:embed="rId5"/>
          <a:stretch>
            <a:fillRect/>
          </a:stretch>
        </p:blipFill>
        <p:spPr>
          <a:xfrm>
            <a:off x="10935343" y="1565211"/>
            <a:ext cx="134549" cy="195707"/>
          </a:xfrm>
          <a:prstGeom prst="rect">
            <a:avLst/>
          </a:prstGeom>
        </p:spPr>
      </p:pic>
      <p:sp>
        <p:nvSpPr>
          <p:cNvPr id="44" name="TextBox 4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5" name="TextBox 44"/>
          <p:cNvSpPr txBox="1"/>
          <p:nvPr/>
        </p:nvSpPr>
        <p:spPr>
          <a:xfrm>
            <a:off x="7829550" y="1750695"/>
            <a:ext cx="3944242" cy="194310"/>
          </a:xfrm>
          <a:prstGeom prst="rect">
            <a:avLst/>
          </a:prstGeom>
          <a:noFill/>
        </p:spPr>
        <p:txBody>
          <a:bodyPr wrap="none" lIns="0" rIns="0" tIns="0" bIns="0">
            <a:spAutoFit/>
          </a:bodyPr>
          <a:lstStyle/>
          <a:p>
            <a:r>
              <a:rPr sz="1150" b="0">
                <a:solidFill>
                  <a:srgbClr val="2E2E2E"/>
                </a:solidFill>
                <a:latin typeface="Calibri"/>
              </a:rPr>
              <a:t>forecast period. In terms of value share by pack size, the up to 30</a:t>
            </a:r>
          </a:p>
        </p:txBody>
      </p:sp>
      <p:sp>
        <p:nvSpPr>
          <p:cNvPr id="46" name="TextBox 45"/>
          <p:cNvSpPr txBox="1"/>
          <p:nvPr/>
        </p:nvSpPr>
        <p:spPr>
          <a:xfrm>
            <a:off x="7829550" y="1925955"/>
            <a:ext cx="3554586" cy="194310"/>
          </a:xfrm>
          <a:prstGeom prst="rect">
            <a:avLst/>
          </a:prstGeom>
          <a:noFill/>
        </p:spPr>
        <p:txBody>
          <a:bodyPr wrap="none" lIns="0" rIns="0" tIns="0" bIns="0">
            <a:spAutoFit/>
          </a:bodyPr>
          <a:lstStyle/>
          <a:p>
            <a:r>
              <a:rPr sz="1150" b="0">
                <a:solidFill>
                  <a:srgbClr val="2E2E2E"/>
                </a:solidFill>
                <a:latin typeface="Calibri"/>
              </a:rPr>
              <a:t>g/ml segment is expected to dominate the market, gaining</a:t>
            </a:r>
          </a:p>
        </p:txBody>
      </p:sp>
      <p:pic>
        <p:nvPicPr>
          <p:cNvPr id="47" name="Picture 46" descr="lock.png"/>
          <p:cNvPicPr>
            <a:picLocks noChangeAspect="1"/>
          </p:cNvPicPr>
          <p:nvPr/>
        </p:nvPicPr>
        <p:blipFill>
          <a:blip r:embed="rId5"/>
          <a:stretch>
            <a:fillRect/>
          </a:stretch>
        </p:blipFill>
        <p:spPr>
          <a:xfrm>
            <a:off x="11333290" y="1915731"/>
            <a:ext cx="134549" cy="195707"/>
          </a:xfrm>
          <a:prstGeom prst="rect">
            <a:avLst/>
          </a:prstGeom>
        </p:spPr>
      </p:pic>
      <p:sp>
        <p:nvSpPr>
          <p:cNvPr id="48" name="TextBox 47"/>
          <p:cNvSpPr txBox="1"/>
          <p:nvPr/>
        </p:nvSpPr>
        <p:spPr>
          <a:xfrm>
            <a:off x="11508399" y="1925955"/>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49" name="TextBox 48"/>
          <p:cNvSpPr txBox="1"/>
          <p:nvPr/>
        </p:nvSpPr>
        <p:spPr>
          <a:xfrm>
            <a:off x="7829550" y="2101215"/>
            <a:ext cx="1190687" cy="194310"/>
          </a:xfrm>
          <a:prstGeom prst="rect">
            <a:avLst/>
          </a:prstGeom>
          <a:noFill/>
        </p:spPr>
        <p:txBody>
          <a:bodyPr wrap="none" lIns="0" rIns="0" tIns="0" bIns="0">
            <a:spAutoFit/>
          </a:bodyPr>
          <a:lstStyle/>
          <a:p>
            <a:r>
              <a:rPr sz="1150" b="0">
                <a:solidFill>
                  <a:srgbClr val="2E2E2E"/>
                </a:solidFill>
                <a:latin typeface="Calibri"/>
              </a:rPr>
              <a:t>and accounting for</a:t>
            </a:r>
          </a:p>
        </p:txBody>
      </p:sp>
      <p:pic>
        <p:nvPicPr>
          <p:cNvPr id="50" name="Picture 49" descr="lock.png"/>
          <p:cNvPicPr>
            <a:picLocks noChangeAspect="1"/>
          </p:cNvPicPr>
          <p:nvPr/>
        </p:nvPicPr>
        <p:blipFill>
          <a:blip r:embed="rId5"/>
          <a:stretch>
            <a:fillRect/>
          </a:stretch>
        </p:blipFill>
        <p:spPr>
          <a:xfrm>
            <a:off x="8969390" y="2090991"/>
            <a:ext cx="134549" cy="195707"/>
          </a:xfrm>
          <a:prstGeom prst="rect">
            <a:avLst/>
          </a:prstGeom>
        </p:spPr>
      </p:pic>
      <p:sp>
        <p:nvSpPr>
          <p:cNvPr id="51" name="TextBox 50"/>
          <p:cNvSpPr txBox="1"/>
          <p:nvPr/>
        </p:nvSpPr>
        <p:spPr>
          <a:xfrm>
            <a:off x="914450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TextBox 51"/>
          <p:cNvSpPr txBox="1"/>
          <p:nvPr/>
        </p:nvSpPr>
        <p:spPr>
          <a:xfrm>
            <a:off x="7829550" y="2329053"/>
            <a:ext cx="3057959" cy="194310"/>
          </a:xfrm>
          <a:prstGeom prst="rect">
            <a:avLst/>
          </a:prstGeom>
          <a:noFill/>
        </p:spPr>
        <p:txBody>
          <a:bodyPr wrap="none" lIns="0" rIns="0" tIns="0" bIns="0">
            <a:spAutoFit/>
          </a:bodyPr>
          <a:lstStyle/>
          <a:p>
            <a:r>
              <a:rPr sz="1150" b="0">
                <a:solidFill>
                  <a:srgbClr val="2E2E2E"/>
                </a:solidFill>
                <a:latin typeface="Calibri"/>
              </a:rPr>
              <a:t>The above 30-50 g/ml segment is expected to lose</a:t>
            </a:r>
          </a:p>
        </p:txBody>
      </p:sp>
      <p:pic>
        <p:nvPicPr>
          <p:cNvPr id="53" name="Picture 52" descr="lock.png"/>
          <p:cNvPicPr>
            <a:picLocks noChangeAspect="1"/>
          </p:cNvPicPr>
          <p:nvPr/>
        </p:nvPicPr>
        <p:blipFill>
          <a:blip r:embed="rId5"/>
          <a:stretch>
            <a:fillRect/>
          </a:stretch>
        </p:blipFill>
        <p:spPr>
          <a:xfrm>
            <a:off x="10836663" y="2318829"/>
            <a:ext cx="134549" cy="195707"/>
          </a:xfrm>
          <a:prstGeom prst="rect">
            <a:avLst/>
          </a:prstGeom>
        </p:spPr>
      </p:pic>
      <p:sp>
        <p:nvSpPr>
          <p:cNvPr id="54" name="TextBox 53"/>
          <p:cNvSpPr txBox="1"/>
          <p:nvPr/>
        </p:nvSpPr>
        <p:spPr>
          <a:xfrm>
            <a:off x="11011772"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5" name="TextBox 54"/>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6" name="Picture 55" descr="lock.png"/>
          <p:cNvPicPr>
            <a:picLocks noChangeAspect="1"/>
          </p:cNvPicPr>
          <p:nvPr/>
        </p:nvPicPr>
        <p:blipFill>
          <a:blip r:embed="rId5"/>
          <a:stretch>
            <a:fillRect/>
          </a:stretch>
        </p:blipFill>
        <p:spPr>
          <a:xfrm>
            <a:off x="9630324" y="2494089"/>
            <a:ext cx="134549" cy="195707"/>
          </a:xfrm>
          <a:prstGeom prst="rect">
            <a:avLst/>
          </a:prstGeom>
        </p:spPr>
      </p:pic>
      <p:sp>
        <p:nvSpPr>
          <p:cNvPr id="57" name="TextBox 56"/>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8"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Price Tier</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Price Tier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Price Tier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Price Tier,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Price Tier segment categorizes the market by price tier.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Mass Market</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Premium</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Prestige / Luxury</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Masstige</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Price Tier split shows how demand is distributed across price tier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394_9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766_6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6_9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67_4_605E5C.png"/>
          <p:cNvPicPr>
            <a:picLocks noChangeAspect="1"/>
          </p:cNvPicPr>
          <p:nvPr/>
        </p:nvPicPr>
        <p:blipFill>
          <a:blip r:embed="rId7"/>
          <a:stretch>
            <a:fillRect/>
          </a:stretch>
        </p:blipFill>
        <p:spPr>
          <a:xfrm>
            <a:off x="5111864" y="2286582"/>
            <a:ext cx="982436" cy="361950"/>
          </a:xfrm>
          <a:prstGeom prst="rect">
            <a:avLst/>
          </a:prstGeom>
        </p:spPr>
      </p:pic>
      <p:pic>
        <p:nvPicPr>
          <p:cNvPr id="67" name="Picture 66" descr="128_7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6_7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60_6_605E5C.png"/>
          <p:cNvPicPr>
            <a:picLocks noChangeAspect="1"/>
          </p:cNvPicPr>
          <p:nvPr/>
        </p:nvPicPr>
        <p:blipFill>
          <a:blip r:embed="rId10"/>
          <a:stretch>
            <a:fillRect/>
          </a:stretch>
        </p:blipFill>
        <p:spPr>
          <a:xfrm>
            <a:off x="7640751" y="2286582"/>
            <a:ext cx="982436" cy="361950"/>
          </a:xfrm>
          <a:prstGeom prst="rect">
            <a:avLst/>
          </a:prstGeom>
        </p:spPr>
      </p:pic>
      <p:pic>
        <p:nvPicPr>
          <p:cNvPr id="70" name="Picture 69" descr="156_6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10_0__605E5C.png"/>
          <p:cNvPicPr>
            <a:picLocks noChangeAspect="1"/>
          </p:cNvPicPr>
          <p:nvPr/>
        </p:nvPicPr>
        <p:blipFill>
          <a:blip r:embed="rId12"/>
          <a:stretch>
            <a:fillRect/>
          </a:stretch>
        </p:blipFill>
        <p:spPr>
          <a:xfrm>
            <a:off x="7534105" y="3272281"/>
            <a:ext cx="1195728" cy="361950"/>
          </a:xfrm>
          <a:prstGeom prst="rect">
            <a:avLst/>
          </a:prstGeom>
        </p:spPr>
      </p:pic>
      <p:pic>
        <p:nvPicPr>
          <p:cNvPr id="72" name="Picture 71" descr="54_6_605E5C.png"/>
          <p:cNvPicPr>
            <a:picLocks noChangeAspect="1"/>
          </p:cNvPicPr>
          <p:nvPr/>
        </p:nvPicPr>
        <p:blipFill>
          <a:blip r:embed="rId13"/>
          <a:stretch>
            <a:fillRect/>
          </a:stretch>
        </p:blipFill>
        <p:spPr>
          <a:xfrm>
            <a:off x="10169638" y="2286582"/>
            <a:ext cx="982436" cy="361950"/>
          </a:xfrm>
          <a:prstGeom prst="rect">
            <a:avLst/>
          </a:prstGeom>
        </p:spPr>
      </p:pic>
      <p:pic>
        <p:nvPicPr>
          <p:cNvPr id="73" name="Picture 72" descr="88_3_605E5C.png"/>
          <p:cNvPicPr>
            <a:picLocks noChangeAspect="1"/>
          </p:cNvPicPr>
          <p:nvPr/>
        </p:nvPicPr>
        <p:blipFill>
          <a:blip r:embed="rId14"/>
          <a:stretch>
            <a:fillRect/>
          </a:stretch>
        </p:blipFill>
        <p:spPr>
          <a:xfrm>
            <a:off x="10169638" y="2779432"/>
            <a:ext cx="982436" cy="361950"/>
          </a:xfrm>
          <a:prstGeom prst="rect">
            <a:avLst/>
          </a:prstGeom>
        </p:spPr>
      </p:pic>
      <p:pic>
        <p:nvPicPr>
          <p:cNvPr id="74" name="Picture 73" descr="4_9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ceramide sunscreen by price tier, prestige /</a:t>
            </a:r>
          </a:p>
        </p:txBody>
      </p:sp>
      <p:sp>
        <p:nvSpPr>
          <p:cNvPr id="80" name="TextBox 79"/>
          <p:cNvSpPr txBox="1"/>
          <p:nvPr/>
        </p:nvSpPr>
        <p:spPr>
          <a:xfrm>
            <a:off x="485775" y="4397077"/>
            <a:ext cx="2907307" cy="186689"/>
          </a:xfrm>
          <a:prstGeom prst="rect">
            <a:avLst/>
          </a:prstGeom>
          <a:noFill/>
        </p:spPr>
        <p:txBody>
          <a:bodyPr wrap="none" lIns="0" rIns="0" tIns="0" bIns="0">
            <a:spAutoFit/>
          </a:bodyPr>
          <a:lstStyle/>
          <a:p>
            <a:r>
              <a:rPr sz="1100" b="0">
                <a:solidFill>
                  <a:srgbClr val="2E2E2E"/>
                </a:solidFill>
                <a:latin typeface="Calibri"/>
              </a:rPr>
              <a:t>luxury segment is expected to witness the highest</a:t>
            </a:r>
          </a:p>
        </p:txBody>
      </p:sp>
      <p:sp>
        <p:nvSpPr>
          <p:cNvPr id="81" name="TextBox 80"/>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82" name="Picture 81" descr="lock.png"/>
          <p:cNvPicPr>
            <a:picLocks noChangeAspect="1"/>
          </p:cNvPicPr>
          <p:nvPr/>
        </p:nvPicPr>
        <p:blipFill>
          <a:blip r:embed="rId16"/>
          <a:stretch>
            <a:fillRect/>
          </a:stretch>
        </p:blipFill>
        <p:spPr>
          <a:xfrm>
            <a:off x="977131" y="4554938"/>
            <a:ext cx="128699" cy="187198"/>
          </a:xfrm>
          <a:prstGeom prst="rect">
            <a:avLst/>
          </a:prstGeom>
        </p:spPr>
      </p:pic>
      <p:sp>
        <p:nvSpPr>
          <p:cNvPr id="83" name="TextBox 82"/>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84" name="TextBox 83"/>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value share by price tier, the mass market segment</a:t>
            </a:r>
          </a:p>
        </p:txBody>
      </p:sp>
      <p:sp>
        <p:nvSpPr>
          <p:cNvPr id="85" name="TextBox 84"/>
          <p:cNvSpPr txBox="1"/>
          <p:nvPr/>
        </p:nvSpPr>
        <p:spPr>
          <a:xfrm>
            <a:off x="485775" y="4899997"/>
            <a:ext cx="2507307" cy="186689"/>
          </a:xfrm>
          <a:prstGeom prst="rect">
            <a:avLst/>
          </a:prstGeom>
          <a:noFill/>
        </p:spPr>
        <p:txBody>
          <a:bodyPr wrap="none" lIns="0" rIns="0" tIns="0" bIns="0">
            <a:spAutoFit/>
          </a:bodyPr>
          <a:lstStyle/>
          <a:p>
            <a:r>
              <a:rPr sz="1100" b="0">
                <a:solidFill>
                  <a:srgbClr val="2E2E2E"/>
                </a:solidFill>
                <a:latin typeface="Calibri"/>
              </a:rPr>
              <a:t>is expected to dominate the market, losing</a:t>
            </a:r>
          </a:p>
        </p:txBody>
      </p:sp>
      <p:pic>
        <p:nvPicPr>
          <p:cNvPr id="86" name="Picture 85" descr="lock.png"/>
          <p:cNvPicPr>
            <a:picLocks noChangeAspect="1"/>
          </p:cNvPicPr>
          <p:nvPr/>
        </p:nvPicPr>
        <p:blipFill>
          <a:blip r:embed="rId16"/>
          <a:stretch>
            <a:fillRect/>
          </a:stretch>
        </p:blipFill>
        <p:spPr>
          <a:xfrm>
            <a:off x="2941134" y="4890217"/>
            <a:ext cx="128699" cy="187198"/>
          </a:xfrm>
          <a:prstGeom prst="rect">
            <a:avLst/>
          </a:prstGeom>
        </p:spPr>
      </p:pic>
      <p:sp>
        <p:nvSpPr>
          <p:cNvPr id="87" name="TextBox 86"/>
          <p:cNvSpPr txBox="1"/>
          <p:nvPr/>
        </p:nvSpPr>
        <p:spPr>
          <a:xfrm>
            <a:off x="48577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88" name="Picture 87" descr="lock.png"/>
          <p:cNvPicPr>
            <a:picLocks noChangeAspect="1"/>
          </p:cNvPicPr>
          <p:nvPr/>
        </p:nvPicPr>
        <p:blipFill>
          <a:blip r:embed="rId16"/>
          <a:stretch>
            <a:fillRect/>
          </a:stretch>
        </p:blipFill>
        <p:spPr>
          <a:xfrm>
            <a:off x="1820259" y="5057858"/>
            <a:ext cx="128699" cy="187198"/>
          </a:xfrm>
          <a:prstGeom prst="rect">
            <a:avLst/>
          </a:prstGeom>
        </p:spPr>
      </p:pic>
      <p:sp>
        <p:nvSpPr>
          <p:cNvPr id="89" name="TextBox 88"/>
          <p:cNvSpPr txBox="1"/>
          <p:nvPr/>
        </p:nvSpPr>
        <p:spPr>
          <a:xfrm>
            <a:off x="1987755"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0" name="TextBox 89"/>
          <p:cNvSpPr txBox="1"/>
          <p:nvPr/>
        </p:nvSpPr>
        <p:spPr>
          <a:xfrm>
            <a:off x="485775" y="5285569"/>
            <a:ext cx="2652191" cy="186689"/>
          </a:xfrm>
          <a:prstGeom prst="rect">
            <a:avLst/>
          </a:prstGeom>
          <a:noFill/>
        </p:spPr>
        <p:txBody>
          <a:bodyPr wrap="none" lIns="0" rIns="0" tIns="0" bIns="0">
            <a:spAutoFit/>
          </a:bodyPr>
          <a:lstStyle/>
          <a:p>
            <a:r>
              <a:rPr sz="1100" b="0">
                <a:solidFill>
                  <a:srgbClr val="2E2E2E"/>
                </a:solidFill>
                <a:latin typeface="Calibri"/>
              </a:rPr>
              <a:t>Mass market segment is projected to register</a:t>
            </a:r>
          </a:p>
        </p:txBody>
      </p:sp>
      <p:pic>
        <p:nvPicPr>
          <p:cNvPr id="91" name="Picture 90" descr="lock.png"/>
          <p:cNvPicPr>
            <a:picLocks noChangeAspect="1"/>
          </p:cNvPicPr>
          <p:nvPr/>
        </p:nvPicPr>
        <p:blipFill>
          <a:blip r:embed="rId16"/>
          <a:stretch>
            <a:fillRect/>
          </a:stretch>
        </p:blipFill>
        <p:spPr>
          <a:xfrm>
            <a:off x="472307" y="5443430"/>
            <a:ext cx="128699" cy="187198"/>
          </a:xfrm>
          <a:prstGeom prst="rect">
            <a:avLst/>
          </a:prstGeom>
        </p:spPr>
      </p:pic>
      <p:sp>
        <p:nvSpPr>
          <p:cNvPr id="92" name="TextBox 91"/>
          <p:cNvSpPr txBox="1"/>
          <p:nvPr/>
        </p:nvSpPr>
        <p:spPr>
          <a:xfrm>
            <a:off x="639803" y="5453209"/>
            <a:ext cx="2657102" cy="186689"/>
          </a:xfrm>
          <a:prstGeom prst="rect">
            <a:avLst/>
          </a:prstGeom>
          <a:noFill/>
        </p:spPr>
        <p:txBody>
          <a:bodyPr wrap="none" lIns="0" rIns="0" tIns="0" bIns="0">
            <a:spAutoFit/>
          </a:bodyPr>
          <a:lstStyle/>
          <a:p>
            <a:r>
              <a:rPr sz="1100" b="0">
                <a:solidFill>
                  <a:srgbClr val="2E2E2E"/>
                </a:solidFill>
                <a:latin typeface="Calibri"/>
              </a:rPr>
              <a:t>X higher value than prestige / luxury segment</a:t>
            </a:r>
          </a:p>
        </p:txBody>
      </p:sp>
      <p:sp>
        <p:nvSpPr>
          <p:cNvPr id="93" name="TextBox 92"/>
          <p:cNvSpPr txBox="1"/>
          <p:nvPr/>
        </p:nvSpPr>
        <p:spPr>
          <a:xfrm>
            <a:off x="485775" y="5620849"/>
            <a:ext cx="532407" cy="186689"/>
          </a:xfrm>
          <a:prstGeom prst="rect">
            <a:avLst/>
          </a:prstGeom>
          <a:noFill/>
        </p:spPr>
        <p:txBody>
          <a:bodyPr wrap="none" lIns="0" rIns="0" tIns="0" bIns="0">
            <a:spAutoFit/>
          </a:bodyPr>
          <a:lstStyle/>
          <a:p>
            <a:r>
              <a:rPr sz="1100" b="0">
                <a:solidFill>
                  <a:srgbClr val="2E2E2E"/>
                </a:solidFill>
                <a:latin typeface="Calibri"/>
              </a:rPr>
              <a:t>in 2036.</a:t>
            </a:r>
          </a:p>
        </p:txBody>
      </p:sp>
      <p:sp>
        <p:nvSpPr>
          <p:cNvPr id="94" name="TextBox 93"/>
          <p:cNvSpPr txBox="1"/>
          <p:nvPr/>
        </p:nvSpPr>
        <p:spPr>
          <a:xfrm>
            <a:off x="3838575" y="4229437"/>
            <a:ext cx="971971" cy="186689"/>
          </a:xfrm>
          <a:prstGeom prst="rect">
            <a:avLst/>
          </a:prstGeom>
          <a:noFill/>
        </p:spPr>
        <p:txBody>
          <a:bodyPr wrap="none" lIns="0" rIns="0" tIns="0" bIns="0">
            <a:spAutoFit/>
          </a:bodyPr>
          <a:lstStyle/>
          <a:p>
            <a:r>
              <a:rPr sz="1100" b="0">
                <a:solidFill>
                  <a:srgbClr val="2E2E2E"/>
                </a:solidFill>
                <a:latin typeface="Calibri"/>
              </a:rPr>
              <a:t>● Mass Market:</a:t>
            </a:r>
          </a:p>
        </p:txBody>
      </p:sp>
      <p:pic>
        <p:nvPicPr>
          <p:cNvPr id="95" name="Picture 94" descr="lock.png"/>
          <p:cNvPicPr>
            <a:picLocks noChangeAspect="1"/>
          </p:cNvPicPr>
          <p:nvPr/>
        </p:nvPicPr>
        <p:blipFill>
          <a:blip r:embed="rId16"/>
          <a:stretch>
            <a:fillRect/>
          </a:stretch>
        </p:blipFill>
        <p:spPr>
          <a:xfrm>
            <a:off x="4758598" y="4219658"/>
            <a:ext cx="128699" cy="187198"/>
          </a:xfrm>
          <a:prstGeom prst="rect">
            <a:avLst/>
          </a:prstGeom>
        </p:spPr>
      </p:pic>
      <p:sp>
        <p:nvSpPr>
          <p:cNvPr id="96" name="TextBox 95"/>
          <p:cNvSpPr txBox="1"/>
          <p:nvPr/>
        </p:nvSpPr>
        <p:spPr>
          <a:xfrm>
            <a:off x="492609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7" name="Picture 96" descr="lock.png"/>
          <p:cNvPicPr>
            <a:picLocks noChangeAspect="1"/>
          </p:cNvPicPr>
          <p:nvPr/>
        </p:nvPicPr>
        <p:blipFill>
          <a:blip r:embed="rId16"/>
          <a:stretch>
            <a:fillRect/>
          </a:stretch>
        </p:blipFill>
        <p:spPr>
          <a:xfrm>
            <a:off x="5785544" y="4219658"/>
            <a:ext cx="128699" cy="187198"/>
          </a:xfrm>
          <a:prstGeom prst="rect">
            <a:avLst/>
          </a:prstGeom>
        </p:spPr>
      </p:pic>
      <p:sp>
        <p:nvSpPr>
          <p:cNvPr id="98" name="TextBox 97"/>
          <p:cNvSpPr txBox="1"/>
          <p:nvPr/>
        </p:nvSpPr>
        <p:spPr>
          <a:xfrm>
            <a:off x="5953040"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9" name="TextBox 98"/>
          <p:cNvSpPr txBox="1"/>
          <p:nvPr/>
        </p:nvSpPr>
        <p:spPr>
          <a:xfrm>
            <a:off x="3838575" y="4447369"/>
            <a:ext cx="749051" cy="186689"/>
          </a:xfrm>
          <a:prstGeom prst="rect">
            <a:avLst/>
          </a:prstGeom>
          <a:noFill/>
        </p:spPr>
        <p:txBody>
          <a:bodyPr wrap="none" lIns="0" rIns="0" tIns="0" bIns="0">
            <a:spAutoFit/>
          </a:bodyPr>
          <a:lstStyle/>
          <a:p>
            <a:r>
              <a:rPr sz="1100" b="0">
                <a:solidFill>
                  <a:srgbClr val="2E2E2E"/>
                </a:solidFill>
                <a:latin typeface="Calibri"/>
              </a:rPr>
              <a:t>● Premium:</a:t>
            </a:r>
          </a:p>
        </p:txBody>
      </p:sp>
      <p:pic>
        <p:nvPicPr>
          <p:cNvPr id="100" name="Picture 99" descr="lock.png"/>
          <p:cNvPicPr>
            <a:picLocks noChangeAspect="1"/>
          </p:cNvPicPr>
          <p:nvPr/>
        </p:nvPicPr>
        <p:blipFill>
          <a:blip r:embed="rId16"/>
          <a:stretch>
            <a:fillRect/>
          </a:stretch>
        </p:blipFill>
        <p:spPr>
          <a:xfrm>
            <a:off x="4535678" y="4437590"/>
            <a:ext cx="128699" cy="187198"/>
          </a:xfrm>
          <a:prstGeom prst="rect">
            <a:avLst/>
          </a:prstGeom>
        </p:spPr>
      </p:pic>
      <p:sp>
        <p:nvSpPr>
          <p:cNvPr id="101" name="TextBox 100"/>
          <p:cNvSpPr txBox="1"/>
          <p:nvPr/>
        </p:nvSpPr>
        <p:spPr>
          <a:xfrm>
            <a:off x="4703174"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2" name="Picture 101" descr="lock.png"/>
          <p:cNvPicPr>
            <a:picLocks noChangeAspect="1"/>
          </p:cNvPicPr>
          <p:nvPr/>
        </p:nvPicPr>
        <p:blipFill>
          <a:blip r:embed="rId16"/>
          <a:stretch>
            <a:fillRect/>
          </a:stretch>
        </p:blipFill>
        <p:spPr>
          <a:xfrm>
            <a:off x="5562624" y="4437590"/>
            <a:ext cx="128699" cy="187198"/>
          </a:xfrm>
          <a:prstGeom prst="rect">
            <a:avLst/>
          </a:prstGeom>
        </p:spPr>
      </p:pic>
      <p:sp>
        <p:nvSpPr>
          <p:cNvPr id="103" name="TextBox 102"/>
          <p:cNvSpPr txBox="1"/>
          <p:nvPr/>
        </p:nvSpPr>
        <p:spPr>
          <a:xfrm>
            <a:off x="5730120"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4" name="TextBox 103"/>
          <p:cNvSpPr txBox="1"/>
          <p:nvPr/>
        </p:nvSpPr>
        <p:spPr>
          <a:xfrm>
            <a:off x="3838575" y="4665301"/>
            <a:ext cx="1184795" cy="186689"/>
          </a:xfrm>
          <a:prstGeom prst="rect">
            <a:avLst/>
          </a:prstGeom>
          <a:noFill/>
        </p:spPr>
        <p:txBody>
          <a:bodyPr wrap="none" lIns="0" rIns="0" tIns="0" bIns="0">
            <a:spAutoFit/>
          </a:bodyPr>
          <a:lstStyle/>
          <a:p>
            <a:r>
              <a:rPr sz="1100" b="0">
                <a:solidFill>
                  <a:srgbClr val="2E2E2E"/>
                </a:solidFill>
                <a:latin typeface="Calibri"/>
              </a:rPr>
              <a:t>● Prestige / Luxury:</a:t>
            </a:r>
          </a:p>
        </p:txBody>
      </p:sp>
      <p:pic>
        <p:nvPicPr>
          <p:cNvPr id="105" name="Picture 104" descr="lock.png"/>
          <p:cNvPicPr>
            <a:picLocks noChangeAspect="1"/>
          </p:cNvPicPr>
          <p:nvPr/>
        </p:nvPicPr>
        <p:blipFill>
          <a:blip r:embed="rId16"/>
          <a:stretch>
            <a:fillRect/>
          </a:stretch>
        </p:blipFill>
        <p:spPr>
          <a:xfrm>
            <a:off x="4971422" y="4655522"/>
            <a:ext cx="128699" cy="187198"/>
          </a:xfrm>
          <a:prstGeom prst="rect">
            <a:avLst/>
          </a:prstGeom>
        </p:spPr>
      </p:pic>
      <p:sp>
        <p:nvSpPr>
          <p:cNvPr id="106" name="TextBox 105"/>
          <p:cNvSpPr txBox="1"/>
          <p:nvPr/>
        </p:nvSpPr>
        <p:spPr>
          <a:xfrm>
            <a:off x="513891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5998368" y="4655522"/>
            <a:ext cx="128699" cy="187198"/>
          </a:xfrm>
          <a:prstGeom prst="rect">
            <a:avLst/>
          </a:prstGeom>
        </p:spPr>
      </p:pic>
      <p:sp>
        <p:nvSpPr>
          <p:cNvPr id="108" name="TextBox 107"/>
          <p:cNvSpPr txBox="1"/>
          <p:nvPr/>
        </p:nvSpPr>
        <p:spPr>
          <a:xfrm>
            <a:off x="6165864"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09" name="TextBox 108"/>
          <p:cNvSpPr txBox="1"/>
          <p:nvPr/>
        </p:nvSpPr>
        <p:spPr>
          <a:xfrm>
            <a:off x="3838575" y="4883233"/>
            <a:ext cx="739502" cy="186689"/>
          </a:xfrm>
          <a:prstGeom prst="rect">
            <a:avLst/>
          </a:prstGeom>
          <a:noFill/>
        </p:spPr>
        <p:txBody>
          <a:bodyPr wrap="none" lIns="0" rIns="0" tIns="0" bIns="0">
            <a:spAutoFit/>
          </a:bodyPr>
          <a:lstStyle/>
          <a:p>
            <a:r>
              <a:rPr sz="1100" b="0">
                <a:solidFill>
                  <a:srgbClr val="2E2E2E"/>
                </a:solidFill>
                <a:latin typeface="Calibri"/>
              </a:rPr>
              <a:t>● Masstige:</a:t>
            </a:r>
          </a:p>
        </p:txBody>
      </p:sp>
      <p:pic>
        <p:nvPicPr>
          <p:cNvPr id="110" name="Picture 109" descr="lock.png"/>
          <p:cNvPicPr>
            <a:picLocks noChangeAspect="1"/>
          </p:cNvPicPr>
          <p:nvPr/>
        </p:nvPicPr>
        <p:blipFill>
          <a:blip r:embed="rId16"/>
          <a:stretch>
            <a:fillRect/>
          </a:stretch>
        </p:blipFill>
        <p:spPr>
          <a:xfrm>
            <a:off x="4526128" y="4873454"/>
            <a:ext cx="128699" cy="187198"/>
          </a:xfrm>
          <a:prstGeom prst="rect">
            <a:avLst/>
          </a:prstGeom>
        </p:spPr>
      </p:pic>
      <p:sp>
        <p:nvSpPr>
          <p:cNvPr id="111" name="TextBox 110"/>
          <p:cNvSpPr txBox="1"/>
          <p:nvPr/>
        </p:nvSpPr>
        <p:spPr>
          <a:xfrm>
            <a:off x="4693624"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2" name="Picture 111" descr="lock.png"/>
          <p:cNvPicPr>
            <a:picLocks noChangeAspect="1"/>
          </p:cNvPicPr>
          <p:nvPr/>
        </p:nvPicPr>
        <p:blipFill>
          <a:blip r:embed="rId16"/>
          <a:stretch>
            <a:fillRect/>
          </a:stretch>
        </p:blipFill>
        <p:spPr>
          <a:xfrm>
            <a:off x="5553074" y="4873454"/>
            <a:ext cx="128699" cy="187198"/>
          </a:xfrm>
          <a:prstGeom prst="rect">
            <a:avLst/>
          </a:prstGeom>
        </p:spPr>
      </p:pic>
      <p:sp>
        <p:nvSpPr>
          <p:cNvPr id="113" name="TextBox 112"/>
          <p:cNvSpPr txBox="1"/>
          <p:nvPr/>
        </p:nvSpPr>
        <p:spPr>
          <a:xfrm>
            <a:off x="5720570"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4" name="TextBox 113"/>
          <p:cNvSpPr txBox="1"/>
          <p:nvPr/>
        </p:nvSpPr>
        <p:spPr>
          <a:xfrm>
            <a:off x="8524875" y="5842641"/>
            <a:ext cx="2966392" cy="194310"/>
          </a:xfrm>
          <a:prstGeom prst="rect">
            <a:avLst/>
          </a:prstGeom>
          <a:noFill/>
        </p:spPr>
        <p:txBody>
          <a:bodyPr wrap="none" lIns="0" rIns="0" tIns="0" bIns="0">
            <a:spAutoFit/>
          </a:bodyPr>
          <a:lstStyle/>
          <a:p>
            <a:r>
              <a:rPr sz="1150" b="1">
                <a:solidFill>
                  <a:srgbClr val="0B2E4A"/>
                </a:solidFill>
                <a:latin typeface="Calibri"/>
              </a:rPr>
              <a:t>The Price Tier segment is projected to grow at a</a:t>
            </a:r>
          </a:p>
        </p:txBody>
      </p:sp>
      <p:sp>
        <p:nvSpPr>
          <p:cNvPr id="115" name="TextBox 11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16" name="Picture 115" descr="lock.png"/>
          <p:cNvPicPr>
            <a:picLocks noChangeAspect="1"/>
          </p:cNvPicPr>
          <p:nvPr/>
        </p:nvPicPr>
        <p:blipFill>
          <a:blip r:embed="rId16"/>
          <a:stretch>
            <a:fillRect/>
          </a:stretch>
        </p:blipFill>
        <p:spPr>
          <a:xfrm>
            <a:off x="9048826" y="6007677"/>
            <a:ext cx="134549" cy="195707"/>
          </a:xfrm>
          <a:prstGeom prst="rect">
            <a:avLst/>
          </a:prstGeom>
        </p:spPr>
      </p:pic>
      <p:sp>
        <p:nvSpPr>
          <p:cNvPr id="117" name="TextBox 11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Price Tier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Tier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Price Tier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Price Tier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46470" cy="186689"/>
          </a:xfrm>
          <a:prstGeom prst="rect">
            <a:avLst/>
          </a:prstGeom>
          <a:noFill/>
        </p:spPr>
        <p:txBody>
          <a:bodyPr wrap="none" lIns="0" rIns="0" tIns="0" bIns="0">
            <a:spAutoFit/>
          </a:bodyPr>
          <a:lstStyle/>
          <a:p>
            <a:r>
              <a:rPr sz="1100" b="0">
                <a:solidFill>
                  <a:srgbClr val="2E2E2E"/>
                </a:solidFill>
                <a:latin typeface="Calibri"/>
              </a:rPr>
              <a:t>Mass market followed by prestige / luxury are expected to be the two most attractive price tier segments in the North America ceramide sunscreen market in terms of value over the forecast period. Mass</a:t>
            </a:r>
          </a:p>
        </p:txBody>
      </p:sp>
      <p:sp>
        <p:nvSpPr>
          <p:cNvPr id="20" name="TextBox 19"/>
          <p:cNvSpPr txBox="1"/>
          <p:nvPr/>
        </p:nvSpPr>
        <p:spPr>
          <a:xfrm>
            <a:off x="257175" y="5945505"/>
            <a:ext cx="3048355" cy="186689"/>
          </a:xfrm>
          <a:prstGeom prst="rect">
            <a:avLst/>
          </a:prstGeom>
          <a:noFill/>
        </p:spPr>
        <p:txBody>
          <a:bodyPr wrap="none" lIns="0" rIns="0" tIns="0" bIns="0">
            <a:spAutoFit/>
          </a:bodyPr>
          <a:lstStyle/>
          <a:p>
            <a:r>
              <a:rPr sz="1100" b="0">
                <a:solidFill>
                  <a:srgbClr val="2E2E2E"/>
                </a:solidFill>
                <a:latin typeface="Calibri"/>
              </a:rPr>
              <a:t>market and prestige / luxury exhibit a CAGR index of</a:t>
            </a:r>
          </a:p>
        </p:txBody>
      </p:sp>
      <p:pic>
        <p:nvPicPr>
          <p:cNvPr id="21" name="Picture 20" descr="lock.png"/>
          <p:cNvPicPr>
            <a:picLocks noChangeAspect="1"/>
          </p:cNvPicPr>
          <p:nvPr/>
        </p:nvPicPr>
        <p:blipFill>
          <a:blip r:embed="rId6"/>
          <a:stretch>
            <a:fillRect/>
          </a:stretch>
        </p:blipFill>
        <p:spPr>
          <a:xfrm>
            <a:off x="3253581" y="5935726"/>
            <a:ext cx="128699" cy="187198"/>
          </a:xfrm>
          <a:prstGeom prst="rect">
            <a:avLst/>
          </a:prstGeom>
        </p:spPr>
      </p:pic>
      <p:sp>
        <p:nvSpPr>
          <p:cNvPr id="22" name="TextBox 21"/>
          <p:cNvSpPr txBox="1"/>
          <p:nvPr/>
        </p:nvSpPr>
        <p:spPr>
          <a:xfrm>
            <a:off x="342107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658971" y="5935726"/>
            <a:ext cx="128699" cy="187198"/>
          </a:xfrm>
          <a:prstGeom prst="rect">
            <a:avLst/>
          </a:prstGeom>
        </p:spPr>
      </p:pic>
      <p:sp>
        <p:nvSpPr>
          <p:cNvPr id="24" name="TextBox 23"/>
          <p:cNvSpPr txBox="1"/>
          <p:nvPr/>
        </p:nvSpPr>
        <p:spPr>
          <a:xfrm>
            <a:off x="3826467"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435441" y="5935726"/>
            <a:ext cx="128699" cy="187198"/>
          </a:xfrm>
          <a:prstGeom prst="rect">
            <a:avLst/>
          </a:prstGeom>
        </p:spPr>
      </p:pic>
      <p:sp>
        <p:nvSpPr>
          <p:cNvPr id="26" name="TextBox 25"/>
          <p:cNvSpPr txBox="1"/>
          <p:nvPr/>
        </p:nvSpPr>
        <p:spPr>
          <a:xfrm>
            <a:off x="560293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840831" y="5935726"/>
            <a:ext cx="128699" cy="187198"/>
          </a:xfrm>
          <a:prstGeom prst="rect">
            <a:avLst/>
          </a:prstGeom>
        </p:spPr>
      </p:pic>
      <p:sp>
        <p:nvSpPr>
          <p:cNvPr id="28" name="TextBox 27"/>
          <p:cNvSpPr txBox="1"/>
          <p:nvPr/>
        </p:nvSpPr>
        <p:spPr>
          <a:xfrm>
            <a:off x="6008327"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562731" y="5935726"/>
            <a:ext cx="128699" cy="187198"/>
          </a:xfrm>
          <a:prstGeom prst="rect">
            <a:avLst/>
          </a:prstGeom>
        </p:spPr>
      </p:pic>
      <p:sp>
        <p:nvSpPr>
          <p:cNvPr id="30" name="TextBox 29"/>
          <p:cNvSpPr txBox="1"/>
          <p:nvPr/>
        </p:nvSpPr>
        <p:spPr>
          <a:xfrm>
            <a:off x="8730227" y="5945505"/>
            <a:ext cx="2652737" cy="186689"/>
          </a:xfrm>
          <a:prstGeom prst="rect">
            <a:avLst/>
          </a:prstGeom>
          <a:noFill/>
        </p:spPr>
        <p:txBody>
          <a:bodyPr wrap="none" lIns="0" rIns="0" tIns="0" bIns="0">
            <a:spAutoFit/>
          </a:bodyPr>
          <a:lstStyle/>
          <a:p>
            <a:r>
              <a:rPr sz="1100" b="0">
                <a:solidFill>
                  <a:srgbClr val="2E2E2E"/>
                </a:solidFill>
                <a:latin typeface="Calibri"/>
              </a:rPr>
              <a:t>. The masstige segment is expected to be less</a:t>
            </a:r>
          </a:p>
        </p:txBody>
      </p:sp>
      <p:sp>
        <p:nvSpPr>
          <p:cNvPr id="31" name="TextBox 30"/>
          <p:cNvSpPr txBox="1"/>
          <p:nvPr/>
        </p:nvSpPr>
        <p:spPr>
          <a:xfrm>
            <a:off x="257175" y="6113145"/>
            <a:ext cx="11338386" cy="186689"/>
          </a:xfrm>
          <a:prstGeom prst="rect">
            <a:avLst/>
          </a:prstGeom>
          <a:noFill/>
        </p:spPr>
        <p:txBody>
          <a:bodyPr wrap="none" lIns="0" rIns="0" t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Price Tier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Price Tier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Mass Market</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Masstige</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Premium</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Prestige / Luxury</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Price Tier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Price Tier,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Price Tier (US$ Mn)</a:t>
            </a:r>
          </a:p>
        </p:txBody>
      </p:sp>
      <p:graphicFrame>
        <p:nvGraphicFramePr>
          <p:cNvPr id="12" name="Table 11"/>
          <p:cNvGraphicFramePr>
            <a:graphicFrameLocks noGrp="1"/>
          </p:cNvGraphicFramePr>
          <p:nvPr/>
        </p:nvGraphicFramePr>
        <p:xfrm>
          <a:off x="152400" y="1238250"/>
          <a:ext cx="11887201" cy="1485896"/>
        </p:xfrm>
        <a:graphic>
          <a:graphicData uri="http://schemas.openxmlformats.org/drawingml/2006/table">
            <a:tbl>
              <a:tblPr>
                <a:tableStyleId>{5C22544A-7EE6-4342-B048-85BDC9FD1C3A}</a:tableStyleId>
              </a:tblPr>
              <a:tblGrid>
                <a:gridCol w="1264445"/>
                <a:gridCol w="624868"/>
                <a:gridCol w="624868"/>
                <a:gridCol w="624868"/>
                <a:gridCol w="624868"/>
                <a:gridCol w="624868"/>
                <a:gridCol w="624868"/>
                <a:gridCol w="624868"/>
                <a:gridCol w="624868"/>
                <a:gridCol w="624868"/>
                <a:gridCol w="624868"/>
                <a:gridCol w="624868"/>
                <a:gridCol w="624868"/>
                <a:gridCol w="624868"/>
                <a:gridCol w="624868"/>
                <a:gridCol w="624868"/>
                <a:gridCol w="624868"/>
                <a:gridCol w="624868"/>
              </a:tblGrid>
              <a:tr h="246126">
                <a:tc>
                  <a:txBody>
                    <a:bodyPr wrap="none"/>
                    <a:lstStyle/>
                    <a:p>
                      <a:pPr algn="l"/>
                      <a:r>
                        <a:rPr sz="1100" b="1">
                          <a:solidFill>
                            <a:srgbClr val="0B2E4A"/>
                          </a:solidFill>
                          <a:latin typeface="Calibri"/>
                        </a:rPr>
                        <a:t>Price Tier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Mass Market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Masstige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Prestige / Luxury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Price Tier</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41532" y="1837563"/>
            <a:ext cx="366712" cy="533400"/>
          </a:xfrm>
          <a:prstGeom prst="rect">
            <a:avLst/>
          </a:prstGeom>
        </p:spPr>
      </p:pic>
      <p:sp>
        <p:nvSpPr>
          <p:cNvPr id="20" name="TextBox 19"/>
          <p:cNvSpPr txBox="1"/>
          <p:nvPr/>
        </p:nvSpPr>
        <p:spPr>
          <a:xfrm>
            <a:off x="276225" y="3486150"/>
            <a:ext cx="2769282" cy="194310"/>
          </a:xfrm>
          <a:prstGeom prst="rect">
            <a:avLst/>
          </a:prstGeom>
          <a:noFill/>
        </p:spPr>
        <p:txBody>
          <a:bodyPr wrap="none" lIns="0" rIns="0" tIns="0" bIns="0">
            <a:spAutoFit/>
          </a:bodyPr>
          <a:lstStyle/>
          <a:p>
            <a:r>
              <a:rPr sz="1150" b="0">
                <a:solidFill>
                  <a:srgbClr val="2E2E2E"/>
                </a:solidFill>
                <a:latin typeface="Calibri"/>
              </a:rPr>
              <a:t>Mass market segment is projected to register</a:t>
            </a:r>
          </a:p>
        </p:txBody>
      </p:sp>
      <p:pic>
        <p:nvPicPr>
          <p:cNvPr id="21" name="Picture 20" descr="lock.png"/>
          <p:cNvPicPr>
            <a:picLocks noChangeAspect="1"/>
          </p:cNvPicPr>
          <p:nvPr/>
        </p:nvPicPr>
        <p:blipFill>
          <a:blip r:embed="rId4"/>
          <a:stretch>
            <a:fillRect/>
          </a:stretch>
        </p:blipFill>
        <p:spPr>
          <a:xfrm>
            <a:off x="2994661" y="3475926"/>
            <a:ext cx="134549" cy="195707"/>
          </a:xfrm>
          <a:prstGeom prst="rect">
            <a:avLst/>
          </a:prstGeom>
        </p:spPr>
      </p:pic>
      <p:sp>
        <p:nvSpPr>
          <p:cNvPr id="22" name="TextBox 21"/>
          <p:cNvSpPr txBox="1"/>
          <p:nvPr/>
        </p:nvSpPr>
        <p:spPr>
          <a:xfrm>
            <a:off x="3169770" y="3486150"/>
            <a:ext cx="8644656" cy="194310"/>
          </a:xfrm>
          <a:prstGeom prst="rect">
            <a:avLst/>
          </a:prstGeom>
          <a:noFill/>
        </p:spPr>
        <p:txBody>
          <a:bodyPr wrap="none" lIns="0" rIns="0" tIns="0" bIns="0">
            <a:spAutoFit/>
          </a:bodyPr>
          <a:lstStyle/>
          <a:p>
            <a:r>
              <a:rPr sz="1150" b="0">
                <a:solidFill>
                  <a:srgbClr val="2E2E2E"/>
                </a:solidFill>
                <a:latin typeface="Calibri"/>
              </a:rPr>
              <a:t>X higher value than prestige / luxury segment in 2036. Among ceramide sunscreen by price tier, prestige / luxury segment is expected to witness</a:t>
            </a:r>
          </a:p>
        </p:txBody>
      </p:sp>
      <p:sp>
        <p:nvSpPr>
          <p:cNvPr id="23" name="TextBox 22"/>
          <p:cNvSpPr txBox="1"/>
          <p:nvPr/>
        </p:nvSpPr>
        <p:spPr>
          <a:xfrm>
            <a:off x="276225" y="3661410"/>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3651186"/>
            <a:ext cx="134549" cy="195707"/>
          </a:xfrm>
          <a:prstGeom prst="rect">
            <a:avLst/>
          </a:prstGeom>
        </p:spPr>
      </p:pic>
      <p:sp>
        <p:nvSpPr>
          <p:cNvPr id="25" name="TextBox 24"/>
          <p:cNvSpPr txBox="1"/>
          <p:nvPr/>
        </p:nvSpPr>
        <p:spPr>
          <a:xfrm>
            <a:off x="1664467"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6363766" cy="194310"/>
          </a:xfrm>
          <a:prstGeom prst="rect">
            <a:avLst/>
          </a:prstGeom>
          <a:noFill/>
        </p:spPr>
        <p:txBody>
          <a:bodyPr wrap="none" lIns="0" rIns="0" tIns="0" bIns="0">
            <a:spAutoFit/>
          </a:bodyPr>
          <a:lstStyle/>
          <a:p>
            <a:r>
              <a:rPr sz="1150" b="0">
                <a:solidFill>
                  <a:srgbClr val="2E2E2E"/>
                </a:solidFill>
                <a:latin typeface="Calibri"/>
              </a:rPr>
              <a:t>In terms of value share by price tier, the mass market segment is expected to dominate the market, losing</a:t>
            </a:r>
          </a:p>
        </p:txBody>
      </p:sp>
      <p:pic>
        <p:nvPicPr>
          <p:cNvPr id="27" name="Picture 26" descr="lock.png"/>
          <p:cNvPicPr>
            <a:picLocks noChangeAspect="1"/>
          </p:cNvPicPr>
          <p:nvPr/>
        </p:nvPicPr>
        <p:blipFill>
          <a:blip r:embed="rId4"/>
          <a:stretch>
            <a:fillRect/>
          </a:stretch>
        </p:blipFill>
        <p:spPr>
          <a:xfrm>
            <a:off x="6589145" y="3879024"/>
            <a:ext cx="134549" cy="195707"/>
          </a:xfrm>
          <a:prstGeom prst="rect">
            <a:avLst/>
          </a:prstGeom>
        </p:spPr>
      </p:pic>
      <p:sp>
        <p:nvSpPr>
          <p:cNvPr id="28" name="TextBox 27"/>
          <p:cNvSpPr txBox="1"/>
          <p:nvPr/>
        </p:nvSpPr>
        <p:spPr>
          <a:xfrm>
            <a:off x="6764254"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159398" y="3879024"/>
            <a:ext cx="134549" cy="195707"/>
          </a:xfrm>
          <a:prstGeom prst="rect">
            <a:avLst/>
          </a:prstGeom>
        </p:spPr>
      </p:pic>
      <p:sp>
        <p:nvSpPr>
          <p:cNvPr id="30" name="TextBox 29"/>
          <p:cNvSpPr txBox="1"/>
          <p:nvPr/>
        </p:nvSpPr>
        <p:spPr>
          <a:xfrm>
            <a:off x="8334507" y="3889247"/>
            <a:ext cx="3166926" cy="194310"/>
          </a:xfrm>
          <a:prstGeom prst="rect">
            <a:avLst/>
          </a:prstGeom>
          <a:noFill/>
        </p:spPr>
        <p:txBody>
          <a:bodyPr wrap="none" lIns="0" rIns="0" tIns="0" bIns="0">
            <a:spAutoFit/>
          </a:bodyPr>
          <a:lstStyle/>
          <a:p>
            <a:r>
              <a:rPr sz="1150" b="0">
                <a:solidFill>
                  <a:srgbClr val="2E2E2E"/>
                </a:solidFill>
                <a:latin typeface="Calibri"/>
              </a:rPr>
              <a:t>share by 2036. The masstige segment is expected to</a:t>
            </a:r>
          </a:p>
        </p:txBody>
      </p:sp>
      <p:sp>
        <p:nvSpPr>
          <p:cNvPr id="31" name="TextBox 30"/>
          <p:cNvSpPr txBox="1"/>
          <p:nvPr/>
        </p:nvSpPr>
        <p:spPr>
          <a:xfrm>
            <a:off x="276225" y="406450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4054284"/>
            <a:ext cx="134549" cy="195707"/>
          </a:xfrm>
          <a:prstGeom prst="rect">
            <a:avLst/>
          </a:prstGeom>
        </p:spPr>
      </p:pic>
      <p:sp>
        <p:nvSpPr>
          <p:cNvPr id="33" name="TextBox 32"/>
          <p:cNvSpPr txBox="1"/>
          <p:nvPr/>
        </p:nvSpPr>
        <p:spPr>
          <a:xfrm>
            <a:off x="717157"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4054284"/>
            <a:ext cx="134549" cy="195707"/>
          </a:xfrm>
          <a:prstGeom prst="rect">
            <a:avLst/>
          </a:prstGeom>
        </p:spPr>
      </p:pic>
      <p:sp>
        <p:nvSpPr>
          <p:cNvPr id="35" name="TextBox 34"/>
          <p:cNvSpPr txBox="1"/>
          <p:nvPr/>
        </p:nvSpPr>
        <p:spPr>
          <a:xfrm>
            <a:off x="3479771"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Price Tier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Price Tier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Price Tier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4834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4358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6738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Masstige</a:t>
            </a:r>
          </a:p>
        </p:txBody>
      </p:sp>
      <p:sp>
        <p:nvSpPr>
          <p:cNvPr id="18" name="BPS Value 1"/>
          <p:cNvSpPr txBox="1"/>
          <p:nvPr/>
        </p:nvSpPr>
        <p:spPr>
          <a:xfrm>
            <a:off x="6896100" y="182929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28348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27871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20251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Premium</a:t>
            </a:r>
          </a:p>
        </p:txBody>
      </p:sp>
      <p:sp>
        <p:nvSpPr>
          <p:cNvPr id="22" name="BPS Value 2"/>
          <p:cNvSpPr txBox="1"/>
          <p:nvPr/>
        </p:nvSpPr>
        <p:spPr>
          <a:xfrm>
            <a:off x="6896100" y="226443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85554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8507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77458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Prestige / Luxury</a:t>
            </a:r>
          </a:p>
        </p:txBody>
      </p:sp>
      <p:sp>
        <p:nvSpPr>
          <p:cNvPr id="26" name="BPS Value 3"/>
          <p:cNvSpPr txBox="1"/>
          <p:nvPr/>
        </p:nvSpPr>
        <p:spPr>
          <a:xfrm>
            <a:off x="6896100" y="283649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470660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470183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62563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Mass Market</a:t>
            </a:r>
          </a:p>
        </p:txBody>
      </p:sp>
      <p:sp>
        <p:nvSpPr>
          <p:cNvPr id="30" name="BPS Value 4"/>
          <p:cNvSpPr txBox="1"/>
          <p:nvPr/>
        </p:nvSpPr>
        <p:spPr>
          <a:xfrm>
            <a:off x="6896100" y="468755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Price Tier</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4057488" cy="194310"/>
          </a:xfrm>
          <a:prstGeom prst="rect">
            <a:avLst/>
          </a:prstGeom>
          <a:noFill/>
        </p:spPr>
        <p:txBody>
          <a:bodyPr wrap="none" lIns="0" rIns="0" tIns="0" bIns="0">
            <a:spAutoFit/>
          </a:bodyPr>
          <a:lstStyle/>
          <a:p>
            <a:r>
              <a:rPr sz="1150" b="0">
                <a:solidFill>
                  <a:srgbClr val="2E2E2E"/>
                </a:solidFill>
                <a:latin typeface="Calibri"/>
              </a:rPr>
              <a:t>Among ceramide sunscreen by price tier, prestige / luxury segment</a:t>
            </a:r>
          </a:p>
        </p:txBody>
      </p:sp>
      <p:sp>
        <p:nvSpPr>
          <p:cNvPr id="38" name="TextBox 37"/>
          <p:cNvSpPr txBox="1"/>
          <p:nvPr/>
        </p:nvSpPr>
        <p:spPr>
          <a:xfrm>
            <a:off x="7829550" y="157543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39" name="Picture 38" descr="lock.png"/>
          <p:cNvPicPr>
            <a:picLocks noChangeAspect="1"/>
          </p:cNvPicPr>
          <p:nvPr/>
        </p:nvPicPr>
        <p:blipFill>
          <a:blip r:embed="rId5"/>
          <a:stretch>
            <a:fillRect/>
          </a:stretch>
        </p:blipFill>
        <p:spPr>
          <a:xfrm>
            <a:off x="10388511" y="1565211"/>
            <a:ext cx="134549" cy="195707"/>
          </a:xfrm>
          <a:prstGeom prst="rect">
            <a:avLst/>
          </a:prstGeom>
        </p:spPr>
      </p:pic>
      <p:sp>
        <p:nvSpPr>
          <p:cNvPr id="40" name="TextBox 39"/>
          <p:cNvSpPr txBox="1"/>
          <p:nvPr/>
        </p:nvSpPr>
        <p:spPr>
          <a:xfrm>
            <a:off x="105636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1" name="TextBox 40"/>
          <p:cNvSpPr txBox="1"/>
          <p:nvPr/>
        </p:nvSpPr>
        <p:spPr>
          <a:xfrm>
            <a:off x="7829550" y="1750695"/>
            <a:ext cx="3700065" cy="194310"/>
          </a:xfrm>
          <a:prstGeom prst="rect">
            <a:avLst/>
          </a:prstGeom>
          <a:noFill/>
        </p:spPr>
        <p:txBody>
          <a:bodyPr wrap="none" lIns="0" rIns="0" tIns="0" bIns="0">
            <a:spAutoFit/>
          </a:bodyPr>
          <a:lstStyle/>
          <a:p>
            <a:r>
              <a:rPr sz="1150" b="0">
                <a:solidFill>
                  <a:srgbClr val="2E2E2E"/>
                </a:solidFill>
                <a:latin typeface="Calibri"/>
              </a:rPr>
              <a:t>period. In terms of value share by price tier, the mass market</a:t>
            </a:r>
          </a:p>
        </p:txBody>
      </p:sp>
      <p:sp>
        <p:nvSpPr>
          <p:cNvPr id="42" name="TextBox 41"/>
          <p:cNvSpPr txBox="1"/>
          <p:nvPr/>
        </p:nvSpPr>
        <p:spPr>
          <a:xfrm>
            <a:off x="7829550" y="1925955"/>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43" name="Picture 42" descr="lock.png"/>
          <p:cNvPicPr>
            <a:picLocks noChangeAspect="1"/>
          </p:cNvPicPr>
          <p:nvPr/>
        </p:nvPicPr>
        <p:blipFill>
          <a:blip r:embed="rId5"/>
          <a:stretch>
            <a:fillRect/>
          </a:stretch>
        </p:blipFill>
        <p:spPr>
          <a:xfrm>
            <a:off x="10943347" y="1915731"/>
            <a:ext cx="134549" cy="195707"/>
          </a:xfrm>
          <a:prstGeom prst="rect">
            <a:avLst/>
          </a:prstGeom>
        </p:spPr>
      </p:pic>
      <p:sp>
        <p:nvSpPr>
          <p:cNvPr id="44" name="TextBox 43"/>
          <p:cNvSpPr txBox="1"/>
          <p:nvPr/>
        </p:nvSpPr>
        <p:spPr>
          <a:xfrm>
            <a:off x="11118457"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5" name="TextBox 44"/>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6" name="Picture 45" descr="lock.png"/>
          <p:cNvPicPr>
            <a:picLocks noChangeAspect="1"/>
          </p:cNvPicPr>
          <p:nvPr/>
        </p:nvPicPr>
        <p:blipFill>
          <a:blip r:embed="rId5"/>
          <a:stretch>
            <a:fillRect/>
          </a:stretch>
        </p:blipFill>
        <p:spPr>
          <a:xfrm>
            <a:off x="8712947" y="2090991"/>
            <a:ext cx="134549" cy="195707"/>
          </a:xfrm>
          <a:prstGeom prst="rect">
            <a:avLst/>
          </a:prstGeom>
        </p:spPr>
      </p:pic>
      <p:sp>
        <p:nvSpPr>
          <p:cNvPr id="47" name="TextBox 46"/>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TextBox 47"/>
          <p:cNvSpPr txBox="1"/>
          <p:nvPr/>
        </p:nvSpPr>
        <p:spPr>
          <a:xfrm>
            <a:off x="7829550" y="2329053"/>
            <a:ext cx="2537370" cy="194310"/>
          </a:xfrm>
          <a:prstGeom prst="rect">
            <a:avLst/>
          </a:prstGeom>
          <a:noFill/>
        </p:spPr>
        <p:txBody>
          <a:bodyPr wrap="none" lIns="0" rIns="0" tIns="0" bIns="0">
            <a:spAutoFit/>
          </a:bodyPr>
          <a:lstStyle/>
          <a:p>
            <a:r>
              <a:rPr sz="1150" b="0">
                <a:solidFill>
                  <a:srgbClr val="2E2E2E"/>
                </a:solidFill>
                <a:latin typeface="Calibri"/>
              </a:rPr>
              <a:t>The masstige segment is expected to lose</a:t>
            </a:r>
          </a:p>
        </p:txBody>
      </p:sp>
      <p:pic>
        <p:nvPicPr>
          <p:cNvPr id="49" name="Picture 48" descr="lock.png"/>
          <p:cNvPicPr>
            <a:picLocks noChangeAspect="1"/>
          </p:cNvPicPr>
          <p:nvPr/>
        </p:nvPicPr>
        <p:blipFill>
          <a:blip r:embed="rId5"/>
          <a:stretch>
            <a:fillRect/>
          </a:stretch>
        </p:blipFill>
        <p:spPr>
          <a:xfrm>
            <a:off x="10316074" y="2318829"/>
            <a:ext cx="134549" cy="195707"/>
          </a:xfrm>
          <a:prstGeom prst="rect">
            <a:avLst/>
          </a:prstGeom>
        </p:spPr>
      </p:pic>
      <p:sp>
        <p:nvSpPr>
          <p:cNvPr id="50" name="TextBox 49"/>
          <p:cNvSpPr txBox="1"/>
          <p:nvPr/>
        </p:nvSpPr>
        <p:spPr>
          <a:xfrm>
            <a:off x="10491183"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51" name="TextBox 50"/>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52" name="Picture 51" descr="lock.png"/>
          <p:cNvPicPr>
            <a:picLocks noChangeAspect="1"/>
          </p:cNvPicPr>
          <p:nvPr/>
        </p:nvPicPr>
        <p:blipFill>
          <a:blip r:embed="rId5"/>
          <a:stretch>
            <a:fillRect/>
          </a:stretch>
        </p:blipFill>
        <p:spPr>
          <a:xfrm>
            <a:off x="9114014" y="2494089"/>
            <a:ext cx="134549" cy="195707"/>
          </a:xfrm>
          <a:prstGeom prst="rect">
            <a:avLst/>
          </a:prstGeom>
        </p:spPr>
      </p:pic>
      <p:sp>
        <p:nvSpPr>
          <p:cNvPr id="53" name="TextBox 52"/>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4"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Sales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Offline</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389_6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805_4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7_5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187_9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334_9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5_9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644824" cy="186689"/>
          </a:xfrm>
          <a:prstGeom prst="rect">
            <a:avLst/>
          </a:prstGeom>
          <a:noFill/>
        </p:spPr>
        <p:txBody>
          <a:bodyPr wrap="none" lIns="0" rIns="0" tIns="0" bIns="0">
            <a:spAutoFit/>
          </a:bodyPr>
          <a:lstStyle/>
          <a:p>
            <a:r>
              <a:rPr sz="1100" b="0">
                <a:solidFill>
                  <a:srgbClr val="2E2E2E"/>
                </a:solidFill>
                <a:latin typeface="Calibri"/>
              </a:rPr>
              <a:t>Among ceramide sunscreen by sales channel,</a:t>
            </a:r>
          </a:p>
        </p:txBody>
      </p:sp>
      <p:sp>
        <p:nvSpPr>
          <p:cNvPr id="58" name="TextBox 57"/>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offline segment is expected to witness the highest</a:t>
            </a:r>
          </a:p>
        </p:txBody>
      </p:sp>
      <p:sp>
        <p:nvSpPr>
          <p:cNvPr id="59" name="TextBox 58"/>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60" name="Picture 59" descr="lock.png"/>
          <p:cNvPicPr>
            <a:picLocks noChangeAspect="1"/>
          </p:cNvPicPr>
          <p:nvPr/>
        </p:nvPicPr>
        <p:blipFill>
          <a:blip r:embed="rId10"/>
          <a:stretch>
            <a:fillRect/>
          </a:stretch>
        </p:blipFill>
        <p:spPr>
          <a:xfrm>
            <a:off x="977131" y="4554938"/>
            <a:ext cx="128699" cy="187198"/>
          </a:xfrm>
          <a:prstGeom prst="rect">
            <a:avLst/>
          </a:prstGeom>
        </p:spPr>
      </p:pic>
      <p:sp>
        <p:nvSpPr>
          <p:cNvPr id="61" name="TextBox 60"/>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62" name="TextBox 61"/>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value share by sales channel, the offline segment is</a:t>
            </a:r>
          </a:p>
        </p:txBody>
      </p:sp>
      <p:sp>
        <p:nvSpPr>
          <p:cNvPr id="63" name="TextBox 62"/>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64" name="Picture 63" descr="lock.png"/>
          <p:cNvPicPr>
            <a:picLocks noChangeAspect="1"/>
          </p:cNvPicPr>
          <p:nvPr/>
        </p:nvPicPr>
        <p:blipFill>
          <a:blip r:embed="rId10"/>
          <a:stretch>
            <a:fillRect/>
          </a:stretch>
        </p:blipFill>
        <p:spPr>
          <a:xfrm>
            <a:off x="2900479" y="4890217"/>
            <a:ext cx="128699" cy="187198"/>
          </a:xfrm>
          <a:prstGeom prst="rect">
            <a:avLst/>
          </a:prstGeom>
        </p:spPr>
      </p:pic>
      <p:sp>
        <p:nvSpPr>
          <p:cNvPr id="65" name="TextBox 64"/>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66" name="TextBox 65"/>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67" name="Picture 66" descr="lock.png"/>
          <p:cNvPicPr>
            <a:picLocks noChangeAspect="1"/>
          </p:cNvPicPr>
          <p:nvPr/>
        </p:nvPicPr>
        <p:blipFill>
          <a:blip r:embed="rId10"/>
          <a:stretch>
            <a:fillRect/>
          </a:stretch>
        </p:blipFill>
        <p:spPr>
          <a:xfrm>
            <a:off x="1576057" y="5057858"/>
            <a:ext cx="128699" cy="187198"/>
          </a:xfrm>
          <a:prstGeom prst="rect">
            <a:avLst/>
          </a:prstGeom>
        </p:spPr>
      </p:pic>
      <p:sp>
        <p:nvSpPr>
          <p:cNvPr id="68" name="TextBox 67"/>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9" name="TextBox 68"/>
          <p:cNvSpPr txBox="1"/>
          <p:nvPr/>
        </p:nvSpPr>
        <p:spPr>
          <a:xfrm>
            <a:off x="485775" y="5285569"/>
            <a:ext cx="2302668" cy="186689"/>
          </a:xfrm>
          <a:prstGeom prst="rect">
            <a:avLst/>
          </a:prstGeom>
          <a:noFill/>
        </p:spPr>
        <p:txBody>
          <a:bodyPr wrap="none" lIns="0" rIns="0" tIns="0" bIns="0">
            <a:spAutoFit/>
          </a:bodyPr>
          <a:lstStyle/>
          <a:p>
            <a:r>
              <a:rPr sz="1100" b="0">
                <a:solidFill>
                  <a:srgbClr val="2E2E2E"/>
                </a:solidFill>
                <a:latin typeface="Calibri"/>
              </a:rPr>
              <a:t>Offline segment is projected to register</a:t>
            </a:r>
          </a:p>
        </p:txBody>
      </p:sp>
      <p:pic>
        <p:nvPicPr>
          <p:cNvPr id="70" name="Picture 69" descr="lock.png"/>
          <p:cNvPicPr>
            <a:picLocks noChangeAspect="1"/>
          </p:cNvPicPr>
          <p:nvPr/>
        </p:nvPicPr>
        <p:blipFill>
          <a:blip r:embed="rId10"/>
          <a:stretch>
            <a:fillRect/>
          </a:stretch>
        </p:blipFill>
        <p:spPr>
          <a:xfrm>
            <a:off x="2736495" y="5275790"/>
            <a:ext cx="128699" cy="187198"/>
          </a:xfrm>
          <a:prstGeom prst="rect">
            <a:avLst/>
          </a:prstGeom>
        </p:spPr>
      </p:pic>
      <p:sp>
        <p:nvSpPr>
          <p:cNvPr id="71" name="TextBox 70"/>
          <p:cNvSpPr txBox="1"/>
          <p:nvPr/>
        </p:nvSpPr>
        <p:spPr>
          <a:xfrm>
            <a:off x="2903991"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72" name="TextBox 71"/>
          <p:cNvSpPr txBox="1"/>
          <p:nvPr/>
        </p:nvSpPr>
        <p:spPr>
          <a:xfrm>
            <a:off x="485775" y="5453209"/>
            <a:ext cx="2465288" cy="186689"/>
          </a:xfrm>
          <a:prstGeom prst="rect">
            <a:avLst/>
          </a:prstGeom>
          <a:noFill/>
        </p:spPr>
        <p:txBody>
          <a:bodyPr wrap="none" lIns="0" rIns="0" tIns="0" bIns="0">
            <a:spAutoFit/>
          </a:bodyPr>
          <a:lstStyle/>
          <a:p>
            <a:r>
              <a:rPr sz="1100" b="0">
                <a:solidFill>
                  <a:srgbClr val="2E2E2E"/>
                </a:solidFill>
                <a:latin typeface="Calibri"/>
              </a:rPr>
              <a:t>higher value than online segment in 2036.</a:t>
            </a:r>
          </a:p>
        </p:txBody>
      </p:sp>
      <p:sp>
        <p:nvSpPr>
          <p:cNvPr id="73" name="TextBox 72"/>
          <p:cNvSpPr txBox="1"/>
          <p:nvPr/>
        </p:nvSpPr>
        <p:spPr>
          <a:xfrm>
            <a:off x="3838575" y="4229437"/>
            <a:ext cx="614536" cy="186689"/>
          </a:xfrm>
          <a:prstGeom prst="rect">
            <a:avLst/>
          </a:prstGeom>
          <a:noFill/>
        </p:spPr>
        <p:txBody>
          <a:bodyPr wrap="none" lIns="0" rIns="0" tIns="0" bIns="0">
            <a:spAutoFit/>
          </a:bodyPr>
          <a:lstStyle/>
          <a:p>
            <a:r>
              <a:rPr sz="1100" b="0">
                <a:solidFill>
                  <a:srgbClr val="2E2E2E"/>
                </a:solidFill>
                <a:latin typeface="Calibri"/>
              </a:rPr>
              <a:t>● Offline:</a:t>
            </a:r>
          </a:p>
        </p:txBody>
      </p:sp>
      <p:pic>
        <p:nvPicPr>
          <p:cNvPr id="74" name="Picture 73" descr="lock.png"/>
          <p:cNvPicPr>
            <a:picLocks noChangeAspect="1"/>
          </p:cNvPicPr>
          <p:nvPr/>
        </p:nvPicPr>
        <p:blipFill>
          <a:blip r:embed="rId10"/>
          <a:stretch>
            <a:fillRect/>
          </a:stretch>
        </p:blipFill>
        <p:spPr>
          <a:xfrm>
            <a:off x="4401162" y="4219658"/>
            <a:ext cx="128699" cy="187198"/>
          </a:xfrm>
          <a:prstGeom prst="rect">
            <a:avLst/>
          </a:prstGeom>
        </p:spPr>
      </p:pic>
      <p:sp>
        <p:nvSpPr>
          <p:cNvPr id="75" name="TextBox 74"/>
          <p:cNvSpPr txBox="1"/>
          <p:nvPr/>
        </p:nvSpPr>
        <p:spPr>
          <a:xfrm>
            <a:off x="456865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6" name="Picture 75" descr="lock.png"/>
          <p:cNvPicPr>
            <a:picLocks noChangeAspect="1"/>
          </p:cNvPicPr>
          <p:nvPr/>
        </p:nvPicPr>
        <p:blipFill>
          <a:blip r:embed="rId10"/>
          <a:stretch>
            <a:fillRect/>
          </a:stretch>
        </p:blipFill>
        <p:spPr>
          <a:xfrm>
            <a:off x="5428108" y="4219658"/>
            <a:ext cx="128699" cy="187198"/>
          </a:xfrm>
          <a:prstGeom prst="rect">
            <a:avLst/>
          </a:prstGeom>
        </p:spPr>
      </p:pic>
      <p:sp>
        <p:nvSpPr>
          <p:cNvPr id="77" name="TextBox 76"/>
          <p:cNvSpPr txBox="1"/>
          <p:nvPr/>
        </p:nvSpPr>
        <p:spPr>
          <a:xfrm>
            <a:off x="5595604"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78" name="TextBox 77"/>
          <p:cNvSpPr txBox="1"/>
          <p:nvPr/>
        </p:nvSpPr>
        <p:spPr>
          <a:xfrm>
            <a:off x="3838575" y="4447369"/>
            <a:ext cx="602803" cy="186689"/>
          </a:xfrm>
          <a:prstGeom prst="rect">
            <a:avLst/>
          </a:prstGeom>
          <a:noFill/>
        </p:spPr>
        <p:txBody>
          <a:bodyPr wrap="none" lIns="0" rIns="0" tIns="0" bIns="0">
            <a:spAutoFit/>
          </a:bodyPr>
          <a:lstStyle/>
          <a:p>
            <a:r>
              <a:rPr sz="1100" b="0">
                <a:solidFill>
                  <a:srgbClr val="2E2E2E"/>
                </a:solidFill>
                <a:latin typeface="Calibri"/>
              </a:rPr>
              <a:t>● Online:</a:t>
            </a:r>
          </a:p>
        </p:txBody>
      </p:sp>
      <p:pic>
        <p:nvPicPr>
          <p:cNvPr id="79" name="Picture 78" descr="lock.png"/>
          <p:cNvPicPr>
            <a:picLocks noChangeAspect="1"/>
          </p:cNvPicPr>
          <p:nvPr/>
        </p:nvPicPr>
        <p:blipFill>
          <a:blip r:embed="rId10"/>
          <a:stretch>
            <a:fillRect/>
          </a:stretch>
        </p:blipFill>
        <p:spPr>
          <a:xfrm>
            <a:off x="4389430" y="4437590"/>
            <a:ext cx="128699" cy="187198"/>
          </a:xfrm>
          <a:prstGeom prst="rect">
            <a:avLst/>
          </a:prstGeom>
        </p:spPr>
      </p:pic>
      <p:sp>
        <p:nvSpPr>
          <p:cNvPr id="80" name="TextBox 79"/>
          <p:cNvSpPr txBox="1"/>
          <p:nvPr/>
        </p:nvSpPr>
        <p:spPr>
          <a:xfrm>
            <a:off x="455692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1" name="Picture 80" descr="lock.png"/>
          <p:cNvPicPr>
            <a:picLocks noChangeAspect="1"/>
          </p:cNvPicPr>
          <p:nvPr/>
        </p:nvPicPr>
        <p:blipFill>
          <a:blip r:embed="rId10"/>
          <a:stretch>
            <a:fillRect/>
          </a:stretch>
        </p:blipFill>
        <p:spPr>
          <a:xfrm>
            <a:off x="5416376" y="4437590"/>
            <a:ext cx="128699" cy="187198"/>
          </a:xfrm>
          <a:prstGeom prst="rect">
            <a:avLst/>
          </a:prstGeom>
        </p:spPr>
      </p:pic>
      <p:sp>
        <p:nvSpPr>
          <p:cNvPr id="82" name="TextBox 81"/>
          <p:cNvSpPr txBox="1"/>
          <p:nvPr/>
        </p:nvSpPr>
        <p:spPr>
          <a:xfrm>
            <a:off x="5583871"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3" name="TextBox 82"/>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84" name="TextBox 83"/>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5" name="Picture 84" descr="lock.png"/>
          <p:cNvPicPr>
            <a:picLocks noChangeAspect="1"/>
          </p:cNvPicPr>
          <p:nvPr/>
        </p:nvPicPr>
        <p:blipFill>
          <a:blip r:embed="rId10"/>
          <a:stretch>
            <a:fillRect/>
          </a:stretch>
        </p:blipFill>
        <p:spPr>
          <a:xfrm>
            <a:off x="9048826" y="6007677"/>
            <a:ext cx="134549" cy="195707"/>
          </a:xfrm>
          <a:prstGeom prst="rect">
            <a:avLst/>
          </a:prstGeom>
        </p:spPr>
      </p:pic>
      <p:sp>
        <p:nvSpPr>
          <p:cNvPr id="86" name="TextBox 85"/>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Offline followed by online are expected to be the two most attractive sales channel segments in the North America ceramide sunscreen market in terms of value over the forecast period. Offline and online</a:t>
            </a:r>
          </a:p>
        </p:txBody>
      </p:sp>
      <p:sp>
        <p:nvSpPr>
          <p:cNvPr id="20" name="TextBox 19"/>
          <p:cNvSpPr txBox="1"/>
          <p:nvPr/>
        </p:nvSpPr>
        <p:spPr>
          <a:xfrm>
            <a:off x="257175" y="5945505"/>
            <a:ext cx="1402514" cy="186689"/>
          </a:xfrm>
          <a:prstGeom prst="rect">
            <a:avLst/>
          </a:prstGeom>
          <a:noFill/>
        </p:spPr>
        <p:txBody>
          <a:bodyPr wrap="none" lIns="0" rIns="0" tIns="0" bIns="0">
            <a:spAutoFit/>
          </a:bodyPr>
          <a:lstStyle/>
          <a:p>
            <a:r>
              <a:rPr sz="1100" b="0">
                <a:solidFill>
                  <a:srgbClr val="2E2E2E"/>
                </a:solidFill>
                <a:latin typeface="Calibri"/>
              </a:rPr>
              <a:t>exhibit a CAGR index of</a:t>
            </a:r>
          </a:p>
        </p:txBody>
      </p:sp>
      <p:pic>
        <p:nvPicPr>
          <p:cNvPr id="21" name="Picture 20" descr="lock.png"/>
          <p:cNvPicPr>
            <a:picLocks noChangeAspect="1"/>
          </p:cNvPicPr>
          <p:nvPr/>
        </p:nvPicPr>
        <p:blipFill>
          <a:blip r:embed="rId6"/>
          <a:stretch>
            <a:fillRect/>
          </a:stretch>
        </p:blipFill>
        <p:spPr>
          <a:xfrm>
            <a:off x="1607740" y="5935726"/>
            <a:ext cx="128699" cy="187198"/>
          </a:xfrm>
          <a:prstGeom prst="rect">
            <a:avLst/>
          </a:prstGeom>
        </p:spPr>
      </p:pic>
      <p:sp>
        <p:nvSpPr>
          <p:cNvPr id="22" name="TextBox 21"/>
          <p:cNvSpPr txBox="1"/>
          <p:nvPr/>
        </p:nvSpPr>
        <p:spPr>
          <a:xfrm>
            <a:off x="177523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013131" y="5935726"/>
            <a:ext cx="128699" cy="187198"/>
          </a:xfrm>
          <a:prstGeom prst="rect">
            <a:avLst/>
          </a:prstGeom>
        </p:spPr>
      </p:pic>
      <p:sp>
        <p:nvSpPr>
          <p:cNvPr id="24" name="TextBox 23"/>
          <p:cNvSpPr txBox="1"/>
          <p:nvPr/>
        </p:nvSpPr>
        <p:spPr>
          <a:xfrm>
            <a:off x="218062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789600" y="5935726"/>
            <a:ext cx="128699" cy="187198"/>
          </a:xfrm>
          <a:prstGeom prst="rect">
            <a:avLst/>
          </a:prstGeom>
        </p:spPr>
      </p:pic>
      <p:sp>
        <p:nvSpPr>
          <p:cNvPr id="26" name="TextBox 25"/>
          <p:cNvSpPr txBox="1"/>
          <p:nvPr/>
        </p:nvSpPr>
        <p:spPr>
          <a:xfrm>
            <a:off x="395709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194990" y="5935726"/>
            <a:ext cx="128699" cy="187198"/>
          </a:xfrm>
          <a:prstGeom prst="rect">
            <a:avLst/>
          </a:prstGeom>
        </p:spPr>
      </p:pic>
      <p:sp>
        <p:nvSpPr>
          <p:cNvPr id="28" name="TextBox 27"/>
          <p:cNvSpPr txBox="1"/>
          <p:nvPr/>
        </p:nvSpPr>
        <p:spPr>
          <a:xfrm>
            <a:off x="4362486"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916890" y="5935726"/>
            <a:ext cx="128699" cy="187198"/>
          </a:xfrm>
          <a:prstGeom prst="rect">
            <a:avLst/>
          </a:prstGeom>
        </p:spPr>
      </p:pic>
      <p:sp>
        <p:nvSpPr>
          <p:cNvPr id="30" name="TextBox 29"/>
          <p:cNvSpPr txBox="1"/>
          <p:nvPr/>
        </p:nvSpPr>
        <p:spPr>
          <a:xfrm>
            <a:off x="7084386" y="5945505"/>
            <a:ext cx="3926391"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a:t>
            </a:r>
          </a:p>
        </p:txBody>
      </p:sp>
      <p:sp>
        <p:nvSpPr>
          <p:cNvPr id="31" name="TextBox 30"/>
          <p:cNvSpPr txBox="1"/>
          <p:nvPr/>
        </p:nvSpPr>
        <p:spPr>
          <a:xfrm>
            <a:off x="257175" y="6113145"/>
            <a:ext cx="561875" cy="186689"/>
          </a:xfrm>
          <a:prstGeom prst="rect">
            <a:avLst/>
          </a:prstGeom>
          <a:noFill/>
        </p:spPr>
        <p:txBody>
          <a:bodyPr wrap="none" lIns="0" rIns="0" tIns="0" bIns="0">
            <a:spAutoFit/>
          </a:bodyPr>
          <a:lstStyle/>
          <a:p>
            <a:r>
              <a:rPr sz="1100" b="0">
                <a:solidFill>
                  <a:srgbClr val="2E2E2E"/>
                </a:solidFill>
                <a:latin typeface="Calibri"/>
              </a:rPr>
              <a:t>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Online</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Offline</a:t>
            </a:r>
          </a:p>
        </p:txBody>
      </p:sp>
      <p:graphicFrame>
        <p:nvGraphicFramePr>
          <p:cNvPr id="15" name="Chart 14"/>
          <p:cNvGraphicFramePr>
            <a:graphicFrameLocks noGrp="1"/>
          </p:cNvGraphicFramePr>
          <p:nvPr/>
        </p:nvGraphicFramePr>
        <p:xfrm>
          <a:off x="6267450" y="1266825"/>
          <a:ext cx="5686425" cy="53054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4059" y="3583939"/>
            <a:ext cx="402511" cy="585471"/>
          </a:xfrm>
          <a:prstGeom prst="rect">
            <a:avLst/>
          </a:prstGeom>
        </p:spPr>
      </p:pic>
      <p:pic>
        <p:nvPicPr>
          <p:cNvPr id="18" name="Picture 17" descr="lock.png"/>
          <p:cNvPicPr>
            <a:picLocks noChangeAspect="1"/>
          </p:cNvPicPr>
          <p:nvPr/>
        </p:nvPicPr>
        <p:blipFill>
          <a:blip r:embed="rId6"/>
          <a:stretch>
            <a:fillRect/>
          </a:stretch>
        </p:blipFill>
        <p:spPr>
          <a:xfrm>
            <a:off x="9053384" y="3583939"/>
            <a:ext cx="402511" cy="585471"/>
          </a:xfrm>
          <a:prstGeom prst="rect">
            <a:avLst/>
          </a:prstGeom>
        </p:spPr>
      </p:pic>
      <p:sp>
        <p:nvSpPr>
          <p:cNvPr id="19"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3429000"/>
          </a:xfrm>
          <a:prstGeom prst="roundRect">
            <a:avLst>
              <a:gd name="adj" fmla="val 222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Sales Channel (US$ Mn)</a:t>
            </a:r>
          </a:p>
        </p:txBody>
      </p:sp>
      <p:graphicFrame>
        <p:nvGraphicFramePr>
          <p:cNvPr id="12" name="Table 11"/>
          <p:cNvGraphicFramePr>
            <a:graphicFrameLocks noGrp="1"/>
          </p:cNvGraphicFramePr>
          <p:nvPr/>
        </p:nvGraphicFramePr>
        <p:xfrm>
          <a:off x="152400" y="1238250"/>
          <a:ext cx="11887194" cy="2962279"/>
        </p:xfrm>
        <a:graphic>
          <a:graphicData uri="http://schemas.openxmlformats.org/drawingml/2006/table">
            <a:tbl>
              <a:tblPr>
                <a:tableStyleId>{5C22544A-7EE6-4342-B048-85BDC9FD1C3A}</a:tableStyleId>
              </a:tblPr>
              <a:tblGrid>
                <a:gridCol w="2815433"/>
                <a:gridCol w="544927"/>
                <a:gridCol w="544927"/>
                <a:gridCol w="544927"/>
                <a:gridCol w="544927"/>
                <a:gridCol w="544927"/>
                <a:gridCol w="525732"/>
                <a:gridCol w="520247"/>
                <a:gridCol w="520247"/>
                <a:gridCol w="520247"/>
                <a:gridCol w="520247"/>
                <a:gridCol w="520247"/>
                <a:gridCol w="520247"/>
                <a:gridCol w="520247"/>
                <a:gridCol w="520247"/>
                <a:gridCol w="520247"/>
                <a:gridCol w="520247"/>
                <a:gridCol w="618924"/>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923">
                <a:tc>
                  <a:txBody>
                    <a:bodyPr wrap="none"/>
                    <a:lstStyle/>
                    <a:p>
                      <a:pPr algn="l"/>
                      <a:r>
                        <a:rPr sz="1100" b="1">
                          <a:solidFill>
                            <a:srgbClr val="2E2E2E"/>
                          </a:solidFill>
                          <a:latin typeface="Calibri"/>
                        </a:rPr>
                        <a:t>Online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Brand-owned E-commerce Websites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 Third-party E-commerce Marketplaces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Online Pharmacies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Offline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Supermarkets &amp; Hypermarkets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 Pharmacies &amp; Drugstores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Beauty &amp; Cosmetics Specialty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 Department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Dermatology Clinics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92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210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543425"/>
            <a:ext cx="11906250" cy="2085975"/>
          </a:xfrm>
          <a:prstGeom prst="roundRect">
            <a:avLst>
              <a:gd name="adj" fmla="val 36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6291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Sales Channel</a:t>
            </a:r>
          </a:p>
        </p:txBody>
      </p:sp>
      <p:sp>
        <p:nvSpPr>
          <p:cNvPr id="16" name="Rectangle 15"/>
          <p:cNvSpPr/>
          <p:nvPr/>
        </p:nvSpPr>
        <p:spPr>
          <a:xfrm>
            <a:off x="276225" y="48672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953000"/>
            <a:ext cx="11639550" cy="16002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17023" y="2575752"/>
            <a:ext cx="366712" cy="533400"/>
          </a:xfrm>
          <a:prstGeom prst="rect">
            <a:avLst/>
          </a:prstGeom>
        </p:spPr>
      </p:pic>
      <p:sp>
        <p:nvSpPr>
          <p:cNvPr id="20" name="TextBox 19"/>
          <p:cNvSpPr txBox="1"/>
          <p:nvPr/>
        </p:nvSpPr>
        <p:spPr>
          <a:xfrm>
            <a:off x="276225" y="4962525"/>
            <a:ext cx="2403871" cy="194310"/>
          </a:xfrm>
          <a:prstGeom prst="rect">
            <a:avLst/>
          </a:prstGeom>
          <a:noFill/>
        </p:spPr>
        <p:txBody>
          <a:bodyPr wrap="none" lIns="0" rIns="0" tIns="0" bIns="0">
            <a:spAutoFit/>
          </a:bodyPr>
          <a:lstStyle/>
          <a:p>
            <a:r>
              <a:rPr sz="1150" b="0">
                <a:solidFill>
                  <a:srgbClr val="2E2E2E"/>
                </a:solidFill>
                <a:latin typeface="Calibri"/>
              </a:rPr>
              <a:t>Offline segment is projected to register</a:t>
            </a:r>
          </a:p>
        </p:txBody>
      </p:sp>
      <p:pic>
        <p:nvPicPr>
          <p:cNvPr id="21" name="Picture 20" descr="lock.png"/>
          <p:cNvPicPr>
            <a:picLocks noChangeAspect="1"/>
          </p:cNvPicPr>
          <p:nvPr/>
        </p:nvPicPr>
        <p:blipFill>
          <a:blip r:embed="rId4"/>
          <a:stretch>
            <a:fillRect/>
          </a:stretch>
        </p:blipFill>
        <p:spPr>
          <a:xfrm>
            <a:off x="2629250" y="4952301"/>
            <a:ext cx="134549" cy="195707"/>
          </a:xfrm>
          <a:prstGeom prst="rect">
            <a:avLst/>
          </a:prstGeom>
        </p:spPr>
      </p:pic>
      <p:sp>
        <p:nvSpPr>
          <p:cNvPr id="22" name="TextBox 21"/>
          <p:cNvSpPr txBox="1"/>
          <p:nvPr/>
        </p:nvSpPr>
        <p:spPr>
          <a:xfrm>
            <a:off x="2804360" y="4962525"/>
            <a:ext cx="8930748" cy="194310"/>
          </a:xfrm>
          <a:prstGeom prst="rect">
            <a:avLst/>
          </a:prstGeom>
          <a:noFill/>
        </p:spPr>
        <p:txBody>
          <a:bodyPr wrap="none" lIns="0" rIns="0" tIns="0" bIns="0">
            <a:spAutoFit/>
          </a:bodyPr>
          <a:lstStyle/>
          <a:p>
            <a:r>
              <a:rPr sz="1150" b="0">
                <a:solidFill>
                  <a:srgbClr val="2E2E2E"/>
                </a:solidFill>
                <a:latin typeface="Calibri"/>
              </a:rPr>
              <a:t>X higher value than online segment in 2036. Among ceramide sunscreen by sales channel, offline segment is expected to witness the highest CAGR of</a:t>
            </a:r>
          </a:p>
        </p:txBody>
      </p:sp>
      <p:pic>
        <p:nvPicPr>
          <p:cNvPr id="23" name="Picture 22" descr="lock.png"/>
          <p:cNvPicPr>
            <a:picLocks noChangeAspect="1"/>
          </p:cNvPicPr>
          <p:nvPr/>
        </p:nvPicPr>
        <p:blipFill>
          <a:blip r:embed="rId4"/>
          <a:stretch>
            <a:fillRect/>
          </a:stretch>
        </p:blipFill>
        <p:spPr>
          <a:xfrm>
            <a:off x="262145" y="5127561"/>
            <a:ext cx="134549" cy="195707"/>
          </a:xfrm>
          <a:prstGeom prst="rect">
            <a:avLst/>
          </a:prstGeom>
        </p:spPr>
      </p:pic>
      <p:sp>
        <p:nvSpPr>
          <p:cNvPr id="24" name="TextBox 23"/>
          <p:cNvSpPr txBox="1"/>
          <p:nvPr/>
        </p:nvSpPr>
        <p:spPr>
          <a:xfrm>
            <a:off x="437254" y="51377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5365622"/>
            <a:ext cx="6324401"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offline segment is expected to dominate the market, gaining</a:t>
            </a:r>
          </a:p>
        </p:txBody>
      </p:sp>
      <p:pic>
        <p:nvPicPr>
          <p:cNvPr id="26" name="Picture 25" descr="lock.png"/>
          <p:cNvPicPr>
            <a:picLocks noChangeAspect="1"/>
          </p:cNvPicPr>
          <p:nvPr/>
        </p:nvPicPr>
        <p:blipFill>
          <a:blip r:embed="rId4"/>
          <a:stretch>
            <a:fillRect/>
          </a:stretch>
        </p:blipFill>
        <p:spPr>
          <a:xfrm>
            <a:off x="6549780" y="5355399"/>
            <a:ext cx="134549" cy="195707"/>
          </a:xfrm>
          <a:prstGeom prst="rect">
            <a:avLst/>
          </a:prstGeom>
        </p:spPr>
      </p:pic>
      <p:sp>
        <p:nvSpPr>
          <p:cNvPr id="27" name="TextBox 26"/>
          <p:cNvSpPr txBox="1"/>
          <p:nvPr/>
        </p:nvSpPr>
        <p:spPr>
          <a:xfrm>
            <a:off x="6724889" y="53656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8120032" y="5355399"/>
            <a:ext cx="134549" cy="195707"/>
          </a:xfrm>
          <a:prstGeom prst="rect">
            <a:avLst/>
          </a:prstGeom>
        </p:spPr>
      </p:pic>
      <p:sp>
        <p:nvSpPr>
          <p:cNvPr id="29" name="TextBox 28"/>
          <p:cNvSpPr txBox="1"/>
          <p:nvPr/>
        </p:nvSpPr>
        <p:spPr>
          <a:xfrm>
            <a:off x="8295142" y="5365622"/>
            <a:ext cx="3286162" cy="194310"/>
          </a:xfrm>
          <a:prstGeom prst="rect">
            <a:avLst/>
          </a:prstGeom>
          <a:noFill/>
        </p:spPr>
        <p:txBody>
          <a:bodyPr wrap="none" lIns="0" rIns="0" tIns="0" bIns="0">
            <a:spAutoFit/>
          </a:bodyPr>
          <a:lstStyle/>
          <a:p>
            <a:r>
              <a:rPr sz="1150" b="0">
                <a:solidFill>
                  <a:srgbClr val="2E2E2E"/>
                </a:solidFill>
                <a:latin typeface="Calibri"/>
              </a:rPr>
              <a:t>share by 2036. The online segment is expected to lose</a:t>
            </a:r>
          </a:p>
        </p:txBody>
      </p:sp>
      <p:pic>
        <p:nvPicPr>
          <p:cNvPr id="30" name="Picture 29" descr="lock.png"/>
          <p:cNvPicPr>
            <a:picLocks noChangeAspect="1"/>
          </p:cNvPicPr>
          <p:nvPr/>
        </p:nvPicPr>
        <p:blipFill>
          <a:blip r:embed="rId4"/>
          <a:stretch>
            <a:fillRect/>
          </a:stretch>
        </p:blipFill>
        <p:spPr>
          <a:xfrm>
            <a:off x="262145" y="5530659"/>
            <a:ext cx="134549" cy="195707"/>
          </a:xfrm>
          <a:prstGeom prst="rect">
            <a:avLst/>
          </a:prstGeom>
        </p:spPr>
      </p:pic>
      <p:sp>
        <p:nvSpPr>
          <p:cNvPr id="31" name="TextBox 30"/>
          <p:cNvSpPr txBox="1"/>
          <p:nvPr/>
        </p:nvSpPr>
        <p:spPr>
          <a:xfrm>
            <a:off x="437254" y="55408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3024759" y="5530659"/>
            <a:ext cx="134549" cy="195707"/>
          </a:xfrm>
          <a:prstGeom prst="rect">
            <a:avLst/>
          </a:prstGeom>
        </p:spPr>
      </p:pic>
      <p:sp>
        <p:nvSpPr>
          <p:cNvPr id="33" name="TextBox 32"/>
          <p:cNvSpPr txBox="1"/>
          <p:nvPr/>
        </p:nvSpPr>
        <p:spPr>
          <a:xfrm>
            <a:off x="3199868" y="55408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34267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33790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2617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a:t>
            </a:r>
          </a:p>
        </p:txBody>
      </p:sp>
      <p:sp>
        <p:nvSpPr>
          <p:cNvPr id="18" name="BPS Value 1"/>
          <p:cNvSpPr txBox="1"/>
          <p:nvPr/>
        </p:nvSpPr>
        <p:spPr>
          <a:xfrm>
            <a:off x="6896100" y="232362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462886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462409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54789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Offline</a:t>
            </a:r>
          </a:p>
        </p:txBody>
      </p:sp>
      <p:sp>
        <p:nvSpPr>
          <p:cNvPr id="22" name="BPS Value 2"/>
          <p:cNvSpPr txBox="1"/>
          <p:nvPr/>
        </p:nvSpPr>
        <p:spPr>
          <a:xfrm>
            <a:off x="6896100" y="460981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Sales Channel</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848112" cy="194310"/>
          </a:xfrm>
          <a:prstGeom prst="rect">
            <a:avLst/>
          </a:prstGeom>
          <a:noFill/>
        </p:spPr>
        <p:txBody>
          <a:bodyPr wrap="none" lIns="0" rIns="0" tIns="0" bIns="0">
            <a:spAutoFit/>
          </a:bodyPr>
          <a:lstStyle/>
          <a:p>
            <a:r>
              <a:rPr sz="1150" b="0">
                <a:solidFill>
                  <a:srgbClr val="2E2E2E"/>
                </a:solidFill>
                <a:latin typeface="Calibri"/>
              </a:rPr>
              <a:t>Among ceramide sunscreen by sales channel, offline segment is</a:t>
            </a:r>
          </a:p>
        </p:txBody>
      </p:sp>
      <p:sp>
        <p:nvSpPr>
          <p:cNvPr id="30" name="TextBox 29"/>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1" name="Picture 30" descr="lock.png"/>
          <p:cNvPicPr>
            <a:picLocks noChangeAspect="1"/>
          </p:cNvPicPr>
          <p:nvPr/>
        </p:nvPicPr>
        <p:blipFill>
          <a:blip r:embed="rId5"/>
          <a:stretch>
            <a:fillRect/>
          </a:stretch>
        </p:blipFill>
        <p:spPr>
          <a:xfrm>
            <a:off x="10264711" y="1565211"/>
            <a:ext cx="134549" cy="195707"/>
          </a:xfrm>
          <a:prstGeom prst="rect">
            <a:avLst/>
          </a:prstGeom>
        </p:spPr>
      </p:pic>
      <p:sp>
        <p:nvSpPr>
          <p:cNvPr id="32" name="TextBox 31"/>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33" name="TextBox 32"/>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period. In terms of value share by sales channel, the offline segment</a:t>
            </a:r>
          </a:p>
        </p:txBody>
      </p:sp>
      <p:sp>
        <p:nvSpPr>
          <p:cNvPr id="34" name="TextBox 33"/>
          <p:cNvSpPr txBox="1"/>
          <p:nvPr/>
        </p:nvSpPr>
        <p:spPr>
          <a:xfrm>
            <a:off x="7829550" y="1925955"/>
            <a:ext cx="2699109" cy="194310"/>
          </a:xfrm>
          <a:prstGeom prst="rect">
            <a:avLst/>
          </a:prstGeom>
          <a:noFill/>
        </p:spPr>
        <p:txBody>
          <a:bodyPr wrap="none" lIns="0" rIns="0" tIns="0" bIns="0">
            <a:spAutoFit/>
          </a:bodyPr>
          <a:lstStyle/>
          <a:p>
            <a:r>
              <a:rPr sz="1150" b="0">
                <a:solidFill>
                  <a:srgbClr val="2E2E2E"/>
                </a:solidFill>
                <a:latin typeface="Calibri"/>
              </a:rPr>
              <a:t>is expected to dominate the market, gaining</a:t>
            </a:r>
          </a:p>
        </p:txBody>
      </p:sp>
      <p:pic>
        <p:nvPicPr>
          <p:cNvPr id="35" name="Picture 34" descr="lock.png"/>
          <p:cNvPicPr>
            <a:picLocks noChangeAspect="1"/>
          </p:cNvPicPr>
          <p:nvPr/>
        </p:nvPicPr>
        <p:blipFill>
          <a:blip r:embed="rId5"/>
          <a:stretch>
            <a:fillRect/>
          </a:stretch>
        </p:blipFill>
        <p:spPr>
          <a:xfrm>
            <a:off x="10477813" y="1915731"/>
            <a:ext cx="134549" cy="195707"/>
          </a:xfrm>
          <a:prstGeom prst="rect">
            <a:avLst/>
          </a:prstGeom>
        </p:spPr>
      </p:pic>
      <p:sp>
        <p:nvSpPr>
          <p:cNvPr id="36" name="TextBox 35"/>
          <p:cNvSpPr txBox="1"/>
          <p:nvPr/>
        </p:nvSpPr>
        <p:spPr>
          <a:xfrm>
            <a:off x="10652922"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37" name="TextBox 36"/>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38" name="Picture 37" descr="lock.png"/>
          <p:cNvPicPr>
            <a:picLocks noChangeAspect="1"/>
          </p:cNvPicPr>
          <p:nvPr/>
        </p:nvPicPr>
        <p:blipFill>
          <a:blip r:embed="rId5"/>
          <a:stretch>
            <a:fillRect/>
          </a:stretch>
        </p:blipFill>
        <p:spPr>
          <a:xfrm>
            <a:off x="8712947" y="2090991"/>
            <a:ext cx="134549" cy="195707"/>
          </a:xfrm>
          <a:prstGeom prst="rect">
            <a:avLst/>
          </a:prstGeom>
        </p:spPr>
      </p:pic>
      <p:sp>
        <p:nvSpPr>
          <p:cNvPr id="39" name="TextBox 38"/>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TextBox 39"/>
          <p:cNvSpPr txBox="1"/>
          <p:nvPr/>
        </p:nvSpPr>
        <p:spPr>
          <a:xfrm>
            <a:off x="7829550" y="2329053"/>
            <a:ext cx="2383048" cy="194310"/>
          </a:xfrm>
          <a:prstGeom prst="rect">
            <a:avLst/>
          </a:prstGeom>
          <a:noFill/>
        </p:spPr>
        <p:txBody>
          <a:bodyPr wrap="none" lIns="0" rIns="0" tIns="0" bIns="0">
            <a:spAutoFit/>
          </a:bodyPr>
          <a:lstStyle/>
          <a:p>
            <a:r>
              <a:rPr sz="1150" b="0">
                <a:solidFill>
                  <a:srgbClr val="2E2E2E"/>
                </a:solidFill>
                <a:latin typeface="Calibri"/>
              </a:rPr>
              <a:t>The online segment is expected to lose</a:t>
            </a:r>
          </a:p>
        </p:txBody>
      </p:sp>
      <p:pic>
        <p:nvPicPr>
          <p:cNvPr id="41" name="Picture 40" descr="lock.png"/>
          <p:cNvPicPr>
            <a:picLocks noChangeAspect="1"/>
          </p:cNvPicPr>
          <p:nvPr/>
        </p:nvPicPr>
        <p:blipFill>
          <a:blip r:embed="rId5"/>
          <a:stretch>
            <a:fillRect/>
          </a:stretch>
        </p:blipFill>
        <p:spPr>
          <a:xfrm>
            <a:off x="10161752" y="2318829"/>
            <a:ext cx="134549" cy="195707"/>
          </a:xfrm>
          <a:prstGeom prst="rect">
            <a:avLst/>
          </a:prstGeom>
        </p:spPr>
      </p:pic>
      <p:sp>
        <p:nvSpPr>
          <p:cNvPr id="42" name="TextBox 41"/>
          <p:cNvSpPr txBox="1"/>
          <p:nvPr/>
        </p:nvSpPr>
        <p:spPr>
          <a:xfrm>
            <a:off x="10336861"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43" name="TextBox 42"/>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44" name="Picture 43" descr="lock.png"/>
          <p:cNvPicPr>
            <a:picLocks noChangeAspect="1"/>
          </p:cNvPicPr>
          <p:nvPr/>
        </p:nvPicPr>
        <p:blipFill>
          <a:blip r:embed="rId5"/>
          <a:stretch>
            <a:fillRect/>
          </a:stretch>
        </p:blipFill>
        <p:spPr>
          <a:xfrm>
            <a:off x="9114014" y="2494089"/>
            <a:ext cx="134549" cy="195707"/>
          </a:xfrm>
          <a:prstGeom prst="rect">
            <a:avLst/>
          </a:prstGeom>
        </p:spPr>
      </p:pic>
      <p:sp>
        <p:nvSpPr>
          <p:cNvPr id="45" name="TextBox 44"/>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SPF Rating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Ingredient Type ×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Form Type × End-use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Pack Size × Price Tier</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 × SPF Rating</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Type × SPF Rating,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type sub-segment across spf rating sub-segments</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Product Type × SPF Rating, 2026E and 2036F (US$ Mn)</a:t>
            </a:r>
          </a:p>
        </p:txBody>
      </p:sp>
      <p:graphicFrame>
        <p:nvGraphicFramePr>
          <p:cNvPr id="12" name="Table 11"/>
          <p:cNvGraphicFramePr>
            <a:graphicFrameLocks noGrp="1"/>
          </p:cNvGraphicFramePr>
          <p:nvPr/>
        </p:nvGraphicFramePr>
        <p:xfrm>
          <a:off x="152400" y="1238250"/>
          <a:ext cx="11887205" cy="1485896"/>
        </p:xfrm>
        <a:graphic>
          <a:graphicData uri="http://schemas.openxmlformats.org/drawingml/2006/table">
            <a:tbl>
              <a:tblPr>
                <a:tableStyleId>{5C22544A-7EE6-4342-B048-85BDC9FD1C3A}</a:tableStyleId>
              </a:tblPr>
              <a:tblGrid>
                <a:gridCol w="3439915"/>
                <a:gridCol w="844729"/>
                <a:gridCol w="844729"/>
                <a:gridCol w="844729"/>
                <a:gridCol w="844729"/>
                <a:gridCol w="844729"/>
                <a:gridCol w="844729"/>
                <a:gridCol w="844729"/>
                <a:gridCol w="844729"/>
                <a:gridCol w="844729"/>
                <a:gridCol w="844729"/>
              </a:tblGrid>
              <a:tr h="246126">
                <a:tc rowSpan="2">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Below SPF 30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SPF 30–49</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SPF 50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Above SPF 50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95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7286625"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1242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Product Type → SPF Rating, 2036F (US$ Mn)</a:t>
            </a:r>
          </a:p>
        </p:txBody>
      </p:sp>
      <p:sp>
        <p:nvSpPr>
          <p:cNvPr id="16" name="Freeform 15"/>
          <p:cNvSpPr/>
          <p:nvPr/>
        </p:nvSpPr>
        <p:spPr>
          <a:xfrm>
            <a:off x="2057400" y="3390900"/>
            <a:ext cx="3743325" cy="723900"/>
          </a:xfrm>
          <a:custGeom>
            <a:avLst/>
            <a:gdLst/>
            <a:ahLst/>
            <a:cxnLst/>
            <a:rect l="l" t="t" r="r" b="b"/>
            <a:pathLst>
              <a:path w="393" h="76">
                <a:moveTo>
                  <a:pt x="0" y="3"/>
                </a:moveTo>
                <a:lnTo>
                  <a:pt x="16" y="3"/>
                </a:lnTo>
                <a:lnTo>
                  <a:pt x="33" y="3"/>
                </a:lnTo>
                <a:lnTo>
                  <a:pt x="49" y="3"/>
                </a:lnTo>
                <a:lnTo>
                  <a:pt x="65" y="3"/>
                </a:lnTo>
                <a:lnTo>
                  <a:pt x="82" y="3"/>
                </a:lnTo>
                <a:lnTo>
                  <a:pt x="98" y="3"/>
                </a:lnTo>
                <a:lnTo>
                  <a:pt x="114" y="2"/>
                </a:lnTo>
                <a:lnTo>
                  <a:pt x="131" y="2"/>
                </a:lnTo>
                <a:lnTo>
                  <a:pt x="147" y="2"/>
                </a:lnTo>
                <a:lnTo>
                  <a:pt x="164" y="2"/>
                </a:lnTo>
                <a:lnTo>
                  <a:pt x="180" y="2"/>
                </a:lnTo>
                <a:lnTo>
                  <a:pt x="196" y="2"/>
                </a:lnTo>
                <a:lnTo>
                  <a:pt x="213" y="1"/>
                </a:lnTo>
                <a:lnTo>
                  <a:pt x="229" y="1"/>
                </a:lnTo>
                <a:lnTo>
                  <a:pt x="246" y="1"/>
                </a:lnTo>
                <a:lnTo>
                  <a:pt x="262" y="1"/>
                </a:lnTo>
                <a:lnTo>
                  <a:pt x="278" y="1"/>
                </a:lnTo>
                <a:lnTo>
                  <a:pt x="295" y="0"/>
                </a:lnTo>
                <a:lnTo>
                  <a:pt x="311" y="0"/>
                </a:lnTo>
                <a:lnTo>
                  <a:pt x="327" y="0"/>
                </a:lnTo>
                <a:lnTo>
                  <a:pt x="344" y="0"/>
                </a:lnTo>
                <a:lnTo>
                  <a:pt x="360" y="0"/>
                </a:lnTo>
                <a:lnTo>
                  <a:pt x="377" y="0"/>
                </a:lnTo>
                <a:lnTo>
                  <a:pt x="393" y="0"/>
                </a:lnTo>
                <a:lnTo>
                  <a:pt x="393" y="73"/>
                </a:lnTo>
                <a:lnTo>
                  <a:pt x="377" y="73"/>
                </a:lnTo>
                <a:lnTo>
                  <a:pt x="360" y="73"/>
                </a:lnTo>
                <a:lnTo>
                  <a:pt x="344" y="73"/>
                </a:lnTo>
                <a:lnTo>
                  <a:pt x="327" y="73"/>
                </a:lnTo>
                <a:lnTo>
                  <a:pt x="311" y="73"/>
                </a:lnTo>
                <a:lnTo>
                  <a:pt x="295" y="74"/>
                </a:lnTo>
                <a:lnTo>
                  <a:pt x="278" y="74"/>
                </a:lnTo>
                <a:lnTo>
                  <a:pt x="262" y="74"/>
                </a:lnTo>
                <a:lnTo>
                  <a:pt x="246" y="74"/>
                </a:lnTo>
                <a:lnTo>
                  <a:pt x="229" y="74"/>
                </a:lnTo>
                <a:lnTo>
                  <a:pt x="213" y="74"/>
                </a:lnTo>
                <a:lnTo>
                  <a:pt x="196" y="75"/>
                </a:lnTo>
                <a:lnTo>
                  <a:pt x="180" y="75"/>
                </a:lnTo>
                <a:lnTo>
                  <a:pt x="164" y="75"/>
                </a:lnTo>
                <a:lnTo>
                  <a:pt x="147" y="75"/>
                </a:lnTo>
                <a:lnTo>
                  <a:pt x="131" y="75"/>
                </a:lnTo>
                <a:lnTo>
                  <a:pt x="114" y="75"/>
                </a:lnTo>
                <a:lnTo>
                  <a:pt x="98" y="76"/>
                </a:lnTo>
                <a:lnTo>
                  <a:pt x="82" y="76"/>
                </a:lnTo>
                <a:lnTo>
                  <a:pt x="65" y="76"/>
                </a:lnTo>
                <a:lnTo>
                  <a:pt x="49" y="76"/>
                </a:lnTo>
                <a:lnTo>
                  <a:pt x="33" y="76"/>
                </a:lnTo>
                <a:lnTo>
                  <a:pt x="16" y="76"/>
                </a:lnTo>
                <a:lnTo>
                  <a:pt x="0" y="7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114800"/>
            <a:ext cx="3743325" cy="990600"/>
          </a:xfrm>
          <a:custGeom>
            <a:avLst/>
            <a:gdLst/>
            <a:ahLst/>
            <a:cxnLst/>
            <a:rect l="l" t="t" r="r" b="b"/>
            <a:pathLst>
              <a:path w="393" h="104">
                <a:moveTo>
                  <a:pt x="0" y="0"/>
                </a:moveTo>
                <a:lnTo>
                  <a:pt x="16" y="0"/>
                </a:lnTo>
                <a:lnTo>
                  <a:pt x="33" y="1"/>
                </a:lnTo>
                <a:lnTo>
                  <a:pt x="49" y="2"/>
                </a:lnTo>
                <a:lnTo>
                  <a:pt x="65" y="3"/>
                </a:lnTo>
                <a:lnTo>
                  <a:pt x="82" y="5"/>
                </a:lnTo>
                <a:lnTo>
                  <a:pt x="98" y="7"/>
                </a:lnTo>
                <a:lnTo>
                  <a:pt x="114" y="9"/>
                </a:lnTo>
                <a:lnTo>
                  <a:pt x="131" y="12"/>
                </a:lnTo>
                <a:lnTo>
                  <a:pt x="147" y="14"/>
                </a:lnTo>
                <a:lnTo>
                  <a:pt x="164" y="17"/>
                </a:lnTo>
                <a:lnTo>
                  <a:pt x="180" y="20"/>
                </a:lnTo>
                <a:lnTo>
                  <a:pt x="196" y="23"/>
                </a:lnTo>
                <a:lnTo>
                  <a:pt x="213" y="26"/>
                </a:lnTo>
                <a:lnTo>
                  <a:pt x="229" y="28"/>
                </a:lnTo>
                <a:lnTo>
                  <a:pt x="246" y="31"/>
                </a:lnTo>
                <a:lnTo>
                  <a:pt x="262" y="34"/>
                </a:lnTo>
                <a:lnTo>
                  <a:pt x="278" y="36"/>
                </a:lnTo>
                <a:lnTo>
                  <a:pt x="295" y="38"/>
                </a:lnTo>
                <a:lnTo>
                  <a:pt x="311" y="40"/>
                </a:lnTo>
                <a:lnTo>
                  <a:pt x="327" y="42"/>
                </a:lnTo>
                <a:lnTo>
                  <a:pt x="344" y="43"/>
                </a:lnTo>
                <a:lnTo>
                  <a:pt x="360" y="44"/>
                </a:lnTo>
                <a:lnTo>
                  <a:pt x="377" y="45"/>
                </a:lnTo>
                <a:lnTo>
                  <a:pt x="393" y="45"/>
                </a:lnTo>
                <a:lnTo>
                  <a:pt x="393" y="104"/>
                </a:lnTo>
                <a:lnTo>
                  <a:pt x="377" y="104"/>
                </a:lnTo>
                <a:lnTo>
                  <a:pt x="360" y="103"/>
                </a:lnTo>
                <a:lnTo>
                  <a:pt x="344" y="102"/>
                </a:lnTo>
                <a:lnTo>
                  <a:pt x="327" y="101"/>
                </a:lnTo>
                <a:lnTo>
                  <a:pt x="311" y="99"/>
                </a:lnTo>
                <a:lnTo>
                  <a:pt x="295" y="97"/>
                </a:lnTo>
                <a:lnTo>
                  <a:pt x="278" y="95"/>
                </a:lnTo>
                <a:lnTo>
                  <a:pt x="262" y="92"/>
                </a:lnTo>
                <a:lnTo>
                  <a:pt x="246" y="90"/>
                </a:lnTo>
                <a:lnTo>
                  <a:pt x="229" y="87"/>
                </a:lnTo>
                <a:lnTo>
                  <a:pt x="213" y="84"/>
                </a:lnTo>
                <a:lnTo>
                  <a:pt x="196" y="81"/>
                </a:lnTo>
                <a:lnTo>
                  <a:pt x="180" y="79"/>
                </a:lnTo>
                <a:lnTo>
                  <a:pt x="164" y="76"/>
                </a:lnTo>
                <a:lnTo>
                  <a:pt x="147" y="73"/>
                </a:lnTo>
                <a:lnTo>
                  <a:pt x="131" y="71"/>
                </a:lnTo>
                <a:lnTo>
                  <a:pt x="114" y="68"/>
                </a:lnTo>
                <a:lnTo>
                  <a:pt x="98" y="66"/>
                </a:lnTo>
                <a:lnTo>
                  <a:pt x="82" y="64"/>
                </a:lnTo>
                <a:lnTo>
                  <a:pt x="65" y="62"/>
                </a:lnTo>
                <a:lnTo>
                  <a:pt x="49" y="61"/>
                </a:lnTo>
                <a:lnTo>
                  <a:pt x="33" y="60"/>
                </a:lnTo>
                <a:lnTo>
                  <a:pt x="16" y="59"/>
                </a:lnTo>
                <a:lnTo>
                  <a:pt x="0" y="5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76775"/>
            <a:ext cx="3743325" cy="1200150"/>
          </a:xfrm>
          <a:custGeom>
            <a:avLst/>
            <a:gdLst/>
            <a:ahLst/>
            <a:cxnLst/>
            <a:rect l="l" t="t" r="r" b="b"/>
            <a:pathLst>
              <a:path w="393" h="126">
                <a:moveTo>
                  <a:pt x="0" y="0"/>
                </a:moveTo>
                <a:lnTo>
                  <a:pt x="16" y="0"/>
                </a:lnTo>
                <a:lnTo>
                  <a:pt x="33" y="2"/>
                </a:lnTo>
                <a:lnTo>
                  <a:pt x="49" y="4"/>
                </a:lnTo>
                <a:lnTo>
                  <a:pt x="65" y="7"/>
                </a:lnTo>
                <a:lnTo>
                  <a:pt x="82" y="11"/>
                </a:lnTo>
                <a:lnTo>
                  <a:pt x="98" y="15"/>
                </a:lnTo>
                <a:lnTo>
                  <a:pt x="114" y="20"/>
                </a:lnTo>
                <a:lnTo>
                  <a:pt x="131" y="25"/>
                </a:lnTo>
                <a:lnTo>
                  <a:pt x="147" y="31"/>
                </a:lnTo>
                <a:lnTo>
                  <a:pt x="164" y="36"/>
                </a:lnTo>
                <a:lnTo>
                  <a:pt x="180" y="42"/>
                </a:lnTo>
                <a:lnTo>
                  <a:pt x="196" y="48"/>
                </a:lnTo>
                <a:lnTo>
                  <a:pt x="213" y="54"/>
                </a:lnTo>
                <a:lnTo>
                  <a:pt x="229" y="60"/>
                </a:lnTo>
                <a:lnTo>
                  <a:pt x="246" y="66"/>
                </a:lnTo>
                <a:lnTo>
                  <a:pt x="262" y="72"/>
                </a:lnTo>
                <a:lnTo>
                  <a:pt x="278" y="77"/>
                </a:lnTo>
                <a:lnTo>
                  <a:pt x="295" y="82"/>
                </a:lnTo>
                <a:lnTo>
                  <a:pt x="311" y="86"/>
                </a:lnTo>
                <a:lnTo>
                  <a:pt x="327" y="90"/>
                </a:lnTo>
                <a:lnTo>
                  <a:pt x="344" y="93"/>
                </a:lnTo>
                <a:lnTo>
                  <a:pt x="360" y="95"/>
                </a:lnTo>
                <a:lnTo>
                  <a:pt x="377" y="97"/>
                </a:lnTo>
                <a:lnTo>
                  <a:pt x="393" y="97"/>
                </a:lnTo>
                <a:lnTo>
                  <a:pt x="393" y="126"/>
                </a:lnTo>
                <a:lnTo>
                  <a:pt x="377" y="126"/>
                </a:lnTo>
                <a:lnTo>
                  <a:pt x="360" y="124"/>
                </a:lnTo>
                <a:lnTo>
                  <a:pt x="344" y="122"/>
                </a:lnTo>
                <a:lnTo>
                  <a:pt x="327" y="119"/>
                </a:lnTo>
                <a:lnTo>
                  <a:pt x="311" y="115"/>
                </a:lnTo>
                <a:lnTo>
                  <a:pt x="295" y="111"/>
                </a:lnTo>
                <a:lnTo>
                  <a:pt x="278" y="106"/>
                </a:lnTo>
                <a:lnTo>
                  <a:pt x="262" y="101"/>
                </a:lnTo>
                <a:lnTo>
                  <a:pt x="246" y="95"/>
                </a:lnTo>
                <a:lnTo>
                  <a:pt x="229" y="89"/>
                </a:lnTo>
                <a:lnTo>
                  <a:pt x="213" y="83"/>
                </a:lnTo>
                <a:lnTo>
                  <a:pt x="196" y="77"/>
                </a:lnTo>
                <a:lnTo>
                  <a:pt x="180" y="71"/>
                </a:lnTo>
                <a:lnTo>
                  <a:pt x="164" y="65"/>
                </a:lnTo>
                <a:lnTo>
                  <a:pt x="147" y="60"/>
                </a:lnTo>
                <a:lnTo>
                  <a:pt x="131" y="54"/>
                </a:lnTo>
                <a:lnTo>
                  <a:pt x="114" y="49"/>
                </a:lnTo>
                <a:lnTo>
                  <a:pt x="98" y="44"/>
                </a:lnTo>
                <a:lnTo>
                  <a:pt x="82" y="40"/>
                </a:lnTo>
                <a:lnTo>
                  <a:pt x="65" y="36"/>
                </a:lnTo>
                <a:lnTo>
                  <a:pt x="49" y="33"/>
                </a:lnTo>
                <a:lnTo>
                  <a:pt x="33" y="31"/>
                </a:lnTo>
                <a:lnTo>
                  <a:pt x="16" y="29"/>
                </a:lnTo>
                <a:lnTo>
                  <a:pt x="0" y="2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953000"/>
            <a:ext cx="3743325" cy="1409700"/>
          </a:xfrm>
          <a:custGeom>
            <a:avLst/>
            <a:gdLst/>
            <a:ahLst/>
            <a:cxnLst/>
            <a:rect l="l" t="t" r="r" b="b"/>
            <a:pathLst>
              <a:path w="393" h="148">
                <a:moveTo>
                  <a:pt x="0" y="0"/>
                </a:moveTo>
                <a:lnTo>
                  <a:pt x="16" y="0"/>
                </a:lnTo>
                <a:lnTo>
                  <a:pt x="33" y="2"/>
                </a:lnTo>
                <a:lnTo>
                  <a:pt x="49" y="5"/>
                </a:lnTo>
                <a:lnTo>
                  <a:pt x="65" y="9"/>
                </a:lnTo>
                <a:lnTo>
                  <a:pt x="82" y="14"/>
                </a:lnTo>
                <a:lnTo>
                  <a:pt x="98" y="19"/>
                </a:lnTo>
                <a:lnTo>
                  <a:pt x="114" y="26"/>
                </a:lnTo>
                <a:lnTo>
                  <a:pt x="131" y="32"/>
                </a:lnTo>
                <a:lnTo>
                  <a:pt x="147" y="40"/>
                </a:lnTo>
                <a:lnTo>
                  <a:pt x="164" y="47"/>
                </a:lnTo>
                <a:lnTo>
                  <a:pt x="180" y="55"/>
                </a:lnTo>
                <a:lnTo>
                  <a:pt x="196" y="63"/>
                </a:lnTo>
                <a:lnTo>
                  <a:pt x="213" y="70"/>
                </a:lnTo>
                <a:lnTo>
                  <a:pt x="229" y="78"/>
                </a:lnTo>
                <a:lnTo>
                  <a:pt x="246" y="86"/>
                </a:lnTo>
                <a:lnTo>
                  <a:pt x="262" y="93"/>
                </a:lnTo>
                <a:lnTo>
                  <a:pt x="278" y="100"/>
                </a:lnTo>
                <a:lnTo>
                  <a:pt x="295" y="106"/>
                </a:lnTo>
                <a:lnTo>
                  <a:pt x="311" y="111"/>
                </a:lnTo>
                <a:lnTo>
                  <a:pt x="327" y="116"/>
                </a:lnTo>
                <a:lnTo>
                  <a:pt x="344" y="120"/>
                </a:lnTo>
                <a:lnTo>
                  <a:pt x="360" y="123"/>
                </a:lnTo>
                <a:lnTo>
                  <a:pt x="377" y="125"/>
                </a:lnTo>
                <a:lnTo>
                  <a:pt x="393" y="125"/>
                </a:lnTo>
                <a:lnTo>
                  <a:pt x="393" y="148"/>
                </a:lnTo>
                <a:lnTo>
                  <a:pt x="377" y="147"/>
                </a:lnTo>
                <a:lnTo>
                  <a:pt x="360" y="145"/>
                </a:lnTo>
                <a:lnTo>
                  <a:pt x="344" y="142"/>
                </a:lnTo>
                <a:lnTo>
                  <a:pt x="327" y="138"/>
                </a:lnTo>
                <a:lnTo>
                  <a:pt x="311" y="134"/>
                </a:lnTo>
                <a:lnTo>
                  <a:pt x="295" y="128"/>
                </a:lnTo>
                <a:lnTo>
                  <a:pt x="278" y="122"/>
                </a:lnTo>
                <a:lnTo>
                  <a:pt x="262" y="115"/>
                </a:lnTo>
                <a:lnTo>
                  <a:pt x="246" y="108"/>
                </a:lnTo>
                <a:lnTo>
                  <a:pt x="229" y="100"/>
                </a:lnTo>
                <a:lnTo>
                  <a:pt x="213" y="93"/>
                </a:lnTo>
                <a:lnTo>
                  <a:pt x="196" y="85"/>
                </a:lnTo>
                <a:lnTo>
                  <a:pt x="180" y="77"/>
                </a:lnTo>
                <a:lnTo>
                  <a:pt x="164" y="69"/>
                </a:lnTo>
                <a:lnTo>
                  <a:pt x="147" y="62"/>
                </a:lnTo>
                <a:lnTo>
                  <a:pt x="131" y="55"/>
                </a:lnTo>
                <a:lnTo>
                  <a:pt x="114" y="48"/>
                </a:lnTo>
                <a:lnTo>
                  <a:pt x="98" y="42"/>
                </a:lnTo>
                <a:lnTo>
                  <a:pt x="82" y="36"/>
                </a:lnTo>
                <a:lnTo>
                  <a:pt x="65" y="31"/>
                </a:lnTo>
                <a:lnTo>
                  <a:pt x="49" y="27"/>
                </a:lnTo>
                <a:lnTo>
                  <a:pt x="33" y="25"/>
                </a:lnTo>
                <a:lnTo>
                  <a:pt x="16" y="23"/>
                </a:lnTo>
                <a:lnTo>
                  <a:pt x="0" y="2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086225"/>
            <a:ext cx="3743325" cy="1400175"/>
          </a:xfrm>
          <a:custGeom>
            <a:avLst/>
            <a:gdLst/>
            <a:ahLst/>
            <a:cxnLst/>
            <a:rect l="l" t="t" r="r" b="b"/>
            <a:pathLst>
              <a:path w="393" h="147">
                <a:moveTo>
                  <a:pt x="0" y="119"/>
                </a:moveTo>
                <a:lnTo>
                  <a:pt x="16" y="118"/>
                </a:lnTo>
                <a:lnTo>
                  <a:pt x="33" y="117"/>
                </a:lnTo>
                <a:lnTo>
                  <a:pt x="49" y="114"/>
                </a:lnTo>
                <a:lnTo>
                  <a:pt x="65" y="110"/>
                </a:lnTo>
                <a:lnTo>
                  <a:pt x="82" y="106"/>
                </a:lnTo>
                <a:lnTo>
                  <a:pt x="98" y="100"/>
                </a:lnTo>
                <a:lnTo>
                  <a:pt x="114" y="95"/>
                </a:lnTo>
                <a:lnTo>
                  <a:pt x="131" y="88"/>
                </a:lnTo>
                <a:lnTo>
                  <a:pt x="147" y="81"/>
                </a:lnTo>
                <a:lnTo>
                  <a:pt x="164" y="74"/>
                </a:lnTo>
                <a:lnTo>
                  <a:pt x="180" y="67"/>
                </a:lnTo>
                <a:lnTo>
                  <a:pt x="196" y="60"/>
                </a:lnTo>
                <a:lnTo>
                  <a:pt x="213" y="52"/>
                </a:lnTo>
                <a:lnTo>
                  <a:pt x="229" y="45"/>
                </a:lnTo>
                <a:lnTo>
                  <a:pt x="246" y="38"/>
                </a:lnTo>
                <a:lnTo>
                  <a:pt x="262" y="31"/>
                </a:lnTo>
                <a:lnTo>
                  <a:pt x="278" y="25"/>
                </a:lnTo>
                <a:lnTo>
                  <a:pt x="295" y="19"/>
                </a:lnTo>
                <a:lnTo>
                  <a:pt x="311" y="13"/>
                </a:lnTo>
                <a:lnTo>
                  <a:pt x="327" y="9"/>
                </a:lnTo>
                <a:lnTo>
                  <a:pt x="344" y="5"/>
                </a:lnTo>
                <a:lnTo>
                  <a:pt x="360" y="2"/>
                </a:lnTo>
                <a:lnTo>
                  <a:pt x="377" y="1"/>
                </a:lnTo>
                <a:lnTo>
                  <a:pt x="393" y="0"/>
                </a:lnTo>
                <a:lnTo>
                  <a:pt x="393" y="28"/>
                </a:lnTo>
                <a:lnTo>
                  <a:pt x="377" y="29"/>
                </a:lnTo>
                <a:lnTo>
                  <a:pt x="360" y="30"/>
                </a:lnTo>
                <a:lnTo>
                  <a:pt x="344" y="33"/>
                </a:lnTo>
                <a:lnTo>
                  <a:pt x="327" y="37"/>
                </a:lnTo>
                <a:lnTo>
                  <a:pt x="311" y="41"/>
                </a:lnTo>
                <a:lnTo>
                  <a:pt x="295" y="47"/>
                </a:lnTo>
                <a:lnTo>
                  <a:pt x="278" y="53"/>
                </a:lnTo>
                <a:lnTo>
                  <a:pt x="262" y="59"/>
                </a:lnTo>
                <a:lnTo>
                  <a:pt x="246" y="66"/>
                </a:lnTo>
                <a:lnTo>
                  <a:pt x="229" y="73"/>
                </a:lnTo>
                <a:lnTo>
                  <a:pt x="213" y="80"/>
                </a:lnTo>
                <a:lnTo>
                  <a:pt x="196" y="88"/>
                </a:lnTo>
                <a:lnTo>
                  <a:pt x="180" y="95"/>
                </a:lnTo>
                <a:lnTo>
                  <a:pt x="164" y="102"/>
                </a:lnTo>
                <a:lnTo>
                  <a:pt x="147" y="109"/>
                </a:lnTo>
                <a:lnTo>
                  <a:pt x="131" y="116"/>
                </a:lnTo>
                <a:lnTo>
                  <a:pt x="114" y="123"/>
                </a:lnTo>
                <a:lnTo>
                  <a:pt x="98" y="128"/>
                </a:lnTo>
                <a:lnTo>
                  <a:pt x="82" y="134"/>
                </a:lnTo>
                <a:lnTo>
                  <a:pt x="65" y="138"/>
                </a:lnTo>
                <a:lnTo>
                  <a:pt x="49" y="142"/>
                </a:lnTo>
                <a:lnTo>
                  <a:pt x="33" y="145"/>
                </a:lnTo>
                <a:lnTo>
                  <a:pt x="16" y="146"/>
                </a:lnTo>
                <a:lnTo>
                  <a:pt x="0" y="14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105400"/>
            <a:ext cx="3743325" cy="704850"/>
          </a:xfrm>
          <a:custGeom>
            <a:avLst/>
            <a:gdLst/>
            <a:ahLst/>
            <a:cxnLst/>
            <a:rect l="l" t="t" r="r" b="b"/>
            <a:pathLst>
              <a:path w="393" h="74">
                <a:moveTo>
                  <a:pt x="0" y="40"/>
                </a:moveTo>
                <a:lnTo>
                  <a:pt x="16" y="40"/>
                </a:lnTo>
                <a:lnTo>
                  <a:pt x="33" y="39"/>
                </a:lnTo>
                <a:lnTo>
                  <a:pt x="49" y="38"/>
                </a:lnTo>
                <a:lnTo>
                  <a:pt x="65" y="37"/>
                </a:lnTo>
                <a:lnTo>
                  <a:pt x="82" y="36"/>
                </a:lnTo>
                <a:lnTo>
                  <a:pt x="98" y="34"/>
                </a:lnTo>
                <a:lnTo>
                  <a:pt x="114" y="32"/>
                </a:lnTo>
                <a:lnTo>
                  <a:pt x="131" y="30"/>
                </a:lnTo>
                <a:lnTo>
                  <a:pt x="147" y="27"/>
                </a:lnTo>
                <a:lnTo>
                  <a:pt x="164" y="25"/>
                </a:lnTo>
                <a:lnTo>
                  <a:pt x="180" y="23"/>
                </a:lnTo>
                <a:lnTo>
                  <a:pt x="196" y="20"/>
                </a:lnTo>
                <a:lnTo>
                  <a:pt x="213" y="18"/>
                </a:lnTo>
                <a:lnTo>
                  <a:pt x="229" y="15"/>
                </a:lnTo>
                <a:lnTo>
                  <a:pt x="246" y="13"/>
                </a:lnTo>
                <a:lnTo>
                  <a:pt x="262" y="10"/>
                </a:lnTo>
                <a:lnTo>
                  <a:pt x="278" y="8"/>
                </a:lnTo>
                <a:lnTo>
                  <a:pt x="295" y="6"/>
                </a:lnTo>
                <a:lnTo>
                  <a:pt x="311" y="5"/>
                </a:lnTo>
                <a:lnTo>
                  <a:pt x="327" y="3"/>
                </a:lnTo>
                <a:lnTo>
                  <a:pt x="344" y="2"/>
                </a:lnTo>
                <a:lnTo>
                  <a:pt x="360" y="1"/>
                </a:lnTo>
                <a:lnTo>
                  <a:pt x="377" y="0"/>
                </a:lnTo>
                <a:lnTo>
                  <a:pt x="393" y="0"/>
                </a:lnTo>
                <a:lnTo>
                  <a:pt x="393" y="34"/>
                </a:lnTo>
                <a:lnTo>
                  <a:pt x="377" y="34"/>
                </a:lnTo>
                <a:lnTo>
                  <a:pt x="360" y="34"/>
                </a:lnTo>
                <a:lnTo>
                  <a:pt x="344" y="35"/>
                </a:lnTo>
                <a:lnTo>
                  <a:pt x="327" y="36"/>
                </a:lnTo>
                <a:lnTo>
                  <a:pt x="311" y="38"/>
                </a:lnTo>
                <a:lnTo>
                  <a:pt x="295" y="40"/>
                </a:lnTo>
                <a:lnTo>
                  <a:pt x="278" y="42"/>
                </a:lnTo>
                <a:lnTo>
                  <a:pt x="262" y="44"/>
                </a:lnTo>
                <a:lnTo>
                  <a:pt x="246" y="46"/>
                </a:lnTo>
                <a:lnTo>
                  <a:pt x="229" y="49"/>
                </a:lnTo>
                <a:lnTo>
                  <a:pt x="213" y="51"/>
                </a:lnTo>
                <a:lnTo>
                  <a:pt x="196" y="54"/>
                </a:lnTo>
                <a:lnTo>
                  <a:pt x="180" y="56"/>
                </a:lnTo>
                <a:lnTo>
                  <a:pt x="164" y="58"/>
                </a:lnTo>
                <a:lnTo>
                  <a:pt x="147" y="61"/>
                </a:lnTo>
                <a:lnTo>
                  <a:pt x="131" y="63"/>
                </a:lnTo>
                <a:lnTo>
                  <a:pt x="114" y="65"/>
                </a:lnTo>
                <a:lnTo>
                  <a:pt x="98" y="67"/>
                </a:lnTo>
                <a:lnTo>
                  <a:pt x="82" y="69"/>
                </a:lnTo>
                <a:lnTo>
                  <a:pt x="65" y="71"/>
                </a:lnTo>
                <a:lnTo>
                  <a:pt x="49" y="72"/>
                </a:lnTo>
                <a:lnTo>
                  <a:pt x="33" y="73"/>
                </a:lnTo>
                <a:lnTo>
                  <a:pt x="16" y="73"/>
                </a:lnTo>
                <a:lnTo>
                  <a:pt x="0" y="7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810250"/>
            <a:ext cx="3743325" cy="228600"/>
          </a:xfrm>
          <a:custGeom>
            <a:avLst/>
            <a:gdLst/>
            <a:ahLst/>
            <a:cxnLst/>
            <a:rect l="l" t="t" r="r" b="b"/>
            <a:pathLst>
              <a:path w="393" h="24">
                <a:moveTo>
                  <a:pt x="0" y="0"/>
                </a:moveTo>
                <a:lnTo>
                  <a:pt x="16" y="0"/>
                </a:lnTo>
                <a:lnTo>
                  <a:pt x="33" y="0"/>
                </a:lnTo>
                <a:lnTo>
                  <a:pt x="49" y="0"/>
                </a:lnTo>
                <a:lnTo>
                  <a:pt x="65" y="0"/>
                </a:lnTo>
                <a:lnTo>
                  <a:pt x="82" y="0"/>
                </a:lnTo>
                <a:lnTo>
                  <a:pt x="98" y="1"/>
                </a:lnTo>
                <a:lnTo>
                  <a:pt x="114" y="1"/>
                </a:lnTo>
                <a:lnTo>
                  <a:pt x="131" y="1"/>
                </a:lnTo>
                <a:lnTo>
                  <a:pt x="147" y="2"/>
                </a:lnTo>
                <a:lnTo>
                  <a:pt x="164" y="2"/>
                </a:lnTo>
                <a:lnTo>
                  <a:pt x="180" y="3"/>
                </a:lnTo>
                <a:lnTo>
                  <a:pt x="196" y="3"/>
                </a:lnTo>
                <a:lnTo>
                  <a:pt x="213" y="4"/>
                </a:lnTo>
                <a:lnTo>
                  <a:pt x="229" y="4"/>
                </a:lnTo>
                <a:lnTo>
                  <a:pt x="246" y="5"/>
                </a:lnTo>
                <a:lnTo>
                  <a:pt x="262" y="5"/>
                </a:lnTo>
                <a:lnTo>
                  <a:pt x="278" y="5"/>
                </a:lnTo>
                <a:lnTo>
                  <a:pt x="295" y="6"/>
                </a:lnTo>
                <a:lnTo>
                  <a:pt x="311" y="6"/>
                </a:lnTo>
                <a:lnTo>
                  <a:pt x="327" y="6"/>
                </a:lnTo>
                <a:lnTo>
                  <a:pt x="344" y="7"/>
                </a:lnTo>
                <a:lnTo>
                  <a:pt x="360" y="7"/>
                </a:lnTo>
                <a:lnTo>
                  <a:pt x="377" y="7"/>
                </a:lnTo>
                <a:lnTo>
                  <a:pt x="393" y="7"/>
                </a:lnTo>
                <a:lnTo>
                  <a:pt x="393" y="24"/>
                </a:lnTo>
                <a:lnTo>
                  <a:pt x="377" y="24"/>
                </a:lnTo>
                <a:lnTo>
                  <a:pt x="360" y="24"/>
                </a:lnTo>
                <a:lnTo>
                  <a:pt x="344" y="24"/>
                </a:lnTo>
                <a:lnTo>
                  <a:pt x="327" y="23"/>
                </a:lnTo>
                <a:lnTo>
                  <a:pt x="311" y="23"/>
                </a:lnTo>
                <a:lnTo>
                  <a:pt x="295" y="23"/>
                </a:lnTo>
                <a:lnTo>
                  <a:pt x="278" y="22"/>
                </a:lnTo>
                <a:lnTo>
                  <a:pt x="262" y="22"/>
                </a:lnTo>
                <a:lnTo>
                  <a:pt x="246" y="22"/>
                </a:lnTo>
                <a:lnTo>
                  <a:pt x="229" y="21"/>
                </a:lnTo>
                <a:lnTo>
                  <a:pt x="213" y="21"/>
                </a:lnTo>
                <a:lnTo>
                  <a:pt x="196" y="20"/>
                </a:lnTo>
                <a:lnTo>
                  <a:pt x="180" y="20"/>
                </a:lnTo>
                <a:lnTo>
                  <a:pt x="164" y="19"/>
                </a:lnTo>
                <a:lnTo>
                  <a:pt x="147" y="19"/>
                </a:lnTo>
                <a:lnTo>
                  <a:pt x="131" y="18"/>
                </a:lnTo>
                <a:lnTo>
                  <a:pt x="114" y="18"/>
                </a:lnTo>
                <a:lnTo>
                  <a:pt x="98" y="18"/>
                </a:lnTo>
                <a:lnTo>
                  <a:pt x="82" y="17"/>
                </a:lnTo>
                <a:lnTo>
                  <a:pt x="65" y="17"/>
                </a:lnTo>
                <a:lnTo>
                  <a:pt x="49" y="17"/>
                </a:lnTo>
                <a:lnTo>
                  <a:pt x="33" y="17"/>
                </a:lnTo>
                <a:lnTo>
                  <a:pt x="16" y="17"/>
                </a:lnTo>
                <a:lnTo>
                  <a:pt x="0" y="1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962650"/>
            <a:ext cx="3743325" cy="523875"/>
          </a:xfrm>
          <a:custGeom>
            <a:avLst/>
            <a:gdLst/>
            <a:ahLst/>
            <a:cxnLst/>
            <a:rect l="l" t="t" r="r" b="b"/>
            <a:pathLst>
              <a:path w="393" h="55">
                <a:moveTo>
                  <a:pt x="0" y="0"/>
                </a:moveTo>
                <a:lnTo>
                  <a:pt x="16" y="1"/>
                </a:lnTo>
                <a:lnTo>
                  <a:pt x="33" y="1"/>
                </a:lnTo>
                <a:lnTo>
                  <a:pt x="49" y="2"/>
                </a:lnTo>
                <a:lnTo>
                  <a:pt x="65" y="4"/>
                </a:lnTo>
                <a:lnTo>
                  <a:pt x="82" y="5"/>
                </a:lnTo>
                <a:lnTo>
                  <a:pt x="98" y="7"/>
                </a:lnTo>
                <a:lnTo>
                  <a:pt x="114" y="9"/>
                </a:lnTo>
                <a:lnTo>
                  <a:pt x="131" y="11"/>
                </a:lnTo>
                <a:lnTo>
                  <a:pt x="147" y="14"/>
                </a:lnTo>
                <a:lnTo>
                  <a:pt x="164" y="16"/>
                </a:lnTo>
                <a:lnTo>
                  <a:pt x="180" y="19"/>
                </a:lnTo>
                <a:lnTo>
                  <a:pt x="196" y="21"/>
                </a:lnTo>
                <a:lnTo>
                  <a:pt x="213" y="24"/>
                </a:lnTo>
                <a:lnTo>
                  <a:pt x="229" y="26"/>
                </a:lnTo>
                <a:lnTo>
                  <a:pt x="246" y="29"/>
                </a:lnTo>
                <a:lnTo>
                  <a:pt x="262" y="31"/>
                </a:lnTo>
                <a:lnTo>
                  <a:pt x="278" y="33"/>
                </a:lnTo>
                <a:lnTo>
                  <a:pt x="295" y="35"/>
                </a:lnTo>
                <a:lnTo>
                  <a:pt x="311" y="37"/>
                </a:lnTo>
                <a:lnTo>
                  <a:pt x="327" y="39"/>
                </a:lnTo>
                <a:lnTo>
                  <a:pt x="344" y="40"/>
                </a:lnTo>
                <a:lnTo>
                  <a:pt x="360" y="41"/>
                </a:lnTo>
                <a:lnTo>
                  <a:pt x="377" y="41"/>
                </a:lnTo>
                <a:lnTo>
                  <a:pt x="393" y="42"/>
                </a:lnTo>
                <a:lnTo>
                  <a:pt x="393" y="55"/>
                </a:lnTo>
                <a:lnTo>
                  <a:pt x="377" y="55"/>
                </a:lnTo>
                <a:lnTo>
                  <a:pt x="360" y="55"/>
                </a:lnTo>
                <a:lnTo>
                  <a:pt x="344" y="54"/>
                </a:lnTo>
                <a:lnTo>
                  <a:pt x="327" y="52"/>
                </a:lnTo>
                <a:lnTo>
                  <a:pt x="311" y="51"/>
                </a:lnTo>
                <a:lnTo>
                  <a:pt x="295" y="49"/>
                </a:lnTo>
                <a:lnTo>
                  <a:pt x="278" y="47"/>
                </a:lnTo>
                <a:lnTo>
                  <a:pt x="262" y="45"/>
                </a:lnTo>
                <a:lnTo>
                  <a:pt x="246" y="42"/>
                </a:lnTo>
                <a:lnTo>
                  <a:pt x="229" y="40"/>
                </a:lnTo>
                <a:lnTo>
                  <a:pt x="213" y="37"/>
                </a:lnTo>
                <a:lnTo>
                  <a:pt x="196" y="35"/>
                </a:lnTo>
                <a:lnTo>
                  <a:pt x="180" y="32"/>
                </a:lnTo>
                <a:lnTo>
                  <a:pt x="164" y="30"/>
                </a:lnTo>
                <a:lnTo>
                  <a:pt x="147" y="27"/>
                </a:lnTo>
                <a:lnTo>
                  <a:pt x="131" y="25"/>
                </a:lnTo>
                <a:lnTo>
                  <a:pt x="114" y="23"/>
                </a:lnTo>
                <a:lnTo>
                  <a:pt x="98" y="21"/>
                </a:lnTo>
                <a:lnTo>
                  <a:pt x="82" y="19"/>
                </a:lnTo>
                <a:lnTo>
                  <a:pt x="65" y="17"/>
                </a:lnTo>
                <a:lnTo>
                  <a:pt x="49" y="16"/>
                </a:lnTo>
                <a:lnTo>
                  <a:pt x="33" y="15"/>
                </a:lnTo>
                <a:lnTo>
                  <a:pt x="16" y="14"/>
                </a:lnTo>
                <a:lnTo>
                  <a:pt x="0" y="1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352925"/>
            <a:ext cx="3743325" cy="1933575"/>
          </a:xfrm>
          <a:custGeom>
            <a:avLst/>
            <a:gdLst/>
            <a:ahLst/>
            <a:cxnLst/>
            <a:rect l="l" t="t" r="r" b="b"/>
            <a:pathLst>
              <a:path w="393" h="203">
                <a:moveTo>
                  <a:pt x="0" y="189"/>
                </a:moveTo>
                <a:lnTo>
                  <a:pt x="16" y="188"/>
                </a:lnTo>
                <a:lnTo>
                  <a:pt x="33" y="185"/>
                </a:lnTo>
                <a:lnTo>
                  <a:pt x="49" y="181"/>
                </a:lnTo>
                <a:lnTo>
                  <a:pt x="65" y="175"/>
                </a:lnTo>
                <a:lnTo>
                  <a:pt x="82" y="168"/>
                </a:lnTo>
                <a:lnTo>
                  <a:pt x="98" y="160"/>
                </a:lnTo>
                <a:lnTo>
                  <a:pt x="114" y="150"/>
                </a:lnTo>
                <a:lnTo>
                  <a:pt x="131" y="140"/>
                </a:lnTo>
                <a:lnTo>
                  <a:pt x="147" y="129"/>
                </a:lnTo>
                <a:lnTo>
                  <a:pt x="164" y="118"/>
                </a:lnTo>
                <a:lnTo>
                  <a:pt x="180" y="106"/>
                </a:lnTo>
                <a:lnTo>
                  <a:pt x="196" y="95"/>
                </a:lnTo>
                <a:lnTo>
                  <a:pt x="213" y="83"/>
                </a:lnTo>
                <a:lnTo>
                  <a:pt x="229" y="71"/>
                </a:lnTo>
                <a:lnTo>
                  <a:pt x="246" y="60"/>
                </a:lnTo>
                <a:lnTo>
                  <a:pt x="262" y="49"/>
                </a:lnTo>
                <a:lnTo>
                  <a:pt x="278" y="39"/>
                </a:lnTo>
                <a:lnTo>
                  <a:pt x="295" y="30"/>
                </a:lnTo>
                <a:lnTo>
                  <a:pt x="311" y="21"/>
                </a:lnTo>
                <a:lnTo>
                  <a:pt x="327" y="14"/>
                </a:lnTo>
                <a:lnTo>
                  <a:pt x="344" y="8"/>
                </a:lnTo>
                <a:lnTo>
                  <a:pt x="360" y="4"/>
                </a:lnTo>
                <a:lnTo>
                  <a:pt x="377" y="1"/>
                </a:lnTo>
                <a:lnTo>
                  <a:pt x="393" y="0"/>
                </a:lnTo>
                <a:lnTo>
                  <a:pt x="393" y="14"/>
                </a:lnTo>
                <a:lnTo>
                  <a:pt x="377" y="15"/>
                </a:lnTo>
                <a:lnTo>
                  <a:pt x="360" y="18"/>
                </a:lnTo>
                <a:lnTo>
                  <a:pt x="344" y="22"/>
                </a:lnTo>
                <a:lnTo>
                  <a:pt x="327" y="28"/>
                </a:lnTo>
                <a:lnTo>
                  <a:pt x="311" y="36"/>
                </a:lnTo>
                <a:lnTo>
                  <a:pt x="295" y="44"/>
                </a:lnTo>
                <a:lnTo>
                  <a:pt x="278" y="53"/>
                </a:lnTo>
                <a:lnTo>
                  <a:pt x="262" y="63"/>
                </a:lnTo>
                <a:lnTo>
                  <a:pt x="246" y="74"/>
                </a:lnTo>
                <a:lnTo>
                  <a:pt x="229" y="85"/>
                </a:lnTo>
                <a:lnTo>
                  <a:pt x="213" y="97"/>
                </a:lnTo>
                <a:lnTo>
                  <a:pt x="196" y="109"/>
                </a:lnTo>
                <a:lnTo>
                  <a:pt x="180" y="121"/>
                </a:lnTo>
                <a:lnTo>
                  <a:pt x="164" y="132"/>
                </a:lnTo>
                <a:lnTo>
                  <a:pt x="147" y="144"/>
                </a:lnTo>
                <a:lnTo>
                  <a:pt x="131" y="154"/>
                </a:lnTo>
                <a:lnTo>
                  <a:pt x="114" y="164"/>
                </a:lnTo>
                <a:lnTo>
                  <a:pt x="98" y="174"/>
                </a:lnTo>
                <a:lnTo>
                  <a:pt x="82" y="182"/>
                </a:lnTo>
                <a:lnTo>
                  <a:pt x="65" y="189"/>
                </a:lnTo>
                <a:lnTo>
                  <a:pt x="49" y="195"/>
                </a:lnTo>
                <a:lnTo>
                  <a:pt x="33" y="200"/>
                </a:lnTo>
                <a:lnTo>
                  <a:pt x="16" y="202"/>
                </a:lnTo>
                <a:lnTo>
                  <a:pt x="0" y="20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429250"/>
            <a:ext cx="3743325" cy="981075"/>
          </a:xfrm>
          <a:custGeom>
            <a:avLst/>
            <a:gdLst/>
            <a:ahLst/>
            <a:cxnLst/>
            <a:rect l="l" t="t" r="r" b="b"/>
            <a:pathLst>
              <a:path w="393" h="103">
                <a:moveTo>
                  <a:pt x="0" y="90"/>
                </a:moveTo>
                <a:lnTo>
                  <a:pt x="16" y="90"/>
                </a:lnTo>
                <a:lnTo>
                  <a:pt x="33" y="89"/>
                </a:lnTo>
                <a:lnTo>
                  <a:pt x="49" y="86"/>
                </a:lnTo>
                <a:lnTo>
                  <a:pt x="65" y="84"/>
                </a:lnTo>
                <a:lnTo>
                  <a:pt x="82" y="80"/>
                </a:lnTo>
                <a:lnTo>
                  <a:pt x="98" y="76"/>
                </a:lnTo>
                <a:lnTo>
                  <a:pt x="114" y="72"/>
                </a:lnTo>
                <a:lnTo>
                  <a:pt x="131" y="67"/>
                </a:lnTo>
                <a:lnTo>
                  <a:pt x="147" y="62"/>
                </a:lnTo>
                <a:lnTo>
                  <a:pt x="164" y="56"/>
                </a:lnTo>
                <a:lnTo>
                  <a:pt x="180" y="51"/>
                </a:lnTo>
                <a:lnTo>
                  <a:pt x="196" y="45"/>
                </a:lnTo>
                <a:lnTo>
                  <a:pt x="213" y="39"/>
                </a:lnTo>
                <a:lnTo>
                  <a:pt x="229" y="34"/>
                </a:lnTo>
                <a:lnTo>
                  <a:pt x="246" y="28"/>
                </a:lnTo>
                <a:lnTo>
                  <a:pt x="262" y="23"/>
                </a:lnTo>
                <a:lnTo>
                  <a:pt x="278" y="18"/>
                </a:lnTo>
                <a:lnTo>
                  <a:pt x="295" y="14"/>
                </a:lnTo>
                <a:lnTo>
                  <a:pt x="311" y="10"/>
                </a:lnTo>
                <a:lnTo>
                  <a:pt x="327" y="6"/>
                </a:lnTo>
                <a:lnTo>
                  <a:pt x="344" y="3"/>
                </a:lnTo>
                <a:lnTo>
                  <a:pt x="360" y="1"/>
                </a:lnTo>
                <a:lnTo>
                  <a:pt x="377" y="0"/>
                </a:lnTo>
                <a:lnTo>
                  <a:pt x="393" y="0"/>
                </a:lnTo>
                <a:lnTo>
                  <a:pt x="393" y="12"/>
                </a:lnTo>
                <a:lnTo>
                  <a:pt x="377" y="12"/>
                </a:lnTo>
                <a:lnTo>
                  <a:pt x="360" y="14"/>
                </a:lnTo>
                <a:lnTo>
                  <a:pt x="344" y="16"/>
                </a:lnTo>
                <a:lnTo>
                  <a:pt x="327" y="19"/>
                </a:lnTo>
                <a:lnTo>
                  <a:pt x="311" y="22"/>
                </a:lnTo>
                <a:lnTo>
                  <a:pt x="295" y="26"/>
                </a:lnTo>
                <a:lnTo>
                  <a:pt x="278" y="31"/>
                </a:lnTo>
                <a:lnTo>
                  <a:pt x="262" y="36"/>
                </a:lnTo>
                <a:lnTo>
                  <a:pt x="246" y="41"/>
                </a:lnTo>
                <a:lnTo>
                  <a:pt x="229" y="46"/>
                </a:lnTo>
                <a:lnTo>
                  <a:pt x="213" y="52"/>
                </a:lnTo>
                <a:lnTo>
                  <a:pt x="196" y="57"/>
                </a:lnTo>
                <a:lnTo>
                  <a:pt x="180" y="63"/>
                </a:lnTo>
                <a:lnTo>
                  <a:pt x="164" y="69"/>
                </a:lnTo>
                <a:lnTo>
                  <a:pt x="147" y="74"/>
                </a:lnTo>
                <a:lnTo>
                  <a:pt x="131" y="79"/>
                </a:lnTo>
                <a:lnTo>
                  <a:pt x="114" y="84"/>
                </a:lnTo>
                <a:lnTo>
                  <a:pt x="98" y="89"/>
                </a:lnTo>
                <a:lnTo>
                  <a:pt x="82" y="93"/>
                </a:lnTo>
                <a:lnTo>
                  <a:pt x="65" y="96"/>
                </a:lnTo>
                <a:lnTo>
                  <a:pt x="49" y="99"/>
                </a:lnTo>
                <a:lnTo>
                  <a:pt x="33" y="101"/>
                </a:lnTo>
                <a:lnTo>
                  <a:pt x="16" y="102"/>
                </a:lnTo>
                <a:lnTo>
                  <a:pt x="0" y="10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6038850"/>
            <a:ext cx="3743325" cy="419100"/>
          </a:xfrm>
          <a:custGeom>
            <a:avLst/>
            <a:gdLst/>
            <a:ahLst/>
            <a:cxnLst/>
            <a:rect l="l" t="t" r="r" b="b"/>
            <a:pathLst>
              <a:path w="393" h="44">
                <a:moveTo>
                  <a:pt x="0" y="39"/>
                </a:moveTo>
                <a:lnTo>
                  <a:pt x="16" y="39"/>
                </a:lnTo>
                <a:lnTo>
                  <a:pt x="33" y="38"/>
                </a:lnTo>
                <a:lnTo>
                  <a:pt x="49" y="37"/>
                </a:lnTo>
                <a:lnTo>
                  <a:pt x="65" y="36"/>
                </a:lnTo>
                <a:lnTo>
                  <a:pt x="82" y="34"/>
                </a:lnTo>
                <a:lnTo>
                  <a:pt x="98" y="33"/>
                </a:lnTo>
                <a:lnTo>
                  <a:pt x="114" y="31"/>
                </a:lnTo>
                <a:lnTo>
                  <a:pt x="131" y="29"/>
                </a:lnTo>
                <a:lnTo>
                  <a:pt x="147" y="27"/>
                </a:lnTo>
                <a:lnTo>
                  <a:pt x="164" y="24"/>
                </a:lnTo>
                <a:lnTo>
                  <a:pt x="180" y="22"/>
                </a:lnTo>
                <a:lnTo>
                  <a:pt x="196" y="19"/>
                </a:lnTo>
                <a:lnTo>
                  <a:pt x="213" y="17"/>
                </a:lnTo>
                <a:lnTo>
                  <a:pt x="229" y="15"/>
                </a:lnTo>
                <a:lnTo>
                  <a:pt x="246" y="12"/>
                </a:lnTo>
                <a:lnTo>
                  <a:pt x="262" y="10"/>
                </a:lnTo>
                <a:lnTo>
                  <a:pt x="278" y="8"/>
                </a:lnTo>
                <a:lnTo>
                  <a:pt x="295" y="6"/>
                </a:lnTo>
                <a:lnTo>
                  <a:pt x="311" y="4"/>
                </a:lnTo>
                <a:lnTo>
                  <a:pt x="327" y="3"/>
                </a:lnTo>
                <a:lnTo>
                  <a:pt x="344" y="2"/>
                </a:lnTo>
                <a:lnTo>
                  <a:pt x="360" y="1"/>
                </a:lnTo>
                <a:lnTo>
                  <a:pt x="377" y="0"/>
                </a:lnTo>
                <a:lnTo>
                  <a:pt x="393" y="0"/>
                </a:lnTo>
                <a:lnTo>
                  <a:pt x="393" y="5"/>
                </a:lnTo>
                <a:lnTo>
                  <a:pt x="377" y="6"/>
                </a:lnTo>
                <a:lnTo>
                  <a:pt x="360" y="6"/>
                </a:lnTo>
                <a:lnTo>
                  <a:pt x="344" y="7"/>
                </a:lnTo>
                <a:lnTo>
                  <a:pt x="327" y="8"/>
                </a:lnTo>
                <a:lnTo>
                  <a:pt x="311" y="10"/>
                </a:lnTo>
                <a:lnTo>
                  <a:pt x="295" y="11"/>
                </a:lnTo>
                <a:lnTo>
                  <a:pt x="278" y="13"/>
                </a:lnTo>
                <a:lnTo>
                  <a:pt x="262" y="15"/>
                </a:lnTo>
                <a:lnTo>
                  <a:pt x="246" y="18"/>
                </a:lnTo>
                <a:lnTo>
                  <a:pt x="229" y="20"/>
                </a:lnTo>
                <a:lnTo>
                  <a:pt x="213" y="22"/>
                </a:lnTo>
                <a:lnTo>
                  <a:pt x="196" y="25"/>
                </a:lnTo>
                <a:lnTo>
                  <a:pt x="180" y="27"/>
                </a:lnTo>
                <a:lnTo>
                  <a:pt x="164" y="30"/>
                </a:lnTo>
                <a:lnTo>
                  <a:pt x="147" y="32"/>
                </a:lnTo>
                <a:lnTo>
                  <a:pt x="131" y="34"/>
                </a:lnTo>
                <a:lnTo>
                  <a:pt x="114" y="36"/>
                </a:lnTo>
                <a:lnTo>
                  <a:pt x="98" y="38"/>
                </a:lnTo>
                <a:lnTo>
                  <a:pt x="82" y="40"/>
                </a:lnTo>
                <a:lnTo>
                  <a:pt x="65" y="41"/>
                </a:lnTo>
                <a:lnTo>
                  <a:pt x="49" y="43"/>
                </a:lnTo>
                <a:lnTo>
                  <a:pt x="33" y="44"/>
                </a:lnTo>
                <a:lnTo>
                  <a:pt x="16" y="44"/>
                </a:lnTo>
                <a:lnTo>
                  <a:pt x="0" y="4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6457950"/>
            <a:ext cx="3743325" cy="76200"/>
          </a:xfrm>
          <a:custGeom>
            <a:avLst/>
            <a:gdLst/>
            <a:ahLst/>
            <a:cxnLst/>
            <a:rect l="l" t="t" r="r" b="b"/>
            <a:pathLst>
              <a:path w="393" h="8">
                <a:moveTo>
                  <a:pt x="0" y="0"/>
                </a:moveTo>
                <a:lnTo>
                  <a:pt x="16" y="0"/>
                </a:lnTo>
                <a:lnTo>
                  <a:pt x="33" y="0"/>
                </a:lnTo>
                <a:lnTo>
                  <a:pt x="49" y="0"/>
                </a:lnTo>
                <a:lnTo>
                  <a:pt x="65" y="1"/>
                </a:lnTo>
                <a:lnTo>
                  <a:pt x="82" y="1"/>
                </a:lnTo>
                <a:lnTo>
                  <a:pt x="98" y="1"/>
                </a:lnTo>
                <a:lnTo>
                  <a:pt x="114" y="1"/>
                </a:lnTo>
                <a:lnTo>
                  <a:pt x="131" y="1"/>
                </a:lnTo>
                <a:lnTo>
                  <a:pt x="147" y="1"/>
                </a:lnTo>
                <a:lnTo>
                  <a:pt x="164" y="1"/>
                </a:lnTo>
                <a:lnTo>
                  <a:pt x="180" y="2"/>
                </a:lnTo>
                <a:lnTo>
                  <a:pt x="196" y="2"/>
                </a:lnTo>
                <a:lnTo>
                  <a:pt x="213" y="2"/>
                </a:lnTo>
                <a:lnTo>
                  <a:pt x="229" y="2"/>
                </a:lnTo>
                <a:lnTo>
                  <a:pt x="246" y="2"/>
                </a:lnTo>
                <a:lnTo>
                  <a:pt x="262" y="3"/>
                </a:lnTo>
                <a:lnTo>
                  <a:pt x="278" y="3"/>
                </a:lnTo>
                <a:lnTo>
                  <a:pt x="295" y="3"/>
                </a:lnTo>
                <a:lnTo>
                  <a:pt x="311" y="3"/>
                </a:lnTo>
                <a:lnTo>
                  <a:pt x="327" y="3"/>
                </a:lnTo>
                <a:lnTo>
                  <a:pt x="344" y="3"/>
                </a:lnTo>
                <a:lnTo>
                  <a:pt x="360" y="3"/>
                </a:lnTo>
                <a:lnTo>
                  <a:pt x="377" y="3"/>
                </a:lnTo>
                <a:lnTo>
                  <a:pt x="393" y="3"/>
                </a:lnTo>
                <a:lnTo>
                  <a:pt x="393" y="8"/>
                </a:lnTo>
                <a:lnTo>
                  <a:pt x="377" y="8"/>
                </a:lnTo>
                <a:lnTo>
                  <a:pt x="360" y="8"/>
                </a:lnTo>
                <a:lnTo>
                  <a:pt x="344" y="8"/>
                </a:lnTo>
                <a:lnTo>
                  <a:pt x="327" y="8"/>
                </a:lnTo>
                <a:lnTo>
                  <a:pt x="311" y="8"/>
                </a:lnTo>
                <a:lnTo>
                  <a:pt x="295" y="8"/>
                </a:lnTo>
                <a:lnTo>
                  <a:pt x="278" y="7"/>
                </a:lnTo>
                <a:lnTo>
                  <a:pt x="262" y="7"/>
                </a:lnTo>
                <a:lnTo>
                  <a:pt x="246" y="7"/>
                </a:lnTo>
                <a:lnTo>
                  <a:pt x="229" y="7"/>
                </a:lnTo>
                <a:lnTo>
                  <a:pt x="213" y="7"/>
                </a:lnTo>
                <a:lnTo>
                  <a:pt x="196" y="6"/>
                </a:lnTo>
                <a:lnTo>
                  <a:pt x="180" y="6"/>
                </a:lnTo>
                <a:lnTo>
                  <a:pt x="164" y="6"/>
                </a:lnTo>
                <a:lnTo>
                  <a:pt x="147" y="6"/>
                </a:lnTo>
                <a:lnTo>
                  <a:pt x="131" y="6"/>
                </a:lnTo>
                <a:lnTo>
                  <a:pt x="114" y="6"/>
                </a:lnTo>
                <a:lnTo>
                  <a:pt x="98" y="5"/>
                </a:lnTo>
                <a:lnTo>
                  <a:pt x="82" y="5"/>
                </a:lnTo>
                <a:lnTo>
                  <a:pt x="65" y="5"/>
                </a:lnTo>
                <a:lnTo>
                  <a:pt x="49" y="5"/>
                </a:lnTo>
                <a:lnTo>
                  <a:pt x="33" y="5"/>
                </a:lnTo>
                <a:lnTo>
                  <a:pt x="16" y="5"/>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941195" y="3419475"/>
            <a:ext cx="114300" cy="1743860"/>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941195" y="5220485"/>
            <a:ext cx="114300" cy="876518"/>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41195" y="6154153"/>
            <a:ext cx="114300" cy="35142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00725" y="3390900"/>
            <a:ext cx="114300" cy="109849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00725" y="4546545"/>
            <a:ext cx="114300" cy="99734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00725" y="5601040"/>
            <a:ext cx="114300" cy="48919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00725" y="6147386"/>
            <a:ext cx="114300" cy="38676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7175" y="4219967"/>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6" name="TextBox 35"/>
          <p:cNvSpPr txBox="1"/>
          <p:nvPr/>
        </p:nvSpPr>
        <p:spPr>
          <a:xfrm>
            <a:off x="257175" y="5587307"/>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7" name="TextBox 36"/>
          <p:cNvSpPr txBox="1"/>
          <p:nvPr/>
        </p:nvSpPr>
        <p:spPr>
          <a:xfrm>
            <a:off x="257175" y="6258427"/>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8" name="TextBox 37"/>
          <p:cNvSpPr txBox="1"/>
          <p:nvPr/>
        </p:nvSpPr>
        <p:spPr>
          <a:xfrm>
            <a:off x="5972175" y="386871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39" name="TextBox 38"/>
          <p:cNvSpPr txBox="1"/>
          <p:nvPr/>
        </p:nvSpPr>
        <p:spPr>
          <a:xfrm>
            <a:off x="5972175" y="497378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0" name="TextBox 39"/>
          <p:cNvSpPr txBox="1"/>
          <p:nvPr/>
        </p:nvSpPr>
        <p:spPr>
          <a:xfrm>
            <a:off x="5972175" y="577420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5972175" y="626933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2" name="Rounded Rectangle 41"/>
          <p:cNvSpPr/>
          <p:nvPr/>
        </p:nvSpPr>
        <p:spPr>
          <a:xfrm>
            <a:off x="7581900" y="3067050"/>
            <a:ext cx="445770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15250" y="315277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4" name="Rectangle 43"/>
          <p:cNvSpPr/>
          <p:nvPr/>
        </p:nvSpPr>
        <p:spPr>
          <a:xfrm>
            <a:off x="7715250" y="33909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15250" y="3476625"/>
            <a:ext cx="4191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4"/>
          <a:stretch>
            <a:fillRect/>
          </a:stretch>
        </p:blipFill>
        <p:spPr>
          <a:xfrm>
            <a:off x="7629270" y="1961541"/>
            <a:ext cx="366712" cy="533400"/>
          </a:xfrm>
          <a:prstGeom prst="rect">
            <a:avLst/>
          </a:prstGeom>
        </p:spPr>
      </p:pic>
      <p:sp>
        <p:nvSpPr>
          <p:cNvPr id="48" name="TextBox 47"/>
          <p:cNvSpPr txBox="1"/>
          <p:nvPr/>
        </p:nvSpPr>
        <p:spPr>
          <a:xfrm>
            <a:off x="551212" y="4231054"/>
            <a:ext cx="1279082" cy="139750"/>
          </a:xfrm>
          <a:prstGeom prst="rect">
            <a:avLst/>
          </a:prstGeom>
          <a:noFill/>
        </p:spPr>
        <p:txBody>
          <a:bodyPr wrap="none" lIns="0" rIns="0" tIns="0" bIns="0">
            <a:spAutoFit/>
          </a:bodyPr>
          <a:lstStyle/>
          <a:p>
            <a:r>
              <a:rPr sz="791" b="1">
                <a:solidFill>
                  <a:srgbClr val="2E2E2E"/>
                </a:solidFill>
                <a:latin typeface="Calibri"/>
              </a:rPr>
              <a:t>Mineral Ceramide Sunscreen</a:t>
            </a:r>
          </a:p>
        </p:txBody>
      </p:sp>
      <p:pic>
        <p:nvPicPr>
          <p:cNvPr id="49" name="Picture 48" descr="lock.png"/>
          <p:cNvPicPr>
            <a:picLocks noChangeAspect="1"/>
          </p:cNvPicPr>
          <p:nvPr/>
        </p:nvPicPr>
        <p:blipFill>
          <a:blip r:embed="rId4"/>
          <a:stretch>
            <a:fillRect/>
          </a:stretch>
        </p:blipFill>
        <p:spPr>
          <a:xfrm>
            <a:off x="1771555" y="4224013"/>
            <a:ext cx="92663" cy="134782"/>
          </a:xfrm>
          <a:prstGeom prst="rect">
            <a:avLst/>
          </a:prstGeom>
        </p:spPr>
      </p:pic>
      <p:sp>
        <p:nvSpPr>
          <p:cNvPr id="50" name="TextBox 49"/>
          <p:cNvSpPr txBox="1"/>
          <p:nvPr/>
        </p:nvSpPr>
        <p:spPr>
          <a:xfrm>
            <a:off x="599146" y="5598394"/>
            <a:ext cx="1231147" cy="139750"/>
          </a:xfrm>
          <a:prstGeom prst="rect">
            <a:avLst/>
          </a:prstGeom>
          <a:noFill/>
        </p:spPr>
        <p:txBody>
          <a:bodyPr wrap="none" lIns="0" rIns="0" tIns="0" bIns="0">
            <a:spAutoFit/>
          </a:bodyPr>
          <a:lstStyle/>
          <a:p>
            <a:r>
              <a:rPr sz="791" b="1">
                <a:solidFill>
                  <a:srgbClr val="2E2E2E"/>
                </a:solidFill>
                <a:latin typeface="Calibri"/>
              </a:rPr>
              <a:t>Hybrid Ceramide Sunscreen</a:t>
            </a:r>
          </a:p>
        </p:txBody>
      </p:sp>
      <p:pic>
        <p:nvPicPr>
          <p:cNvPr id="51" name="Picture 50" descr="lock.png"/>
          <p:cNvPicPr>
            <a:picLocks noChangeAspect="1"/>
          </p:cNvPicPr>
          <p:nvPr/>
        </p:nvPicPr>
        <p:blipFill>
          <a:blip r:embed="rId4"/>
          <a:stretch>
            <a:fillRect/>
          </a:stretch>
        </p:blipFill>
        <p:spPr>
          <a:xfrm>
            <a:off x="1771555" y="5591353"/>
            <a:ext cx="92663" cy="134782"/>
          </a:xfrm>
          <a:prstGeom prst="rect">
            <a:avLst/>
          </a:prstGeom>
        </p:spPr>
      </p:pic>
      <p:sp>
        <p:nvSpPr>
          <p:cNvPr id="52" name="TextBox 51"/>
          <p:cNvSpPr txBox="1"/>
          <p:nvPr/>
        </p:nvSpPr>
        <p:spPr>
          <a:xfrm>
            <a:off x="497776" y="6269514"/>
            <a:ext cx="1332517" cy="139750"/>
          </a:xfrm>
          <a:prstGeom prst="rect">
            <a:avLst/>
          </a:prstGeom>
          <a:noFill/>
        </p:spPr>
        <p:txBody>
          <a:bodyPr wrap="none" lIns="0" rIns="0" tIns="0" bIns="0">
            <a:spAutoFit/>
          </a:bodyPr>
          <a:lstStyle/>
          <a:p>
            <a:r>
              <a:rPr sz="791" b="1">
                <a:solidFill>
                  <a:srgbClr val="2E2E2E"/>
                </a:solidFill>
                <a:latin typeface="Calibri"/>
              </a:rPr>
              <a:t>Chemical Ceramide Sunscreen</a:t>
            </a:r>
          </a:p>
        </p:txBody>
      </p:sp>
      <p:pic>
        <p:nvPicPr>
          <p:cNvPr id="53" name="Picture 52" descr="lock.png"/>
          <p:cNvPicPr>
            <a:picLocks noChangeAspect="1"/>
          </p:cNvPicPr>
          <p:nvPr/>
        </p:nvPicPr>
        <p:blipFill>
          <a:blip r:embed="rId4"/>
          <a:stretch>
            <a:fillRect/>
          </a:stretch>
        </p:blipFill>
        <p:spPr>
          <a:xfrm>
            <a:off x="1771555" y="6262473"/>
            <a:ext cx="92663" cy="134782"/>
          </a:xfrm>
          <a:prstGeom prst="rect">
            <a:avLst/>
          </a:prstGeom>
        </p:spPr>
      </p:pic>
      <p:sp>
        <p:nvSpPr>
          <p:cNvPr id="54" name="TextBox 53"/>
          <p:cNvSpPr txBox="1"/>
          <p:nvPr/>
        </p:nvSpPr>
        <p:spPr>
          <a:xfrm>
            <a:off x="5972175" y="3879797"/>
            <a:ext cx="345537" cy="139750"/>
          </a:xfrm>
          <a:prstGeom prst="rect">
            <a:avLst/>
          </a:prstGeom>
          <a:noFill/>
        </p:spPr>
        <p:txBody>
          <a:bodyPr wrap="none" lIns="0" rIns="0" tIns="0" bIns="0">
            <a:spAutoFit/>
          </a:bodyPr>
          <a:lstStyle/>
          <a:p>
            <a:r>
              <a:rPr sz="791" b="0">
                <a:solidFill>
                  <a:srgbClr val="6C7A89"/>
                </a:solidFill>
                <a:latin typeface="Calibri"/>
              </a:rPr>
              <a:t>SPF 50</a:t>
            </a:r>
          </a:p>
        </p:txBody>
      </p:sp>
      <p:pic>
        <p:nvPicPr>
          <p:cNvPr id="55" name="Picture 54" descr="lock.png"/>
          <p:cNvPicPr>
            <a:picLocks noChangeAspect="1"/>
          </p:cNvPicPr>
          <p:nvPr/>
        </p:nvPicPr>
        <p:blipFill>
          <a:blip r:embed="rId4"/>
          <a:stretch>
            <a:fillRect/>
          </a:stretch>
        </p:blipFill>
        <p:spPr>
          <a:xfrm>
            <a:off x="6258973" y="3872756"/>
            <a:ext cx="92663" cy="134782"/>
          </a:xfrm>
          <a:prstGeom prst="rect">
            <a:avLst/>
          </a:prstGeom>
        </p:spPr>
      </p:pic>
      <p:sp>
        <p:nvSpPr>
          <p:cNvPr id="56" name="TextBox 55"/>
          <p:cNvSpPr txBox="1"/>
          <p:nvPr/>
        </p:nvSpPr>
        <p:spPr>
          <a:xfrm>
            <a:off x="5972175" y="4984867"/>
            <a:ext cx="638448" cy="139750"/>
          </a:xfrm>
          <a:prstGeom prst="rect">
            <a:avLst/>
          </a:prstGeom>
          <a:noFill/>
        </p:spPr>
        <p:txBody>
          <a:bodyPr wrap="none" lIns="0" rIns="0" tIns="0" bIns="0">
            <a:spAutoFit/>
          </a:bodyPr>
          <a:lstStyle/>
          <a:p>
            <a:r>
              <a:rPr sz="791" b="1">
                <a:solidFill>
                  <a:srgbClr val="2E2E2E"/>
                </a:solidFill>
                <a:latin typeface="Calibri"/>
              </a:rPr>
              <a:t>Above SPF 50</a:t>
            </a:r>
          </a:p>
        </p:txBody>
      </p:sp>
      <p:pic>
        <p:nvPicPr>
          <p:cNvPr id="57" name="Picture 56" descr="lock.png"/>
          <p:cNvPicPr>
            <a:picLocks noChangeAspect="1"/>
          </p:cNvPicPr>
          <p:nvPr/>
        </p:nvPicPr>
        <p:blipFill>
          <a:blip r:embed="rId4"/>
          <a:stretch>
            <a:fillRect/>
          </a:stretch>
        </p:blipFill>
        <p:spPr>
          <a:xfrm>
            <a:off x="6551884" y="4977826"/>
            <a:ext cx="92663" cy="134782"/>
          </a:xfrm>
          <a:prstGeom prst="rect">
            <a:avLst/>
          </a:prstGeom>
        </p:spPr>
      </p:pic>
      <p:sp>
        <p:nvSpPr>
          <p:cNvPr id="58" name="TextBox 57"/>
          <p:cNvSpPr txBox="1"/>
          <p:nvPr/>
        </p:nvSpPr>
        <p:spPr>
          <a:xfrm>
            <a:off x="5972175" y="5785287"/>
            <a:ext cx="500735" cy="139750"/>
          </a:xfrm>
          <a:prstGeom prst="rect">
            <a:avLst/>
          </a:prstGeom>
          <a:noFill/>
        </p:spPr>
        <p:txBody>
          <a:bodyPr wrap="none" lIns="0" rIns="0" tIns="0" bIns="0">
            <a:spAutoFit/>
          </a:bodyPr>
          <a:lstStyle/>
          <a:p>
            <a:r>
              <a:rPr sz="791" b="1">
                <a:solidFill>
                  <a:srgbClr val="2E2E2E"/>
                </a:solidFill>
                <a:latin typeface="Calibri"/>
              </a:rPr>
              <a:t>SPF 30–49</a:t>
            </a:r>
          </a:p>
        </p:txBody>
      </p:sp>
      <p:pic>
        <p:nvPicPr>
          <p:cNvPr id="59" name="Picture 58" descr="lock.png"/>
          <p:cNvPicPr>
            <a:picLocks noChangeAspect="1"/>
          </p:cNvPicPr>
          <p:nvPr/>
        </p:nvPicPr>
        <p:blipFill>
          <a:blip r:embed="rId4"/>
          <a:stretch>
            <a:fillRect/>
          </a:stretch>
        </p:blipFill>
        <p:spPr>
          <a:xfrm>
            <a:off x="6414171" y="5778246"/>
            <a:ext cx="92663" cy="134782"/>
          </a:xfrm>
          <a:prstGeom prst="rect">
            <a:avLst/>
          </a:prstGeom>
        </p:spPr>
      </p:pic>
      <p:sp>
        <p:nvSpPr>
          <p:cNvPr id="60" name="TextBox 59"/>
          <p:cNvSpPr txBox="1"/>
          <p:nvPr/>
        </p:nvSpPr>
        <p:spPr>
          <a:xfrm>
            <a:off x="5972175" y="6280417"/>
            <a:ext cx="632162" cy="139750"/>
          </a:xfrm>
          <a:prstGeom prst="rect">
            <a:avLst/>
          </a:prstGeom>
          <a:noFill/>
        </p:spPr>
        <p:txBody>
          <a:bodyPr wrap="none" lIns="0" rIns="0" tIns="0" bIns="0">
            <a:spAutoFit/>
          </a:bodyPr>
          <a:lstStyle/>
          <a:p>
            <a:r>
              <a:rPr sz="791" b="1">
                <a:solidFill>
                  <a:srgbClr val="2E2E2E"/>
                </a:solidFill>
                <a:latin typeface="Calibri"/>
              </a:rPr>
              <a:t>Below SPF 30</a:t>
            </a:r>
          </a:p>
        </p:txBody>
      </p:sp>
      <p:pic>
        <p:nvPicPr>
          <p:cNvPr id="61" name="Picture 60" descr="lock.png"/>
          <p:cNvPicPr>
            <a:picLocks noChangeAspect="1"/>
          </p:cNvPicPr>
          <p:nvPr/>
        </p:nvPicPr>
        <p:blipFill>
          <a:blip r:embed="rId4"/>
          <a:stretch>
            <a:fillRect/>
          </a:stretch>
        </p:blipFill>
        <p:spPr>
          <a:xfrm>
            <a:off x="6545598" y="6273376"/>
            <a:ext cx="92663" cy="134782"/>
          </a:xfrm>
          <a:prstGeom prst="rect">
            <a:avLst/>
          </a:prstGeom>
        </p:spPr>
      </p:pic>
      <p:sp>
        <p:nvSpPr>
          <p:cNvPr id="62" name="TextBox 61"/>
          <p:cNvSpPr txBox="1"/>
          <p:nvPr/>
        </p:nvSpPr>
        <p:spPr>
          <a:xfrm>
            <a:off x="7715250" y="3486150"/>
            <a:ext cx="4142779" cy="194310"/>
          </a:xfrm>
          <a:prstGeom prst="rect">
            <a:avLst/>
          </a:prstGeom>
          <a:noFill/>
        </p:spPr>
        <p:txBody>
          <a:bodyPr wrap="none" lIns="0" rIns="0" tIns="0" bIns="0">
            <a:spAutoFit/>
          </a:bodyPr>
          <a:lstStyle/>
          <a:p>
            <a:r>
              <a:rPr sz="1150" b="0">
                <a:solidFill>
                  <a:srgbClr val="2E2E2E"/>
                </a:solidFill>
                <a:latin typeface="Calibri"/>
              </a:rPr>
              <a:t>Mineral ceramide sunscreen segment is projected to account for the</a:t>
            </a:r>
          </a:p>
        </p:txBody>
      </p:sp>
      <p:sp>
        <p:nvSpPr>
          <p:cNvPr id="63" name="TextBox 62"/>
          <p:cNvSpPr txBox="1"/>
          <p:nvPr/>
        </p:nvSpPr>
        <p:spPr>
          <a:xfrm>
            <a:off x="7715250" y="3661410"/>
            <a:ext cx="4171950" cy="194310"/>
          </a:xfrm>
          <a:prstGeom prst="rect">
            <a:avLst/>
          </a:prstGeom>
          <a:noFill/>
        </p:spPr>
        <p:txBody>
          <a:bodyPr wrap="none" lIns="0" rIns="0" tIns="0" bIns="0">
            <a:spAutoFit/>
          </a:bodyPr>
          <a:lstStyle/>
          <a:p>
            <a:r>
              <a:rPr sz="1150" b="0">
                <a:solidFill>
                  <a:srgbClr val="2E2E2E"/>
                </a:solidFill>
                <a:latin typeface="Calibri"/>
              </a:rPr>
              <a:t>largest share of the North America ceramide sunscreen market, led by</a:t>
            </a:r>
          </a:p>
        </p:txBody>
      </p:sp>
      <p:sp>
        <p:nvSpPr>
          <p:cNvPr id="64" name="TextBox 63"/>
          <p:cNvSpPr txBox="1"/>
          <p:nvPr/>
        </p:nvSpPr>
        <p:spPr>
          <a:xfrm>
            <a:off x="7715250" y="3836669"/>
            <a:ext cx="887462" cy="194310"/>
          </a:xfrm>
          <a:prstGeom prst="rect">
            <a:avLst/>
          </a:prstGeom>
          <a:noFill/>
        </p:spPr>
        <p:txBody>
          <a:bodyPr wrap="none" lIns="0" rIns="0" tIns="0" bIns="0">
            <a:spAutoFit/>
          </a:bodyPr>
          <a:lstStyle/>
          <a:p>
            <a:r>
              <a:rPr sz="1150" b="0">
                <a:solidFill>
                  <a:srgbClr val="2E2E2E"/>
                </a:solidFill>
                <a:latin typeface="Calibri"/>
              </a:rPr>
              <a:t>SPF 50 at US$</a:t>
            </a:r>
          </a:p>
        </p:txBody>
      </p:sp>
      <p:pic>
        <p:nvPicPr>
          <p:cNvPr id="65" name="Picture 64" descr="lock.png"/>
          <p:cNvPicPr>
            <a:picLocks noChangeAspect="1"/>
          </p:cNvPicPr>
          <p:nvPr/>
        </p:nvPicPr>
        <p:blipFill>
          <a:blip r:embed="rId4"/>
          <a:stretch>
            <a:fillRect/>
          </a:stretch>
        </p:blipFill>
        <p:spPr>
          <a:xfrm>
            <a:off x="8551866" y="3826446"/>
            <a:ext cx="134549" cy="195707"/>
          </a:xfrm>
          <a:prstGeom prst="rect">
            <a:avLst/>
          </a:prstGeom>
        </p:spPr>
      </p:pic>
      <p:sp>
        <p:nvSpPr>
          <p:cNvPr id="66" name="TextBox 65"/>
          <p:cNvSpPr txBox="1"/>
          <p:nvPr/>
        </p:nvSpPr>
        <p:spPr>
          <a:xfrm>
            <a:off x="8726975" y="3836669"/>
            <a:ext cx="3128416" cy="194310"/>
          </a:xfrm>
          <a:prstGeom prst="rect">
            <a:avLst/>
          </a:prstGeom>
          <a:noFill/>
        </p:spPr>
        <p:txBody>
          <a:bodyPr wrap="none" lIns="0" rIns="0" tIns="0" bIns="0">
            <a:spAutoFit/>
          </a:bodyPr>
          <a:lstStyle/>
          <a:p>
            <a:r>
              <a:rPr sz="1150" b="0">
                <a:solidFill>
                  <a:srgbClr val="2E2E2E"/>
                </a:solidFill>
                <a:latin typeface="Calibri"/>
              </a:rPr>
              <a:t>Mn in 2036. 'Mineral Ceramide Sunscreen × SPF 50'</a:t>
            </a:r>
          </a:p>
        </p:txBody>
      </p:sp>
      <p:sp>
        <p:nvSpPr>
          <p:cNvPr id="67" name="TextBox 66"/>
          <p:cNvSpPr txBox="1"/>
          <p:nvPr/>
        </p:nvSpPr>
        <p:spPr>
          <a:xfrm>
            <a:off x="7715250" y="4011929"/>
            <a:ext cx="2435535" cy="194310"/>
          </a:xfrm>
          <a:prstGeom prst="rect">
            <a:avLst/>
          </a:prstGeom>
          <a:noFill/>
        </p:spPr>
        <p:txBody>
          <a:bodyPr wrap="none" lIns="0" rIns="0" tIns="0" bIns="0">
            <a:spAutoFit/>
          </a:bodyPr>
          <a:lstStyle/>
          <a:p>
            <a:r>
              <a:rPr sz="1150" b="0">
                <a:solidFill>
                  <a:srgbClr val="2E2E2E"/>
                </a:solidFill>
                <a:latin typeface="Calibri"/>
              </a:rPr>
              <a:t>is the single largest cross-sectional cell (</a:t>
            </a:r>
          </a:p>
        </p:txBody>
      </p:sp>
      <p:pic>
        <p:nvPicPr>
          <p:cNvPr id="68" name="Picture 67" descr="lock.png"/>
          <p:cNvPicPr>
            <a:picLocks noChangeAspect="1"/>
          </p:cNvPicPr>
          <p:nvPr/>
        </p:nvPicPr>
        <p:blipFill>
          <a:blip r:embed="rId4"/>
          <a:stretch>
            <a:fillRect/>
          </a:stretch>
        </p:blipFill>
        <p:spPr>
          <a:xfrm>
            <a:off x="10099938" y="4001706"/>
            <a:ext cx="134549" cy="195707"/>
          </a:xfrm>
          <a:prstGeom prst="rect">
            <a:avLst/>
          </a:prstGeom>
        </p:spPr>
      </p:pic>
      <p:sp>
        <p:nvSpPr>
          <p:cNvPr id="69" name="TextBox 68"/>
          <p:cNvSpPr txBox="1"/>
          <p:nvPr/>
        </p:nvSpPr>
        <p:spPr>
          <a:xfrm>
            <a:off x="10275048" y="4011929"/>
            <a:ext cx="1418604" cy="194310"/>
          </a:xfrm>
          <a:prstGeom prst="rect">
            <a:avLst/>
          </a:prstGeom>
          <a:noFill/>
        </p:spPr>
        <p:txBody>
          <a:bodyPr wrap="none" lIns="0" rIns="0" tIns="0" bIns="0">
            <a:spAutoFit/>
          </a:bodyPr>
          <a:lstStyle/>
          <a:p>
            <a:r>
              <a:rPr sz="1150" b="0">
                <a:solidFill>
                  <a:srgbClr val="2E2E2E"/>
                </a:solidFill>
                <a:latin typeface="Calibri"/>
              </a:rPr>
              <a:t>US$ Mn, 2026E), while</a:t>
            </a:r>
          </a:p>
        </p:txBody>
      </p:sp>
      <p:sp>
        <p:nvSpPr>
          <p:cNvPr id="70" name="TextBox 69"/>
          <p:cNvSpPr txBox="1"/>
          <p:nvPr/>
        </p:nvSpPr>
        <p:spPr>
          <a:xfrm>
            <a:off x="7715250" y="4187189"/>
            <a:ext cx="4018694" cy="194310"/>
          </a:xfrm>
          <a:prstGeom prst="rect">
            <a:avLst/>
          </a:prstGeom>
          <a:noFill/>
        </p:spPr>
        <p:txBody>
          <a:bodyPr wrap="none" lIns="0" rIns="0" tIns="0" bIns="0">
            <a:spAutoFit/>
          </a:bodyPr>
          <a:lstStyle/>
          <a:p>
            <a:r>
              <a:rPr sz="1150" b="0">
                <a:solidFill>
                  <a:srgbClr val="2E2E2E"/>
                </a:solidFill>
                <a:latin typeface="Calibri"/>
              </a:rPr>
              <a:t>'Chemical Ceramide Sunscreen × Above SPF 50' records the fastest</a:t>
            </a:r>
          </a:p>
        </p:txBody>
      </p:sp>
      <p:sp>
        <p:nvSpPr>
          <p:cNvPr id="71" name="TextBox 70"/>
          <p:cNvSpPr txBox="1"/>
          <p:nvPr/>
        </p:nvSpPr>
        <p:spPr>
          <a:xfrm>
            <a:off x="7715250" y="4362449"/>
            <a:ext cx="1279668" cy="194310"/>
          </a:xfrm>
          <a:prstGeom prst="rect">
            <a:avLst/>
          </a:prstGeom>
          <a:noFill/>
        </p:spPr>
        <p:txBody>
          <a:bodyPr wrap="none" lIns="0" rIns="0" tIns="0" bIns="0">
            <a:spAutoFit/>
          </a:bodyPr>
          <a:lstStyle/>
          <a:p>
            <a:r>
              <a:rPr sz="1150" b="0">
                <a:solidFill>
                  <a:srgbClr val="2E2E2E"/>
                </a:solidFill>
                <a:latin typeface="Calibri"/>
              </a:rPr>
              <a:t>growth at a CAGR of</a:t>
            </a:r>
          </a:p>
        </p:txBody>
      </p:sp>
      <p:pic>
        <p:nvPicPr>
          <p:cNvPr id="72" name="Picture 71" descr="lock.png"/>
          <p:cNvPicPr>
            <a:picLocks noChangeAspect="1"/>
          </p:cNvPicPr>
          <p:nvPr/>
        </p:nvPicPr>
        <p:blipFill>
          <a:blip r:embed="rId4"/>
          <a:stretch>
            <a:fillRect/>
          </a:stretch>
        </p:blipFill>
        <p:spPr>
          <a:xfrm>
            <a:off x="8944072" y="4352226"/>
            <a:ext cx="134549" cy="195707"/>
          </a:xfrm>
          <a:prstGeom prst="rect">
            <a:avLst/>
          </a:prstGeom>
        </p:spPr>
      </p:pic>
      <p:sp>
        <p:nvSpPr>
          <p:cNvPr id="73" name="TextBox 72"/>
          <p:cNvSpPr txBox="1"/>
          <p:nvPr/>
        </p:nvSpPr>
        <p:spPr>
          <a:xfrm>
            <a:off x="9119181" y="4362449"/>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74" name="TextBox 73"/>
          <p:cNvSpPr txBox="1"/>
          <p:nvPr/>
        </p:nvSpPr>
        <p:spPr>
          <a:xfrm>
            <a:off x="7715250" y="4590287"/>
            <a:ext cx="4082020" cy="194310"/>
          </a:xfrm>
          <a:prstGeom prst="rect">
            <a:avLst/>
          </a:prstGeom>
          <a:noFill/>
        </p:spPr>
        <p:txBody>
          <a:bodyPr wrap="none" lIns="0" rIns="0" tIns="0" bIns="0">
            <a:spAutoFit/>
          </a:bodyPr>
          <a:lstStyle/>
          <a:p>
            <a:r>
              <a:rPr sz="1150" b="0">
                <a:solidFill>
                  <a:srgbClr val="2E2E2E"/>
                </a:solidFill>
                <a:latin typeface="Calibri"/>
              </a:rPr>
              <a:t>Combined, the top three product type × spf rating cells generate an</a:t>
            </a:r>
          </a:p>
        </p:txBody>
      </p:sp>
      <p:sp>
        <p:nvSpPr>
          <p:cNvPr id="75" name="TextBox 74"/>
          <p:cNvSpPr txBox="1"/>
          <p:nvPr/>
        </p:nvSpPr>
        <p:spPr>
          <a:xfrm>
            <a:off x="7715250" y="4765547"/>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76" name="Picture 75" descr="lock.png"/>
          <p:cNvPicPr>
            <a:picLocks noChangeAspect="1"/>
          </p:cNvPicPr>
          <p:nvPr/>
        </p:nvPicPr>
        <p:blipFill>
          <a:blip r:embed="rId4"/>
          <a:stretch>
            <a:fillRect/>
          </a:stretch>
        </p:blipFill>
        <p:spPr>
          <a:xfrm>
            <a:off x="9258439" y="4755324"/>
            <a:ext cx="134549" cy="195707"/>
          </a:xfrm>
          <a:prstGeom prst="rect">
            <a:avLst/>
          </a:prstGeom>
        </p:spPr>
      </p:pic>
      <p:sp>
        <p:nvSpPr>
          <p:cNvPr id="77" name="TextBox 76"/>
          <p:cNvSpPr txBox="1"/>
          <p:nvPr/>
        </p:nvSpPr>
        <p:spPr>
          <a:xfrm>
            <a:off x="9433549" y="4765547"/>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Product Type × SPF Rating,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spf rating sub-segments</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Product Type × SPF Rating, 2026E (% of each row)</a:t>
            </a:r>
          </a:p>
        </p:txBody>
      </p:sp>
      <p:graphicFrame>
        <p:nvGraphicFramePr>
          <p:cNvPr id="12" name="Table 11"/>
          <p:cNvGraphicFramePr>
            <a:graphicFrameLocks noGrp="1"/>
          </p:cNvGraphicFramePr>
          <p:nvPr/>
        </p:nvGraphicFramePr>
        <p:xfrm>
          <a:off x="152400" y="1238250"/>
          <a:ext cx="11887202" cy="1238250"/>
        </p:xfrm>
        <a:graphic>
          <a:graphicData uri="http://schemas.openxmlformats.org/drawingml/2006/table">
            <a:tbl>
              <a:tblPr>
                <a:tableStyleId>{5C22544A-7EE6-4342-B048-85BDC9FD1C3A}</a:tableStyleId>
              </a:tblPr>
              <a:tblGrid>
                <a:gridCol w="3509632"/>
                <a:gridCol w="1675514"/>
                <a:gridCol w="1675514"/>
                <a:gridCol w="1675514"/>
                <a:gridCol w="1675514"/>
                <a:gridCol w="1675514"/>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Below SPF 30</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SPF 30–49</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SPF 50</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Above SPF 50</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7286625"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8765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SPF Rating Mix by Product Type, 2026E (% share)</a:t>
            </a:r>
          </a:p>
        </p:txBody>
      </p:sp>
      <p:graphicFrame>
        <p:nvGraphicFramePr>
          <p:cNvPr id="16" name="Chart 15"/>
          <p:cNvGraphicFramePr>
            <a:graphicFrameLocks noGrp="1"/>
          </p:cNvGraphicFramePr>
          <p:nvPr/>
        </p:nvGraphicFramePr>
        <p:xfrm>
          <a:off x="238125" y="3105150"/>
          <a:ext cx="7096125" cy="346710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2819400"/>
            <a:ext cx="4457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290512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1432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228975"/>
            <a:ext cx="4191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664127" y="1713738"/>
            <a:ext cx="366712" cy="533400"/>
          </a:xfrm>
          <a:prstGeom prst="rect">
            <a:avLst/>
          </a:prstGeom>
        </p:spPr>
      </p:pic>
      <p:pic>
        <p:nvPicPr>
          <p:cNvPr id="23" name="Picture 22" descr="lock.png"/>
          <p:cNvPicPr>
            <a:picLocks noChangeAspect="1"/>
          </p:cNvPicPr>
          <p:nvPr/>
        </p:nvPicPr>
        <p:blipFill>
          <a:blip r:embed="rId5"/>
          <a:stretch>
            <a:fillRect/>
          </a:stretch>
        </p:blipFill>
        <p:spPr>
          <a:xfrm>
            <a:off x="3709408" y="3864689"/>
            <a:ext cx="440818" cy="641190"/>
          </a:xfrm>
          <a:prstGeom prst="rect">
            <a:avLst/>
          </a:prstGeom>
        </p:spPr>
      </p:pic>
      <p:sp>
        <p:nvSpPr>
          <p:cNvPr id="24" name="TextBox 23"/>
          <p:cNvSpPr txBox="1"/>
          <p:nvPr/>
        </p:nvSpPr>
        <p:spPr>
          <a:xfrm>
            <a:off x="7715250" y="3238500"/>
            <a:ext cx="4147914" cy="194310"/>
          </a:xfrm>
          <a:prstGeom prst="rect">
            <a:avLst/>
          </a:prstGeom>
          <a:noFill/>
        </p:spPr>
        <p:txBody>
          <a:bodyPr wrap="none" lIns="0" rIns="0" tIns="0" bIns="0">
            <a:spAutoFit/>
          </a:bodyPr>
          <a:lstStyle/>
          <a:p>
            <a:r>
              <a:rPr sz="1150" b="0">
                <a:solidFill>
                  <a:srgbClr val="2E2E2E"/>
                </a:solidFill>
                <a:latin typeface="Calibri"/>
              </a:rPr>
              <a:t>▪ 'SPF 50' holds the highest share of 'Mineral Ceramide Sunscreen' at</a:t>
            </a:r>
          </a:p>
        </p:txBody>
      </p:sp>
      <p:pic>
        <p:nvPicPr>
          <p:cNvPr id="25" name="Picture 24" descr="lock.png"/>
          <p:cNvPicPr>
            <a:picLocks noChangeAspect="1"/>
          </p:cNvPicPr>
          <p:nvPr/>
        </p:nvPicPr>
        <p:blipFill>
          <a:blip r:embed="rId5"/>
          <a:stretch>
            <a:fillRect/>
          </a:stretch>
        </p:blipFill>
        <p:spPr>
          <a:xfrm>
            <a:off x="7701170" y="3403536"/>
            <a:ext cx="134549" cy="195707"/>
          </a:xfrm>
          <a:prstGeom prst="rect">
            <a:avLst/>
          </a:prstGeom>
        </p:spPr>
      </p:pic>
      <p:sp>
        <p:nvSpPr>
          <p:cNvPr id="26" name="TextBox 25"/>
          <p:cNvSpPr txBox="1"/>
          <p:nvPr/>
        </p:nvSpPr>
        <p:spPr>
          <a:xfrm>
            <a:off x="7876279" y="341376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7" name="TextBox 26"/>
          <p:cNvSpPr txBox="1"/>
          <p:nvPr/>
        </p:nvSpPr>
        <p:spPr>
          <a:xfrm>
            <a:off x="7715250" y="3641597"/>
            <a:ext cx="3957649" cy="194310"/>
          </a:xfrm>
          <a:prstGeom prst="rect">
            <a:avLst/>
          </a:prstGeom>
          <a:noFill/>
        </p:spPr>
        <p:txBody>
          <a:bodyPr wrap="none" lIns="0" rIns="0" tIns="0" bIns="0">
            <a:spAutoFit/>
          </a:bodyPr>
          <a:lstStyle/>
          <a:p>
            <a:r>
              <a:rPr sz="1150" b="0">
                <a:solidFill>
                  <a:srgbClr val="2E2E2E"/>
                </a:solidFill>
                <a:latin typeface="Calibri"/>
              </a:rPr>
              <a:t>▪ 'Mineral Ceramide Sunscreen' is the most concentrated product</a:t>
            </a:r>
          </a:p>
        </p:txBody>
      </p:sp>
      <p:sp>
        <p:nvSpPr>
          <p:cNvPr id="28" name="TextBox 27"/>
          <p:cNvSpPr txBox="1"/>
          <p:nvPr/>
        </p:nvSpPr>
        <p:spPr>
          <a:xfrm>
            <a:off x="7715250" y="3816857"/>
            <a:ext cx="1476511" cy="194310"/>
          </a:xfrm>
          <a:prstGeom prst="rect">
            <a:avLst/>
          </a:prstGeom>
          <a:noFill/>
        </p:spPr>
        <p:txBody>
          <a:bodyPr wrap="none" lIns="0" rIns="0" tIns="0" bIns="0">
            <a:spAutoFit/>
          </a:bodyPr>
          <a:lstStyle/>
          <a:p>
            <a:r>
              <a:rPr sz="1150" b="0">
                <a:solidFill>
                  <a:srgbClr val="2E2E2E"/>
                </a:solidFill>
                <a:latin typeface="Calibri"/>
              </a:rPr>
              <a:t>type sub-segment, with</a:t>
            </a:r>
          </a:p>
        </p:txBody>
      </p:sp>
      <p:pic>
        <p:nvPicPr>
          <p:cNvPr id="29" name="Picture 28" descr="lock.png"/>
          <p:cNvPicPr>
            <a:picLocks noChangeAspect="1"/>
          </p:cNvPicPr>
          <p:nvPr/>
        </p:nvPicPr>
        <p:blipFill>
          <a:blip r:embed="rId5"/>
          <a:stretch>
            <a:fillRect/>
          </a:stretch>
        </p:blipFill>
        <p:spPr>
          <a:xfrm>
            <a:off x="9140915" y="3806634"/>
            <a:ext cx="134549" cy="195707"/>
          </a:xfrm>
          <a:prstGeom prst="rect">
            <a:avLst/>
          </a:prstGeom>
        </p:spPr>
      </p:pic>
      <p:sp>
        <p:nvSpPr>
          <p:cNvPr id="30" name="TextBox 29"/>
          <p:cNvSpPr txBox="1"/>
          <p:nvPr/>
        </p:nvSpPr>
        <p:spPr>
          <a:xfrm>
            <a:off x="9316024" y="3816857"/>
            <a:ext cx="1450553" cy="194310"/>
          </a:xfrm>
          <a:prstGeom prst="rect">
            <a:avLst/>
          </a:prstGeom>
          <a:noFill/>
        </p:spPr>
        <p:txBody>
          <a:bodyPr wrap="none" lIns="0" rIns="0" tIns="0" bIns="0">
            <a:spAutoFit/>
          </a:bodyPr>
          <a:lstStyle/>
          <a:p>
            <a:r>
              <a:rPr sz="1150" b="0">
                <a:solidFill>
                  <a:srgbClr val="2E2E2E"/>
                </a:solidFill>
                <a:latin typeface="Calibri"/>
              </a:rPr>
              <a:t>of its value via 'SPF 50'.</a:t>
            </a:r>
          </a:p>
        </p:txBody>
      </p:sp>
      <p:sp>
        <p:nvSpPr>
          <p:cNvPr id="31" name="TextBox 30"/>
          <p:cNvSpPr txBox="1"/>
          <p:nvPr/>
        </p:nvSpPr>
        <p:spPr>
          <a:xfrm>
            <a:off x="7715250" y="4044695"/>
            <a:ext cx="1471376" cy="194310"/>
          </a:xfrm>
          <a:prstGeom prst="rect">
            <a:avLst/>
          </a:prstGeom>
          <a:noFill/>
        </p:spPr>
        <p:txBody>
          <a:bodyPr wrap="none" lIns="0" rIns="0" tIns="0" bIns="0">
            <a:spAutoFit/>
          </a:bodyPr>
          <a:lstStyle/>
          <a:p>
            <a:r>
              <a:rPr sz="1150" b="0">
                <a:solidFill>
                  <a:srgbClr val="2E2E2E"/>
                </a:solidFill>
                <a:latin typeface="Calibri"/>
              </a:rPr>
              <a:t>▪ 'Above SPF 50' gains +</a:t>
            </a:r>
          </a:p>
        </p:txBody>
      </p:sp>
      <p:pic>
        <p:nvPicPr>
          <p:cNvPr id="32" name="Picture 31" descr="lock.png"/>
          <p:cNvPicPr>
            <a:picLocks noChangeAspect="1"/>
          </p:cNvPicPr>
          <p:nvPr/>
        </p:nvPicPr>
        <p:blipFill>
          <a:blip r:embed="rId5"/>
          <a:stretch>
            <a:fillRect/>
          </a:stretch>
        </p:blipFill>
        <p:spPr>
          <a:xfrm>
            <a:off x="9135780" y="4034472"/>
            <a:ext cx="134549" cy="195707"/>
          </a:xfrm>
          <a:prstGeom prst="rect">
            <a:avLst/>
          </a:prstGeom>
        </p:spPr>
      </p:pic>
      <p:sp>
        <p:nvSpPr>
          <p:cNvPr id="33" name="TextBox 32"/>
          <p:cNvSpPr txBox="1"/>
          <p:nvPr/>
        </p:nvSpPr>
        <p:spPr>
          <a:xfrm>
            <a:off x="9310890" y="4044695"/>
            <a:ext cx="2104640" cy="194310"/>
          </a:xfrm>
          <a:prstGeom prst="rect">
            <a:avLst/>
          </a:prstGeom>
          <a:noFill/>
        </p:spPr>
        <p:txBody>
          <a:bodyPr wrap="none" lIns="0" rIns="0" tIns="0" bIns="0">
            <a:spAutoFit/>
          </a:bodyPr>
          <a:lstStyle/>
          <a:p>
            <a:r>
              <a:rPr sz="1150" b="0">
                <a:solidFill>
                  <a:srgbClr val="2E2E2E"/>
                </a:solidFill>
                <a:latin typeface="Calibri"/>
              </a:rPr>
              <a:t>BPS of share of the North America</a:t>
            </a:r>
          </a:p>
        </p:txBody>
      </p:sp>
      <p:sp>
        <p:nvSpPr>
          <p:cNvPr id="34" name="TextBox 33"/>
          <p:cNvSpPr txBox="1"/>
          <p:nvPr/>
        </p:nvSpPr>
        <p:spPr>
          <a:xfrm>
            <a:off x="7715250" y="4219955"/>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5" name="lockshield_16"/>
          <p:cNvSpPr/>
          <p:nvPr/>
        </p:nvSpPr>
        <p:spPr>
          <a:xfrm>
            <a:off x="238125" y="3105150"/>
            <a:ext cx="7096125" cy="3467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Product Type × SPF Rating,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SPF Rating, 2026E–2036F</a:t>
            </a:r>
          </a:p>
        </p:txBody>
      </p:sp>
      <p:graphicFrame>
        <p:nvGraphicFramePr>
          <p:cNvPr id="12" name="Table 11"/>
          <p:cNvGraphicFramePr>
            <a:graphicFrameLocks noGrp="1"/>
          </p:cNvGraphicFramePr>
          <p:nvPr/>
        </p:nvGraphicFramePr>
        <p:xfrm>
          <a:off x="152400" y="1238250"/>
          <a:ext cx="11887201" cy="1485896"/>
        </p:xfrm>
        <a:graphic>
          <a:graphicData uri="http://schemas.openxmlformats.org/drawingml/2006/table">
            <a:tbl>
              <a:tblPr>
                <a:tableStyleId>{5C22544A-7EE6-4342-B048-85BDC9FD1C3A}</a:tableStyleId>
              </a:tblPr>
              <a:tblGrid>
                <a:gridCol w="2948171"/>
                <a:gridCol w="893903"/>
                <a:gridCol w="893903"/>
                <a:gridCol w="893903"/>
                <a:gridCol w="893903"/>
                <a:gridCol w="893903"/>
                <a:gridCol w="893903"/>
                <a:gridCol w="893903"/>
                <a:gridCol w="893903"/>
                <a:gridCol w="893903"/>
                <a:gridCol w="893903"/>
              </a:tblGrid>
              <a:tr h="246126">
                <a:tc rowSpan="2">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Below SPF 30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SPF 30–49</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SPF 50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Above SPF 50</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95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560070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39090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5334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'Mineral Ceramide Sunscreen × Above SPF 50' ranks highest (5/5); 'Chemical Ceramide Sunscreen × SPF 30–49'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383396" y="1961541"/>
            <a:ext cx="366712" cy="533400"/>
          </a:xfrm>
          <a:prstGeom prst="rect">
            <a:avLst/>
          </a:prstGeom>
        </p:spPr>
      </p:pic>
      <p:sp>
        <p:nvSpPr>
          <p:cNvPr id="32" name="TextBox 31"/>
          <p:cNvSpPr txBox="1"/>
          <p:nvPr/>
        </p:nvSpPr>
        <p:spPr>
          <a:xfrm>
            <a:off x="276225" y="3486150"/>
            <a:ext cx="3500102" cy="194310"/>
          </a:xfrm>
          <a:prstGeom prst="rect">
            <a:avLst/>
          </a:prstGeom>
          <a:noFill/>
        </p:spPr>
        <p:txBody>
          <a:bodyPr wrap="none" lIns="0" rIns="0" tIns="0" bIns="0">
            <a:spAutoFit/>
          </a:bodyPr>
          <a:lstStyle/>
          <a:p>
            <a:r>
              <a:rPr sz="1150" b="0">
                <a:solidFill>
                  <a:srgbClr val="2E2E2E"/>
                </a:solidFill>
                <a:latin typeface="Calibri"/>
              </a:rPr>
              <a:t>▪ 1. Mineral Ceramide Sunscreen × Above SPF 50 – 125.1 ·</a:t>
            </a:r>
          </a:p>
        </p:txBody>
      </p:sp>
      <p:pic>
        <p:nvPicPr>
          <p:cNvPr id="33" name="Picture 32" descr="lock.png"/>
          <p:cNvPicPr>
            <a:picLocks noChangeAspect="1"/>
          </p:cNvPicPr>
          <p:nvPr/>
        </p:nvPicPr>
        <p:blipFill>
          <a:blip r:embed="rId4"/>
          <a:stretch>
            <a:fillRect/>
          </a:stretch>
        </p:blipFill>
        <p:spPr>
          <a:xfrm>
            <a:off x="3725481" y="3475926"/>
            <a:ext cx="134549" cy="195707"/>
          </a:xfrm>
          <a:prstGeom prst="rect">
            <a:avLst/>
          </a:prstGeom>
        </p:spPr>
      </p:pic>
      <p:sp>
        <p:nvSpPr>
          <p:cNvPr id="34" name="TextBox 33"/>
          <p:cNvSpPr txBox="1"/>
          <p:nvPr/>
        </p:nvSpPr>
        <p:spPr>
          <a:xfrm>
            <a:off x="3900590" y="34861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5" name="TextBox 34"/>
          <p:cNvSpPr txBox="1"/>
          <p:nvPr/>
        </p:nvSpPr>
        <p:spPr>
          <a:xfrm>
            <a:off x="276225" y="3713987"/>
            <a:ext cx="3090192" cy="194310"/>
          </a:xfrm>
          <a:prstGeom prst="rect">
            <a:avLst/>
          </a:prstGeom>
          <a:noFill/>
        </p:spPr>
        <p:txBody>
          <a:bodyPr wrap="none" lIns="0" rIns="0" tIns="0" bIns="0">
            <a:spAutoFit/>
          </a:bodyPr>
          <a:lstStyle/>
          <a:p>
            <a:r>
              <a:rPr sz="1150" b="0">
                <a:solidFill>
                  <a:srgbClr val="2E2E2E"/>
                </a:solidFill>
                <a:latin typeface="Calibri"/>
              </a:rPr>
              <a:t>▪ 2. Mineral Ceramide Sunscreen × SPF 50 – 114.1 ·</a:t>
            </a:r>
          </a:p>
        </p:txBody>
      </p:sp>
      <p:pic>
        <p:nvPicPr>
          <p:cNvPr id="36" name="Picture 35" descr="lock.png"/>
          <p:cNvPicPr>
            <a:picLocks noChangeAspect="1"/>
          </p:cNvPicPr>
          <p:nvPr/>
        </p:nvPicPr>
        <p:blipFill>
          <a:blip r:embed="rId4"/>
          <a:stretch>
            <a:fillRect/>
          </a:stretch>
        </p:blipFill>
        <p:spPr>
          <a:xfrm>
            <a:off x="3315571" y="3703764"/>
            <a:ext cx="134549" cy="195707"/>
          </a:xfrm>
          <a:prstGeom prst="rect">
            <a:avLst/>
          </a:prstGeom>
        </p:spPr>
      </p:pic>
      <p:sp>
        <p:nvSpPr>
          <p:cNvPr id="37" name="TextBox 36"/>
          <p:cNvSpPr txBox="1"/>
          <p:nvPr/>
        </p:nvSpPr>
        <p:spPr>
          <a:xfrm>
            <a:off x="3490680" y="3713987"/>
            <a:ext cx="350899" cy="194310"/>
          </a:xfrm>
          <a:prstGeom prst="rect">
            <a:avLst/>
          </a:prstGeom>
          <a:noFill/>
        </p:spPr>
        <p:txBody>
          <a:bodyPr wrap="none" lIns="0" rIns="0" tIns="0" bIns="0">
            <a:spAutoFit/>
          </a:bodyPr>
          <a:lstStyle/>
          <a:p>
            <a:r>
              <a:rPr sz="1150" b="0">
                <a:solidFill>
                  <a:srgbClr val="2E2E2E"/>
                </a:solidFill>
                <a:latin typeface="Calibri"/>
              </a:rPr>
              <a:t>· 3/5</a:t>
            </a:r>
          </a:p>
        </p:txBody>
      </p:sp>
      <p:sp>
        <p:nvSpPr>
          <p:cNvPr id="38" name="TextBox 37"/>
          <p:cNvSpPr txBox="1"/>
          <p:nvPr/>
        </p:nvSpPr>
        <p:spPr>
          <a:xfrm>
            <a:off x="276225" y="3941825"/>
            <a:ext cx="3358616" cy="194310"/>
          </a:xfrm>
          <a:prstGeom prst="rect">
            <a:avLst/>
          </a:prstGeom>
          <a:noFill/>
        </p:spPr>
        <p:txBody>
          <a:bodyPr wrap="none" lIns="0" rIns="0" tIns="0" bIns="0">
            <a:spAutoFit/>
          </a:bodyPr>
          <a:lstStyle/>
          <a:p>
            <a:r>
              <a:rPr sz="1150" b="0">
                <a:solidFill>
                  <a:srgbClr val="2E2E2E"/>
                </a:solidFill>
                <a:latin typeface="Calibri"/>
              </a:rPr>
              <a:t>▪ 3. Hybrid Ceramide Sunscreen × Above SPF 50 – 68.7 ·</a:t>
            </a:r>
          </a:p>
        </p:txBody>
      </p:sp>
      <p:pic>
        <p:nvPicPr>
          <p:cNvPr id="39" name="Picture 38" descr="lock.png"/>
          <p:cNvPicPr>
            <a:picLocks noChangeAspect="1"/>
          </p:cNvPicPr>
          <p:nvPr/>
        </p:nvPicPr>
        <p:blipFill>
          <a:blip r:embed="rId4"/>
          <a:stretch>
            <a:fillRect/>
          </a:stretch>
        </p:blipFill>
        <p:spPr>
          <a:xfrm>
            <a:off x="3583995" y="3931602"/>
            <a:ext cx="134549" cy="195707"/>
          </a:xfrm>
          <a:prstGeom prst="rect">
            <a:avLst/>
          </a:prstGeom>
        </p:spPr>
      </p:pic>
      <p:sp>
        <p:nvSpPr>
          <p:cNvPr id="40" name="TextBox 39"/>
          <p:cNvSpPr txBox="1"/>
          <p:nvPr/>
        </p:nvSpPr>
        <p:spPr>
          <a:xfrm>
            <a:off x="3759104" y="3941825"/>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1" name="TextBox 40"/>
          <p:cNvSpPr txBox="1"/>
          <p:nvPr/>
        </p:nvSpPr>
        <p:spPr>
          <a:xfrm>
            <a:off x="276225" y="4169663"/>
            <a:ext cx="2874826" cy="194310"/>
          </a:xfrm>
          <a:prstGeom prst="rect">
            <a:avLst/>
          </a:prstGeom>
          <a:noFill/>
        </p:spPr>
        <p:txBody>
          <a:bodyPr wrap="none" lIns="0" rIns="0" tIns="0" bIns="0">
            <a:spAutoFit/>
          </a:bodyPr>
          <a:lstStyle/>
          <a:p>
            <a:r>
              <a:rPr sz="1150" b="0">
                <a:solidFill>
                  <a:srgbClr val="2E2E2E"/>
                </a:solidFill>
                <a:latin typeface="Calibri"/>
              </a:rPr>
              <a:t>▪ 4. Mineral Ceramide Sunscreen × SPF 30–49 –</a:t>
            </a:r>
          </a:p>
        </p:txBody>
      </p:sp>
      <p:pic>
        <p:nvPicPr>
          <p:cNvPr id="42" name="Picture 41" descr="lock.png"/>
          <p:cNvPicPr>
            <a:picLocks noChangeAspect="1"/>
          </p:cNvPicPr>
          <p:nvPr/>
        </p:nvPicPr>
        <p:blipFill>
          <a:blip r:embed="rId4"/>
          <a:stretch>
            <a:fillRect/>
          </a:stretch>
        </p:blipFill>
        <p:spPr>
          <a:xfrm>
            <a:off x="3100205" y="4159440"/>
            <a:ext cx="134549" cy="195707"/>
          </a:xfrm>
          <a:prstGeom prst="rect">
            <a:avLst/>
          </a:prstGeom>
        </p:spPr>
      </p:pic>
      <p:sp>
        <p:nvSpPr>
          <p:cNvPr id="43" name="TextBox 42"/>
          <p:cNvSpPr txBox="1"/>
          <p:nvPr/>
        </p:nvSpPr>
        <p:spPr>
          <a:xfrm>
            <a:off x="3275314" y="41696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4" name="Picture 43" descr="lock.png"/>
          <p:cNvPicPr>
            <a:picLocks noChangeAspect="1"/>
          </p:cNvPicPr>
          <p:nvPr/>
        </p:nvPicPr>
        <p:blipFill>
          <a:blip r:embed="rId4"/>
          <a:stretch>
            <a:fillRect/>
          </a:stretch>
        </p:blipFill>
        <p:spPr>
          <a:xfrm>
            <a:off x="3337465" y="4159440"/>
            <a:ext cx="134549" cy="195707"/>
          </a:xfrm>
          <a:prstGeom prst="rect">
            <a:avLst/>
          </a:prstGeom>
        </p:spPr>
      </p:pic>
      <p:sp>
        <p:nvSpPr>
          <p:cNvPr id="45" name="TextBox 44"/>
          <p:cNvSpPr txBox="1"/>
          <p:nvPr/>
        </p:nvSpPr>
        <p:spPr>
          <a:xfrm>
            <a:off x="3512575" y="4169663"/>
            <a:ext cx="350899" cy="194310"/>
          </a:xfrm>
          <a:prstGeom prst="rect">
            <a:avLst/>
          </a:prstGeom>
          <a:noFill/>
        </p:spPr>
        <p:txBody>
          <a:bodyPr wrap="none" lIns="0" rIns="0" tIns="0" bIns="0">
            <a:spAutoFit/>
          </a:bodyPr>
          <a:lstStyle/>
          <a:p>
            <a:r>
              <a:rPr sz="1150" b="0">
                <a:solidFill>
                  <a:srgbClr val="2E2E2E"/>
                </a:solidFill>
                <a:latin typeface="Calibri"/>
              </a:rPr>
              <a:t>· 3/5</a:t>
            </a:r>
          </a:p>
        </p:txBody>
      </p:sp>
      <p:sp>
        <p:nvSpPr>
          <p:cNvPr id="46" name="TextBox 45"/>
          <p:cNvSpPr txBox="1"/>
          <p:nvPr/>
        </p:nvSpPr>
        <p:spPr>
          <a:xfrm>
            <a:off x="276225" y="4397501"/>
            <a:ext cx="3416523" cy="194310"/>
          </a:xfrm>
          <a:prstGeom prst="rect">
            <a:avLst/>
          </a:prstGeom>
          <a:noFill/>
        </p:spPr>
        <p:txBody>
          <a:bodyPr wrap="none" lIns="0" rIns="0" tIns="0" bIns="0">
            <a:spAutoFit/>
          </a:bodyPr>
          <a:lstStyle/>
          <a:p>
            <a:r>
              <a:rPr sz="1150" b="0">
                <a:solidFill>
                  <a:srgbClr val="2E2E2E"/>
                </a:solidFill>
                <a:latin typeface="Calibri"/>
              </a:rPr>
              <a:t>▪ 5. Mineral Ceramide Sunscreen × Below SPF 30 – 46.5 ·</a:t>
            </a:r>
          </a:p>
        </p:txBody>
      </p:sp>
      <p:pic>
        <p:nvPicPr>
          <p:cNvPr id="47" name="Picture 46" descr="lock.png"/>
          <p:cNvPicPr>
            <a:picLocks noChangeAspect="1"/>
          </p:cNvPicPr>
          <p:nvPr/>
        </p:nvPicPr>
        <p:blipFill>
          <a:blip r:embed="rId4"/>
          <a:stretch>
            <a:fillRect/>
          </a:stretch>
        </p:blipFill>
        <p:spPr>
          <a:xfrm>
            <a:off x="3641902" y="4387278"/>
            <a:ext cx="134549" cy="195707"/>
          </a:xfrm>
          <a:prstGeom prst="rect">
            <a:avLst/>
          </a:prstGeom>
        </p:spPr>
      </p:pic>
      <p:sp>
        <p:nvSpPr>
          <p:cNvPr id="48" name="TextBox 47"/>
          <p:cNvSpPr txBox="1"/>
          <p:nvPr/>
        </p:nvSpPr>
        <p:spPr>
          <a:xfrm>
            <a:off x="3817011" y="4397501"/>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9" name="TextBox 48"/>
          <p:cNvSpPr txBox="1"/>
          <p:nvPr/>
        </p:nvSpPr>
        <p:spPr>
          <a:xfrm>
            <a:off x="6029325" y="3486150"/>
            <a:ext cx="1260288" cy="194310"/>
          </a:xfrm>
          <a:prstGeom prst="rect">
            <a:avLst/>
          </a:prstGeom>
          <a:noFill/>
        </p:spPr>
        <p:txBody>
          <a:bodyPr wrap="none" lIns="0" rIns="0" tIns="0" bIns="0">
            <a:spAutoFit/>
          </a:bodyPr>
          <a:lstStyle/>
          <a:p>
            <a:r>
              <a:rPr sz="1150" b="0">
                <a:solidFill>
                  <a:srgbClr val="2E2E2E"/>
                </a:solidFill>
                <a:latin typeface="Calibri"/>
              </a:rPr>
              <a:t>▪ 'Mineral Ceramide</a:t>
            </a:r>
          </a:p>
        </p:txBody>
      </p:sp>
      <p:sp>
        <p:nvSpPr>
          <p:cNvPr id="50" name="TextBox 49"/>
          <p:cNvSpPr txBox="1"/>
          <p:nvPr/>
        </p:nvSpPr>
        <p:spPr>
          <a:xfrm>
            <a:off x="6029325" y="3661410"/>
            <a:ext cx="1657350" cy="194310"/>
          </a:xfrm>
          <a:prstGeom prst="rect">
            <a:avLst/>
          </a:prstGeom>
          <a:noFill/>
        </p:spPr>
        <p:txBody>
          <a:bodyPr wrap="none" lIns="0" rIns="0" tIns="0" bIns="0">
            <a:spAutoFit/>
          </a:bodyPr>
          <a:lstStyle/>
          <a:p>
            <a:r>
              <a:rPr sz="1150" b="0">
                <a:solidFill>
                  <a:srgbClr val="2E2E2E"/>
                </a:solidFill>
                <a:latin typeface="Calibri"/>
              </a:rPr>
              <a:t>Sunscreen × Above SPF 50'</a:t>
            </a:r>
          </a:p>
        </p:txBody>
      </p:sp>
      <p:sp>
        <p:nvSpPr>
          <p:cNvPr id="51" name="TextBox 50"/>
          <p:cNvSpPr txBox="1"/>
          <p:nvPr/>
        </p:nvSpPr>
        <p:spPr>
          <a:xfrm>
            <a:off x="6029325" y="3836669"/>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52" name="Picture 51" descr="lock.png"/>
          <p:cNvPicPr>
            <a:picLocks noChangeAspect="1"/>
          </p:cNvPicPr>
          <p:nvPr/>
        </p:nvPicPr>
        <p:blipFill>
          <a:blip r:embed="rId4"/>
          <a:stretch>
            <a:fillRect/>
          </a:stretch>
        </p:blipFill>
        <p:spPr>
          <a:xfrm>
            <a:off x="6335083" y="3826446"/>
            <a:ext cx="134549" cy="195707"/>
          </a:xfrm>
          <a:prstGeom prst="rect">
            <a:avLst/>
          </a:prstGeom>
        </p:spPr>
      </p:pic>
      <p:sp>
        <p:nvSpPr>
          <p:cNvPr id="53" name="TextBox 52"/>
          <p:cNvSpPr txBox="1"/>
          <p:nvPr/>
        </p:nvSpPr>
        <p:spPr>
          <a:xfrm>
            <a:off x="6510192" y="3836669"/>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54" name="TextBox 53"/>
          <p:cNvSpPr txBox="1"/>
          <p:nvPr/>
        </p:nvSpPr>
        <p:spPr>
          <a:xfrm>
            <a:off x="6029325" y="4011929"/>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6127418" y="4001706"/>
            <a:ext cx="134549" cy="195707"/>
          </a:xfrm>
          <a:prstGeom prst="rect">
            <a:avLst/>
          </a:prstGeom>
        </p:spPr>
      </p:pic>
      <p:sp>
        <p:nvSpPr>
          <p:cNvPr id="56" name="TextBox 55"/>
          <p:cNvSpPr txBox="1"/>
          <p:nvPr/>
        </p:nvSpPr>
        <p:spPr>
          <a:xfrm>
            <a:off x="6302527" y="401192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57" name="TextBox 56"/>
          <p:cNvSpPr txBox="1"/>
          <p:nvPr/>
        </p:nvSpPr>
        <p:spPr>
          <a:xfrm>
            <a:off x="6029325" y="418718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58" name="TextBox 57"/>
          <p:cNvSpPr txBox="1"/>
          <p:nvPr/>
        </p:nvSpPr>
        <p:spPr>
          <a:xfrm>
            <a:off x="8124825" y="3486150"/>
            <a:ext cx="1340730" cy="194310"/>
          </a:xfrm>
          <a:prstGeom prst="rect">
            <a:avLst/>
          </a:prstGeom>
          <a:noFill/>
        </p:spPr>
        <p:txBody>
          <a:bodyPr wrap="none" lIns="0" rIns="0" tIns="0" bIns="0">
            <a:spAutoFit/>
          </a:bodyPr>
          <a:lstStyle/>
          <a:p>
            <a:r>
              <a:rPr sz="1150" b="0">
                <a:solidFill>
                  <a:srgbClr val="2E2E2E"/>
                </a:solidFill>
                <a:latin typeface="Calibri"/>
              </a:rPr>
              <a:t>▪ 'Chemical Ceramide</a:t>
            </a:r>
          </a:p>
        </p:txBody>
      </p:sp>
      <p:sp>
        <p:nvSpPr>
          <p:cNvPr id="59" name="TextBox 58"/>
          <p:cNvSpPr txBox="1"/>
          <p:nvPr/>
        </p:nvSpPr>
        <p:spPr>
          <a:xfrm>
            <a:off x="8124825" y="3661410"/>
            <a:ext cx="1657350" cy="194310"/>
          </a:xfrm>
          <a:prstGeom prst="rect">
            <a:avLst/>
          </a:prstGeom>
          <a:noFill/>
        </p:spPr>
        <p:txBody>
          <a:bodyPr wrap="none" lIns="0" rIns="0" tIns="0" bIns="0">
            <a:spAutoFit/>
          </a:bodyPr>
          <a:lstStyle/>
          <a:p>
            <a:r>
              <a:rPr sz="1150" b="0">
                <a:solidFill>
                  <a:srgbClr val="2E2E2E"/>
                </a:solidFill>
                <a:latin typeface="Calibri"/>
              </a:rPr>
              <a:t>Sunscreen × Above SPF 50'</a:t>
            </a:r>
          </a:p>
        </p:txBody>
      </p:sp>
      <p:sp>
        <p:nvSpPr>
          <p:cNvPr id="60" name="TextBox 59"/>
          <p:cNvSpPr txBox="1"/>
          <p:nvPr/>
        </p:nvSpPr>
        <p:spPr>
          <a:xfrm>
            <a:off x="8124825" y="3836669"/>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1" name="Picture 60" descr="lock.png"/>
          <p:cNvPicPr>
            <a:picLocks noChangeAspect="1"/>
          </p:cNvPicPr>
          <p:nvPr/>
        </p:nvPicPr>
        <p:blipFill>
          <a:blip r:embed="rId4"/>
          <a:stretch>
            <a:fillRect/>
          </a:stretch>
        </p:blipFill>
        <p:spPr>
          <a:xfrm>
            <a:off x="8763474" y="3826446"/>
            <a:ext cx="134549" cy="195707"/>
          </a:xfrm>
          <a:prstGeom prst="rect">
            <a:avLst/>
          </a:prstGeom>
        </p:spPr>
      </p:pic>
      <p:sp>
        <p:nvSpPr>
          <p:cNvPr id="62" name="TextBox 61"/>
          <p:cNvSpPr txBox="1"/>
          <p:nvPr/>
        </p:nvSpPr>
        <p:spPr>
          <a:xfrm>
            <a:off x="8938584" y="383666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3" name="Picture 62" descr="lock.png"/>
          <p:cNvPicPr>
            <a:picLocks noChangeAspect="1"/>
          </p:cNvPicPr>
          <p:nvPr/>
        </p:nvPicPr>
        <p:blipFill>
          <a:blip r:embed="rId4"/>
          <a:stretch>
            <a:fillRect/>
          </a:stretch>
        </p:blipFill>
        <p:spPr>
          <a:xfrm>
            <a:off x="9334179" y="3826446"/>
            <a:ext cx="134549" cy="195707"/>
          </a:xfrm>
          <a:prstGeom prst="rect">
            <a:avLst/>
          </a:prstGeom>
        </p:spPr>
      </p:pic>
      <p:sp>
        <p:nvSpPr>
          <p:cNvPr id="64" name="TextBox 63"/>
          <p:cNvSpPr txBox="1"/>
          <p:nvPr/>
        </p:nvSpPr>
        <p:spPr>
          <a:xfrm>
            <a:off x="8124825" y="401192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5" name="TextBox 64"/>
          <p:cNvSpPr txBox="1"/>
          <p:nvPr/>
        </p:nvSpPr>
        <p:spPr>
          <a:xfrm>
            <a:off x="8124825" y="418718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Ingredient Type × Product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Ingredient Type × Product Type,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ingredient type sub-segment across product type sub-segments</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Ingredient Type × Product Type, 2026E and 2036F (US$ Mn)</a:t>
            </a:r>
          </a:p>
        </p:txBody>
      </p:sp>
      <p:graphicFrame>
        <p:nvGraphicFramePr>
          <p:cNvPr id="12" name="Table 11"/>
          <p:cNvGraphicFramePr>
            <a:graphicFrameLocks noGrp="1"/>
          </p:cNvGraphicFramePr>
          <p:nvPr/>
        </p:nvGraphicFramePr>
        <p:xfrm>
          <a:off x="152400" y="1238250"/>
          <a:ext cx="11887198" cy="1485896"/>
        </p:xfrm>
        <a:graphic>
          <a:graphicData uri="http://schemas.openxmlformats.org/drawingml/2006/table">
            <a:tbl>
              <a:tblPr>
                <a:tableStyleId>{5C22544A-7EE6-4342-B048-85BDC9FD1C3A}</a:tableStyleId>
              </a:tblPr>
              <a:tblGrid>
                <a:gridCol w="3198966"/>
                <a:gridCol w="1086029"/>
                <a:gridCol w="1086029"/>
                <a:gridCol w="1086029"/>
                <a:gridCol w="1086029"/>
                <a:gridCol w="1086029"/>
                <a:gridCol w="1086029"/>
                <a:gridCol w="1086029"/>
                <a:gridCol w="1086029"/>
              </a:tblGrid>
              <a:tr h="246126">
                <a:tc rowSpan="2">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Mineral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Chemical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Hybrid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95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Niche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Emerging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7286625"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1242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Ingredient Type → Product Type, 2036F (US$ Mn)</a:t>
            </a:r>
          </a:p>
        </p:txBody>
      </p:sp>
      <p:sp>
        <p:nvSpPr>
          <p:cNvPr id="16" name="Freeform 15"/>
          <p:cNvSpPr/>
          <p:nvPr/>
        </p:nvSpPr>
        <p:spPr>
          <a:xfrm>
            <a:off x="2057400" y="3390900"/>
            <a:ext cx="3743325" cy="771525"/>
          </a:xfrm>
          <a:custGeom>
            <a:avLst/>
            <a:gdLst/>
            <a:ahLst/>
            <a:cxnLst/>
            <a:rect l="l" t="t" r="r" b="b"/>
            <a:pathLst>
              <a:path w="393" h="81">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81"/>
                </a:lnTo>
                <a:lnTo>
                  <a:pt x="377" y="81"/>
                </a:lnTo>
                <a:lnTo>
                  <a:pt x="360" y="81"/>
                </a:lnTo>
                <a:lnTo>
                  <a:pt x="344" y="81"/>
                </a:lnTo>
                <a:lnTo>
                  <a:pt x="327" y="81"/>
                </a:lnTo>
                <a:lnTo>
                  <a:pt x="311" y="81"/>
                </a:lnTo>
                <a:lnTo>
                  <a:pt x="295" y="81"/>
                </a:lnTo>
                <a:lnTo>
                  <a:pt x="278" y="81"/>
                </a:lnTo>
                <a:lnTo>
                  <a:pt x="262" y="81"/>
                </a:lnTo>
                <a:lnTo>
                  <a:pt x="246" y="81"/>
                </a:lnTo>
                <a:lnTo>
                  <a:pt x="229" y="81"/>
                </a:lnTo>
                <a:lnTo>
                  <a:pt x="213" y="81"/>
                </a:lnTo>
                <a:lnTo>
                  <a:pt x="196" y="81"/>
                </a:lnTo>
                <a:lnTo>
                  <a:pt x="180" y="81"/>
                </a:lnTo>
                <a:lnTo>
                  <a:pt x="164" y="81"/>
                </a:lnTo>
                <a:lnTo>
                  <a:pt x="147" y="81"/>
                </a:lnTo>
                <a:lnTo>
                  <a:pt x="131" y="81"/>
                </a:lnTo>
                <a:lnTo>
                  <a:pt x="114" y="81"/>
                </a:lnTo>
                <a:lnTo>
                  <a:pt x="98" y="81"/>
                </a:lnTo>
                <a:lnTo>
                  <a:pt x="82" y="81"/>
                </a:lnTo>
                <a:lnTo>
                  <a:pt x="65" y="81"/>
                </a:lnTo>
                <a:lnTo>
                  <a:pt x="49" y="81"/>
                </a:lnTo>
                <a:lnTo>
                  <a:pt x="33" y="81"/>
                </a:lnTo>
                <a:lnTo>
                  <a:pt x="16" y="81"/>
                </a:lnTo>
                <a:lnTo>
                  <a:pt x="0" y="8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162425"/>
            <a:ext cx="3743325" cy="1533525"/>
          </a:xfrm>
          <a:custGeom>
            <a:avLst/>
            <a:gdLst/>
            <a:ahLst/>
            <a:cxnLst/>
            <a:rect l="l" t="t" r="r" b="b"/>
            <a:pathLst>
              <a:path w="393" h="161">
                <a:moveTo>
                  <a:pt x="0" y="0"/>
                </a:moveTo>
                <a:lnTo>
                  <a:pt x="16" y="1"/>
                </a:lnTo>
                <a:lnTo>
                  <a:pt x="33" y="2"/>
                </a:lnTo>
                <a:lnTo>
                  <a:pt x="49" y="5"/>
                </a:lnTo>
                <a:lnTo>
                  <a:pt x="65" y="8"/>
                </a:lnTo>
                <a:lnTo>
                  <a:pt x="82" y="13"/>
                </a:lnTo>
                <a:lnTo>
                  <a:pt x="98" y="18"/>
                </a:lnTo>
                <a:lnTo>
                  <a:pt x="114" y="23"/>
                </a:lnTo>
                <a:lnTo>
                  <a:pt x="131" y="29"/>
                </a:lnTo>
                <a:lnTo>
                  <a:pt x="147" y="35"/>
                </a:lnTo>
                <a:lnTo>
                  <a:pt x="164" y="42"/>
                </a:lnTo>
                <a:lnTo>
                  <a:pt x="180" y="49"/>
                </a:lnTo>
                <a:lnTo>
                  <a:pt x="196" y="56"/>
                </a:lnTo>
                <a:lnTo>
                  <a:pt x="213" y="63"/>
                </a:lnTo>
                <a:lnTo>
                  <a:pt x="229" y="70"/>
                </a:lnTo>
                <a:lnTo>
                  <a:pt x="246" y="76"/>
                </a:lnTo>
                <a:lnTo>
                  <a:pt x="262" y="83"/>
                </a:lnTo>
                <a:lnTo>
                  <a:pt x="278" y="89"/>
                </a:lnTo>
                <a:lnTo>
                  <a:pt x="295" y="94"/>
                </a:lnTo>
                <a:lnTo>
                  <a:pt x="311" y="99"/>
                </a:lnTo>
                <a:lnTo>
                  <a:pt x="327" y="103"/>
                </a:lnTo>
                <a:lnTo>
                  <a:pt x="344" y="107"/>
                </a:lnTo>
                <a:lnTo>
                  <a:pt x="360" y="109"/>
                </a:lnTo>
                <a:lnTo>
                  <a:pt x="377" y="111"/>
                </a:lnTo>
                <a:lnTo>
                  <a:pt x="393" y="112"/>
                </a:lnTo>
                <a:lnTo>
                  <a:pt x="393" y="161"/>
                </a:lnTo>
                <a:lnTo>
                  <a:pt x="377" y="161"/>
                </a:lnTo>
                <a:lnTo>
                  <a:pt x="360" y="159"/>
                </a:lnTo>
                <a:lnTo>
                  <a:pt x="344" y="157"/>
                </a:lnTo>
                <a:lnTo>
                  <a:pt x="327" y="153"/>
                </a:lnTo>
                <a:lnTo>
                  <a:pt x="311" y="149"/>
                </a:lnTo>
                <a:lnTo>
                  <a:pt x="295" y="144"/>
                </a:lnTo>
                <a:lnTo>
                  <a:pt x="278" y="139"/>
                </a:lnTo>
                <a:lnTo>
                  <a:pt x="262" y="133"/>
                </a:lnTo>
                <a:lnTo>
                  <a:pt x="246" y="126"/>
                </a:lnTo>
                <a:lnTo>
                  <a:pt x="229" y="120"/>
                </a:lnTo>
                <a:lnTo>
                  <a:pt x="213" y="113"/>
                </a:lnTo>
                <a:lnTo>
                  <a:pt x="196" y="106"/>
                </a:lnTo>
                <a:lnTo>
                  <a:pt x="180" y="99"/>
                </a:lnTo>
                <a:lnTo>
                  <a:pt x="164" y="92"/>
                </a:lnTo>
                <a:lnTo>
                  <a:pt x="147" y="85"/>
                </a:lnTo>
                <a:lnTo>
                  <a:pt x="131" y="79"/>
                </a:lnTo>
                <a:lnTo>
                  <a:pt x="114" y="73"/>
                </a:lnTo>
                <a:lnTo>
                  <a:pt x="98" y="67"/>
                </a:lnTo>
                <a:lnTo>
                  <a:pt x="82" y="63"/>
                </a:lnTo>
                <a:lnTo>
                  <a:pt x="65" y="58"/>
                </a:lnTo>
                <a:lnTo>
                  <a:pt x="49" y="55"/>
                </a:lnTo>
                <a:lnTo>
                  <a:pt x="33" y="52"/>
                </a:lnTo>
                <a:lnTo>
                  <a:pt x="16" y="51"/>
                </a:lnTo>
                <a:lnTo>
                  <a:pt x="0" y="5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38675"/>
            <a:ext cx="3743325" cy="1714500"/>
          </a:xfrm>
          <a:custGeom>
            <a:avLst/>
            <a:gdLst/>
            <a:ahLst/>
            <a:cxnLst/>
            <a:rect l="l" t="t" r="r" b="b"/>
            <a:pathLst>
              <a:path w="393" h="180">
                <a:moveTo>
                  <a:pt x="0" y="0"/>
                </a:moveTo>
                <a:lnTo>
                  <a:pt x="16" y="1"/>
                </a:lnTo>
                <a:lnTo>
                  <a:pt x="33" y="3"/>
                </a:lnTo>
                <a:lnTo>
                  <a:pt x="49" y="7"/>
                </a:lnTo>
                <a:lnTo>
                  <a:pt x="65" y="12"/>
                </a:lnTo>
                <a:lnTo>
                  <a:pt x="82" y="18"/>
                </a:lnTo>
                <a:lnTo>
                  <a:pt x="98" y="25"/>
                </a:lnTo>
                <a:lnTo>
                  <a:pt x="114" y="33"/>
                </a:lnTo>
                <a:lnTo>
                  <a:pt x="131" y="42"/>
                </a:lnTo>
                <a:lnTo>
                  <a:pt x="147" y="51"/>
                </a:lnTo>
                <a:lnTo>
                  <a:pt x="164" y="61"/>
                </a:lnTo>
                <a:lnTo>
                  <a:pt x="180" y="71"/>
                </a:lnTo>
                <a:lnTo>
                  <a:pt x="196" y="81"/>
                </a:lnTo>
                <a:lnTo>
                  <a:pt x="213" y="91"/>
                </a:lnTo>
                <a:lnTo>
                  <a:pt x="229" y="101"/>
                </a:lnTo>
                <a:lnTo>
                  <a:pt x="246" y="110"/>
                </a:lnTo>
                <a:lnTo>
                  <a:pt x="262" y="120"/>
                </a:lnTo>
                <a:lnTo>
                  <a:pt x="278" y="128"/>
                </a:lnTo>
                <a:lnTo>
                  <a:pt x="295" y="136"/>
                </a:lnTo>
                <a:lnTo>
                  <a:pt x="311" y="143"/>
                </a:lnTo>
                <a:lnTo>
                  <a:pt x="327" y="149"/>
                </a:lnTo>
                <a:lnTo>
                  <a:pt x="344" y="154"/>
                </a:lnTo>
                <a:lnTo>
                  <a:pt x="360" y="158"/>
                </a:lnTo>
                <a:lnTo>
                  <a:pt x="377" y="161"/>
                </a:lnTo>
                <a:lnTo>
                  <a:pt x="393" y="161"/>
                </a:lnTo>
                <a:lnTo>
                  <a:pt x="393" y="180"/>
                </a:lnTo>
                <a:lnTo>
                  <a:pt x="377" y="179"/>
                </a:lnTo>
                <a:lnTo>
                  <a:pt x="360" y="177"/>
                </a:lnTo>
                <a:lnTo>
                  <a:pt x="344" y="173"/>
                </a:lnTo>
                <a:lnTo>
                  <a:pt x="327" y="168"/>
                </a:lnTo>
                <a:lnTo>
                  <a:pt x="311" y="162"/>
                </a:lnTo>
                <a:lnTo>
                  <a:pt x="295" y="155"/>
                </a:lnTo>
                <a:lnTo>
                  <a:pt x="278" y="147"/>
                </a:lnTo>
                <a:lnTo>
                  <a:pt x="262" y="138"/>
                </a:lnTo>
                <a:lnTo>
                  <a:pt x="246" y="129"/>
                </a:lnTo>
                <a:lnTo>
                  <a:pt x="229" y="119"/>
                </a:lnTo>
                <a:lnTo>
                  <a:pt x="213" y="110"/>
                </a:lnTo>
                <a:lnTo>
                  <a:pt x="196" y="99"/>
                </a:lnTo>
                <a:lnTo>
                  <a:pt x="180" y="89"/>
                </a:lnTo>
                <a:lnTo>
                  <a:pt x="164" y="79"/>
                </a:lnTo>
                <a:lnTo>
                  <a:pt x="147" y="70"/>
                </a:lnTo>
                <a:lnTo>
                  <a:pt x="131" y="61"/>
                </a:lnTo>
                <a:lnTo>
                  <a:pt x="114" y="52"/>
                </a:lnTo>
                <a:lnTo>
                  <a:pt x="98" y="44"/>
                </a:lnTo>
                <a:lnTo>
                  <a:pt x="82" y="37"/>
                </a:lnTo>
                <a:lnTo>
                  <a:pt x="65" y="31"/>
                </a:lnTo>
                <a:lnTo>
                  <a:pt x="49" y="26"/>
                </a:lnTo>
                <a:lnTo>
                  <a:pt x="33" y="22"/>
                </a:lnTo>
                <a:lnTo>
                  <a:pt x="16" y="20"/>
                </a:lnTo>
                <a:lnTo>
                  <a:pt x="0" y="1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162425"/>
            <a:ext cx="3743325" cy="1333500"/>
          </a:xfrm>
          <a:custGeom>
            <a:avLst/>
            <a:gdLst/>
            <a:ahLst/>
            <a:cxnLst/>
            <a:rect l="l" t="t" r="r" b="b"/>
            <a:pathLst>
              <a:path w="393" h="140">
                <a:moveTo>
                  <a:pt x="0" y="75"/>
                </a:moveTo>
                <a:lnTo>
                  <a:pt x="16" y="74"/>
                </a:lnTo>
                <a:lnTo>
                  <a:pt x="33" y="73"/>
                </a:lnTo>
                <a:lnTo>
                  <a:pt x="49" y="72"/>
                </a:lnTo>
                <a:lnTo>
                  <a:pt x="65" y="69"/>
                </a:lnTo>
                <a:lnTo>
                  <a:pt x="82" y="66"/>
                </a:lnTo>
                <a:lnTo>
                  <a:pt x="98" y="63"/>
                </a:lnTo>
                <a:lnTo>
                  <a:pt x="114" y="59"/>
                </a:lnTo>
                <a:lnTo>
                  <a:pt x="131" y="55"/>
                </a:lnTo>
                <a:lnTo>
                  <a:pt x="147" y="51"/>
                </a:lnTo>
                <a:lnTo>
                  <a:pt x="164" y="47"/>
                </a:lnTo>
                <a:lnTo>
                  <a:pt x="180" y="42"/>
                </a:lnTo>
                <a:lnTo>
                  <a:pt x="196" y="37"/>
                </a:lnTo>
                <a:lnTo>
                  <a:pt x="213" y="33"/>
                </a:lnTo>
                <a:lnTo>
                  <a:pt x="229" y="28"/>
                </a:lnTo>
                <a:lnTo>
                  <a:pt x="246" y="24"/>
                </a:lnTo>
                <a:lnTo>
                  <a:pt x="262" y="19"/>
                </a:lnTo>
                <a:lnTo>
                  <a:pt x="278" y="15"/>
                </a:lnTo>
                <a:lnTo>
                  <a:pt x="295" y="12"/>
                </a:lnTo>
                <a:lnTo>
                  <a:pt x="311" y="9"/>
                </a:lnTo>
                <a:lnTo>
                  <a:pt x="327" y="6"/>
                </a:lnTo>
                <a:lnTo>
                  <a:pt x="344" y="3"/>
                </a:lnTo>
                <a:lnTo>
                  <a:pt x="360" y="2"/>
                </a:lnTo>
                <a:lnTo>
                  <a:pt x="377" y="1"/>
                </a:lnTo>
                <a:lnTo>
                  <a:pt x="393" y="0"/>
                </a:lnTo>
                <a:lnTo>
                  <a:pt x="393" y="66"/>
                </a:lnTo>
                <a:lnTo>
                  <a:pt x="377" y="66"/>
                </a:lnTo>
                <a:lnTo>
                  <a:pt x="360" y="67"/>
                </a:lnTo>
                <a:lnTo>
                  <a:pt x="344" y="69"/>
                </a:lnTo>
                <a:lnTo>
                  <a:pt x="327" y="71"/>
                </a:lnTo>
                <a:lnTo>
                  <a:pt x="311" y="74"/>
                </a:lnTo>
                <a:lnTo>
                  <a:pt x="295" y="77"/>
                </a:lnTo>
                <a:lnTo>
                  <a:pt x="278" y="81"/>
                </a:lnTo>
                <a:lnTo>
                  <a:pt x="262" y="85"/>
                </a:lnTo>
                <a:lnTo>
                  <a:pt x="246" y="89"/>
                </a:lnTo>
                <a:lnTo>
                  <a:pt x="229" y="94"/>
                </a:lnTo>
                <a:lnTo>
                  <a:pt x="213" y="98"/>
                </a:lnTo>
                <a:lnTo>
                  <a:pt x="196" y="103"/>
                </a:lnTo>
                <a:lnTo>
                  <a:pt x="180" y="108"/>
                </a:lnTo>
                <a:lnTo>
                  <a:pt x="164" y="112"/>
                </a:lnTo>
                <a:lnTo>
                  <a:pt x="147" y="117"/>
                </a:lnTo>
                <a:lnTo>
                  <a:pt x="131" y="121"/>
                </a:lnTo>
                <a:lnTo>
                  <a:pt x="114" y="125"/>
                </a:lnTo>
                <a:lnTo>
                  <a:pt x="98" y="129"/>
                </a:lnTo>
                <a:lnTo>
                  <a:pt x="82" y="132"/>
                </a:lnTo>
                <a:lnTo>
                  <a:pt x="65" y="135"/>
                </a:lnTo>
                <a:lnTo>
                  <a:pt x="49" y="137"/>
                </a:lnTo>
                <a:lnTo>
                  <a:pt x="33" y="139"/>
                </a:lnTo>
                <a:lnTo>
                  <a:pt x="16" y="140"/>
                </a:lnTo>
                <a:lnTo>
                  <a:pt x="0" y="14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5495925"/>
            <a:ext cx="3743325" cy="504825"/>
          </a:xfrm>
          <a:custGeom>
            <a:avLst/>
            <a:gdLst/>
            <a:ahLst/>
            <a:cxnLst/>
            <a:rect l="l" t="t" r="r" b="b"/>
            <a:pathLst>
              <a:path w="393" h="53">
                <a:moveTo>
                  <a:pt x="0" y="0"/>
                </a:moveTo>
                <a:lnTo>
                  <a:pt x="16" y="1"/>
                </a:lnTo>
                <a:lnTo>
                  <a:pt x="33" y="1"/>
                </a:lnTo>
                <a:lnTo>
                  <a:pt x="49" y="1"/>
                </a:lnTo>
                <a:lnTo>
                  <a:pt x="65" y="2"/>
                </a:lnTo>
                <a:lnTo>
                  <a:pt x="82" y="3"/>
                </a:lnTo>
                <a:lnTo>
                  <a:pt x="98" y="4"/>
                </a:lnTo>
                <a:lnTo>
                  <a:pt x="114" y="5"/>
                </a:lnTo>
                <a:lnTo>
                  <a:pt x="131" y="6"/>
                </a:lnTo>
                <a:lnTo>
                  <a:pt x="147" y="7"/>
                </a:lnTo>
                <a:lnTo>
                  <a:pt x="164" y="8"/>
                </a:lnTo>
                <a:lnTo>
                  <a:pt x="180" y="10"/>
                </a:lnTo>
                <a:lnTo>
                  <a:pt x="196" y="11"/>
                </a:lnTo>
                <a:lnTo>
                  <a:pt x="213" y="12"/>
                </a:lnTo>
                <a:lnTo>
                  <a:pt x="229" y="14"/>
                </a:lnTo>
                <a:lnTo>
                  <a:pt x="246" y="15"/>
                </a:lnTo>
                <a:lnTo>
                  <a:pt x="262" y="16"/>
                </a:lnTo>
                <a:lnTo>
                  <a:pt x="278" y="17"/>
                </a:lnTo>
                <a:lnTo>
                  <a:pt x="295" y="18"/>
                </a:lnTo>
                <a:lnTo>
                  <a:pt x="311" y="19"/>
                </a:lnTo>
                <a:lnTo>
                  <a:pt x="327" y="20"/>
                </a:lnTo>
                <a:lnTo>
                  <a:pt x="344" y="21"/>
                </a:lnTo>
                <a:lnTo>
                  <a:pt x="360" y="21"/>
                </a:lnTo>
                <a:lnTo>
                  <a:pt x="377" y="21"/>
                </a:lnTo>
                <a:lnTo>
                  <a:pt x="393" y="21"/>
                </a:lnTo>
                <a:lnTo>
                  <a:pt x="393" y="53"/>
                </a:lnTo>
                <a:lnTo>
                  <a:pt x="377" y="53"/>
                </a:lnTo>
                <a:lnTo>
                  <a:pt x="360" y="53"/>
                </a:lnTo>
                <a:lnTo>
                  <a:pt x="344" y="52"/>
                </a:lnTo>
                <a:lnTo>
                  <a:pt x="327" y="51"/>
                </a:lnTo>
                <a:lnTo>
                  <a:pt x="311" y="51"/>
                </a:lnTo>
                <a:lnTo>
                  <a:pt x="295" y="50"/>
                </a:lnTo>
                <a:lnTo>
                  <a:pt x="278" y="49"/>
                </a:lnTo>
                <a:lnTo>
                  <a:pt x="262" y="48"/>
                </a:lnTo>
                <a:lnTo>
                  <a:pt x="246" y="46"/>
                </a:lnTo>
                <a:lnTo>
                  <a:pt x="229" y="45"/>
                </a:lnTo>
                <a:lnTo>
                  <a:pt x="213" y="44"/>
                </a:lnTo>
                <a:lnTo>
                  <a:pt x="196" y="43"/>
                </a:lnTo>
                <a:lnTo>
                  <a:pt x="180" y="41"/>
                </a:lnTo>
                <a:lnTo>
                  <a:pt x="164" y="40"/>
                </a:lnTo>
                <a:lnTo>
                  <a:pt x="147" y="39"/>
                </a:lnTo>
                <a:lnTo>
                  <a:pt x="131" y="37"/>
                </a:lnTo>
                <a:lnTo>
                  <a:pt x="114" y="36"/>
                </a:lnTo>
                <a:lnTo>
                  <a:pt x="98" y="35"/>
                </a:lnTo>
                <a:lnTo>
                  <a:pt x="82" y="34"/>
                </a:lnTo>
                <a:lnTo>
                  <a:pt x="65" y="34"/>
                </a:lnTo>
                <a:lnTo>
                  <a:pt x="49" y="33"/>
                </a:lnTo>
                <a:lnTo>
                  <a:pt x="33" y="32"/>
                </a:lnTo>
                <a:lnTo>
                  <a:pt x="16" y="32"/>
                </a:lnTo>
                <a:lnTo>
                  <a:pt x="0" y="3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800725"/>
            <a:ext cx="3743325" cy="676275"/>
          </a:xfrm>
          <a:custGeom>
            <a:avLst/>
            <a:gdLst/>
            <a:ahLst/>
            <a:cxnLst/>
            <a:rect l="l" t="t" r="r" b="b"/>
            <a:pathLst>
              <a:path w="393" h="71">
                <a:moveTo>
                  <a:pt x="0" y="0"/>
                </a:moveTo>
                <a:lnTo>
                  <a:pt x="16" y="0"/>
                </a:lnTo>
                <a:lnTo>
                  <a:pt x="33" y="1"/>
                </a:lnTo>
                <a:lnTo>
                  <a:pt x="49" y="2"/>
                </a:lnTo>
                <a:lnTo>
                  <a:pt x="65" y="4"/>
                </a:lnTo>
                <a:lnTo>
                  <a:pt x="82" y="6"/>
                </a:lnTo>
                <a:lnTo>
                  <a:pt x="98" y="9"/>
                </a:lnTo>
                <a:lnTo>
                  <a:pt x="114" y="12"/>
                </a:lnTo>
                <a:lnTo>
                  <a:pt x="131" y="15"/>
                </a:lnTo>
                <a:lnTo>
                  <a:pt x="147" y="18"/>
                </a:lnTo>
                <a:lnTo>
                  <a:pt x="164" y="22"/>
                </a:lnTo>
                <a:lnTo>
                  <a:pt x="180" y="25"/>
                </a:lnTo>
                <a:lnTo>
                  <a:pt x="196" y="29"/>
                </a:lnTo>
                <a:lnTo>
                  <a:pt x="213" y="33"/>
                </a:lnTo>
                <a:lnTo>
                  <a:pt x="229" y="36"/>
                </a:lnTo>
                <a:lnTo>
                  <a:pt x="246" y="40"/>
                </a:lnTo>
                <a:lnTo>
                  <a:pt x="262" y="43"/>
                </a:lnTo>
                <a:lnTo>
                  <a:pt x="278" y="46"/>
                </a:lnTo>
                <a:lnTo>
                  <a:pt x="295" y="49"/>
                </a:lnTo>
                <a:lnTo>
                  <a:pt x="311" y="52"/>
                </a:lnTo>
                <a:lnTo>
                  <a:pt x="327" y="54"/>
                </a:lnTo>
                <a:lnTo>
                  <a:pt x="344" y="56"/>
                </a:lnTo>
                <a:lnTo>
                  <a:pt x="360" y="57"/>
                </a:lnTo>
                <a:lnTo>
                  <a:pt x="377" y="58"/>
                </a:lnTo>
                <a:lnTo>
                  <a:pt x="393" y="58"/>
                </a:lnTo>
                <a:lnTo>
                  <a:pt x="393" y="71"/>
                </a:lnTo>
                <a:lnTo>
                  <a:pt x="377" y="71"/>
                </a:lnTo>
                <a:lnTo>
                  <a:pt x="360" y="70"/>
                </a:lnTo>
                <a:lnTo>
                  <a:pt x="344" y="69"/>
                </a:lnTo>
                <a:lnTo>
                  <a:pt x="327" y="67"/>
                </a:lnTo>
                <a:lnTo>
                  <a:pt x="311" y="65"/>
                </a:lnTo>
                <a:lnTo>
                  <a:pt x="295" y="62"/>
                </a:lnTo>
                <a:lnTo>
                  <a:pt x="278" y="59"/>
                </a:lnTo>
                <a:lnTo>
                  <a:pt x="262" y="56"/>
                </a:lnTo>
                <a:lnTo>
                  <a:pt x="246" y="53"/>
                </a:lnTo>
                <a:lnTo>
                  <a:pt x="229" y="49"/>
                </a:lnTo>
                <a:lnTo>
                  <a:pt x="213" y="46"/>
                </a:lnTo>
                <a:lnTo>
                  <a:pt x="196" y="42"/>
                </a:lnTo>
                <a:lnTo>
                  <a:pt x="180" y="38"/>
                </a:lnTo>
                <a:lnTo>
                  <a:pt x="164" y="35"/>
                </a:lnTo>
                <a:lnTo>
                  <a:pt x="147" y="31"/>
                </a:lnTo>
                <a:lnTo>
                  <a:pt x="131" y="28"/>
                </a:lnTo>
                <a:lnTo>
                  <a:pt x="114" y="25"/>
                </a:lnTo>
                <a:lnTo>
                  <a:pt x="98" y="22"/>
                </a:lnTo>
                <a:lnTo>
                  <a:pt x="82" y="20"/>
                </a:lnTo>
                <a:lnTo>
                  <a:pt x="65" y="17"/>
                </a:lnTo>
                <a:lnTo>
                  <a:pt x="49" y="16"/>
                </a:lnTo>
                <a:lnTo>
                  <a:pt x="33" y="14"/>
                </a:lnTo>
                <a:lnTo>
                  <a:pt x="16" y="13"/>
                </a:lnTo>
                <a:lnTo>
                  <a:pt x="0" y="1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791075"/>
            <a:ext cx="3743325" cy="1571625"/>
          </a:xfrm>
          <a:custGeom>
            <a:avLst/>
            <a:gdLst/>
            <a:ahLst/>
            <a:cxnLst/>
            <a:rect l="l" t="t" r="r" b="b"/>
            <a:pathLst>
              <a:path w="393" h="165">
                <a:moveTo>
                  <a:pt x="0" y="125"/>
                </a:moveTo>
                <a:lnTo>
                  <a:pt x="16" y="124"/>
                </a:lnTo>
                <a:lnTo>
                  <a:pt x="33" y="123"/>
                </a:lnTo>
                <a:lnTo>
                  <a:pt x="49" y="120"/>
                </a:lnTo>
                <a:lnTo>
                  <a:pt x="65" y="116"/>
                </a:lnTo>
                <a:lnTo>
                  <a:pt x="82" y="111"/>
                </a:lnTo>
                <a:lnTo>
                  <a:pt x="98" y="105"/>
                </a:lnTo>
                <a:lnTo>
                  <a:pt x="114" y="99"/>
                </a:lnTo>
                <a:lnTo>
                  <a:pt x="131" y="93"/>
                </a:lnTo>
                <a:lnTo>
                  <a:pt x="147" y="85"/>
                </a:lnTo>
                <a:lnTo>
                  <a:pt x="164" y="78"/>
                </a:lnTo>
                <a:lnTo>
                  <a:pt x="180" y="70"/>
                </a:lnTo>
                <a:lnTo>
                  <a:pt x="196" y="62"/>
                </a:lnTo>
                <a:lnTo>
                  <a:pt x="213" y="55"/>
                </a:lnTo>
                <a:lnTo>
                  <a:pt x="229" y="47"/>
                </a:lnTo>
                <a:lnTo>
                  <a:pt x="246" y="39"/>
                </a:lnTo>
                <a:lnTo>
                  <a:pt x="262" y="32"/>
                </a:lnTo>
                <a:lnTo>
                  <a:pt x="278" y="26"/>
                </a:lnTo>
                <a:lnTo>
                  <a:pt x="295" y="19"/>
                </a:lnTo>
                <a:lnTo>
                  <a:pt x="311" y="14"/>
                </a:lnTo>
                <a:lnTo>
                  <a:pt x="327" y="9"/>
                </a:lnTo>
                <a:lnTo>
                  <a:pt x="344" y="5"/>
                </a:lnTo>
                <a:lnTo>
                  <a:pt x="360" y="2"/>
                </a:lnTo>
                <a:lnTo>
                  <a:pt x="377" y="0"/>
                </a:lnTo>
                <a:lnTo>
                  <a:pt x="393" y="0"/>
                </a:lnTo>
                <a:lnTo>
                  <a:pt x="393" y="40"/>
                </a:lnTo>
                <a:lnTo>
                  <a:pt x="377" y="40"/>
                </a:lnTo>
                <a:lnTo>
                  <a:pt x="360" y="42"/>
                </a:lnTo>
                <a:lnTo>
                  <a:pt x="344" y="45"/>
                </a:lnTo>
                <a:lnTo>
                  <a:pt x="327" y="49"/>
                </a:lnTo>
                <a:lnTo>
                  <a:pt x="311" y="54"/>
                </a:lnTo>
                <a:lnTo>
                  <a:pt x="295" y="59"/>
                </a:lnTo>
                <a:lnTo>
                  <a:pt x="278" y="65"/>
                </a:lnTo>
                <a:lnTo>
                  <a:pt x="262" y="72"/>
                </a:lnTo>
                <a:lnTo>
                  <a:pt x="246" y="79"/>
                </a:lnTo>
                <a:lnTo>
                  <a:pt x="229" y="87"/>
                </a:lnTo>
                <a:lnTo>
                  <a:pt x="213" y="94"/>
                </a:lnTo>
                <a:lnTo>
                  <a:pt x="196" y="102"/>
                </a:lnTo>
                <a:lnTo>
                  <a:pt x="180" y="110"/>
                </a:lnTo>
                <a:lnTo>
                  <a:pt x="164" y="118"/>
                </a:lnTo>
                <a:lnTo>
                  <a:pt x="147" y="125"/>
                </a:lnTo>
                <a:lnTo>
                  <a:pt x="131" y="132"/>
                </a:lnTo>
                <a:lnTo>
                  <a:pt x="114" y="139"/>
                </a:lnTo>
                <a:lnTo>
                  <a:pt x="98" y="145"/>
                </a:lnTo>
                <a:lnTo>
                  <a:pt x="82" y="151"/>
                </a:lnTo>
                <a:lnTo>
                  <a:pt x="65" y="156"/>
                </a:lnTo>
                <a:lnTo>
                  <a:pt x="49" y="159"/>
                </a:lnTo>
                <a:lnTo>
                  <a:pt x="33" y="162"/>
                </a:lnTo>
                <a:lnTo>
                  <a:pt x="16" y="164"/>
                </a:lnTo>
                <a:lnTo>
                  <a:pt x="0" y="16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6000750"/>
            <a:ext cx="3743325" cy="476250"/>
          </a:xfrm>
          <a:custGeom>
            <a:avLst/>
            <a:gdLst/>
            <a:ahLst/>
            <a:cxnLst/>
            <a:rect l="l" t="t" r="r" b="b"/>
            <a:pathLst>
              <a:path w="393" h="50">
                <a:moveTo>
                  <a:pt x="0" y="38"/>
                </a:moveTo>
                <a:lnTo>
                  <a:pt x="16" y="38"/>
                </a:lnTo>
                <a:lnTo>
                  <a:pt x="33" y="37"/>
                </a:lnTo>
                <a:lnTo>
                  <a:pt x="49" y="36"/>
                </a:lnTo>
                <a:lnTo>
                  <a:pt x="65" y="35"/>
                </a:lnTo>
                <a:lnTo>
                  <a:pt x="82" y="34"/>
                </a:lnTo>
                <a:lnTo>
                  <a:pt x="98" y="32"/>
                </a:lnTo>
                <a:lnTo>
                  <a:pt x="114" y="30"/>
                </a:lnTo>
                <a:lnTo>
                  <a:pt x="131" y="28"/>
                </a:lnTo>
                <a:lnTo>
                  <a:pt x="147" y="26"/>
                </a:lnTo>
                <a:lnTo>
                  <a:pt x="164" y="24"/>
                </a:lnTo>
                <a:lnTo>
                  <a:pt x="180" y="21"/>
                </a:lnTo>
                <a:lnTo>
                  <a:pt x="196" y="19"/>
                </a:lnTo>
                <a:lnTo>
                  <a:pt x="213" y="17"/>
                </a:lnTo>
                <a:lnTo>
                  <a:pt x="229" y="14"/>
                </a:lnTo>
                <a:lnTo>
                  <a:pt x="246" y="12"/>
                </a:lnTo>
                <a:lnTo>
                  <a:pt x="262" y="10"/>
                </a:lnTo>
                <a:lnTo>
                  <a:pt x="278" y="8"/>
                </a:lnTo>
                <a:lnTo>
                  <a:pt x="295" y="6"/>
                </a:lnTo>
                <a:lnTo>
                  <a:pt x="311" y="4"/>
                </a:lnTo>
                <a:lnTo>
                  <a:pt x="327" y="3"/>
                </a:lnTo>
                <a:lnTo>
                  <a:pt x="344" y="2"/>
                </a:lnTo>
                <a:lnTo>
                  <a:pt x="360" y="1"/>
                </a:lnTo>
                <a:lnTo>
                  <a:pt x="377" y="0"/>
                </a:lnTo>
                <a:lnTo>
                  <a:pt x="393" y="0"/>
                </a:lnTo>
                <a:lnTo>
                  <a:pt x="393" y="12"/>
                </a:lnTo>
                <a:lnTo>
                  <a:pt x="377" y="13"/>
                </a:lnTo>
                <a:lnTo>
                  <a:pt x="360" y="13"/>
                </a:lnTo>
                <a:lnTo>
                  <a:pt x="344" y="14"/>
                </a:lnTo>
                <a:lnTo>
                  <a:pt x="327" y="15"/>
                </a:lnTo>
                <a:lnTo>
                  <a:pt x="311" y="17"/>
                </a:lnTo>
                <a:lnTo>
                  <a:pt x="295" y="18"/>
                </a:lnTo>
                <a:lnTo>
                  <a:pt x="278" y="20"/>
                </a:lnTo>
                <a:lnTo>
                  <a:pt x="262" y="22"/>
                </a:lnTo>
                <a:lnTo>
                  <a:pt x="246" y="24"/>
                </a:lnTo>
                <a:lnTo>
                  <a:pt x="229" y="27"/>
                </a:lnTo>
                <a:lnTo>
                  <a:pt x="213" y="29"/>
                </a:lnTo>
                <a:lnTo>
                  <a:pt x="196" y="31"/>
                </a:lnTo>
                <a:lnTo>
                  <a:pt x="180" y="34"/>
                </a:lnTo>
                <a:lnTo>
                  <a:pt x="164" y="36"/>
                </a:lnTo>
                <a:lnTo>
                  <a:pt x="147" y="38"/>
                </a:lnTo>
                <a:lnTo>
                  <a:pt x="131" y="40"/>
                </a:lnTo>
                <a:lnTo>
                  <a:pt x="114" y="42"/>
                </a:lnTo>
                <a:lnTo>
                  <a:pt x="98" y="44"/>
                </a:lnTo>
                <a:lnTo>
                  <a:pt x="82" y="46"/>
                </a:lnTo>
                <a:lnTo>
                  <a:pt x="65" y="47"/>
                </a:lnTo>
                <a:lnTo>
                  <a:pt x="49" y="49"/>
                </a:lnTo>
                <a:lnTo>
                  <a:pt x="33" y="49"/>
                </a:lnTo>
                <a:lnTo>
                  <a:pt x="16" y="50"/>
                </a:lnTo>
                <a:lnTo>
                  <a:pt x="0" y="5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6477000"/>
            <a:ext cx="3743325" cy="57150"/>
          </a:xfrm>
          <a:custGeom>
            <a:avLst/>
            <a:gdLst/>
            <a:ahLst/>
            <a:cxnLst/>
            <a:rect l="l" t="t" r="r" b="b"/>
            <a:pathLst>
              <a:path w="393" h="6">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6"/>
                </a:lnTo>
                <a:lnTo>
                  <a:pt x="377" y="6"/>
                </a:lnTo>
                <a:lnTo>
                  <a:pt x="360" y="6"/>
                </a:lnTo>
                <a:lnTo>
                  <a:pt x="344" y="6"/>
                </a:lnTo>
                <a:lnTo>
                  <a:pt x="327" y="6"/>
                </a:lnTo>
                <a:lnTo>
                  <a:pt x="311" y="6"/>
                </a:lnTo>
                <a:lnTo>
                  <a:pt x="295" y="6"/>
                </a:lnTo>
                <a:lnTo>
                  <a:pt x="278" y="6"/>
                </a:lnTo>
                <a:lnTo>
                  <a:pt x="262" y="6"/>
                </a:lnTo>
                <a:lnTo>
                  <a:pt x="246" y="6"/>
                </a:lnTo>
                <a:lnTo>
                  <a:pt x="229" y="6"/>
                </a:lnTo>
                <a:lnTo>
                  <a:pt x="213" y="6"/>
                </a:lnTo>
                <a:lnTo>
                  <a:pt x="196" y="6"/>
                </a:lnTo>
                <a:lnTo>
                  <a:pt x="180" y="6"/>
                </a:lnTo>
                <a:lnTo>
                  <a:pt x="164" y="6"/>
                </a:lnTo>
                <a:lnTo>
                  <a:pt x="147" y="6"/>
                </a:lnTo>
                <a:lnTo>
                  <a:pt x="131" y="6"/>
                </a:lnTo>
                <a:lnTo>
                  <a:pt x="114" y="6"/>
                </a:lnTo>
                <a:lnTo>
                  <a:pt x="98" y="6"/>
                </a:lnTo>
                <a:lnTo>
                  <a:pt x="82" y="6"/>
                </a:lnTo>
                <a:lnTo>
                  <a:pt x="65" y="6"/>
                </a:lnTo>
                <a:lnTo>
                  <a:pt x="49" y="6"/>
                </a:lnTo>
                <a:lnTo>
                  <a:pt x="33" y="6"/>
                </a:lnTo>
                <a:lnTo>
                  <a:pt x="16" y="6"/>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41195" y="3390900"/>
            <a:ext cx="114300" cy="1426579"/>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41195" y="4874629"/>
            <a:ext cx="114300" cy="1050246"/>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41195" y="5982025"/>
            <a:ext cx="114300" cy="5521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00725" y="3390900"/>
            <a:ext cx="114300" cy="177739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00725" y="5225448"/>
            <a:ext cx="114300" cy="8933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800725" y="6175970"/>
            <a:ext cx="114300" cy="35818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7175" y="403275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2" name="TextBox 31"/>
          <p:cNvSpPr txBox="1"/>
          <p:nvPr/>
        </p:nvSpPr>
        <p:spPr>
          <a:xfrm>
            <a:off x="257175" y="5328314"/>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3" name="TextBox 32"/>
          <p:cNvSpPr txBox="1"/>
          <p:nvPr/>
        </p:nvSpPr>
        <p:spPr>
          <a:xfrm>
            <a:off x="257175" y="618665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4" name="TextBox 33"/>
          <p:cNvSpPr txBox="1"/>
          <p:nvPr/>
        </p:nvSpPr>
        <p:spPr>
          <a:xfrm>
            <a:off x="5972175" y="415577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35" name="TextBox 34"/>
          <p:cNvSpPr txBox="1"/>
          <p:nvPr/>
        </p:nvSpPr>
        <p:spPr>
          <a:xfrm>
            <a:off x="5972175" y="5548309"/>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36" name="TextBox 35"/>
          <p:cNvSpPr txBox="1"/>
          <p:nvPr/>
        </p:nvSpPr>
        <p:spPr>
          <a:xfrm>
            <a:off x="5972175" y="623123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37" name="Rounded Rectangle 36"/>
          <p:cNvSpPr/>
          <p:nvPr/>
        </p:nvSpPr>
        <p:spPr>
          <a:xfrm>
            <a:off x="7581900" y="3067050"/>
            <a:ext cx="445770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15250" y="315277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39" name="Rectangle 38"/>
          <p:cNvSpPr/>
          <p:nvPr/>
        </p:nvSpPr>
        <p:spPr>
          <a:xfrm>
            <a:off x="7715250" y="33909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15250" y="3476625"/>
            <a:ext cx="4191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4"/>
          <a:stretch>
            <a:fillRect/>
          </a:stretch>
        </p:blipFill>
        <p:spPr>
          <a:xfrm>
            <a:off x="7508792" y="1961541"/>
            <a:ext cx="366712" cy="533400"/>
          </a:xfrm>
          <a:prstGeom prst="rect">
            <a:avLst/>
          </a:prstGeom>
        </p:spPr>
      </p:pic>
      <p:sp>
        <p:nvSpPr>
          <p:cNvPr id="43" name="TextBox 42"/>
          <p:cNvSpPr txBox="1"/>
          <p:nvPr/>
        </p:nvSpPr>
        <p:spPr>
          <a:xfrm>
            <a:off x="938421" y="4043839"/>
            <a:ext cx="891873" cy="139750"/>
          </a:xfrm>
          <a:prstGeom prst="rect">
            <a:avLst/>
          </a:prstGeom>
          <a:noFill/>
        </p:spPr>
        <p:txBody>
          <a:bodyPr wrap="none" lIns="0" rIns="0" tIns="0" bIns="0">
            <a:spAutoFit/>
          </a:bodyPr>
          <a:lstStyle/>
          <a:p>
            <a:r>
              <a:rPr sz="791" b="1">
                <a:solidFill>
                  <a:srgbClr val="2E2E2E"/>
                </a:solidFill>
                <a:latin typeface="Calibri"/>
              </a:rPr>
              <a:t>Regular Ingredients</a:t>
            </a:r>
          </a:p>
        </p:txBody>
      </p:sp>
      <p:pic>
        <p:nvPicPr>
          <p:cNvPr id="44" name="Picture 43" descr="lock.png"/>
          <p:cNvPicPr>
            <a:picLocks noChangeAspect="1"/>
          </p:cNvPicPr>
          <p:nvPr/>
        </p:nvPicPr>
        <p:blipFill>
          <a:blip r:embed="rId4"/>
          <a:stretch>
            <a:fillRect/>
          </a:stretch>
        </p:blipFill>
        <p:spPr>
          <a:xfrm>
            <a:off x="1771555" y="4036798"/>
            <a:ext cx="92663" cy="134782"/>
          </a:xfrm>
          <a:prstGeom prst="rect">
            <a:avLst/>
          </a:prstGeom>
        </p:spPr>
      </p:pic>
      <p:sp>
        <p:nvSpPr>
          <p:cNvPr id="45" name="TextBox 44"/>
          <p:cNvSpPr txBox="1"/>
          <p:nvPr/>
        </p:nvSpPr>
        <p:spPr>
          <a:xfrm>
            <a:off x="865929" y="5339401"/>
            <a:ext cx="964364" cy="139750"/>
          </a:xfrm>
          <a:prstGeom prst="rect">
            <a:avLst/>
          </a:prstGeom>
          <a:noFill/>
        </p:spPr>
        <p:txBody>
          <a:bodyPr wrap="none" lIns="0" rIns="0" tIns="0" bIns="0">
            <a:spAutoFit/>
          </a:bodyPr>
          <a:lstStyle/>
          <a:p>
            <a:r>
              <a:rPr sz="791" b="1">
                <a:solidFill>
                  <a:srgbClr val="2E2E2E"/>
                </a:solidFill>
                <a:latin typeface="Calibri"/>
              </a:rPr>
              <a:t>Emerging Ingredients</a:t>
            </a:r>
          </a:p>
        </p:txBody>
      </p:sp>
      <p:pic>
        <p:nvPicPr>
          <p:cNvPr id="46" name="Picture 45" descr="lock.png"/>
          <p:cNvPicPr>
            <a:picLocks noChangeAspect="1"/>
          </p:cNvPicPr>
          <p:nvPr/>
        </p:nvPicPr>
        <p:blipFill>
          <a:blip r:embed="rId4"/>
          <a:stretch>
            <a:fillRect/>
          </a:stretch>
        </p:blipFill>
        <p:spPr>
          <a:xfrm>
            <a:off x="1771555" y="5332360"/>
            <a:ext cx="92663" cy="134782"/>
          </a:xfrm>
          <a:prstGeom prst="rect">
            <a:avLst/>
          </a:prstGeom>
        </p:spPr>
      </p:pic>
      <p:sp>
        <p:nvSpPr>
          <p:cNvPr id="47" name="TextBox 46"/>
          <p:cNvSpPr txBox="1"/>
          <p:nvPr/>
        </p:nvSpPr>
        <p:spPr>
          <a:xfrm>
            <a:off x="1019949" y="6197737"/>
            <a:ext cx="810345" cy="139750"/>
          </a:xfrm>
          <a:prstGeom prst="rect">
            <a:avLst/>
          </a:prstGeom>
          <a:noFill/>
        </p:spPr>
        <p:txBody>
          <a:bodyPr wrap="none" lIns="0" rIns="0" tIns="0" bIns="0">
            <a:spAutoFit/>
          </a:bodyPr>
          <a:lstStyle/>
          <a:p>
            <a:r>
              <a:rPr sz="791" b="1">
                <a:solidFill>
                  <a:srgbClr val="2E2E2E"/>
                </a:solidFill>
                <a:latin typeface="Calibri"/>
              </a:rPr>
              <a:t>Niche Ingredients</a:t>
            </a:r>
          </a:p>
        </p:txBody>
      </p:sp>
      <p:pic>
        <p:nvPicPr>
          <p:cNvPr id="48" name="Picture 47" descr="lock.png"/>
          <p:cNvPicPr>
            <a:picLocks noChangeAspect="1"/>
          </p:cNvPicPr>
          <p:nvPr/>
        </p:nvPicPr>
        <p:blipFill>
          <a:blip r:embed="rId4"/>
          <a:stretch>
            <a:fillRect/>
          </a:stretch>
        </p:blipFill>
        <p:spPr>
          <a:xfrm>
            <a:off x="1771555" y="6190696"/>
            <a:ext cx="92663" cy="134782"/>
          </a:xfrm>
          <a:prstGeom prst="rect">
            <a:avLst/>
          </a:prstGeom>
        </p:spPr>
      </p:pic>
      <p:sp>
        <p:nvSpPr>
          <p:cNvPr id="49" name="TextBox 48"/>
          <p:cNvSpPr txBox="1"/>
          <p:nvPr/>
        </p:nvSpPr>
        <p:spPr>
          <a:xfrm>
            <a:off x="5972175" y="4158898"/>
            <a:ext cx="1279082" cy="139750"/>
          </a:xfrm>
          <a:prstGeom prst="rect">
            <a:avLst/>
          </a:prstGeom>
          <a:noFill/>
        </p:spPr>
        <p:txBody>
          <a:bodyPr wrap="none" lIns="0" rIns="0" tIns="0" bIns="0">
            <a:spAutoFit/>
          </a:bodyPr>
          <a:lstStyle/>
          <a:p>
            <a:r>
              <a:rPr sz="791" b="1">
                <a:solidFill>
                  <a:srgbClr val="2E2E2E"/>
                </a:solidFill>
                <a:latin typeface="Calibri"/>
              </a:rPr>
              <a:t>Mineral Ceramide Sunscreen</a:t>
            </a:r>
          </a:p>
        </p:txBody>
      </p:sp>
      <p:pic>
        <p:nvPicPr>
          <p:cNvPr id="50" name="Picture 49" descr="lock.png"/>
          <p:cNvPicPr>
            <a:picLocks noChangeAspect="1"/>
          </p:cNvPicPr>
          <p:nvPr/>
        </p:nvPicPr>
        <p:blipFill>
          <a:blip r:embed="rId4"/>
          <a:stretch>
            <a:fillRect/>
          </a:stretch>
        </p:blipFill>
        <p:spPr>
          <a:xfrm>
            <a:off x="5962478" y="4272558"/>
            <a:ext cx="92663" cy="134782"/>
          </a:xfrm>
          <a:prstGeom prst="rect">
            <a:avLst/>
          </a:prstGeom>
        </p:spPr>
      </p:pic>
      <p:sp>
        <p:nvSpPr>
          <p:cNvPr id="51" name="TextBox 50"/>
          <p:cNvSpPr txBox="1"/>
          <p:nvPr/>
        </p:nvSpPr>
        <p:spPr>
          <a:xfrm>
            <a:off x="5972175" y="5611783"/>
            <a:ext cx="1231147" cy="139750"/>
          </a:xfrm>
          <a:prstGeom prst="rect">
            <a:avLst/>
          </a:prstGeom>
          <a:noFill/>
        </p:spPr>
        <p:txBody>
          <a:bodyPr wrap="none" lIns="0" rIns="0" tIns="0" bIns="0">
            <a:spAutoFit/>
          </a:bodyPr>
          <a:lstStyle/>
          <a:p>
            <a:r>
              <a:rPr sz="791" b="1">
                <a:solidFill>
                  <a:srgbClr val="2E2E2E"/>
                </a:solidFill>
                <a:latin typeface="Calibri"/>
              </a:rPr>
              <a:t>Hybrid Ceramide Sunscreen</a:t>
            </a:r>
          </a:p>
        </p:txBody>
      </p:sp>
      <p:pic>
        <p:nvPicPr>
          <p:cNvPr id="52" name="Picture 51" descr="lock.png"/>
          <p:cNvPicPr>
            <a:picLocks noChangeAspect="1"/>
          </p:cNvPicPr>
          <p:nvPr/>
        </p:nvPicPr>
        <p:blipFill>
          <a:blip r:embed="rId4"/>
          <a:stretch>
            <a:fillRect/>
          </a:stretch>
        </p:blipFill>
        <p:spPr>
          <a:xfrm>
            <a:off x="7144584" y="5604742"/>
            <a:ext cx="92663" cy="134782"/>
          </a:xfrm>
          <a:prstGeom prst="rect">
            <a:avLst/>
          </a:prstGeom>
        </p:spPr>
      </p:pic>
      <p:sp>
        <p:nvSpPr>
          <p:cNvPr id="53" name="TextBox 52"/>
          <p:cNvSpPr txBox="1"/>
          <p:nvPr/>
        </p:nvSpPr>
        <p:spPr>
          <a:xfrm>
            <a:off x="5972175" y="6234359"/>
            <a:ext cx="1332517" cy="139750"/>
          </a:xfrm>
          <a:prstGeom prst="rect">
            <a:avLst/>
          </a:prstGeom>
          <a:noFill/>
        </p:spPr>
        <p:txBody>
          <a:bodyPr wrap="none" lIns="0" rIns="0" tIns="0" bIns="0">
            <a:spAutoFit/>
          </a:bodyPr>
          <a:lstStyle/>
          <a:p>
            <a:r>
              <a:rPr sz="791" b="1">
                <a:solidFill>
                  <a:srgbClr val="2E2E2E"/>
                </a:solidFill>
                <a:latin typeface="Calibri"/>
              </a:rPr>
              <a:t>Chemical Ceramide Sunscreen</a:t>
            </a:r>
          </a:p>
        </p:txBody>
      </p:sp>
      <p:pic>
        <p:nvPicPr>
          <p:cNvPr id="54" name="Picture 53" descr="lock.png"/>
          <p:cNvPicPr>
            <a:picLocks noChangeAspect="1"/>
          </p:cNvPicPr>
          <p:nvPr/>
        </p:nvPicPr>
        <p:blipFill>
          <a:blip r:embed="rId4"/>
          <a:stretch>
            <a:fillRect/>
          </a:stretch>
        </p:blipFill>
        <p:spPr>
          <a:xfrm>
            <a:off x="5962478" y="6348019"/>
            <a:ext cx="92663" cy="134782"/>
          </a:xfrm>
          <a:prstGeom prst="rect">
            <a:avLst/>
          </a:prstGeom>
        </p:spPr>
      </p:pic>
      <p:sp>
        <p:nvSpPr>
          <p:cNvPr id="55" name="TextBox 54"/>
          <p:cNvSpPr txBox="1"/>
          <p:nvPr/>
        </p:nvSpPr>
        <p:spPr>
          <a:xfrm>
            <a:off x="7715250" y="3486150"/>
            <a:ext cx="4045222" cy="194310"/>
          </a:xfrm>
          <a:prstGeom prst="rect">
            <a:avLst/>
          </a:prstGeom>
          <a:noFill/>
        </p:spPr>
        <p:txBody>
          <a:bodyPr wrap="none" lIns="0" rIns="0" tIns="0" bIns="0">
            <a:spAutoFit/>
          </a:bodyPr>
          <a:lstStyle/>
          <a:p>
            <a:r>
              <a:rPr sz="1150" b="0">
                <a:solidFill>
                  <a:srgbClr val="2E2E2E"/>
                </a:solidFill>
                <a:latin typeface="Calibri"/>
              </a:rPr>
              <a:t>Regular ingredients segment is projected to account for the largest</a:t>
            </a:r>
          </a:p>
        </p:txBody>
      </p:sp>
      <p:sp>
        <p:nvSpPr>
          <p:cNvPr id="56" name="TextBox 55"/>
          <p:cNvSpPr txBox="1"/>
          <p:nvPr/>
        </p:nvSpPr>
        <p:spPr>
          <a:xfrm>
            <a:off x="7715250" y="3661410"/>
            <a:ext cx="3806750" cy="194310"/>
          </a:xfrm>
          <a:prstGeom prst="rect">
            <a:avLst/>
          </a:prstGeom>
          <a:noFill/>
        </p:spPr>
        <p:txBody>
          <a:bodyPr wrap="none" lIns="0" rIns="0" tIns="0" bIns="0">
            <a:spAutoFit/>
          </a:bodyPr>
          <a:lstStyle/>
          <a:p>
            <a:r>
              <a:rPr sz="1150" b="0">
                <a:solidFill>
                  <a:srgbClr val="2E2E2E"/>
                </a:solidFill>
                <a:latin typeface="Calibri"/>
              </a:rPr>
              <a:t>share of the North America ceramide sunscreen market, led by</a:t>
            </a:r>
          </a:p>
        </p:txBody>
      </p:sp>
      <p:sp>
        <p:nvSpPr>
          <p:cNvPr id="57" name="TextBox 56"/>
          <p:cNvSpPr txBox="1"/>
          <p:nvPr/>
        </p:nvSpPr>
        <p:spPr>
          <a:xfrm>
            <a:off x="7715250" y="3836669"/>
            <a:ext cx="2175098" cy="194310"/>
          </a:xfrm>
          <a:prstGeom prst="rect">
            <a:avLst/>
          </a:prstGeom>
          <a:noFill/>
        </p:spPr>
        <p:txBody>
          <a:bodyPr wrap="none" lIns="0" rIns="0" tIns="0" bIns="0">
            <a:spAutoFit/>
          </a:bodyPr>
          <a:lstStyle/>
          <a:p>
            <a:r>
              <a:rPr sz="1150" b="0">
                <a:solidFill>
                  <a:srgbClr val="2E2E2E"/>
                </a:solidFill>
                <a:latin typeface="Calibri"/>
              </a:rPr>
              <a:t>mineral ceramide sunscreen at US$</a:t>
            </a:r>
          </a:p>
        </p:txBody>
      </p:sp>
      <p:pic>
        <p:nvPicPr>
          <p:cNvPr id="58" name="Picture 57" descr="lock.png"/>
          <p:cNvPicPr>
            <a:picLocks noChangeAspect="1"/>
          </p:cNvPicPr>
          <p:nvPr/>
        </p:nvPicPr>
        <p:blipFill>
          <a:blip r:embed="rId4"/>
          <a:stretch>
            <a:fillRect/>
          </a:stretch>
        </p:blipFill>
        <p:spPr>
          <a:xfrm>
            <a:off x="9839502" y="3826446"/>
            <a:ext cx="134549" cy="195707"/>
          </a:xfrm>
          <a:prstGeom prst="rect">
            <a:avLst/>
          </a:prstGeom>
        </p:spPr>
      </p:pic>
      <p:sp>
        <p:nvSpPr>
          <p:cNvPr id="59" name="TextBox 58"/>
          <p:cNvSpPr txBox="1"/>
          <p:nvPr/>
        </p:nvSpPr>
        <p:spPr>
          <a:xfrm>
            <a:off x="10014611" y="3836669"/>
            <a:ext cx="1305359" cy="194310"/>
          </a:xfrm>
          <a:prstGeom prst="rect">
            <a:avLst/>
          </a:prstGeom>
          <a:noFill/>
        </p:spPr>
        <p:txBody>
          <a:bodyPr wrap="none" lIns="0" rIns="0" tIns="0" bIns="0">
            <a:spAutoFit/>
          </a:bodyPr>
          <a:lstStyle/>
          <a:p>
            <a:r>
              <a:rPr sz="1150" b="0">
                <a:solidFill>
                  <a:srgbClr val="2E2E2E"/>
                </a:solidFill>
                <a:latin typeface="Calibri"/>
              </a:rPr>
              <a:t>Mn in 2036. 'Regular</a:t>
            </a:r>
          </a:p>
        </p:txBody>
      </p:sp>
      <p:sp>
        <p:nvSpPr>
          <p:cNvPr id="60" name="TextBox 59"/>
          <p:cNvSpPr txBox="1"/>
          <p:nvPr/>
        </p:nvSpPr>
        <p:spPr>
          <a:xfrm>
            <a:off x="7715250" y="4011929"/>
            <a:ext cx="3798763" cy="194310"/>
          </a:xfrm>
          <a:prstGeom prst="rect">
            <a:avLst/>
          </a:prstGeom>
          <a:noFill/>
        </p:spPr>
        <p:txBody>
          <a:bodyPr wrap="none" lIns="0" rIns="0" tIns="0" bIns="0">
            <a:spAutoFit/>
          </a:bodyPr>
          <a:lstStyle/>
          <a:p>
            <a:r>
              <a:rPr sz="1150" b="0">
                <a:solidFill>
                  <a:srgbClr val="2E2E2E"/>
                </a:solidFill>
                <a:latin typeface="Calibri"/>
              </a:rPr>
              <a:t>Ingredients × Mineral Ceramide Sunscreen' is the single largest</a:t>
            </a:r>
          </a:p>
        </p:txBody>
      </p:sp>
      <p:sp>
        <p:nvSpPr>
          <p:cNvPr id="61" name="TextBox 60"/>
          <p:cNvSpPr txBox="1"/>
          <p:nvPr/>
        </p:nvSpPr>
        <p:spPr>
          <a:xfrm>
            <a:off x="7715250" y="4187189"/>
            <a:ext cx="1269131" cy="194310"/>
          </a:xfrm>
          <a:prstGeom prst="rect">
            <a:avLst/>
          </a:prstGeom>
          <a:noFill/>
        </p:spPr>
        <p:txBody>
          <a:bodyPr wrap="none" lIns="0" rIns="0" tIns="0" bIns="0">
            <a:spAutoFit/>
          </a:bodyPr>
          <a:lstStyle/>
          <a:p>
            <a:r>
              <a:rPr sz="1150" b="0">
                <a:solidFill>
                  <a:srgbClr val="2E2E2E"/>
                </a:solidFill>
                <a:latin typeface="Calibri"/>
              </a:rPr>
              <a:t>cross-sectional cell (</a:t>
            </a:r>
          </a:p>
        </p:txBody>
      </p:sp>
      <p:pic>
        <p:nvPicPr>
          <p:cNvPr id="62" name="Picture 61" descr="lock.png"/>
          <p:cNvPicPr>
            <a:picLocks noChangeAspect="1"/>
          </p:cNvPicPr>
          <p:nvPr/>
        </p:nvPicPr>
        <p:blipFill>
          <a:blip r:embed="rId4"/>
          <a:stretch>
            <a:fillRect/>
          </a:stretch>
        </p:blipFill>
        <p:spPr>
          <a:xfrm>
            <a:off x="8933535" y="4176966"/>
            <a:ext cx="134549" cy="195707"/>
          </a:xfrm>
          <a:prstGeom prst="rect">
            <a:avLst/>
          </a:prstGeom>
        </p:spPr>
      </p:pic>
      <p:sp>
        <p:nvSpPr>
          <p:cNvPr id="63" name="TextBox 62"/>
          <p:cNvSpPr txBox="1"/>
          <p:nvPr/>
        </p:nvSpPr>
        <p:spPr>
          <a:xfrm>
            <a:off x="9108645" y="4187189"/>
            <a:ext cx="2748743" cy="194310"/>
          </a:xfrm>
          <a:prstGeom prst="rect">
            <a:avLst/>
          </a:prstGeom>
          <a:noFill/>
        </p:spPr>
        <p:txBody>
          <a:bodyPr wrap="none" lIns="0" rIns="0" tIns="0" bIns="0">
            <a:spAutoFit/>
          </a:bodyPr>
          <a:lstStyle/>
          <a:p>
            <a:r>
              <a:rPr sz="1150" b="0">
                <a:solidFill>
                  <a:srgbClr val="2E2E2E"/>
                </a:solidFill>
                <a:latin typeface="Calibri"/>
              </a:rPr>
              <a:t>US$ Mn, 2026E), while 'Emerging Ingredients</a:t>
            </a:r>
          </a:p>
        </p:txBody>
      </p:sp>
      <p:sp>
        <p:nvSpPr>
          <p:cNvPr id="64" name="TextBox 63"/>
          <p:cNvSpPr txBox="1"/>
          <p:nvPr/>
        </p:nvSpPr>
        <p:spPr>
          <a:xfrm>
            <a:off x="7715250" y="4362449"/>
            <a:ext cx="4171950" cy="194310"/>
          </a:xfrm>
          <a:prstGeom prst="rect">
            <a:avLst/>
          </a:prstGeom>
          <a:noFill/>
        </p:spPr>
        <p:txBody>
          <a:bodyPr wrap="none" lIns="0" rIns="0" tIns="0" bIns="0">
            <a:spAutoFit/>
          </a:bodyPr>
          <a:lstStyle/>
          <a:p>
            <a:r>
              <a:rPr sz="1150" b="0">
                <a:solidFill>
                  <a:srgbClr val="2E2E2E"/>
                </a:solidFill>
                <a:latin typeface="Calibri"/>
              </a:rPr>
              <a:t>× Chemical Ceramide Sunscreen' records the fastest growth at a CAGR</a:t>
            </a:r>
          </a:p>
        </p:txBody>
      </p:sp>
      <p:sp>
        <p:nvSpPr>
          <p:cNvPr id="65" name="TextBox 64"/>
          <p:cNvSpPr txBox="1"/>
          <p:nvPr/>
        </p:nvSpPr>
        <p:spPr>
          <a:xfrm>
            <a:off x="7715250" y="4537709"/>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66" name="Picture 65" descr="lock.png"/>
          <p:cNvPicPr>
            <a:picLocks noChangeAspect="1"/>
          </p:cNvPicPr>
          <p:nvPr/>
        </p:nvPicPr>
        <p:blipFill>
          <a:blip r:embed="rId4"/>
          <a:stretch>
            <a:fillRect/>
          </a:stretch>
        </p:blipFill>
        <p:spPr>
          <a:xfrm>
            <a:off x="7862122" y="4527486"/>
            <a:ext cx="134549" cy="195707"/>
          </a:xfrm>
          <a:prstGeom prst="rect">
            <a:avLst/>
          </a:prstGeom>
        </p:spPr>
      </p:pic>
      <p:sp>
        <p:nvSpPr>
          <p:cNvPr id="67" name="TextBox 66"/>
          <p:cNvSpPr txBox="1"/>
          <p:nvPr/>
        </p:nvSpPr>
        <p:spPr>
          <a:xfrm>
            <a:off x="8037231" y="4537709"/>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68" name="TextBox 67"/>
          <p:cNvSpPr txBox="1"/>
          <p:nvPr/>
        </p:nvSpPr>
        <p:spPr>
          <a:xfrm>
            <a:off x="7715250" y="4765547"/>
            <a:ext cx="3684661" cy="194310"/>
          </a:xfrm>
          <a:prstGeom prst="rect">
            <a:avLst/>
          </a:prstGeom>
          <a:noFill/>
        </p:spPr>
        <p:txBody>
          <a:bodyPr wrap="none" lIns="0" rIns="0" tIns="0" bIns="0">
            <a:spAutoFit/>
          </a:bodyPr>
          <a:lstStyle/>
          <a:p>
            <a:r>
              <a:rPr sz="1150" b="0">
                <a:solidFill>
                  <a:srgbClr val="2E2E2E"/>
                </a:solidFill>
                <a:latin typeface="Calibri"/>
              </a:rPr>
              <a:t>Combined, the top three ingredient type × product type cells</a:t>
            </a:r>
          </a:p>
        </p:txBody>
      </p:sp>
      <p:sp>
        <p:nvSpPr>
          <p:cNvPr id="69" name="TextBox 68"/>
          <p:cNvSpPr txBox="1"/>
          <p:nvPr/>
        </p:nvSpPr>
        <p:spPr>
          <a:xfrm>
            <a:off x="7715250" y="4940807"/>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70" name="Picture 69" descr="lock.png"/>
          <p:cNvPicPr>
            <a:picLocks noChangeAspect="1"/>
          </p:cNvPicPr>
          <p:nvPr/>
        </p:nvPicPr>
        <p:blipFill>
          <a:blip r:embed="rId4"/>
          <a:stretch>
            <a:fillRect/>
          </a:stretch>
        </p:blipFill>
        <p:spPr>
          <a:xfrm>
            <a:off x="10004949" y="4930584"/>
            <a:ext cx="134549" cy="195707"/>
          </a:xfrm>
          <a:prstGeom prst="rect">
            <a:avLst/>
          </a:prstGeom>
        </p:spPr>
      </p:pic>
      <p:sp>
        <p:nvSpPr>
          <p:cNvPr id="71" name="TextBox 70"/>
          <p:cNvSpPr txBox="1"/>
          <p:nvPr/>
        </p:nvSpPr>
        <p:spPr>
          <a:xfrm>
            <a:off x="10180058" y="4940807"/>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Ingredient Type × Product Type,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product type sub-segments</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Ingredient Type × Product Type, 2026E (% of each row)</a:t>
            </a:r>
          </a:p>
        </p:txBody>
      </p:sp>
      <p:graphicFrame>
        <p:nvGraphicFramePr>
          <p:cNvPr id="12" name="Table 11"/>
          <p:cNvGraphicFramePr>
            <a:graphicFrameLocks noGrp="1"/>
          </p:cNvGraphicFramePr>
          <p:nvPr/>
        </p:nvGraphicFramePr>
        <p:xfrm>
          <a:off x="152400" y="1238250"/>
          <a:ext cx="11887200" cy="1238250"/>
        </p:xfrm>
        <a:graphic>
          <a:graphicData uri="http://schemas.openxmlformats.org/drawingml/2006/table">
            <a:tbl>
              <a:tblPr>
                <a:tableStyleId>{5C22544A-7EE6-4342-B048-85BDC9FD1C3A}</a:tableStyleId>
              </a:tblPr>
              <a:tblGrid>
                <a:gridCol w="1820408"/>
                <a:gridCol w="2516698"/>
                <a:gridCol w="2516698"/>
                <a:gridCol w="2516698"/>
                <a:gridCol w="2516698"/>
              </a:tblGrid>
              <a:tr h="246126">
                <a:tc>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Mineral Ceramide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Chemical Ceramide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Hybrid Ceramide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Niche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Emerging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7286625"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8765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Product Type Mix by Ingredient Type, 2026E (% share)</a:t>
            </a:r>
          </a:p>
        </p:txBody>
      </p:sp>
      <p:graphicFrame>
        <p:nvGraphicFramePr>
          <p:cNvPr id="16" name="Chart 15"/>
          <p:cNvGraphicFramePr>
            <a:graphicFrameLocks noGrp="1"/>
          </p:cNvGraphicFramePr>
          <p:nvPr/>
        </p:nvGraphicFramePr>
        <p:xfrm>
          <a:off x="238125" y="3105150"/>
          <a:ext cx="7096125" cy="346710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2819400"/>
            <a:ext cx="4457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290512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1432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228975"/>
            <a:ext cx="4191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819514" y="1713738"/>
            <a:ext cx="366712" cy="533400"/>
          </a:xfrm>
          <a:prstGeom prst="rect">
            <a:avLst/>
          </a:prstGeom>
        </p:spPr>
      </p:pic>
      <p:pic>
        <p:nvPicPr>
          <p:cNvPr id="23" name="Picture 22" descr="lock.png"/>
          <p:cNvPicPr>
            <a:picLocks noChangeAspect="1"/>
          </p:cNvPicPr>
          <p:nvPr/>
        </p:nvPicPr>
        <p:blipFill>
          <a:blip r:embed="rId5"/>
          <a:stretch>
            <a:fillRect/>
          </a:stretch>
        </p:blipFill>
        <p:spPr>
          <a:xfrm>
            <a:off x="3709408" y="3864689"/>
            <a:ext cx="440818" cy="641190"/>
          </a:xfrm>
          <a:prstGeom prst="rect">
            <a:avLst/>
          </a:prstGeom>
        </p:spPr>
      </p:pic>
      <p:sp>
        <p:nvSpPr>
          <p:cNvPr id="24" name="TextBox 23"/>
          <p:cNvSpPr txBox="1"/>
          <p:nvPr/>
        </p:nvSpPr>
        <p:spPr>
          <a:xfrm>
            <a:off x="7715250" y="3238500"/>
            <a:ext cx="3912009" cy="194310"/>
          </a:xfrm>
          <a:prstGeom prst="rect">
            <a:avLst/>
          </a:prstGeom>
          <a:noFill/>
        </p:spPr>
        <p:txBody>
          <a:bodyPr wrap="none" lIns="0" rIns="0" tIns="0" bIns="0">
            <a:spAutoFit/>
          </a:bodyPr>
          <a:lstStyle/>
          <a:p>
            <a:r>
              <a:rPr sz="1150" b="0">
                <a:solidFill>
                  <a:srgbClr val="2E2E2E"/>
                </a:solidFill>
                <a:latin typeface="Calibri"/>
              </a:rPr>
              <a:t>▪ 'Mineral Ceramide Sunscreen' holds the highest share of 'Niche</a:t>
            </a:r>
          </a:p>
        </p:txBody>
      </p:sp>
      <p:sp>
        <p:nvSpPr>
          <p:cNvPr id="25" name="TextBox 24"/>
          <p:cNvSpPr txBox="1"/>
          <p:nvPr/>
        </p:nvSpPr>
        <p:spPr>
          <a:xfrm>
            <a:off x="7715250" y="3413760"/>
            <a:ext cx="932532" cy="194310"/>
          </a:xfrm>
          <a:prstGeom prst="rect">
            <a:avLst/>
          </a:prstGeom>
          <a:noFill/>
        </p:spPr>
        <p:txBody>
          <a:bodyPr wrap="none" lIns="0" rIns="0" tIns="0" bIns="0">
            <a:spAutoFit/>
          </a:bodyPr>
          <a:lstStyle/>
          <a:p>
            <a:r>
              <a:rPr sz="1150" b="0">
                <a:solidFill>
                  <a:srgbClr val="2E2E2E"/>
                </a:solidFill>
                <a:latin typeface="Calibri"/>
              </a:rPr>
              <a:t>Ingredients' at</a:t>
            </a:r>
          </a:p>
        </p:txBody>
      </p:sp>
      <p:pic>
        <p:nvPicPr>
          <p:cNvPr id="26" name="Picture 25" descr="lock.png"/>
          <p:cNvPicPr>
            <a:picLocks noChangeAspect="1"/>
          </p:cNvPicPr>
          <p:nvPr/>
        </p:nvPicPr>
        <p:blipFill>
          <a:blip r:embed="rId5"/>
          <a:stretch>
            <a:fillRect/>
          </a:stretch>
        </p:blipFill>
        <p:spPr>
          <a:xfrm>
            <a:off x="8596936" y="3403536"/>
            <a:ext cx="134549" cy="195707"/>
          </a:xfrm>
          <a:prstGeom prst="rect">
            <a:avLst/>
          </a:prstGeom>
        </p:spPr>
      </p:pic>
      <p:sp>
        <p:nvSpPr>
          <p:cNvPr id="27" name="TextBox 26"/>
          <p:cNvSpPr txBox="1"/>
          <p:nvPr/>
        </p:nvSpPr>
        <p:spPr>
          <a:xfrm>
            <a:off x="8772045" y="341376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3641597"/>
            <a:ext cx="3729732" cy="194310"/>
          </a:xfrm>
          <a:prstGeom prst="rect">
            <a:avLst/>
          </a:prstGeom>
          <a:noFill/>
        </p:spPr>
        <p:txBody>
          <a:bodyPr wrap="none" lIns="0" rIns="0" tIns="0" bIns="0">
            <a:spAutoFit/>
          </a:bodyPr>
          <a:lstStyle/>
          <a:p>
            <a:r>
              <a:rPr sz="1150" b="0">
                <a:solidFill>
                  <a:srgbClr val="2E2E2E"/>
                </a:solidFill>
                <a:latin typeface="Calibri"/>
              </a:rPr>
              <a:t>▪ 'Niche Ingredients' is the most concentrated ingredient type</a:t>
            </a:r>
          </a:p>
        </p:txBody>
      </p:sp>
      <p:sp>
        <p:nvSpPr>
          <p:cNvPr id="29" name="TextBox 28"/>
          <p:cNvSpPr txBox="1"/>
          <p:nvPr/>
        </p:nvSpPr>
        <p:spPr>
          <a:xfrm>
            <a:off x="7715250" y="3816857"/>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30" name="Picture 29" descr="lock.png"/>
          <p:cNvPicPr>
            <a:picLocks noChangeAspect="1"/>
          </p:cNvPicPr>
          <p:nvPr/>
        </p:nvPicPr>
        <p:blipFill>
          <a:blip r:embed="rId5"/>
          <a:stretch>
            <a:fillRect/>
          </a:stretch>
        </p:blipFill>
        <p:spPr>
          <a:xfrm>
            <a:off x="8843110" y="3806634"/>
            <a:ext cx="134549" cy="195707"/>
          </a:xfrm>
          <a:prstGeom prst="rect">
            <a:avLst/>
          </a:prstGeom>
        </p:spPr>
      </p:pic>
      <p:sp>
        <p:nvSpPr>
          <p:cNvPr id="31" name="TextBox 30"/>
          <p:cNvSpPr txBox="1"/>
          <p:nvPr/>
        </p:nvSpPr>
        <p:spPr>
          <a:xfrm>
            <a:off x="9018219" y="3816857"/>
            <a:ext cx="2772419" cy="194310"/>
          </a:xfrm>
          <a:prstGeom prst="rect">
            <a:avLst/>
          </a:prstGeom>
          <a:noFill/>
        </p:spPr>
        <p:txBody>
          <a:bodyPr wrap="none" lIns="0" rIns="0" tIns="0" bIns="0">
            <a:spAutoFit/>
          </a:bodyPr>
          <a:lstStyle/>
          <a:p>
            <a:r>
              <a:rPr sz="1150" b="0">
                <a:solidFill>
                  <a:srgbClr val="2E2E2E"/>
                </a:solidFill>
                <a:latin typeface="Calibri"/>
              </a:rPr>
              <a:t>of its value via 'Mineral Ceramide Sunscreen'.</a:t>
            </a:r>
          </a:p>
        </p:txBody>
      </p:sp>
      <p:sp>
        <p:nvSpPr>
          <p:cNvPr id="32" name="TextBox 31"/>
          <p:cNvSpPr txBox="1"/>
          <p:nvPr/>
        </p:nvSpPr>
        <p:spPr>
          <a:xfrm>
            <a:off x="7715250" y="4044695"/>
            <a:ext cx="2383333" cy="194310"/>
          </a:xfrm>
          <a:prstGeom prst="rect">
            <a:avLst/>
          </a:prstGeom>
          <a:noFill/>
        </p:spPr>
        <p:txBody>
          <a:bodyPr wrap="none" lIns="0" rIns="0" tIns="0" bIns="0">
            <a:spAutoFit/>
          </a:bodyPr>
          <a:lstStyle/>
          <a:p>
            <a:r>
              <a:rPr sz="1150" b="0">
                <a:solidFill>
                  <a:srgbClr val="2E2E2E"/>
                </a:solidFill>
                <a:latin typeface="Calibri"/>
              </a:rPr>
              <a:t>▪ 'Mineral Ceramide Sunscreen' gains +</a:t>
            </a:r>
          </a:p>
        </p:txBody>
      </p:sp>
      <p:pic>
        <p:nvPicPr>
          <p:cNvPr id="33" name="Picture 32" descr="lock.png"/>
          <p:cNvPicPr>
            <a:picLocks noChangeAspect="1"/>
          </p:cNvPicPr>
          <p:nvPr/>
        </p:nvPicPr>
        <p:blipFill>
          <a:blip r:embed="rId5"/>
          <a:stretch>
            <a:fillRect/>
          </a:stretch>
        </p:blipFill>
        <p:spPr>
          <a:xfrm>
            <a:off x="10047737" y="4034472"/>
            <a:ext cx="134549" cy="195707"/>
          </a:xfrm>
          <a:prstGeom prst="rect">
            <a:avLst/>
          </a:prstGeom>
        </p:spPr>
      </p:pic>
      <p:sp>
        <p:nvSpPr>
          <p:cNvPr id="34" name="TextBox 33"/>
          <p:cNvSpPr txBox="1"/>
          <p:nvPr/>
        </p:nvSpPr>
        <p:spPr>
          <a:xfrm>
            <a:off x="10222846" y="4044695"/>
            <a:ext cx="1581199" cy="194310"/>
          </a:xfrm>
          <a:prstGeom prst="rect">
            <a:avLst/>
          </a:prstGeom>
          <a:noFill/>
        </p:spPr>
        <p:txBody>
          <a:bodyPr wrap="none" lIns="0" rIns="0" tIns="0" bIns="0">
            <a:spAutoFit/>
          </a:bodyPr>
          <a:lstStyle/>
          <a:p>
            <a:r>
              <a:rPr sz="1150" b="0">
                <a:solidFill>
                  <a:srgbClr val="2E2E2E"/>
                </a:solidFill>
                <a:latin typeface="Calibri"/>
              </a:rPr>
              <a:t>BPS of share of the North</a:t>
            </a:r>
          </a:p>
        </p:txBody>
      </p:sp>
      <p:sp>
        <p:nvSpPr>
          <p:cNvPr id="35" name="TextBox 34"/>
          <p:cNvSpPr txBox="1"/>
          <p:nvPr/>
        </p:nvSpPr>
        <p:spPr>
          <a:xfrm>
            <a:off x="7715250" y="4219955"/>
            <a:ext cx="1986046" cy="194310"/>
          </a:xfrm>
          <a:prstGeom prst="rect">
            <a:avLst/>
          </a:prstGeom>
          <a:noFill/>
        </p:spPr>
        <p:txBody>
          <a:bodyPr wrap="none" lIns="0" rIns="0" tIns="0" bIns="0">
            <a:spAutoFit/>
          </a:bodyPr>
          <a:lstStyle/>
          <a:p>
            <a:r>
              <a:rPr sz="1150" b="0">
                <a:solidFill>
                  <a:srgbClr val="2E2E2E"/>
                </a:solidFill>
                <a:latin typeface="Calibri"/>
              </a:rPr>
              <a:t>America cross-section by 2036F.</a:t>
            </a:r>
          </a:p>
        </p:txBody>
      </p:sp>
      <p:sp>
        <p:nvSpPr>
          <p:cNvPr id="36" name="lockshield_16"/>
          <p:cNvSpPr/>
          <p:nvPr/>
        </p:nvSpPr>
        <p:spPr>
          <a:xfrm>
            <a:off x="238125" y="3105150"/>
            <a:ext cx="7096125" cy="3467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Ingredient Type × Product Type,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Ingredient Type × Product Type, 2026E–2036F</a:t>
            </a:r>
          </a:p>
        </p:txBody>
      </p:sp>
      <p:graphicFrame>
        <p:nvGraphicFramePr>
          <p:cNvPr id="12" name="Table 11"/>
          <p:cNvGraphicFramePr>
            <a:graphicFrameLocks noGrp="1"/>
          </p:cNvGraphicFramePr>
          <p:nvPr/>
        </p:nvGraphicFramePr>
        <p:xfrm>
          <a:off x="152400" y="1238250"/>
          <a:ext cx="11887196" cy="1485896"/>
        </p:xfrm>
        <a:graphic>
          <a:graphicData uri="http://schemas.openxmlformats.org/drawingml/2006/table">
            <a:tbl>
              <a:tblPr>
                <a:tableStyleId>{5C22544A-7EE6-4342-B048-85BDC9FD1C3A}</a:tableStyleId>
              </a:tblPr>
              <a:tblGrid>
                <a:gridCol w="2730532"/>
                <a:gridCol w="1144583"/>
                <a:gridCol w="1144583"/>
                <a:gridCol w="1144583"/>
                <a:gridCol w="1144583"/>
                <a:gridCol w="1144583"/>
                <a:gridCol w="1144583"/>
                <a:gridCol w="1144583"/>
                <a:gridCol w="1144583"/>
              </a:tblGrid>
              <a:tr h="246126">
                <a:tc rowSpan="2">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Mineral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Chemical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Hybrid Ceramide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95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Niche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Emerging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560070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39090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5334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067050"/>
            <a:ext cx="1943100" cy="356235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15277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3909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'Regular Ingredients × Mineral Ceramide Sunscreen' ranks highest (5/5); 'Niche Ingredients × Chemical Ceramide Sunscreen'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274574" y="1961541"/>
            <a:ext cx="366712" cy="533400"/>
          </a:xfrm>
          <a:prstGeom prst="rect">
            <a:avLst/>
          </a:prstGeom>
        </p:spPr>
      </p:pic>
      <p:sp>
        <p:nvSpPr>
          <p:cNvPr id="32" name="TextBox 31"/>
          <p:cNvSpPr txBox="1"/>
          <p:nvPr/>
        </p:nvSpPr>
        <p:spPr>
          <a:xfrm>
            <a:off x="276225" y="3486150"/>
            <a:ext cx="3419946" cy="194310"/>
          </a:xfrm>
          <a:prstGeom prst="rect">
            <a:avLst/>
          </a:prstGeom>
          <a:noFill/>
        </p:spPr>
        <p:txBody>
          <a:bodyPr wrap="none" lIns="0" rIns="0" tIns="0" bIns="0">
            <a:spAutoFit/>
          </a:bodyPr>
          <a:lstStyle/>
          <a:p>
            <a:r>
              <a:rPr sz="1150" b="0">
                <a:solidFill>
                  <a:srgbClr val="2E2E2E"/>
                </a:solidFill>
                <a:latin typeface="Calibri"/>
              </a:rPr>
              <a:t>▪ 1. Regular Ingredients × Mineral Ceramide Sunscreen –</a:t>
            </a:r>
          </a:p>
        </p:txBody>
      </p:sp>
      <p:pic>
        <p:nvPicPr>
          <p:cNvPr id="33" name="Picture 32" descr="lock.png"/>
          <p:cNvPicPr>
            <a:picLocks noChangeAspect="1"/>
          </p:cNvPicPr>
          <p:nvPr/>
        </p:nvPicPr>
        <p:blipFill>
          <a:blip r:embed="rId4"/>
          <a:stretch>
            <a:fillRect/>
          </a:stretch>
        </p:blipFill>
        <p:spPr>
          <a:xfrm>
            <a:off x="3645325" y="3475926"/>
            <a:ext cx="134549" cy="195707"/>
          </a:xfrm>
          <a:prstGeom prst="rect">
            <a:avLst/>
          </a:prstGeom>
        </p:spPr>
      </p:pic>
      <p:sp>
        <p:nvSpPr>
          <p:cNvPr id="34" name="TextBox 33"/>
          <p:cNvSpPr txBox="1"/>
          <p:nvPr/>
        </p:nvSpPr>
        <p:spPr>
          <a:xfrm>
            <a:off x="3820434" y="348615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882586" y="3475926"/>
            <a:ext cx="134549" cy="195707"/>
          </a:xfrm>
          <a:prstGeom prst="rect">
            <a:avLst/>
          </a:prstGeom>
        </p:spPr>
      </p:pic>
      <p:sp>
        <p:nvSpPr>
          <p:cNvPr id="36" name="TextBox 35"/>
          <p:cNvSpPr txBox="1"/>
          <p:nvPr/>
        </p:nvSpPr>
        <p:spPr>
          <a:xfrm>
            <a:off x="4057695" y="34861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3713987"/>
            <a:ext cx="3527487" cy="194310"/>
          </a:xfrm>
          <a:prstGeom prst="rect">
            <a:avLst/>
          </a:prstGeom>
          <a:noFill/>
        </p:spPr>
        <p:txBody>
          <a:bodyPr wrap="none" lIns="0" rIns="0" tIns="0" bIns="0">
            <a:spAutoFit/>
          </a:bodyPr>
          <a:lstStyle/>
          <a:p>
            <a:r>
              <a:rPr sz="1150" b="0">
                <a:solidFill>
                  <a:srgbClr val="2E2E2E"/>
                </a:solidFill>
                <a:latin typeface="Calibri"/>
              </a:rPr>
              <a:t>▪ 2. Emerging Ingredients × Mineral Ceramide Sunscreen –</a:t>
            </a:r>
          </a:p>
        </p:txBody>
      </p:sp>
      <p:pic>
        <p:nvPicPr>
          <p:cNvPr id="38" name="Picture 37" descr="lock.png"/>
          <p:cNvPicPr>
            <a:picLocks noChangeAspect="1"/>
          </p:cNvPicPr>
          <p:nvPr/>
        </p:nvPicPr>
        <p:blipFill>
          <a:blip r:embed="rId4"/>
          <a:stretch>
            <a:fillRect/>
          </a:stretch>
        </p:blipFill>
        <p:spPr>
          <a:xfrm>
            <a:off x="3752865" y="3703764"/>
            <a:ext cx="134549" cy="195707"/>
          </a:xfrm>
          <a:prstGeom prst="rect">
            <a:avLst/>
          </a:prstGeom>
        </p:spPr>
      </p:pic>
      <p:sp>
        <p:nvSpPr>
          <p:cNvPr id="39" name="TextBox 38"/>
          <p:cNvSpPr txBox="1"/>
          <p:nvPr/>
        </p:nvSpPr>
        <p:spPr>
          <a:xfrm>
            <a:off x="3927975" y="371398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990126" y="3703764"/>
            <a:ext cx="134549" cy="195707"/>
          </a:xfrm>
          <a:prstGeom prst="rect">
            <a:avLst/>
          </a:prstGeom>
        </p:spPr>
      </p:pic>
      <p:sp>
        <p:nvSpPr>
          <p:cNvPr id="41" name="TextBox 40"/>
          <p:cNvSpPr txBox="1"/>
          <p:nvPr/>
        </p:nvSpPr>
        <p:spPr>
          <a:xfrm>
            <a:off x="4165236" y="3713987"/>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3941825"/>
            <a:ext cx="3352626" cy="194310"/>
          </a:xfrm>
          <a:prstGeom prst="rect">
            <a:avLst/>
          </a:prstGeom>
          <a:noFill/>
        </p:spPr>
        <p:txBody>
          <a:bodyPr wrap="none" lIns="0" rIns="0" tIns="0" bIns="0">
            <a:spAutoFit/>
          </a:bodyPr>
          <a:lstStyle/>
          <a:p>
            <a:r>
              <a:rPr sz="1150" b="0">
                <a:solidFill>
                  <a:srgbClr val="2E2E2E"/>
                </a:solidFill>
                <a:latin typeface="Calibri"/>
              </a:rPr>
              <a:t>▪ 3. Regular Ingredients × Hybrid Ceramide Sunscreen –</a:t>
            </a:r>
          </a:p>
        </p:txBody>
      </p:sp>
      <p:pic>
        <p:nvPicPr>
          <p:cNvPr id="43" name="Picture 42" descr="lock.png"/>
          <p:cNvPicPr>
            <a:picLocks noChangeAspect="1"/>
          </p:cNvPicPr>
          <p:nvPr/>
        </p:nvPicPr>
        <p:blipFill>
          <a:blip r:embed="rId4"/>
          <a:stretch>
            <a:fillRect/>
          </a:stretch>
        </p:blipFill>
        <p:spPr>
          <a:xfrm>
            <a:off x="3578005" y="3931602"/>
            <a:ext cx="134549" cy="195707"/>
          </a:xfrm>
          <a:prstGeom prst="rect">
            <a:avLst/>
          </a:prstGeom>
        </p:spPr>
      </p:pic>
      <p:sp>
        <p:nvSpPr>
          <p:cNvPr id="44" name="TextBox 43"/>
          <p:cNvSpPr txBox="1"/>
          <p:nvPr/>
        </p:nvSpPr>
        <p:spPr>
          <a:xfrm>
            <a:off x="3753114" y="39418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815266" y="3931602"/>
            <a:ext cx="134549" cy="195707"/>
          </a:xfrm>
          <a:prstGeom prst="rect">
            <a:avLst/>
          </a:prstGeom>
        </p:spPr>
      </p:pic>
      <p:sp>
        <p:nvSpPr>
          <p:cNvPr id="46" name="TextBox 45"/>
          <p:cNvSpPr txBox="1"/>
          <p:nvPr/>
        </p:nvSpPr>
        <p:spPr>
          <a:xfrm>
            <a:off x="3990375" y="3941825"/>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276225" y="4169663"/>
            <a:ext cx="3307270" cy="194310"/>
          </a:xfrm>
          <a:prstGeom prst="rect">
            <a:avLst/>
          </a:prstGeom>
          <a:noFill/>
        </p:spPr>
        <p:txBody>
          <a:bodyPr wrap="none" lIns="0" rIns="0" tIns="0" bIns="0">
            <a:spAutoFit/>
          </a:bodyPr>
          <a:lstStyle/>
          <a:p>
            <a:r>
              <a:rPr sz="1150" b="0">
                <a:solidFill>
                  <a:srgbClr val="2E2E2E"/>
                </a:solidFill>
                <a:latin typeface="Calibri"/>
              </a:rPr>
              <a:t>▪ 4. Niche Ingredients × Mineral Ceramide Sunscreen –</a:t>
            </a:r>
          </a:p>
        </p:txBody>
      </p:sp>
      <p:pic>
        <p:nvPicPr>
          <p:cNvPr id="48" name="Picture 47" descr="lock.png"/>
          <p:cNvPicPr>
            <a:picLocks noChangeAspect="1"/>
          </p:cNvPicPr>
          <p:nvPr/>
        </p:nvPicPr>
        <p:blipFill>
          <a:blip r:embed="rId4"/>
          <a:stretch>
            <a:fillRect/>
          </a:stretch>
        </p:blipFill>
        <p:spPr>
          <a:xfrm>
            <a:off x="3532649" y="4159440"/>
            <a:ext cx="134549" cy="195707"/>
          </a:xfrm>
          <a:prstGeom prst="rect">
            <a:avLst/>
          </a:prstGeom>
        </p:spPr>
      </p:pic>
      <p:sp>
        <p:nvSpPr>
          <p:cNvPr id="49" name="TextBox 48"/>
          <p:cNvSpPr txBox="1"/>
          <p:nvPr/>
        </p:nvSpPr>
        <p:spPr>
          <a:xfrm>
            <a:off x="3707759" y="41696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769910" y="4159440"/>
            <a:ext cx="134549" cy="195707"/>
          </a:xfrm>
          <a:prstGeom prst="rect">
            <a:avLst/>
          </a:prstGeom>
        </p:spPr>
      </p:pic>
      <p:sp>
        <p:nvSpPr>
          <p:cNvPr id="51" name="TextBox 50"/>
          <p:cNvSpPr txBox="1"/>
          <p:nvPr/>
        </p:nvSpPr>
        <p:spPr>
          <a:xfrm>
            <a:off x="3945020" y="4169663"/>
            <a:ext cx="350899" cy="194310"/>
          </a:xfrm>
          <a:prstGeom prst="rect">
            <a:avLst/>
          </a:prstGeom>
          <a:noFill/>
        </p:spPr>
        <p:txBody>
          <a:bodyPr wrap="none" lIns="0" rIns="0" tIns="0" bIns="0">
            <a:spAutoFit/>
          </a:bodyPr>
          <a:lstStyle/>
          <a:p>
            <a:r>
              <a:rPr sz="1150" b="0">
                <a:solidFill>
                  <a:srgbClr val="2E2E2E"/>
                </a:solidFill>
                <a:latin typeface="Calibri"/>
              </a:rPr>
              <a:t>· 3/5</a:t>
            </a:r>
          </a:p>
        </p:txBody>
      </p:sp>
      <p:sp>
        <p:nvSpPr>
          <p:cNvPr id="52" name="TextBox 51"/>
          <p:cNvSpPr txBox="1"/>
          <p:nvPr/>
        </p:nvSpPr>
        <p:spPr>
          <a:xfrm>
            <a:off x="276225" y="4397501"/>
            <a:ext cx="3460167" cy="194310"/>
          </a:xfrm>
          <a:prstGeom prst="rect">
            <a:avLst/>
          </a:prstGeom>
          <a:noFill/>
        </p:spPr>
        <p:txBody>
          <a:bodyPr wrap="none" lIns="0" rIns="0" tIns="0" bIns="0">
            <a:spAutoFit/>
          </a:bodyPr>
          <a:lstStyle/>
          <a:p>
            <a:r>
              <a:rPr sz="1150" b="0">
                <a:solidFill>
                  <a:srgbClr val="2E2E2E"/>
                </a:solidFill>
                <a:latin typeface="Calibri"/>
              </a:rPr>
              <a:t>▪ 5. Emerging Ingredients × Hybrid Ceramide Sunscreen –</a:t>
            </a:r>
          </a:p>
        </p:txBody>
      </p:sp>
      <p:pic>
        <p:nvPicPr>
          <p:cNvPr id="53" name="Picture 52" descr="lock.png"/>
          <p:cNvPicPr>
            <a:picLocks noChangeAspect="1"/>
          </p:cNvPicPr>
          <p:nvPr/>
        </p:nvPicPr>
        <p:blipFill>
          <a:blip r:embed="rId4"/>
          <a:stretch>
            <a:fillRect/>
          </a:stretch>
        </p:blipFill>
        <p:spPr>
          <a:xfrm>
            <a:off x="3685546" y="4387278"/>
            <a:ext cx="134549" cy="195707"/>
          </a:xfrm>
          <a:prstGeom prst="rect">
            <a:avLst/>
          </a:prstGeom>
        </p:spPr>
      </p:pic>
      <p:sp>
        <p:nvSpPr>
          <p:cNvPr id="54" name="TextBox 53"/>
          <p:cNvSpPr txBox="1"/>
          <p:nvPr/>
        </p:nvSpPr>
        <p:spPr>
          <a:xfrm>
            <a:off x="3860655" y="439750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922806" y="4387278"/>
            <a:ext cx="134549" cy="195707"/>
          </a:xfrm>
          <a:prstGeom prst="rect">
            <a:avLst/>
          </a:prstGeom>
        </p:spPr>
      </p:pic>
      <p:sp>
        <p:nvSpPr>
          <p:cNvPr id="56" name="TextBox 55"/>
          <p:cNvSpPr txBox="1"/>
          <p:nvPr/>
        </p:nvSpPr>
        <p:spPr>
          <a:xfrm>
            <a:off x="4097916" y="4397501"/>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7" name="TextBox 56"/>
          <p:cNvSpPr txBox="1"/>
          <p:nvPr/>
        </p:nvSpPr>
        <p:spPr>
          <a:xfrm>
            <a:off x="6029325" y="3486150"/>
            <a:ext cx="1456258" cy="194310"/>
          </a:xfrm>
          <a:prstGeom prst="rect">
            <a:avLst/>
          </a:prstGeom>
          <a:noFill/>
        </p:spPr>
        <p:txBody>
          <a:bodyPr wrap="none" lIns="0" rIns="0" tIns="0" bIns="0">
            <a:spAutoFit/>
          </a:bodyPr>
          <a:lstStyle/>
          <a:p>
            <a:r>
              <a:rPr sz="1150" b="0">
                <a:solidFill>
                  <a:srgbClr val="2E2E2E"/>
                </a:solidFill>
                <a:latin typeface="Calibri"/>
              </a:rPr>
              <a:t>▪ 'Regular Ingredients ×</a:t>
            </a:r>
          </a:p>
        </p:txBody>
      </p:sp>
      <p:sp>
        <p:nvSpPr>
          <p:cNvPr id="58" name="TextBox 57"/>
          <p:cNvSpPr txBox="1"/>
          <p:nvPr/>
        </p:nvSpPr>
        <p:spPr>
          <a:xfrm>
            <a:off x="6029325" y="3661410"/>
            <a:ext cx="1143334" cy="194310"/>
          </a:xfrm>
          <a:prstGeom prst="rect">
            <a:avLst/>
          </a:prstGeom>
          <a:noFill/>
        </p:spPr>
        <p:txBody>
          <a:bodyPr wrap="none" lIns="0" rIns="0" tIns="0" bIns="0">
            <a:spAutoFit/>
          </a:bodyPr>
          <a:lstStyle/>
          <a:p>
            <a:r>
              <a:rPr sz="1150" b="0">
                <a:solidFill>
                  <a:srgbClr val="2E2E2E"/>
                </a:solidFill>
                <a:latin typeface="Calibri"/>
              </a:rPr>
              <a:t>Mineral Ceramide</a:t>
            </a:r>
          </a:p>
        </p:txBody>
      </p:sp>
      <p:sp>
        <p:nvSpPr>
          <p:cNvPr id="59" name="TextBox 58"/>
          <p:cNvSpPr txBox="1"/>
          <p:nvPr/>
        </p:nvSpPr>
        <p:spPr>
          <a:xfrm>
            <a:off x="6029325" y="3836669"/>
            <a:ext cx="1034653" cy="194310"/>
          </a:xfrm>
          <a:prstGeom prst="rect">
            <a:avLst/>
          </a:prstGeom>
          <a:noFill/>
        </p:spPr>
        <p:txBody>
          <a:bodyPr wrap="none" lIns="0" rIns="0" tIns="0" bIns="0">
            <a:spAutoFit/>
          </a:bodyPr>
          <a:lstStyle/>
          <a:p>
            <a:r>
              <a:rPr sz="1150" b="0">
                <a:solidFill>
                  <a:srgbClr val="2E2E2E"/>
                </a:solidFill>
                <a:latin typeface="Calibri"/>
              </a:rPr>
              <a:t>Sunscreen' adds</a:t>
            </a:r>
          </a:p>
        </p:txBody>
      </p:sp>
      <p:pic>
        <p:nvPicPr>
          <p:cNvPr id="60" name="Picture 59" descr="lock.png"/>
          <p:cNvPicPr>
            <a:picLocks noChangeAspect="1"/>
          </p:cNvPicPr>
          <p:nvPr/>
        </p:nvPicPr>
        <p:blipFill>
          <a:blip r:embed="rId4"/>
          <a:stretch>
            <a:fillRect/>
          </a:stretch>
        </p:blipFill>
        <p:spPr>
          <a:xfrm>
            <a:off x="7013132" y="3826446"/>
            <a:ext cx="134549" cy="195707"/>
          </a:xfrm>
          <a:prstGeom prst="rect">
            <a:avLst/>
          </a:prstGeom>
        </p:spPr>
      </p:pic>
      <p:sp>
        <p:nvSpPr>
          <p:cNvPr id="61" name="TextBox 60"/>
          <p:cNvSpPr txBox="1"/>
          <p:nvPr/>
        </p:nvSpPr>
        <p:spPr>
          <a:xfrm>
            <a:off x="7188241" y="3836669"/>
            <a:ext cx="311249" cy="194310"/>
          </a:xfrm>
          <a:prstGeom prst="rect">
            <a:avLst/>
          </a:prstGeom>
          <a:noFill/>
        </p:spPr>
        <p:txBody>
          <a:bodyPr wrap="none" lIns="0" rIns="0" tIns="0" bIns="0">
            <a:spAutoFit/>
          </a:bodyPr>
          <a:lstStyle/>
          <a:p>
            <a:r>
              <a:rPr sz="1150" b="0">
                <a:solidFill>
                  <a:srgbClr val="2E2E2E"/>
                </a:solidFill>
                <a:latin typeface="Calibri"/>
              </a:rPr>
              <a:t>US$</a:t>
            </a:r>
          </a:p>
        </p:txBody>
      </p:sp>
      <p:sp>
        <p:nvSpPr>
          <p:cNvPr id="62" name="TextBox 61"/>
          <p:cNvSpPr txBox="1"/>
          <p:nvPr/>
        </p:nvSpPr>
        <p:spPr>
          <a:xfrm>
            <a:off x="6029325" y="4011929"/>
            <a:ext cx="956493" cy="194310"/>
          </a:xfrm>
          <a:prstGeom prst="rect">
            <a:avLst/>
          </a:prstGeom>
          <a:noFill/>
        </p:spPr>
        <p:txBody>
          <a:bodyPr wrap="none" lIns="0" rIns="0" tIns="0" bIns="0">
            <a:spAutoFit/>
          </a:bodyPr>
          <a:lstStyle/>
          <a:p>
            <a:r>
              <a:rPr sz="1150" b="0">
                <a:solidFill>
                  <a:srgbClr val="2E2E2E"/>
                </a:solidFill>
                <a:latin typeface="Calibri"/>
              </a:rPr>
              <a:t>Mn by 2036F –</a:t>
            </a:r>
          </a:p>
        </p:txBody>
      </p:sp>
      <p:pic>
        <p:nvPicPr>
          <p:cNvPr id="63" name="Picture 62" descr="lock.png"/>
          <p:cNvPicPr>
            <a:picLocks noChangeAspect="1"/>
          </p:cNvPicPr>
          <p:nvPr/>
        </p:nvPicPr>
        <p:blipFill>
          <a:blip r:embed="rId4"/>
          <a:stretch>
            <a:fillRect/>
          </a:stretch>
        </p:blipFill>
        <p:spPr>
          <a:xfrm>
            <a:off x="6934972" y="4001706"/>
            <a:ext cx="134549" cy="195707"/>
          </a:xfrm>
          <a:prstGeom prst="rect">
            <a:avLst/>
          </a:prstGeom>
        </p:spPr>
      </p:pic>
      <p:sp>
        <p:nvSpPr>
          <p:cNvPr id="64" name="TextBox 63"/>
          <p:cNvSpPr txBox="1"/>
          <p:nvPr/>
        </p:nvSpPr>
        <p:spPr>
          <a:xfrm>
            <a:off x="7110081" y="4011929"/>
            <a:ext cx="429344" cy="194310"/>
          </a:xfrm>
          <a:prstGeom prst="rect">
            <a:avLst/>
          </a:prstGeom>
          <a:noFill/>
        </p:spPr>
        <p:txBody>
          <a:bodyPr wrap="none" lIns="0" rIns="0" tIns="0" bIns="0">
            <a:spAutoFit/>
          </a:bodyPr>
          <a:lstStyle/>
          <a:p>
            <a:r>
              <a:rPr sz="1150" b="0">
                <a:solidFill>
                  <a:srgbClr val="2E2E2E"/>
                </a:solidFill>
                <a:latin typeface="Calibri"/>
              </a:rPr>
              <a:t>of the</a:t>
            </a:r>
          </a:p>
        </p:txBody>
      </p:sp>
      <p:sp>
        <p:nvSpPr>
          <p:cNvPr id="65" name="TextBox 64"/>
          <p:cNvSpPr txBox="1"/>
          <p:nvPr/>
        </p:nvSpPr>
        <p:spPr>
          <a:xfrm>
            <a:off x="6029325" y="4187189"/>
            <a:ext cx="1134777" cy="194310"/>
          </a:xfrm>
          <a:prstGeom prst="rect">
            <a:avLst/>
          </a:prstGeom>
          <a:noFill/>
        </p:spPr>
        <p:txBody>
          <a:bodyPr wrap="none" lIns="0" rIns="0" tIns="0" bIns="0">
            <a:spAutoFit/>
          </a:bodyPr>
          <a:lstStyle/>
          <a:p>
            <a:r>
              <a:rPr sz="1150" b="0">
                <a:solidFill>
                  <a:srgbClr val="2E2E2E"/>
                </a:solidFill>
                <a:latin typeface="Calibri"/>
              </a:rPr>
              <a:t>total opportunity.</a:t>
            </a:r>
          </a:p>
        </p:txBody>
      </p:sp>
      <p:sp>
        <p:nvSpPr>
          <p:cNvPr id="66" name="TextBox 65"/>
          <p:cNvSpPr txBox="1"/>
          <p:nvPr/>
        </p:nvSpPr>
        <p:spPr>
          <a:xfrm>
            <a:off x="8124825" y="3486150"/>
            <a:ext cx="1563799" cy="194310"/>
          </a:xfrm>
          <a:prstGeom prst="rect">
            <a:avLst/>
          </a:prstGeom>
          <a:noFill/>
        </p:spPr>
        <p:txBody>
          <a:bodyPr wrap="none" lIns="0" rIns="0" tIns="0" bIns="0">
            <a:spAutoFit/>
          </a:bodyPr>
          <a:lstStyle/>
          <a:p>
            <a:r>
              <a:rPr sz="1150" b="0">
                <a:solidFill>
                  <a:srgbClr val="2E2E2E"/>
                </a:solidFill>
                <a:latin typeface="Calibri"/>
              </a:rPr>
              <a:t>▪ 'Emerging Ingredients ×</a:t>
            </a:r>
          </a:p>
        </p:txBody>
      </p:sp>
      <p:sp>
        <p:nvSpPr>
          <p:cNvPr id="67" name="TextBox 66"/>
          <p:cNvSpPr txBox="1"/>
          <p:nvPr/>
        </p:nvSpPr>
        <p:spPr>
          <a:xfrm>
            <a:off x="8124825" y="3661410"/>
            <a:ext cx="1223776" cy="194310"/>
          </a:xfrm>
          <a:prstGeom prst="rect">
            <a:avLst/>
          </a:prstGeom>
          <a:noFill/>
        </p:spPr>
        <p:txBody>
          <a:bodyPr wrap="none" lIns="0" rIns="0" tIns="0" bIns="0">
            <a:spAutoFit/>
          </a:bodyPr>
          <a:lstStyle/>
          <a:p>
            <a:r>
              <a:rPr sz="1150" b="0">
                <a:solidFill>
                  <a:srgbClr val="2E2E2E"/>
                </a:solidFill>
                <a:latin typeface="Calibri"/>
              </a:rPr>
              <a:t>Chemical Ceramide</a:t>
            </a:r>
          </a:p>
        </p:txBody>
      </p:sp>
      <p:sp>
        <p:nvSpPr>
          <p:cNvPr id="68" name="TextBox 67"/>
          <p:cNvSpPr txBox="1"/>
          <p:nvPr/>
        </p:nvSpPr>
        <p:spPr>
          <a:xfrm>
            <a:off x="8124825" y="3836669"/>
            <a:ext cx="1367544" cy="194310"/>
          </a:xfrm>
          <a:prstGeom prst="rect">
            <a:avLst/>
          </a:prstGeom>
          <a:noFill/>
        </p:spPr>
        <p:txBody>
          <a:bodyPr wrap="none" lIns="0" rIns="0" tIns="0" bIns="0">
            <a:spAutoFit/>
          </a:bodyPr>
          <a:lstStyle/>
          <a:p>
            <a:r>
              <a:rPr sz="1150" b="0">
                <a:solidFill>
                  <a:srgbClr val="2E2E2E"/>
                </a:solidFill>
                <a:latin typeface="Calibri"/>
              </a:rPr>
              <a:t>Sunscreen' grows at a</a:t>
            </a:r>
          </a:p>
        </p:txBody>
      </p:sp>
      <p:pic>
        <p:nvPicPr>
          <p:cNvPr id="69" name="Picture 68" descr="lock.png"/>
          <p:cNvPicPr>
            <a:picLocks noChangeAspect="1"/>
          </p:cNvPicPr>
          <p:nvPr/>
        </p:nvPicPr>
        <p:blipFill>
          <a:blip r:embed="rId4"/>
          <a:stretch>
            <a:fillRect/>
          </a:stretch>
        </p:blipFill>
        <p:spPr>
          <a:xfrm>
            <a:off x="9441523" y="3826446"/>
            <a:ext cx="134549" cy="195707"/>
          </a:xfrm>
          <a:prstGeom prst="rect">
            <a:avLst/>
          </a:prstGeom>
        </p:spPr>
      </p:pic>
      <p:sp>
        <p:nvSpPr>
          <p:cNvPr id="70" name="TextBox 69"/>
          <p:cNvSpPr txBox="1"/>
          <p:nvPr/>
        </p:nvSpPr>
        <p:spPr>
          <a:xfrm>
            <a:off x="8124825" y="401192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1" name="Picture 70" descr="lock.png"/>
          <p:cNvPicPr>
            <a:picLocks noChangeAspect="1"/>
          </p:cNvPicPr>
          <p:nvPr/>
        </p:nvPicPr>
        <p:blipFill>
          <a:blip r:embed="rId4"/>
          <a:stretch>
            <a:fillRect/>
          </a:stretch>
        </p:blipFill>
        <p:spPr>
          <a:xfrm>
            <a:off x="8520420" y="4001706"/>
            <a:ext cx="134549" cy="195707"/>
          </a:xfrm>
          <a:prstGeom prst="rect">
            <a:avLst/>
          </a:prstGeom>
        </p:spPr>
      </p:pic>
      <p:sp>
        <p:nvSpPr>
          <p:cNvPr id="72" name="TextBox 71"/>
          <p:cNvSpPr txBox="1"/>
          <p:nvPr/>
        </p:nvSpPr>
        <p:spPr>
          <a:xfrm>
            <a:off x="8695529" y="401192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3" name="TextBox 72"/>
          <p:cNvSpPr txBox="1"/>
          <p:nvPr/>
        </p:nvSpPr>
        <p:spPr>
          <a:xfrm>
            <a:off x="8124825" y="418718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Form Type × End-use 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Form Type × End-use Application,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form type sub-segment across end-use application sub-segments</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Form Type × End-use Application, 2026E and 2036F (US$ Mn)</a:t>
            </a:r>
          </a:p>
        </p:txBody>
      </p:sp>
      <p:graphicFrame>
        <p:nvGraphicFramePr>
          <p:cNvPr id="12" name="Table 11"/>
          <p:cNvGraphicFramePr>
            <a:graphicFrameLocks noGrp="1"/>
          </p:cNvGraphicFramePr>
          <p:nvPr/>
        </p:nvGraphicFramePr>
        <p:xfrm>
          <a:off x="152400" y="1238250"/>
          <a:ext cx="11887196" cy="1971675"/>
        </p:xfrm>
        <a:graphic>
          <a:graphicData uri="http://schemas.openxmlformats.org/drawingml/2006/table">
            <a:tbl>
              <a:tblPr>
                <a:tableStyleId>{5C22544A-7EE6-4342-B048-85BDC9FD1C3A}</a:tableStyleId>
              </a:tblPr>
              <a:tblGrid>
                <a:gridCol w="2953126"/>
                <a:gridCol w="893407"/>
                <a:gridCol w="893407"/>
                <a:gridCol w="893407"/>
                <a:gridCol w="893407"/>
                <a:gridCol w="893407"/>
                <a:gridCol w="893407"/>
                <a:gridCol w="893407"/>
                <a:gridCol w="893407"/>
                <a:gridCol w="893407"/>
                <a:gridCol w="893407"/>
              </a:tblGrid>
              <a:tr h="246126">
                <a:tc rowSpan="2">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Facial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Body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Face &amp; Body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Lip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7286625"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6099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Form Type → End-use Application, 2036F (US$ Mn)</a:t>
            </a:r>
          </a:p>
        </p:txBody>
      </p:sp>
      <p:sp>
        <p:nvSpPr>
          <p:cNvPr id="16" name="Freeform 15"/>
          <p:cNvSpPr/>
          <p:nvPr/>
        </p:nvSpPr>
        <p:spPr>
          <a:xfrm>
            <a:off x="2057400" y="3876675"/>
            <a:ext cx="3743325" cy="314325"/>
          </a:xfrm>
          <a:custGeom>
            <a:avLst/>
            <a:gdLst/>
            <a:ahLst/>
            <a:cxnLst/>
            <a:rect l="l" t="t" r="r" b="b"/>
            <a:pathLst>
              <a:path w="393" h="33">
                <a:moveTo>
                  <a:pt x="0" y="0"/>
                </a:moveTo>
                <a:lnTo>
                  <a:pt x="16" y="0"/>
                </a:lnTo>
                <a:lnTo>
                  <a:pt x="33" y="0"/>
                </a:lnTo>
                <a:lnTo>
                  <a:pt x="49" y="0"/>
                </a:lnTo>
                <a:lnTo>
                  <a:pt x="65" y="0"/>
                </a:lnTo>
                <a:lnTo>
                  <a:pt x="82" y="0"/>
                </a:lnTo>
                <a:lnTo>
                  <a:pt x="98" y="0"/>
                </a:lnTo>
                <a:lnTo>
                  <a:pt x="114" y="1"/>
                </a:lnTo>
                <a:lnTo>
                  <a:pt x="131" y="1"/>
                </a:lnTo>
                <a:lnTo>
                  <a:pt x="147" y="1"/>
                </a:lnTo>
                <a:lnTo>
                  <a:pt x="164" y="1"/>
                </a:lnTo>
                <a:lnTo>
                  <a:pt x="180" y="1"/>
                </a:lnTo>
                <a:lnTo>
                  <a:pt x="196" y="1"/>
                </a:lnTo>
                <a:lnTo>
                  <a:pt x="213" y="2"/>
                </a:lnTo>
                <a:lnTo>
                  <a:pt x="229" y="2"/>
                </a:lnTo>
                <a:lnTo>
                  <a:pt x="246" y="2"/>
                </a:lnTo>
                <a:lnTo>
                  <a:pt x="262" y="2"/>
                </a:lnTo>
                <a:lnTo>
                  <a:pt x="278" y="2"/>
                </a:lnTo>
                <a:lnTo>
                  <a:pt x="295" y="3"/>
                </a:lnTo>
                <a:lnTo>
                  <a:pt x="311" y="3"/>
                </a:lnTo>
                <a:lnTo>
                  <a:pt x="327" y="3"/>
                </a:lnTo>
                <a:lnTo>
                  <a:pt x="344" y="3"/>
                </a:lnTo>
                <a:lnTo>
                  <a:pt x="360" y="3"/>
                </a:lnTo>
                <a:lnTo>
                  <a:pt x="377" y="3"/>
                </a:lnTo>
                <a:lnTo>
                  <a:pt x="393" y="3"/>
                </a:lnTo>
                <a:lnTo>
                  <a:pt x="393" y="33"/>
                </a:lnTo>
                <a:lnTo>
                  <a:pt x="377" y="33"/>
                </a:lnTo>
                <a:lnTo>
                  <a:pt x="360" y="33"/>
                </a:lnTo>
                <a:lnTo>
                  <a:pt x="344" y="33"/>
                </a:lnTo>
                <a:lnTo>
                  <a:pt x="327" y="33"/>
                </a:lnTo>
                <a:lnTo>
                  <a:pt x="311" y="33"/>
                </a:lnTo>
                <a:lnTo>
                  <a:pt x="295" y="33"/>
                </a:lnTo>
                <a:lnTo>
                  <a:pt x="278" y="33"/>
                </a:lnTo>
                <a:lnTo>
                  <a:pt x="262" y="33"/>
                </a:lnTo>
                <a:lnTo>
                  <a:pt x="246" y="32"/>
                </a:lnTo>
                <a:lnTo>
                  <a:pt x="229" y="32"/>
                </a:lnTo>
                <a:lnTo>
                  <a:pt x="213" y="32"/>
                </a:lnTo>
                <a:lnTo>
                  <a:pt x="196" y="32"/>
                </a:lnTo>
                <a:lnTo>
                  <a:pt x="180" y="32"/>
                </a:lnTo>
                <a:lnTo>
                  <a:pt x="164" y="31"/>
                </a:lnTo>
                <a:lnTo>
                  <a:pt x="147" y="31"/>
                </a:lnTo>
                <a:lnTo>
                  <a:pt x="131" y="31"/>
                </a:lnTo>
                <a:lnTo>
                  <a:pt x="114" y="31"/>
                </a:lnTo>
                <a:lnTo>
                  <a:pt x="98" y="31"/>
                </a:lnTo>
                <a:lnTo>
                  <a:pt x="82" y="31"/>
                </a:lnTo>
                <a:lnTo>
                  <a:pt x="65" y="31"/>
                </a:lnTo>
                <a:lnTo>
                  <a:pt x="49" y="30"/>
                </a:lnTo>
                <a:lnTo>
                  <a:pt x="33" y="30"/>
                </a:lnTo>
                <a:lnTo>
                  <a:pt x="16" y="30"/>
                </a:lnTo>
                <a:lnTo>
                  <a:pt x="0" y="3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162425"/>
            <a:ext cx="3743325" cy="981075"/>
          </a:xfrm>
          <a:custGeom>
            <a:avLst/>
            <a:gdLst/>
            <a:ahLst/>
            <a:cxnLst/>
            <a:rect l="l" t="t" r="r" b="b"/>
            <a:pathLst>
              <a:path w="393" h="103">
                <a:moveTo>
                  <a:pt x="0" y="0"/>
                </a:moveTo>
                <a:lnTo>
                  <a:pt x="16" y="1"/>
                </a:lnTo>
                <a:lnTo>
                  <a:pt x="33" y="2"/>
                </a:lnTo>
                <a:lnTo>
                  <a:pt x="49" y="4"/>
                </a:lnTo>
                <a:lnTo>
                  <a:pt x="65" y="6"/>
                </a:lnTo>
                <a:lnTo>
                  <a:pt x="82" y="9"/>
                </a:lnTo>
                <a:lnTo>
                  <a:pt x="98" y="13"/>
                </a:lnTo>
                <a:lnTo>
                  <a:pt x="114" y="16"/>
                </a:lnTo>
                <a:lnTo>
                  <a:pt x="131" y="21"/>
                </a:lnTo>
                <a:lnTo>
                  <a:pt x="147" y="25"/>
                </a:lnTo>
                <a:lnTo>
                  <a:pt x="164" y="30"/>
                </a:lnTo>
                <a:lnTo>
                  <a:pt x="180" y="35"/>
                </a:lnTo>
                <a:lnTo>
                  <a:pt x="196" y="40"/>
                </a:lnTo>
                <a:lnTo>
                  <a:pt x="213" y="44"/>
                </a:lnTo>
                <a:lnTo>
                  <a:pt x="229" y="49"/>
                </a:lnTo>
                <a:lnTo>
                  <a:pt x="246" y="54"/>
                </a:lnTo>
                <a:lnTo>
                  <a:pt x="262" y="58"/>
                </a:lnTo>
                <a:lnTo>
                  <a:pt x="278" y="63"/>
                </a:lnTo>
                <a:lnTo>
                  <a:pt x="295" y="67"/>
                </a:lnTo>
                <a:lnTo>
                  <a:pt x="311" y="70"/>
                </a:lnTo>
                <a:lnTo>
                  <a:pt x="327" y="73"/>
                </a:lnTo>
                <a:lnTo>
                  <a:pt x="344" y="75"/>
                </a:lnTo>
                <a:lnTo>
                  <a:pt x="360" y="77"/>
                </a:lnTo>
                <a:lnTo>
                  <a:pt x="377" y="78"/>
                </a:lnTo>
                <a:lnTo>
                  <a:pt x="393" y="79"/>
                </a:lnTo>
                <a:lnTo>
                  <a:pt x="393" y="103"/>
                </a:lnTo>
                <a:lnTo>
                  <a:pt x="377" y="103"/>
                </a:lnTo>
                <a:lnTo>
                  <a:pt x="360" y="102"/>
                </a:lnTo>
                <a:lnTo>
                  <a:pt x="344" y="100"/>
                </a:lnTo>
                <a:lnTo>
                  <a:pt x="327" y="98"/>
                </a:lnTo>
                <a:lnTo>
                  <a:pt x="311" y="95"/>
                </a:lnTo>
                <a:lnTo>
                  <a:pt x="295" y="91"/>
                </a:lnTo>
                <a:lnTo>
                  <a:pt x="278" y="87"/>
                </a:lnTo>
                <a:lnTo>
                  <a:pt x="262" y="83"/>
                </a:lnTo>
                <a:lnTo>
                  <a:pt x="246" y="78"/>
                </a:lnTo>
                <a:lnTo>
                  <a:pt x="229" y="74"/>
                </a:lnTo>
                <a:lnTo>
                  <a:pt x="213" y="69"/>
                </a:lnTo>
                <a:lnTo>
                  <a:pt x="196" y="64"/>
                </a:lnTo>
                <a:lnTo>
                  <a:pt x="180" y="59"/>
                </a:lnTo>
                <a:lnTo>
                  <a:pt x="164" y="54"/>
                </a:lnTo>
                <a:lnTo>
                  <a:pt x="147" y="50"/>
                </a:lnTo>
                <a:lnTo>
                  <a:pt x="131" y="45"/>
                </a:lnTo>
                <a:lnTo>
                  <a:pt x="114" y="41"/>
                </a:lnTo>
                <a:lnTo>
                  <a:pt x="98" y="37"/>
                </a:lnTo>
                <a:lnTo>
                  <a:pt x="82" y="34"/>
                </a:lnTo>
                <a:lnTo>
                  <a:pt x="65" y="31"/>
                </a:lnTo>
                <a:lnTo>
                  <a:pt x="49" y="28"/>
                </a:lnTo>
                <a:lnTo>
                  <a:pt x="33" y="26"/>
                </a:lnTo>
                <a:lnTo>
                  <a:pt x="16" y="25"/>
                </a:lnTo>
                <a:lnTo>
                  <a:pt x="0" y="2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400550"/>
            <a:ext cx="3743325" cy="1333500"/>
          </a:xfrm>
          <a:custGeom>
            <a:avLst/>
            <a:gdLst/>
            <a:ahLst/>
            <a:cxnLst/>
            <a:rect l="l" t="t" r="r" b="b"/>
            <a:pathLst>
              <a:path w="393" h="140">
                <a:moveTo>
                  <a:pt x="0" y="0"/>
                </a:moveTo>
                <a:lnTo>
                  <a:pt x="16" y="0"/>
                </a:lnTo>
                <a:lnTo>
                  <a:pt x="33" y="2"/>
                </a:lnTo>
                <a:lnTo>
                  <a:pt x="49" y="5"/>
                </a:lnTo>
                <a:lnTo>
                  <a:pt x="65" y="9"/>
                </a:lnTo>
                <a:lnTo>
                  <a:pt x="82" y="14"/>
                </a:lnTo>
                <a:lnTo>
                  <a:pt x="98" y="20"/>
                </a:lnTo>
                <a:lnTo>
                  <a:pt x="114" y="26"/>
                </a:lnTo>
                <a:lnTo>
                  <a:pt x="131" y="33"/>
                </a:lnTo>
                <a:lnTo>
                  <a:pt x="147" y="40"/>
                </a:lnTo>
                <a:lnTo>
                  <a:pt x="164" y="47"/>
                </a:lnTo>
                <a:lnTo>
                  <a:pt x="180" y="55"/>
                </a:lnTo>
                <a:lnTo>
                  <a:pt x="196" y="63"/>
                </a:lnTo>
                <a:lnTo>
                  <a:pt x="213" y="71"/>
                </a:lnTo>
                <a:lnTo>
                  <a:pt x="229" y="79"/>
                </a:lnTo>
                <a:lnTo>
                  <a:pt x="246" y="86"/>
                </a:lnTo>
                <a:lnTo>
                  <a:pt x="262" y="93"/>
                </a:lnTo>
                <a:lnTo>
                  <a:pt x="278" y="100"/>
                </a:lnTo>
                <a:lnTo>
                  <a:pt x="295" y="106"/>
                </a:lnTo>
                <a:lnTo>
                  <a:pt x="311" y="112"/>
                </a:lnTo>
                <a:lnTo>
                  <a:pt x="327" y="117"/>
                </a:lnTo>
                <a:lnTo>
                  <a:pt x="344" y="121"/>
                </a:lnTo>
                <a:lnTo>
                  <a:pt x="360" y="124"/>
                </a:lnTo>
                <a:lnTo>
                  <a:pt x="377" y="126"/>
                </a:lnTo>
                <a:lnTo>
                  <a:pt x="393" y="126"/>
                </a:lnTo>
                <a:lnTo>
                  <a:pt x="393" y="140"/>
                </a:lnTo>
                <a:lnTo>
                  <a:pt x="377" y="140"/>
                </a:lnTo>
                <a:lnTo>
                  <a:pt x="360" y="138"/>
                </a:lnTo>
                <a:lnTo>
                  <a:pt x="344" y="135"/>
                </a:lnTo>
                <a:lnTo>
                  <a:pt x="327" y="131"/>
                </a:lnTo>
                <a:lnTo>
                  <a:pt x="311" y="126"/>
                </a:lnTo>
                <a:lnTo>
                  <a:pt x="295" y="121"/>
                </a:lnTo>
                <a:lnTo>
                  <a:pt x="278" y="114"/>
                </a:lnTo>
                <a:lnTo>
                  <a:pt x="262" y="108"/>
                </a:lnTo>
                <a:lnTo>
                  <a:pt x="246" y="100"/>
                </a:lnTo>
                <a:lnTo>
                  <a:pt x="229" y="93"/>
                </a:lnTo>
                <a:lnTo>
                  <a:pt x="213" y="85"/>
                </a:lnTo>
                <a:lnTo>
                  <a:pt x="196" y="77"/>
                </a:lnTo>
                <a:lnTo>
                  <a:pt x="180" y="69"/>
                </a:lnTo>
                <a:lnTo>
                  <a:pt x="164" y="62"/>
                </a:lnTo>
                <a:lnTo>
                  <a:pt x="147" y="54"/>
                </a:lnTo>
                <a:lnTo>
                  <a:pt x="131" y="47"/>
                </a:lnTo>
                <a:lnTo>
                  <a:pt x="114" y="40"/>
                </a:lnTo>
                <a:lnTo>
                  <a:pt x="98" y="34"/>
                </a:lnTo>
                <a:lnTo>
                  <a:pt x="82" y="28"/>
                </a:lnTo>
                <a:lnTo>
                  <a:pt x="65" y="23"/>
                </a:lnTo>
                <a:lnTo>
                  <a:pt x="49" y="19"/>
                </a:lnTo>
                <a:lnTo>
                  <a:pt x="33" y="17"/>
                </a:lnTo>
                <a:lnTo>
                  <a:pt x="16" y="15"/>
                </a:lnTo>
                <a:lnTo>
                  <a:pt x="0" y="14"/>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533900"/>
            <a:ext cx="3743325" cy="1685925"/>
          </a:xfrm>
          <a:custGeom>
            <a:avLst/>
            <a:gdLst/>
            <a:ahLst/>
            <a:cxnLst/>
            <a:rect l="l" t="t" r="r" b="b"/>
            <a:pathLst>
              <a:path w="393" h="177">
                <a:moveTo>
                  <a:pt x="0" y="0"/>
                </a:moveTo>
                <a:lnTo>
                  <a:pt x="16" y="1"/>
                </a:lnTo>
                <a:lnTo>
                  <a:pt x="33" y="3"/>
                </a:lnTo>
                <a:lnTo>
                  <a:pt x="49" y="7"/>
                </a:lnTo>
                <a:lnTo>
                  <a:pt x="65" y="12"/>
                </a:lnTo>
                <a:lnTo>
                  <a:pt x="82" y="18"/>
                </a:lnTo>
                <a:lnTo>
                  <a:pt x="98" y="25"/>
                </a:lnTo>
                <a:lnTo>
                  <a:pt x="114" y="34"/>
                </a:lnTo>
                <a:lnTo>
                  <a:pt x="131" y="42"/>
                </a:lnTo>
                <a:lnTo>
                  <a:pt x="147" y="52"/>
                </a:lnTo>
                <a:lnTo>
                  <a:pt x="164" y="61"/>
                </a:lnTo>
                <a:lnTo>
                  <a:pt x="180" y="71"/>
                </a:lnTo>
                <a:lnTo>
                  <a:pt x="196" y="81"/>
                </a:lnTo>
                <a:lnTo>
                  <a:pt x="213" y="92"/>
                </a:lnTo>
                <a:lnTo>
                  <a:pt x="229" y="102"/>
                </a:lnTo>
                <a:lnTo>
                  <a:pt x="246" y="111"/>
                </a:lnTo>
                <a:lnTo>
                  <a:pt x="262" y="121"/>
                </a:lnTo>
                <a:lnTo>
                  <a:pt x="278" y="129"/>
                </a:lnTo>
                <a:lnTo>
                  <a:pt x="295" y="137"/>
                </a:lnTo>
                <a:lnTo>
                  <a:pt x="311" y="145"/>
                </a:lnTo>
                <a:lnTo>
                  <a:pt x="327" y="151"/>
                </a:lnTo>
                <a:lnTo>
                  <a:pt x="344" y="156"/>
                </a:lnTo>
                <a:lnTo>
                  <a:pt x="360" y="160"/>
                </a:lnTo>
                <a:lnTo>
                  <a:pt x="377" y="162"/>
                </a:lnTo>
                <a:lnTo>
                  <a:pt x="393" y="163"/>
                </a:lnTo>
                <a:lnTo>
                  <a:pt x="393" y="177"/>
                </a:lnTo>
                <a:lnTo>
                  <a:pt x="377" y="176"/>
                </a:lnTo>
                <a:lnTo>
                  <a:pt x="360" y="173"/>
                </a:lnTo>
                <a:lnTo>
                  <a:pt x="344" y="170"/>
                </a:lnTo>
                <a:lnTo>
                  <a:pt x="327" y="164"/>
                </a:lnTo>
                <a:lnTo>
                  <a:pt x="311" y="158"/>
                </a:lnTo>
                <a:lnTo>
                  <a:pt x="295" y="151"/>
                </a:lnTo>
                <a:lnTo>
                  <a:pt x="278" y="143"/>
                </a:lnTo>
                <a:lnTo>
                  <a:pt x="262" y="134"/>
                </a:lnTo>
                <a:lnTo>
                  <a:pt x="246" y="125"/>
                </a:lnTo>
                <a:lnTo>
                  <a:pt x="229" y="115"/>
                </a:lnTo>
                <a:lnTo>
                  <a:pt x="213" y="105"/>
                </a:lnTo>
                <a:lnTo>
                  <a:pt x="196" y="95"/>
                </a:lnTo>
                <a:lnTo>
                  <a:pt x="180" y="85"/>
                </a:lnTo>
                <a:lnTo>
                  <a:pt x="164" y="75"/>
                </a:lnTo>
                <a:lnTo>
                  <a:pt x="147" y="65"/>
                </a:lnTo>
                <a:lnTo>
                  <a:pt x="131" y="56"/>
                </a:lnTo>
                <a:lnTo>
                  <a:pt x="114" y="47"/>
                </a:lnTo>
                <a:lnTo>
                  <a:pt x="98" y="39"/>
                </a:lnTo>
                <a:lnTo>
                  <a:pt x="82" y="32"/>
                </a:lnTo>
                <a:lnTo>
                  <a:pt x="65" y="26"/>
                </a:lnTo>
                <a:lnTo>
                  <a:pt x="49" y="21"/>
                </a:lnTo>
                <a:lnTo>
                  <a:pt x="33" y="17"/>
                </a:lnTo>
                <a:lnTo>
                  <a:pt x="16" y="14"/>
                </a:lnTo>
                <a:lnTo>
                  <a:pt x="0" y="14"/>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191000"/>
            <a:ext cx="3743325" cy="771525"/>
          </a:xfrm>
          <a:custGeom>
            <a:avLst/>
            <a:gdLst/>
            <a:ahLst/>
            <a:cxnLst/>
            <a:rect l="l" t="t" r="r" b="b"/>
            <a:pathLst>
              <a:path w="393" h="81">
                <a:moveTo>
                  <a:pt x="0" y="56"/>
                </a:moveTo>
                <a:lnTo>
                  <a:pt x="16" y="55"/>
                </a:lnTo>
                <a:lnTo>
                  <a:pt x="33" y="55"/>
                </a:lnTo>
                <a:lnTo>
                  <a:pt x="49" y="53"/>
                </a:lnTo>
                <a:lnTo>
                  <a:pt x="65" y="52"/>
                </a:lnTo>
                <a:lnTo>
                  <a:pt x="82" y="49"/>
                </a:lnTo>
                <a:lnTo>
                  <a:pt x="98" y="47"/>
                </a:lnTo>
                <a:lnTo>
                  <a:pt x="114" y="44"/>
                </a:lnTo>
                <a:lnTo>
                  <a:pt x="131" y="41"/>
                </a:lnTo>
                <a:lnTo>
                  <a:pt x="147" y="38"/>
                </a:lnTo>
                <a:lnTo>
                  <a:pt x="164" y="35"/>
                </a:lnTo>
                <a:lnTo>
                  <a:pt x="180" y="31"/>
                </a:lnTo>
                <a:lnTo>
                  <a:pt x="196" y="28"/>
                </a:lnTo>
                <a:lnTo>
                  <a:pt x="213" y="25"/>
                </a:lnTo>
                <a:lnTo>
                  <a:pt x="229" y="21"/>
                </a:lnTo>
                <a:lnTo>
                  <a:pt x="246" y="18"/>
                </a:lnTo>
                <a:lnTo>
                  <a:pt x="262" y="15"/>
                </a:lnTo>
                <a:lnTo>
                  <a:pt x="278" y="12"/>
                </a:lnTo>
                <a:lnTo>
                  <a:pt x="295" y="9"/>
                </a:lnTo>
                <a:lnTo>
                  <a:pt x="311" y="6"/>
                </a:lnTo>
                <a:lnTo>
                  <a:pt x="327" y="4"/>
                </a:lnTo>
                <a:lnTo>
                  <a:pt x="344" y="3"/>
                </a:lnTo>
                <a:lnTo>
                  <a:pt x="360" y="1"/>
                </a:lnTo>
                <a:lnTo>
                  <a:pt x="377" y="1"/>
                </a:lnTo>
                <a:lnTo>
                  <a:pt x="393" y="0"/>
                </a:lnTo>
                <a:lnTo>
                  <a:pt x="393" y="26"/>
                </a:lnTo>
                <a:lnTo>
                  <a:pt x="377" y="26"/>
                </a:lnTo>
                <a:lnTo>
                  <a:pt x="360" y="27"/>
                </a:lnTo>
                <a:lnTo>
                  <a:pt x="344" y="28"/>
                </a:lnTo>
                <a:lnTo>
                  <a:pt x="327" y="30"/>
                </a:lnTo>
                <a:lnTo>
                  <a:pt x="311" y="32"/>
                </a:lnTo>
                <a:lnTo>
                  <a:pt x="295" y="34"/>
                </a:lnTo>
                <a:lnTo>
                  <a:pt x="278" y="37"/>
                </a:lnTo>
                <a:lnTo>
                  <a:pt x="262" y="40"/>
                </a:lnTo>
                <a:lnTo>
                  <a:pt x="246" y="43"/>
                </a:lnTo>
                <a:lnTo>
                  <a:pt x="229" y="46"/>
                </a:lnTo>
                <a:lnTo>
                  <a:pt x="213" y="50"/>
                </a:lnTo>
                <a:lnTo>
                  <a:pt x="196" y="53"/>
                </a:lnTo>
                <a:lnTo>
                  <a:pt x="180" y="57"/>
                </a:lnTo>
                <a:lnTo>
                  <a:pt x="164" y="60"/>
                </a:lnTo>
                <a:lnTo>
                  <a:pt x="147" y="64"/>
                </a:lnTo>
                <a:lnTo>
                  <a:pt x="131" y="67"/>
                </a:lnTo>
                <a:lnTo>
                  <a:pt x="114" y="70"/>
                </a:lnTo>
                <a:lnTo>
                  <a:pt x="98" y="72"/>
                </a:lnTo>
                <a:lnTo>
                  <a:pt x="82" y="75"/>
                </a:lnTo>
                <a:lnTo>
                  <a:pt x="65" y="77"/>
                </a:lnTo>
                <a:lnTo>
                  <a:pt x="49" y="79"/>
                </a:lnTo>
                <a:lnTo>
                  <a:pt x="33" y="80"/>
                </a:lnTo>
                <a:lnTo>
                  <a:pt x="16" y="81"/>
                </a:lnTo>
                <a:lnTo>
                  <a:pt x="0" y="8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4962525"/>
            <a:ext cx="3743325" cy="333375"/>
          </a:xfrm>
          <a:custGeom>
            <a:avLst/>
            <a:gdLst/>
            <a:ahLst/>
            <a:cxnLst/>
            <a:rect l="l" t="t" r="r" b="b"/>
            <a:pathLst>
              <a:path w="393" h="35">
                <a:moveTo>
                  <a:pt x="0" y="0"/>
                </a:moveTo>
                <a:lnTo>
                  <a:pt x="16" y="0"/>
                </a:lnTo>
                <a:lnTo>
                  <a:pt x="33" y="0"/>
                </a:lnTo>
                <a:lnTo>
                  <a:pt x="49" y="1"/>
                </a:lnTo>
                <a:lnTo>
                  <a:pt x="65" y="1"/>
                </a:lnTo>
                <a:lnTo>
                  <a:pt x="82" y="2"/>
                </a:lnTo>
                <a:lnTo>
                  <a:pt x="98" y="3"/>
                </a:lnTo>
                <a:lnTo>
                  <a:pt x="114" y="4"/>
                </a:lnTo>
                <a:lnTo>
                  <a:pt x="131" y="5"/>
                </a:lnTo>
                <a:lnTo>
                  <a:pt x="147" y="6"/>
                </a:lnTo>
                <a:lnTo>
                  <a:pt x="164" y="7"/>
                </a:lnTo>
                <a:lnTo>
                  <a:pt x="180" y="8"/>
                </a:lnTo>
                <a:lnTo>
                  <a:pt x="196" y="10"/>
                </a:lnTo>
                <a:lnTo>
                  <a:pt x="213" y="11"/>
                </a:lnTo>
                <a:lnTo>
                  <a:pt x="229" y="12"/>
                </a:lnTo>
                <a:lnTo>
                  <a:pt x="246" y="13"/>
                </a:lnTo>
                <a:lnTo>
                  <a:pt x="262" y="14"/>
                </a:lnTo>
                <a:lnTo>
                  <a:pt x="278" y="15"/>
                </a:lnTo>
                <a:lnTo>
                  <a:pt x="295" y="16"/>
                </a:lnTo>
                <a:lnTo>
                  <a:pt x="311" y="17"/>
                </a:lnTo>
                <a:lnTo>
                  <a:pt x="327" y="18"/>
                </a:lnTo>
                <a:lnTo>
                  <a:pt x="344" y="19"/>
                </a:lnTo>
                <a:lnTo>
                  <a:pt x="360" y="19"/>
                </a:lnTo>
                <a:lnTo>
                  <a:pt x="377" y="19"/>
                </a:lnTo>
                <a:lnTo>
                  <a:pt x="393" y="19"/>
                </a:lnTo>
                <a:lnTo>
                  <a:pt x="393" y="35"/>
                </a:lnTo>
                <a:lnTo>
                  <a:pt x="377" y="35"/>
                </a:lnTo>
                <a:lnTo>
                  <a:pt x="360" y="34"/>
                </a:lnTo>
                <a:lnTo>
                  <a:pt x="344" y="34"/>
                </a:lnTo>
                <a:lnTo>
                  <a:pt x="327" y="33"/>
                </a:lnTo>
                <a:lnTo>
                  <a:pt x="311" y="33"/>
                </a:lnTo>
                <a:lnTo>
                  <a:pt x="295" y="32"/>
                </a:lnTo>
                <a:lnTo>
                  <a:pt x="278" y="31"/>
                </a:lnTo>
                <a:lnTo>
                  <a:pt x="262" y="30"/>
                </a:lnTo>
                <a:lnTo>
                  <a:pt x="246" y="29"/>
                </a:lnTo>
                <a:lnTo>
                  <a:pt x="229" y="28"/>
                </a:lnTo>
                <a:lnTo>
                  <a:pt x="213" y="26"/>
                </a:lnTo>
                <a:lnTo>
                  <a:pt x="196" y="25"/>
                </a:lnTo>
                <a:lnTo>
                  <a:pt x="180" y="24"/>
                </a:lnTo>
                <a:lnTo>
                  <a:pt x="164" y="23"/>
                </a:lnTo>
                <a:lnTo>
                  <a:pt x="147" y="22"/>
                </a:lnTo>
                <a:lnTo>
                  <a:pt x="131" y="21"/>
                </a:lnTo>
                <a:lnTo>
                  <a:pt x="114" y="20"/>
                </a:lnTo>
                <a:lnTo>
                  <a:pt x="98" y="19"/>
                </a:lnTo>
                <a:lnTo>
                  <a:pt x="82" y="18"/>
                </a:lnTo>
                <a:lnTo>
                  <a:pt x="65" y="17"/>
                </a:lnTo>
                <a:lnTo>
                  <a:pt x="49" y="16"/>
                </a:lnTo>
                <a:lnTo>
                  <a:pt x="33" y="16"/>
                </a:lnTo>
                <a:lnTo>
                  <a:pt x="16" y="16"/>
                </a:lnTo>
                <a:lnTo>
                  <a:pt x="0" y="1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114925"/>
            <a:ext cx="3743325" cy="733425"/>
          </a:xfrm>
          <a:custGeom>
            <a:avLst/>
            <a:gdLst/>
            <a:ahLst/>
            <a:cxnLst/>
            <a:rect l="l" t="t" r="r" b="b"/>
            <a:pathLst>
              <a:path w="393" h="77">
                <a:moveTo>
                  <a:pt x="0" y="0"/>
                </a:moveTo>
                <a:lnTo>
                  <a:pt x="16" y="0"/>
                </a:lnTo>
                <a:lnTo>
                  <a:pt x="33" y="1"/>
                </a:lnTo>
                <a:lnTo>
                  <a:pt x="49" y="2"/>
                </a:lnTo>
                <a:lnTo>
                  <a:pt x="65" y="4"/>
                </a:lnTo>
                <a:lnTo>
                  <a:pt x="82" y="7"/>
                </a:lnTo>
                <a:lnTo>
                  <a:pt x="98" y="10"/>
                </a:lnTo>
                <a:lnTo>
                  <a:pt x="114" y="13"/>
                </a:lnTo>
                <a:lnTo>
                  <a:pt x="131" y="17"/>
                </a:lnTo>
                <a:lnTo>
                  <a:pt x="147" y="20"/>
                </a:lnTo>
                <a:lnTo>
                  <a:pt x="164" y="24"/>
                </a:lnTo>
                <a:lnTo>
                  <a:pt x="180" y="28"/>
                </a:lnTo>
                <a:lnTo>
                  <a:pt x="196" y="32"/>
                </a:lnTo>
                <a:lnTo>
                  <a:pt x="213" y="37"/>
                </a:lnTo>
                <a:lnTo>
                  <a:pt x="229" y="41"/>
                </a:lnTo>
                <a:lnTo>
                  <a:pt x="246" y="45"/>
                </a:lnTo>
                <a:lnTo>
                  <a:pt x="262" y="48"/>
                </a:lnTo>
                <a:lnTo>
                  <a:pt x="278" y="52"/>
                </a:lnTo>
                <a:lnTo>
                  <a:pt x="295" y="55"/>
                </a:lnTo>
                <a:lnTo>
                  <a:pt x="311" y="58"/>
                </a:lnTo>
                <a:lnTo>
                  <a:pt x="327" y="61"/>
                </a:lnTo>
                <a:lnTo>
                  <a:pt x="344" y="63"/>
                </a:lnTo>
                <a:lnTo>
                  <a:pt x="360" y="64"/>
                </a:lnTo>
                <a:lnTo>
                  <a:pt x="377" y="65"/>
                </a:lnTo>
                <a:lnTo>
                  <a:pt x="393" y="65"/>
                </a:lnTo>
                <a:lnTo>
                  <a:pt x="393" y="77"/>
                </a:lnTo>
                <a:lnTo>
                  <a:pt x="377" y="76"/>
                </a:lnTo>
                <a:lnTo>
                  <a:pt x="360" y="75"/>
                </a:lnTo>
                <a:lnTo>
                  <a:pt x="344" y="74"/>
                </a:lnTo>
                <a:lnTo>
                  <a:pt x="327" y="72"/>
                </a:lnTo>
                <a:lnTo>
                  <a:pt x="311" y="69"/>
                </a:lnTo>
                <a:lnTo>
                  <a:pt x="295" y="66"/>
                </a:lnTo>
                <a:lnTo>
                  <a:pt x="278" y="63"/>
                </a:lnTo>
                <a:lnTo>
                  <a:pt x="262" y="60"/>
                </a:lnTo>
                <a:lnTo>
                  <a:pt x="246" y="56"/>
                </a:lnTo>
                <a:lnTo>
                  <a:pt x="229" y="52"/>
                </a:lnTo>
                <a:lnTo>
                  <a:pt x="213" y="48"/>
                </a:lnTo>
                <a:lnTo>
                  <a:pt x="196" y="44"/>
                </a:lnTo>
                <a:lnTo>
                  <a:pt x="180" y="40"/>
                </a:lnTo>
                <a:lnTo>
                  <a:pt x="164" y="36"/>
                </a:lnTo>
                <a:lnTo>
                  <a:pt x="147" y="32"/>
                </a:lnTo>
                <a:lnTo>
                  <a:pt x="131" y="28"/>
                </a:lnTo>
                <a:lnTo>
                  <a:pt x="114" y="24"/>
                </a:lnTo>
                <a:lnTo>
                  <a:pt x="98" y="21"/>
                </a:lnTo>
                <a:lnTo>
                  <a:pt x="82" y="18"/>
                </a:lnTo>
                <a:lnTo>
                  <a:pt x="65" y="16"/>
                </a:lnTo>
                <a:lnTo>
                  <a:pt x="49" y="14"/>
                </a:lnTo>
                <a:lnTo>
                  <a:pt x="33" y="12"/>
                </a:lnTo>
                <a:lnTo>
                  <a:pt x="16" y="11"/>
                </a:lnTo>
                <a:lnTo>
                  <a:pt x="0" y="1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219700"/>
            <a:ext cx="3743325" cy="1095375"/>
          </a:xfrm>
          <a:custGeom>
            <a:avLst/>
            <a:gdLst/>
            <a:ahLst/>
            <a:cxnLst/>
            <a:rect l="l" t="t" r="r" b="b"/>
            <a:pathLst>
              <a:path w="393" h="115">
                <a:moveTo>
                  <a:pt x="0" y="0"/>
                </a:moveTo>
                <a:lnTo>
                  <a:pt x="16" y="0"/>
                </a:lnTo>
                <a:lnTo>
                  <a:pt x="33" y="2"/>
                </a:lnTo>
                <a:lnTo>
                  <a:pt x="49" y="4"/>
                </a:lnTo>
                <a:lnTo>
                  <a:pt x="65" y="8"/>
                </a:lnTo>
                <a:lnTo>
                  <a:pt x="82" y="12"/>
                </a:lnTo>
                <a:lnTo>
                  <a:pt x="98" y="16"/>
                </a:lnTo>
                <a:lnTo>
                  <a:pt x="114" y="21"/>
                </a:lnTo>
                <a:lnTo>
                  <a:pt x="131" y="27"/>
                </a:lnTo>
                <a:lnTo>
                  <a:pt x="147" y="33"/>
                </a:lnTo>
                <a:lnTo>
                  <a:pt x="164" y="39"/>
                </a:lnTo>
                <a:lnTo>
                  <a:pt x="180" y="46"/>
                </a:lnTo>
                <a:lnTo>
                  <a:pt x="196" y="52"/>
                </a:lnTo>
                <a:lnTo>
                  <a:pt x="213" y="59"/>
                </a:lnTo>
                <a:lnTo>
                  <a:pt x="229" y="65"/>
                </a:lnTo>
                <a:lnTo>
                  <a:pt x="246" y="71"/>
                </a:lnTo>
                <a:lnTo>
                  <a:pt x="262" y="77"/>
                </a:lnTo>
                <a:lnTo>
                  <a:pt x="278" y="83"/>
                </a:lnTo>
                <a:lnTo>
                  <a:pt x="295" y="88"/>
                </a:lnTo>
                <a:lnTo>
                  <a:pt x="311" y="93"/>
                </a:lnTo>
                <a:lnTo>
                  <a:pt x="327" y="97"/>
                </a:lnTo>
                <a:lnTo>
                  <a:pt x="344" y="100"/>
                </a:lnTo>
                <a:lnTo>
                  <a:pt x="360" y="102"/>
                </a:lnTo>
                <a:lnTo>
                  <a:pt x="377" y="104"/>
                </a:lnTo>
                <a:lnTo>
                  <a:pt x="393" y="105"/>
                </a:lnTo>
                <a:lnTo>
                  <a:pt x="393" y="115"/>
                </a:lnTo>
                <a:lnTo>
                  <a:pt x="377" y="115"/>
                </a:lnTo>
                <a:lnTo>
                  <a:pt x="360" y="113"/>
                </a:lnTo>
                <a:lnTo>
                  <a:pt x="344" y="111"/>
                </a:lnTo>
                <a:lnTo>
                  <a:pt x="327" y="107"/>
                </a:lnTo>
                <a:lnTo>
                  <a:pt x="311" y="103"/>
                </a:lnTo>
                <a:lnTo>
                  <a:pt x="295" y="99"/>
                </a:lnTo>
                <a:lnTo>
                  <a:pt x="278" y="94"/>
                </a:lnTo>
                <a:lnTo>
                  <a:pt x="262" y="88"/>
                </a:lnTo>
                <a:lnTo>
                  <a:pt x="246" y="82"/>
                </a:lnTo>
                <a:lnTo>
                  <a:pt x="229" y="76"/>
                </a:lnTo>
                <a:lnTo>
                  <a:pt x="213" y="69"/>
                </a:lnTo>
                <a:lnTo>
                  <a:pt x="196" y="63"/>
                </a:lnTo>
                <a:lnTo>
                  <a:pt x="180" y="56"/>
                </a:lnTo>
                <a:lnTo>
                  <a:pt x="164" y="50"/>
                </a:lnTo>
                <a:lnTo>
                  <a:pt x="147" y="43"/>
                </a:lnTo>
                <a:lnTo>
                  <a:pt x="131" y="37"/>
                </a:lnTo>
                <a:lnTo>
                  <a:pt x="114" y="32"/>
                </a:lnTo>
                <a:lnTo>
                  <a:pt x="98" y="27"/>
                </a:lnTo>
                <a:lnTo>
                  <a:pt x="82" y="22"/>
                </a:lnTo>
                <a:lnTo>
                  <a:pt x="65" y="18"/>
                </a:lnTo>
                <a:lnTo>
                  <a:pt x="49" y="15"/>
                </a:lnTo>
                <a:lnTo>
                  <a:pt x="33" y="12"/>
                </a:lnTo>
                <a:lnTo>
                  <a:pt x="16" y="11"/>
                </a:lnTo>
                <a:lnTo>
                  <a:pt x="0" y="1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438650"/>
            <a:ext cx="3743325" cy="1123950"/>
          </a:xfrm>
          <a:custGeom>
            <a:avLst/>
            <a:gdLst/>
            <a:ahLst/>
            <a:cxnLst/>
            <a:rect l="l" t="t" r="r" b="b"/>
            <a:pathLst>
              <a:path w="393" h="118">
                <a:moveTo>
                  <a:pt x="0" y="98"/>
                </a:moveTo>
                <a:lnTo>
                  <a:pt x="16" y="98"/>
                </a:lnTo>
                <a:lnTo>
                  <a:pt x="33" y="96"/>
                </a:lnTo>
                <a:lnTo>
                  <a:pt x="49" y="94"/>
                </a:lnTo>
                <a:lnTo>
                  <a:pt x="65" y="91"/>
                </a:lnTo>
                <a:lnTo>
                  <a:pt x="82" y="87"/>
                </a:lnTo>
                <a:lnTo>
                  <a:pt x="98" y="83"/>
                </a:lnTo>
                <a:lnTo>
                  <a:pt x="114" y="78"/>
                </a:lnTo>
                <a:lnTo>
                  <a:pt x="131" y="73"/>
                </a:lnTo>
                <a:lnTo>
                  <a:pt x="147" y="67"/>
                </a:lnTo>
                <a:lnTo>
                  <a:pt x="164" y="61"/>
                </a:lnTo>
                <a:lnTo>
                  <a:pt x="180" y="55"/>
                </a:lnTo>
                <a:lnTo>
                  <a:pt x="196" y="49"/>
                </a:lnTo>
                <a:lnTo>
                  <a:pt x="213" y="43"/>
                </a:lnTo>
                <a:lnTo>
                  <a:pt x="229" y="37"/>
                </a:lnTo>
                <a:lnTo>
                  <a:pt x="246" y="31"/>
                </a:lnTo>
                <a:lnTo>
                  <a:pt x="262" y="25"/>
                </a:lnTo>
                <a:lnTo>
                  <a:pt x="278" y="20"/>
                </a:lnTo>
                <a:lnTo>
                  <a:pt x="295" y="15"/>
                </a:lnTo>
                <a:lnTo>
                  <a:pt x="311" y="11"/>
                </a:lnTo>
                <a:lnTo>
                  <a:pt x="327" y="7"/>
                </a:lnTo>
                <a:lnTo>
                  <a:pt x="344" y="4"/>
                </a:lnTo>
                <a:lnTo>
                  <a:pt x="360" y="2"/>
                </a:lnTo>
                <a:lnTo>
                  <a:pt x="377" y="0"/>
                </a:lnTo>
                <a:lnTo>
                  <a:pt x="393" y="0"/>
                </a:lnTo>
                <a:lnTo>
                  <a:pt x="393" y="19"/>
                </a:lnTo>
                <a:lnTo>
                  <a:pt x="377" y="20"/>
                </a:lnTo>
                <a:lnTo>
                  <a:pt x="360" y="21"/>
                </a:lnTo>
                <a:lnTo>
                  <a:pt x="344" y="23"/>
                </a:lnTo>
                <a:lnTo>
                  <a:pt x="327" y="26"/>
                </a:lnTo>
                <a:lnTo>
                  <a:pt x="311" y="30"/>
                </a:lnTo>
                <a:lnTo>
                  <a:pt x="295" y="34"/>
                </a:lnTo>
                <a:lnTo>
                  <a:pt x="278" y="39"/>
                </a:lnTo>
                <a:lnTo>
                  <a:pt x="262" y="45"/>
                </a:lnTo>
                <a:lnTo>
                  <a:pt x="246" y="50"/>
                </a:lnTo>
                <a:lnTo>
                  <a:pt x="229" y="56"/>
                </a:lnTo>
                <a:lnTo>
                  <a:pt x="213" y="62"/>
                </a:lnTo>
                <a:lnTo>
                  <a:pt x="196" y="68"/>
                </a:lnTo>
                <a:lnTo>
                  <a:pt x="180" y="75"/>
                </a:lnTo>
                <a:lnTo>
                  <a:pt x="164" y="81"/>
                </a:lnTo>
                <a:lnTo>
                  <a:pt x="147" y="87"/>
                </a:lnTo>
                <a:lnTo>
                  <a:pt x="131" y="92"/>
                </a:lnTo>
                <a:lnTo>
                  <a:pt x="114" y="97"/>
                </a:lnTo>
                <a:lnTo>
                  <a:pt x="98" y="102"/>
                </a:lnTo>
                <a:lnTo>
                  <a:pt x="82" y="107"/>
                </a:lnTo>
                <a:lnTo>
                  <a:pt x="65" y="110"/>
                </a:lnTo>
                <a:lnTo>
                  <a:pt x="49" y="113"/>
                </a:lnTo>
                <a:lnTo>
                  <a:pt x="33" y="116"/>
                </a:lnTo>
                <a:lnTo>
                  <a:pt x="16" y="117"/>
                </a:lnTo>
                <a:lnTo>
                  <a:pt x="0" y="11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295900"/>
            <a:ext cx="3743325" cy="381000"/>
          </a:xfrm>
          <a:custGeom>
            <a:avLst/>
            <a:gdLst/>
            <a:ahLst/>
            <a:cxnLst/>
            <a:rect l="l" t="t" r="r" b="b"/>
            <a:pathLst>
              <a:path w="393" h="40">
                <a:moveTo>
                  <a:pt x="0" y="28"/>
                </a:moveTo>
                <a:lnTo>
                  <a:pt x="16" y="28"/>
                </a:lnTo>
                <a:lnTo>
                  <a:pt x="33" y="27"/>
                </a:lnTo>
                <a:lnTo>
                  <a:pt x="49" y="27"/>
                </a:lnTo>
                <a:lnTo>
                  <a:pt x="65" y="26"/>
                </a:lnTo>
                <a:lnTo>
                  <a:pt x="82" y="25"/>
                </a:lnTo>
                <a:lnTo>
                  <a:pt x="98" y="23"/>
                </a:lnTo>
                <a:lnTo>
                  <a:pt x="114" y="22"/>
                </a:lnTo>
                <a:lnTo>
                  <a:pt x="131" y="21"/>
                </a:lnTo>
                <a:lnTo>
                  <a:pt x="147" y="19"/>
                </a:lnTo>
                <a:lnTo>
                  <a:pt x="164" y="17"/>
                </a:lnTo>
                <a:lnTo>
                  <a:pt x="180" y="16"/>
                </a:lnTo>
                <a:lnTo>
                  <a:pt x="196" y="14"/>
                </a:lnTo>
                <a:lnTo>
                  <a:pt x="213" y="12"/>
                </a:lnTo>
                <a:lnTo>
                  <a:pt x="229" y="10"/>
                </a:lnTo>
                <a:lnTo>
                  <a:pt x="246" y="9"/>
                </a:lnTo>
                <a:lnTo>
                  <a:pt x="262" y="7"/>
                </a:lnTo>
                <a:lnTo>
                  <a:pt x="278" y="6"/>
                </a:lnTo>
                <a:lnTo>
                  <a:pt x="295" y="4"/>
                </a:lnTo>
                <a:lnTo>
                  <a:pt x="311" y="3"/>
                </a:lnTo>
                <a:lnTo>
                  <a:pt x="327" y="2"/>
                </a:lnTo>
                <a:lnTo>
                  <a:pt x="344" y="1"/>
                </a:lnTo>
                <a:lnTo>
                  <a:pt x="360" y="0"/>
                </a:lnTo>
                <a:lnTo>
                  <a:pt x="377" y="0"/>
                </a:lnTo>
                <a:lnTo>
                  <a:pt x="393" y="0"/>
                </a:lnTo>
                <a:lnTo>
                  <a:pt x="393" y="12"/>
                </a:lnTo>
                <a:lnTo>
                  <a:pt x="377" y="13"/>
                </a:lnTo>
                <a:lnTo>
                  <a:pt x="360" y="13"/>
                </a:lnTo>
                <a:lnTo>
                  <a:pt x="344" y="14"/>
                </a:lnTo>
                <a:lnTo>
                  <a:pt x="327" y="14"/>
                </a:lnTo>
                <a:lnTo>
                  <a:pt x="311" y="16"/>
                </a:lnTo>
                <a:lnTo>
                  <a:pt x="295" y="17"/>
                </a:lnTo>
                <a:lnTo>
                  <a:pt x="278" y="18"/>
                </a:lnTo>
                <a:lnTo>
                  <a:pt x="262" y="20"/>
                </a:lnTo>
                <a:lnTo>
                  <a:pt x="246" y="21"/>
                </a:lnTo>
                <a:lnTo>
                  <a:pt x="229" y="23"/>
                </a:lnTo>
                <a:lnTo>
                  <a:pt x="213" y="25"/>
                </a:lnTo>
                <a:lnTo>
                  <a:pt x="196" y="26"/>
                </a:lnTo>
                <a:lnTo>
                  <a:pt x="180" y="28"/>
                </a:lnTo>
                <a:lnTo>
                  <a:pt x="164" y="30"/>
                </a:lnTo>
                <a:lnTo>
                  <a:pt x="147" y="31"/>
                </a:lnTo>
                <a:lnTo>
                  <a:pt x="131" y="33"/>
                </a:lnTo>
                <a:lnTo>
                  <a:pt x="114" y="35"/>
                </a:lnTo>
                <a:lnTo>
                  <a:pt x="98" y="36"/>
                </a:lnTo>
                <a:lnTo>
                  <a:pt x="82" y="37"/>
                </a:lnTo>
                <a:lnTo>
                  <a:pt x="65" y="38"/>
                </a:lnTo>
                <a:lnTo>
                  <a:pt x="49" y="39"/>
                </a:lnTo>
                <a:lnTo>
                  <a:pt x="33" y="40"/>
                </a:lnTo>
                <a:lnTo>
                  <a:pt x="16" y="40"/>
                </a:lnTo>
                <a:lnTo>
                  <a:pt x="0" y="4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676900"/>
            <a:ext cx="3743325" cy="257175"/>
          </a:xfrm>
          <a:custGeom>
            <a:avLst/>
            <a:gdLst/>
            <a:ahLst/>
            <a:cxnLst/>
            <a:rect l="l" t="t" r="r" b="b"/>
            <a:pathLst>
              <a:path w="393" h="27">
                <a:moveTo>
                  <a:pt x="0" y="0"/>
                </a:moveTo>
                <a:lnTo>
                  <a:pt x="16" y="0"/>
                </a:lnTo>
                <a:lnTo>
                  <a:pt x="33" y="1"/>
                </a:lnTo>
                <a:lnTo>
                  <a:pt x="49" y="1"/>
                </a:lnTo>
                <a:lnTo>
                  <a:pt x="65" y="2"/>
                </a:lnTo>
                <a:lnTo>
                  <a:pt x="82" y="2"/>
                </a:lnTo>
                <a:lnTo>
                  <a:pt x="98" y="3"/>
                </a:lnTo>
                <a:lnTo>
                  <a:pt x="114" y="4"/>
                </a:lnTo>
                <a:lnTo>
                  <a:pt x="131" y="5"/>
                </a:lnTo>
                <a:lnTo>
                  <a:pt x="147" y="6"/>
                </a:lnTo>
                <a:lnTo>
                  <a:pt x="164" y="7"/>
                </a:lnTo>
                <a:lnTo>
                  <a:pt x="180" y="8"/>
                </a:lnTo>
                <a:lnTo>
                  <a:pt x="196" y="9"/>
                </a:lnTo>
                <a:lnTo>
                  <a:pt x="213" y="10"/>
                </a:lnTo>
                <a:lnTo>
                  <a:pt x="229" y="11"/>
                </a:lnTo>
                <a:lnTo>
                  <a:pt x="246" y="12"/>
                </a:lnTo>
                <a:lnTo>
                  <a:pt x="262" y="13"/>
                </a:lnTo>
                <a:lnTo>
                  <a:pt x="278" y="14"/>
                </a:lnTo>
                <a:lnTo>
                  <a:pt x="295" y="15"/>
                </a:lnTo>
                <a:lnTo>
                  <a:pt x="311" y="16"/>
                </a:lnTo>
                <a:lnTo>
                  <a:pt x="327" y="16"/>
                </a:lnTo>
                <a:lnTo>
                  <a:pt x="344" y="17"/>
                </a:lnTo>
                <a:lnTo>
                  <a:pt x="360" y="17"/>
                </a:lnTo>
                <a:lnTo>
                  <a:pt x="377" y="18"/>
                </a:lnTo>
                <a:lnTo>
                  <a:pt x="393" y="18"/>
                </a:lnTo>
                <a:lnTo>
                  <a:pt x="393" y="27"/>
                </a:lnTo>
                <a:lnTo>
                  <a:pt x="377" y="27"/>
                </a:lnTo>
                <a:lnTo>
                  <a:pt x="360" y="27"/>
                </a:lnTo>
                <a:lnTo>
                  <a:pt x="344" y="26"/>
                </a:lnTo>
                <a:lnTo>
                  <a:pt x="327" y="26"/>
                </a:lnTo>
                <a:lnTo>
                  <a:pt x="311" y="25"/>
                </a:lnTo>
                <a:lnTo>
                  <a:pt x="295" y="24"/>
                </a:lnTo>
                <a:lnTo>
                  <a:pt x="278" y="23"/>
                </a:lnTo>
                <a:lnTo>
                  <a:pt x="262" y="23"/>
                </a:lnTo>
                <a:lnTo>
                  <a:pt x="246" y="22"/>
                </a:lnTo>
                <a:lnTo>
                  <a:pt x="229" y="21"/>
                </a:lnTo>
                <a:lnTo>
                  <a:pt x="213" y="19"/>
                </a:lnTo>
                <a:lnTo>
                  <a:pt x="196" y="18"/>
                </a:lnTo>
                <a:lnTo>
                  <a:pt x="180" y="17"/>
                </a:lnTo>
                <a:lnTo>
                  <a:pt x="164" y="16"/>
                </a:lnTo>
                <a:lnTo>
                  <a:pt x="147" y="15"/>
                </a:lnTo>
                <a:lnTo>
                  <a:pt x="131" y="14"/>
                </a:lnTo>
                <a:lnTo>
                  <a:pt x="114" y="13"/>
                </a:lnTo>
                <a:lnTo>
                  <a:pt x="98" y="12"/>
                </a:lnTo>
                <a:lnTo>
                  <a:pt x="82" y="12"/>
                </a:lnTo>
                <a:lnTo>
                  <a:pt x="65" y="11"/>
                </a:lnTo>
                <a:lnTo>
                  <a:pt x="49" y="10"/>
                </a:lnTo>
                <a:lnTo>
                  <a:pt x="33" y="10"/>
                </a:lnTo>
                <a:lnTo>
                  <a:pt x="16" y="10"/>
                </a:lnTo>
                <a:lnTo>
                  <a:pt x="0" y="1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772150"/>
            <a:ext cx="3743325" cy="638175"/>
          </a:xfrm>
          <a:custGeom>
            <a:avLst/>
            <a:gdLst/>
            <a:ahLst/>
            <a:cxnLst/>
            <a:rect l="l" t="t" r="r" b="b"/>
            <a:pathLst>
              <a:path w="393" h="67">
                <a:moveTo>
                  <a:pt x="0" y="0"/>
                </a:moveTo>
                <a:lnTo>
                  <a:pt x="16" y="0"/>
                </a:lnTo>
                <a:lnTo>
                  <a:pt x="33" y="1"/>
                </a:lnTo>
                <a:lnTo>
                  <a:pt x="49" y="2"/>
                </a:lnTo>
                <a:lnTo>
                  <a:pt x="65" y="4"/>
                </a:lnTo>
                <a:lnTo>
                  <a:pt x="82" y="6"/>
                </a:lnTo>
                <a:lnTo>
                  <a:pt x="98" y="9"/>
                </a:lnTo>
                <a:lnTo>
                  <a:pt x="114" y="11"/>
                </a:lnTo>
                <a:lnTo>
                  <a:pt x="131" y="15"/>
                </a:lnTo>
                <a:lnTo>
                  <a:pt x="147" y="18"/>
                </a:lnTo>
                <a:lnTo>
                  <a:pt x="164" y="21"/>
                </a:lnTo>
                <a:lnTo>
                  <a:pt x="180" y="25"/>
                </a:lnTo>
                <a:lnTo>
                  <a:pt x="196" y="28"/>
                </a:lnTo>
                <a:lnTo>
                  <a:pt x="213" y="32"/>
                </a:lnTo>
                <a:lnTo>
                  <a:pt x="229" y="35"/>
                </a:lnTo>
                <a:lnTo>
                  <a:pt x="246" y="39"/>
                </a:lnTo>
                <a:lnTo>
                  <a:pt x="262" y="42"/>
                </a:lnTo>
                <a:lnTo>
                  <a:pt x="278" y="45"/>
                </a:lnTo>
                <a:lnTo>
                  <a:pt x="295" y="48"/>
                </a:lnTo>
                <a:lnTo>
                  <a:pt x="311" y="51"/>
                </a:lnTo>
                <a:lnTo>
                  <a:pt x="327" y="53"/>
                </a:lnTo>
                <a:lnTo>
                  <a:pt x="344" y="55"/>
                </a:lnTo>
                <a:lnTo>
                  <a:pt x="360" y="56"/>
                </a:lnTo>
                <a:lnTo>
                  <a:pt x="377" y="57"/>
                </a:lnTo>
                <a:lnTo>
                  <a:pt x="393" y="57"/>
                </a:lnTo>
                <a:lnTo>
                  <a:pt x="393" y="67"/>
                </a:lnTo>
                <a:lnTo>
                  <a:pt x="377" y="66"/>
                </a:lnTo>
                <a:lnTo>
                  <a:pt x="360" y="66"/>
                </a:lnTo>
                <a:lnTo>
                  <a:pt x="344" y="64"/>
                </a:lnTo>
                <a:lnTo>
                  <a:pt x="327" y="62"/>
                </a:lnTo>
                <a:lnTo>
                  <a:pt x="311" y="60"/>
                </a:lnTo>
                <a:lnTo>
                  <a:pt x="295" y="58"/>
                </a:lnTo>
                <a:lnTo>
                  <a:pt x="278" y="55"/>
                </a:lnTo>
                <a:lnTo>
                  <a:pt x="262" y="52"/>
                </a:lnTo>
                <a:lnTo>
                  <a:pt x="246" y="49"/>
                </a:lnTo>
                <a:lnTo>
                  <a:pt x="229" y="45"/>
                </a:lnTo>
                <a:lnTo>
                  <a:pt x="213" y="42"/>
                </a:lnTo>
                <a:lnTo>
                  <a:pt x="196" y="38"/>
                </a:lnTo>
                <a:lnTo>
                  <a:pt x="180" y="34"/>
                </a:lnTo>
                <a:lnTo>
                  <a:pt x="164" y="31"/>
                </a:lnTo>
                <a:lnTo>
                  <a:pt x="147" y="27"/>
                </a:lnTo>
                <a:lnTo>
                  <a:pt x="131" y="24"/>
                </a:lnTo>
                <a:lnTo>
                  <a:pt x="114" y="21"/>
                </a:lnTo>
                <a:lnTo>
                  <a:pt x="98" y="18"/>
                </a:lnTo>
                <a:lnTo>
                  <a:pt x="82" y="16"/>
                </a:lnTo>
                <a:lnTo>
                  <a:pt x="65" y="14"/>
                </a:lnTo>
                <a:lnTo>
                  <a:pt x="49" y="12"/>
                </a:lnTo>
                <a:lnTo>
                  <a:pt x="33" y="10"/>
                </a:lnTo>
                <a:lnTo>
                  <a:pt x="16" y="10"/>
                </a:lnTo>
                <a:lnTo>
                  <a:pt x="0" y="9"/>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619625"/>
            <a:ext cx="3743325" cy="1409700"/>
          </a:xfrm>
          <a:custGeom>
            <a:avLst/>
            <a:gdLst/>
            <a:ahLst/>
            <a:cxnLst/>
            <a:rect l="l" t="t" r="r" b="b"/>
            <a:pathLst>
              <a:path w="393" h="148">
                <a:moveTo>
                  <a:pt x="0" y="136"/>
                </a:moveTo>
                <a:lnTo>
                  <a:pt x="16" y="136"/>
                </a:lnTo>
                <a:lnTo>
                  <a:pt x="33" y="134"/>
                </a:lnTo>
                <a:lnTo>
                  <a:pt x="49" y="130"/>
                </a:lnTo>
                <a:lnTo>
                  <a:pt x="65" y="126"/>
                </a:lnTo>
                <a:lnTo>
                  <a:pt x="82" y="121"/>
                </a:lnTo>
                <a:lnTo>
                  <a:pt x="98" y="115"/>
                </a:lnTo>
                <a:lnTo>
                  <a:pt x="114" y="108"/>
                </a:lnTo>
                <a:lnTo>
                  <a:pt x="131" y="101"/>
                </a:lnTo>
                <a:lnTo>
                  <a:pt x="147" y="93"/>
                </a:lnTo>
                <a:lnTo>
                  <a:pt x="164" y="85"/>
                </a:lnTo>
                <a:lnTo>
                  <a:pt x="180" y="77"/>
                </a:lnTo>
                <a:lnTo>
                  <a:pt x="196" y="68"/>
                </a:lnTo>
                <a:lnTo>
                  <a:pt x="213" y="60"/>
                </a:lnTo>
                <a:lnTo>
                  <a:pt x="229" y="51"/>
                </a:lnTo>
                <a:lnTo>
                  <a:pt x="246" y="43"/>
                </a:lnTo>
                <a:lnTo>
                  <a:pt x="262" y="35"/>
                </a:lnTo>
                <a:lnTo>
                  <a:pt x="278" y="28"/>
                </a:lnTo>
                <a:lnTo>
                  <a:pt x="295" y="21"/>
                </a:lnTo>
                <a:lnTo>
                  <a:pt x="311" y="15"/>
                </a:lnTo>
                <a:lnTo>
                  <a:pt x="327" y="10"/>
                </a:lnTo>
                <a:lnTo>
                  <a:pt x="344" y="6"/>
                </a:lnTo>
                <a:lnTo>
                  <a:pt x="360" y="3"/>
                </a:lnTo>
                <a:lnTo>
                  <a:pt x="377" y="1"/>
                </a:lnTo>
                <a:lnTo>
                  <a:pt x="393" y="0"/>
                </a:lnTo>
                <a:lnTo>
                  <a:pt x="393" y="12"/>
                </a:lnTo>
                <a:lnTo>
                  <a:pt x="377" y="13"/>
                </a:lnTo>
                <a:lnTo>
                  <a:pt x="360" y="15"/>
                </a:lnTo>
                <a:lnTo>
                  <a:pt x="344" y="18"/>
                </a:lnTo>
                <a:lnTo>
                  <a:pt x="327" y="22"/>
                </a:lnTo>
                <a:lnTo>
                  <a:pt x="311" y="27"/>
                </a:lnTo>
                <a:lnTo>
                  <a:pt x="295" y="33"/>
                </a:lnTo>
                <a:lnTo>
                  <a:pt x="278" y="40"/>
                </a:lnTo>
                <a:lnTo>
                  <a:pt x="262" y="47"/>
                </a:lnTo>
                <a:lnTo>
                  <a:pt x="246" y="55"/>
                </a:lnTo>
                <a:lnTo>
                  <a:pt x="229" y="63"/>
                </a:lnTo>
                <a:lnTo>
                  <a:pt x="213" y="72"/>
                </a:lnTo>
                <a:lnTo>
                  <a:pt x="196" y="80"/>
                </a:lnTo>
                <a:lnTo>
                  <a:pt x="180" y="89"/>
                </a:lnTo>
                <a:lnTo>
                  <a:pt x="164" y="97"/>
                </a:lnTo>
                <a:lnTo>
                  <a:pt x="147" y="105"/>
                </a:lnTo>
                <a:lnTo>
                  <a:pt x="131" y="113"/>
                </a:lnTo>
                <a:lnTo>
                  <a:pt x="114" y="120"/>
                </a:lnTo>
                <a:lnTo>
                  <a:pt x="98" y="127"/>
                </a:lnTo>
                <a:lnTo>
                  <a:pt x="82" y="133"/>
                </a:lnTo>
                <a:lnTo>
                  <a:pt x="65" y="138"/>
                </a:lnTo>
                <a:lnTo>
                  <a:pt x="49" y="142"/>
                </a:lnTo>
                <a:lnTo>
                  <a:pt x="33" y="146"/>
                </a:lnTo>
                <a:lnTo>
                  <a:pt x="16" y="148"/>
                </a:lnTo>
                <a:lnTo>
                  <a:pt x="0" y="14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410200"/>
            <a:ext cx="3743325" cy="695325"/>
          </a:xfrm>
          <a:custGeom>
            <a:avLst/>
            <a:gdLst/>
            <a:ahLst/>
            <a:cxnLst/>
            <a:rect l="l" t="t" r="r" b="b"/>
            <a:pathLst>
              <a:path w="393" h="73">
                <a:moveTo>
                  <a:pt x="0" y="65"/>
                </a:moveTo>
                <a:lnTo>
                  <a:pt x="16" y="65"/>
                </a:lnTo>
                <a:lnTo>
                  <a:pt x="33" y="64"/>
                </a:lnTo>
                <a:lnTo>
                  <a:pt x="49" y="62"/>
                </a:lnTo>
                <a:lnTo>
                  <a:pt x="65" y="60"/>
                </a:lnTo>
                <a:lnTo>
                  <a:pt x="82" y="58"/>
                </a:lnTo>
                <a:lnTo>
                  <a:pt x="98" y="55"/>
                </a:lnTo>
                <a:lnTo>
                  <a:pt x="114" y="52"/>
                </a:lnTo>
                <a:lnTo>
                  <a:pt x="131" y="48"/>
                </a:lnTo>
                <a:lnTo>
                  <a:pt x="147" y="45"/>
                </a:lnTo>
                <a:lnTo>
                  <a:pt x="164" y="41"/>
                </a:lnTo>
                <a:lnTo>
                  <a:pt x="180" y="37"/>
                </a:lnTo>
                <a:lnTo>
                  <a:pt x="196" y="33"/>
                </a:lnTo>
                <a:lnTo>
                  <a:pt x="213" y="29"/>
                </a:lnTo>
                <a:lnTo>
                  <a:pt x="229" y="25"/>
                </a:lnTo>
                <a:lnTo>
                  <a:pt x="246" y="21"/>
                </a:lnTo>
                <a:lnTo>
                  <a:pt x="262" y="17"/>
                </a:lnTo>
                <a:lnTo>
                  <a:pt x="278" y="14"/>
                </a:lnTo>
                <a:lnTo>
                  <a:pt x="295" y="11"/>
                </a:lnTo>
                <a:lnTo>
                  <a:pt x="311" y="8"/>
                </a:lnTo>
                <a:lnTo>
                  <a:pt x="327" y="5"/>
                </a:lnTo>
                <a:lnTo>
                  <a:pt x="344" y="3"/>
                </a:lnTo>
                <a:lnTo>
                  <a:pt x="360" y="2"/>
                </a:lnTo>
                <a:lnTo>
                  <a:pt x="377" y="1"/>
                </a:lnTo>
                <a:lnTo>
                  <a:pt x="393" y="0"/>
                </a:lnTo>
                <a:lnTo>
                  <a:pt x="393" y="9"/>
                </a:lnTo>
                <a:lnTo>
                  <a:pt x="377" y="9"/>
                </a:lnTo>
                <a:lnTo>
                  <a:pt x="360" y="10"/>
                </a:lnTo>
                <a:lnTo>
                  <a:pt x="344" y="11"/>
                </a:lnTo>
                <a:lnTo>
                  <a:pt x="327" y="13"/>
                </a:lnTo>
                <a:lnTo>
                  <a:pt x="311" y="16"/>
                </a:lnTo>
                <a:lnTo>
                  <a:pt x="295" y="19"/>
                </a:lnTo>
                <a:lnTo>
                  <a:pt x="278" y="22"/>
                </a:lnTo>
                <a:lnTo>
                  <a:pt x="262" y="25"/>
                </a:lnTo>
                <a:lnTo>
                  <a:pt x="246" y="29"/>
                </a:lnTo>
                <a:lnTo>
                  <a:pt x="229" y="33"/>
                </a:lnTo>
                <a:lnTo>
                  <a:pt x="213" y="37"/>
                </a:lnTo>
                <a:lnTo>
                  <a:pt x="196" y="41"/>
                </a:lnTo>
                <a:lnTo>
                  <a:pt x="180" y="45"/>
                </a:lnTo>
                <a:lnTo>
                  <a:pt x="164" y="49"/>
                </a:lnTo>
                <a:lnTo>
                  <a:pt x="147" y="53"/>
                </a:lnTo>
                <a:lnTo>
                  <a:pt x="131" y="57"/>
                </a:lnTo>
                <a:lnTo>
                  <a:pt x="114" y="60"/>
                </a:lnTo>
                <a:lnTo>
                  <a:pt x="98" y="63"/>
                </a:lnTo>
                <a:lnTo>
                  <a:pt x="82" y="66"/>
                </a:lnTo>
                <a:lnTo>
                  <a:pt x="65" y="69"/>
                </a:lnTo>
                <a:lnTo>
                  <a:pt x="49" y="71"/>
                </a:lnTo>
                <a:lnTo>
                  <a:pt x="33" y="72"/>
                </a:lnTo>
                <a:lnTo>
                  <a:pt x="16" y="73"/>
                </a:lnTo>
                <a:lnTo>
                  <a:pt x="0" y="7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934075"/>
            <a:ext cx="3743325" cy="238125"/>
          </a:xfrm>
          <a:custGeom>
            <a:avLst/>
            <a:gdLst/>
            <a:ahLst/>
            <a:cxnLst/>
            <a:rect l="l" t="t" r="r" b="b"/>
            <a:pathLst>
              <a:path w="393" h="25">
                <a:moveTo>
                  <a:pt x="0" y="18"/>
                </a:moveTo>
                <a:lnTo>
                  <a:pt x="16" y="18"/>
                </a:lnTo>
                <a:lnTo>
                  <a:pt x="33" y="18"/>
                </a:lnTo>
                <a:lnTo>
                  <a:pt x="49" y="18"/>
                </a:lnTo>
                <a:lnTo>
                  <a:pt x="65" y="17"/>
                </a:lnTo>
                <a:lnTo>
                  <a:pt x="82" y="16"/>
                </a:lnTo>
                <a:lnTo>
                  <a:pt x="98" y="16"/>
                </a:lnTo>
                <a:lnTo>
                  <a:pt x="114" y="15"/>
                </a:lnTo>
                <a:lnTo>
                  <a:pt x="131" y="14"/>
                </a:lnTo>
                <a:lnTo>
                  <a:pt x="147" y="13"/>
                </a:lnTo>
                <a:lnTo>
                  <a:pt x="164" y="12"/>
                </a:lnTo>
                <a:lnTo>
                  <a:pt x="180" y="10"/>
                </a:lnTo>
                <a:lnTo>
                  <a:pt x="196" y="9"/>
                </a:lnTo>
                <a:lnTo>
                  <a:pt x="213" y="8"/>
                </a:lnTo>
                <a:lnTo>
                  <a:pt x="229" y="7"/>
                </a:lnTo>
                <a:lnTo>
                  <a:pt x="246" y="6"/>
                </a:lnTo>
                <a:lnTo>
                  <a:pt x="262" y="5"/>
                </a:lnTo>
                <a:lnTo>
                  <a:pt x="278" y="4"/>
                </a:lnTo>
                <a:lnTo>
                  <a:pt x="295" y="3"/>
                </a:lnTo>
                <a:lnTo>
                  <a:pt x="311" y="2"/>
                </a:lnTo>
                <a:lnTo>
                  <a:pt x="327" y="1"/>
                </a:lnTo>
                <a:lnTo>
                  <a:pt x="344" y="1"/>
                </a:lnTo>
                <a:lnTo>
                  <a:pt x="360" y="0"/>
                </a:lnTo>
                <a:lnTo>
                  <a:pt x="377" y="0"/>
                </a:lnTo>
                <a:lnTo>
                  <a:pt x="393" y="0"/>
                </a:lnTo>
                <a:lnTo>
                  <a:pt x="393" y="6"/>
                </a:lnTo>
                <a:lnTo>
                  <a:pt x="377" y="7"/>
                </a:lnTo>
                <a:lnTo>
                  <a:pt x="360" y="7"/>
                </a:lnTo>
                <a:lnTo>
                  <a:pt x="344" y="7"/>
                </a:lnTo>
                <a:lnTo>
                  <a:pt x="327" y="8"/>
                </a:lnTo>
                <a:lnTo>
                  <a:pt x="311" y="9"/>
                </a:lnTo>
                <a:lnTo>
                  <a:pt x="295" y="9"/>
                </a:lnTo>
                <a:lnTo>
                  <a:pt x="278" y="10"/>
                </a:lnTo>
                <a:lnTo>
                  <a:pt x="262" y="11"/>
                </a:lnTo>
                <a:lnTo>
                  <a:pt x="246" y="12"/>
                </a:lnTo>
                <a:lnTo>
                  <a:pt x="229" y="13"/>
                </a:lnTo>
                <a:lnTo>
                  <a:pt x="213" y="15"/>
                </a:lnTo>
                <a:lnTo>
                  <a:pt x="196" y="16"/>
                </a:lnTo>
                <a:lnTo>
                  <a:pt x="180" y="17"/>
                </a:lnTo>
                <a:lnTo>
                  <a:pt x="164" y="18"/>
                </a:lnTo>
                <a:lnTo>
                  <a:pt x="147" y="19"/>
                </a:lnTo>
                <a:lnTo>
                  <a:pt x="131" y="20"/>
                </a:lnTo>
                <a:lnTo>
                  <a:pt x="114" y="21"/>
                </a:lnTo>
                <a:lnTo>
                  <a:pt x="98" y="22"/>
                </a:lnTo>
                <a:lnTo>
                  <a:pt x="82" y="23"/>
                </a:lnTo>
                <a:lnTo>
                  <a:pt x="65" y="23"/>
                </a:lnTo>
                <a:lnTo>
                  <a:pt x="49" y="24"/>
                </a:lnTo>
                <a:lnTo>
                  <a:pt x="33" y="24"/>
                </a:lnTo>
                <a:lnTo>
                  <a:pt x="16" y="25"/>
                </a:lnTo>
                <a:lnTo>
                  <a:pt x="0" y="2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6172200"/>
            <a:ext cx="3743325" cy="285750"/>
          </a:xfrm>
          <a:custGeom>
            <a:avLst/>
            <a:gdLst/>
            <a:ahLst/>
            <a:cxnLst/>
            <a:rect l="l" t="t" r="r" b="b"/>
            <a:pathLst>
              <a:path w="393" h="30">
                <a:moveTo>
                  <a:pt x="0" y="0"/>
                </a:moveTo>
                <a:lnTo>
                  <a:pt x="16" y="0"/>
                </a:lnTo>
                <a:lnTo>
                  <a:pt x="33" y="0"/>
                </a:lnTo>
                <a:lnTo>
                  <a:pt x="49" y="1"/>
                </a:lnTo>
                <a:lnTo>
                  <a:pt x="65" y="2"/>
                </a:lnTo>
                <a:lnTo>
                  <a:pt x="82" y="3"/>
                </a:lnTo>
                <a:lnTo>
                  <a:pt x="98" y="4"/>
                </a:lnTo>
                <a:lnTo>
                  <a:pt x="114" y="5"/>
                </a:lnTo>
                <a:lnTo>
                  <a:pt x="131" y="6"/>
                </a:lnTo>
                <a:lnTo>
                  <a:pt x="147" y="8"/>
                </a:lnTo>
                <a:lnTo>
                  <a:pt x="164" y="9"/>
                </a:lnTo>
                <a:lnTo>
                  <a:pt x="180" y="11"/>
                </a:lnTo>
                <a:lnTo>
                  <a:pt x="196" y="12"/>
                </a:lnTo>
                <a:lnTo>
                  <a:pt x="213" y="14"/>
                </a:lnTo>
                <a:lnTo>
                  <a:pt x="229" y="15"/>
                </a:lnTo>
                <a:lnTo>
                  <a:pt x="246" y="17"/>
                </a:lnTo>
                <a:lnTo>
                  <a:pt x="262" y="18"/>
                </a:lnTo>
                <a:lnTo>
                  <a:pt x="278" y="20"/>
                </a:lnTo>
                <a:lnTo>
                  <a:pt x="295" y="21"/>
                </a:lnTo>
                <a:lnTo>
                  <a:pt x="311" y="22"/>
                </a:lnTo>
                <a:lnTo>
                  <a:pt x="327" y="23"/>
                </a:lnTo>
                <a:lnTo>
                  <a:pt x="344" y="24"/>
                </a:lnTo>
                <a:lnTo>
                  <a:pt x="360" y="24"/>
                </a:lnTo>
                <a:lnTo>
                  <a:pt x="377" y="25"/>
                </a:lnTo>
                <a:lnTo>
                  <a:pt x="393" y="25"/>
                </a:lnTo>
                <a:lnTo>
                  <a:pt x="393" y="30"/>
                </a:lnTo>
                <a:lnTo>
                  <a:pt x="377" y="30"/>
                </a:lnTo>
                <a:lnTo>
                  <a:pt x="360" y="30"/>
                </a:lnTo>
                <a:lnTo>
                  <a:pt x="344" y="29"/>
                </a:lnTo>
                <a:lnTo>
                  <a:pt x="327" y="28"/>
                </a:lnTo>
                <a:lnTo>
                  <a:pt x="311" y="27"/>
                </a:lnTo>
                <a:lnTo>
                  <a:pt x="295" y="26"/>
                </a:lnTo>
                <a:lnTo>
                  <a:pt x="278" y="25"/>
                </a:lnTo>
                <a:lnTo>
                  <a:pt x="262" y="24"/>
                </a:lnTo>
                <a:lnTo>
                  <a:pt x="246" y="22"/>
                </a:lnTo>
                <a:lnTo>
                  <a:pt x="229" y="21"/>
                </a:lnTo>
                <a:lnTo>
                  <a:pt x="213" y="19"/>
                </a:lnTo>
                <a:lnTo>
                  <a:pt x="196" y="18"/>
                </a:lnTo>
                <a:lnTo>
                  <a:pt x="180" y="16"/>
                </a:lnTo>
                <a:lnTo>
                  <a:pt x="164" y="15"/>
                </a:lnTo>
                <a:lnTo>
                  <a:pt x="147" y="13"/>
                </a:lnTo>
                <a:lnTo>
                  <a:pt x="131" y="12"/>
                </a:lnTo>
                <a:lnTo>
                  <a:pt x="114" y="10"/>
                </a:lnTo>
                <a:lnTo>
                  <a:pt x="98" y="9"/>
                </a:lnTo>
                <a:lnTo>
                  <a:pt x="82" y="8"/>
                </a:lnTo>
                <a:lnTo>
                  <a:pt x="65" y="7"/>
                </a:lnTo>
                <a:lnTo>
                  <a:pt x="49" y="6"/>
                </a:lnTo>
                <a:lnTo>
                  <a:pt x="33" y="6"/>
                </a:lnTo>
                <a:lnTo>
                  <a:pt x="16" y="5"/>
                </a:lnTo>
                <a:lnTo>
                  <a:pt x="0" y="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733925"/>
            <a:ext cx="3743325" cy="1666875"/>
          </a:xfrm>
          <a:custGeom>
            <a:avLst/>
            <a:gdLst/>
            <a:ahLst/>
            <a:cxnLst/>
            <a:rect l="l" t="t" r="r" b="b"/>
            <a:pathLst>
              <a:path w="393" h="175">
                <a:moveTo>
                  <a:pt x="0" y="162"/>
                </a:moveTo>
                <a:lnTo>
                  <a:pt x="16" y="161"/>
                </a:lnTo>
                <a:lnTo>
                  <a:pt x="33" y="159"/>
                </a:lnTo>
                <a:lnTo>
                  <a:pt x="49" y="155"/>
                </a:lnTo>
                <a:lnTo>
                  <a:pt x="65" y="150"/>
                </a:lnTo>
                <a:lnTo>
                  <a:pt x="82" y="144"/>
                </a:lnTo>
                <a:lnTo>
                  <a:pt x="98" y="137"/>
                </a:lnTo>
                <a:lnTo>
                  <a:pt x="114" y="129"/>
                </a:lnTo>
                <a:lnTo>
                  <a:pt x="131" y="120"/>
                </a:lnTo>
                <a:lnTo>
                  <a:pt x="147" y="111"/>
                </a:lnTo>
                <a:lnTo>
                  <a:pt x="164" y="101"/>
                </a:lnTo>
                <a:lnTo>
                  <a:pt x="180" y="91"/>
                </a:lnTo>
                <a:lnTo>
                  <a:pt x="196" y="81"/>
                </a:lnTo>
                <a:lnTo>
                  <a:pt x="213" y="71"/>
                </a:lnTo>
                <a:lnTo>
                  <a:pt x="229" y="61"/>
                </a:lnTo>
                <a:lnTo>
                  <a:pt x="246" y="51"/>
                </a:lnTo>
                <a:lnTo>
                  <a:pt x="262" y="42"/>
                </a:lnTo>
                <a:lnTo>
                  <a:pt x="278" y="33"/>
                </a:lnTo>
                <a:lnTo>
                  <a:pt x="295" y="25"/>
                </a:lnTo>
                <a:lnTo>
                  <a:pt x="311" y="18"/>
                </a:lnTo>
                <a:lnTo>
                  <a:pt x="327" y="12"/>
                </a:lnTo>
                <a:lnTo>
                  <a:pt x="344" y="7"/>
                </a:lnTo>
                <a:lnTo>
                  <a:pt x="360" y="3"/>
                </a:lnTo>
                <a:lnTo>
                  <a:pt x="377" y="1"/>
                </a:lnTo>
                <a:lnTo>
                  <a:pt x="393" y="0"/>
                </a:lnTo>
                <a:lnTo>
                  <a:pt x="393" y="13"/>
                </a:lnTo>
                <a:lnTo>
                  <a:pt x="377" y="14"/>
                </a:lnTo>
                <a:lnTo>
                  <a:pt x="360" y="16"/>
                </a:lnTo>
                <a:lnTo>
                  <a:pt x="344" y="20"/>
                </a:lnTo>
                <a:lnTo>
                  <a:pt x="327" y="25"/>
                </a:lnTo>
                <a:lnTo>
                  <a:pt x="311" y="31"/>
                </a:lnTo>
                <a:lnTo>
                  <a:pt x="295" y="38"/>
                </a:lnTo>
                <a:lnTo>
                  <a:pt x="278" y="46"/>
                </a:lnTo>
                <a:lnTo>
                  <a:pt x="262" y="55"/>
                </a:lnTo>
                <a:lnTo>
                  <a:pt x="246" y="64"/>
                </a:lnTo>
                <a:lnTo>
                  <a:pt x="229" y="74"/>
                </a:lnTo>
                <a:lnTo>
                  <a:pt x="213" y="84"/>
                </a:lnTo>
                <a:lnTo>
                  <a:pt x="196" y="94"/>
                </a:lnTo>
                <a:lnTo>
                  <a:pt x="180" y="104"/>
                </a:lnTo>
                <a:lnTo>
                  <a:pt x="164" y="114"/>
                </a:lnTo>
                <a:lnTo>
                  <a:pt x="147" y="124"/>
                </a:lnTo>
                <a:lnTo>
                  <a:pt x="131" y="133"/>
                </a:lnTo>
                <a:lnTo>
                  <a:pt x="114" y="142"/>
                </a:lnTo>
                <a:lnTo>
                  <a:pt x="98" y="150"/>
                </a:lnTo>
                <a:lnTo>
                  <a:pt x="82" y="157"/>
                </a:lnTo>
                <a:lnTo>
                  <a:pt x="65" y="163"/>
                </a:lnTo>
                <a:lnTo>
                  <a:pt x="49" y="168"/>
                </a:lnTo>
                <a:lnTo>
                  <a:pt x="33" y="172"/>
                </a:lnTo>
                <a:lnTo>
                  <a:pt x="16" y="174"/>
                </a:lnTo>
                <a:lnTo>
                  <a:pt x="0" y="17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5495925"/>
            <a:ext cx="3743325" cy="962025"/>
          </a:xfrm>
          <a:custGeom>
            <a:avLst/>
            <a:gdLst/>
            <a:ahLst/>
            <a:cxnLst/>
            <a:rect l="l" t="t" r="r" b="b"/>
            <a:pathLst>
              <a:path w="393" h="101">
                <a:moveTo>
                  <a:pt x="0" y="95"/>
                </a:moveTo>
                <a:lnTo>
                  <a:pt x="16" y="94"/>
                </a:lnTo>
                <a:lnTo>
                  <a:pt x="33" y="93"/>
                </a:lnTo>
                <a:lnTo>
                  <a:pt x="49" y="91"/>
                </a:lnTo>
                <a:lnTo>
                  <a:pt x="65" y="88"/>
                </a:lnTo>
                <a:lnTo>
                  <a:pt x="82" y="84"/>
                </a:lnTo>
                <a:lnTo>
                  <a:pt x="98" y="80"/>
                </a:lnTo>
                <a:lnTo>
                  <a:pt x="114" y="75"/>
                </a:lnTo>
                <a:lnTo>
                  <a:pt x="131" y="70"/>
                </a:lnTo>
                <a:lnTo>
                  <a:pt x="147" y="65"/>
                </a:lnTo>
                <a:lnTo>
                  <a:pt x="164" y="59"/>
                </a:lnTo>
                <a:lnTo>
                  <a:pt x="180" y="53"/>
                </a:lnTo>
                <a:lnTo>
                  <a:pt x="196" y="47"/>
                </a:lnTo>
                <a:lnTo>
                  <a:pt x="213" y="41"/>
                </a:lnTo>
                <a:lnTo>
                  <a:pt x="229" y="35"/>
                </a:lnTo>
                <a:lnTo>
                  <a:pt x="246" y="30"/>
                </a:lnTo>
                <a:lnTo>
                  <a:pt x="262" y="24"/>
                </a:lnTo>
                <a:lnTo>
                  <a:pt x="278" y="19"/>
                </a:lnTo>
                <a:lnTo>
                  <a:pt x="295" y="14"/>
                </a:lnTo>
                <a:lnTo>
                  <a:pt x="311" y="10"/>
                </a:lnTo>
                <a:lnTo>
                  <a:pt x="327" y="7"/>
                </a:lnTo>
                <a:lnTo>
                  <a:pt x="344" y="4"/>
                </a:lnTo>
                <a:lnTo>
                  <a:pt x="360" y="1"/>
                </a:lnTo>
                <a:lnTo>
                  <a:pt x="377" y="0"/>
                </a:lnTo>
                <a:lnTo>
                  <a:pt x="393" y="0"/>
                </a:lnTo>
                <a:lnTo>
                  <a:pt x="393" y="5"/>
                </a:lnTo>
                <a:lnTo>
                  <a:pt x="377" y="6"/>
                </a:lnTo>
                <a:lnTo>
                  <a:pt x="360" y="7"/>
                </a:lnTo>
                <a:lnTo>
                  <a:pt x="344" y="9"/>
                </a:lnTo>
                <a:lnTo>
                  <a:pt x="327" y="12"/>
                </a:lnTo>
                <a:lnTo>
                  <a:pt x="311" y="16"/>
                </a:lnTo>
                <a:lnTo>
                  <a:pt x="295" y="20"/>
                </a:lnTo>
                <a:lnTo>
                  <a:pt x="278" y="25"/>
                </a:lnTo>
                <a:lnTo>
                  <a:pt x="262" y="30"/>
                </a:lnTo>
                <a:lnTo>
                  <a:pt x="246" y="35"/>
                </a:lnTo>
                <a:lnTo>
                  <a:pt x="229" y="41"/>
                </a:lnTo>
                <a:lnTo>
                  <a:pt x="213" y="47"/>
                </a:lnTo>
                <a:lnTo>
                  <a:pt x="196" y="53"/>
                </a:lnTo>
                <a:lnTo>
                  <a:pt x="180" y="59"/>
                </a:lnTo>
                <a:lnTo>
                  <a:pt x="164" y="65"/>
                </a:lnTo>
                <a:lnTo>
                  <a:pt x="147" y="70"/>
                </a:lnTo>
                <a:lnTo>
                  <a:pt x="131" y="76"/>
                </a:lnTo>
                <a:lnTo>
                  <a:pt x="114" y="81"/>
                </a:lnTo>
                <a:lnTo>
                  <a:pt x="98" y="86"/>
                </a:lnTo>
                <a:lnTo>
                  <a:pt x="82" y="90"/>
                </a:lnTo>
                <a:lnTo>
                  <a:pt x="65" y="94"/>
                </a:lnTo>
                <a:lnTo>
                  <a:pt x="49" y="96"/>
                </a:lnTo>
                <a:lnTo>
                  <a:pt x="33" y="99"/>
                </a:lnTo>
                <a:lnTo>
                  <a:pt x="16" y="100"/>
                </a:lnTo>
                <a:lnTo>
                  <a:pt x="0" y="10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991225"/>
            <a:ext cx="3743325" cy="495300"/>
          </a:xfrm>
          <a:custGeom>
            <a:avLst/>
            <a:gdLst/>
            <a:ahLst/>
            <a:cxnLst/>
            <a:rect l="l" t="t" r="r" b="b"/>
            <a:pathLst>
              <a:path w="393" h="52">
                <a:moveTo>
                  <a:pt x="0" y="49"/>
                </a:moveTo>
                <a:lnTo>
                  <a:pt x="16" y="48"/>
                </a:lnTo>
                <a:lnTo>
                  <a:pt x="33" y="48"/>
                </a:lnTo>
                <a:lnTo>
                  <a:pt x="49" y="47"/>
                </a:lnTo>
                <a:lnTo>
                  <a:pt x="65" y="45"/>
                </a:lnTo>
                <a:lnTo>
                  <a:pt x="82" y="43"/>
                </a:lnTo>
                <a:lnTo>
                  <a:pt x="98" y="41"/>
                </a:lnTo>
                <a:lnTo>
                  <a:pt x="114" y="39"/>
                </a:lnTo>
                <a:lnTo>
                  <a:pt x="131" y="36"/>
                </a:lnTo>
                <a:lnTo>
                  <a:pt x="147" y="33"/>
                </a:lnTo>
                <a:lnTo>
                  <a:pt x="164" y="30"/>
                </a:lnTo>
                <a:lnTo>
                  <a:pt x="180" y="28"/>
                </a:lnTo>
                <a:lnTo>
                  <a:pt x="196" y="25"/>
                </a:lnTo>
                <a:lnTo>
                  <a:pt x="213" y="22"/>
                </a:lnTo>
                <a:lnTo>
                  <a:pt x="229" y="19"/>
                </a:lnTo>
                <a:lnTo>
                  <a:pt x="246" y="16"/>
                </a:lnTo>
                <a:lnTo>
                  <a:pt x="262" y="13"/>
                </a:lnTo>
                <a:lnTo>
                  <a:pt x="278" y="10"/>
                </a:lnTo>
                <a:lnTo>
                  <a:pt x="295" y="8"/>
                </a:lnTo>
                <a:lnTo>
                  <a:pt x="311" y="6"/>
                </a:lnTo>
                <a:lnTo>
                  <a:pt x="327" y="4"/>
                </a:lnTo>
                <a:lnTo>
                  <a:pt x="344" y="3"/>
                </a:lnTo>
                <a:lnTo>
                  <a:pt x="360" y="1"/>
                </a:lnTo>
                <a:lnTo>
                  <a:pt x="377" y="1"/>
                </a:lnTo>
                <a:lnTo>
                  <a:pt x="393" y="0"/>
                </a:lnTo>
                <a:lnTo>
                  <a:pt x="393" y="4"/>
                </a:lnTo>
                <a:lnTo>
                  <a:pt x="377" y="4"/>
                </a:lnTo>
                <a:lnTo>
                  <a:pt x="360" y="5"/>
                </a:lnTo>
                <a:lnTo>
                  <a:pt x="344" y="6"/>
                </a:lnTo>
                <a:lnTo>
                  <a:pt x="327" y="8"/>
                </a:lnTo>
                <a:lnTo>
                  <a:pt x="311" y="9"/>
                </a:lnTo>
                <a:lnTo>
                  <a:pt x="295" y="11"/>
                </a:lnTo>
                <a:lnTo>
                  <a:pt x="278" y="14"/>
                </a:lnTo>
                <a:lnTo>
                  <a:pt x="262" y="16"/>
                </a:lnTo>
                <a:lnTo>
                  <a:pt x="246" y="19"/>
                </a:lnTo>
                <a:lnTo>
                  <a:pt x="229" y="22"/>
                </a:lnTo>
                <a:lnTo>
                  <a:pt x="213" y="25"/>
                </a:lnTo>
                <a:lnTo>
                  <a:pt x="196" y="28"/>
                </a:lnTo>
                <a:lnTo>
                  <a:pt x="180" y="31"/>
                </a:lnTo>
                <a:lnTo>
                  <a:pt x="164" y="34"/>
                </a:lnTo>
                <a:lnTo>
                  <a:pt x="147" y="37"/>
                </a:lnTo>
                <a:lnTo>
                  <a:pt x="131" y="40"/>
                </a:lnTo>
                <a:lnTo>
                  <a:pt x="114" y="42"/>
                </a:lnTo>
                <a:lnTo>
                  <a:pt x="98" y="45"/>
                </a:lnTo>
                <a:lnTo>
                  <a:pt x="82" y="47"/>
                </a:lnTo>
                <a:lnTo>
                  <a:pt x="65" y="48"/>
                </a:lnTo>
                <a:lnTo>
                  <a:pt x="49" y="50"/>
                </a:lnTo>
                <a:lnTo>
                  <a:pt x="33" y="51"/>
                </a:lnTo>
                <a:lnTo>
                  <a:pt x="16" y="52"/>
                </a:lnTo>
                <a:lnTo>
                  <a:pt x="0" y="5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6457950"/>
            <a:ext cx="3743325" cy="76200"/>
          </a:xfrm>
          <a:custGeom>
            <a:avLst/>
            <a:gdLst/>
            <a:ahLst/>
            <a:cxnLst/>
            <a:rect l="l" t="t" r="r" b="b"/>
            <a:pathLst>
              <a:path w="393" h="8">
                <a:moveTo>
                  <a:pt x="0" y="3"/>
                </a:moveTo>
                <a:lnTo>
                  <a:pt x="16" y="3"/>
                </a:lnTo>
                <a:lnTo>
                  <a:pt x="33" y="3"/>
                </a:lnTo>
                <a:lnTo>
                  <a:pt x="49" y="3"/>
                </a:lnTo>
                <a:lnTo>
                  <a:pt x="65" y="3"/>
                </a:lnTo>
                <a:lnTo>
                  <a:pt x="82" y="3"/>
                </a:lnTo>
                <a:lnTo>
                  <a:pt x="98" y="3"/>
                </a:lnTo>
                <a:lnTo>
                  <a:pt x="114" y="2"/>
                </a:lnTo>
                <a:lnTo>
                  <a:pt x="131" y="2"/>
                </a:lnTo>
                <a:lnTo>
                  <a:pt x="147" y="2"/>
                </a:lnTo>
                <a:lnTo>
                  <a:pt x="164" y="2"/>
                </a:lnTo>
                <a:lnTo>
                  <a:pt x="180" y="2"/>
                </a:lnTo>
                <a:lnTo>
                  <a:pt x="196" y="2"/>
                </a:lnTo>
                <a:lnTo>
                  <a:pt x="213" y="1"/>
                </a:lnTo>
                <a:lnTo>
                  <a:pt x="229" y="1"/>
                </a:lnTo>
                <a:lnTo>
                  <a:pt x="246" y="1"/>
                </a:lnTo>
                <a:lnTo>
                  <a:pt x="262" y="1"/>
                </a:lnTo>
                <a:lnTo>
                  <a:pt x="278" y="1"/>
                </a:lnTo>
                <a:lnTo>
                  <a:pt x="295" y="1"/>
                </a:lnTo>
                <a:lnTo>
                  <a:pt x="311" y="0"/>
                </a:lnTo>
                <a:lnTo>
                  <a:pt x="327" y="0"/>
                </a:lnTo>
                <a:lnTo>
                  <a:pt x="344" y="0"/>
                </a:lnTo>
                <a:lnTo>
                  <a:pt x="360" y="0"/>
                </a:lnTo>
                <a:lnTo>
                  <a:pt x="377" y="0"/>
                </a:lnTo>
                <a:lnTo>
                  <a:pt x="393" y="0"/>
                </a:lnTo>
                <a:lnTo>
                  <a:pt x="393" y="5"/>
                </a:lnTo>
                <a:lnTo>
                  <a:pt x="377" y="5"/>
                </a:lnTo>
                <a:lnTo>
                  <a:pt x="360" y="5"/>
                </a:lnTo>
                <a:lnTo>
                  <a:pt x="344" y="5"/>
                </a:lnTo>
                <a:lnTo>
                  <a:pt x="327" y="5"/>
                </a:lnTo>
                <a:lnTo>
                  <a:pt x="311" y="5"/>
                </a:lnTo>
                <a:lnTo>
                  <a:pt x="295" y="5"/>
                </a:lnTo>
                <a:lnTo>
                  <a:pt x="278" y="6"/>
                </a:lnTo>
                <a:lnTo>
                  <a:pt x="262" y="6"/>
                </a:lnTo>
                <a:lnTo>
                  <a:pt x="246" y="6"/>
                </a:lnTo>
                <a:lnTo>
                  <a:pt x="229" y="6"/>
                </a:lnTo>
                <a:lnTo>
                  <a:pt x="213" y="6"/>
                </a:lnTo>
                <a:lnTo>
                  <a:pt x="196" y="6"/>
                </a:lnTo>
                <a:lnTo>
                  <a:pt x="180" y="7"/>
                </a:lnTo>
                <a:lnTo>
                  <a:pt x="164" y="7"/>
                </a:lnTo>
                <a:lnTo>
                  <a:pt x="147" y="7"/>
                </a:lnTo>
                <a:lnTo>
                  <a:pt x="131" y="7"/>
                </a:lnTo>
                <a:lnTo>
                  <a:pt x="114" y="7"/>
                </a:lnTo>
                <a:lnTo>
                  <a:pt x="98" y="8"/>
                </a:lnTo>
                <a:lnTo>
                  <a:pt x="82" y="8"/>
                </a:lnTo>
                <a:lnTo>
                  <a:pt x="65" y="8"/>
                </a:lnTo>
                <a:lnTo>
                  <a:pt x="49" y="8"/>
                </a:lnTo>
                <a:lnTo>
                  <a:pt x="33" y="8"/>
                </a:lnTo>
                <a:lnTo>
                  <a:pt x="16" y="8"/>
                </a:lnTo>
                <a:lnTo>
                  <a:pt x="0" y="8"/>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3876675"/>
            <a:ext cx="114300" cy="787034"/>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41195" y="4720859"/>
            <a:ext cx="114300" cy="597329"/>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941195" y="5375338"/>
            <a:ext cx="114300" cy="48552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41195" y="5918014"/>
            <a:ext cx="114300" cy="303127"/>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41195" y="6278291"/>
            <a:ext cx="114300" cy="255859"/>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00725" y="3905250"/>
            <a:ext cx="114300" cy="95038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00725" y="4912782"/>
            <a:ext cx="114300" cy="63290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0725" y="5602839"/>
            <a:ext cx="114300" cy="42595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6085946"/>
            <a:ext cx="114300" cy="41962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4198754"/>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257175" y="4948086"/>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257175" y="554666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TextBox 47"/>
          <p:cNvSpPr txBox="1"/>
          <p:nvPr/>
        </p:nvSpPr>
        <p:spPr>
          <a:xfrm>
            <a:off x="257175" y="599814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257175" y="633478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5972175" y="430900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5972175" y="5157798"/>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5972175" y="574438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622432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Rounded Rectangle 53"/>
          <p:cNvSpPr/>
          <p:nvPr/>
        </p:nvSpPr>
        <p:spPr>
          <a:xfrm>
            <a:off x="7581900" y="3552825"/>
            <a:ext cx="445770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15250" y="363855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6" name="Rectangle 55"/>
          <p:cNvSpPr/>
          <p:nvPr/>
        </p:nvSpPr>
        <p:spPr>
          <a:xfrm>
            <a:off x="7715250" y="38766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15250" y="3962400"/>
            <a:ext cx="41910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8" name="TextBox 5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9" name="Picture 58" descr="lock.png"/>
          <p:cNvPicPr>
            <a:picLocks noChangeAspect="1"/>
          </p:cNvPicPr>
          <p:nvPr/>
        </p:nvPicPr>
        <p:blipFill>
          <a:blip r:embed="rId4"/>
          <a:stretch>
            <a:fillRect/>
          </a:stretch>
        </p:blipFill>
        <p:spPr>
          <a:xfrm>
            <a:off x="7385871" y="2203704"/>
            <a:ext cx="366712" cy="533400"/>
          </a:xfrm>
          <a:prstGeom prst="rect">
            <a:avLst/>
          </a:prstGeom>
        </p:spPr>
      </p:pic>
      <p:sp>
        <p:nvSpPr>
          <p:cNvPr id="60" name="TextBox 59"/>
          <p:cNvSpPr txBox="1"/>
          <p:nvPr/>
        </p:nvSpPr>
        <p:spPr>
          <a:xfrm>
            <a:off x="825460" y="4209841"/>
            <a:ext cx="1004833" cy="139750"/>
          </a:xfrm>
          <a:prstGeom prst="rect">
            <a:avLst/>
          </a:prstGeom>
          <a:noFill/>
        </p:spPr>
        <p:txBody>
          <a:bodyPr wrap="none" lIns="0" rIns="0" tIns="0" bIns="0">
            <a:spAutoFit/>
          </a:bodyPr>
          <a:lstStyle/>
          <a:p>
            <a:r>
              <a:rPr sz="791" b="1">
                <a:solidFill>
                  <a:srgbClr val="2E2E2E"/>
                </a:solidFill>
                <a:latin typeface="Calibri"/>
              </a:rPr>
              <a:t>Stick-based Sunscreen</a:t>
            </a:r>
          </a:p>
        </p:txBody>
      </p:sp>
      <p:pic>
        <p:nvPicPr>
          <p:cNvPr id="61" name="Picture 60" descr="lock.png"/>
          <p:cNvPicPr>
            <a:picLocks noChangeAspect="1"/>
          </p:cNvPicPr>
          <p:nvPr/>
        </p:nvPicPr>
        <p:blipFill>
          <a:blip r:embed="rId4"/>
          <a:stretch>
            <a:fillRect/>
          </a:stretch>
        </p:blipFill>
        <p:spPr>
          <a:xfrm>
            <a:off x="1771555" y="4202800"/>
            <a:ext cx="92663" cy="134782"/>
          </a:xfrm>
          <a:prstGeom prst="rect">
            <a:avLst/>
          </a:prstGeom>
        </p:spPr>
      </p:pic>
      <p:sp>
        <p:nvSpPr>
          <p:cNvPr id="62" name="TextBox 61"/>
          <p:cNvSpPr txBox="1"/>
          <p:nvPr/>
        </p:nvSpPr>
        <p:spPr>
          <a:xfrm>
            <a:off x="1229976" y="4959173"/>
            <a:ext cx="600318" cy="139750"/>
          </a:xfrm>
          <a:prstGeom prst="rect">
            <a:avLst/>
          </a:prstGeom>
          <a:noFill/>
        </p:spPr>
        <p:txBody>
          <a:bodyPr wrap="none" lIns="0" rIns="0" tIns="0" bIns="0">
            <a:spAutoFit/>
          </a:bodyPr>
          <a:lstStyle/>
          <a:p>
            <a:r>
              <a:rPr sz="791" b="1">
                <a:solidFill>
                  <a:srgbClr val="2E2E2E"/>
                </a:solidFill>
                <a:latin typeface="Calibri"/>
              </a:rPr>
              <a:t>Other Forms</a:t>
            </a:r>
          </a:p>
        </p:txBody>
      </p:sp>
      <p:pic>
        <p:nvPicPr>
          <p:cNvPr id="63" name="Picture 62" descr="lock.png"/>
          <p:cNvPicPr>
            <a:picLocks noChangeAspect="1"/>
          </p:cNvPicPr>
          <p:nvPr/>
        </p:nvPicPr>
        <p:blipFill>
          <a:blip r:embed="rId4"/>
          <a:stretch>
            <a:fillRect/>
          </a:stretch>
        </p:blipFill>
        <p:spPr>
          <a:xfrm>
            <a:off x="1771555" y="4952132"/>
            <a:ext cx="92663" cy="134782"/>
          </a:xfrm>
          <a:prstGeom prst="rect">
            <a:avLst/>
          </a:prstGeom>
        </p:spPr>
      </p:pic>
      <p:sp>
        <p:nvSpPr>
          <p:cNvPr id="64" name="TextBox 63"/>
          <p:cNvSpPr txBox="1"/>
          <p:nvPr/>
        </p:nvSpPr>
        <p:spPr>
          <a:xfrm>
            <a:off x="758666" y="5557750"/>
            <a:ext cx="1071627" cy="139750"/>
          </a:xfrm>
          <a:prstGeom prst="rect">
            <a:avLst/>
          </a:prstGeom>
          <a:noFill/>
        </p:spPr>
        <p:txBody>
          <a:bodyPr wrap="none" lIns="0" rIns="0" tIns="0" bIns="0">
            <a:spAutoFit/>
          </a:bodyPr>
          <a:lstStyle/>
          <a:p>
            <a:r>
              <a:rPr sz="791" b="1">
                <a:solidFill>
                  <a:srgbClr val="2E2E2E"/>
                </a:solidFill>
                <a:latin typeface="Calibri"/>
              </a:rPr>
              <a:t>Lotion-based Sunscreen</a:t>
            </a:r>
          </a:p>
        </p:txBody>
      </p:sp>
      <p:pic>
        <p:nvPicPr>
          <p:cNvPr id="65" name="Picture 64" descr="lock.png"/>
          <p:cNvPicPr>
            <a:picLocks noChangeAspect="1"/>
          </p:cNvPicPr>
          <p:nvPr/>
        </p:nvPicPr>
        <p:blipFill>
          <a:blip r:embed="rId4"/>
          <a:stretch>
            <a:fillRect/>
          </a:stretch>
        </p:blipFill>
        <p:spPr>
          <a:xfrm>
            <a:off x="1771555" y="5550709"/>
            <a:ext cx="92663" cy="134782"/>
          </a:xfrm>
          <a:prstGeom prst="rect">
            <a:avLst/>
          </a:prstGeom>
        </p:spPr>
      </p:pic>
      <p:sp>
        <p:nvSpPr>
          <p:cNvPr id="66" name="TextBox 65"/>
          <p:cNvSpPr txBox="1"/>
          <p:nvPr/>
        </p:nvSpPr>
        <p:spPr>
          <a:xfrm>
            <a:off x="883610" y="6009227"/>
            <a:ext cx="946683" cy="139750"/>
          </a:xfrm>
          <a:prstGeom prst="rect">
            <a:avLst/>
          </a:prstGeom>
          <a:noFill/>
        </p:spPr>
        <p:txBody>
          <a:bodyPr wrap="none" lIns="0" rIns="0" tIns="0" bIns="0">
            <a:spAutoFit/>
          </a:bodyPr>
          <a:lstStyle/>
          <a:p>
            <a:r>
              <a:rPr sz="791" b="1">
                <a:solidFill>
                  <a:srgbClr val="2E2E2E"/>
                </a:solidFill>
                <a:latin typeface="Calibri"/>
              </a:rPr>
              <a:t>Gel-based Sunscreen</a:t>
            </a:r>
          </a:p>
        </p:txBody>
      </p:sp>
      <p:pic>
        <p:nvPicPr>
          <p:cNvPr id="67" name="Picture 66" descr="lock.png"/>
          <p:cNvPicPr>
            <a:picLocks noChangeAspect="1"/>
          </p:cNvPicPr>
          <p:nvPr/>
        </p:nvPicPr>
        <p:blipFill>
          <a:blip r:embed="rId4"/>
          <a:stretch>
            <a:fillRect/>
          </a:stretch>
        </p:blipFill>
        <p:spPr>
          <a:xfrm>
            <a:off x="1771555" y="6002186"/>
            <a:ext cx="92663" cy="134782"/>
          </a:xfrm>
          <a:prstGeom prst="rect">
            <a:avLst/>
          </a:prstGeom>
        </p:spPr>
      </p:pic>
      <p:sp>
        <p:nvSpPr>
          <p:cNvPr id="68" name="TextBox 67"/>
          <p:cNvSpPr txBox="1"/>
          <p:nvPr/>
        </p:nvSpPr>
        <p:spPr>
          <a:xfrm>
            <a:off x="751790" y="6345870"/>
            <a:ext cx="1078503" cy="139750"/>
          </a:xfrm>
          <a:prstGeom prst="rect">
            <a:avLst/>
          </a:prstGeom>
          <a:noFill/>
        </p:spPr>
        <p:txBody>
          <a:bodyPr wrap="none" lIns="0" rIns="0" tIns="0" bIns="0">
            <a:spAutoFit/>
          </a:bodyPr>
          <a:lstStyle/>
          <a:p>
            <a:r>
              <a:rPr sz="791" b="1">
                <a:solidFill>
                  <a:srgbClr val="2E2E2E"/>
                </a:solidFill>
                <a:latin typeface="Calibri"/>
              </a:rPr>
              <a:t>Cream-based Sunscreen</a:t>
            </a:r>
          </a:p>
        </p:txBody>
      </p:sp>
      <p:pic>
        <p:nvPicPr>
          <p:cNvPr id="69" name="Picture 68" descr="lock.png"/>
          <p:cNvPicPr>
            <a:picLocks noChangeAspect="1"/>
          </p:cNvPicPr>
          <p:nvPr/>
        </p:nvPicPr>
        <p:blipFill>
          <a:blip r:embed="rId4"/>
          <a:stretch>
            <a:fillRect/>
          </a:stretch>
        </p:blipFill>
        <p:spPr>
          <a:xfrm>
            <a:off x="1771555" y="6338829"/>
            <a:ext cx="92663" cy="134782"/>
          </a:xfrm>
          <a:prstGeom prst="rect">
            <a:avLst/>
          </a:prstGeom>
        </p:spPr>
      </p:pic>
      <p:sp>
        <p:nvSpPr>
          <p:cNvPr id="70" name="TextBox 69"/>
          <p:cNvSpPr txBox="1"/>
          <p:nvPr/>
        </p:nvSpPr>
        <p:spPr>
          <a:xfrm>
            <a:off x="5972175" y="4320090"/>
            <a:ext cx="764921" cy="139750"/>
          </a:xfrm>
          <a:prstGeom prst="rect">
            <a:avLst/>
          </a:prstGeom>
          <a:noFill/>
        </p:spPr>
        <p:txBody>
          <a:bodyPr wrap="none" lIns="0" rIns="0" tIns="0" bIns="0">
            <a:spAutoFit/>
          </a:bodyPr>
          <a:lstStyle/>
          <a:p>
            <a:r>
              <a:rPr sz="791" b="1">
                <a:solidFill>
                  <a:srgbClr val="2E2E2E"/>
                </a:solidFill>
                <a:latin typeface="Calibri"/>
              </a:rPr>
              <a:t>Facial Sunscreen</a:t>
            </a:r>
          </a:p>
        </p:txBody>
      </p:sp>
      <p:pic>
        <p:nvPicPr>
          <p:cNvPr id="71" name="Picture 70" descr="lock.png"/>
          <p:cNvPicPr>
            <a:picLocks noChangeAspect="1"/>
          </p:cNvPicPr>
          <p:nvPr/>
        </p:nvPicPr>
        <p:blipFill>
          <a:blip r:embed="rId4"/>
          <a:stretch>
            <a:fillRect/>
          </a:stretch>
        </p:blipFill>
        <p:spPr>
          <a:xfrm>
            <a:off x="6678357" y="4313049"/>
            <a:ext cx="92663" cy="134782"/>
          </a:xfrm>
          <a:prstGeom prst="rect">
            <a:avLst/>
          </a:prstGeom>
        </p:spPr>
      </p:pic>
      <p:sp>
        <p:nvSpPr>
          <p:cNvPr id="72" name="TextBox 71"/>
          <p:cNvSpPr txBox="1"/>
          <p:nvPr/>
        </p:nvSpPr>
        <p:spPr>
          <a:xfrm>
            <a:off x="5972175" y="5168885"/>
            <a:ext cx="740015" cy="139750"/>
          </a:xfrm>
          <a:prstGeom prst="rect">
            <a:avLst/>
          </a:prstGeom>
          <a:noFill/>
        </p:spPr>
        <p:txBody>
          <a:bodyPr wrap="none" lIns="0" rIns="0" tIns="0" bIns="0">
            <a:spAutoFit/>
          </a:bodyPr>
          <a:lstStyle/>
          <a:p>
            <a:r>
              <a:rPr sz="791" b="1">
                <a:solidFill>
                  <a:srgbClr val="2E2E2E"/>
                </a:solidFill>
                <a:latin typeface="Calibri"/>
              </a:rPr>
              <a:t>Body Sunscreen</a:t>
            </a:r>
          </a:p>
        </p:txBody>
      </p:sp>
      <p:pic>
        <p:nvPicPr>
          <p:cNvPr id="73" name="Picture 72" descr="lock.png"/>
          <p:cNvPicPr>
            <a:picLocks noChangeAspect="1"/>
          </p:cNvPicPr>
          <p:nvPr/>
        </p:nvPicPr>
        <p:blipFill>
          <a:blip r:embed="rId4"/>
          <a:stretch>
            <a:fillRect/>
          </a:stretch>
        </p:blipFill>
        <p:spPr>
          <a:xfrm>
            <a:off x="6653451" y="5161844"/>
            <a:ext cx="92663" cy="134782"/>
          </a:xfrm>
          <a:prstGeom prst="rect">
            <a:avLst/>
          </a:prstGeom>
        </p:spPr>
      </p:pic>
      <p:sp>
        <p:nvSpPr>
          <p:cNvPr id="74" name="TextBox 73"/>
          <p:cNvSpPr txBox="1"/>
          <p:nvPr/>
        </p:nvSpPr>
        <p:spPr>
          <a:xfrm>
            <a:off x="5972175" y="5755467"/>
            <a:ext cx="649253" cy="139750"/>
          </a:xfrm>
          <a:prstGeom prst="rect">
            <a:avLst/>
          </a:prstGeom>
          <a:noFill/>
        </p:spPr>
        <p:txBody>
          <a:bodyPr wrap="none" lIns="0" rIns="0" tIns="0" bIns="0">
            <a:spAutoFit/>
          </a:bodyPr>
          <a:lstStyle/>
          <a:p>
            <a:r>
              <a:rPr sz="791" b="1">
                <a:solidFill>
                  <a:srgbClr val="2E2E2E"/>
                </a:solidFill>
                <a:latin typeface="Calibri"/>
              </a:rPr>
              <a:t>Lip Sunscreen</a:t>
            </a:r>
          </a:p>
        </p:txBody>
      </p:sp>
      <p:pic>
        <p:nvPicPr>
          <p:cNvPr id="75" name="Picture 74" descr="lock.png"/>
          <p:cNvPicPr>
            <a:picLocks noChangeAspect="1"/>
          </p:cNvPicPr>
          <p:nvPr/>
        </p:nvPicPr>
        <p:blipFill>
          <a:blip r:embed="rId4"/>
          <a:stretch>
            <a:fillRect/>
          </a:stretch>
        </p:blipFill>
        <p:spPr>
          <a:xfrm>
            <a:off x="6562689" y="5748426"/>
            <a:ext cx="92663" cy="134782"/>
          </a:xfrm>
          <a:prstGeom prst="rect">
            <a:avLst/>
          </a:prstGeom>
        </p:spPr>
      </p:pic>
      <p:sp>
        <p:nvSpPr>
          <p:cNvPr id="76" name="TextBox 75"/>
          <p:cNvSpPr txBox="1"/>
          <p:nvPr/>
        </p:nvSpPr>
        <p:spPr>
          <a:xfrm>
            <a:off x="5972175" y="6235410"/>
            <a:ext cx="1045063" cy="139750"/>
          </a:xfrm>
          <a:prstGeom prst="rect">
            <a:avLst/>
          </a:prstGeom>
          <a:noFill/>
        </p:spPr>
        <p:txBody>
          <a:bodyPr wrap="none" lIns="0" rIns="0" tIns="0" bIns="0">
            <a:spAutoFit/>
          </a:bodyPr>
          <a:lstStyle/>
          <a:p>
            <a:r>
              <a:rPr sz="791" b="1">
                <a:solidFill>
                  <a:srgbClr val="2E2E2E"/>
                </a:solidFill>
                <a:latin typeface="Calibri"/>
              </a:rPr>
              <a:t>Face &amp; Body Sunscreen</a:t>
            </a:r>
          </a:p>
        </p:txBody>
      </p:sp>
      <p:pic>
        <p:nvPicPr>
          <p:cNvPr id="77" name="Picture 76" descr="lock.png"/>
          <p:cNvPicPr>
            <a:picLocks noChangeAspect="1"/>
          </p:cNvPicPr>
          <p:nvPr/>
        </p:nvPicPr>
        <p:blipFill>
          <a:blip r:embed="rId4"/>
          <a:stretch>
            <a:fillRect/>
          </a:stretch>
        </p:blipFill>
        <p:spPr>
          <a:xfrm>
            <a:off x="6958499" y="6228369"/>
            <a:ext cx="92663" cy="134782"/>
          </a:xfrm>
          <a:prstGeom prst="rect">
            <a:avLst/>
          </a:prstGeom>
        </p:spPr>
      </p:pic>
      <p:sp>
        <p:nvSpPr>
          <p:cNvPr id="78" name="TextBox 77"/>
          <p:cNvSpPr txBox="1"/>
          <p:nvPr/>
        </p:nvSpPr>
        <p:spPr>
          <a:xfrm>
            <a:off x="7715250" y="3971925"/>
            <a:ext cx="4171950" cy="194310"/>
          </a:xfrm>
          <a:prstGeom prst="rect">
            <a:avLst/>
          </a:prstGeom>
          <a:noFill/>
        </p:spPr>
        <p:txBody>
          <a:bodyPr wrap="none" lIns="0" rIns="0" tIns="0" bIns="0">
            <a:spAutoFit/>
          </a:bodyPr>
          <a:lstStyle/>
          <a:p>
            <a:r>
              <a:rPr sz="1150" b="0">
                <a:solidFill>
                  <a:srgbClr val="2E2E2E"/>
                </a:solidFill>
                <a:latin typeface="Calibri"/>
              </a:rPr>
              <a:t>Stick-based sunscreen segment is projected to account for the largest</a:t>
            </a:r>
          </a:p>
        </p:txBody>
      </p:sp>
      <p:sp>
        <p:nvSpPr>
          <p:cNvPr id="79" name="TextBox 78"/>
          <p:cNvSpPr txBox="1"/>
          <p:nvPr/>
        </p:nvSpPr>
        <p:spPr>
          <a:xfrm>
            <a:off x="7715250" y="4147185"/>
            <a:ext cx="4153334" cy="194310"/>
          </a:xfrm>
          <a:prstGeom prst="rect">
            <a:avLst/>
          </a:prstGeom>
          <a:noFill/>
        </p:spPr>
        <p:txBody>
          <a:bodyPr wrap="none" lIns="0" rIns="0" tIns="0" bIns="0">
            <a:spAutoFit/>
          </a:bodyPr>
          <a:lstStyle/>
          <a:p>
            <a:r>
              <a:rPr sz="1150" b="0">
                <a:solidFill>
                  <a:srgbClr val="2E2E2E"/>
                </a:solidFill>
                <a:latin typeface="Calibri"/>
              </a:rPr>
              <a:t>share of the North America ceramide sunscreen market, led by facial</a:t>
            </a:r>
          </a:p>
        </p:txBody>
      </p:sp>
      <p:sp>
        <p:nvSpPr>
          <p:cNvPr id="80" name="TextBox 79"/>
          <p:cNvSpPr txBox="1"/>
          <p:nvPr/>
        </p:nvSpPr>
        <p:spPr>
          <a:xfrm>
            <a:off x="7715250" y="4322445"/>
            <a:ext cx="1099120" cy="194310"/>
          </a:xfrm>
          <a:prstGeom prst="rect">
            <a:avLst/>
          </a:prstGeom>
          <a:noFill/>
        </p:spPr>
        <p:txBody>
          <a:bodyPr wrap="none" lIns="0" rIns="0" tIns="0" bIns="0">
            <a:spAutoFit/>
          </a:bodyPr>
          <a:lstStyle/>
          <a:p>
            <a:r>
              <a:rPr sz="1150" b="0">
                <a:solidFill>
                  <a:srgbClr val="2E2E2E"/>
                </a:solidFill>
                <a:latin typeface="Calibri"/>
              </a:rPr>
              <a:t>sunscreen at US$</a:t>
            </a:r>
          </a:p>
        </p:txBody>
      </p:sp>
      <p:pic>
        <p:nvPicPr>
          <p:cNvPr id="81" name="Picture 80" descr="lock.png"/>
          <p:cNvPicPr>
            <a:picLocks noChangeAspect="1"/>
          </p:cNvPicPr>
          <p:nvPr/>
        </p:nvPicPr>
        <p:blipFill>
          <a:blip r:embed="rId4"/>
          <a:stretch>
            <a:fillRect/>
          </a:stretch>
        </p:blipFill>
        <p:spPr>
          <a:xfrm>
            <a:off x="8763524" y="4312221"/>
            <a:ext cx="134549" cy="195707"/>
          </a:xfrm>
          <a:prstGeom prst="rect">
            <a:avLst/>
          </a:prstGeom>
        </p:spPr>
      </p:pic>
      <p:sp>
        <p:nvSpPr>
          <p:cNvPr id="82" name="TextBox 81"/>
          <p:cNvSpPr txBox="1"/>
          <p:nvPr/>
        </p:nvSpPr>
        <p:spPr>
          <a:xfrm>
            <a:off x="8938633" y="4322445"/>
            <a:ext cx="2649983" cy="194310"/>
          </a:xfrm>
          <a:prstGeom prst="rect">
            <a:avLst/>
          </a:prstGeom>
          <a:noFill/>
        </p:spPr>
        <p:txBody>
          <a:bodyPr wrap="none" lIns="0" rIns="0" tIns="0" bIns="0">
            <a:spAutoFit/>
          </a:bodyPr>
          <a:lstStyle/>
          <a:p>
            <a:r>
              <a:rPr sz="1150" b="0">
                <a:solidFill>
                  <a:srgbClr val="2E2E2E"/>
                </a:solidFill>
                <a:latin typeface="Calibri"/>
              </a:rPr>
              <a:t>Mn in 2036. 'Stick-based Sunscreen × Facial</a:t>
            </a:r>
          </a:p>
        </p:txBody>
      </p:sp>
      <p:sp>
        <p:nvSpPr>
          <p:cNvPr id="83" name="TextBox 82"/>
          <p:cNvSpPr txBox="1"/>
          <p:nvPr/>
        </p:nvSpPr>
        <p:spPr>
          <a:xfrm>
            <a:off x="7715250" y="4497704"/>
            <a:ext cx="3113583" cy="194310"/>
          </a:xfrm>
          <a:prstGeom prst="rect">
            <a:avLst/>
          </a:prstGeom>
          <a:noFill/>
        </p:spPr>
        <p:txBody>
          <a:bodyPr wrap="none" lIns="0" rIns="0" tIns="0" bIns="0">
            <a:spAutoFit/>
          </a:bodyPr>
          <a:lstStyle/>
          <a:p>
            <a:r>
              <a:rPr sz="1150" b="0">
                <a:solidFill>
                  <a:srgbClr val="2E2E2E"/>
                </a:solidFill>
                <a:latin typeface="Calibri"/>
              </a:rPr>
              <a:t>Sunscreen' is the single largest cross-sectional cell (</a:t>
            </a:r>
          </a:p>
        </p:txBody>
      </p:sp>
      <p:pic>
        <p:nvPicPr>
          <p:cNvPr id="84" name="Picture 83" descr="lock.png"/>
          <p:cNvPicPr>
            <a:picLocks noChangeAspect="1"/>
          </p:cNvPicPr>
          <p:nvPr/>
        </p:nvPicPr>
        <p:blipFill>
          <a:blip r:embed="rId4"/>
          <a:stretch>
            <a:fillRect/>
          </a:stretch>
        </p:blipFill>
        <p:spPr>
          <a:xfrm>
            <a:off x="10777987" y="4487481"/>
            <a:ext cx="134549" cy="195707"/>
          </a:xfrm>
          <a:prstGeom prst="rect">
            <a:avLst/>
          </a:prstGeom>
        </p:spPr>
      </p:pic>
      <p:sp>
        <p:nvSpPr>
          <p:cNvPr id="85" name="TextBox 84"/>
          <p:cNvSpPr txBox="1"/>
          <p:nvPr/>
        </p:nvSpPr>
        <p:spPr>
          <a:xfrm>
            <a:off x="10953096" y="4497704"/>
            <a:ext cx="5825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86" name="TextBox 85"/>
          <p:cNvSpPr txBox="1"/>
          <p:nvPr/>
        </p:nvSpPr>
        <p:spPr>
          <a:xfrm>
            <a:off x="7715250" y="4672964"/>
            <a:ext cx="3930203" cy="194310"/>
          </a:xfrm>
          <a:prstGeom prst="rect">
            <a:avLst/>
          </a:prstGeom>
          <a:noFill/>
        </p:spPr>
        <p:txBody>
          <a:bodyPr wrap="none" lIns="0" rIns="0" tIns="0" bIns="0">
            <a:spAutoFit/>
          </a:bodyPr>
          <a:lstStyle/>
          <a:p>
            <a:r>
              <a:rPr sz="1150" b="0">
                <a:solidFill>
                  <a:srgbClr val="2E2E2E"/>
                </a:solidFill>
                <a:latin typeface="Calibri"/>
              </a:rPr>
              <a:t>2026E), while 'Cream-based Sunscreen × Face &amp; Body Sunscreen'</a:t>
            </a:r>
          </a:p>
        </p:txBody>
      </p:sp>
      <p:sp>
        <p:nvSpPr>
          <p:cNvPr id="87" name="TextBox 86"/>
          <p:cNvSpPr txBox="1"/>
          <p:nvPr/>
        </p:nvSpPr>
        <p:spPr>
          <a:xfrm>
            <a:off x="7715250" y="4848224"/>
            <a:ext cx="2424392" cy="194310"/>
          </a:xfrm>
          <a:prstGeom prst="rect">
            <a:avLst/>
          </a:prstGeom>
          <a:noFill/>
        </p:spPr>
        <p:txBody>
          <a:bodyPr wrap="none" lIns="0" rIns="0" tIns="0" bIns="0">
            <a:spAutoFit/>
          </a:bodyPr>
          <a:lstStyle/>
          <a:p>
            <a:r>
              <a:rPr sz="1150" b="0">
                <a:solidFill>
                  <a:srgbClr val="2E2E2E"/>
                </a:solidFill>
                <a:latin typeface="Calibri"/>
              </a:rPr>
              <a:t>records the fastest growth at a CAGR of</a:t>
            </a:r>
          </a:p>
        </p:txBody>
      </p:sp>
      <p:pic>
        <p:nvPicPr>
          <p:cNvPr id="88" name="Picture 87" descr="lock.png"/>
          <p:cNvPicPr>
            <a:picLocks noChangeAspect="1"/>
          </p:cNvPicPr>
          <p:nvPr/>
        </p:nvPicPr>
        <p:blipFill>
          <a:blip r:embed="rId4"/>
          <a:stretch>
            <a:fillRect/>
          </a:stretch>
        </p:blipFill>
        <p:spPr>
          <a:xfrm>
            <a:off x="10088796" y="4838001"/>
            <a:ext cx="134549" cy="195707"/>
          </a:xfrm>
          <a:prstGeom prst="rect">
            <a:avLst/>
          </a:prstGeom>
        </p:spPr>
      </p:pic>
      <p:sp>
        <p:nvSpPr>
          <p:cNvPr id="89" name="TextBox 88"/>
          <p:cNvSpPr txBox="1"/>
          <p:nvPr/>
        </p:nvSpPr>
        <p:spPr>
          <a:xfrm>
            <a:off x="10263905" y="4848224"/>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90" name="TextBox 89"/>
          <p:cNvSpPr txBox="1"/>
          <p:nvPr/>
        </p:nvSpPr>
        <p:spPr>
          <a:xfrm>
            <a:off x="7715250" y="5076062"/>
            <a:ext cx="3764533" cy="194310"/>
          </a:xfrm>
          <a:prstGeom prst="rect">
            <a:avLst/>
          </a:prstGeom>
          <a:noFill/>
        </p:spPr>
        <p:txBody>
          <a:bodyPr wrap="none" lIns="0" rIns="0" tIns="0" bIns="0">
            <a:spAutoFit/>
          </a:bodyPr>
          <a:lstStyle/>
          <a:p>
            <a:r>
              <a:rPr sz="1150" b="0">
                <a:solidFill>
                  <a:srgbClr val="2E2E2E"/>
                </a:solidFill>
                <a:latin typeface="Calibri"/>
              </a:rPr>
              <a:t>Combined, the top three form type × end-use application cells</a:t>
            </a:r>
          </a:p>
        </p:txBody>
      </p:sp>
      <p:sp>
        <p:nvSpPr>
          <p:cNvPr id="91" name="TextBox 90"/>
          <p:cNvSpPr txBox="1"/>
          <p:nvPr/>
        </p:nvSpPr>
        <p:spPr>
          <a:xfrm>
            <a:off x="7715250" y="525132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92" name="Picture 91" descr="lock.png"/>
          <p:cNvPicPr>
            <a:picLocks noChangeAspect="1"/>
          </p:cNvPicPr>
          <p:nvPr/>
        </p:nvPicPr>
        <p:blipFill>
          <a:blip r:embed="rId4"/>
          <a:stretch>
            <a:fillRect/>
          </a:stretch>
        </p:blipFill>
        <p:spPr>
          <a:xfrm>
            <a:off x="10004949" y="5241099"/>
            <a:ext cx="134549" cy="195707"/>
          </a:xfrm>
          <a:prstGeom prst="rect">
            <a:avLst/>
          </a:prstGeom>
        </p:spPr>
      </p:pic>
      <p:sp>
        <p:nvSpPr>
          <p:cNvPr id="93" name="TextBox 92"/>
          <p:cNvSpPr txBox="1"/>
          <p:nvPr/>
        </p:nvSpPr>
        <p:spPr>
          <a:xfrm>
            <a:off x="10180058" y="525132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Form Type × End-use Application,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end-use application sub-segments</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Form Type × End-use Application, 2026E (% of each row)</a:t>
            </a:r>
          </a:p>
        </p:txBody>
      </p:sp>
      <p:graphicFrame>
        <p:nvGraphicFramePr>
          <p:cNvPr id="12" name="Table 11"/>
          <p:cNvGraphicFramePr>
            <a:graphicFrameLocks noGrp="1"/>
          </p:cNvGraphicFramePr>
          <p:nvPr/>
        </p:nvGraphicFramePr>
        <p:xfrm>
          <a:off x="152400" y="1238250"/>
          <a:ext cx="11887198" cy="1724022"/>
        </p:xfrm>
        <a:graphic>
          <a:graphicData uri="http://schemas.openxmlformats.org/drawingml/2006/table">
            <a:tbl>
              <a:tblPr>
                <a:tableStyleId>{5C22544A-7EE6-4342-B048-85BDC9FD1C3A}</a:tableStyleId>
              </a:tblPr>
              <a:tblGrid>
                <a:gridCol w="2034798"/>
                <a:gridCol w="1970480"/>
                <a:gridCol w="1970480"/>
                <a:gridCol w="1970480"/>
                <a:gridCol w="1970480"/>
                <a:gridCol w="1970480"/>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Facial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Body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Face &amp; Body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Lip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7286625"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3623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End-use Application Mix by Form Type, 2026E (% share)</a:t>
            </a:r>
          </a:p>
        </p:txBody>
      </p:sp>
      <p:graphicFrame>
        <p:nvGraphicFramePr>
          <p:cNvPr id="16" name="Chart 15"/>
          <p:cNvGraphicFramePr>
            <a:graphicFrameLocks noGrp="1"/>
          </p:cNvGraphicFramePr>
          <p:nvPr/>
        </p:nvGraphicFramePr>
        <p:xfrm>
          <a:off x="238125" y="3590925"/>
          <a:ext cx="7096125" cy="298132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305175"/>
            <a:ext cx="445770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3909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6290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714750"/>
            <a:ext cx="419100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926707" y="1956623"/>
            <a:ext cx="366712" cy="533399"/>
          </a:xfrm>
          <a:prstGeom prst="rect">
            <a:avLst/>
          </a:prstGeom>
        </p:spPr>
      </p:pic>
      <p:pic>
        <p:nvPicPr>
          <p:cNvPr id="23" name="Picture 22" descr="lock.png"/>
          <p:cNvPicPr>
            <a:picLocks noChangeAspect="1"/>
          </p:cNvPicPr>
          <p:nvPr/>
        </p:nvPicPr>
        <p:blipFill>
          <a:blip r:embed="rId5"/>
          <a:stretch>
            <a:fillRect/>
          </a:stretch>
        </p:blipFill>
        <p:spPr>
          <a:xfrm>
            <a:off x="3760202" y="4257864"/>
            <a:ext cx="341043" cy="496063"/>
          </a:xfrm>
          <a:prstGeom prst="rect">
            <a:avLst/>
          </a:prstGeom>
        </p:spPr>
      </p:pic>
      <p:sp>
        <p:nvSpPr>
          <p:cNvPr id="24" name="TextBox 23"/>
          <p:cNvSpPr txBox="1"/>
          <p:nvPr/>
        </p:nvSpPr>
        <p:spPr>
          <a:xfrm>
            <a:off x="7715250" y="3724275"/>
            <a:ext cx="3627548" cy="194310"/>
          </a:xfrm>
          <a:prstGeom prst="rect">
            <a:avLst/>
          </a:prstGeom>
          <a:noFill/>
        </p:spPr>
        <p:txBody>
          <a:bodyPr wrap="none" lIns="0" rIns="0" tIns="0" bIns="0">
            <a:spAutoFit/>
          </a:bodyPr>
          <a:lstStyle/>
          <a:p>
            <a:r>
              <a:rPr sz="1150" b="0">
                <a:solidFill>
                  <a:srgbClr val="2E2E2E"/>
                </a:solidFill>
                <a:latin typeface="Calibri"/>
              </a:rPr>
              <a:t>▪ 'Facial Sunscreen' holds the highest share of 'Cream-based</a:t>
            </a:r>
          </a:p>
        </p:txBody>
      </p:sp>
      <p:sp>
        <p:nvSpPr>
          <p:cNvPr id="25" name="TextBox 24"/>
          <p:cNvSpPr txBox="1"/>
          <p:nvPr/>
        </p:nvSpPr>
        <p:spPr>
          <a:xfrm>
            <a:off x="7715250" y="3899535"/>
            <a:ext cx="873199" cy="194310"/>
          </a:xfrm>
          <a:prstGeom prst="rect">
            <a:avLst/>
          </a:prstGeom>
          <a:noFill/>
        </p:spPr>
        <p:txBody>
          <a:bodyPr wrap="none" lIns="0" rIns="0" tIns="0" bIns="0">
            <a:spAutoFit/>
          </a:bodyPr>
          <a:lstStyle/>
          <a:p>
            <a:r>
              <a:rPr sz="1150" b="0">
                <a:solidFill>
                  <a:srgbClr val="2E2E2E"/>
                </a:solidFill>
                <a:latin typeface="Calibri"/>
              </a:rPr>
              <a:t>Sunscreen' at</a:t>
            </a:r>
          </a:p>
        </p:txBody>
      </p:sp>
      <p:pic>
        <p:nvPicPr>
          <p:cNvPr id="26" name="Picture 25" descr="lock.png"/>
          <p:cNvPicPr>
            <a:picLocks noChangeAspect="1"/>
          </p:cNvPicPr>
          <p:nvPr/>
        </p:nvPicPr>
        <p:blipFill>
          <a:blip r:embed="rId5"/>
          <a:stretch>
            <a:fillRect/>
          </a:stretch>
        </p:blipFill>
        <p:spPr>
          <a:xfrm>
            <a:off x="8537603" y="3889311"/>
            <a:ext cx="134549" cy="195707"/>
          </a:xfrm>
          <a:prstGeom prst="rect">
            <a:avLst/>
          </a:prstGeom>
        </p:spPr>
      </p:pic>
      <p:sp>
        <p:nvSpPr>
          <p:cNvPr id="27" name="TextBox 26"/>
          <p:cNvSpPr txBox="1"/>
          <p:nvPr/>
        </p:nvSpPr>
        <p:spPr>
          <a:xfrm>
            <a:off x="8712712" y="38995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127372"/>
            <a:ext cx="3794484" cy="194310"/>
          </a:xfrm>
          <a:prstGeom prst="rect">
            <a:avLst/>
          </a:prstGeom>
          <a:noFill/>
        </p:spPr>
        <p:txBody>
          <a:bodyPr wrap="none" lIns="0" rIns="0" tIns="0" bIns="0">
            <a:spAutoFit/>
          </a:bodyPr>
          <a:lstStyle/>
          <a:p>
            <a:r>
              <a:rPr sz="1150" b="0">
                <a:solidFill>
                  <a:srgbClr val="2E2E2E"/>
                </a:solidFill>
                <a:latin typeface="Calibri"/>
              </a:rPr>
              <a:t>▪ 'Cream-based Sunscreen' is the most concentrated form type</a:t>
            </a:r>
          </a:p>
        </p:txBody>
      </p:sp>
      <p:sp>
        <p:nvSpPr>
          <p:cNvPr id="29" name="TextBox 28"/>
          <p:cNvSpPr txBox="1"/>
          <p:nvPr/>
        </p:nvSpPr>
        <p:spPr>
          <a:xfrm>
            <a:off x="7715250" y="4302632"/>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30" name="Picture 29" descr="lock.png"/>
          <p:cNvPicPr>
            <a:picLocks noChangeAspect="1"/>
          </p:cNvPicPr>
          <p:nvPr/>
        </p:nvPicPr>
        <p:blipFill>
          <a:blip r:embed="rId5"/>
          <a:stretch>
            <a:fillRect/>
          </a:stretch>
        </p:blipFill>
        <p:spPr>
          <a:xfrm>
            <a:off x="8843110" y="4292409"/>
            <a:ext cx="134549" cy="195707"/>
          </a:xfrm>
          <a:prstGeom prst="rect">
            <a:avLst/>
          </a:prstGeom>
        </p:spPr>
      </p:pic>
      <p:sp>
        <p:nvSpPr>
          <p:cNvPr id="31" name="TextBox 30"/>
          <p:cNvSpPr txBox="1"/>
          <p:nvPr/>
        </p:nvSpPr>
        <p:spPr>
          <a:xfrm>
            <a:off x="9018219" y="4302632"/>
            <a:ext cx="2041251" cy="194310"/>
          </a:xfrm>
          <a:prstGeom prst="rect">
            <a:avLst/>
          </a:prstGeom>
          <a:noFill/>
        </p:spPr>
        <p:txBody>
          <a:bodyPr wrap="none" lIns="0" rIns="0" tIns="0" bIns="0">
            <a:spAutoFit/>
          </a:bodyPr>
          <a:lstStyle/>
          <a:p>
            <a:r>
              <a:rPr sz="1150" b="0">
                <a:solidFill>
                  <a:srgbClr val="2E2E2E"/>
                </a:solidFill>
                <a:latin typeface="Calibri"/>
              </a:rPr>
              <a:t>of its value via 'Facial Sunscreen'.</a:t>
            </a:r>
          </a:p>
        </p:txBody>
      </p:sp>
      <p:sp>
        <p:nvSpPr>
          <p:cNvPr id="32" name="TextBox 31"/>
          <p:cNvSpPr txBox="1"/>
          <p:nvPr/>
        </p:nvSpPr>
        <p:spPr>
          <a:xfrm>
            <a:off x="7715250" y="4530470"/>
            <a:ext cx="1652165" cy="194310"/>
          </a:xfrm>
          <a:prstGeom prst="rect">
            <a:avLst/>
          </a:prstGeom>
          <a:noFill/>
        </p:spPr>
        <p:txBody>
          <a:bodyPr wrap="none" lIns="0" rIns="0" tIns="0" bIns="0">
            <a:spAutoFit/>
          </a:bodyPr>
          <a:lstStyle/>
          <a:p>
            <a:r>
              <a:rPr sz="1150" b="0">
                <a:solidFill>
                  <a:srgbClr val="2E2E2E"/>
                </a:solidFill>
                <a:latin typeface="Calibri"/>
              </a:rPr>
              <a:t>▪ 'Facial Sunscreen' gains +</a:t>
            </a:r>
          </a:p>
        </p:txBody>
      </p:sp>
      <p:pic>
        <p:nvPicPr>
          <p:cNvPr id="33" name="Picture 32" descr="lock.png"/>
          <p:cNvPicPr>
            <a:picLocks noChangeAspect="1"/>
          </p:cNvPicPr>
          <p:nvPr/>
        </p:nvPicPr>
        <p:blipFill>
          <a:blip r:embed="rId5"/>
          <a:stretch>
            <a:fillRect/>
          </a:stretch>
        </p:blipFill>
        <p:spPr>
          <a:xfrm>
            <a:off x="9316569" y="4520247"/>
            <a:ext cx="134549" cy="195707"/>
          </a:xfrm>
          <a:prstGeom prst="rect">
            <a:avLst/>
          </a:prstGeom>
        </p:spPr>
      </p:pic>
      <p:sp>
        <p:nvSpPr>
          <p:cNvPr id="34" name="TextBox 33"/>
          <p:cNvSpPr txBox="1"/>
          <p:nvPr/>
        </p:nvSpPr>
        <p:spPr>
          <a:xfrm>
            <a:off x="9491678" y="4530470"/>
            <a:ext cx="2104640" cy="194310"/>
          </a:xfrm>
          <a:prstGeom prst="rect">
            <a:avLst/>
          </a:prstGeom>
          <a:noFill/>
        </p:spPr>
        <p:txBody>
          <a:bodyPr wrap="none" lIns="0" rIns="0" tIns="0" bIns="0">
            <a:spAutoFit/>
          </a:bodyPr>
          <a:lstStyle/>
          <a:p>
            <a:r>
              <a:rPr sz="1150" b="0">
                <a:solidFill>
                  <a:srgbClr val="2E2E2E"/>
                </a:solidFill>
                <a:latin typeface="Calibri"/>
              </a:rPr>
              <a:t>BPS of share of the North America</a:t>
            </a:r>
          </a:p>
        </p:txBody>
      </p:sp>
      <p:sp>
        <p:nvSpPr>
          <p:cNvPr id="35" name="TextBox 34"/>
          <p:cNvSpPr txBox="1"/>
          <p:nvPr/>
        </p:nvSpPr>
        <p:spPr>
          <a:xfrm>
            <a:off x="7715250" y="4705730"/>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6" name="lockshield_16"/>
          <p:cNvSpPr/>
          <p:nvPr/>
        </p:nvSpPr>
        <p:spPr>
          <a:xfrm>
            <a:off x="238125" y="3590925"/>
            <a:ext cx="7096125" cy="29813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Form Type × End-use Application,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Form Type × End-use Application, 2026E–2036F</a:t>
            </a:r>
          </a:p>
        </p:txBody>
      </p:sp>
      <p:graphicFrame>
        <p:nvGraphicFramePr>
          <p:cNvPr id="12" name="Table 11"/>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2510290"/>
                <a:gridCol w="937691"/>
                <a:gridCol w="937691"/>
                <a:gridCol w="937691"/>
                <a:gridCol w="937691"/>
                <a:gridCol w="937691"/>
                <a:gridCol w="937691"/>
                <a:gridCol w="937691"/>
                <a:gridCol w="937691"/>
                <a:gridCol w="937691"/>
                <a:gridCol w="937691"/>
              </a:tblGrid>
              <a:tr h="246126">
                <a:tc rowSpan="2">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Facial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Body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Face &amp; Body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Lip Sunscreen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560070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87667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53340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'Stick-based Sunscreen × Facial Sunscreen' ranks highest (5/5); 'Gel-based Sunscreen × Body Sunscreen'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164454" y="2203704"/>
            <a:ext cx="366712" cy="533400"/>
          </a:xfrm>
          <a:prstGeom prst="rect">
            <a:avLst/>
          </a:prstGeom>
        </p:spPr>
      </p:pic>
      <p:sp>
        <p:nvSpPr>
          <p:cNvPr id="32" name="TextBox 31"/>
          <p:cNvSpPr txBox="1"/>
          <p:nvPr/>
        </p:nvSpPr>
        <p:spPr>
          <a:xfrm>
            <a:off x="276225" y="3971925"/>
            <a:ext cx="2853369" cy="194310"/>
          </a:xfrm>
          <a:prstGeom prst="rect">
            <a:avLst/>
          </a:prstGeom>
          <a:noFill/>
        </p:spPr>
        <p:txBody>
          <a:bodyPr wrap="none" lIns="0" rIns="0" tIns="0" bIns="0">
            <a:spAutoFit/>
          </a:bodyPr>
          <a:lstStyle/>
          <a:p>
            <a:r>
              <a:rPr sz="1150" b="0">
                <a:solidFill>
                  <a:srgbClr val="2E2E2E"/>
                </a:solidFill>
                <a:latin typeface="Calibri"/>
              </a:rPr>
              <a:t>▪ 1. Stick-based Sunscreen × Facial Sunscreen –</a:t>
            </a:r>
          </a:p>
        </p:txBody>
      </p:sp>
      <p:pic>
        <p:nvPicPr>
          <p:cNvPr id="33" name="Picture 32" descr="lock.png"/>
          <p:cNvPicPr>
            <a:picLocks noChangeAspect="1"/>
          </p:cNvPicPr>
          <p:nvPr/>
        </p:nvPicPr>
        <p:blipFill>
          <a:blip r:embed="rId4"/>
          <a:stretch>
            <a:fillRect/>
          </a:stretch>
        </p:blipFill>
        <p:spPr>
          <a:xfrm>
            <a:off x="3078748" y="3961701"/>
            <a:ext cx="134549" cy="195707"/>
          </a:xfrm>
          <a:prstGeom prst="rect">
            <a:avLst/>
          </a:prstGeom>
        </p:spPr>
      </p:pic>
      <p:sp>
        <p:nvSpPr>
          <p:cNvPr id="34" name="TextBox 33"/>
          <p:cNvSpPr txBox="1"/>
          <p:nvPr/>
        </p:nvSpPr>
        <p:spPr>
          <a:xfrm>
            <a:off x="3253857" y="39719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316009" y="3961701"/>
            <a:ext cx="134549" cy="195707"/>
          </a:xfrm>
          <a:prstGeom prst="rect">
            <a:avLst/>
          </a:prstGeom>
        </p:spPr>
      </p:pic>
      <p:sp>
        <p:nvSpPr>
          <p:cNvPr id="36" name="TextBox 35"/>
          <p:cNvSpPr txBox="1"/>
          <p:nvPr/>
        </p:nvSpPr>
        <p:spPr>
          <a:xfrm>
            <a:off x="3491118" y="397192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199763"/>
            <a:ext cx="2816919" cy="194310"/>
          </a:xfrm>
          <a:prstGeom prst="rect">
            <a:avLst/>
          </a:prstGeom>
          <a:noFill/>
        </p:spPr>
        <p:txBody>
          <a:bodyPr wrap="none" lIns="0" rIns="0" tIns="0" bIns="0">
            <a:spAutoFit/>
          </a:bodyPr>
          <a:lstStyle/>
          <a:p>
            <a:r>
              <a:rPr sz="1150" b="0">
                <a:solidFill>
                  <a:srgbClr val="2E2E2E"/>
                </a:solidFill>
                <a:latin typeface="Calibri"/>
              </a:rPr>
              <a:t>▪ 2. Stick-based Sunscreen × Body Sunscreen –</a:t>
            </a:r>
          </a:p>
        </p:txBody>
      </p:sp>
      <p:pic>
        <p:nvPicPr>
          <p:cNvPr id="38" name="Picture 37" descr="lock.png"/>
          <p:cNvPicPr>
            <a:picLocks noChangeAspect="1"/>
          </p:cNvPicPr>
          <p:nvPr/>
        </p:nvPicPr>
        <p:blipFill>
          <a:blip r:embed="rId4"/>
          <a:stretch>
            <a:fillRect/>
          </a:stretch>
        </p:blipFill>
        <p:spPr>
          <a:xfrm>
            <a:off x="3042298" y="4189539"/>
            <a:ext cx="134549" cy="195707"/>
          </a:xfrm>
          <a:prstGeom prst="rect">
            <a:avLst/>
          </a:prstGeom>
        </p:spPr>
      </p:pic>
      <p:sp>
        <p:nvSpPr>
          <p:cNvPr id="39" name="TextBox 38"/>
          <p:cNvSpPr txBox="1"/>
          <p:nvPr/>
        </p:nvSpPr>
        <p:spPr>
          <a:xfrm>
            <a:off x="3217407" y="41997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279559" y="4189539"/>
            <a:ext cx="134549" cy="195707"/>
          </a:xfrm>
          <a:prstGeom prst="rect">
            <a:avLst/>
          </a:prstGeom>
        </p:spPr>
      </p:pic>
      <p:sp>
        <p:nvSpPr>
          <p:cNvPr id="41" name="TextBox 40"/>
          <p:cNvSpPr txBox="1"/>
          <p:nvPr/>
        </p:nvSpPr>
        <p:spPr>
          <a:xfrm>
            <a:off x="3454668" y="419976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4427600"/>
            <a:ext cx="2279692" cy="194310"/>
          </a:xfrm>
          <a:prstGeom prst="rect">
            <a:avLst/>
          </a:prstGeom>
          <a:noFill/>
        </p:spPr>
        <p:txBody>
          <a:bodyPr wrap="none" lIns="0" rIns="0" tIns="0" bIns="0">
            <a:spAutoFit/>
          </a:bodyPr>
          <a:lstStyle/>
          <a:p>
            <a:r>
              <a:rPr sz="1150" b="0">
                <a:solidFill>
                  <a:srgbClr val="2E2E2E"/>
                </a:solidFill>
                <a:latin typeface="Calibri"/>
              </a:rPr>
              <a:t>▪ 3. Other Forms × Facial Sunscreen –</a:t>
            </a:r>
          </a:p>
        </p:txBody>
      </p:sp>
      <p:pic>
        <p:nvPicPr>
          <p:cNvPr id="43" name="Picture 42" descr="lock.png"/>
          <p:cNvPicPr>
            <a:picLocks noChangeAspect="1"/>
          </p:cNvPicPr>
          <p:nvPr/>
        </p:nvPicPr>
        <p:blipFill>
          <a:blip r:embed="rId4"/>
          <a:stretch>
            <a:fillRect/>
          </a:stretch>
        </p:blipFill>
        <p:spPr>
          <a:xfrm>
            <a:off x="2505071" y="4417377"/>
            <a:ext cx="134549" cy="195707"/>
          </a:xfrm>
          <a:prstGeom prst="rect">
            <a:avLst/>
          </a:prstGeom>
        </p:spPr>
      </p:pic>
      <p:sp>
        <p:nvSpPr>
          <p:cNvPr id="44" name="TextBox 43"/>
          <p:cNvSpPr txBox="1"/>
          <p:nvPr/>
        </p:nvSpPr>
        <p:spPr>
          <a:xfrm>
            <a:off x="2680181" y="442760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2742332" y="4417377"/>
            <a:ext cx="134549" cy="195707"/>
          </a:xfrm>
          <a:prstGeom prst="rect">
            <a:avLst/>
          </a:prstGeom>
        </p:spPr>
      </p:pic>
      <p:sp>
        <p:nvSpPr>
          <p:cNvPr id="46" name="TextBox 45"/>
          <p:cNvSpPr txBox="1"/>
          <p:nvPr/>
        </p:nvSpPr>
        <p:spPr>
          <a:xfrm>
            <a:off x="2917441" y="4427600"/>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276225" y="4655438"/>
            <a:ext cx="2950070" cy="194310"/>
          </a:xfrm>
          <a:prstGeom prst="rect">
            <a:avLst/>
          </a:prstGeom>
          <a:noFill/>
        </p:spPr>
        <p:txBody>
          <a:bodyPr wrap="none" lIns="0" rIns="0" tIns="0" bIns="0">
            <a:spAutoFit/>
          </a:bodyPr>
          <a:lstStyle/>
          <a:p>
            <a:r>
              <a:rPr sz="1150" b="0">
                <a:solidFill>
                  <a:srgbClr val="2E2E2E"/>
                </a:solidFill>
                <a:latin typeface="Calibri"/>
              </a:rPr>
              <a:t>▪ 4. Lotion-based Sunscreen × Facial Sunscreen –</a:t>
            </a:r>
          </a:p>
        </p:txBody>
      </p:sp>
      <p:pic>
        <p:nvPicPr>
          <p:cNvPr id="48" name="Picture 47" descr="lock.png"/>
          <p:cNvPicPr>
            <a:picLocks noChangeAspect="1"/>
          </p:cNvPicPr>
          <p:nvPr/>
        </p:nvPicPr>
        <p:blipFill>
          <a:blip r:embed="rId4"/>
          <a:stretch>
            <a:fillRect/>
          </a:stretch>
        </p:blipFill>
        <p:spPr>
          <a:xfrm>
            <a:off x="3175449" y="4645215"/>
            <a:ext cx="134549" cy="195707"/>
          </a:xfrm>
          <a:prstGeom prst="rect">
            <a:avLst/>
          </a:prstGeom>
        </p:spPr>
      </p:pic>
      <p:sp>
        <p:nvSpPr>
          <p:cNvPr id="49" name="TextBox 48"/>
          <p:cNvSpPr txBox="1"/>
          <p:nvPr/>
        </p:nvSpPr>
        <p:spPr>
          <a:xfrm>
            <a:off x="3350558" y="465543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412710" y="4645215"/>
            <a:ext cx="134549" cy="195707"/>
          </a:xfrm>
          <a:prstGeom prst="rect">
            <a:avLst/>
          </a:prstGeom>
        </p:spPr>
      </p:pic>
      <p:sp>
        <p:nvSpPr>
          <p:cNvPr id="51" name="TextBox 50"/>
          <p:cNvSpPr txBox="1"/>
          <p:nvPr/>
        </p:nvSpPr>
        <p:spPr>
          <a:xfrm>
            <a:off x="3587819" y="4655438"/>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2" name="TextBox 51"/>
          <p:cNvSpPr txBox="1"/>
          <p:nvPr/>
        </p:nvSpPr>
        <p:spPr>
          <a:xfrm>
            <a:off x="276225" y="4883276"/>
            <a:ext cx="2689125" cy="194310"/>
          </a:xfrm>
          <a:prstGeom prst="rect">
            <a:avLst/>
          </a:prstGeom>
          <a:noFill/>
        </p:spPr>
        <p:txBody>
          <a:bodyPr wrap="none" lIns="0" rIns="0" tIns="0" bIns="0">
            <a:spAutoFit/>
          </a:bodyPr>
          <a:lstStyle/>
          <a:p>
            <a:r>
              <a:rPr sz="1150" b="0">
                <a:solidFill>
                  <a:srgbClr val="2E2E2E"/>
                </a:solidFill>
                <a:latin typeface="Calibri"/>
              </a:rPr>
              <a:t>▪ 5. Stick-based Sunscreen × Lip Sunscreen –</a:t>
            </a:r>
          </a:p>
        </p:txBody>
      </p:sp>
      <p:pic>
        <p:nvPicPr>
          <p:cNvPr id="53" name="Picture 52" descr="lock.png"/>
          <p:cNvPicPr>
            <a:picLocks noChangeAspect="1"/>
          </p:cNvPicPr>
          <p:nvPr/>
        </p:nvPicPr>
        <p:blipFill>
          <a:blip r:embed="rId4"/>
          <a:stretch>
            <a:fillRect/>
          </a:stretch>
        </p:blipFill>
        <p:spPr>
          <a:xfrm>
            <a:off x="2914504" y="4873053"/>
            <a:ext cx="134549" cy="195707"/>
          </a:xfrm>
          <a:prstGeom prst="rect">
            <a:avLst/>
          </a:prstGeom>
        </p:spPr>
      </p:pic>
      <p:sp>
        <p:nvSpPr>
          <p:cNvPr id="54" name="TextBox 53"/>
          <p:cNvSpPr txBox="1"/>
          <p:nvPr/>
        </p:nvSpPr>
        <p:spPr>
          <a:xfrm>
            <a:off x="3089613" y="488327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151765" y="4873053"/>
            <a:ext cx="134549" cy="195707"/>
          </a:xfrm>
          <a:prstGeom prst="rect">
            <a:avLst/>
          </a:prstGeom>
        </p:spPr>
      </p:pic>
      <p:sp>
        <p:nvSpPr>
          <p:cNvPr id="56" name="TextBox 55"/>
          <p:cNvSpPr txBox="1"/>
          <p:nvPr/>
        </p:nvSpPr>
        <p:spPr>
          <a:xfrm>
            <a:off x="3326874" y="4883276"/>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7" name="TextBox 56"/>
          <p:cNvSpPr txBox="1"/>
          <p:nvPr/>
        </p:nvSpPr>
        <p:spPr>
          <a:xfrm>
            <a:off x="6029325" y="3971925"/>
            <a:ext cx="1620849" cy="194310"/>
          </a:xfrm>
          <a:prstGeom prst="rect">
            <a:avLst/>
          </a:prstGeom>
          <a:noFill/>
        </p:spPr>
        <p:txBody>
          <a:bodyPr wrap="none" lIns="0" rIns="0" tIns="0" bIns="0">
            <a:spAutoFit/>
          </a:bodyPr>
          <a:lstStyle/>
          <a:p>
            <a:r>
              <a:rPr sz="1150" b="0">
                <a:solidFill>
                  <a:srgbClr val="2E2E2E"/>
                </a:solidFill>
                <a:latin typeface="Calibri"/>
              </a:rPr>
              <a:t>▪ 'Stick-based Sunscreen ×</a:t>
            </a:r>
          </a:p>
        </p:txBody>
      </p:sp>
      <p:sp>
        <p:nvSpPr>
          <p:cNvPr id="58" name="TextBox 57"/>
          <p:cNvSpPr txBox="1"/>
          <p:nvPr/>
        </p:nvSpPr>
        <p:spPr>
          <a:xfrm>
            <a:off x="6029325" y="4147185"/>
            <a:ext cx="1403709" cy="194310"/>
          </a:xfrm>
          <a:prstGeom prst="rect">
            <a:avLst/>
          </a:prstGeom>
          <a:noFill/>
        </p:spPr>
        <p:txBody>
          <a:bodyPr wrap="none" lIns="0" rIns="0" tIns="0" bIns="0">
            <a:spAutoFit/>
          </a:bodyPr>
          <a:lstStyle/>
          <a:p>
            <a:r>
              <a:rPr sz="1150" b="0">
                <a:solidFill>
                  <a:srgbClr val="2E2E2E"/>
                </a:solidFill>
                <a:latin typeface="Calibri"/>
              </a:rPr>
              <a:t>Facial Sunscreen' adds</a:t>
            </a:r>
          </a:p>
        </p:txBody>
      </p:sp>
      <p:pic>
        <p:nvPicPr>
          <p:cNvPr id="59" name="Picture 58" descr="lock.png"/>
          <p:cNvPicPr>
            <a:picLocks noChangeAspect="1"/>
          </p:cNvPicPr>
          <p:nvPr/>
        </p:nvPicPr>
        <p:blipFill>
          <a:blip r:embed="rId4"/>
          <a:stretch>
            <a:fillRect/>
          </a:stretch>
        </p:blipFill>
        <p:spPr>
          <a:xfrm>
            <a:off x="7382188" y="4136961"/>
            <a:ext cx="134549" cy="195707"/>
          </a:xfrm>
          <a:prstGeom prst="rect">
            <a:avLst/>
          </a:prstGeom>
        </p:spPr>
      </p:pic>
      <p:sp>
        <p:nvSpPr>
          <p:cNvPr id="60" name="TextBox 59"/>
          <p:cNvSpPr txBox="1"/>
          <p:nvPr/>
        </p:nvSpPr>
        <p:spPr>
          <a:xfrm>
            <a:off x="6029325" y="4322445"/>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1" name="Picture 60" descr="lock.png"/>
          <p:cNvPicPr>
            <a:picLocks noChangeAspect="1"/>
          </p:cNvPicPr>
          <p:nvPr/>
        </p:nvPicPr>
        <p:blipFill>
          <a:blip r:embed="rId4"/>
          <a:stretch>
            <a:fillRect/>
          </a:stretch>
        </p:blipFill>
        <p:spPr>
          <a:xfrm>
            <a:off x="7203111" y="4312221"/>
            <a:ext cx="134549" cy="195707"/>
          </a:xfrm>
          <a:prstGeom prst="rect">
            <a:avLst/>
          </a:prstGeom>
        </p:spPr>
      </p:pic>
      <p:sp>
        <p:nvSpPr>
          <p:cNvPr id="62" name="TextBox 61"/>
          <p:cNvSpPr txBox="1"/>
          <p:nvPr/>
        </p:nvSpPr>
        <p:spPr>
          <a:xfrm>
            <a:off x="7378220" y="4322445"/>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63" name="TextBox 62"/>
          <p:cNvSpPr txBox="1"/>
          <p:nvPr/>
        </p:nvSpPr>
        <p:spPr>
          <a:xfrm>
            <a:off x="6029325" y="4497704"/>
            <a:ext cx="1366403" cy="194310"/>
          </a:xfrm>
          <a:prstGeom prst="rect">
            <a:avLst/>
          </a:prstGeom>
          <a:noFill/>
        </p:spPr>
        <p:txBody>
          <a:bodyPr wrap="none" lIns="0" rIns="0" tIns="0" bIns="0">
            <a:spAutoFit/>
          </a:bodyPr>
          <a:lstStyle/>
          <a:p>
            <a:r>
              <a:rPr sz="1150" b="0">
                <a:solidFill>
                  <a:srgbClr val="2E2E2E"/>
                </a:solidFill>
                <a:latin typeface="Calibri"/>
              </a:rPr>
              <a:t>the total opportunity.</a:t>
            </a:r>
          </a:p>
        </p:txBody>
      </p:sp>
      <p:sp>
        <p:nvSpPr>
          <p:cNvPr id="64" name="TextBox 63"/>
          <p:cNvSpPr txBox="1"/>
          <p:nvPr/>
        </p:nvSpPr>
        <p:spPr>
          <a:xfrm>
            <a:off x="8124825" y="3971925"/>
            <a:ext cx="1657350" cy="194310"/>
          </a:xfrm>
          <a:prstGeom prst="rect">
            <a:avLst/>
          </a:prstGeom>
          <a:noFill/>
        </p:spPr>
        <p:txBody>
          <a:bodyPr wrap="none" lIns="0" rIns="0" tIns="0" bIns="0">
            <a:spAutoFit/>
          </a:bodyPr>
          <a:lstStyle/>
          <a:p>
            <a:r>
              <a:rPr sz="1150" b="0">
                <a:solidFill>
                  <a:srgbClr val="2E2E2E"/>
                </a:solidFill>
                <a:latin typeface="Calibri"/>
              </a:rPr>
              <a:t>▪ 'Cream-based Sunscreen ×</a:t>
            </a:r>
          </a:p>
        </p:txBody>
      </p:sp>
      <p:sp>
        <p:nvSpPr>
          <p:cNvPr id="65" name="TextBox 64"/>
          <p:cNvSpPr txBox="1"/>
          <p:nvPr/>
        </p:nvSpPr>
        <p:spPr>
          <a:xfrm>
            <a:off x="8124825" y="4147185"/>
            <a:ext cx="1490996" cy="194310"/>
          </a:xfrm>
          <a:prstGeom prst="rect">
            <a:avLst/>
          </a:prstGeom>
          <a:noFill/>
        </p:spPr>
        <p:txBody>
          <a:bodyPr wrap="none" lIns="0" rIns="0" tIns="0" bIns="0">
            <a:spAutoFit/>
          </a:bodyPr>
          <a:lstStyle/>
          <a:p>
            <a:r>
              <a:rPr sz="1150" b="0">
                <a:solidFill>
                  <a:srgbClr val="2E2E2E"/>
                </a:solidFill>
                <a:latin typeface="Calibri"/>
              </a:rPr>
              <a:t>Face &amp; Body Sunscreen'</a:t>
            </a:r>
          </a:p>
        </p:txBody>
      </p:sp>
      <p:sp>
        <p:nvSpPr>
          <p:cNvPr id="66" name="TextBox 65"/>
          <p:cNvSpPr txBox="1"/>
          <p:nvPr/>
        </p:nvSpPr>
        <p:spPr>
          <a:xfrm>
            <a:off x="8124825" y="4322445"/>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7" name="Picture 66" descr="lock.png"/>
          <p:cNvPicPr>
            <a:picLocks noChangeAspect="1"/>
          </p:cNvPicPr>
          <p:nvPr/>
        </p:nvPicPr>
        <p:blipFill>
          <a:blip r:embed="rId4"/>
          <a:stretch>
            <a:fillRect/>
          </a:stretch>
        </p:blipFill>
        <p:spPr>
          <a:xfrm>
            <a:off x="8763474" y="4312221"/>
            <a:ext cx="134549" cy="195707"/>
          </a:xfrm>
          <a:prstGeom prst="rect">
            <a:avLst/>
          </a:prstGeom>
        </p:spPr>
      </p:pic>
      <p:sp>
        <p:nvSpPr>
          <p:cNvPr id="68" name="TextBox 67"/>
          <p:cNvSpPr txBox="1"/>
          <p:nvPr/>
        </p:nvSpPr>
        <p:spPr>
          <a:xfrm>
            <a:off x="8938584" y="432244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9" name="Picture 68" descr="lock.png"/>
          <p:cNvPicPr>
            <a:picLocks noChangeAspect="1"/>
          </p:cNvPicPr>
          <p:nvPr/>
        </p:nvPicPr>
        <p:blipFill>
          <a:blip r:embed="rId4"/>
          <a:stretch>
            <a:fillRect/>
          </a:stretch>
        </p:blipFill>
        <p:spPr>
          <a:xfrm>
            <a:off x="9334179" y="4312221"/>
            <a:ext cx="134549" cy="195707"/>
          </a:xfrm>
          <a:prstGeom prst="rect">
            <a:avLst/>
          </a:prstGeom>
        </p:spPr>
      </p:pic>
      <p:sp>
        <p:nvSpPr>
          <p:cNvPr id="70" name="TextBox 69"/>
          <p:cNvSpPr txBox="1"/>
          <p:nvPr/>
        </p:nvSpPr>
        <p:spPr>
          <a:xfrm>
            <a:off x="8124825" y="4497704"/>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1" name="TextBox 70"/>
          <p:cNvSpPr txBox="1"/>
          <p:nvPr/>
        </p:nvSpPr>
        <p:spPr>
          <a:xfrm>
            <a:off x="8124825" y="467296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Pack Size × Price Tier</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Pack Size × Price Tier,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pack size sub-segment across price tier sub-segments</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Pack Size × Price Tier, 2026E and 2036F (US$ Mn)</a:t>
            </a:r>
          </a:p>
        </p:txBody>
      </p:sp>
      <p:graphicFrame>
        <p:nvGraphicFramePr>
          <p:cNvPr id="12" name="Table 11"/>
          <p:cNvGraphicFramePr>
            <a:graphicFrameLocks noGrp="1"/>
          </p:cNvGraphicFramePr>
          <p:nvPr/>
        </p:nvGraphicFramePr>
        <p:xfrm>
          <a:off x="152400" y="1238250"/>
          <a:ext cx="11887197" cy="1971675"/>
        </p:xfrm>
        <a:graphic>
          <a:graphicData uri="http://schemas.openxmlformats.org/drawingml/2006/table">
            <a:tbl>
              <a:tblPr>
                <a:tableStyleId>{5C22544A-7EE6-4342-B048-85BDC9FD1C3A}</a:tableStyleId>
              </a:tblPr>
              <a:tblGrid>
                <a:gridCol w="2652657"/>
                <a:gridCol w="923454"/>
                <a:gridCol w="923454"/>
                <a:gridCol w="923454"/>
                <a:gridCol w="923454"/>
                <a:gridCol w="923454"/>
                <a:gridCol w="923454"/>
                <a:gridCol w="923454"/>
                <a:gridCol w="923454"/>
                <a:gridCol w="923454"/>
                <a:gridCol w="923454"/>
              </a:tblGrid>
              <a:tr h="246126">
                <a:tc rowSpan="2">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Mass Market</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Masstige</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Premium</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Prestige / Luxury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7286625"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6099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Pack Size → Price Tier, 2036F (US$ Mn)</a:t>
            </a:r>
          </a:p>
        </p:txBody>
      </p:sp>
      <p:sp>
        <p:nvSpPr>
          <p:cNvPr id="16" name="Freeform 15"/>
          <p:cNvSpPr/>
          <p:nvPr/>
        </p:nvSpPr>
        <p:spPr>
          <a:xfrm>
            <a:off x="2057400" y="3876675"/>
            <a:ext cx="3743325" cy="447675"/>
          </a:xfrm>
          <a:custGeom>
            <a:avLst/>
            <a:gdLst/>
            <a:ahLst/>
            <a:cxnLst/>
            <a:rect l="l" t="t" r="r" b="b"/>
            <a:pathLst>
              <a:path w="393" h="47">
                <a:moveTo>
                  <a:pt x="0" y="0"/>
                </a:moveTo>
                <a:lnTo>
                  <a:pt x="16" y="0"/>
                </a:lnTo>
                <a:lnTo>
                  <a:pt x="33" y="0"/>
                </a:lnTo>
                <a:lnTo>
                  <a:pt x="49" y="0"/>
                </a:lnTo>
                <a:lnTo>
                  <a:pt x="65" y="0"/>
                </a:lnTo>
                <a:lnTo>
                  <a:pt x="82" y="0"/>
                </a:lnTo>
                <a:lnTo>
                  <a:pt x="98" y="0"/>
                </a:lnTo>
                <a:lnTo>
                  <a:pt x="114" y="1"/>
                </a:lnTo>
                <a:lnTo>
                  <a:pt x="131" y="1"/>
                </a:lnTo>
                <a:lnTo>
                  <a:pt x="147" y="1"/>
                </a:lnTo>
                <a:lnTo>
                  <a:pt x="164" y="1"/>
                </a:lnTo>
                <a:lnTo>
                  <a:pt x="180" y="1"/>
                </a:lnTo>
                <a:lnTo>
                  <a:pt x="196" y="1"/>
                </a:lnTo>
                <a:lnTo>
                  <a:pt x="213" y="2"/>
                </a:lnTo>
                <a:lnTo>
                  <a:pt x="229" y="2"/>
                </a:lnTo>
                <a:lnTo>
                  <a:pt x="246" y="2"/>
                </a:lnTo>
                <a:lnTo>
                  <a:pt x="262" y="2"/>
                </a:lnTo>
                <a:lnTo>
                  <a:pt x="278" y="2"/>
                </a:lnTo>
                <a:lnTo>
                  <a:pt x="295" y="3"/>
                </a:lnTo>
                <a:lnTo>
                  <a:pt x="311" y="3"/>
                </a:lnTo>
                <a:lnTo>
                  <a:pt x="327" y="3"/>
                </a:lnTo>
                <a:lnTo>
                  <a:pt x="344" y="3"/>
                </a:lnTo>
                <a:lnTo>
                  <a:pt x="360" y="3"/>
                </a:lnTo>
                <a:lnTo>
                  <a:pt x="377" y="3"/>
                </a:lnTo>
                <a:lnTo>
                  <a:pt x="393" y="3"/>
                </a:lnTo>
                <a:lnTo>
                  <a:pt x="393" y="47"/>
                </a:lnTo>
                <a:lnTo>
                  <a:pt x="377" y="47"/>
                </a:lnTo>
                <a:lnTo>
                  <a:pt x="360" y="47"/>
                </a:lnTo>
                <a:lnTo>
                  <a:pt x="344" y="47"/>
                </a:lnTo>
                <a:lnTo>
                  <a:pt x="327" y="47"/>
                </a:lnTo>
                <a:lnTo>
                  <a:pt x="311" y="47"/>
                </a:lnTo>
                <a:lnTo>
                  <a:pt x="295" y="47"/>
                </a:lnTo>
                <a:lnTo>
                  <a:pt x="278" y="47"/>
                </a:lnTo>
                <a:lnTo>
                  <a:pt x="262" y="47"/>
                </a:lnTo>
                <a:lnTo>
                  <a:pt x="246" y="47"/>
                </a:lnTo>
                <a:lnTo>
                  <a:pt x="229" y="46"/>
                </a:lnTo>
                <a:lnTo>
                  <a:pt x="213" y="46"/>
                </a:lnTo>
                <a:lnTo>
                  <a:pt x="196" y="46"/>
                </a:lnTo>
                <a:lnTo>
                  <a:pt x="180" y="46"/>
                </a:lnTo>
                <a:lnTo>
                  <a:pt x="164" y="46"/>
                </a:lnTo>
                <a:lnTo>
                  <a:pt x="147" y="45"/>
                </a:lnTo>
                <a:lnTo>
                  <a:pt x="131" y="45"/>
                </a:lnTo>
                <a:lnTo>
                  <a:pt x="114" y="45"/>
                </a:lnTo>
                <a:lnTo>
                  <a:pt x="98" y="45"/>
                </a:lnTo>
                <a:lnTo>
                  <a:pt x="82" y="45"/>
                </a:lnTo>
                <a:lnTo>
                  <a:pt x="65" y="45"/>
                </a:lnTo>
                <a:lnTo>
                  <a:pt x="49" y="45"/>
                </a:lnTo>
                <a:lnTo>
                  <a:pt x="33" y="45"/>
                </a:lnTo>
                <a:lnTo>
                  <a:pt x="16" y="44"/>
                </a:lnTo>
                <a:lnTo>
                  <a:pt x="0" y="44"/>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295775"/>
            <a:ext cx="3743325" cy="1409700"/>
          </a:xfrm>
          <a:custGeom>
            <a:avLst/>
            <a:gdLst/>
            <a:ahLst/>
            <a:cxnLst/>
            <a:rect l="l" t="t" r="r" b="b"/>
            <a:pathLst>
              <a:path w="393" h="148">
                <a:moveTo>
                  <a:pt x="0" y="0"/>
                </a:moveTo>
                <a:lnTo>
                  <a:pt x="16" y="1"/>
                </a:lnTo>
                <a:lnTo>
                  <a:pt x="33" y="3"/>
                </a:lnTo>
                <a:lnTo>
                  <a:pt x="49" y="6"/>
                </a:lnTo>
                <a:lnTo>
                  <a:pt x="65" y="11"/>
                </a:lnTo>
                <a:lnTo>
                  <a:pt x="82" y="16"/>
                </a:lnTo>
                <a:lnTo>
                  <a:pt x="98" y="22"/>
                </a:lnTo>
                <a:lnTo>
                  <a:pt x="114" y="28"/>
                </a:lnTo>
                <a:lnTo>
                  <a:pt x="131" y="36"/>
                </a:lnTo>
                <a:lnTo>
                  <a:pt x="147" y="43"/>
                </a:lnTo>
                <a:lnTo>
                  <a:pt x="164" y="52"/>
                </a:lnTo>
                <a:lnTo>
                  <a:pt x="180" y="60"/>
                </a:lnTo>
                <a:lnTo>
                  <a:pt x="196" y="68"/>
                </a:lnTo>
                <a:lnTo>
                  <a:pt x="213" y="77"/>
                </a:lnTo>
                <a:lnTo>
                  <a:pt x="229" y="85"/>
                </a:lnTo>
                <a:lnTo>
                  <a:pt x="246" y="93"/>
                </a:lnTo>
                <a:lnTo>
                  <a:pt x="262" y="101"/>
                </a:lnTo>
                <a:lnTo>
                  <a:pt x="278" y="108"/>
                </a:lnTo>
                <a:lnTo>
                  <a:pt x="295" y="115"/>
                </a:lnTo>
                <a:lnTo>
                  <a:pt x="311" y="121"/>
                </a:lnTo>
                <a:lnTo>
                  <a:pt x="327" y="126"/>
                </a:lnTo>
                <a:lnTo>
                  <a:pt x="344" y="131"/>
                </a:lnTo>
                <a:lnTo>
                  <a:pt x="360" y="134"/>
                </a:lnTo>
                <a:lnTo>
                  <a:pt x="377" y="136"/>
                </a:lnTo>
                <a:lnTo>
                  <a:pt x="393" y="136"/>
                </a:lnTo>
                <a:lnTo>
                  <a:pt x="393" y="148"/>
                </a:lnTo>
                <a:lnTo>
                  <a:pt x="377" y="147"/>
                </a:lnTo>
                <a:lnTo>
                  <a:pt x="360" y="145"/>
                </a:lnTo>
                <a:lnTo>
                  <a:pt x="344" y="142"/>
                </a:lnTo>
                <a:lnTo>
                  <a:pt x="327" y="138"/>
                </a:lnTo>
                <a:lnTo>
                  <a:pt x="311" y="132"/>
                </a:lnTo>
                <a:lnTo>
                  <a:pt x="295" y="126"/>
                </a:lnTo>
                <a:lnTo>
                  <a:pt x="278" y="120"/>
                </a:lnTo>
                <a:lnTo>
                  <a:pt x="262" y="112"/>
                </a:lnTo>
                <a:lnTo>
                  <a:pt x="246" y="105"/>
                </a:lnTo>
                <a:lnTo>
                  <a:pt x="229" y="96"/>
                </a:lnTo>
                <a:lnTo>
                  <a:pt x="213" y="88"/>
                </a:lnTo>
                <a:lnTo>
                  <a:pt x="196" y="80"/>
                </a:lnTo>
                <a:lnTo>
                  <a:pt x="180" y="71"/>
                </a:lnTo>
                <a:lnTo>
                  <a:pt x="164" y="63"/>
                </a:lnTo>
                <a:lnTo>
                  <a:pt x="147" y="55"/>
                </a:lnTo>
                <a:lnTo>
                  <a:pt x="131" y="47"/>
                </a:lnTo>
                <a:lnTo>
                  <a:pt x="114" y="40"/>
                </a:lnTo>
                <a:lnTo>
                  <a:pt x="98" y="33"/>
                </a:lnTo>
                <a:lnTo>
                  <a:pt x="82" y="27"/>
                </a:lnTo>
                <a:lnTo>
                  <a:pt x="65" y="22"/>
                </a:lnTo>
                <a:lnTo>
                  <a:pt x="49" y="17"/>
                </a:lnTo>
                <a:lnTo>
                  <a:pt x="33" y="14"/>
                </a:lnTo>
                <a:lnTo>
                  <a:pt x="16" y="12"/>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410075"/>
            <a:ext cx="3743325" cy="1666875"/>
          </a:xfrm>
          <a:custGeom>
            <a:avLst/>
            <a:gdLst/>
            <a:ahLst/>
            <a:cxnLst/>
            <a:rect l="l" t="t" r="r" b="b"/>
            <a:pathLst>
              <a:path w="393" h="175">
                <a:moveTo>
                  <a:pt x="0" y="0"/>
                </a:moveTo>
                <a:lnTo>
                  <a:pt x="16" y="0"/>
                </a:lnTo>
                <a:lnTo>
                  <a:pt x="33" y="3"/>
                </a:lnTo>
                <a:lnTo>
                  <a:pt x="49" y="7"/>
                </a:lnTo>
                <a:lnTo>
                  <a:pt x="65" y="12"/>
                </a:lnTo>
                <a:lnTo>
                  <a:pt x="82" y="18"/>
                </a:lnTo>
                <a:lnTo>
                  <a:pt x="98" y="26"/>
                </a:lnTo>
                <a:lnTo>
                  <a:pt x="114" y="34"/>
                </a:lnTo>
                <a:lnTo>
                  <a:pt x="131" y="43"/>
                </a:lnTo>
                <a:lnTo>
                  <a:pt x="147" y="52"/>
                </a:lnTo>
                <a:lnTo>
                  <a:pt x="164" y="62"/>
                </a:lnTo>
                <a:lnTo>
                  <a:pt x="180" y="72"/>
                </a:lnTo>
                <a:lnTo>
                  <a:pt x="196" y="83"/>
                </a:lnTo>
                <a:lnTo>
                  <a:pt x="213" y="93"/>
                </a:lnTo>
                <a:lnTo>
                  <a:pt x="229" y="103"/>
                </a:lnTo>
                <a:lnTo>
                  <a:pt x="246" y="113"/>
                </a:lnTo>
                <a:lnTo>
                  <a:pt x="262" y="122"/>
                </a:lnTo>
                <a:lnTo>
                  <a:pt x="278" y="131"/>
                </a:lnTo>
                <a:lnTo>
                  <a:pt x="295" y="140"/>
                </a:lnTo>
                <a:lnTo>
                  <a:pt x="311" y="147"/>
                </a:lnTo>
                <a:lnTo>
                  <a:pt x="327" y="153"/>
                </a:lnTo>
                <a:lnTo>
                  <a:pt x="344" y="158"/>
                </a:lnTo>
                <a:lnTo>
                  <a:pt x="360" y="162"/>
                </a:lnTo>
                <a:lnTo>
                  <a:pt x="377" y="165"/>
                </a:lnTo>
                <a:lnTo>
                  <a:pt x="393" y="165"/>
                </a:lnTo>
                <a:lnTo>
                  <a:pt x="393" y="175"/>
                </a:lnTo>
                <a:lnTo>
                  <a:pt x="377" y="174"/>
                </a:lnTo>
                <a:lnTo>
                  <a:pt x="360" y="172"/>
                </a:lnTo>
                <a:lnTo>
                  <a:pt x="344" y="168"/>
                </a:lnTo>
                <a:lnTo>
                  <a:pt x="327" y="163"/>
                </a:lnTo>
                <a:lnTo>
                  <a:pt x="311" y="156"/>
                </a:lnTo>
                <a:lnTo>
                  <a:pt x="295" y="149"/>
                </a:lnTo>
                <a:lnTo>
                  <a:pt x="278" y="141"/>
                </a:lnTo>
                <a:lnTo>
                  <a:pt x="262" y="132"/>
                </a:lnTo>
                <a:lnTo>
                  <a:pt x="246" y="122"/>
                </a:lnTo>
                <a:lnTo>
                  <a:pt x="229" y="113"/>
                </a:lnTo>
                <a:lnTo>
                  <a:pt x="213" y="102"/>
                </a:lnTo>
                <a:lnTo>
                  <a:pt x="196" y="92"/>
                </a:lnTo>
                <a:lnTo>
                  <a:pt x="180" y="82"/>
                </a:lnTo>
                <a:lnTo>
                  <a:pt x="164" y="71"/>
                </a:lnTo>
                <a:lnTo>
                  <a:pt x="147" y="62"/>
                </a:lnTo>
                <a:lnTo>
                  <a:pt x="131" y="52"/>
                </a:lnTo>
                <a:lnTo>
                  <a:pt x="114" y="43"/>
                </a:lnTo>
                <a:lnTo>
                  <a:pt x="98" y="35"/>
                </a:lnTo>
                <a:lnTo>
                  <a:pt x="82" y="28"/>
                </a:lnTo>
                <a:lnTo>
                  <a:pt x="65" y="21"/>
                </a:lnTo>
                <a:lnTo>
                  <a:pt x="49" y="16"/>
                </a:lnTo>
                <a:lnTo>
                  <a:pt x="33" y="12"/>
                </a:lnTo>
                <a:lnTo>
                  <a:pt x="16" y="10"/>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495800"/>
            <a:ext cx="3743325" cy="1876425"/>
          </a:xfrm>
          <a:custGeom>
            <a:avLst/>
            <a:gdLst/>
            <a:ahLst/>
            <a:cxnLst/>
            <a:rect l="l" t="t" r="r" b="b"/>
            <a:pathLst>
              <a:path w="393" h="197">
                <a:moveTo>
                  <a:pt x="0" y="0"/>
                </a:moveTo>
                <a:lnTo>
                  <a:pt x="16" y="1"/>
                </a:lnTo>
                <a:lnTo>
                  <a:pt x="33" y="4"/>
                </a:lnTo>
                <a:lnTo>
                  <a:pt x="49" y="8"/>
                </a:lnTo>
                <a:lnTo>
                  <a:pt x="65" y="14"/>
                </a:lnTo>
                <a:lnTo>
                  <a:pt x="82" y="22"/>
                </a:lnTo>
                <a:lnTo>
                  <a:pt x="98" y="30"/>
                </a:lnTo>
                <a:lnTo>
                  <a:pt x="114" y="39"/>
                </a:lnTo>
                <a:lnTo>
                  <a:pt x="131" y="50"/>
                </a:lnTo>
                <a:lnTo>
                  <a:pt x="147" y="61"/>
                </a:lnTo>
                <a:lnTo>
                  <a:pt x="164" y="72"/>
                </a:lnTo>
                <a:lnTo>
                  <a:pt x="180" y="84"/>
                </a:lnTo>
                <a:lnTo>
                  <a:pt x="196" y="96"/>
                </a:lnTo>
                <a:lnTo>
                  <a:pt x="213" y="108"/>
                </a:lnTo>
                <a:lnTo>
                  <a:pt x="229" y="119"/>
                </a:lnTo>
                <a:lnTo>
                  <a:pt x="246" y="131"/>
                </a:lnTo>
                <a:lnTo>
                  <a:pt x="262" y="142"/>
                </a:lnTo>
                <a:lnTo>
                  <a:pt x="278" y="152"/>
                </a:lnTo>
                <a:lnTo>
                  <a:pt x="295" y="161"/>
                </a:lnTo>
                <a:lnTo>
                  <a:pt x="311" y="170"/>
                </a:lnTo>
                <a:lnTo>
                  <a:pt x="327" y="177"/>
                </a:lnTo>
                <a:lnTo>
                  <a:pt x="344" y="183"/>
                </a:lnTo>
                <a:lnTo>
                  <a:pt x="360" y="187"/>
                </a:lnTo>
                <a:lnTo>
                  <a:pt x="377" y="190"/>
                </a:lnTo>
                <a:lnTo>
                  <a:pt x="393" y="191"/>
                </a:lnTo>
                <a:lnTo>
                  <a:pt x="393" y="197"/>
                </a:lnTo>
                <a:lnTo>
                  <a:pt x="377" y="196"/>
                </a:lnTo>
                <a:lnTo>
                  <a:pt x="360" y="193"/>
                </a:lnTo>
                <a:lnTo>
                  <a:pt x="344" y="189"/>
                </a:lnTo>
                <a:lnTo>
                  <a:pt x="327" y="183"/>
                </a:lnTo>
                <a:lnTo>
                  <a:pt x="311" y="175"/>
                </a:lnTo>
                <a:lnTo>
                  <a:pt x="295" y="167"/>
                </a:lnTo>
                <a:lnTo>
                  <a:pt x="278" y="157"/>
                </a:lnTo>
                <a:lnTo>
                  <a:pt x="262" y="147"/>
                </a:lnTo>
                <a:lnTo>
                  <a:pt x="246" y="136"/>
                </a:lnTo>
                <a:lnTo>
                  <a:pt x="229" y="125"/>
                </a:lnTo>
                <a:lnTo>
                  <a:pt x="213" y="113"/>
                </a:lnTo>
                <a:lnTo>
                  <a:pt x="196" y="101"/>
                </a:lnTo>
                <a:lnTo>
                  <a:pt x="180" y="89"/>
                </a:lnTo>
                <a:lnTo>
                  <a:pt x="164" y="78"/>
                </a:lnTo>
                <a:lnTo>
                  <a:pt x="147" y="66"/>
                </a:lnTo>
                <a:lnTo>
                  <a:pt x="131" y="55"/>
                </a:lnTo>
                <a:lnTo>
                  <a:pt x="114" y="45"/>
                </a:lnTo>
                <a:lnTo>
                  <a:pt x="98" y="36"/>
                </a:lnTo>
                <a:lnTo>
                  <a:pt x="82" y="27"/>
                </a:lnTo>
                <a:lnTo>
                  <a:pt x="65" y="20"/>
                </a:lnTo>
                <a:lnTo>
                  <a:pt x="49" y="14"/>
                </a:lnTo>
                <a:lnTo>
                  <a:pt x="33" y="9"/>
                </a:lnTo>
                <a:lnTo>
                  <a:pt x="16" y="7"/>
                </a:lnTo>
                <a:lnTo>
                  <a:pt x="0" y="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324350"/>
            <a:ext cx="3743325" cy="714375"/>
          </a:xfrm>
          <a:custGeom>
            <a:avLst/>
            <a:gdLst/>
            <a:ahLst/>
            <a:cxnLst/>
            <a:rect l="l" t="t" r="r" b="b"/>
            <a:pathLst>
              <a:path w="393" h="75">
                <a:moveTo>
                  <a:pt x="0" y="30"/>
                </a:moveTo>
                <a:lnTo>
                  <a:pt x="16" y="30"/>
                </a:lnTo>
                <a:lnTo>
                  <a:pt x="33" y="29"/>
                </a:lnTo>
                <a:lnTo>
                  <a:pt x="49" y="28"/>
                </a:lnTo>
                <a:lnTo>
                  <a:pt x="65" y="27"/>
                </a:lnTo>
                <a:lnTo>
                  <a:pt x="82" y="26"/>
                </a:lnTo>
                <a:lnTo>
                  <a:pt x="98" y="25"/>
                </a:lnTo>
                <a:lnTo>
                  <a:pt x="114" y="24"/>
                </a:lnTo>
                <a:lnTo>
                  <a:pt x="131" y="22"/>
                </a:lnTo>
                <a:lnTo>
                  <a:pt x="147" y="20"/>
                </a:lnTo>
                <a:lnTo>
                  <a:pt x="164" y="19"/>
                </a:lnTo>
                <a:lnTo>
                  <a:pt x="180" y="17"/>
                </a:lnTo>
                <a:lnTo>
                  <a:pt x="196" y="15"/>
                </a:lnTo>
                <a:lnTo>
                  <a:pt x="213" y="13"/>
                </a:lnTo>
                <a:lnTo>
                  <a:pt x="229" y="11"/>
                </a:lnTo>
                <a:lnTo>
                  <a:pt x="246" y="10"/>
                </a:lnTo>
                <a:lnTo>
                  <a:pt x="262" y="8"/>
                </a:lnTo>
                <a:lnTo>
                  <a:pt x="278" y="6"/>
                </a:lnTo>
                <a:lnTo>
                  <a:pt x="295" y="5"/>
                </a:lnTo>
                <a:lnTo>
                  <a:pt x="311" y="4"/>
                </a:lnTo>
                <a:lnTo>
                  <a:pt x="327" y="3"/>
                </a:lnTo>
                <a:lnTo>
                  <a:pt x="344" y="2"/>
                </a:lnTo>
                <a:lnTo>
                  <a:pt x="360" y="1"/>
                </a:lnTo>
                <a:lnTo>
                  <a:pt x="377" y="1"/>
                </a:lnTo>
                <a:lnTo>
                  <a:pt x="393" y="0"/>
                </a:lnTo>
                <a:lnTo>
                  <a:pt x="393" y="46"/>
                </a:lnTo>
                <a:lnTo>
                  <a:pt x="377" y="46"/>
                </a:lnTo>
                <a:lnTo>
                  <a:pt x="360" y="46"/>
                </a:lnTo>
                <a:lnTo>
                  <a:pt x="344" y="47"/>
                </a:lnTo>
                <a:lnTo>
                  <a:pt x="327" y="48"/>
                </a:lnTo>
                <a:lnTo>
                  <a:pt x="311" y="49"/>
                </a:lnTo>
                <a:lnTo>
                  <a:pt x="295" y="50"/>
                </a:lnTo>
                <a:lnTo>
                  <a:pt x="278" y="52"/>
                </a:lnTo>
                <a:lnTo>
                  <a:pt x="262" y="53"/>
                </a:lnTo>
                <a:lnTo>
                  <a:pt x="246" y="55"/>
                </a:lnTo>
                <a:lnTo>
                  <a:pt x="229" y="57"/>
                </a:lnTo>
                <a:lnTo>
                  <a:pt x="213" y="59"/>
                </a:lnTo>
                <a:lnTo>
                  <a:pt x="196" y="60"/>
                </a:lnTo>
                <a:lnTo>
                  <a:pt x="180" y="62"/>
                </a:lnTo>
                <a:lnTo>
                  <a:pt x="164" y="64"/>
                </a:lnTo>
                <a:lnTo>
                  <a:pt x="147" y="66"/>
                </a:lnTo>
                <a:lnTo>
                  <a:pt x="131" y="67"/>
                </a:lnTo>
                <a:lnTo>
                  <a:pt x="114" y="69"/>
                </a:lnTo>
                <a:lnTo>
                  <a:pt x="98" y="70"/>
                </a:lnTo>
                <a:lnTo>
                  <a:pt x="82" y="72"/>
                </a:lnTo>
                <a:lnTo>
                  <a:pt x="65" y="73"/>
                </a:lnTo>
                <a:lnTo>
                  <a:pt x="49" y="74"/>
                </a:lnTo>
                <a:lnTo>
                  <a:pt x="33" y="74"/>
                </a:lnTo>
                <a:lnTo>
                  <a:pt x="16" y="75"/>
                </a:lnTo>
                <a:lnTo>
                  <a:pt x="0" y="7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038725"/>
            <a:ext cx="3743325" cy="752475"/>
          </a:xfrm>
          <a:custGeom>
            <a:avLst/>
            <a:gdLst/>
            <a:ahLst/>
            <a:cxnLst/>
            <a:rect l="l" t="t" r="r" b="b"/>
            <a:pathLst>
              <a:path w="393" h="79">
                <a:moveTo>
                  <a:pt x="0" y="0"/>
                </a:moveTo>
                <a:lnTo>
                  <a:pt x="16" y="0"/>
                </a:lnTo>
                <a:lnTo>
                  <a:pt x="33" y="1"/>
                </a:lnTo>
                <a:lnTo>
                  <a:pt x="49" y="3"/>
                </a:lnTo>
                <a:lnTo>
                  <a:pt x="65" y="5"/>
                </a:lnTo>
                <a:lnTo>
                  <a:pt x="82" y="8"/>
                </a:lnTo>
                <a:lnTo>
                  <a:pt x="98" y="11"/>
                </a:lnTo>
                <a:lnTo>
                  <a:pt x="114" y="14"/>
                </a:lnTo>
                <a:lnTo>
                  <a:pt x="131" y="18"/>
                </a:lnTo>
                <a:lnTo>
                  <a:pt x="147" y="22"/>
                </a:lnTo>
                <a:lnTo>
                  <a:pt x="164" y="26"/>
                </a:lnTo>
                <a:lnTo>
                  <a:pt x="180" y="30"/>
                </a:lnTo>
                <a:lnTo>
                  <a:pt x="196" y="35"/>
                </a:lnTo>
                <a:lnTo>
                  <a:pt x="213" y="39"/>
                </a:lnTo>
                <a:lnTo>
                  <a:pt x="229" y="43"/>
                </a:lnTo>
                <a:lnTo>
                  <a:pt x="246" y="48"/>
                </a:lnTo>
                <a:lnTo>
                  <a:pt x="262" y="52"/>
                </a:lnTo>
                <a:lnTo>
                  <a:pt x="278" y="55"/>
                </a:lnTo>
                <a:lnTo>
                  <a:pt x="295" y="59"/>
                </a:lnTo>
                <a:lnTo>
                  <a:pt x="311" y="62"/>
                </a:lnTo>
                <a:lnTo>
                  <a:pt x="327" y="64"/>
                </a:lnTo>
                <a:lnTo>
                  <a:pt x="344" y="67"/>
                </a:lnTo>
                <a:lnTo>
                  <a:pt x="360" y="68"/>
                </a:lnTo>
                <a:lnTo>
                  <a:pt x="377" y="69"/>
                </a:lnTo>
                <a:lnTo>
                  <a:pt x="393" y="70"/>
                </a:lnTo>
                <a:lnTo>
                  <a:pt x="393" y="79"/>
                </a:lnTo>
                <a:lnTo>
                  <a:pt x="377" y="79"/>
                </a:lnTo>
                <a:lnTo>
                  <a:pt x="360" y="78"/>
                </a:lnTo>
                <a:lnTo>
                  <a:pt x="344" y="76"/>
                </a:lnTo>
                <a:lnTo>
                  <a:pt x="327" y="74"/>
                </a:lnTo>
                <a:lnTo>
                  <a:pt x="311" y="71"/>
                </a:lnTo>
                <a:lnTo>
                  <a:pt x="295" y="68"/>
                </a:lnTo>
                <a:lnTo>
                  <a:pt x="278" y="65"/>
                </a:lnTo>
                <a:lnTo>
                  <a:pt x="262" y="61"/>
                </a:lnTo>
                <a:lnTo>
                  <a:pt x="246" y="57"/>
                </a:lnTo>
                <a:lnTo>
                  <a:pt x="229" y="53"/>
                </a:lnTo>
                <a:lnTo>
                  <a:pt x="213" y="48"/>
                </a:lnTo>
                <a:lnTo>
                  <a:pt x="196" y="44"/>
                </a:lnTo>
                <a:lnTo>
                  <a:pt x="180" y="40"/>
                </a:lnTo>
                <a:lnTo>
                  <a:pt x="164" y="36"/>
                </a:lnTo>
                <a:lnTo>
                  <a:pt x="147" y="31"/>
                </a:lnTo>
                <a:lnTo>
                  <a:pt x="131" y="27"/>
                </a:lnTo>
                <a:lnTo>
                  <a:pt x="114" y="24"/>
                </a:lnTo>
                <a:lnTo>
                  <a:pt x="98" y="20"/>
                </a:lnTo>
                <a:lnTo>
                  <a:pt x="82" y="17"/>
                </a:lnTo>
                <a:lnTo>
                  <a:pt x="65" y="15"/>
                </a:lnTo>
                <a:lnTo>
                  <a:pt x="49" y="12"/>
                </a:lnTo>
                <a:lnTo>
                  <a:pt x="33" y="11"/>
                </a:lnTo>
                <a:lnTo>
                  <a:pt x="16" y="10"/>
                </a:lnTo>
                <a:lnTo>
                  <a:pt x="0" y="9"/>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124450"/>
            <a:ext cx="3743325" cy="1028700"/>
          </a:xfrm>
          <a:custGeom>
            <a:avLst/>
            <a:gdLst/>
            <a:ahLst/>
            <a:cxnLst/>
            <a:rect l="l" t="t" r="r" b="b"/>
            <a:pathLst>
              <a:path w="393" h="108">
                <a:moveTo>
                  <a:pt x="0" y="0"/>
                </a:moveTo>
                <a:lnTo>
                  <a:pt x="16" y="1"/>
                </a:lnTo>
                <a:lnTo>
                  <a:pt x="33" y="2"/>
                </a:lnTo>
                <a:lnTo>
                  <a:pt x="49" y="5"/>
                </a:lnTo>
                <a:lnTo>
                  <a:pt x="65" y="8"/>
                </a:lnTo>
                <a:lnTo>
                  <a:pt x="82" y="12"/>
                </a:lnTo>
                <a:lnTo>
                  <a:pt x="98" y="16"/>
                </a:lnTo>
                <a:lnTo>
                  <a:pt x="114" y="21"/>
                </a:lnTo>
                <a:lnTo>
                  <a:pt x="131" y="26"/>
                </a:lnTo>
                <a:lnTo>
                  <a:pt x="147" y="32"/>
                </a:lnTo>
                <a:lnTo>
                  <a:pt x="164" y="38"/>
                </a:lnTo>
                <a:lnTo>
                  <a:pt x="180" y="44"/>
                </a:lnTo>
                <a:lnTo>
                  <a:pt x="196" y="50"/>
                </a:lnTo>
                <a:lnTo>
                  <a:pt x="213" y="56"/>
                </a:lnTo>
                <a:lnTo>
                  <a:pt x="229" y="62"/>
                </a:lnTo>
                <a:lnTo>
                  <a:pt x="246" y="68"/>
                </a:lnTo>
                <a:lnTo>
                  <a:pt x="262" y="74"/>
                </a:lnTo>
                <a:lnTo>
                  <a:pt x="278" y="79"/>
                </a:lnTo>
                <a:lnTo>
                  <a:pt x="295" y="84"/>
                </a:lnTo>
                <a:lnTo>
                  <a:pt x="311" y="89"/>
                </a:lnTo>
                <a:lnTo>
                  <a:pt x="327" y="93"/>
                </a:lnTo>
                <a:lnTo>
                  <a:pt x="344" y="96"/>
                </a:lnTo>
                <a:lnTo>
                  <a:pt x="360" y="98"/>
                </a:lnTo>
                <a:lnTo>
                  <a:pt x="377" y="99"/>
                </a:lnTo>
                <a:lnTo>
                  <a:pt x="393" y="100"/>
                </a:lnTo>
                <a:lnTo>
                  <a:pt x="393" y="108"/>
                </a:lnTo>
                <a:lnTo>
                  <a:pt x="377" y="107"/>
                </a:lnTo>
                <a:lnTo>
                  <a:pt x="360" y="106"/>
                </a:lnTo>
                <a:lnTo>
                  <a:pt x="344" y="104"/>
                </a:lnTo>
                <a:lnTo>
                  <a:pt x="327" y="101"/>
                </a:lnTo>
                <a:lnTo>
                  <a:pt x="311" y="97"/>
                </a:lnTo>
                <a:lnTo>
                  <a:pt x="295" y="92"/>
                </a:lnTo>
                <a:lnTo>
                  <a:pt x="278" y="87"/>
                </a:lnTo>
                <a:lnTo>
                  <a:pt x="262" y="82"/>
                </a:lnTo>
                <a:lnTo>
                  <a:pt x="246" y="76"/>
                </a:lnTo>
                <a:lnTo>
                  <a:pt x="229" y="70"/>
                </a:lnTo>
                <a:lnTo>
                  <a:pt x="213" y="64"/>
                </a:lnTo>
                <a:lnTo>
                  <a:pt x="196" y="58"/>
                </a:lnTo>
                <a:lnTo>
                  <a:pt x="180" y="52"/>
                </a:lnTo>
                <a:lnTo>
                  <a:pt x="164" y="46"/>
                </a:lnTo>
                <a:lnTo>
                  <a:pt x="147" y="40"/>
                </a:lnTo>
                <a:lnTo>
                  <a:pt x="131" y="34"/>
                </a:lnTo>
                <a:lnTo>
                  <a:pt x="114" y="29"/>
                </a:lnTo>
                <a:lnTo>
                  <a:pt x="98" y="24"/>
                </a:lnTo>
                <a:lnTo>
                  <a:pt x="82" y="20"/>
                </a:lnTo>
                <a:lnTo>
                  <a:pt x="65" y="16"/>
                </a:lnTo>
                <a:lnTo>
                  <a:pt x="49" y="13"/>
                </a:lnTo>
                <a:lnTo>
                  <a:pt x="33" y="10"/>
                </a:lnTo>
                <a:lnTo>
                  <a:pt x="16" y="9"/>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200650"/>
            <a:ext cx="3743325" cy="1228725"/>
          </a:xfrm>
          <a:custGeom>
            <a:avLst/>
            <a:gdLst/>
            <a:ahLst/>
            <a:cxnLst/>
            <a:rect l="l" t="t" r="r" b="b"/>
            <a:pathLst>
              <a:path w="393" h="129">
                <a:moveTo>
                  <a:pt x="0" y="0"/>
                </a:moveTo>
                <a:lnTo>
                  <a:pt x="16" y="1"/>
                </a:lnTo>
                <a:lnTo>
                  <a:pt x="33" y="3"/>
                </a:lnTo>
                <a:lnTo>
                  <a:pt x="49" y="6"/>
                </a:lnTo>
                <a:lnTo>
                  <a:pt x="65" y="9"/>
                </a:lnTo>
                <a:lnTo>
                  <a:pt x="82" y="14"/>
                </a:lnTo>
                <a:lnTo>
                  <a:pt x="98" y="19"/>
                </a:lnTo>
                <a:lnTo>
                  <a:pt x="114" y="26"/>
                </a:lnTo>
                <a:lnTo>
                  <a:pt x="131" y="32"/>
                </a:lnTo>
                <a:lnTo>
                  <a:pt x="147" y="39"/>
                </a:lnTo>
                <a:lnTo>
                  <a:pt x="164" y="46"/>
                </a:lnTo>
                <a:lnTo>
                  <a:pt x="180" y="54"/>
                </a:lnTo>
                <a:lnTo>
                  <a:pt x="196" y="62"/>
                </a:lnTo>
                <a:lnTo>
                  <a:pt x="213" y="69"/>
                </a:lnTo>
                <a:lnTo>
                  <a:pt x="229" y="77"/>
                </a:lnTo>
                <a:lnTo>
                  <a:pt x="246" y="84"/>
                </a:lnTo>
                <a:lnTo>
                  <a:pt x="262" y="91"/>
                </a:lnTo>
                <a:lnTo>
                  <a:pt x="278" y="98"/>
                </a:lnTo>
                <a:lnTo>
                  <a:pt x="295" y="104"/>
                </a:lnTo>
                <a:lnTo>
                  <a:pt x="311" y="109"/>
                </a:lnTo>
                <a:lnTo>
                  <a:pt x="327" y="114"/>
                </a:lnTo>
                <a:lnTo>
                  <a:pt x="344" y="118"/>
                </a:lnTo>
                <a:lnTo>
                  <a:pt x="360" y="120"/>
                </a:lnTo>
                <a:lnTo>
                  <a:pt x="377" y="122"/>
                </a:lnTo>
                <a:lnTo>
                  <a:pt x="393" y="123"/>
                </a:lnTo>
                <a:lnTo>
                  <a:pt x="393" y="129"/>
                </a:lnTo>
                <a:lnTo>
                  <a:pt x="377" y="128"/>
                </a:lnTo>
                <a:lnTo>
                  <a:pt x="360" y="127"/>
                </a:lnTo>
                <a:lnTo>
                  <a:pt x="344" y="124"/>
                </a:lnTo>
                <a:lnTo>
                  <a:pt x="327" y="120"/>
                </a:lnTo>
                <a:lnTo>
                  <a:pt x="311" y="115"/>
                </a:lnTo>
                <a:lnTo>
                  <a:pt x="295" y="110"/>
                </a:lnTo>
                <a:lnTo>
                  <a:pt x="278" y="104"/>
                </a:lnTo>
                <a:lnTo>
                  <a:pt x="262" y="97"/>
                </a:lnTo>
                <a:lnTo>
                  <a:pt x="246" y="90"/>
                </a:lnTo>
                <a:lnTo>
                  <a:pt x="229" y="83"/>
                </a:lnTo>
                <a:lnTo>
                  <a:pt x="213" y="75"/>
                </a:lnTo>
                <a:lnTo>
                  <a:pt x="196" y="68"/>
                </a:lnTo>
                <a:lnTo>
                  <a:pt x="180" y="60"/>
                </a:lnTo>
                <a:lnTo>
                  <a:pt x="164" y="53"/>
                </a:lnTo>
                <a:lnTo>
                  <a:pt x="147" y="45"/>
                </a:lnTo>
                <a:lnTo>
                  <a:pt x="131" y="38"/>
                </a:lnTo>
                <a:lnTo>
                  <a:pt x="114" y="32"/>
                </a:lnTo>
                <a:lnTo>
                  <a:pt x="98" y="26"/>
                </a:lnTo>
                <a:lnTo>
                  <a:pt x="82" y="20"/>
                </a:lnTo>
                <a:lnTo>
                  <a:pt x="65" y="16"/>
                </a:lnTo>
                <a:lnTo>
                  <a:pt x="49" y="12"/>
                </a:lnTo>
                <a:lnTo>
                  <a:pt x="33" y="9"/>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762500"/>
            <a:ext cx="3743325" cy="952500"/>
          </a:xfrm>
          <a:custGeom>
            <a:avLst/>
            <a:gdLst/>
            <a:ahLst/>
            <a:cxnLst/>
            <a:rect l="l" t="t" r="r" b="b"/>
            <a:pathLst>
              <a:path w="393" h="100">
                <a:moveTo>
                  <a:pt x="0" y="59"/>
                </a:moveTo>
                <a:lnTo>
                  <a:pt x="16" y="58"/>
                </a:lnTo>
                <a:lnTo>
                  <a:pt x="33" y="57"/>
                </a:lnTo>
                <a:lnTo>
                  <a:pt x="49" y="56"/>
                </a:lnTo>
                <a:lnTo>
                  <a:pt x="65" y="54"/>
                </a:lnTo>
                <a:lnTo>
                  <a:pt x="82" y="52"/>
                </a:lnTo>
                <a:lnTo>
                  <a:pt x="98" y="49"/>
                </a:lnTo>
                <a:lnTo>
                  <a:pt x="114" y="46"/>
                </a:lnTo>
                <a:lnTo>
                  <a:pt x="131" y="43"/>
                </a:lnTo>
                <a:lnTo>
                  <a:pt x="147" y="40"/>
                </a:lnTo>
                <a:lnTo>
                  <a:pt x="164" y="36"/>
                </a:lnTo>
                <a:lnTo>
                  <a:pt x="180" y="33"/>
                </a:lnTo>
                <a:lnTo>
                  <a:pt x="196" y="29"/>
                </a:lnTo>
                <a:lnTo>
                  <a:pt x="213" y="26"/>
                </a:lnTo>
                <a:lnTo>
                  <a:pt x="229" y="22"/>
                </a:lnTo>
                <a:lnTo>
                  <a:pt x="246" y="18"/>
                </a:lnTo>
                <a:lnTo>
                  <a:pt x="262" y="15"/>
                </a:lnTo>
                <a:lnTo>
                  <a:pt x="278" y="12"/>
                </a:lnTo>
                <a:lnTo>
                  <a:pt x="295" y="9"/>
                </a:lnTo>
                <a:lnTo>
                  <a:pt x="311" y="6"/>
                </a:lnTo>
                <a:lnTo>
                  <a:pt x="327" y="4"/>
                </a:lnTo>
                <a:lnTo>
                  <a:pt x="344" y="2"/>
                </a:lnTo>
                <a:lnTo>
                  <a:pt x="360" y="1"/>
                </a:lnTo>
                <a:lnTo>
                  <a:pt x="377" y="0"/>
                </a:lnTo>
                <a:lnTo>
                  <a:pt x="393" y="0"/>
                </a:lnTo>
                <a:lnTo>
                  <a:pt x="393" y="42"/>
                </a:lnTo>
                <a:lnTo>
                  <a:pt x="377" y="42"/>
                </a:lnTo>
                <a:lnTo>
                  <a:pt x="360" y="43"/>
                </a:lnTo>
                <a:lnTo>
                  <a:pt x="344" y="44"/>
                </a:lnTo>
                <a:lnTo>
                  <a:pt x="327" y="46"/>
                </a:lnTo>
                <a:lnTo>
                  <a:pt x="311" y="48"/>
                </a:lnTo>
                <a:lnTo>
                  <a:pt x="295" y="51"/>
                </a:lnTo>
                <a:lnTo>
                  <a:pt x="278" y="54"/>
                </a:lnTo>
                <a:lnTo>
                  <a:pt x="262" y="57"/>
                </a:lnTo>
                <a:lnTo>
                  <a:pt x="246" y="60"/>
                </a:lnTo>
                <a:lnTo>
                  <a:pt x="229" y="64"/>
                </a:lnTo>
                <a:lnTo>
                  <a:pt x="213" y="67"/>
                </a:lnTo>
                <a:lnTo>
                  <a:pt x="196" y="71"/>
                </a:lnTo>
                <a:lnTo>
                  <a:pt x="180" y="75"/>
                </a:lnTo>
                <a:lnTo>
                  <a:pt x="164" y="78"/>
                </a:lnTo>
                <a:lnTo>
                  <a:pt x="147" y="82"/>
                </a:lnTo>
                <a:lnTo>
                  <a:pt x="131" y="85"/>
                </a:lnTo>
                <a:lnTo>
                  <a:pt x="114" y="88"/>
                </a:lnTo>
                <a:lnTo>
                  <a:pt x="98" y="91"/>
                </a:lnTo>
                <a:lnTo>
                  <a:pt x="82" y="94"/>
                </a:lnTo>
                <a:lnTo>
                  <a:pt x="65" y="96"/>
                </a:lnTo>
                <a:lnTo>
                  <a:pt x="49" y="98"/>
                </a:lnTo>
                <a:lnTo>
                  <a:pt x="33" y="99"/>
                </a:lnTo>
                <a:lnTo>
                  <a:pt x="16" y="100"/>
                </a:lnTo>
                <a:lnTo>
                  <a:pt x="0" y="10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715000"/>
            <a:ext cx="3743325" cy="142875"/>
          </a:xfrm>
          <a:custGeom>
            <a:avLst/>
            <a:gdLst/>
            <a:ahLst/>
            <a:cxnLst/>
            <a:rect l="l" t="t" r="r" b="b"/>
            <a:pathLst>
              <a:path w="393" h="15">
                <a:moveTo>
                  <a:pt x="0" y="0"/>
                </a:moveTo>
                <a:lnTo>
                  <a:pt x="16" y="0"/>
                </a:lnTo>
                <a:lnTo>
                  <a:pt x="33" y="1"/>
                </a:lnTo>
                <a:lnTo>
                  <a:pt x="49" y="1"/>
                </a:lnTo>
                <a:lnTo>
                  <a:pt x="65" y="1"/>
                </a:lnTo>
                <a:lnTo>
                  <a:pt x="82" y="1"/>
                </a:lnTo>
                <a:lnTo>
                  <a:pt x="98" y="2"/>
                </a:lnTo>
                <a:lnTo>
                  <a:pt x="114" y="2"/>
                </a:lnTo>
                <a:lnTo>
                  <a:pt x="131" y="2"/>
                </a:lnTo>
                <a:lnTo>
                  <a:pt x="147" y="3"/>
                </a:lnTo>
                <a:lnTo>
                  <a:pt x="164" y="3"/>
                </a:lnTo>
                <a:lnTo>
                  <a:pt x="180" y="4"/>
                </a:lnTo>
                <a:lnTo>
                  <a:pt x="196" y="4"/>
                </a:lnTo>
                <a:lnTo>
                  <a:pt x="213" y="5"/>
                </a:lnTo>
                <a:lnTo>
                  <a:pt x="229" y="5"/>
                </a:lnTo>
                <a:lnTo>
                  <a:pt x="246" y="6"/>
                </a:lnTo>
                <a:lnTo>
                  <a:pt x="262" y="6"/>
                </a:lnTo>
                <a:lnTo>
                  <a:pt x="278" y="6"/>
                </a:lnTo>
                <a:lnTo>
                  <a:pt x="295" y="7"/>
                </a:lnTo>
                <a:lnTo>
                  <a:pt x="311" y="7"/>
                </a:lnTo>
                <a:lnTo>
                  <a:pt x="327" y="7"/>
                </a:lnTo>
                <a:lnTo>
                  <a:pt x="344" y="8"/>
                </a:lnTo>
                <a:lnTo>
                  <a:pt x="360" y="8"/>
                </a:lnTo>
                <a:lnTo>
                  <a:pt x="377" y="8"/>
                </a:lnTo>
                <a:lnTo>
                  <a:pt x="393" y="8"/>
                </a:lnTo>
                <a:lnTo>
                  <a:pt x="393" y="15"/>
                </a:lnTo>
                <a:lnTo>
                  <a:pt x="377" y="14"/>
                </a:lnTo>
                <a:lnTo>
                  <a:pt x="360" y="14"/>
                </a:lnTo>
                <a:lnTo>
                  <a:pt x="344" y="14"/>
                </a:lnTo>
                <a:lnTo>
                  <a:pt x="327" y="14"/>
                </a:lnTo>
                <a:lnTo>
                  <a:pt x="311" y="14"/>
                </a:lnTo>
                <a:lnTo>
                  <a:pt x="295" y="13"/>
                </a:lnTo>
                <a:lnTo>
                  <a:pt x="278" y="13"/>
                </a:lnTo>
                <a:lnTo>
                  <a:pt x="262" y="13"/>
                </a:lnTo>
                <a:lnTo>
                  <a:pt x="246" y="12"/>
                </a:lnTo>
                <a:lnTo>
                  <a:pt x="229" y="12"/>
                </a:lnTo>
                <a:lnTo>
                  <a:pt x="213" y="11"/>
                </a:lnTo>
                <a:lnTo>
                  <a:pt x="196" y="11"/>
                </a:lnTo>
                <a:lnTo>
                  <a:pt x="180" y="10"/>
                </a:lnTo>
                <a:lnTo>
                  <a:pt x="164" y="10"/>
                </a:lnTo>
                <a:lnTo>
                  <a:pt x="147" y="9"/>
                </a:lnTo>
                <a:lnTo>
                  <a:pt x="131" y="9"/>
                </a:lnTo>
                <a:lnTo>
                  <a:pt x="114" y="9"/>
                </a:lnTo>
                <a:lnTo>
                  <a:pt x="98" y="8"/>
                </a:lnTo>
                <a:lnTo>
                  <a:pt x="82" y="8"/>
                </a:lnTo>
                <a:lnTo>
                  <a:pt x="65" y="8"/>
                </a:lnTo>
                <a:lnTo>
                  <a:pt x="49" y="7"/>
                </a:lnTo>
                <a:lnTo>
                  <a:pt x="33" y="7"/>
                </a:lnTo>
                <a:lnTo>
                  <a:pt x="16" y="7"/>
                </a:lnTo>
                <a:lnTo>
                  <a:pt x="0" y="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781675"/>
            <a:ext cx="3743325" cy="428625"/>
          </a:xfrm>
          <a:custGeom>
            <a:avLst/>
            <a:gdLst/>
            <a:ahLst/>
            <a:cxnLst/>
            <a:rect l="l" t="t" r="r" b="b"/>
            <a:pathLst>
              <a:path w="393" h="45">
                <a:moveTo>
                  <a:pt x="0" y="0"/>
                </a:moveTo>
                <a:lnTo>
                  <a:pt x="16" y="0"/>
                </a:lnTo>
                <a:lnTo>
                  <a:pt x="33" y="1"/>
                </a:lnTo>
                <a:lnTo>
                  <a:pt x="49" y="2"/>
                </a:lnTo>
                <a:lnTo>
                  <a:pt x="65" y="3"/>
                </a:lnTo>
                <a:lnTo>
                  <a:pt x="82" y="4"/>
                </a:lnTo>
                <a:lnTo>
                  <a:pt x="98" y="6"/>
                </a:lnTo>
                <a:lnTo>
                  <a:pt x="114" y="8"/>
                </a:lnTo>
                <a:lnTo>
                  <a:pt x="131" y="10"/>
                </a:lnTo>
                <a:lnTo>
                  <a:pt x="147" y="12"/>
                </a:lnTo>
                <a:lnTo>
                  <a:pt x="164" y="15"/>
                </a:lnTo>
                <a:lnTo>
                  <a:pt x="180" y="17"/>
                </a:lnTo>
                <a:lnTo>
                  <a:pt x="196" y="19"/>
                </a:lnTo>
                <a:lnTo>
                  <a:pt x="213" y="22"/>
                </a:lnTo>
                <a:lnTo>
                  <a:pt x="229" y="24"/>
                </a:lnTo>
                <a:lnTo>
                  <a:pt x="246" y="27"/>
                </a:lnTo>
                <a:lnTo>
                  <a:pt x="262" y="29"/>
                </a:lnTo>
                <a:lnTo>
                  <a:pt x="278" y="31"/>
                </a:lnTo>
                <a:lnTo>
                  <a:pt x="295" y="33"/>
                </a:lnTo>
                <a:lnTo>
                  <a:pt x="311" y="35"/>
                </a:lnTo>
                <a:lnTo>
                  <a:pt x="327" y="36"/>
                </a:lnTo>
                <a:lnTo>
                  <a:pt x="344" y="37"/>
                </a:lnTo>
                <a:lnTo>
                  <a:pt x="360" y="38"/>
                </a:lnTo>
                <a:lnTo>
                  <a:pt x="377" y="39"/>
                </a:lnTo>
                <a:lnTo>
                  <a:pt x="393" y="39"/>
                </a:lnTo>
                <a:lnTo>
                  <a:pt x="393" y="45"/>
                </a:lnTo>
                <a:lnTo>
                  <a:pt x="377" y="44"/>
                </a:lnTo>
                <a:lnTo>
                  <a:pt x="360" y="44"/>
                </a:lnTo>
                <a:lnTo>
                  <a:pt x="344" y="43"/>
                </a:lnTo>
                <a:lnTo>
                  <a:pt x="327" y="42"/>
                </a:lnTo>
                <a:lnTo>
                  <a:pt x="311" y="40"/>
                </a:lnTo>
                <a:lnTo>
                  <a:pt x="295" y="39"/>
                </a:lnTo>
                <a:lnTo>
                  <a:pt x="278" y="37"/>
                </a:lnTo>
                <a:lnTo>
                  <a:pt x="262" y="35"/>
                </a:lnTo>
                <a:lnTo>
                  <a:pt x="246" y="32"/>
                </a:lnTo>
                <a:lnTo>
                  <a:pt x="229" y="30"/>
                </a:lnTo>
                <a:lnTo>
                  <a:pt x="213" y="28"/>
                </a:lnTo>
                <a:lnTo>
                  <a:pt x="196" y="25"/>
                </a:lnTo>
                <a:lnTo>
                  <a:pt x="180" y="23"/>
                </a:lnTo>
                <a:lnTo>
                  <a:pt x="164" y="20"/>
                </a:lnTo>
                <a:lnTo>
                  <a:pt x="147" y="18"/>
                </a:lnTo>
                <a:lnTo>
                  <a:pt x="131" y="16"/>
                </a:lnTo>
                <a:lnTo>
                  <a:pt x="114" y="14"/>
                </a:lnTo>
                <a:lnTo>
                  <a:pt x="98" y="12"/>
                </a:lnTo>
                <a:lnTo>
                  <a:pt x="82" y="10"/>
                </a:lnTo>
                <a:lnTo>
                  <a:pt x="65" y="9"/>
                </a:lnTo>
                <a:lnTo>
                  <a:pt x="49" y="7"/>
                </a:lnTo>
                <a:lnTo>
                  <a:pt x="33" y="6"/>
                </a:lnTo>
                <a:lnTo>
                  <a:pt x="16" y="6"/>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838825"/>
            <a:ext cx="3743325" cy="638175"/>
          </a:xfrm>
          <a:custGeom>
            <a:avLst/>
            <a:gdLst/>
            <a:ahLst/>
            <a:cxnLst/>
            <a:rect l="l" t="t" r="r" b="b"/>
            <a:pathLst>
              <a:path w="393" h="67">
                <a:moveTo>
                  <a:pt x="0" y="0"/>
                </a:moveTo>
                <a:lnTo>
                  <a:pt x="16" y="0"/>
                </a:lnTo>
                <a:lnTo>
                  <a:pt x="33" y="1"/>
                </a:lnTo>
                <a:lnTo>
                  <a:pt x="49" y="2"/>
                </a:lnTo>
                <a:lnTo>
                  <a:pt x="65" y="4"/>
                </a:lnTo>
                <a:lnTo>
                  <a:pt x="82" y="7"/>
                </a:lnTo>
                <a:lnTo>
                  <a:pt x="98" y="9"/>
                </a:lnTo>
                <a:lnTo>
                  <a:pt x="114" y="12"/>
                </a:lnTo>
                <a:lnTo>
                  <a:pt x="131" y="16"/>
                </a:lnTo>
                <a:lnTo>
                  <a:pt x="147" y="19"/>
                </a:lnTo>
                <a:lnTo>
                  <a:pt x="164" y="23"/>
                </a:lnTo>
                <a:lnTo>
                  <a:pt x="180" y="27"/>
                </a:lnTo>
                <a:lnTo>
                  <a:pt x="196" y="31"/>
                </a:lnTo>
                <a:lnTo>
                  <a:pt x="213" y="35"/>
                </a:lnTo>
                <a:lnTo>
                  <a:pt x="229" y="39"/>
                </a:lnTo>
                <a:lnTo>
                  <a:pt x="246" y="42"/>
                </a:lnTo>
                <a:lnTo>
                  <a:pt x="262" y="46"/>
                </a:lnTo>
                <a:lnTo>
                  <a:pt x="278" y="49"/>
                </a:lnTo>
                <a:lnTo>
                  <a:pt x="295" y="52"/>
                </a:lnTo>
                <a:lnTo>
                  <a:pt x="311" y="55"/>
                </a:lnTo>
                <a:lnTo>
                  <a:pt x="327" y="57"/>
                </a:lnTo>
                <a:lnTo>
                  <a:pt x="344" y="59"/>
                </a:lnTo>
                <a:lnTo>
                  <a:pt x="360" y="61"/>
                </a:lnTo>
                <a:lnTo>
                  <a:pt x="377" y="62"/>
                </a:lnTo>
                <a:lnTo>
                  <a:pt x="393" y="62"/>
                </a:lnTo>
                <a:lnTo>
                  <a:pt x="393" y="67"/>
                </a:lnTo>
                <a:lnTo>
                  <a:pt x="377" y="66"/>
                </a:lnTo>
                <a:lnTo>
                  <a:pt x="360" y="65"/>
                </a:lnTo>
                <a:lnTo>
                  <a:pt x="344" y="64"/>
                </a:lnTo>
                <a:lnTo>
                  <a:pt x="327" y="62"/>
                </a:lnTo>
                <a:lnTo>
                  <a:pt x="311" y="60"/>
                </a:lnTo>
                <a:lnTo>
                  <a:pt x="295" y="57"/>
                </a:lnTo>
                <a:lnTo>
                  <a:pt x="278" y="54"/>
                </a:lnTo>
                <a:lnTo>
                  <a:pt x="262" y="50"/>
                </a:lnTo>
                <a:lnTo>
                  <a:pt x="246" y="47"/>
                </a:lnTo>
                <a:lnTo>
                  <a:pt x="229" y="43"/>
                </a:lnTo>
                <a:lnTo>
                  <a:pt x="213" y="39"/>
                </a:lnTo>
                <a:lnTo>
                  <a:pt x="196" y="35"/>
                </a:lnTo>
                <a:lnTo>
                  <a:pt x="180" y="32"/>
                </a:lnTo>
                <a:lnTo>
                  <a:pt x="164" y="28"/>
                </a:lnTo>
                <a:lnTo>
                  <a:pt x="147" y="24"/>
                </a:lnTo>
                <a:lnTo>
                  <a:pt x="131" y="20"/>
                </a:lnTo>
                <a:lnTo>
                  <a:pt x="114" y="17"/>
                </a:lnTo>
                <a:lnTo>
                  <a:pt x="98" y="14"/>
                </a:lnTo>
                <a:lnTo>
                  <a:pt x="82" y="11"/>
                </a:lnTo>
                <a:lnTo>
                  <a:pt x="65" y="9"/>
                </a:lnTo>
                <a:lnTo>
                  <a:pt x="49" y="7"/>
                </a:lnTo>
                <a:lnTo>
                  <a:pt x="33" y="6"/>
                </a:lnTo>
                <a:lnTo>
                  <a:pt x="16" y="5"/>
                </a:lnTo>
                <a:lnTo>
                  <a:pt x="0" y="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5162550"/>
            <a:ext cx="3743325" cy="1066800"/>
          </a:xfrm>
          <a:custGeom>
            <a:avLst/>
            <a:gdLst/>
            <a:ahLst/>
            <a:cxnLst/>
            <a:rect l="l" t="t" r="r" b="b"/>
            <a:pathLst>
              <a:path w="393" h="112">
                <a:moveTo>
                  <a:pt x="0" y="81"/>
                </a:moveTo>
                <a:lnTo>
                  <a:pt x="16" y="81"/>
                </a:lnTo>
                <a:lnTo>
                  <a:pt x="33" y="80"/>
                </a:lnTo>
                <a:lnTo>
                  <a:pt x="49" y="78"/>
                </a:lnTo>
                <a:lnTo>
                  <a:pt x="65" y="75"/>
                </a:lnTo>
                <a:lnTo>
                  <a:pt x="82" y="72"/>
                </a:lnTo>
                <a:lnTo>
                  <a:pt x="98" y="69"/>
                </a:lnTo>
                <a:lnTo>
                  <a:pt x="114" y="65"/>
                </a:lnTo>
                <a:lnTo>
                  <a:pt x="131" y="60"/>
                </a:lnTo>
                <a:lnTo>
                  <a:pt x="147" y="56"/>
                </a:lnTo>
                <a:lnTo>
                  <a:pt x="164" y="51"/>
                </a:lnTo>
                <a:lnTo>
                  <a:pt x="180" y="46"/>
                </a:lnTo>
                <a:lnTo>
                  <a:pt x="196" y="41"/>
                </a:lnTo>
                <a:lnTo>
                  <a:pt x="213" y="35"/>
                </a:lnTo>
                <a:lnTo>
                  <a:pt x="229" y="30"/>
                </a:lnTo>
                <a:lnTo>
                  <a:pt x="246" y="26"/>
                </a:lnTo>
                <a:lnTo>
                  <a:pt x="262" y="21"/>
                </a:lnTo>
                <a:lnTo>
                  <a:pt x="278" y="17"/>
                </a:lnTo>
                <a:lnTo>
                  <a:pt x="295" y="12"/>
                </a:lnTo>
                <a:lnTo>
                  <a:pt x="311" y="9"/>
                </a:lnTo>
                <a:lnTo>
                  <a:pt x="327" y="6"/>
                </a:lnTo>
                <a:lnTo>
                  <a:pt x="344" y="3"/>
                </a:lnTo>
                <a:lnTo>
                  <a:pt x="360" y="1"/>
                </a:lnTo>
                <a:lnTo>
                  <a:pt x="377" y="0"/>
                </a:lnTo>
                <a:lnTo>
                  <a:pt x="393" y="0"/>
                </a:lnTo>
                <a:lnTo>
                  <a:pt x="393" y="30"/>
                </a:lnTo>
                <a:lnTo>
                  <a:pt x="377" y="31"/>
                </a:lnTo>
                <a:lnTo>
                  <a:pt x="360" y="32"/>
                </a:lnTo>
                <a:lnTo>
                  <a:pt x="344" y="34"/>
                </a:lnTo>
                <a:lnTo>
                  <a:pt x="327" y="36"/>
                </a:lnTo>
                <a:lnTo>
                  <a:pt x="311" y="39"/>
                </a:lnTo>
                <a:lnTo>
                  <a:pt x="295" y="43"/>
                </a:lnTo>
                <a:lnTo>
                  <a:pt x="278" y="47"/>
                </a:lnTo>
                <a:lnTo>
                  <a:pt x="262" y="51"/>
                </a:lnTo>
                <a:lnTo>
                  <a:pt x="246" y="56"/>
                </a:lnTo>
                <a:lnTo>
                  <a:pt x="229" y="61"/>
                </a:lnTo>
                <a:lnTo>
                  <a:pt x="213" y="66"/>
                </a:lnTo>
                <a:lnTo>
                  <a:pt x="196" y="71"/>
                </a:lnTo>
                <a:lnTo>
                  <a:pt x="180" y="76"/>
                </a:lnTo>
                <a:lnTo>
                  <a:pt x="164" y="81"/>
                </a:lnTo>
                <a:lnTo>
                  <a:pt x="147" y="86"/>
                </a:lnTo>
                <a:lnTo>
                  <a:pt x="131" y="91"/>
                </a:lnTo>
                <a:lnTo>
                  <a:pt x="114" y="95"/>
                </a:lnTo>
                <a:lnTo>
                  <a:pt x="98" y="99"/>
                </a:lnTo>
                <a:lnTo>
                  <a:pt x="82" y="103"/>
                </a:lnTo>
                <a:lnTo>
                  <a:pt x="65" y="106"/>
                </a:lnTo>
                <a:lnTo>
                  <a:pt x="49" y="108"/>
                </a:lnTo>
                <a:lnTo>
                  <a:pt x="33" y="110"/>
                </a:lnTo>
                <a:lnTo>
                  <a:pt x="16" y="111"/>
                </a:lnTo>
                <a:lnTo>
                  <a:pt x="0" y="11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857875"/>
            <a:ext cx="3743325" cy="428625"/>
          </a:xfrm>
          <a:custGeom>
            <a:avLst/>
            <a:gdLst/>
            <a:ahLst/>
            <a:cxnLst/>
            <a:rect l="l" t="t" r="r" b="b"/>
            <a:pathLst>
              <a:path w="393" h="45">
                <a:moveTo>
                  <a:pt x="0" y="39"/>
                </a:moveTo>
                <a:lnTo>
                  <a:pt x="16" y="39"/>
                </a:lnTo>
                <a:lnTo>
                  <a:pt x="33" y="38"/>
                </a:lnTo>
                <a:lnTo>
                  <a:pt x="49" y="37"/>
                </a:lnTo>
                <a:lnTo>
                  <a:pt x="65" y="36"/>
                </a:lnTo>
                <a:lnTo>
                  <a:pt x="82" y="34"/>
                </a:lnTo>
                <a:lnTo>
                  <a:pt x="98" y="33"/>
                </a:lnTo>
                <a:lnTo>
                  <a:pt x="114" y="31"/>
                </a:lnTo>
                <a:lnTo>
                  <a:pt x="131" y="29"/>
                </a:lnTo>
                <a:lnTo>
                  <a:pt x="147" y="26"/>
                </a:lnTo>
                <a:lnTo>
                  <a:pt x="164" y="24"/>
                </a:lnTo>
                <a:lnTo>
                  <a:pt x="180" y="22"/>
                </a:lnTo>
                <a:lnTo>
                  <a:pt x="196" y="19"/>
                </a:lnTo>
                <a:lnTo>
                  <a:pt x="213" y="17"/>
                </a:lnTo>
                <a:lnTo>
                  <a:pt x="229" y="14"/>
                </a:lnTo>
                <a:lnTo>
                  <a:pt x="246" y="12"/>
                </a:lnTo>
                <a:lnTo>
                  <a:pt x="262" y="10"/>
                </a:lnTo>
                <a:lnTo>
                  <a:pt x="278" y="8"/>
                </a:lnTo>
                <a:lnTo>
                  <a:pt x="295" y="6"/>
                </a:lnTo>
                <a:lnTo>
                  <a:pt x="311" y="4"/>
                </a:lnTo>
                <a:lnTo>
                  <a:pt x="327" y="2"/>
                </a:lnTo>
                <a:lnTo>
                  <a:pt x="344" y="1"/>
                </a:lnTo>
                <a:lnTo>
                  <a:pt x="360" y="0"/>
                </a:lnTo>
                <a:lnTo>
                  <a:pt x="377" y="0"/>
                </a:lnTo>
                <a:lnTo>
                  <a:pt x="393" y="0"/>
                </a:lnTo>
                <a:lnTo>
                  <a:pt x="393" y="5"/>
                </a:lnTo>
                <a:lnTo>
                  <a:pt x="377" y="6"/>
                </a:lnTo>
                <a:lnTo>
                  <a:pt x="360" y="6"/>
                </a:lnTo>
                <a:lnTo>
                  <a:pt x="344" y="7"/>
                </a:lnTo>
                <a:lnTo>
                  <a:pt x="327" y="8"/>
                </a:lnTo>
                <a:lnTo>
                  <a:pt x="311" y="10"/>
                </a:lnTo>
                <a:lnTo>
                  <a:pt x="295" y="11"/>
                </a:lnTo>
                <a:lnTo>
                  <a:pt x="278" y="13"/>
                </a:lnTo>
                <a:lnTo>
                  <a:pt x="262" y="15"/>
                </a:lnTo>
                <a:lnTo>
                  <a:pt x="246" y="18"/>
                </a:lnTo>
                <a:lnTo>
                  <a:pt x="229" y="20"/>
                </a:lnTo>
                <a:lnTo>
                  <a:pt x="213" y="22"/>
                </a:lnTo>
                <a:lnTo>
                  <a:pt x="196" y="25"/>
                </a:lnTo>
                <a:lnTo>
                  <a:pt x="180" y="27"/>
                </a:lnTo>
                <a:lnTo>
                  <a:pt x="164" y="30"/>
                </a:lnTo>
                <a:lnTo>
                  <a:pt x="147" y="32"/>
                </a:lnTo>
                <a:lnTo>
                  <a:pt x="131" y="34"/>
                </a:lnTo>
                <a:lnTo>
                  <a:pt x="114" y="36"/>
                </a:lnTo>
                <a:lnTo>
                  <a:pt x="98" y="38"/>
                </a:lnTo>
                <a:lnTo>
                  <a:pt x="82" y="40"/>
                </a:lnTo>
                <a:lnTo>
                  <a:pt x="65" y="42"/>
                </a:lnTo>
                <a:lnTo>
                  <a:pt x="49" y="43"/>
                </a:lnTo>
                <a:lnTo>
                  <a:pt x="33" y="44"/>
                </a:lnTo>
                <a:lnTo>
                  <a:pt x="16" y="44"/>
                </a:lnTo>
                <a:lnTo>
                  <a:pt x="0" y="4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6210300"/>
            <a:ext cx="3743325" cy="114300"/>
          </a:xfrm>
          <a:custGeom>
            <a:avLst/>
            <a:gdLst/>
            <a:ahLst/>
            <a:cxnLst/>
            <a:rect l="l" t="t" r="r" b="b"/>
            <a:pathLst>
              <a:path w="393" h="12">
                <a:moveTo>
                  <a:pt x="0" y="8"/>
                </a:moveTo>
                <a:lnTo>
                  <a:pt x="16" y="8"/>
                </a:lnTo>
                <a:lnTo>
                  <a:pt x="33" y="7"/>
                </a:lnTo>
                <a:lnTo>
                  <a:pt x="49" y="7"/>
                </a:lnTo>
                <a:lnTo>
                  <a:pt x="65" y="7"/>
                </a:lnTo>
                <a:lnTo>
                  <a:pt x="82" y="7"/>
                </a:lnTo>
                <a:lnTo>
                  <a:pt x="98" y="6"/>
                </a:lnTo>
                <a:lnTo>
                  <a:pt x="114" y="6"/>
                </a:lnTo>
                <a:lnTo>
                  <a:pt x="131" y="5"/>
                </a:lnTo>
                <a:lnTo>
                  <a:pt x="147" y="5"/>
                </a:lnTo>
                <a:lnTo>
                  <a:pt x="164" y="5"/>
                </a:lnTo>
                <a:lnTo>
                  <a:pt x="180" y="4"/>
                </a:lnTo>
                <a:lnTo>
                  <a:pt x="196" y="4"/>
                </a:lnTo>
                <a:lnTo>
                  <a:pt x="213" y="3"/>
                </a:lnTo>
                <a:lnTo>
                  <a:pt x="229" y="3"/>
                </a:lnTo>
                <a:lnTo>
                  <a:pt x="246" y="2"/>
                </a:lnTo>
                <a:lnTo>
                  <a:pt x="262" y="2"/>
                </a:lnTo>
                <a:lnTo>
                  <a:pt x="278" y="1"/>
                </a:lnTo>
                <a:lnTo>
                  <a:pt x="295" y="1"/>
                </a:lnTo>
                <a:lnTo>
                  <a:pt x="311" y="0"/>
                </a:lnTo>
                <a:lnTo>
                  <a:pt x="327" y="0"/>
                </a:lnTo>
                <a:lnTo>
                  <a:pt x="344" y="0"/>
                </a:lnTo>
                <a:lnTo>
                  <a:pt x="360" y="0"/>
                </a:lnTo>
                <a:lnTo>
                  <a:pt x="377" y="0"/>
                </a:lnTo>
                <a:lnTo>
                  <a:pt x="393" y="0"/>
                </a:lnTo>
                <a:lnTo>
                  <a:pt x="393" y="4"/>
                </a:lnTo>
                <a:lnTo>
                  <a:pt x="377" y="4"/>
                </a:lnTo>
                <a:lnTo>
                  <a:pt x="360" y="4"/>
                </a:lnTo>
                <a:lnTo>
                  <a:pt x="344" y="4"/>
                </a:lnTo>
                <a:lnTo>
                  <a:pt x="327" y="4"/>
                </a:lnTo>
                <a:lnTo>
                  <a:pt x="311" y="5"/>
                </a:lnTo>
                <a:lnTo>
                  <a:pt x="295" y="5"/>
                </a:lnTo>
                <a:lnTo>
                  <a:pt x="278" y="5"/>
                </a:lnTo>
                <a:lnTo>
                  <a:pt x="262" y="6"/>
                </a:lnTo>
                <a:lnTo>
                  <a:pt x="246" y="6"/>
                </a:lnTo>
                <a:lnTo>
                  <a:pt x="229" y="7"/>
                </a:lnTo>
                <a:lnTo>
                  <a:pt x="213" y="7"/>
                </a:lnTo>
                <a:lnTo>
                  <a:pt x="196" y="8"/>
                </a:lnTo>
                <a:lnTo>
                  <a:pt x="180" y="8"/>
                </a:lnTo>
                <a:lnTo>
                  <a:pt x="164" y="9"/>
                </a:lnTo>
                <a:lnTo>
                  <a:pt x="147" y="9"/>
                </a:lnTo>
                <a:lnTo>
                  <a:pt x="131" y="10"/>
                </a:lnTo>
                <a:lnTo>
                  <a:pt x="114" y="10"/>
                </a:lnTo>
                <a:lnTo>
                  <a:pt x="98" y="10"/>
                </a:lnTo>
                <a:lnTo>
                  <a:pt x="82" y="11"/>
                </a:lnTo>
                <a:lnTo>
                  <a:pt x="65" y="11"/>
                </a:lnTo>
                <a:lnTo>
                  <a:pt x="49" y="11"/>
                </a:lnTo>
                <a:lnTo>
                  <a:pt x="33" y="12"/>
                </a:lnTo>
                <a:lnTo>
                  <a:pt x="16" y="12"/>
                </a:lnTo>
                <a:lnTo>
                  <a:pt x="0" y="1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6324600"/>
            <a:ext cx="3743325" cy="171450"/>
          </a:xfrm>
          <a:custGeom>
            <a:avLst/>
            <a:gdLst/>
            <a:ahLst/>
            <a:cxnLst/>
            <a:rect l="l" t="t" r="r" b="b"/>
            <a:pathLst>
              <a:path w="393" h="18">
                <a:moveTo>
                  <a:pt x="0" y="0"/>
                </a:moveTo>
                <a:lnTo>
                  <a:pt x="16" y="0"/>
                </a:lnTo>
                <a:lnTo>
                  <a:pt x="33" y="0"/>
                </a:lnTo>
                <a:lnTo>
                  <a:pt x="49" y="0"/>
                </a:lnTo>
                <a:lnTo>
                  <a:pt x="65" y="1"/>
                </a:lnTo>
                <a:lnTo>
                  <a:pt x="82" y="2"/>
                </a:lnTo>
                <a:lnTo>
                  <a:pt x="98" y="2"/>
                </a:lnTo>
                <a:lnTo>
                  <a:pt x="114" y="3"/>
                </a:lnTo>
                <a:lnTo>
                  <a:pt x="131" y="4"/>
                </a:lnTo>
                <a:lnTo>
                  <a:pt x="147" y="5"/>
                </a:lnTo>
                <a:lnTo>
                  <a:pt x="164" y="6"/>
                </a:lnTo>
                <a:lnTo>
                  <a:pt x="180" y="7"/>
                </a:lnTo>
                <a:lnTo>
                  <a:pt x="196" y="8"/>
                </a:lnTo>
                <a:lnTo>
                  <a:pt x="213" y="9"/>
                </a:lnTo>
                <a:lnTo>
                  <a:pt x="229" y="10"/>
                </a:lnTo>
                <a:lnTo>
                  <a:pt x="246" y="11"/>
                </a:lnTo>
                <a:lnTo>
                  <a:pt x="262" y="12"/>
                </a:lnTo>
                <a:lnTo>
                  <a:pt x="278" y="12"/>
                </a:lnTo>
                <a:lnTo>
                  <a:pt x="295" y="13"/>
                </a:lnTo>
                <a:lnTo>
                  <a:pt x="311" y="14"/>
                </a:lnTo>
                <a:lnTo>
                  <a:pt x="327" y="14"/>
                </a:lnTo>
                <a:lnTo>
                  <a:pt x="344" y="15"/>
                </a:lnTo>
                <a:lnTo>
                  <a:pt x="360" y="15"/>
                </a:lnTo>
                <a:lnTo>
                  <a:pt x="377" y="16"/>
                </a:lnTo>
                <a:lnTo>
                  <a:pt x="393" y="16"/>
                </a:lnTo>
                <a:lnTo>
                  <a:pt x="393" y="18"/>
                </a:lnTo>
                <a:lnTo>
                  <a:pt x="377" y="18"/>
                </a:lnTo>
                <a:lnTo>
                  <a:pt x="360" y="18"/>
                </a:lnTo>
                <a:lnTo>
                  <a:pt x="344" y="17"/>
                </a:lnTo>
                <a:lnTo>
                  <a:pt x="327" y="17"/>
                </a:lnTo>
                <a:lnTo>
                  <a:pt x="311" y="16"/>
                </a:lnTo>
                <a:lnTo>
                  <a:pt x="295" y="15"/>
                </a:lnTo>
                <a:lnTo>
                  <a:pt x="278" y="15"/>
                </a:lnTo>
                <a:lnTo>
                  <a:pt x="262" y="14"/>
                </a:lnTo>
                <a:lnTo>
                  <a:pt x="246" y="13"/>
                </a:lnTo>
                <a:lnTo>
                  <a:pt x="229" y="12"/>
                </a:lnTo>
                <a:lnTo>
                  <a:pt x="213" y="11"/>
                </a:lnTo>
                <a:lnTo>
                  <a:pt x="196" y="10"/>
                </a:lnTo>
                <a:lnTo>
                  <a:pt x="180" y="9"/>
                </a:lnTo>
                <a:lnTo>
                  <a:pt x="164" y="8"/>
                </a:lnTo>
                <a:lnTo>
                  <a:pt x="147" y="7"/>
                </a:lnTo>
                <a:lnTo>
                  <a:pt x="131" y="6"/>
                </a:lnTo>
                <a:lnTo>
                  <a:pt x="114" y="5"/>
                </a:lnTo>
                <a:lnTo>
                  <a:pt x="98" y="5"/>
                </a:lnTo>
                <a:lnTo>
                  <a:pt x="82" y="4"/>
                </a:lnTo>
                <a:lnTo>
                  <a:pt x="65" y="3"/>
                </a:lnTo>
                <a:lnTo>
                  <a:pt x="49" y="3"/>
                </a:lnTo>
                <a:lnTo>
                  <a:pt x="33" y="2"/>
                </a:lnTo>
                <a:lnTo>
                  <a:pt x="16" y="2"/>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5448300"/>
            <a:ext cx="3743325" cy="1038225"/>
          </a:xfrm>
          <a:custGeom>
            <a:avLst/>
            <a:gdLst/>
            <a:ahLst/>
            <a:cxnLst/>
            <a:rect l="l" t="t" r="r" b="b"/>
            <a:pathLst>
              <a:path w="393" h="109">
                <a:moveTo>
                  <a:pt x="0" y="100"/>
                </a:moveTo>
                <a:lnTo>
                  <a:pt x="16" y="100"/>
                </a:lnTo>
                <a:lnTo>
                  <a:pt x="33" y="98"/>
                </a:lnTo>
                <a:lnTo>
                  <a:pt x="49" y="96"/>
                </a:lnTo>
                <a:lnTo>
                  <a:pt x="65" y="93"/>
                </a:lnTo>
                <a:lnTo>
                  <a:pt x="82" y="89"/>
                </a:lnTo>
                <a:lnTo>
                  <a:pt x="98" y="84"/>
                </a:lnTo>
                <a:lnTo>
                  <a:pt x="114" y="79"/>
                </a:lnTo>
                <a:lnTo>
                  <a:pt x="131" y="74"/>
                </a:lnTo>
                <a:lnTo>
                  <a:pt x="147" y="68"/>
                </a:lnTo>
                <a:lnTo>
                  <a:pt x="164" y="62"/>
                </a:lnTo>
                <a:lnTo>
                  <a:pt x="180" y="56"/>
                </a:lnTo>
                <a:lnTo>
                  <a:pt x="196" y="50"/>
                </a:lnTo>
                <a:lnTo>
                  <a:pt x="213" y="44"/>
                </a:lnTo>
                <a:lnTo>
                  <a:pt x="229" y="38"/>
                </a:lnTo>
                <a:lnTo>
                  <a:pt x="246" y="32"/>
                </a:lnTo>
                <a:lnTo>
                  <a:pt x="262" y="26"/>
                </a:lnTo>
                <a:lnTo>
                  <a:pt x="278" y="21"/>
                </a:lnTo>
                <a:lnTo>
                  <a:pt x="295" y="16"/>
                </a:lnTo>
                <a:lnTo>
                  <a:pt x="311" y="11"/>
                </a:lnTo>
                <a:lnTo>
                  <a:pt x="327" y="8"/>
                </a:lnTo>
                <a:lnTo>
                  <a:pt x="344" y="4"/>
                </a:lnTo>
                <a:lnTo>
                  <a:pt x="360" y="2"/>
                </a:lnTo>
                <a:lnTo>
                  <a:pt x="377" y="1"/>
                </a:lnTo>
                <a:lnTo>
                  <a:pt x="393" y="0"/>
                </a:lnTo>
                <a:lnTo>
                  <a:pt x="393" y="9"/>
                </a:lnTo>
                <a:lnTo>
                  <a:pt x="377" y="10"/>
                </a:lnTo>
                <a:lnTo>
                  <a:pt x="360" y="11"/>
                </a:lnTo>
                <a:lnTo>
                  <a:pt x="344" y="14"/>
                </a:lnTo>
                <a:lnTo>
                  <a:pt x="327" y="17"/>
                </a:lnTo>
                <a:lnTo>
                  <a:pt x="311" y="21"/>
                </a:lnTo>
                <a:lnTo>
                  <a:pt x="295" y="25"/>
                </a:lnTo>
                <a:lnTo>
                  <a:pt x="278" y="30"/>
                </a:lnTo>
                <a:lnTo>
                  <a:pt x="262" y="35"/>
                </a:lnTo>
                <a:lnTo>
                  <a:pt x="246" y="41"/>
                </a:lnTo>
                <a:lnTo>
                  <a:pt x="229" y="47"/>
                </a:lnTo>
                <a:lnTo>
                  <a:pt x="213" y="53"/>
                </a:lnTo>
                <a:lnTo>
                  <a:pt x="196" y="59"/>
                </a:lnTo>
                <a:lnTo>
                  <a:pt x="180" y="66"/>
                </a:lnTo>
                <a:lnTo>
                  <a:pt x="164" y="72"/>
                </a:lnTo>
                <a:lnTo>
                  <a:pt x="147" y="78"/>
                </a:lnTo>
                <a:lnTo>
                  <a:pt x="131" y="83"/>
                </a:lnTo>
                <a:lnTo>
                  <a:pt x="114" y="89"/>
                </a:lnTo>
                <a:lnTo>
                  <a:pt x="98" y="94"/>
                </a:lnTo>
                <a:lnTo>
                  <a:pt x="82" y="98"/>
                </a:lnTo>
                <a:lnTo>
                  <a:pt x="65" y="102"/>
                </a:lnTo>
                <a:lnTo>
                  <a:pt x="49" y="105"/>
                </a:lnTo>
                <a:lnTo>
                  <a:pt x="33" y="107"/>
                </a:lnTo>
                <a:lnTo>
                  <a:pt x="16" y="109"/>
                </a:lnTo>
                <a:lnTo>
                  <a:pt x="0" y="10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5905500"/>
            <a:ext cx="3743325" cy="600075"/>
          </a:xfrm>
          <a:custGeom>
            <a:avLst/>
            <a:gdLst/>
            <a:ahLst/>
            <a:cxnLst/>
            <a:rect l="l" t="t" r="r" b="b"/>
            <a:pathLst>
              <a:path w="393" h="63">
                <a:moveTo>
                  <a:pt x="0" y="61"/>
                </a:moveTo>
                <a:lnTo>
                  <a:pt x="16" y="61"/>
                </a:lnTo>
                <a:lnTo>
                  <a:pt x="33" y="60"/>
                </a:lnTo>
                <a:lnTo>
                  <a:pt x="49" y="59"/>
                </a:lnTo>
                <a:lnTo>
                  <a:pt x="65" y="57"/>
                </a:lnTo>
                <a:lnTo>
                  <a:pt x="82" y="54"/>
                </a:lnTo>
                <a:lnTo>
                  <a:pt x="98" y="52"/>
                </a:lnTo>
                <a:lnTo>
                  <a:pt x="114" y="49"/>
                </a:lnTo>
                <a:lnTo>
                  <a:pt x="131" y="45"/>
                </a:lnTo>
                <a:lnTo>
                  <a:pt x="147" y="42"/>
                </a:lnTo>
                <a:lnTo>
                  <a:pt x="164" y="38"/>
                </a:lnTo>
                <a:lnTo>
                  <a:pt x="180" y="35"/>
                </a:lnTo>
                <a:lnTo>
                  <a:pt x="196" y="31"/>
                </a:lnTo>
                <a:lnTo>
                  <a:pt x="213" y="27"/>
                </a:lnTo>
                <a:lnTo>
                  <a:pt x="229" y="23"/>
                </a:lnTo>
                <a:lnTo>
                  <a:pt x="246" y="20"/>
                </a:lnTo>
                <a:lnTo>
                  <a:pt x="262" y="16"/>
                </a:lnTo>
                <a:lnTo>
                  <a:pt x="278" y="13"/>
                </a:lnTo>
                <a:lnTo>
                  <a:pt x="295" y="10"/>
                </a:lnTo>
                <a:lnTo>
                  <a:pt x="311" y="7"/>
                </a:lnTo>
                <a:lnTo>
                  <a:pt x="327" y="5"/>
                </a:lnTo>
                <a:lnTo>
                  <a:pt x="344" y="3"/>
                </a:lnTo>
                <a:lnTo>
                  <a:pt x="360" y="2"/>
                </a:lnTo>
                <a:lnTo>
                  <a:pt x="377" y="1"/>
                </a:lnTo>
                <a:lnTo>
                  <a:pt x="393" y="0"/>
                </a:lnTo>
                <a:lnTo>
                  <a:pt x="393" y="2"/>
                </a:lnTo>
                <a:lnTo>
                  <a:pt x="377" y="3"/>
                </a:lnTo>
                <a:lnTo>
                  <a:pt x="360" y="4"/>
                </a:lnTo>
                <a:lnTo>
                  <a:pt x="344" y="5"/>
                </a:lnTo>
                <a:lnTo>
                  <a:pt x="327" y="7"/>
                </a:lnTo>
                <a:lnTo>
                  <a:pt x="311" y="9"/>
                </a:lnTo>
                <a:lnTo>
                  <a:pt x="295" y="12"/>
                </a:lnTo>
                <a:lnTo>
                  <a:pt x="278" y="15"/>
                </a:lnTo>
                <a:lnTo>
                  <a:pt x="262" y="18"/>
                </a:lnTo>
                <a:lnTo>
                  <a:pt x="246" y="22"/>
                </a:lnTo>
                <a:lnTo>
                  <a:pt x="229" y="25"/>
                </a:lnTo>
                <a:lnTo>
                  <a:pt x="213" y="29"/>
                </a:lnTo>
                <a:lnTo>
                  <a:pt x="196" y="33"/>
                </a:lnTo>
                <a:lnTo>
                  <a:pt x="180" y="37"/>
                </a:lnTo>
                <a:lnTo>
                  <a:pt x="164" y="41"/>
                </a:lnTo>
                <a:lnTo>
                  <a:pt x="147" y="44"/>
                </a:lnTo>
                <a:lnTo>
                  <a:pt x="131" y="48"/>
                </a:lnTo>
                <a:lnTo>
                  <a:pt x="114" y="51"/>
                </a:lnTo>
                <a:lnTo>
                  <a:pt x="98" y="54"/>
                </a:lnTo>
                <a:lnTo>
                  <a:pt x="82" y="57"/>
                </a:lnTo>
                <a:lnTo>
                  <a:pt x="65" y="59"/>
                </a:lnTo>
                <a:lnTo>
                  <a:pt x="49" y="61"/>
                </a:lnTo>
                <a:lnTo>
                  <a:pt x="33" y="62"/>
                </a:lnTo>
                <a:lnTo>
                  <a:pt x="16" y="63"/>
                </a:lnTo>
                <a:lnTo>
                  <a:pt x="0" y="6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6248400"/>
            <a:ext cx="3743325" cy="276225"/>
          </a:xfrm>
          <a:custGeom>
            <a:avLst/>
            <a:gdLst/>
            <a:ahLst/>
            <a:cxnLst/>
            <a:rect l="l" t="t" r="r" b="b"/>
            <a:pathLst>
              <a:path w="393" h="29">
                <a:moveTo>
                  <a:pt x="0" y="27"/>
                </a:moveTo>
                <a:lnTo>
                  <a:pt x="16" y="27"/>
                </a:lnTo>
                <a:lnTo>
                  <a:pt x="33" y="27"/>
                </a:lnTo>
                <a:lnTo>
                  <a:pt x="49" y="26"/>
                </a:lnTo>
                <a:lnTo>
                  <a:pt x="65" y="25"/>
                </a:lnTo>
                <a:lnTo>
                  <a:pt x="82" y="24"/>
                </a:lnTo>
                <a:lnTo>
                  <a:pt x="98" y="23"/>
                </a:lnTo>
                <a:lnTo>
                  <a:pt x="114" y="22"/>
                </a:lnTo>
                <a:lnTo>
                  <a:pt x="131" y="20"/>
                </a:lnTo>
                <a:lnTo>
                  <a:pt x="147" y="19"/>
                </a:lnTo>
                <a:lnTo>
                  <a:pt x="164" y="17"/>
                </a:lnTo>
                <a:lnTo>
                  <a:pt x="180" y="15"/>
                </a:lnTo>
                <a:lnTo>
                  <a:pt x="196" y="14"/>
                </a:lnTo>
                <a:lnTo>
                  <a:pt x="213" y="12"/>
                </a:lnTo>
                <a:lnTo>
                  <a:pt x="229" y="10"/>
                </a:lnTo>
                <a:lnTo>
                  <a:pt x="246" y="9"/>
                </a:lnTo>
                <a:lnTo>
                  <a:pt x="262" y="7"/>
                </a:lnTo>
                <a:lnTo>
                  <a:pt x="278" y="5"/>
                </a:lnTo>
                <a:lnTo>
                  <a:pt x="295" y="4"/>
                </a:lnTo>
                <a:lnTo>
                  <a:pt x="311" y="3"/>
                </a:lnTo>
                <a:lnTo>
                  <a:pt x="327" y="2"/>
                </a:lnTo>
                <a:lnTo>
                  <a:pt x="344" y="1"/>
                </a:lnTo>
                <a:lnTo>
                  <a:pt x="360" y="0"/>
                </a:lnTo>
                <a:lnTo>
                  <a:pt x="377" y="0"/>
                </a:lnTo>
                <a:lnTo>
                  <a:pt x="393" y="0"/>
                </a:lnTo>
                <a:lnTo>
                  <a:pt x="393" y="1"/>
                </a:lnTo>
                <a:lnTo>
                  <a:pt x="377" y="1"/>
                </a:lnTo>
                <a:lnTo>
                  <a:pt x="360" y="2"/>
                </a:lnTo>
                <a:lnTo>
                  <a:pt x="344" y="2"/>
                </a:lnTo>
                <a:lnTo>
                  <a:pt x="327" y="3"/>
                </a:lnTo>
                <a:lnTo>
                  <a:pt x="311" y="4"/>
                </a:lnTo>
                <a:lnTo>
                  <a:pt x="295" y="6"/>
                </a:lnTo>
                <a:lnTo>
                  <a:pt x="278" y="7"/>
                </a:lnTo>
                <a:lnTo>
                  <a:pt x="262" y="8"/>
                </a:lnTo>
                <a:lnTo>
                  <a:pt x="246" y="10"/>
                </a:lnTo>
                <a:lnTo>
                  <a:pt x="229" y="12"/>
                </a:lnTo>
                <a:lnTo>
                  <a:pt x="213" y="13"/>
                </a:lnTo>
                <a:lnTo>
                  <a:pt x="196" y="15"/>
                </a:lnTo>
                <a:lnTo>
                  <a:pt x="180" y="17"/>
                </a:lnTo>
                <a:lnTo>
                  <a:pt x="164" y="19"/>
                </a:lnTo>
                <a:lnTo>
                  <a:pt x="147" y="20"/>
                </a:lnTo>
                <a:lnTo>
                  <a:pt x="131" y="22"/>
                </a:lnTo>
                <a:lnTo>
                  <a:pt x="114" y="23"/>
                </a:lnTo>
                <a:lnTo>
                  <a:pt x="98" y="25"/>
                </a:lnTo>
                <a:lnTo>
                  <a:pt x="82" y="26"/>
                </a:lnTo>
                <a:lnTo>
                  <a:pt x="65" y="27"/>
                </a:lnTo>
                <a:lnTo>
                  <a:pt x="49" y="28"/>
                </a:lnTo>
                <a:lnTo>
                  <a:pt x="33" y="28"/>
                </a:lnTo>
                <a:lnTo>
                  <a:pt x="16" y="29"/>
                </a:lnTo>
                <a:lnTo>
                  <a:pt x="0" y="2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6496050"/>
            <a:ext cx="3743325" cy="38100"/>
          </a:xfrm>
          <a:custGeom>
            <a:avLst/>
            <a:gdLst/>
            <a:ahLst/>
            <a:cxnLst/>
            <a:rect l="l" t="t" r="r" b="b"/>
            <a:pathLst>
              <a:path w="393" h="4">
                <a:moveTo>
                  <a:pt x="0" y="3"/>
                </a:moveTo>
                <a:lnTo>
                  <a:pt x="16" y="3"/>
                </a:lnTo>
                <a:lnTo>
                  <a:pt x="33" y="3"/>
                </a:lnTo>
                <a:lnTo>
                  <a:pt x="49" y="3"/>
                </a:lnTo>
                <a:lnTo>
                  <a:pt x="65" y="3"/>
                </a:lnTo>
                <a:lnTo>
                  <a:pt x="82" y="3"/>
                </a:lnTo>
                <a:lnTo>
                  <a:pt x="98" y="2"/>
                </a:lnTo>
                <a:lnTo>
                  <a:pt x="114" y="2"/>
                </a:lnTo>
                <a:lnTo>
                  <a:pt x="131" y="2"/>
                </a:lnTo>
                <a:lnTo>
                  <a:pt x="147" y="2"/>
                </a:lnTo>
                <a:lnTo>
                  <a:pt x="164" y="2"/>
                </a:lnTo>
                <a:lnTo>
                  <a:pt x="180" y="2"/>
                </a:lnTo>
                <a:lnTo>
                  <a:pt x="196" y="1"/>
                </a:lnTo>
                <a:lnTo>
                  <a:pt x="213" y="1"/>
                </a:lnTo>
                <a:lnTo>
                  <a:pt x="229" y="1"/>
                </a:lnTo>
                <a:lnTo>
                  <a:pt x="246" y="1"/>
                </a:lnTo>
                <a:lnTo>
                  <a:pt x="262" y="1"/>
                </a:lnTo>
                <a:lnTo>
                  <a:pt x="278" y="1"/>
                </a:lnTo>
                <a:lnTo>
                  <a:pt x="295" y="0"/>
                </a:lnTo>
                <a:lnTo>
                  <a:pt x="311" y="0"/>
                </a:lnTo>
                <a:lnTo>
                  <a:pt x="327" y="0"/>
                </a:lnTo>
                <a:lnTo>
                  <a:pt x="344" y="0"/>
                </a:lnTo>
                <a:lnTo>
                  <a:pt x="360" y="0"/>
                </a:lnTo>
                <a:lnTo>
                  <a:pt x="377" y="0"/>
                </a:lnTo>
                <a:lnTo>
                  <a:pt x="393" y="0"/>
                </a:lnTo>
                <a:lnTo>
                  <a:pt x="393" y="1"/>
                </a:lnTo>
                <a:lnTo>
                  <a:pt x="377" y="1"/>
                </a:lnTo>
                <a:lnTo>
                  <a:pt x="360" y="1"/>
                </a:lnTo>
                <a:lnTo>
                  <a:pt x="344" y="1"/>
                </a:lnTo>
                <a:lnTo>
                  <a:pt x="327" y="1"/>
                </a:lnTo>
                <a:lnTo>
                  <a:pt x="311" y="1"/>
                </a:lnTo>
                <a:lnTo>
                  <a:pt x="295" y="1"/>
                </a:lnTo>
                <a:lnTo>
                  <a:pt x="278" y="2"/>
                </a:lnTo>
                <a:lnTo>
                  <a:pt x="262" y="2"/>
                </a:lnTo>
                <a:lnTo>
                  <a:pt x="246" y="2"/>
                </a:lnTo>
                <a:lnTo>
                  <a:pt x="229" y="2"/>
                </a:lnTo>
                <a:lnTo>
                  <a:pt x="213" y="2"/>
                </a:lnTo>
                <a:lnTo>
                  <a:pt x="196" y="2"/>
                </a:lnTo>
                <a:lnTo>
                  <a:pt x="180" y="3"/>
                </a:lnTo>
                <a:lnTo>
                  <a:pt x="164" y="3"/>
                </a:lnTo>
                <a:lnTo>
                  <a:pt x="147" y="3"/>
                </a:lnTo>
                <a:lnTo>
                  <a:pt x="131" y="3"/>
                </a:lnTo>
                <a:lnTo>
                  <a:pt x="114" y="3"/>
                </a:lnTo>
                <a:lnTo>
                  <a:pt x="98" y="4"/>
                </a:lnTo>
                <a:lnTo>
                  <a:pt x="82" y="4"/>
                </a:lnTo>
                <a:lnTo>
                  <a:pt x="65" y="4"/>
                </a:lnTo>
                <a:lnTo>
                  <a:pt x="49" y="4"/>
                </a:lnTo>
                <a:lnTo>
                  <a:pt x="33" y="4"/>
                </a:lnTo>
                <a:lnTo>
                  <a:pt x="16" y="4"/>
                </a:lnTo>
                <a:lnTo>
                  <a:pt x="0" y="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3876675"/>
            <a:ext cx="114300" cy="672992"/>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41195" y="4606817"/>
            <a:ext cx="114300" cy="656141"/>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941195" y="5320108"/>
            <a:ext cx="114300" cy="55995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41195" y="5937212"/>
            <a:ext cx="114300" cy="406612"/>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41195" y="6400974"/>
            <a:ext cx="114300" cy="133176"/>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00725" y="3905250"/>
            <a:ext cx="114300" cy="163296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00725" y="5595365"/>
            <a:ext cx="114300" cy="33361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0725" y="5986134"/>
            <a:ext cx="114300" cy="27415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6317434"/>
            <a:ext cx="114300" cy="18814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414173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257175" y="486345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257175" y="5528647"/>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TextBox 47"/>
          <p:cNvSpPr txBox="1"/>
          <p:nvPr/>
        </p:nvSpPr>
        <p:spPr>
          <a:xfrm>
            <a:off x="257175" y="606908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257175" y="63912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5972175" y="465029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5972175" y="5690737"/>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5972175" y="6051771"/>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6340067"/>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Rounded Rectangle 53"/>
          <p:cNvSpPr/>
          <p:nvPr/>
        </p:nvSpPr>
        <p:spPr>
          <a:xfrm>
            <a:off x="7581900" y="3552825"/>
            <a:ext cx="445770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15250" y="363855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6" name="Rectangle 55"/>
          <p:cNvSpPr/>
          <p:nvPr/>
        </p:nvSpPr>
        <p:spPr>
          <a:xfrm>
            <a:off x="7715250" y="38766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15250" y="3962400"/>
            <a:ext cx="41910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8" name="TextBox 5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9" name="Picture 58" descr="lock.png"/>
          <p:cNvPicPr>
            <a:picLocks noChangeAspect="1"/>
          </p:cNvPicPr>
          <p:nvPr/>
        </p:nvPicPr>
        <p:blipFill>
          <a:blip r:embed="rId4"/>
          <a:stretch>
            <a:fillRect/>
          </a:stretch>
        </p:blipFill>
        <p:spPr>
          <a:xfrm>
            <a:off x="7235636" y="2203704"/>
            <a:ext cx="366712" cy="533400"/>
          </a:xfrm>
          <a:prstGeom prst="rect">
            <a:avLst/>
          </a:prstGeom>
        </p:spPr>
      </p:pic>
      <p:sp>
        <p:nvSpPr>
          <p:cNvPr id="60" name="TextBox 59"/>
          <p:cNvSpPr txBox="1"/>
          <p:nvPr/>
        </p:nvSpPr>
        <p:spPr>
          <a:xfrm>
            <a:off x="1177308" y="4152820"/>
            <a:ext cx="652986" cy="139750"/>
          </a:xfrm>
          <a:prstGeom prst="rect">
            <a:avLst/>
          </a:prstGeom>
          <a:noFill/>
        </p:spPr>
        <p:txBody>
          <a:bodyPr wrap="none" lIns="0" rIns="0" tIns="0" bIns="0">
            <a:spAutoFit/>
          </a:bodyPr>
          <a:lstStyle/>
          <a:p>
            <a:r>
              <a:rPr sz="791" b="1">
                <a:solidFill>
                  <a:srgbClr val="2E2E2E"/>
                </a:solidFill>
                <a:latin typeface="Calibri"/>
              </a:rPr>
              <a:t>Up to 30 g/ml</a:t>
            </a:r>
          </a:p>
        </p:txBody>
      </p:sp>
      <p:pic>
        <p:nvPicPr>
          <p:cNvPr id="61" name="Picture 60" descr="lock.png"/>
          <p:cNvPicPr>
            <a:picLocks noChangeAspect="1"/>
          </p:cNvPicPr>
          <p:nvPr/>
        </p:nvPicPr>
        <p:blipFill>
          <a:blip r:embed="rId4"/>
          <a:stretch>
            <a:fillRect/>
          </a:stretch>
        </p:blipFill>
        <p:spPr>
          <a:xfrm>
            <a:off x="1771555" y="4145779"/>
            <a:ext cx="92663" cy="134782"/>
          </a:xfrm>
          <a:prstGeom prst="rect">
            <a:avLst/>
          </a:prstGeom>
        </p:spPr>
      </p:pic>
      <p:sp>
        <p:nvSpPr>
          <p:cNvPr id="62" name="TextBox 61"/>
          <p:cNvSpPr txBox="1"/>
          <p:nvPr/>
        </p:nvSpPr>
        <p:spPr>
          <a:xfrm>
            <a:off x="1090475" y="4874537"/>
            <a:ext cx="739818" cy="139750"/>
          </a:xfrm>
          <a:prstGeom prst="rect">
            <a:avLst/>
          </a:prstGeom>
          <a:noFill/>
        </p:spPr>
        <p:txBody>
          <a:bodyPr wrap="none" lIns="0" rIns="0" tIns="0" bIns="0">
            <a:spAutoFit/>
          </a:bodyPr>
          <a:lstStyle/>
          <a:p>
            <a:r>
              <a:rPr sz="791" b="1">
                <a:solidFill>
                  <a:srgbClr val="2E2E2E"/>
                </a:solidFill>
                <a:latin typeface="Calibri"/>
              </a:rPr>
              <a:t>Above 200 g/ml</a:t>
            </a:r>
          </a:p>
        </p:txBody>
      </p:sp>
      <p:pic>
        <p:nvPicPr>
          <p:cNvPr id="63" name="Picture 62" descr="lock.png"/>
          <p:cNvPicPr>
            <a:picLocks noChangeAspect="1"/>
          </p:cNvPicPr>
          <p:nvPr/>
        </p:nvPicPr>
        <p:blipFill>
          <a:blip r:embed="rId4"/>
          <a:stretch>
            <a:fillRect/>
          </a:stretch>
        </p:blipFill>
        <p:spPr>
          <a:xfrm>
            <a:off x="1771555" y="4867496"/>
            <a:ext cx="92663" cy="134782"/>
          </a:xfrm>
          <a:prstGeom prst="rect">
            <a:avLst/>
          </a:prstGeom>
        </p:spPr>
      </p:pic>
      <p:sp>
        <p:nvSpPr>
          <p:cNvPr id="64" name="TextBox 63"/>
          <p:cNvSpPr txBox="1"/>
          <p:nvPr/>
        </p:nvSpPr>
        <p:spPr>
          <a:xfrm>
            <a:off x="989302" y="5539734"/>
            <a:ext cx="840992" cy="139750"/>
          </a:xfrm>
          <a:prstGeom prst="rect">
            <a:avLst/>
          </a:prstGeom>
          <a:noFill/>
        </p:spPr>
        <p:txBody>
          <a:bodyPr wrap="none" lIns="0" rIns="0" tIns="0" bIns="0">
            <a:spAutoFit/>
          </a:bodyPr>
          <a:lstStyle/>
          <a:p>
            <a:r>
              <a:rPr sz="791" b="1">
                <a:solidFill>
                  <a:srgbClr val="2E2E2E"/>
                </a:solidFill>
                <a:latin typeface="Calibri"/>
              </a:rPr>
              <a:t>Above 30–50 g/ml</a:t>
            </a:r>
          </a:p>
        </p:txBody>
      </p:sp>
      <p:pic>
        <p:nvPicPr>
          <p:cNvPr id="65" name="Picture 64" descr="lock.png"/>
          <p:cNvPicPr>
            <a:picLocks noChangeAspect="1"/>
          </p:cNvPicPr>
          <p:nvPr/>
        </p:nvPicPr>
        <p:blipFill>
          <a:blip r:embed="rId4"/>
          <a:stretch>
            <a:fillRect/>
          </a:stretch>
        </p:blipFill>
        <p:spPr>
          <a:xfrm>
            <a:off x="1771555" y="5532693"/>
            <a:ext cx="92663" cy="134782"/>
          </a:xfrm>
          <a:prstGeom prst="rect">
            <a:avLst/>
          </a:prstGeom>
        </p:spPr>
      </p:pic>
      <p:sp>
        <p:nvSpPr>
          <p:cNvPr id="66" name="TextBox 65"/>
          <p:cNvSpPr txBox="1"/>
          <p:nvPr/>
        </p:nvSpPr>
        <p:spPr>
          <a:xfrm>
            <a:off x="887146" y="6080167"/>
            <a:ext cx="943147" cy="139750"/>
          </a:xfrm>
          <a:prstGeom prst="rect">
            <a:avLst/>
          </a:prstGeom>
          <a:noFill/>
        </p:spPr>
        <p:txBody>
          <a:bodyPr wrap="none" lIns="0" rIns="0" tIns="0" bIns="0">
            <a:spAutoFit/>
          </a:bodyPr>
          <a:lstStyle/>
          <a:p>
            <a:r>
              <a:rPr sz="791" b="1">
                <a:solidFill>
                  <a:srgbClr val="2E2E2E"/>
                </a:solidFill>
                <a:latin typeface="Calibri"/>
              </a:rPr>
              <a:t>Above 100–200 g/ml</a:t>
            </a:r>
          </a:p>
        </p:txBody>
      </p:sp>
      <p:pic>
        <p:nvPicPr>
          <p:cNvPr id="67" name="Picture 66" descr="lock.png"/>
          <p:cNvPicPr>
            <a:picLocks noChangeAspect="1"/>
          </p:cNvPicPr>
          <p:nvPr/>
        </p:nvPicPr>
        <p:blipFill>
          <a:blip r:embed="rId4"/>
          <a:stretch>
            <a:fillRect/>
          </a:stretch>
        </p:blipFill>
        <p:spPr>
          <a:xfrm>
            <a:off x="1771555" y="6073126"/>
            <a:ext cx="92663" cy="134782"/>
          </a:xfrm>
          <a:prstGeom prst="rect">
            <a:avLst/>
          </a:prstGeom>
        </p:spPr>
      </p:pic>
      <p:sp>
        <p:nvSpPr>
          <p:cNvPr id="68" name="TextBox 67"/>
          <p:cNvSpPr txBox="1"/>
          <p:nvPr/>
        </p:nvSpPr>
        <p:spPr>
          <a:xfrm>
            <a:off x="938224" y="6402362"/>
            <a:ext cx="892069" cy="139750"/>
          </a:xfrm>
          <a:prstGeom prst="rect">
            <a:avLst/>
          </a:prstGeom>
          <a:noFill/>
        </p:spPr>
        <p:txBody>
          <a:bodyPr wrap="none" lIns="0" rIns="0" tIns="0" bIns="0">
            <a:spAutoFit/>
          </a:bodyPr>
          <a:lstStyle/>
          <a:p>
            <a:r>
              <a:rPr sz="791" b="1">
                <a:solidFill>
                  <a:srgbClr val="2E2E2E"/>
                </a:solidFill>
                <a:latin typeface="Calibri"/>
              </a:rPr>
              <a:t>Above 50–100 g/ml</a:t>
            </a:r>
          </a:p>
        </p:txBody>
      </p:sp>
      <p:pic>
        <p:nvPicPr>
          <p:cNvPr id="69" name="Picture 68" descr="lock.png"/>
          <p:cNvPicPr>
            <a:picLocks noChangeAspect="1"/>
          </p:cNvPicPr>
          <p:nvPr/>
        </p:nvPicPr>
        <p:blipFill>
          <a:blip r:embed="rId4"/>
          <a:stretch>
            <a:fillRect/>
          </a:stretch>
        </p:blipFill>
        <p:spPr>
          <a:xfrm>
            <a:off x="1771555" y="6395321"/>
            <a:ext cx="92663" cy="134782"/>
          </a:xfrm>
          <a:prstGeom prst="rect">
            <a:avLst/>
          </a:prstGeom>
        </p:spPr>
      </p:pic>
      <p:sp>
        <p:nvSpPr>
          <p:cNvPr id="70" name="TextBox 69"/>
          <p:cNvSpPr txBox="1"/>
          <p:nvPr/>
        </p:nvSpPr>
        <p:spPr>
          <a:xfrm>
            <a:off x="5972175" y="4661382"/>
            <a:ext cx="624304" cy="139750"/>
          </a:xfrm>
          <a:prstGeom prst="rect">
            <a:avLst/>
          </a:prstGeom>
          <a:noFill/>
        </p:spPr>
        <p:txBody>
          <a:bodyPr wrap="none" lIns="0" rIns="0" tIns="0" bIns="0">
            <a:spAutoFit/>
          </a:bodyPr>
          <a:lstStyle/>
          <a:p>
            <a:r>
              <a:rPr sz="791" b="1">
                <a:solidFill>
                  <a:srgbClr val="2E2E2E"/>
                </a:solidFill>
                <a:latin typeface="Calibri"/>
              </a:rPr>
              <a:t>Mass Market</a:t>
            </a:r>
          </a:p>
        </p:txBody>
      </p:sp>
      <p:pic>
        <p:nvPicPr>
          <p:cNvPr id="71" name="Picture 70" descr="lock.png"/>
          <p:cNvPicPr>
            <a:picLocks noChangeAspect="1"/>
          </p:cNvPicPr>
          <p:nvPr/>
        </p:nvPicPr>
        <p:blipFill>
          <a:blip r:embed="rId4"/>
          <a:stretch>
            <a:fillRect/>
          </a:stretch>
        </p:blipFill>
        <p:spPr>
          <a:xfrm>
            <a:off x="6537740" y="4654341"/>
            <a:ext cx="92663" cy="134782"/>
          </a:xfrm>
          <a:prstGeom prst="rect">
            <a:avLst/>
          </a:prstGeom>
        </p:spPr>
      </p:pic>
      <p:sp>
        <p:nvSpPr>
          <p:cNvPr id="72" name="TextBox 71"/>
          <p:cNvSpPr txBox="1"/>
          <p:nvPr/>
        </p:nvSpPr>
        <p:spPr>
          <a:xfrm>
            <a:off x="5972175" y="5701824"/>
            <a:ext cx="783627" cy="139750"/>
          </a:xfrm>
          <a:prstGeom prst="rect">
            <a:avLst/>
          </a:prstGeom>
          <a:noFill/>
        </p:spPr>
        <p:txBody>
          <a:bodyPr wrap="none" lIns="0" rIns="0" tIns="0" bIns="0">
            <a:spAutoFit/>
          </a:bodyPr>
          <a:lstStyle/>
          <a:p>
            <a:r>
              <a:rPr sz="791" b="1">
                <a:solidFill>
                  <a:srgbClr val="2E2E2E"/>
                </a:solidFill>
                <a:latin typeface="Calibri"/>
              </a:rPr>
              <a:t>Prestige / Luxury</a:t>
            </a:r>
          </a:p>
        </p:txBody>
      </p:sp>
      <p:pic>
        <p:nvPicPr>
          <p:cNvPr id="73" name="Picture 72" descr="lock.png"/>
          <p:cNvPicPr>
            <a:picLocks noChangeAspect="1"/>
          </p:cNvPicPr>
          <p:nvPr/>
        </p:nvPicPr>
        <p:blipFill>
          <a:blip r:embed="rId4"/>
          <a:stretch>
            <a:fillRect/>
          </a:stretch>
        </p:blipFill>
        <p:spPr>
          <a:xfrm>
            <a:off x="6697063" y="5694783"/>
            <a:ext cx="92663" cy="134782"/>
          </a:xfrm>
          <a:prstGeom prst="rect">
            <a:avLst/>
          </a:prstGeom>
        </p:spPr>
      </p:pic>
      <p:sp>
        <p:nvSpPr>
          <p:cNvPr id="74" name="TextBox 73"/>
          <p:cNvSpPr txBox="1"/>
          <p:nvPr/>
        </p:nvSpPr>
        <p:spPr>
          <a:xfrm>
            <a:off x="5972175" y="6062858"/>
            <a:ext cx="458890" cy="139750"/>
          </a:xfrm>
          <a:prstGeom prst="rect">
            <a:avLst/>
          </a:prstGeom>
          <a:noFill/>
        </p:spPr>
        <p:txBody>
          <a:bodyPr wrap="none" lIns="0" rIns="0" tIns="0" bIns="0">
            <a:spAutoFit/>
          </a:bodyPr>
          <a:lstStyle/>
          <a:p>
            <a:r>
              <a:rPr sz="791" b="1">
                <a:solidFill>
                  <a:srgbClr val="2E2E2E"/>
                </a:solidFill>
                <a:latin typeface="Calibri"/>
              </a:rPr>
              <a:t>Premium</a:t>
            </a:r>
          </a:p>
        </p:txBody>
      </p:sp>
      <p:pic>
        <p:nvPicPr>
          <p:cNvPr id="75" name="Picture 74" descr="lock.png"/>
          <p:cNvPicPr>
            <a:picLocks noChangeAspect="1"/>
          </p:cNvPicPr>
          <p:nvPr/>
        </p:nvPicPr>
        <p:blipFill>
          <a:blip r:embed="rId4"/>
          <a:stretch>
            <a:fillRect/>
          </a:stretch>
        </p:blipFill>
        <p:spPr>
          <a:xfrm>
            <a:off x="6372326" y="6055817"/>
            <a:ext cx="92663" cy="134782"/>
          </a:xfrm>
          <a:prstGeom prst="rect">
            <a:avLst/>
          </a:prstGeom>
        </p:spPr>
      </p:pic>
      <p:sp>
        <p:nvSpPr>
          <p:cNvPr id="76" name="TextBox 75"/>
          <p:cNvSpPr txBox="1"/>
          <p:nvPr/>
        </p:nvSpPr>
        <p:spPr>
          <a:xfrm>
            <a:off x="5972175" y="6351154"/>
            <a:ext cx="452211" cy="139750"/>
          </a:xfrm>
          <a:prstGeom prst="rect">
            <a:avLst/>
          </a:prstGeom>
          <a:noFill/>
        </p:spPr>
        <p:txBody>
          <a:bodyPr wrap="none" lIns="0" rIns="0" tIns="0" bIns="0">
            <a:spAutoFit/>
          </a:bodyPr>
          <a:lstStyle/>
          <a:p>
            <a:r>
              <a:rPr sz="791" b="1">
                <a:solidFill>
                  <a:srgbClr val="2E2E2E"/>
                </a:solidFill>
                <a:latin typeface="Calibri"/>
              </a:rPr>
              <a:t>Masstige</a:t>
            </a:r>
          </a:p>
        </p:txBody>
      </p:sp>
      <p:pic>
        <p:nvPicPr>
          <p:cNvPr id="77" name="Picture 76" descr="lock.png"/>
          <p:cNvPicPr>
            <a:picLocks noChangeAspect="1"/>
          </p:cNvPicPr>
          <p:nvPr/>
        </p:nvPicPr>
        <p:blipFill>
          <a:blip r:embed="rId4"/>
          <a:stretch>
            <a:fillRect/>
          </a:stretch>
        </p:blipFill>
        <p:spPr>
          <a:xfrm>
            <a:off x="6365647" y="6344113"/>
            <a:ext cx="92663" cy="134782"/>
          </a:xfrm>
          <a:prstGeom prst="rect">
            <a:avLst/>
          </a:prstGeom>
        </p:spPr>
      </p:pic>
      <p:sp>
        <p:nvSpPr>
          <p:cNvPr id="78" name="TextBox 77"/>
          <p:cNvSpPr txBox="1"/>
          <p:nvPr/>
        </p:nvSpPr>
        <p:spPr>
          <a:xfrm>
            <a:off x="7715250" y="3971925"/>
            <a:ext cx="4171950" cy="194310"/>
          </a:xfrm>
          <a:prstGeom prst="rect">
            <a:avLst/>
          </a:prstGeom>
          <a:noFill/>
        </p:spPr>
        <p:txBody>
          <a:bodyPr wrap="none" lIns="0" rIns="0" tIns="0" bIns="0">
            <a:spAutoFit/>
          </a:bodyPr>
          <a:lstStyle/>
          <a:p>
            <a:r>
              <a:rPr sz="1150" b="0">
                <a:solidFill>
                  <a:srgbClr val="2E2E2E"/>
                </a:solidFill>
                <a:latin typeface="Calibri"/>
              </a:rPr>
              <a:t>Up to 30 g/ml segment is projected to account for the largest share of</a:t>
            </a:r>
          </a:p>
        </p:txBody>
      </p:sp>
      <p:sp>
        <p:nvSpPr>
          <p:cNvPr id="79" name="TextBox 78"/>
          <p:cNvSpPr txBox="1"/>
          <p:nvPr/>
        </p:nvSpPr>
        <p:spPr>
          <a:xfrm>
            <a:off x="7715250" y="4147185"/>
            <a:ext cx="4171950" cy="194310"/>
          </a:xfrm>
          <a:prstGeom prst="rect">
            <a:avLst/>
          </a:prstGeom>
          <a:noFill/>
        </p:spPr>
        <p:txBody>
          <a:bodyPr wrap="none" lIns="0" rIns="0" tIns="0" bIns="0">
            <a:spAutoFit/>
          </a:bodyPr>
          <a:lstStyle/>
          <a:p>
            <a:r>
              <a:rPr sz="1150" b="0">
                <a:solidFill>
                  <a:srgbClr val="2E2E2E"/>
                </a:solidFill>
                <a:latin typeface="Calibri"/>
              </a:rPr>
              <a:t>the North America ceramide sunscreen market, led by mass market at</a:t>
            </a:r>
          </a:p>
        </p:txBody>
      </p:sp>
      <p:sp>
        <p:nvSpPr>
          <p:cNvPr id="80" name="TextBox 79"/>
          <p:cNvSpPr txBox="1"/>
          <p:nvPr/>
        </p:nvSpPr>
        <p:spPr>
          <a:xfrm>
            <a:off x="7715250" y="432244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81" name="Picture 80" descr="lock.png"/>
          <p:cNvPicPr>
            <a:picLocks noChangeAspect="1"/>
          </p:cNvPicPr>
          <p:nvPr/>
        </p:nvPicPr>
        <p:blipFill>
          <a:blip r:embed="rId4"/>
          <a:stretch>
            <a:fillRect/>
          </a:stretch>
        </p:blipFill>
        <p:spPr>
          <a:xfrm>
            <a:off x="7975653" y="4312221"/>
            <a:ext cx="134549" cy="195707"/>
          </a:xfrm>
          <a:prstGeom prst="rect">
            <a:avLst/>
          </a:prstGeom>
        </p:spPr>
      </p:pic>
      <p:sp>
        <p:nvSpPr>
          <p:cNvPr id="82" name="TextBox 81"/>
          <p:cNvSpPr txBox="1"/>
          <p:nvPr/>
        </p:nvSpPr>
        <p:spPr>
          <a:xfrm>
            <a:off x="8150762" y="4322445"/>
            <a:ext cx="3619624" cy="194310"/>
          </a:xfrm>
          <a:prstGeom prst="rect">
            <a:avLst/>
          </a:prstGeom>
          <a:noFill/>
        </p:spPr>
        <p:txBody>
          <a:bodyPr wrap="none" lIns="0" rIns="0" tIns="0" bIns="0">
            <a:spAutoFit/>
          </a:bodyPr>
          <a:lstStyle/>
          <a:p>
            <a:r>
              <a:rPr sz="1150" b="0">
                <a:solidFill>
                  <a:srgbClr val="2E2E2E"/>
                </a:solidFill>
                <a:latin typeface="Calibri"/>
              </a:rPr>
              <a:t>Mn in 2036. 'Above 30–50 g/ml × Mass Market' is the single</a:t>
            </a:r>
          </a:p>
        </p:txBody>
      </p:sp>
      <p:sp>
        <p:nvSpPr>
          <p:cNvPr id="83" name="TextBox 82"/>
          <p:cNvSpPr txBox="1"/>
          <p:nvPr/>
        </p:nvSpPr>
        <p:spPr>
          <a:xfrm>
            <a:off x="7715250" y="4497704"/>
            <a:ext cx="1704429" cy="194310"/>
          </a:xfrm>
          <a:prstGeom prst="rect">
            <a:avLst/>
          </a:prstGeom>
          <a:noFill/>
        </p:spPr>
        <p:txBody>
          <a:bodyPr wrap="none" lIns="0" rIns="0" tIns="0" bIns="0">
            <a:spAutoFit/>
          </a:bodyPr>
          <a:lstStyle/>
          <a:p>
            <a:r>
              <a:rPr sz="1150" b="0">
                <a:solidFill>
                  <a:srgbClr val="2E2E2E"/>
                </a:solidFill>
                <a:latin typeface="Calibri"/>
              </a:rPr>
              <a:t>largest cross-sectional cell (</a:t>
            </a:r>
          </a:p>
        </p:txBody>
      </p:sp>
      <p:pic>
        <p:nvPicPr>
          <p:cNvPr id="84" name="Picture 83" descr="lock.png"/>
          <p:cNvPicPr>
            <a:picLocks noChangeAspect="1"/>
          </p:cNvPicPr>
          <p:nvPr/>
        </p:nvPicPr>
        <p:blipFill>
          <a:blip r:embed="rId4"/>
          <a:stretch>
            <a:fillRect/>
          </a:stretch>
        </p:blipFill>
        <p:spPr>
          <a:xfrm>
            <a:off x="9368833" y="4487481"/>
            <a:ext cx="134549" cy="195707"/>
          </a:xfrm>
          <a:prstGeom prst="rect">
            <a:avLst/>
          </a:prstGeom>
        </p:spPr>
      </p:pic>
      <p:sp>
        <p:nvSpPr>
          <p:cNvPr id="85" name="TextBox 84"/>
          <p:cNvSpPr txBox="1"/>
          <p:nvPr/>
        </p:nvSpPr>
        <p:spPr>
          <a:xfrm>
            <a:off x="9543942" y="4497704"/>
            <a:ext cx="1860748" cy="194310"/>
          </a:xfrm>
          <a:prstGeom prst="rect">
            <a:avLst/>
          </a:prstGeom>
          <a:noFill/>
        </p:spPr>
        <p:txBody>
          <a:bodyPr wrap="none" lIns="0" rIns="0" tIns="0" bIns="0">
            <a:spAutoFit/>
          </a:bodyPr>
          <a:lstStyle/>
          <a:p>
            <a:r>
              <a:rPr sz="1150" b="0">
                <a:solidFill>
                  <a:srgbClr val="2E2E2E"/>
                </a:solidFill>
                <a:latin typeface="Calibri"/>
              </a:rPr>
              <a:t>US$ Mn, 2026E), while 'Above</a:t>
            </a:r>
          </a:p>
        </p:txBody>
      </p:sp>
      <p:sp>
        <p:nvSpPr>
          <p:cNvPr id="86" name="TextBox 85"/>
          <p:cNvSpPr txBox="1"/>
          <p:nvPr/>
        </p:nvSpPr>
        <p:spPr>
          <a:xfrm>
            <a:off x="7715250" y="4672964"/>
            <a:ext cx="3932262" cy="194310"/>
          </a:xfrm>
          <a:prstGeom prst="rect">
            <a:avLst/>
          </a:prstGeom>
          <a:noFill/>
        </p:spPr>
        <p:txBody>
          <a:bodyPr wrap="none" lIns="0" rIns="0" tIns="0" bIns="0">
            <a:spAutoFit/>
          </a:bodyPr>
          <a:lstStyle/>
          <a:p>
            <a:r>
              <a:rPr sz="1150" b="0">
                <a:solidFill>
                  <a:srgbClr val="2E2E2E"/>
                </a:solidFill>
                <a:latin typeface="Calibri"/>
              </a:rPr>
              <a:t>100–200 g/ml × Prestige / Luxury' records the fastest growth at a</a:t>
            </a:r>
          </a:p>
        </p:txBody>
      </p:sp>
      <p:sp>
        <p:nvSpPr>
          <p:cNvPr id="87" name="TextBox 86"/>
          <p:cNvSpPr txBox="1"/>
          <p:nvPr/>
        </p:nvSpPr>
        <p:spPr>
          <a:xfrm>
            <a:off x="7715250" y="4848224"/>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88" name="Picture 87" descr="lock.png"/>
          <p:cNvPicPr>
            <a:picLocks noChangeAspect="1"/>
          </p:cNvPicPr>
          <p:nvPr/>
        </p:nvPicPr>
        <p:blipFill>
          <a:blip r:embed="rId4"/>
          <a:stretch>
            <a:fillRect/>
          </a:stretch>
        </p:blipFill>
        <p:spPr>
          <a:xfrm>
            <a:off x="8228940" y="4838001"/>
            <a:ext cx="134549" cy="195707"/>
          </a:xfrm>
          <a:prstGeom prst="rect">
            <a:avLst/>
          </a:prstGeom>
        </p:spPr>
      </p:pic>
      <p:sp>
        <p:nvSpPr>
          <p:cNvPr id="89" name="TextBox 88"/>
          <p:cNvSpPr txBox="1"/>
          <p:nvPr/>
        </p:nvSpPr>
        <p:spPr>
          <a:xfrm>
            <a:off x="8404050" y="4848224"/>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90" name="TextBox 89"/>
          <p:cNvSpPr txBox="1"/>
          <p:nvPr/>
        </p:nvSpPr>
        <p:spPr>
          <a:xfrm>
            <a:off x="7715250" y="5076062"/>
            <a:ext cx="3819301" cy="194310"/>
          </a:xfrm>
          <a:prstGeom prst="rect">
            <a:avLst/>
          </a:prstGeom>
          <a:noFill/>
        </p:spPr>
        <p:txBody>
          <a:bodyPr wrap="none" lIns="0" rIns="0" tIns="0" bIns="0">
            <a:spAutoFit/>
          </a:bodyPr>
          <a:lstStyle/>
          <a:p>
            <a:r>
              <a:rPr sz="1150" b="0">
                <a:solidFill>
                  <a:srgbClr val="2E2E2E"/>
                </a:solidFill>
                <a:latin typeface="Calibri"/>
              </a:rPr>
              <a:t>Combined, the top three pack size × price tier cells generate an</a:t>
            </a:r>
          </a:p>
        </p:txBody>
      </p:sp>
      <p:sp>
        <p:nvSpPr>
          <p:cNvPr id="91" name="TextBox 90"/>
          <p:cNvSpPr txBox="1"/>
          <p:nvPr/>
        </p:nvSpPr>
        <p:spPr>
          <a:xfrm>
            <a:off x="7715250" y="5251322"/>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92" name="Picture 91" descr="lock.png"/>
          <p:cNvPicPr>
            <a:picLocks noChangeAspect="1"/>
          </p:cNvPicPr>
          <p:nvPr/>
        </p:nvPicPr>
        <p:blipFill>
          <a:blip r:embed="rId4"/>
          <a:stretch>
            <a:fillRect/>
          </a:stretch>
        </p:blipFill>
        <p:spPr>
          <a:xfrm>
            <a:off x="9258439" y="5241099"/>
            <a:ext cx="134549" cy="195707"/>
          </a:xfrm>
          <a:prstGeom prst="rect">
            <a:avLst/>
          </a:prstGeom>
        </p:spPr>
      </p:pic>
      <p:sp>
        <p:nvSpPr>
          <p:cNvPr id="93" name="TextBox 92"/>
          <p:cNvSpPr txBox="1"/>
          <p:nvPr/>
        </p:nvSpPr>
        <p:spPr>
          <a:xfrm>
            <a:off x="9433549" y="525132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Pack Size × Price Tier,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price tier sub-segments</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Pack Size × Price Tier, 2026E (% of each row)</a:t>
            </a:r>
          </a:p>
        </p:txBody>
      </p:sp>
      <p:graphicFrame>
        <p:nvGraphicFramePr>
          <p:cNvPr id="12" name="Table 11"/>
          <p:cNvGraphicFramePr>
            <a:graphicFrameLocks noGrp="1"/>
          </p:cNvGraphicFramePr>
          <p:nvPr/>
        </p:nvGraphicFramePr>
        <p:xfrm>
          <a:off x="152400" y="1238250"/>
          <a:ext cx="11887198" cy="1724022"/>
        </p:xfrm>
        <a:graphic>
          <a:graphicData uri="http://schemas.openxmlformats.org/drawingml/2006/table">
            <a:tbl>
              <a:tblPr>
                <a:tableStyleId>{5C22544A-7EE6-4342-B048-85BDC9FD1C3A}</a:tableStyleId>
              </a:tblPr>
              <a:tblGrid>
                <a:gridCol w="2309733"/>
                <a:gridCol w="1915493"/>
                <a:gridCol w="1915493"/>
                <a:gridCol w="1915493"/>
                <a:gridCol w="1915493"/>
                <a:gridCol w="1915493"/>
              </a:tblGrid>
              <a:tr h="246126">
                <a:tc>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Mass Market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Masstige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Premium</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Prestige / Luxury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7286625"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3623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Tier Mix by Pack Size, 2026E (% share)</a:t>
            </a:r>
          </a:p>
        </p:txBody>
      </p:sp>
      <p:graphicFrame>
        <p:nvGraphicFramePr>
          <p:cNvPr id="16" name="Chart 15"/>
          <p:cNvGraphicFramePr>
            <a:graphicFrameLocks noGrp="1"/>
          </p:cNvGraphicFramePr>
          <p:nvPr/>
        </p:nvGraphicFramePr>
        <p:xfrm>
          <a:off x="238125" y="3590925"/>
          <a:ext cx="7096125" cy="298132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305175"/>
            <a:ext cx="445770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3909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6290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714750"/>
            <a:ext cx="419100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064175" y="1956623"/>
            <a:ext cx="366712" cy="533400"/>
          </a:xfrm>
          <a:prstGeom prst="rect">
            <a:avLst/>
          </a:prstGeom>
        </p:spPr>
      </p:pic>
      <p:pic>
        <p:nvPicPr>
          <p:cNvPr id="23" name="Picture 22" descr="lock.png"/>
          <p:cNvPicPr>
            <a:picLocks noChangeAspect="1"/>
          </p:cNvPicPr>
          <p:nvPr/>
        </p:nvPicPr>
        <p:blipFill>
          <a:blip r:embed="rId5"/>
          <a:stretch>
            <a:fillRect/>
          </a:stretch>
        </p:blipFill>
        <p:spPr>
          <a:xfrm>
            <a:off x="3760202" y="4257864"/>
            <a:ext cx="341043" cy="496063"/>
          </a:xfrm>
          <a:prstGeom prst="rect">
            <a:avLst/>
          </a:prstGeom>
        </p:spPr>
      </p:pic>
      <p:sp>
        <p:nvSpPr>
          <p:cNvPr id="24" name="TextBox 23"/>
          <p:cNvSpPr txBox="1"/>
          <p:nvPr/>
        </p:nvSpPr>
        <p:spPr>
          <a:xfrm>
            <a:off x="7715250" y="3724275"/>
            <a:ext cx="4056347" cy="194310"/>
          </a:xfrm>
          <a:prstGeom prst="rect">
            <a:avLst/>
          </a:prstGeom>
          <a:noFill/>
        </p:spPr>
        <p:txBody>
          <a:bodyPr wrap="none" lIns="0" rIns="0" tIns="0" bIns="0">
            <a:spAutoFit/>
          </a:bodyPr>
          <a:lstStyle/>
          <a:p>
            <a:r>
              <a:rPr sz="1150" b="0">
                <a:solidFill>
                  <a:srgbClr val="2E2E2E"/>
                </a:solidFill>
                <a:latin typeface="Calibri"/>
              </a:rPr>
              <a:t>▪ 'Mass Market' holds the highest share of 'Above 100–200 g/ml' at</a:t>
            </a:r>
          </a:p>
        </p:txBody>
      </p:sp>
      <p:pic>
        <p:nvPicPr>
          <p:cNvPr id="25" name="Picture 24" descr="lock.png"/>
          <p:cNvPicPr>
            <a:picLocks noChangeAspect="1"/>
          </p:cNvPicPr>
          <p:nvPr/>
        </p:nvPicPr>
        <p:blipFill>
          <a:blip r:embed="rId5"/>
          <a:stretch>
            <a:fillRect/>
          </a:stretch>
        </p:blipFill>
        <p:spPr>
          <a:xfrm>
            <a:off x="7701170" y="3889311"/>
            <a:ext cx="134549" cy="195707"/>
          </a:xfrm>
          <a:prstGeom prst="rect">
            <a:avLst/>
          </a:prstGeom>
        </p:spPr>
      </p:pic>
      <p:sp>
        <p:nvSpPr>
          <p:cNvPr id="26" name="TextBox 25"/>
          <p:cNvSpPr txBox="1"/>
          <p:nvPr/>
        </p:nvSpPr>
        <p:spPr>
          <a:xfrm>
            <a:off x="7876279" y="38995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7" name="TextBox 26"/>
          <p:cNvSpPr txBox="1"/>
          <p:nvPr/>
        </p:nvSpPr>
        <p:spPr>
          <a:xfrm>
            <a:off x="7715250" y="4127372"/>
            <a:ext cx="3540893" cy="194310"/>
          </a:xfrm>
          <a:prstGeom prst="rect">
            <a:avLst/>
          </a:prstGeom>
          <a:noFill/>
        </p:spPr>
        <p:txBody>
          <a:bodyPr wrap="none" lIns="0" rIns="0" tIns="0" bIns="0">
            <a:spAutoFit/>
          </a:bodyPr>
          <a:lstStyle/>
          <a:p>
            <a:r>
              <a:rPr sz="1150" b="0">
                <a:solidFill>
                  <a:srgbClr val="2E2E2E"/>
                </a:solidFill>
                <a:latin typeface="Calibri"/>
              </a:rPr>
              <a:t>▪ 'Above 100–200 g/ml' is the most concentrated pack size</a:t>
            </a:r>
          </a:p>
        </p:txBody>
      </p:sp>
      <p:sp>
        <p:nvSpPr>
          <p:cNvPr id="28" name="TextBox 27"/>
          <p:cNvSpPr txBox="1"/>
          <p:nvPr/>
        </p:nvSpPr>
        <p:spPr>
          <a:xfrm>
            <a:off x="7715250" y="4302632"/>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9" name="Picture 28" descr="lock.png"/>
          <p:cNvPicPr>
            <a:picLocks noChangeAspect="1"/>
          </p:cNvPicPr>
          <p:nvPr/>
        </p:nvPicPr>
        <p:blipFill>
          <a:blip r:embed="rId5"/>
          <a:stretch>
            <a:fillRect/>
          </a:stretch>
        </p:blipFill>
        <p:spPr>
          <a:xfrm>
            <a:off x="8843110" y="4292409"/>
            <a:ext cx="134549" cy="195707"/>
          </a:xfrm>
          <a:prstGeom prst="rect">
            <a:avLst/>
          </a:prstGeom>
        </p:spPr>
      </p:pic>
      <p:sp>
        <p:nvSpPr>
          <p:cNvPr id="30" name="TextBox 29"/>
          <p:cNvSpPr txBox="1"/>
          <p:nvPr/>
        </p:nvSpPr>
        <p:spPr>
          <a:xfrm>
            <a:off x="9018219" y="4302632"/>
            <a:ext cx="1835646" cy="194310"/>
          </a:xfrm>
          <a:prstGeom prst="rect">
            <a:avLst/>
          </a:prstGeom>
          <a:noFill/>
        </p:spPr>
        <p:txBody>
          <a:bodyPr wrap="none" lIns="0" rIns="0" tIns="0" bIns="0">
            <a:spAutoFit/>
          </a:bodyPr>
          <a:lstStyle/>
          <a:p>
            <a:r>
              <a:rPr sz="1150" b="0">
                <a:solidFill>
                  <a:srgbClr val="2E2E2E"/>
                </a:solidFill>
                <a:latin typeface="Calibri"/>
              </a:rPr>
              <a:t>of its value via 'Mass Market'.</a:t>
            </a:r>
          </a:p>
        </p:txBody>
      </p:sp>
      <p:sp>
        <p:nvSpPr>
          <p:cNvPr id="31" name="TextBox 30"/>
          <p:cNvSpPr txBox="1"/>
          <p:nvPr/>
        </p:nvSpPr>
        <p:spPr>
          <a:xfrm>
            <a:off x="7715250" y="4530470"/>
            <a:ext cx="1669057" cy="194310"/>
          </a:xfrm>
          <a:prstGeom prst="rect">
            <a:avLst/>
          </a:prstGeom>
          <a:noFill/>
        </p:spPr>
        <p:txBody>
          <a:bodyPr wrap="none" lIns="0" rIns="0" tIns="0" bIns="0">
            <a:spAutoFit/>
          </a:bodyPr>
          <a:lstStyle/>
          <a:p>
            <a:r>
              <a:rPr sz="1150" b="0">
                <a:solidFill>
                  <a:srgbClr val="2E2E2E"/>
                </a:solidFill>
                <a:latin typeface="Calibri"/>
              </a:rPr>
              <a:t>▪ 'Prestige / Luxury' gains +</a:t>
            </a:r>
          </a:p>
        </p:txBody>
      </p:sp>
      <p:pic>
        <p:nvPicPr>
          <p:cNvPr id="32" name="Picture 31" descr="lock.png"/>
          <p:cNvPicPr>
            <a:picLocks noChangeAspect="1"/>
          </p:cNvPicPr>
          <p:nvPr/>
        </p:nvPicPr>
        <p:blipFill>
          <a:blip r:embed="rId5"/>
          <a:stretch>
            <a:fillRect/>
          </a:stretch>
        </p:blipFill>
        <p:spPr>
          <a:xfrm>
            <a:off x="9333461" y="4520247"/>
            <a:ext cx="134549" cy="195707"/>
          </a:xfrm>
          <a:prstGeom prst="rect">
            <a:avLst/>
          </a:prstGeom>
        </p:spPr>
      </p:pic>
      <p:sp>
        <p:nvSpPr>
          <p:cNvPr id="33" name="TextBox 32"/>
          <p:cNvSpPr txBox="1"/>
          <p:nvPr/>
        </p:nvSpPr>
        <p:spPr>
          <a:xfrm>
            <a:off x="9508571" y="4530470"/>
            <a:ext cx="2104640" cy="194310"/>
          </a:xfrm>
          <a:prstGeom prst="rect">
            <a:avLst/>
          </a:prstGeom>
          <a:noFill/>
        </p:spPr>
        <p:txBody>
          <a:bodyPr wrap="none" lIns="0" rIns="0" tIns="0" bIns="0">
            <a:spAutoFit/>
          </a:bodyPr>
          <a:lstStyle/>
          <a:p>
            <a:r>
              <a:rPr sz="1150" b="0">
                <a:solidFill>
                  <a:srgbClr val="2E2E2E"/>
                </a:solidFill>
                <a:latin typeface="Calibri"/>
              </a:rPr>
              <a:t>BPS of share of the North America</a:t>
            </a:r>
          </a:p>
        </p:txBody>
      </p:sp>
      <p:sp>
        <p:nvSpPr>
          <p:cNvPr id="34" name="TextBox 33"/>
          <p:cNvSpPr txBox="1"/>
          <p:nvPr/>
        </p:nvSpPr>
        <p:spPr>
          <a:xfrm>
            <a:off x="7715250" y="4705730"/>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5" name="lockshield_16"/>
          <p:cNvSpPr/>
          <p:nvPr/>
        </p:nvSpPr>
        <p:spPr>
          <a:xfrm>
            <a:off x="238125" y="3590925"/>
            <a:ext cx="7096125" cy="29813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Pack Size × Price Tier,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Pack Size × Price Tier, 2026E–2036F</a:t>
            </a:r>
          </a:p>
        </p:txBody>
      </p:sp>
      <p:graphicFrame>
        <p:nvGraphicFramePr>
          <p:cNvPr id="12" name="Table 11"/>
          <p:cNvGraphicFramePr>
            <a:graphicFrameLocks noGrp="1"/>
          </p:cNvGraphicFramePr>
          <p:nvPr/>
        </p:nvGraphicFramePr>
        <p:xfrm>
          <a:off x="152400" y="1238250"/>
          <a:ext cx="11887203" cy="1971675"/>
        </p:xfrm>
        <a:graphic>
          <a:graphicData uri="http://schemas.openxmlformats.org/drawingml/2006/table">
            <a:tbl>
              <a:tblPr>
                <a:tableStyleId>{5C22544A-7EE6-4342-B048-85BDC9FD1C3A}</a:tableStyleId>
              </a:tblPr>
              <a:tblGrid>
                <a:gridCol w="2243563"/>
                <a:gridCol w="964364"/>
                <a:gridCol w="964364"/>
                <a:gridCol w="964364"/>
                <a:gridCol w="964364"/>
                <a:gridCol w="964364"/>
                <a:gridCol w="964364"/>
                <a:gridCol w="964364"/>
                <a:gridCol w="964364"/>
                <a:gridCol w="964364"/>
                <a:gridCol w="964364"/>
              </a:tblGrid>
              <a:tr h="246126">
                <a:tc rowSpan="2">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Mass Market</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Masstige</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Premium</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Prestige / Luxury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560070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87667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53340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552825"/>
            <a:ext cx="1943100" cy="30765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63855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8766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962400"/>
            <a:ext cx="167640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'Up to 30 g/ml × Mass Market' ranks highest (5/5); 'Above 50–100 g/ml × Masstige'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031093" y="2203704"/>
            <a:ext cx="366712" cy="533400"/>
          </a:xfrm>
          <a:prstGeom prst="rect">
            <a:avLst/>
          </a:prstGeom>
        </p:spPr>
      </p:pic>
      <p:sp>
        <p:nvSpPr>
          <p:cNvPr id="32" name="TextBox 31"/>
          <p:cNvSpPr txBox="1"/>
          <p:nvPr/>
        </p:nvSpPr>
        <p:spPr>
          <a:xfrm>
            <a:off x="276225" y="3971925"/>
            <a:ext cx="2266949" cy="194310"/>
          </a:xfrm>
          <a:prstGeom prst="rect">
            <a:avLst/>
          </a:prstGeom>
          <a:noFill/>
        </p:spPr>
        <p:txBody>
          <a:bodyPr wrap="none" lIns="0" rIns="0" tIns="0" bIns="0">
            <a:spAutoFit/>
          </a:bodyPr>
          <a:lstStyle/>
          <a:p>
            <a:r>
              <a:rPr sz="1150" b="0">
                <a:solidFill>
                  <a:srgbClr val="2E2E2E"/>
                </a:solidFill>
                <a:latin typeface="Calibri"/>
              </a:rPr>
              <a:t>▪ 1. Above 200 g/ml × Mass Market –</a:t>
            </a:r>
          </a:p>
        </p:txBody>
      </p:sp>
      <p:pic>
        <p:nvPicPr>
          <p:cNvPr id="33" name="Picture 32" descr="lock.png"/>
          <p:cNvPicPr>
            <a:picLocks noChangeAspect="1"/>
          </p:cNvPicPr>
          <p:nvPr/>
        </p:nvPicPr>
        <p:blipFill>
          <a:blip r:embed="rId4"/>
          <a:stretch>
            <a:fillRect/>
          </a:stretch>
        </p:blipFill>
        <p:spPr>
          <a:xfrm>
            <a:off x="2492328" y="3961701"/>
            <a:ext cx="134549" cy="195707"/>
          </a:xfrm>
          <a:prstGeom prst="rect">
            <a:avLst/>
          </a:prstGeom>
        </p:spPr>
      </p:pic>
      <p:sp>
        <p:nvSpPr>
          <p:cNvPr id="34" name="TextBox 33"/>
          <p:cNvSpPr txBox="1"/>
          <p:nvPr/>
        </p:nvSpPr>
        <p:spPr>
          <a:xfrm>
            <a:off x="2667438" y="39719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2729589" y="3961701"/>
            <a:ext cx="134549" cy="195707"/>
          </a:xfrm>
          <a:prstGeom prst="rect">
            <a:avLst/>
          </a:prstGeom>
        </p:spPr>
      </p:pic>
      <p:sp>
        <p:nvSpPr>
          <p:cNvPr id="36" name="TextBox 35"/>
          <p:cNvSpPr txBox="1"/>
          <p:nvPr/>
        </p:nvSpPr>
        <p:spPr>
          <a:xfrm>
            <a:off x="2904699" y="397192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199763"/>
            <a:ext cx="2145717" cy="194310"/>
          </a:xfrm>
          <a:prstGeom prst="rect">
            <a:avLst/>
          </a:prstGeom>
          <a:noFill/>
        </p:spPr>
        <p:txBody>
          <a:bodyPr wrap="none" lIns="0" rIns="0" tIns="0" bIns="0">
            <a:spAutoFit/>
          </a:bodyPr>
          <a:lstStyle/>
          <a:p>
            <a:r>
              <a:rPr sz="1150" b="0">
                <a:solidFill>
                  <a:srgbClr val="2E2E2E"/>
                </a:solidFill>
                <a:latin typeface="Calibri"/>
              </a:rPr>
              <a:t>▪ 2. Up to 30 g/ml × Mass Market –</a:t>
            </a:r>
          </a:p>
        </p:txBody>
      </p:sp>
      <p:pic>
        <p:nvPicPr>
          <p:cNvPr id="38" name="Picture 37" descr="lock.png"/>
          <p:cNvPicPr>
            <a:picLocks noChangeAspect="1"/>
          </p:cNvPicPr>
          <p:nvPr/>
        </p:nvPicPr>
        <p:blipFill>
          <a:blip r:embed="rId4"/>
          <a:stretch>
            <a:fillRect/>
          </a:stretch>
        </p:blipFill>
        <p:spPr>
          <a:xfrm>
            <a:off x="2371096" y="4189539"/>
            <a:ext cx="134549" cy="195707"/>
          </a:xfrm>
          <a:prstGeom prst="rect">
            <a:avLst/>
          </a:prstGeom>
        </p:spPr>
      </p:pic>
      <p:sp>
        <p:nvSpPr>
          <p:cNvPr id="39" name="TextBox 38"/>
          <p:cNvSpPr txBox="1"/>
          <p:nvPr/>
        </p:nvSpPr>
        <p:spPr>
          <a:xfrm>
            <a:off x="2546205" y="41997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2608356" y="4189539"/>
            <a:ext cx="134549" cy="195707"/>
          </a:xfrm>
          <a:prstGeom prst="rect">
            <a:avLst/>
          </a:prstGeom>
        </p:spPr>
      </p:pic>
      <p:sp>
        <p:nvSpPr>
          <p:cNvPr id="41" name="TextBox 40"/>
          <p:cNvSpPr txBox="1"/>
          <p:nvPr/>
        </p:nvSpPr>
        <p:spPr>
          <a:xfrm>
            <a:off x="2783466" y="419976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4427600"/>
            <a:ext cx="2413855" cy="194310"/>
          </a:xfrm>
          <a:prstGeom prst="rect">
            <a:avLst/>
          </a:prstGeom>
          <a:noFill/>
        </p:spPr>
        <p:txBody>
          <a:bodyPr wrap="none" lIns="0" rIns="0" tIns="0" bIns="0">
            <a:spAutoFit/>
          </a:bodyPr>
          <a:lstStyle/>
          <a:p>
            <a:r>
              <a:rPr sz="1150" b="0">
                <a:solidFill>
                  <a:srgbClr val="2E2E2E"/>
                </a:solidFill>
                <a:latin typeface="Calibri"/>
              </a:rPr>
              <a:t>▪ 3. Above 30–50 g/ml × Mass Market –</a:t>
            </a:r>
          </a:p>
        </p:txBody>
      </p:sp>
      <p:pic>
        <p:nvPicPr>
          <p:cNvPr id="43" name="Picture 42" descr="lock.png"/>
          <p:cNvPicPr>
            <a:picLocks noChangeAspect="1"/>
          </p:cNvPicPr>
          <p:nvPr/>
        </p:nvPicPr>
        <p:blipFill>
          <a:blip r:embed="rId4"/>
          <a:stretch>
            <a:fillRect/>
          </a:stretch>
        </p:blipFill>
        <p:spPr>
          <a:xfrm>
            <a:off x="2639234" y="4417377"/>
            <a:ext cx="134549" cy="195707"/>
          </a:xfrm>
          <a:prstGeom prst="rect">
            <a:avLst/>
          </a:prstGeom>
        </p:spPr>
      </p:pic>
      <p:sp>
        <p:nvSpPr>
          <p:cNvPr id="44" name="TextBox 43"/>
          <p:cNvSpPr txBox="1"/>
          <p:nvPr/>
        </p:nvSpPr>
        <p:spPr>
          <a:xfrm>
            <a:off x="2814343" y="442760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2876495" y="4417377"/>
            <a:ext cx="134549" cy="195707"/>
          </a:xfrm>
          <a:prstGeom prst="rect">
            <a:avLst/>
          </a:prstGeom>
        </p:spPr>
      </p:pic>
      <p:sp>
        <p:nvSpPr>
          <p:cNvPr id="46" name="TextBox 45"/>
          <p:cNvSpPr txBox="1"/>
          <p:nvPr/>
        </p:nvSpPr>
        <p:spPr>
          <a:xfrm>
            <a:off x="3051604" y="4427600"/>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276225" y="4655438"/>
            <a:ext cx="2562187" cy="194310"/>
          </a:xfrm>
          <a:prstGeom prst="rect">
            <a:avLst/>
          </a:prstGeom>
          <a:noFill/>
        </p:spPr>
        <p:txBody>
          <a:bodyPr wrap="none" lIns="0" rIns="0" tIns="0" bIns="0">
            <a:spAutoFit/>
          </a:bodyPr>
          <a:lstStyle/>
          <a:p>
            <a:r>
              <a:rPr sz="1150" b="0">
                <a:solidFill>
                  <a:srgbClr val="2E2E2E"/>
                </a:solidFill>
                <a:latin typeface="Calibri"/>
              </a:rPr>
              <a:t>▪ 4. Above 100–200 g/ml × Mass Market –</a:t>
            </a:r>
          </a:p>
        </p:txBody>
      </p:sp>
      <p:pic>
        <p:nvPicPr>
          <p:cNvPr id="48" name="Picture 47" descr="lock.png"/>
          <p:cNvPicPr>
            <a:picLocks noChangeAspect="1"/>
          </p:cNvPicPr>
          <p:nvPr/>
        </p:nvPicPr>
        <p:blipFill>
          <a:blip r:embed="rId4"/>
          <a:stretch>
            <a:fillRect/>
          </a:stretch>
        </p:blipFill>
        <p:spPr>
          <a:xfrm>
            <a:off x="2787566" y="4645215"/>
            <a:ext cx="134549" cy="195707"/>
          </a:xfrm>
          <a:prstGeom prst="rect">
            <a:avLst/>
          </a:prstGeom>
        </p:spPr>
      </p:pic>
      <p:sp>
        <p:nvSpPr>
          <p:cNvPr id="49" name="TextBox 48"/>
          <p:cNvSpPr txBox="1"/>
          <p:nvPr/>
        </p:nvSpPr>
        <p:spPr>
          <a:xfrm>
            <a:off x="2962676" y="465543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024827" y="4645215"/>
            <a:ext cx="134549" cy="195707"/>
          </a:xfrm>
          <a:prstGeom prst="rect">
            <a:avLst/>
          </a:prstGeom>
        </p:spPr>
      </p:pic>
      <p:sp>
        <p:nvSpPr>
          <p:cNvPr id="51" name="TextBox 50"/>
          <p:cNvSpPr txBox="1"/>
          <p:nvPr/>
        </p:nvSpPr>
        <p:spPr>
          <a:xfrm>
            <a:off x="3199936" y="465543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276225" y="4883276"/>
            <a:ext cx="2368215" cy="194310"/>
          </a:xfrm>
          <a:prstGeom prst="rect">
            <a:avLst/>
          </a:prstGeom>
          <a:noFill/>
        </p:spPr>
        <p:txBody>
          <a:bodyPr wrap="none" lIns="0" rIns="0" tIns="0" bIns="0">
            <a:spAutoFit/>
          </a:bodyPr>
          <a:lstStyle/>
          <a:p>
            <a:r>
              <a:rPr sz="1150" b="0">
                <a:solidFill>
                  <a:srgbClr val="2E2E2E"/>
                </a:solidFill>
                <a:latin typeface="Calibri"/>
              </a:rPr>
              <a:t>▪ 5. Up to 30 g/ml × Prestige / Luxury –</a:t>
            </a:r>
          </a:p>
        </p:txBody>
      </p:sp>
      <p:pic>
        <p:nvPicPr>
          <p:cNvPr id="53" name="Picture 52" descr="lock.png"/>
          <p:cNvPicPr>
            <a:picLocks noChangeAspect="1"/>
          </p:cNvPicPr>
          <p:nvPr/>
        </p:nvPicPr>
        <p:blipFill>
          <a:blip r:embed="rId4"/>
          <a:stretch>
            <a:fillRect/>
          </a:stretch>
        </p:blipFill>
        <p:spPr>
          <a:xfrm>
            <a:off x="2593594" y="4873053"/>
            <a:ext cx="134549" cy="195707"/>
          </a:xfrm>
          <a:prstGeom prst="rect">
            <a:avLst/>
          </a:prstGeom>
        </p:spPr>
      </p:pic>
      <p:sp>
        <p:nvSpPr>
          <p:cNvPr id="54" name="TextBox 53"/>
          <p:cNvSpPr txBox="1"/>
          <p:nvPr/>
        </p:nvSpPr>
        <p:spPr>
          <a:xfrm>
            <a:off x="2768703" y="488327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2830855" y="4873053"/>
            <a:ext cx="134549" cy="195707"/>
          </a:xfrm>
          <a:prstGeom prst="rect">
            <a:avLst/>
          </a:prstGeom>
        </p:spPr>
      </p:pic>
      <p:sp>
        <p:nvSpPr>
          <p:cNvPr id="56" name="TextBox 55"/>
          <p:cNvSpPr txBox="1"/>
          <p:nvPr/>
        </p:nvSpPr>
        <p:spPr>
          <a:xfrm>
            <a:off x="3005964" y="4883276"/>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7" name="TextBox 56"/>
          <p:cNvSpPr txBox="1"/>
          <p:nvPr/>
        </p:nvSpPr>
        <p:spPr>
          <a:xfrm>
            <a:off x="6029325" y="3971925"/>
            <a:ext cx="1582055" cy="194310"/>
          </a:xfrm>
          <a:prstGeom prst="rect">
            <a:avLst/>
          </a:prstGeom>
          <a:noFill/>
        </p:spPr>
        <p:txBody>
          <a:bodyPr wrap="none" lIns="0" rIns="0" tIns="0" bIns="0">
            <a:spAutoFit/>
          </a:bodyPr>
          <a:lstStyle/>
          <a:p>
            <a:r>
              <a:rPr sz="1150" b="0">
                <a:solidFill>
                  <a:srgbClr val="2E2E2E"/>
                </a:solidFill>
                <a:latin typeface="Calibri"/>
              </a:rPr>
              <a:t>▪ 'Above 200 g/ml × Mass</a:t>
            </a:r>
          </a:p>
        </p:txBody>
      </p:sp>
      <p:sp>
        <p:nvSpPr>
          <p:cNvPr id="58" name="TextBox 57"/>
          <p:cNvSpPr txBox="1"/>
          <p:nvPr/>
        </p:nvSpPr>
        <p:spPr>
          <a:xfrm>
            <a:off x="6029325" y="4147185"/>
            <a:ext cx="856084" cy="194310"/>
          </a:xfrm>
          <a:prstGeom prst="rect">
            <a:avLst/>
          </a:prstGeom>
          <a:noFill/>
        </p:spPr>
        <p:txBody>
          <a:bodyPr wrap="none" lIns="0" rIns="0" tIns="0" bIns="0">
            <a:spAutoFit/>
          </a:bodyPr>
          <a:lstStyle/>
          <a:p>
            <a:r>
              <a:rPr sz="1150" b="0">
                <a:solidFill>
                  <a:srgbClr val="2E2E2E"/>
                </a:solidFill>
                <a:latin typeface="Calibri"/>
              </a:rPr>
              <a:t>Market' adds</a:t>
            </a:r>
          </a:p>
        </p:txBody>
      </p:sp>
      <p:pic>
        <p:nvPicPr>
          <p:cNvPr id="59" name="Picture 58" descr="lock.png"/>
          <p:cNvPicPr>
            <a:picLocks noChangeAspect="1"/>
          </p:cNvPicPr>
          <p:nvPr/>
        </p:nvPicPr>
        <p:blipFill>
          <a:blip r:embed="rId4"/>
          <a:stretch>
            <a:fillRect/>
          </a:stretch>
        </p:blipFill>
        <p:spPr>
          <a:xfrm>
            <a:off x="6834563" y="4136961"/>
            <a:ext cx="134549" cy="195707"/>
          </a:xfrm>
          <a:prstGeom prst="rect">
            <a:avLst/>
          </a:prstGeom>
        </p:spPr>
      </p:pic>
      <p:sp>
        <p:nvSpPr>
          <p:cNvPr id="60" name="TextBox 59"/>
          <p:cNvSpPr txBox="1"/>
          <p:nvPr/>
        </p:nvSpPr>
        <p:spPr>
          <a:xfrm>
            <a:off x="7009672" y="4147185"/>
            <a:ext cx="546013"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61" name="TextBox 60"/>
          <p:cNvSpPr txBox="1"/>
          <p:nvPr/>
        </p:nvSpPr>
        <p:spPr>
          <a:xfrm>
            <a:off x="6029325" y="4322445"/>
            <a:ext cx="721729" cy="194310"/>
          </a:xfrm>
          <a:prstGeom prst="rect">
            <a:avLst/>
          </a:prstGeom>
          <a:noFill/>
        </p:spPr>
        <p:txBody>
          <a:bodyPr wrap="none" lIns="0" rIns="0" tIns="0" bIns="0">
            <a:spAutoFit/>
          </a:bodyPr>
          <a:lstStyle/>
          <a:p>
            <a:r>
              <a:rPr sz="1150" b="0">
                <a:solidFill>
                  <a:srgbClr val="2E2E2E"/>
                </a:solidFill>
                <a:latin typeface="Calibri"/>
              </a:rPr>
              <a:t>by 2036F –</a:t>
            </a:r>
          </a:p>
        </p:txBody>
      </p:sp>
      <p:pic>
        <p:nvPicPr>
          <p:cNvPr id="62" name="Picture 61" descr="lock.png"/>
          <p:cNvPicPr>
            <a:picLocks noChangeAspect="1"/>
          </p:cNvPicPr>
          <p:nvPr/>
        </p:nvPicPr>
        <p:blipFill>
          <a:blip r:embed="rId4"/>
          <a:stretch>
            <a:fillRect/>
          </a:stretch>
        </p:blipFill>
        <p:spPr>
          <a:xfrm>
            <a:off x="6700208" y="4312221"/>
            <a:ext cx="134549" cy="195707"/>
          </a:xfrm>
          <a:prstGeom prst="rect">
            <a:avLst/>
          </a:prstGeom>
        </p:spPr>
      </p:pic>
      <p:sp>
        <p:nvSpPr>
          <p:cNvPr id="63" name="TextBox 62"/>
          <p:cNvSpPr txBox="1"/>
          <p:nvPr/>
        </p:nvSpPr>
        <p:spPr>
          <a:xfrm>
            <a:off x="6875317" y="4322445"/>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4" name="TextBox 63"/>
          <p:cNvSpPr txBox="1"/>
          <p:nvPr/>
        </p:nvSpPr>
        <p:spPr>
          <a:xfrm>
            <a:off x="6029325" y="449770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5" name="TextBox 64"/>
          <p:cNvSpPr txBox="1"/>
          <p:nvPr/>
        </p:nvSpPr>
        <p:spPr>
          <a:xfrm>
            <a:off x="8124825" y="3971925"/>
            <a:ext cx="1535273" cy="194310"/>
          </a:xfrm>
          <a:prstGeom prst="rect">
            <a:avLst/>
          </a:prstGeom>
          <a:noFill/>
        </p:spPr>
        <p:txBody>
          <a:bodyPr wrap="none" lIns="0" rIns="0" tIns="0" bIns="0">
            <a:spAutoFit/>
          </a:bodyPr>
          <a:lstStyle/>
          <a:p>
            <a:r>
              <a:rPr sz="1150" b="0">
                <a:solidFill>
                  <a:srgbClr val="2E2E2E"/>
                </a:solidFill>
                <a:latin typeface="Calibri"/>
              </a:rPr>
              <a:t>▪ 'Above 100–200 g/ml ×</a:t>
            </a:r>
          </a:p>
        </p:txBody>
      </p:sp>
      <p:sp>
        <p:nvSpPr>
          <p:cNvPr id="66" name="TextBox 65"/>
          <p:cNvSpPr txBox="1"/>
          <p:nvPr/>
        </p:nvSpPr>
        <p:spPr>
          <a:xfrm>
            <a:off x="8124825" y="4147185"/>
            <a:ext cx="1650516" cy="194310"/>
          </a:xfrm>
          <a:prstGeom prst="rect">
            <a:avLst/>
          </a:prstGeom>
          <a:noFill/>
        </p:spPr>
        <p:txBody>
          <a:bodyPr wrap="none" lIns="0" rIns="0" tIns="0" bIns="0">
            <a:spAutoFit/>
          </a:bodyPr>
          <a:lstStyle/>
          <a:p>
            <a:r>
              <a:rPr sz="1150" b="0">
                <a:solidFill>
                  <a:srgbClr val="2E2E2E"/>
                </a:solidFill>
                <a:latin typeface="Calibri"/>
              </a:rPr>
              <a:t>Prestige / Luxury' grows at</a:t>
            </a:r>
          </a:p>
        </p:txBody>
      </p:sp>
      <p:sp>
        <p:nvSpPr>
          <p:cNvPr id="67" name="TextBox 66"/>
          <p:cNvSpPr txBox="1"/>
          <p:nvPr/>
        </p:nvSpPr>
        <p:spPr>
          <a:xfrm>
            <a:off x="8124825" y="4322445"/>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68" name="Picture 67" descr="lock.png"/>
          <p:cNvPicPr>
            <a:picLocks noChangeAspect="1"/>
          </p:cNvPicPr>
          <p:nvPr/>
        </p:nvPicPr>
        <p:blipFill>
          <a:blip r:embed="rId4"/>
          <a:stretch>
            <a:fillRect/>
          </a:stretch>
        </p:blipFill>
        <p:spPr>
          <a:xfrm>
            <a:off x="8220066" y="4312221"/>
            <a:ext cx="134549" cy="195707"/>
          </a:xfrm>
          <a:prstGeom prst="rect">
            <a:avLst/>
          </a:prstGeom>
        </p:spPr>
      </p:pic>
      <p:sp>
        <p:nvSpPr>
          <p:cNvPr id="69" name="TextBox 68"/>
          <p:cNvSpPr txBox="1"/>
          <p:nvPr/>
        </p:nvSpPr>
        <p:spPr>
          <a:xfrm>
            <a:off x="8395175" y="432244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0" name="Picture 69" descr="lock.png"/>
          <p:cNvPicPr>
            <a:picLocks noChangeAspect="1"/>
          </p:cNvPicPr>
          <p:nvPr/>
        </p:nvPicPr>
        <p:blipFill>
          <a:blip r:embed="rId4"/>
          <a:stretch>
            <a:fillRect/>
          </a:stretch>
        </p:blipFill>
        <p:spPr>
          <a:xfrm>
            <a:off x="8790771" y="4312221"/>
            <a:ext cx="134549" cy="195707"/>
          </a:xfrm>
          <a:prstGeom prst="rect">
            <a:avLst/>
          </a:prstGeom>
        </p:spPr>
      </p:pic>
      <p:sp>
        <p:nvSpPr>
          <p:cNvPr id="71" name="TextBox 70"/>
          <p:cNvSpPr txBox="1"/>
          <p:nvPr/>
        </p:nvSpPr>
        <p:spPr>
          <a:xfrm>
            <a:off x="8965880" y="4322445"/>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72" name="TextBox 71"/>
          <p:cNvSpPr txBox="1"/>
          <p:nvPr/>
        </p:nvSpPr>
        <p:spPr>
          <a:xfrm>
            <a:off x="8124825" y="4497704"/>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094865"/>
            <a:ext cx="7239000" cy="247650"/>
          </a:xfrm>
          <a:prstGeom prst="rect">
            <a:avLst/>
          </a:prstGeom>
          <a:noFill/>
        </p:spPr>
        <p:txBody>
          <a:bodyPr wrap="none" lIns="0" tIns="0">
            <a:spAutoFit/>
          </a:bodyPr>
          <a:lstStyle/>
          <a:p>
            <a:r>
              <a:rPr sz="1400" b="0">
                <a:solidFill>
                  <a:srgbClr val="8FC8F2"/>
                </a:solidFill>
                <a:latin typeface="Calibri"/>
              </a:rPr>
              <a:t>Ceramide Sunscreen Market</a:t>
            </a:r>
          </a:p>
        </p:txBody>
      </p:sp>
      <p:sp>
        <p:nvSpPr>
          <p:cNvPr id="6" name="FMI Breaker Title"/>
          <p:cNvSpPr txBox="1"/>
          <p:nvPr/>
        </p:nvSpPr>
        <p:spPr>
          <a:xfrm>
            <a:off x="914400" y="2399665"/>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104515"/>
            <a:ext cx="7124700" cy="308737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Form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SPF Rating</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Ingredient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End-use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Pack Size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Price Tier</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Sales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Volume Overview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(Units),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(Units)</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644824" cy="186689"/>
          </a:xfrm>
          <a:prstGeom prst="rect">
            <a:avLst/>
          </a:prstGeom>
          <a:noFill/>
        </p:spPr>
        <p:txBody>
          <a:bodyPr wrap="none" lIns="0" rIns="0" tIns="0" bIns="0">
            <a:spAutoFit/>
          </a:bodyPr>
          <a:lstStyle/>
          <a:p>
            <a:r>
              <a:rPr sz="1100" b="0">
                <a:solidFill>
                  <a:srgbClr val="2E2E2E"/>
                </a:solidFill>
                <a:latin typeface="Calibri"/>
              </a:rPr>
              <a:t>U.S.'s ceramide sunscreen market expands at</a:t>
            </a:r>
          </a:p>
        </p:txBody>
      </p:sp>
      <p:pic>
        <p:nvPicPr>
          <p:cNvPr id="41" name="Picture 40" descr="lock.png"/>
          <p:cNvPicPr>
            <a:picLocks noChangeAspect="1"/>
          </p:cNvPicPr>
          <p:nvPr/>
        </p:nvPicPr>
        <p:blipFill>
          <a:blip r:embed="rId8"/>
          <a:stretch>
            <a:fillRect/>
          </a:stretch>
        </p:blipFill>
        <p:spPr>
          <a:xfrm>
            <a:off x="10664361" y="2866771"/>
            <a:ext cx="128699" cy="187198"/>
          </a:xfrm>
          <a:prstGeom prst="rect">
            <a:avLst/>
          </a:prstGeom>
        </p:spPr>
      </p:pic>
      <p:sp>
        <p:nvSpPr>
          <p:cNvPr id="42" name="TextBox 41"/>
          <p:cNvSpPr txBox="1"/>
          <p:nvPr/>
        </p:nvSpPr>
        <p:spPr>
          <a:xfrm>
            <a:off x="10831857" y="2876550"/>
            <a:ext cx="882459" cy="186689"/>
          </a:xfrm>
          <a:prstGeom prst="rect">
            <a:avLst/>
          </a:prstGeom>
          <a:noFill/>
        </p:spPr>
        <p:txBody>
          <a:bodyPr wrap="none" lIns="0" rIns="0" tIns="0" bIns="0">
            <a:spAutoFit/>
          </a:bodyPr>
          <a:lstStyle/>
          <a:p>
            <a:r>
              <a:rPr sz="1100" b="0">
                <a:solidFill>
                  <a:srgbClr val="2E2E2E"/>
                </a:solidFill>
                <a:latin typeface="Calibri"/>
              </a:rPr>
              <a:t>CAGR through</a:t>
            </a:r>
          </a:p>
        </p:txBody>
      </p:sp>
      <p:sp>
        <p:nvSpPr>
          <p:cNvPr id="43" name="TextBox 42"/>
          <p:cNvSpPr txBox="1"/>
          <p:nvPr/>
        </p:nvSpPr>
        <p:spPr>
          <a:xfrm>
            <a:off x="8071485" y="3044190"/>
            <a:ext cx="2731318" cy="186689"/>
          </a:xfrm>
          <a:prstGeom prst="rect">
            <a:avLst/>
          </a:prstGeom>
          <a:noFill/>
        </p:spPr>
        <p:txBody>
          <a:bodyPr wrap="none" lIns="0" rIns="0" tIns="0" bIns="0">
            <a:spAutoFit/>
          </a:bodyPr>
          <a:lstStyle/>
          <a:p>
            <a:r>
              <a:rPr sz="1100" b="0">
                <a:solidFill>
                  <a:srgbClr val="2E2E2E"/>
                </a:solidFill>
                <a:latin typeface="Calibri"/>
              </a:rPr>
              <a:t>2036, trailing the North America benchmark of</a:t>
            </a:r>
          </a:p>
        </p:txBody>
      </p:sp>
      <p:pic>
        <p:nvPicPr>
          <p:cNvPr id="44" name="Picture 43" descr="lock.png"/>
          <p:cNvPicPr>
            <a:picLocks noChangeAspect="1"/>
          </p:cNvPicPr>
          <p:nvPr/>
        </p:nvPicPr>
        <p:blipFill>
          <a:blip r:embed="rId8"/>
          <a:stretch>
            <a:fillRect/>
          </a:stretch>
        </p:blipFill>
        <p:spPr>
          <a:xfrm>
            <a:off x="10750855" y="3034411"/>
            <a:ext cx="128699" cy="187198"/>
          </a:xfrm>
          <a:prstGeom prst="rect">
            <a:avLst/>
          </a:prstGeom>
        </p:spPr>
      </p:pic>
      <p:sp>
        <p:nvSpPr>
          <p:cNvPr id="45" name="TextBox 44"/>
          <p:cNvSpPr txBox="1"/>
          <p:nvPr/>
        </p:nvSpPr>
        <p:spPr>
          <a:xfrm>
            <a:off x="10918350"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11079301" y="3034411"/>
            <a:ext cx="128699" cy="187198"/>
          </a:xfrm>
          <a:prstGeom prst="rect">
            <a:avLst/>
          </a:prstGeom>
        </p:spPr>
      </p:pic>
      <p:sp>
        <p:nvSpPr>
          <p:cNvPr id="47" name="TextBox 46"/>
          <p:cNvSpPr txBox="1"/>
          <p:nvPr/>
        </p:nvSpPr>
        <p:spPr>
          <a:xfrm>
            <a:off x="11246797"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547963" cy="186689"/>
          </a:xfrm>
          <a:prstGeom prst="rect">
            <a:avLst/>
          </a:prstGeom>
          <a:noFill/>
        </p:spPr>
        <p:txBody>
          <a:bodyPr wrap="none" lIns="0" rIns="0" tIns="0" bIns="0">
            <a:spAutoFit/>
          </a:bodyPr>
          <a:lstStyle/>
          <a:p>
            <a:r>
              <a:rPr sz="1100" b="0">
                <a:solidFill>
                  <a:srgbClr val="2E2E2E"/>
                </a:solidFill>
                <a:latin typeface="Calibri"/>
              </a:rPr>
              <a:t>of the North America ceramide sunscreen market in 2026; by</a:t>
            </a:r>
          </a:p>
        </p:txBody>
      </p:sp>
      <p:sp>
        <p:nvSpPr>
          <p:cNvPr id="53" name="TextBox 52"/>
          <p:cNvSpPr txBox="1"/>
          <p:nvPr/>
        </p:nvSpPr>
        <p:spPr>
          <a:xfrm>
            <a:off x="257175" y="6134100"/>
            <a:ext cx="1610990" cy="186689"/>
          </a:xfrm>
          <a:prstGeom prst="rect">
            <a:avLst/>
          </a:prstGeom>
          <a:noFill/>
        </p:spPr>
        <p:txBody>
          <a:bodyPr wrap="none" lIns="0" rIns="0" tIns="0" bIns="0">
            <a:spAutoFit/>
          </a:bodyPr>
          <a:lstStyle/>
          <a:p>
            <a:r>
              <a:rPr sz="1100" b="0">
                <a:solidFill>
                  <a:srgbClr val="2E2E2E"/>
                </a:solidFill>
                <a:latin typeface="Calibri"/>
              </a:rPr>
              <a:t>2036 those shares move to</a:t>
            </a:r>
          </a:p>
        </p:txBody>
      </p:sp>
      <p:pic>
        <p:nvPicPr>
          <p:cNvPr id="54" name="Picture 53" descr="lock.png"/>
          <p:cNvPicPr>
            <a:picLocks noChangeAspect="1"/>
          </p:cNvPicPr>
          <p:nvPr/>
        </p:nvPicPr>
        <p:blipFill>
          <a:blip r:embed="rId8"/>
          <a:stretch>
            <a:fillRect/>
          </a:stretch>
        </p:blipFill>
        <p:spPr>
          <a:xfrm>
            <a:off x="1816216" y="6124320"/>
            <a:ext cx="128699" cy="187198"/>
          </a:xfrm>
          <a:prstGeom prst="rect">
            <a:avLst/>
          </a:prstGeom>
        </p:spPr>
      </p:pic>
      <p:sp>
        <p:nvSpPr>
          <p:cNvPr id="55" name="TextBox 54"/>
          <p:cNvSpPr txBox="1"/>
          <p:nvPr/>
        </p:nvSpPr>
        <p:spPr>
          <a:xfrm>
            <a:off x="1983712"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2221606" y="6124320"/>
            <a:ext cx="128699" cy="187198"/>
          </a:xfrm>
          <a:prstGeom prst="rect">
            <a:avLst/>
          </a:prstGeom>
        </p:spPr>
      </p:pic>
      <p:sp>
        <p:nvSpPr>
          <p:cNvPr id="57" name="TextBox 56"/>
          <p:cNvSpPr txBox="1"/>
          <p:nvPr/>
        </p:nvSpPr>
        <p:spPr>
          <a:xfrm>
            <a:off x="238910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9" name="Picture 58" descr="lock.png"/>
          <p:cNvPicPr>
            <a:picLocks noChangeAspect="1"/>
          </p:cNvPicPr>
          <p:nvPr/>
        </p:nvPicPr>
        <p:blipFill>
          <a:blip r:embed="rId8"/>
          <a:stretch>
            <a:fillRect/>
          </a:stretch>
        </p:blipFill>
        <p:spPr>
          <a:xfrm>
            <a:off x="7821530" y="5956680"/>
            <a:ext cx="128699" cy="187198"/>
          </a:xfrm>
          <a:prstGeom prst="rect">
            <a:avLst/>
          </a:prstGeom>
        </p:spPr>
      </p:pic>
      <p:sp>
        <p:nvSpPr>
          <p:cNvPr id="60" name="TextBox 59"/>
          <p:cNvSpPr txBox="1"/>
          <p:nvPr/>
        </p:nvSpPr>
        <p:spPr>
          <a:xfrm>
            <a:off x="7989026" y="5966460"/>
            <a:ext cx="3226271" cy="186689"/>
          </a:xfrm>
          <a:prstGeom prst="rect">
            <a:avLst/>
          </a:prstGeom>
          <a:noFill/>
        </p:spPr>
        <p:txBody>
          <a:bodyPr wrap="none" lIns="0" rIns="0" tIns="0" bIns="0">
            <a:spAutoFit/>
          </a:bodyPr>
          <a:lstStyle/>
          <a:p>
            <a:r>
              <a:rPr sz="1100" b="0">
                <a:solidFill>
                  <a:srgbClr val="2E2E2E"/>
                </a:solidFill>
                <a:latin typeface="Calibri"/>
              </a:rPr>
              <a:t>Units between 2026 and 2036 the U.S. market grows to</a:t>
            </a:r>
          </a:p>
        </p:txBody>
      </p:sp>
      <p:pic>
        <p:nvPicPr>
          <p:cNvPr id="61" name="Picture 60" descr="lock.png"/>
          <p:cNvPicPr>
            <a:picLocks noChangeAspect="1"/>
          </p:cNvPicPr>
          <p:nvPr/>
        </p:nvPicPr>
        <p:blipFill>
          <a:blip r:embed="rId8"/>
          <a:stretch>
            <a:fillRect/>
          </a:stretch>
        </p:blipFill>
        <p:spPr>
          <a:xfrm>
            <a:off x="11163349" y="5956680"/>
            <a:ext cx="128699" cy="187198"/>
          </a:xfrm>
          <a:prstGeom prst="rect">
            <a:avLst/>
          </a:prstGeom>
        </p:spPr>
      </p:pic>
      <p:sp>
        <p:nvSpPr>
          <p:cNvPr id="62" name="TextBox 61"/>
          <p:cNvSpPr txBox="1"/>
          <p:nvPr/>
        </p:nvSpPr>
        <p:spPr>
          <a:xfrm>
            <a:off x="11330845" y="5966460"/>
            <a:ext cx="311125" cy="186689"/>
          </a:xfrm>
          <a:prstGeom prst="rect">
            <a:avLst/>
          </a:prstGeom>
          <a:noFill/>
        </p:spPr>
        <p:txBody>
          <a:bodyPr wrap="none" lIns="0" rIns="0" tIns="0" bIns="0">
            <a:spAutoFit/>
          </a:bodyPr>
          <a:lstStyle/>
          <a:p>
            <a:r>
              <a:rPr sz="1100" b="0">
                <a:solidFill>
                  <a:srgbClr val="2E2E2E"/>
                </a:solidFill>
                <a:latin typeface="Calibri"/>
              </a:rPr>
              <a:t>× its</a:t>
            </a:r>
          </a:p>
        </p:txBody>
      </p:sp>
      <p:sp>
        <p:nvSpPr>
          <p:cNvPr id="63" name="TextBox 62"/>
          <p:cNvSpPr txBox="1"/>
          <p:nvPr/>
        </p:nvSpPr>
        <p:spPr>
          <a:xfrm>
            <a:off x="6286500" y="6134100"/>
            <a:ext cx="1590253" cy="186689"/>
          </a:xfrm>
          <a:prstGeom prst="rect">
            <a:avLst/>
          </a:prstGeom>
          <a:noFill/>
        </p:spPr>
        <p:txBody>
          <a:bodyPr wrap="none" lIns="0" rIns="0" tIns="0" bIns="0">
            <a:spAutoFit/>
          </a:bodyPr>
          <a:lstStyle/>
          <a:p>
            <a:r>
              <a:rPr sz="1100" b="0">
                <a:solidFill>
                  <a:srgbClr val="2E2E2E"/>
                </a:solidFill>
                <a:latin typeface="Calibri"/>
              </a:rPr>
              <a:t>2026 size over the decade.</a:t>
            </a:r>
          </a:p>
        </p:txBody>
      </p:sp>
      <p:sp>
        <p:nvSpPr>
          <p:cNvPr id="64"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644824" cy="186689"/>
          </a:xfrm>
          <a:prstGeom prst="rect">
            <a:avLst/>
          </a:prstGeom>
          <a:noFill/>
        </p:spPr>
        <p:txBody>
          <a:bodyPr wrap="none" lIns="0" rIns="0" tIns="0" bIns="0">
            <a:spAutoFit/>
          </a:bodyPr>
          <a:lstStyle/>
          <a:p>
            <a:r>
              <a:rPr sz="1100" b="0">
                <a:solidFill>
                  <a:srgbClr val="2E2E2E"/>
                </a:solidFill>
                <a:latin typeface="Calibri"/>
              </a:rPr>
              <a:t>U.S.'s ceramide sunscreen market expands at</a:t>
            </a:r>
          </a:p>
        </p:txBody>
      </p:sp>
      <p:pic>
        <p:nvPicPr>
          <p:cNvPr id="41" name="Picture 40" descr="lock.png"/>
          <p:cNvPicPr>
            <a:picLocks noChangeAspect="1"/>
          </p:cNvPicPr>
          <p:nvPr/>
        </p:nvPicPr>
        <p:blipFill>
          <a:blip r:embed="rId8"/>
          <a:stretch>
            <a:fillRect/>
          </a:stretch>
        </p:blipFill>
        <p:spPr>
          <a:xfrm>
            <a:off x="10664361" y="2866771"/>
            <a:ext cx="128699" cy="187198"/>
          </a:xfrm>
          <a:prstGeom prst="rect">
            <a:avLst/>
          </a:prstGeom>
        </p:spPr>
      </p:pic>
      <p:sp>
        <p:nvSpPr>
          <p:cNvPr id="42" name="TextBox 41"/>
          <p:cNvSpPr txBox="1"/>
          <p:nvPr/>
        </p:nvSpPr>
        <p:spPr>
          <a:xfrm>
            <a:off x="10831857" y="2876550"/>
            <a:ext cx="882459" cy="186689"/>
          </a:xfrm>
          <a:prstGeom prst="rect">
            <a:avLst/>
          </a:prstGeom>
          <a:noFill/>
        </p:spPr>
        <p:txBody>
          <a:bodyPr wrap="none" lIns="0" rIns="0" tIns="0" bIns="0">
            <a:spAutoFit/>
          </a:bodyPr>
          <a:lstStyle/>
          <a:p>
            <a:r>
              <a:rPr sz="1100" b="0">
                <a:solidFill>
                  <a:srgbClr val="2E2E2E"/>
                </a:solidFill>
                <a:latin typeface="Calibri"/>
              </a:rPr>
              <a:t>CAGR through</a:t>
            </a:r>
          </a:p>
        </p:txBody>
      </p:sp>
      <p:sp>
        <p:nvSpPr>
          <p:cNvPr id="43" name="TextBox 42"/>
          <p:cNvSpPr txBox="1"/>
          <p:nvPr/>
        </p:nvSpPr>
        <p:spPr>
          <a:xfrm>
            <a:off x="8071485" y="3044190"/>
            <a:ext cx="2731318" cy="186689"/>
          </a:xfrm>
          <a:prstGeom prst="rect">
            <a:avLst/>
          </a:prstGeom>
          <a:noFill/>
        </p:spPr>
        <p:txBody>
          <a:bodyPr wrap="none" lIns="0" rIns="0" tIns="0" bIns="0">
            <a:spAutoFit/>
          </a:bodyPr>
          <a:lstStyle/>
          <a:p>
            <a:r>
              <a:rPr sz="1100" b="0">
                <a:solidFill>
                  <a:srgbClr val="2E2E2E"/>
                </a:solidFill>
                <a:latin typeface="Calibri"/>
              </a:rPr>
              <a:t>2036, trailing the North America benchmark of</a:t>
            </a:r>
          </a:p>
        </p:txBody>
      </p:sp>
      <p:pic>
        <p:nvPicPr>
          <p:cNvPr id="44" name="Picture 43" descr="lock.png"/>
          <p:cNvPicPr>
            <a:picLocks noChangeAspect="1"/>
          </p:cNvPicPr>
          <p:nvPr/>
        </p:nvPicPr>
        <p:blipFill>
          <a:blip r:embed="rId8"/>
          <a:stretch>
            <a:fillRect/>
          </a:stretch>
        </p:blipFill>
        <p:spPr>
          <a:xfrm>
            <a:off x="10750855" y="3034411"/>
            <a:ext cx="128699" cy="187198"/>
          </a:xfrm>
          <a:prstGeom prst="rect">
            <a:avLst/>
          </a:prstGeom>
        </p:spPr>
      </p:pic>
      <p:sp>
        <p:nvSpPr>
          <p:cNvPr id="45" name="TextBox 44"/>
          <p:cNvSpPr txBox="1"/>
          <p:nvPr/>
        </p:nvSpPr>
        <p:spPr>
          <a:xfrm>
            <a:off x="10918350"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11079301" y="3034411"/>
            <a:ext cx="128699" cy="187198"/>
          </a:xfrm>
          <a:prstGeom prst="rect">
            <a:avLst/>
          </a:prstGeom>
        </p:spPr>
      </p:pic>
      <p:sp>
        <p:nvSpPr>
          <p:cNvPr id="47" name="TextBox 46"/>
          <p:cNvSpPr txBox="1"/>
          <p:nvPr/>
        </p:nvSpPr>
        <p:spPr>
          <a:xfrm>
            <a:off x="11246797"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547963" cy="186689"/>
          </a:xfrm>
          <a:prstGeom prst="rect">
            <a:avLst/>
          </a:prstGeom>
          <a:noFill/>
        </p:spPr>
        <p:txBody>
          <a:bodyPr wrap="none" lIns="0" rIns="0" tIns="0" bIns="0">
            <a:spAutoFit/>
          </a:bodyPr>
          <a:lstStyle/>
          <a:p>
            <a:r>
              <a:rPr sz="1100" b="0">
                <a:solidFill>
                  <a:srgbClr val="2E2E2E"/>
                </a:solidFill>
                <a:latin typeface="Calibri"/>
              </a:rPr>
              <a:t>of the North America ceramide sunscreen market in 2026; by</a:t>
            </a:r>
          </a:p>
        </p:txBody>
      </p:sp>
      <p:sp>
        <p:nvSpPr>
          <p:cNvPr id="53" name="TextBox 52"/>
          <p:cNvSpPr txBox="1"/>
          <p:nvPr/>
        </p:nvSpPr>
        <p:spPr>
          <a:xfrm>
            <a:off x="257175" y="6134100"/>
            <a:ext cx="1610990" cy="186689"/>
          </a:xfrm>
          <a:prstGeom prst="rect">
            <a:avLst/>
          </a:prstGeom>
          <a:noFill/>
        </p:spPr>
        <p:txBody>
          <a:bodyPr wrap="none" lIns="0" rIns="0" tIns="0" bIns="0">
            <a:spAutoFit/>
          </a:bodyPr>
          <a:lstStyle/>
          <a:p>
            <a:r>
              <a:rPr sz="1100" b="0">
                <a:solidFill>
                  <a:srgbClr val="2E2E2E"/>
                </a:solidFill>
                <a:latin typeface="Calibri"/>
              </a:rPr>
              <a:t>2036 those shares move to</a:t>
            </a:r>
          </a:p>
        </p:txBody>
      </p:sp>
      <p:pic>
        <p:nvPicPr>
          <p:cNvPr id="54" name="Picture 53" descr="lock.png"/>
          <p:cNvPicPr>
            <a:picLocks noChangeAspect="1"/>
          </p:cNvPicPr>
          <p:nvPr/>
        </p:nvPicPr>
        <p:blipFill>
          <a:blip r:embed="rId8"/>
          <a:stretch>
            <a:fillRect/>
          </a:stretch>
        </p:blipFill>
        <p:spPr>
          <a:xfrm>
            <a:off x="1816216" y="6124320"/>
            <a:ext cx="128699" cy="187198"/>
          </a:xfrm>
          <a:prstGeom prst="rect">
            <a:avLst/>
          </a:prstGeom>
        </p:spPr>
      </p:pic>
      <p:sp>
        <p:nvSpPr>
          <p:cNvPr id="55" name="TextBox 54"/>
          <p:cNvSpPr txBox="1"/>
          <p:nvPr/>
        </p:nvSpPr>
        <p:spPr>
          <a:xfrm>
            <a:off x="1983712"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2221606" y="6124320"/>
            <a:ext cx="128699" cy="187198"/>
          </a:xfrm>
          <a:prstGeom prst="rect">
            <a:avLst/>
          </a:prstGeom>
        </p:spPr>
      </p:pic>
      <p:sp>
        <p:nvSpPr>
          <p:cNvPr id="57" name="TextBox 56"/>
          <p:cNvSpPr txBox="1"/>
          <p:nvPr/>
        </p:nvSpPr>
        <p:spPr>
          <a:xfrm>
            <a:off x="238910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9" name="Picture 58" descr="lock.png"/>
          <p:cNvPicPr>
            <a:picLocks noChangeAspect="1"/>
          </p:cNvPicPr>
          <p:nvPr/>
        </p:nvPicPr>
        <p:blipFill>
          <a:blip r:embed="rId8"/>
          <a:stretch>
            <a:fillRect/>
          </a:stretch>
        </p:blipFill>
        <p:spPr>
          <a:xfrm>
            <a:off x="9337766" y="5872860"/>
            <a:ext cx="128699" cy="187198"/>
          </a:xfrm>
          <a:prstGeom prst="rect">
            <a:avLst/>
          </a:prstGeom>
        </p:spPr>
      </p:pic>
      <p:sp>
        <p:nvSpPr>
          <p:cNvPr id="60" name="TextBox 59"/>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1" name="Picture 60" descr="lock.png"/>
          <p:cNvPicPr>
            <a:picLocks noChangeAspect="1"/>
          </p:cNvPicPr>
          <p:nvPr/>
        </p:nvPicPr>
        <p:blipFill>
          <a:blip r:embed="rId8"/>
          <a:stretch>
            <a:fillRect/>
          </a:stretch>
        </p:blipFill>
        <p:spPr>
          <a:xfrm>
            <a:off x="10948871" y="5872860"/>
            <a:ext cx="128699" cy="187198"/>
          </a:xfrm>
          <a:prstGeom prst="rect">
            <a:avLst/>
          </a:prstGeom>
        </p:spPr>
      </p:pic>
      <p:sp>
        <p:nvSpPr>
          <p:cNvPr id="62" name="TextBox 61"/>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3" name="TextBox 62"/>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4" name="Picture 63" descr="lock.png"/>
          <p:cNvPicPr>
            <a:picLocks noChangeAspect="1"/>
          </p:cNvPicPr>
          <p:nvPr/>
        </p:nvPicPr>
        <p:blipFill>
          <a:blip r:embed="rId8"/>
          <a:stretch>
            <a:fillRect/>
          </a:stretch>
        </p:blipFill>
        <p:spPr>
          <a:xfrm>
            <a:off x="10929309" y="6040501"/>
            <a:ext cx="128699" cy="187198"/>
          </a:xfrm>
          <a:prstGeom prst="rect">
            <a:avLst/>
          </a:prstGeom>
        </p:spPr>
      </p:pic>
      <p:sp>
        <p:nvSpPr>
          <p:cNvPr id="65" name="TextBox 64"/>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6" name="TextBox 65"/>
          <p:cNvSpPr txBox="1"/>
          <p:nvPr/>
        </p:nvSpPr>
        <p:spPr>
          <a:xfrm>
            <a:off x="6286500" y="6217920"/>
            <a:ext cx="3199258" cy="186689"/>
          </a:xfrm>
          <a:prstGeom prst="rect">
            <a:avLst/>
          </a:prstGeom>
          <a:noFill/>
        </p:spPr>
        <p:txBody>
          <a:bodyPr wrap="none" lIns="0" rIns="0" tIns="0" bIns="0">
            <a:spAutoFit/>
          </a:bodyPr>
          <a:lstStyle/>
          <a:p>
            <a:r>
              <a:rPr sz="1100" b="0">
                <a:solidFill>
                  <a:srgbClr val="2E2E2E"/>
                </a:solidFill>
                <a:latin typeface="Calibri"/>
              </a:rPr>
              <a:t>overall ceramide sunscreen market from 2025 to 2036.</a:t>
            </a:r>
          </a:p>
        </p:txBody>
      </p:sp>
      <p:sp>
        <p:nvSpPr>
          <p:cNvPr id="67"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Key Segments Overview, By Value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42875" y="981075"/>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(US$ Mn)</a:t>
            </a:r>
          </a:p>
        </p:txBody>
      </p:sp>
      <p:graphicFrame>
        <p:nvGraphicFramePr>
          <p:cNvPr id="12" name="Chart 11"/>
          <p:cNvGraphicFramePr>
            <a:graphicFrameLocks noGrp="1"/>
          </p:cNvGraphicFramePr>
          <p:nvPr/>
        </p:nvGraphicFramePr>
        <p:xfrm>
          <a:off x="238125" y="1266825"/>
          <a:ext cx="2667000" cy="1704975"/>
        </p:xfrm>
        <a:graphic>
          <a:graphicData uri="http://schemas.openxmlformats.org/drawingml/2006/chart">
            <c:chart xmlns:c="http://schemas.openxmlformats.org/drawingml/2006/chart" r:id="rId3"/>
          </a:graphicData>
        </a:graphic>
      </p:graphicFrame>
      <p:sp>
        <p:nvSpPr>
          <p:cNvPr id="13" name="Rounded Rectangle 12"/>
          <p:cNvSpPr/>
          <p:nvPr/>
        </p:nvSpPr>
        <p:spPr>
          <a:xfrm>
            <a:off x="3152775" y="981075"/>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Type  (US$ Mn)</a:t>
            </a:r>
          </a:p>
        </p:txBody>
      </p:sp>
      <p:graphicFrame>
        <p:nvGraphicFramePr>
          <p:cNvPr id="15" name="Chart 14"/>
          <p:cNvGraphicFramePr>
            <a:graphicFrameLocks noGrp="1"/>
          </p:cNvGraphicFramePr>
          <p:nvPr/>
        </p:nvGraphicFramePr>
        <p:xfrm>
          <a:off x="3248025" y="1266825"/>
          <a:ext cx="2667000" cy="1704975"/>
        </p:xfrm>
        <a:graphic>
          <a:graphicData uri="http://schemas.openxmlformats.org/drawingml/2006/chart">
            <c:chart xmlns:c="http://schemas.openxmlformats.org/drawingml/2006/chart" r:id="rId4"/>
          </a:graphicData>
        </a:graphic>
      </p:graphicFrame>
      <p:sp>
        <p:nvSpPr>
          <p:cNvPr id="16" name="Rounded Rectangle 15"/>
          <p:cNvSpPr/>
          <p:nvPr/>
        </p:nvSpPr>
        <p:spPr>
          <a:xfrm>
            <a:off x="6162675" y="981075"/>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SPF Rating  (US$ Mn)</a:t>
            </a:r>
          </a:p>
        </p:txBody>
      </p:sp>
      <p:graphicFrame>
        <p:nvGraphicFramePr>
          <p:cNvPr id="18" name="Chart 17"/>
          <p:cNvGraphicFramePr>
            <a:graphicFrameLocks noGrp="1"/>
          </p:cNvGraphicFramePr>
          <p:nvPr/>
        </p:nvGraphicFramePr>
        <p:xfrm>
          <a:off x="6257925" y="1266825"/>
          <a:ext cx="2667000" cy="1704975"/>
        </p:xfrm>
        <a:graphic>
          <a:graphicData uri="http://schemas.openxmlformats.org/drawingml/2006/chart">
            <c:chart xmlns:c="http://schemas.openxmlformats.org/drawingml/2006/chart" r:id="rId5"/>
          </a:graphicData>
        </a:graphic>
      </p:graphicFrame>
      <p:sp>
        <p:nvSpPr>
          <p:cNvPr id="19" name="Rounded Rectangle 18"/>
          <p:cNvSpPr/>
          <p:nvPr/>
        </p:nvSpPr>
        <p:spPr>
          <a:xfrm>
            <a:off x="9172575" y="981075"/>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Ingredient Type  (US$ Mn)</a:t>
            </a:r>
          </a:p>
        </p:txBody>
      </p:sp>
      <p:graphicFrame>
        <p:nvGraphicFramePr>
          <p:cNvPr id="21" name="Chart 20"/>
          <p:cNvGraphicFramePr>
            <a:graphicFrameLocks noGrp="1"/>
          </p:cNvGraphicFramePr>
          <p:nvPr/>
        </p:nvGraphicFramePr>
        <p:xfrm>
          <a:off x="9267825" y="1266825"/>
          <a:ext cx="2667000" cy="1704975"/>
        </p:xfrm>
        <a:graphic>
          <a:graphicData uri="http://schemas.openxmlformats.org/drawingml/2006/chart">
            <c:chart xmlns:c="http://schemas.openxmlformats.org/drawingml/2006/chart" r:id="rId6"/>
          </a:graphicData>
        </a:graphic>
      </p:graphicFrame>
      <p:sp>
        <p:nvSpPr>
          <p:cNvPr id="22" name="Rounded Rectangle 21"/>
          <p:cNvSpPr/>
          <p:nvPr/>
        </p:nvSpPr>
        <p:spPr>
          <a:xfrm>
            <a:off x="142875" y="3162300"/>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21945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End-use Application  (US$ Mn)</a:t>
            </a:r>
          </a:p>
        </p:txBody>
      </p:sp>
      <p:graphicFrame>
        <p:nvGraphicFramePr>
          <p:cNvPr id="24" name="Chart 23"/>
          <p:cNvGraphicFramePr>
            <a:graphicFrameLocks noGrp="1"/>
          </p:cNvGraphicFramePr>
          <p:nvPr/>
        </p:nvGraphicFramePr>
        <p:xfrm>
          <a:off x="238125" y="3448050"/>
          <a:ext cx="2667000" cy="1704975"/>
        </p:xfrm>
        <a:graphic>
          <a:graphicData uri="http://schemas.openxmlformats.org/drawingml/2006/chart">
            <c:chart xmlns:c="http://schemas.openxmlformats.org/drawingml/2006/chart" r:id="rId7"/>
          </a:graphicData>
        </a:graphic>
      </p:graphicFrame>
      <p:sp>
        <p:nvSpPr>
          <p:cNvPr id="25" name="Rounded Rectangle 24"/>
          <p:cNvSpPr/>
          <p:nvPr/>
        </p:nvSpPr>
        <p:spPr>
          <a:xfrm>
            <a:off x="3152775" y="3162300"/>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48025" y="321945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Pack Size  (US$ Mn)</a:t>
            </a:r>
          </a:p>
        </p:txBody>
      </p:sp>
      <p:graphicFrame>
        <p:nvGraphicFramePr>
          <p:cNvPr id="27" name="Chart 26"/>
          <p:cNvGraphicFramePr>
            <a:graphicFrameLocks noGrp="1"/>
          </p:cNvGraphicFramePr>
          <p:nvPr/>
        </p:nvGraphicFramePr>
        <p:xfrm>
          <a:off x="3248025" y="3448050"/>
          <a:ext cx="2667000" cy="1704975"/>
        </p:xfrm>
        <a:graphic>
          <a:graphicData uri="http://schemas.openxmlformats.org/drawingml/2006/chart">
            <c:chart xmlns:c="http://schemas.openxmlformats.org/drawingml/2006/chart" r:id="rId8"/>
          </a:graphicData>
        </a:graphic>
      </p:graphicFrame>
      <p:sp>
        <p:nvSpPr>
          <p:cNvPr id="28" name="Rounded Rectangle 27"/>
          <p:cNvSpPr/>
          <p:nvPr/>
        </p:nvSpPr>
        <p:spPr>
          <a:xfrm>
            <a:off x="6162675" y="3162300"/>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57925" y="321945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Price Tier  (US$ Mn)</a:t>
            </a:r>
          </a:p>
        </p:txBody>
      </p:sp>
      <p:graphicFrame>
        <p:nvGraphicFramePr>
          <p:cNvPr id="30" name="Chart 29"/>
          <p:cNvGraphicFramePr>
            <a:graphicFrameLocks noGrp="1"/>
          </p:cNvGraphicFramePr>
          <p:nvPr/>
        </p:nvGraphicFramePr>
        <p:xfrm>
          <a:off x="6257925" y="3448050"/>
          <a:ext cx="2667000" cy="1704975"/>
        </p:xfrm>
        <a:graphic>
          <a:graphicData uri="http://schemas.openxmlformats.org/drawingml/2006/chart">
            <c:chart xmlns:c="http://schemas.openxmlformats.org/drawingml/2006/chart" r:id="rId9"/>
          </a:graphicData>
        </a:graphic>
      </p:graphicFrame>
      <p:sp>
        <p:nvSpPr>
          <p:cNvPr id="31" name="Rounded Rectangle 30"/>
          <p:cNvSpPr/>
          <p:nvPr/>
        </p:nvSpPr>
        <p:spPr>
          <a:xfrm>
            <a:off x="9172575" y="3162300"/>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67825" y="321945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(US$ Mn)</a:t>
            </a:r>
          </a:p>
        </p:txBody>
      </p:sp>
      <p:graphicFrame>
        <p:nvGraphicFramePr>
          <p:cNvPr id="33" name="Chart 32"/>
          <p:cNvGraphicFramePr>
            <a:graphicFrameLocks noGrp="1"/>
          </p:cNvGraphicFramePr>
          <p:nvPr/>
        </p:nvGraphicFramePr>
        <p:xfrm>
          <a:off x="9267825" y="3448050"/>
          <a:ext cx="2667000" cy="1704975"/>
        </p:xfrm>
        <a:graphic>
          <a:graphicData uri="http://schemas.openxmlformats.org/drawingml/2006/chart">
            <c:chart xmlns:c="http://schemas.openxmlformats.org/drawingml/2006/chart" r:id="rId10"/>
          </a:graphicData>
        </a:graphic>
      </p:graphicFrame>
      <p:sp>
        <p:nvSpPr>
          <p:cNvPr id="34" name="Rounded Rectangle 33"/>
          <p:cNvSpPr/>
          <p:nvPr/>
        </p:nvSpPr>
        <p:spPr>
          <a:xfrm>
            <a:off x="142875" y="5343525"/>
            <a:ext cx="11906250" cy="1276350"/>
          </a:xfrm>
          <a:prstGeom prst="roundRect">
            <a:avLst>
              <a:gd name="adj" fmla="val 5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42925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36" name="Rectangle 35"/>
          <p:cNvSpPr/>
          <p:nvPr/>
        </p:nvSpPr>
        <p:spPr>
          <a:xfrm>
            <a:off x="276225" y="56673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753100"/>
            <a:ext cx="11639550" cy="790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8" name="TextBox 3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9" name="Picture 38" descr="lock.png"/>
          <p:cNvPicPr>
            <a:picLocks noChangeAspect="1"/>
          </p:cNvPicPr>
          <p:nvPr/>
        </p:nvPicPr>
        <p:blipFill>
          <a:blip r:embed="rId12"/>
          <a:stretch>
            <a:fillRect/>
          </a:stretch>
        </p:blipFill>
        <p:spPr>
          <a:xfrm>
            <a:off x="1811655" y="1900237"/>
            <a:ext cx="183356" cy="266700"/>
          </a:xfrm>
          <a:prstGeom prst="rect">
            <a:avLst/>
          </a:prstGeom>
        </p:spPr>
      </p:pic>
      <p:pic>
        <p:nvPicPr>
          <p:cNvPr id="40" name="Picture 39" descr="lock.png"/>
          <p:cNvPicPr>
            <a:picLocks noChangeAspect="1"/>
          </p:cNvPicPr>
          <p:nvPr/>
        </p:nvPicPr>
        <p:blipFill>
          <a:blip r:embed="rId12"/>
          <a:stretch>
            <a:fillRect/>
          </a:stretch>
        </p:blipFill>
        <p:spPr>
          <a:xfrm>
            <a:off x="4821555" y="1900237"/>
            <a:ext cx="183356" cy="266700"/>
          </a:xfrm>
          <a:prstGeom prst="rect">
            <a:avLst/>
          </a:prstGeom>
        </p:spPr>
      </p:pic>
      <p:pic>
        <p:nvPicPr>
          <p:cNvPr id="41" name="Picture 40" descr="lock.png"/>
          <p:cNvPicPr>
            <a:picLocks noChangeAspect="1"/>
          </p:cNvPicPr>
          <p:nvPr/>
        </p:nvPicPr>
        <p:blipFill>
          <a:blip r:embed="rId12"/>
          <a:stretch>
            <a:fillRect/>
          </a:stretch>
        </p:blipFill>
        <p:spPr>
          <a:xfrm>
            <a:off x="7831455" y="1900237"/>
            <a:ext cx="183356" cy="266700"/>
          </a:xfrm>
          <a:prstGeom prst="rect">
            <a:avLst/>
          </a:prstGeom>
        </p:spPr>
      </p:pic>
      <p:pic>
        <p:nvPicPr>
          <p:cNvPr id="42" name="Picture 41" descr="lock.png"/>
          <p:cNvPicPr>
            <a:picLocks noChangeAspect="1"/>
          </p:cNvPicPr>
          <p:nvPr/>
        </p:nvPicPr>
        <p:blipFill>
          <a:blip r:embed="rId12"/>
          <a:stretch>
            <a:fillRect/>
          </a:stretch>
        </p:blipFill>
        <p:spPr>
          <a:xfrm>
            <a:off x="10841355" y="1900237"/>
            <a:ext cx="183356" cy="266700"/>
          </a:xfrm>
          <a:prstGeom prst="rect">
            <a:avLst/>
          </a:prstGeom>
        </p:spPr>
      </p:pic>
      <p:pic>
        <p:nvPicPr>
          <p:cNvPr id="43" name="Picture 42" descr="lock.png"/>
          <p:cNvPicPr>
            <a:picLocks noChangeAspect="1"/>
          </p:cNvPicPr>
          <p:nvPr/>
        </p:nvPicPr>
        <p:blipFill>
          <a:blip r:embed="rId12"/>
          <a:stretch>
            <a:fillRect/>
          </a:stretch>
        </p:blipFill>
        <p:spPr>
          <a:xfrm>
            <a:off x="1811655" y="4081462"/>
            <a:ext cx="183356" cy="266700"/>
          </a:xfrm>
          <a:prstGeom prst="rect">
            <a:avLst/>
          </a:prstGeom>
        </p:spPr>
      </p:pic>
      <p:pic>
        <p:nvPicPr>
          <p:cNvPr id="44" name="Picture 43" descr="lock.png"/>
          <p:cNvPicPr>
            <a:picLocks noChangeAspect="1"/>
          </p:cNvPicPr>
          <p:nvPr/>
        </p:nvPicPr>
        <p:blipFill>
          <a:blip r:embed="rId12"/>
          <a:stretch>
            <a:fillRect/>
          </a:stretch>
        </p:blipFill>
        <p:spPr>
          <a:xfrm>
            <a:off x="4821555" y="4081462"/>
            <a:ext cx="183356" cy="266700"/>
          </a:xfrm>
          <a:prstGeom prst="rect">
            <a:avLst/>
          </a:prstGeom>
        </p:spPr>
      </p:pic>
      <p:pic>
        <p:nvPicPr>
          <p:cNvPr id="45" name="Picture 44" descr="lock.png"/>
          <p:cNvPicPr>
            <a:picLocks noChangeAspect="1"/>
          </p:cNvPicPr>
          <p:nvPr/>
        </p:nvPicPr>
        <p:blipFill>
          <a:blip r:embed="rId12"/>
          <a:stretch>
            <a:fillRect/>
          </a:stretch>
        </p:blipFill>
        <p:spPr>
          <a:xfrm>
            <a:off x="7831455" y="4081462"/>
            <a:ext cx="183356" cy="266700"/>
          </a:xfrm>
          <a:prstGeom prst="rect">
            <a:avLst/>
          </a:prstGeom>
        </p:spPr>
      </p:pic>
      <p:pic>
        <p:nvPicPr>
          <p:cNvPr id="46" name="Picture 45" descr="lock.png"/>
          <p:cNvPicPr>
            <a:picLocks noChangeAspect="1"/>
          </p:cNvPicPr>
          <p:nvPr/>
        </p:nvPicPr>
        <p:blipFill>
          <a:blip r:embed="rId12"/>
          <a:stretch>
            <a:fillRect/>
          </a:stretch>
        </p:blipFill>
        <p:spPr>
          <a:xfrm>
            <a:off x="10841355" y="4081462"/>
            <a:ext cx="183356" cy="266700"/>
          </a:xfrm>
          <a:prstGeom prst="rect">
            <a:avLst/>
          </a:prstGeom>
        </p:spPr>
      </p:pic>
      <p:sp>
        <p:nvSpPr>
          <p:cNvPr id="47" name="TextBox 46"/>
          <p:cNvSpPr txBox="1"/>
          <p:nvPr/>
        </p:nvSpPr>
        <p:spPr>
          <a:xfrm>
            <a:off x="276225" y="543877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48" name="Picture 47" descr="lock.png"/>
          <p:cNvPicPr>
            <a:picLocks noChangeAspect="1"/>
          </p:cNvPicPr>
          <p:nvPr/>
        </p:nvPicPr>
        <p:blipFill>
          <a:blip r:embed="rId12"/>
          <a:stretch>
            <a:fillRect/>
          </a:stretch>
        </p:blipFill>
        <p:spPr>
          <a:xfrm>
            <a:off x="1688698" y="5430453"/>
            <a:ext cx="109510" cy="159288"/>
          </a:xfrm>
          <a:prstGeom prst="rect">
            <a:avLst/>
          </a:prstGeom>
        </p:spPr>
      </p:pic>
      <p:sp>
        <p:nvSpPr>
          <p:cNvPr id="49" name="TextBox 48"/>
          <p:cNvSpPr txBox="1"/>
          <p:nvPr/>
        </p:nvSpPr>
        <p:spPr>
          <a:xfrm>
            <a:off x="1831222" y="543877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50" name="TextBox 49"/>
          <p:cNvSpPr txBox="1"/>
          <p:nvPr/>
        </p:nvSpPr>
        <p:spPr>
          <a:xfrm>
            <a:off x="276225" y="5762625"/>
            <a:ext cx="3470128" cy="194310"/>
          </a:xfrm>
          <a:prstGeom prst="rect">
            <a:avLst/>
          </a:prstGeom>
          <a:noFill/>
        </p:spPr>
        <p:txBody>
          <a:bodyPr wrap="none" lIns="0" rIns="0" tIns="0" bIns="0">
            <a:spAutoFit/>
          </a:bodyPr>
          <a:lstStyle/>
          <a:p>
            <a:r>
              <a:rPr sz="1150" b="0">
                <a:solidFill>
                  <a:srgbClr val="2E2E2E"/>
                </a:solidFill>
                <a:latin typeface="Calibri"/>
              </a:rPr>
              <a:t>▪ By Product Type, 'Mineral Ceramide Sunscreen' leads at</a:t>
            </a:r>
          </a:p>
        </p:txBody>
      </p:sp>
      <p:pic>
        <p:nvPicPr>
          <p:cNvPr id="51" name="Picture 50" descr="lock.png"/>
          <p:cNvPicPr>
            <a:picLocks noChangeAspect="1"/>
          </p:cNvPicPr>
          <p:nvPr/>
        </p:nvPicPr>
        <p:blipFill>
          <a:blip r:embed="rId12"/>
          <a:stretch>
            <a:fillRect/>
          </a:stretch>
        </p:blipFill>
        <p:spPr>
          <a:xfrm>
            <a:off x="3695507" y="5752401"/>
            <a:ext cx="134549" cy="195707"/>
          </a:xfrm>
          <a:prstGeom prst="rect">
            <a:avLst/>
          </a:prstGeom>
        </p:spPr>
      </p:pic>
      <p:sp>
        <p:nvSpPr>
          <p:cNvPr id="52" name="TextBox 51"/>
          <p:cNvSpPr txBox="1"/>
          <p:nvPr/>
        </p:nvSpPr>
        <p:spPr>
          <a:xfrm>
            <a:off x="3870616" y="5762625"/>
            <a:ext cx="623316" cy="194310"/>
          </a:xfrm>
          <a:prstGeom prst="rect">
            <a:avLst/>
          </a:prstGeom>
          <a:noFill/>
        </p:spPr>
        <p:txBody>
          <a:bodyPr wrap="none" lIns="0" rIns="0" tIns="0" bIns="0">
            <a:spAutoFit/>
          </a:bodyPr>
          <a:lstStyle/>
          <a:p>
            <a:r>
              <a:rPr sz="1150" b="0">
                <a:solidFill>
                  <a:srgbClr val="2E2E2E"/>
                </a:solidFill>
                <a:latin typeface="Calibri"/>
              </a:rPr>
              <a:t>US$ Mn (</a:t>
            </a:r>
          </a:p>
        </p:txBody>
      </p:sp>
      <p:pic>
        <p:nvPicPr>
          <p:cNvPr id="53" name="Picture 52" descr="lock.png"/>
          <p:cNvPicPr>
            <a:picLocks noChangeAspect="1"/>
          </p:cNvPicPr>
          <p:nvPr/>
        </p:nvPicPr>
        <p:blipFill>
          <a:blip r:embed="rId12"/>
          <a:stretch>
            <a:fillRect/>
          </a:stretch>
        </p:blipFill>
        <p:spPr>
          <a:xfrm>
            <a:off x="4443087" y="5752401"/>
            <a:ext cx="134549" cy="195707"/>
          </a:xfrm>
          <a:prstGeom prst="rect">
            <a:avLst/>
          </a:prstGeom>
        </p:spPr>
      </p:pic>
      <p:sp>
        <p:nvSpPr>
          <p:cNvPr id="54" name="TextBox 53"/>
          <p:cNvSpPr txBox="1"/>
          <p:nvPr/>
        </p:nvSpPr>
        <p:spPr>
          <a:xfrm>
            <a:off x="4618197" y="5762625"/>
            <a:ext cx="2858566" cy="194310"/>
          </a:xfrm>
          <a:prstGeom prst="rect">
            <a:avLst/>
          </a:prstGeom>
          <a:noFill/>
        </p:spPr>
        <p:txBody>
          <a:bodyPr wrap="none" lIns="0" rIns="0" tIns="0" bIns="0">
            <a:spAutoFit/>
          </a:bodyPr>
          <a:lstStyle/>
          <a:p>
            <a:r>
              <a:rPr sz="1150" b="0">
                <a:solidFill>
                  <a:srgbClr val="2E2E2E"/>
                </a:solidFill>
                <a:latin typeface="Calibri"/>
              </a:rPr>
              <a:t>share), ahead of 'Hybrid Ceramide Sunscreen' (</a:t>
            </a:r>
          </a:p>
        </p:txBody>
      </p:sp>
      <p:pic>
        <p:nvPicPr>
          <p:cNvPr id="55" name="Picture 54" descr="lock.png"/>
          <p:cNvPicPr>
            <a:picLocks noChangeAspect="1"/>
          </p:cNvPicPr>
          <p:nvPr/>
        </p:nvPicPr>
        <p:blipFill>
          <a:blip r:embed="rId12"/>
          <a:stretch>
            <a:fillRect/>
          </a:stretch>
        </p:blipFill>
        <p:spPr>
          <a:xfrm>
            <a:off x="7425917" y="5752401"/>
            <a:ext cx="134549" cy="195707"/>
          </a:xfrm>
          <a:prstGeom prst="rect">
            <a:avLst/>
          </a:prstGeom>
        </p:spPr>
      </p:pic>
      <p:sp>
        <p:nvSpPr>
          <p:cNvPr id="56" name="TextBox 55"/>
          <p:cNvSpPr txBox="1"/>
          <p:nvPr/>
        </p:nvSpPr>
        <p:spPr>
          <a:xfrm>
            <a:off x="7601026" y="5762625"/>
            <a:ext cx="6270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57" name="TextBox 56"/>
          <p:cNvSpPr txBox="1"/>
          <p:nvPr/>
        </p:nvSpPr>
        <p:spPr>
          <a:xfrm>
            <a:off x="276225" y="5990463"/>
            <a:ext cx="2922695" cy="194310"/>
          </a:xfrm>
          <a:prstGeom prst="rect">
            <a:avLst/>
          </a:prstGeom>
          <a:noFill/>
        </p:spPr>
        <p:txBody>
          <a:bodyPr wrap="none" lIns="0" rIns="0" tIns="0" bIns="0">
            <a:spAutoFit/>
          </a:bodyPr>
          <a:lstStyle/>
          <a:p>
            <a:r>
              <a:rPr sz="1150" b="0">
                <a:solidFill>
                  <a:srgbClr val="2E2E2E"/>
                </a:solidFill>
                <a:latin typeface="Calibri"/>
              </a:rPr>
              <a:t>▪ By Form Type, 'Stick-based Sunscreen' leads at</a:t>
            </a:r>
          </a:p>
        </p:txBody>
      </p:sp>
      <p:pic>
        <p:nvPicPr>
          <p:cNvPr id="58" name="Picture 57" descr="lock.png"/>
          <p:cNvPicPr>
            <a:picLocks noChangeAspect="1"/>
          </p:cNvPicPr>
          <p:nvPr/>
        </p:nvPicPr>
        <p:blipFill>
          <a:blip r:embed="rId12"/>
          <a:stretch>
            <a:fillRect/>
          </a:stretch>
        </p:blipFill>
        <p:spPr>
          <a:xfrm>
            <a:off x="3148074" y="5980239"/>
            <a:ext cx="134549" cy="195707"/>
          </a:xfrm>
          <a:prstGeom prst="rect">
            <a:avLst/>
          </a:prstGeom>
        </p:spPr>
      </p:pic>
      <p:sp>
        <p:nvSpPr>
          <p:cNvPr id="59" name="TextBox 58"/>
          <p:cNvSpPr txBox="1"/>
          <p:nvPr/>
        </p:nvSpPr>
        <p:spPr>
          <a:xfrm>
            <a:off x="3323183" y="5990463"/>
            <a:ext cx="623316" cy="194310"/>
          </a:xfrm>
          <a:prstGeom prst="rect">
            <a:avLst/>
          </a:prstGeom>
          <a:noFill/>
        </p:spPr>
        <p:txBody>
          <a:bodyPr wrap="none" lIns="0" rIns="0" tIns="0" bIns="0">
            <a:spAutoFit/>
          </a:bodyPr>
          <a:lstStyle/>
          <a:p>
            <a:r>
              <a:rPr sz="1150" b="0">
                <a:solidFill>
                  <a:srgbClr val="2E2E2E"/>
                </a:solidFill>
                <a:latin typeface="Calibri"/>
              </a:rPr>
              <a:t>US$ Mn (</a:t>
            </a:r>
          </a:p>
        </p:txBody>
      </p:sp>
      <p:pic>
        <p:nvPicPr>
          <p:cNvPr id="60" name="Picture 59" descr="lock.png"/>
          <p:cNvPicPr>
            <a:picLocks noChangeAspect="1"/>
          </p:cNvPicPr>
          <p:nvPr/>
        </p:nvPicPr>
        <p:blipFill>
          <a:blip r:embed="rId12"/>
          <a:stretch>
            <a:fillRect/>
          </a:stretch>
        </p:blipFill>
        <p:spPr>
          <a:xfrm>
            <a:off x="3895654" y="5980239"/>
            <a:ext cx="134549" cy="195707"/>
          </a:xfrm>
          <a:prstGeom prst="rect">
            <a:avLst/>
          </a:prstGeom>
        </p:spPr>
      </p:pic>
      <p:sp>
        <p:nvSpPr>
          <p:cNvPr id="61" name="TextBox 60"/>
          <p:cNvSpPr txBox="1"/>
          <p:nvPr/>
        </p:nvSpPr>
        <p:spPr>
          <a:xfrm>
            <a:off x="4070763" y="5990463"/>
            <a:ext cx="1961126" cy="194310"/>
          </a:xfrm>
          <a:prstGeom prst="rect">
            <a:avLst/>
          </a:prstGeom>
          <a:noFill/>
        </p:spPr>
        <p:txBody>
          <a:bodyPr wrap="none" lIns="0" rIns="0" tIns="0" bIns="0">
            <a:spAutoFit/>
          </a:bodyPr>
          <a:lstStyle/>
          <a:p>
            <a:r>
              <a:rPr sz="1150" b="0">
                <a:solidFill>
                  <a:srgbClr val="2E2E2E"/>
                </a:solidFill>
                <a:latin typeface="Calibri"/>
              </a:rPr>
              <a:t>share), ahead of 'Other Forms' (</a:t>
            </a:r>
          </a:p>
        </p:txBody>
      </p:sp>
      <p:pic>
        <p:nvPicPr>
          <p:cNvPr id="62" name="Picture 61" descr="lock.png"/>
          <p:cNvPicPr>
            <a:picLocks noChangeAspect="1"/>
          </p:cNvPicPr>
          <p:nvPr/>
        </p:nvPicPr>
        <p:blipFill>
          <a:blip r:embed="rId12"/>
          <a:stretch>
            <a:fillRect/>
          </a:stretch>
        </p:blipFill>
        <p:spPr>
          <a:xfrm>
            <a:off x="5981044" y="5980239"/>
            <a:ext cx="134549" cy="195707"/>
          </a:xfrm>
          <a:prstGeom prst="rect">
            <a:avLst/>
          </a:prstGeom>
        </p:spPr>
      </p:pic>
      <p:sp>
        <p:nvSpPr>
          <p:cNvPr id="63" name="TextBox 62"/>
          <p:cNvSpPr txBox="1"/>
          <p:nvPr/>
        </p:nvSpPr>
        <p:spPr>
          <a:xfrm>
            <a:off x="6156153" y="5990463"/>
            <a:ext cx="6270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64" name="TextBox 63"/>
          <p:cNvSpPr txBox="1"/>
          <p:nvPr/>
        </p:nvSpPr>
        <p:spPr>
          <a:xfrm>
            <a:off x="276225" y="6218300"/>
            <a:ext cx="1980247" cy="194310"/>
          </a:xfrm>
          <a:prstGeom prst="rect">
            <a:avLst/>
          </a:prstGeom>
          <a:noFill/>
        </p:spPr>
        <p:txBody>
          <a:bodyPr wrap="none" lIns="0" rIns="0" tIns="0" bIns="0">
            <a:spAutoFit/>
          </a:bodyPr>
          <a:lstStyle/>
          <a:p>
            <a:r>
              <a:rPr sz="1150" b="0">
                <a:solidFill>
                  <a:srgbClr val="2E2E2E"/>
                </a:solidFill>
                <a:latin typeface="Calibri"/>
              </a:rPr>
              <a:t>▪ By SPF Rating, 'SPF 50' leads at</a:t>
            </a:r>
          </a:p>
        </p:txBody>
      </p:sp>
      <p:pic>
        <p:nvPicPr>
          <p:cNvPr id="65" name="Picture 64" descr="lock.png"/>
          <p:cNvPicPr>
            <a:picLocks noChangeAspect="1"/>
          </p:cNvPicPr>
          <p:nvPr/>
        </p:nvPicPr>
        <p:blipFill>
          <a:blip r:embed="rId12"/>
          <a:stretch>
            <a:fillRect/>
          </a:stretch>
        </p:blipFill>
        <p:spPr>
          <a:xfrm>
            <a:off x="2205626" y="6208077"/>
            <a:ext cx="134549" cy="195707"/>
          </a:xfrm>
          <a:prstGeom prst="rect">
            <a:avLst/>
          </a:prstGeom>
        </p:spPr>
      </p:pic>
      <p:sp>
        <p:nvSpPr>
          <p:cNvPr id="66" name="TextBox 65"/>
          <p:cNvSpPr txBox="1"/>
          <p:nvPr/>
        </p:nvSpPr>
        <p:spPr>
          <a:xfrm>
            <a:off x="2380735" y="6218300"/>
            <a:ext cx="623316" cy="194310"/>
          </a:xfrm>
          <a:prstGeom prst="rect">
            <a:avLst/>
          </a:prstGeom>
          <a:noFill/>
        </p:spPr>
        <p:txBody>
          <a:bodyPr wrap="none" lIns="0" rIns="0" tIns="0" bIns="0">
            <a:spAutoFit/>
          </a:bodyPr>
          <a:lstStyle/>
          <a:p>
            <a:r>
              <a:rPr sz="1150" b="0">
                <a:solidFill>
                  <a:srgbClr val="2E2E2E"/>
                </a:solidFill>
                <a:latin typeface="Calibri"/>
              </a:rPr>
              <a:t>US$ Mn (</a:t>
            </a:r>
          </a:p>
        </p:txBody>
      </p:sp>
      <p:pic>
        <p:nvPicPr>
          <p:cNvPr id="67" name="Picture 66" descr="lock.png"/>
          <p:cNvPicPr>
            <a:picLocks noChangeAspect="1"/>
          </p:cNvPicPr>
          <p:nvPr/>
        </p:nvPicPr>
        <p:blipFill>
          <a:blip r:embed="rId12"/>
          <a:stretch>
            <a:fillRect/>
          </a:stretch>
        </p:blipFill>
        <p:spPr>
          <a:xfrm>
            <a:off x="2953206" y="6208077"/>
            <a:ext cx="134549" cy="195707"/>
          </a:xfrm>
          <a:prstGeom prst="rect">
            <a:avLst/>
          </a:prstGeom>
        </p:spPr>
      </p:pic>
      <p:sp>
        <p:nvSpPr>
          <p:cNvPr id="68" name="TextBox 67"/>
          <p:cNvSpPr txBox="1"/>
          <p:nvPr/>
        </p:nvSpPr>
        <p:spPr>
          <a:xfrm>
            <a:off x="3128315" y="6218300"/>
            <a:ext cx="2013929" cy="194310"/>
          </a:xfrm>
          <a:prstGeom prst="rect">
            <a:avLst/>
          </a:prstGeom>
          <a:noFill/>
        </p:spPr>
        <p:txBody>
          <a:bodyPr wrap="none" lIns="0" rIns="0" tIns="0" bIns="0">
            <a:spAutoFit/>
          </a:bodyPr>
          <a:lstStyle/>
          <a:p>
            <a:r>
              <a:rPr sz="1150" b="0">
                <a:solidFill>
                  <a:srgbClr val="2E2E2E"/>
                </a:solidFill>
                <a:latin typeface="Calibri"/>
              </a:rPr>
              <a:t>share), ahead of 'Above SPF 50' (</a:t>
            </a:r>
          </a:p>
        </p:txBody>
      </p:sp>
      <p:pic>
        <p:nvPicPr>
          <p:cNvPr id="69" name="Picture 68" descr="lock.png"/>
          <p:cNvPicPr>
            <a:picLocks noChangeAspect="1"/>
          </p:cNvPicPr>
          <p:nvPr/>
        </p:nvPicPr>
        <p:blipFill>
          <a:blip r:embed="rId12"/>
          <a:stretch>
            <a:fillRect/>
          </a:stretch>
        </p:blipFill>
        <p:spPr>
          <a:xfrm>
            <a:off x="5091399" y="6208077"/>
            <a:ext cx="134549" cy="195707"/>
          </a:xfrm>
          <a:prstGeom prst="rect">
            <a:avLst/>
          </a:prstGeom>
        </p:spPr>
      </p:pic>
      <p:sp>
        <p:nvSpPr>
          <p:cNvPr id="70" name="TextBox 69"/>
          <p:cNvSpPr txBox="1"/>
          <p:nvPr/>
        </p:nvSpPr>
        <p:spPr>
          <a:xfrm>
            <a:off x="5266508" y="6218300"/>
            <a:ext cx="6270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71" name="lockshield_12"/>
          <p:cNvSpPr/>
          <p:nvPr/>
        </p:nvSpPr>
        <p:spPr>
          <a:xfrm>
            <a:off x="2381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ockshield_15"/>
          <p:cNvSpPr/>
          <p:nvPr/>
        </p:nvSpPr>
        <p:spPr>
          <a:xfrm>
            <a:off x="32480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ockshield_18"/>
          <p:cNvSpPr/>
          <p:nvPr/>
        </p:nvSpPr>
        <p:spPr>
          <a:xfrm>
            <a:off x="62579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lockshield_21"/>
          <p:cNvSpPr/>
          <p:nvPr/>
        </p:nvSpPr>
        <p:spPr>
          <a:xfrm>
            <a:off x="92678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ockshield_24"/>
          <p:cNvSpPr/>
          <p:nvPr/>
        </p:nvSpPr>
        <p:spPr>
          <a:xfrm>
            <a:off x="238125" y="3448050"/>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ockshield_27"/>
          <p:cNvSpPr/>
          <p:nvPr/>
        </p:nvSpPr>
        <p:spPr>
          <a:xfrm>
            <a:off x="3248025" y="3448050"/>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ockshield_30"/>
          <p:cNvSpPr/>
          <p:nvPr/>
        </p:nvSpPr>
        <p:spPr>
          <a:xfrm>
            <a:off x="6257925" y="3448050"/>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lockshield_33"/>
          <p:cNvSpPr/>
          <p:nvPr/>
        </p:nvSpPr>
        <p:spPr>
          <a:xfrm>
            <a:off x="9267825" y="3448050"/>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Key Segments Overview, By Value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42875" y="981075"/>
            <a:ext cx="11906250" cy="2019300"/>
          </a:xfrm>
          <a:prstGeom prst="roundRect">
            <a:avLst>
              <a:gd name="adj" fmla="val 37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5335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5" name="TextBox 14"/>
          <p:cNvSpPr txBox="1"/>
          <p:nvPr/>
        </p:nvSpPr>
        <p:spPr>
          <a:xfrm>
            <a:off x="276225" y="10763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16" name="Picture 15" descr="lock.png"/>
          <p:cNvPicPr>
            <a:picLocks noChangeAspect="1"/>
          </p:cNvPicPr>
          <p:nvPr/>
        </p:nvPicPr>
        <p:blipFill>
          <a:blip r:embed="rId4"/>
          <a:stretch>
            <a:fillRect/>
          </a:stretch>
        </p:blipFill>
        <p:spPr>
          <a:xfrm>
            <a:off x="1688698" y="1068003"/>
            <a:ext cx="109510" cy="159288"/>
          </a:xfrm>
          <a:prstGeom prst="rect">
            <a:avLst/>
          </a:prstGeom>
        </p:spPr>
      </p:pic>
      <p:sp>
        <p:nvSpPr>
          <p:cNvPr id="17" name="TextBox 16"/>
          <p:cNvSpPr txBox="1"/>
          <p:nvPr/>
        </p:nvSpPr>
        <p:spPr>
          <a:xfrm>
            <a:off x="1831222" y="10763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18" name="TextBox 17"/>
          <p:cNvSpPr txBox="1"/>
          <p:nvPr/>
        </p:nvSpPr>
        <p:spPr>
          <a:xfrm>
            <a:off x="276225" y="1400175"/>
            <a:ext cx="2931570" cy="186689"/>
          </a:xfrm>
          <a:prstGeom prst="rect">
            <a:avLst/>
          </a:prstGeom>
          <a:noFill/>
        </p:spPr>
        <p:txBody>
          <a:bodyPr wrap="none" lIns="0" rIns="0" tIns="0" bIns="0">
            <a:spAutoFit/>
          </a:bodyPr>
          <a:lstStyle/>
          <a:p>
            <a:r>
              <a:rPr sz="1100" b="0">
                <a:solidFill>
                  <a:srgbClr val="2E2E2E"/>
                </a:solidFill>
                <a:latin typeface="Calibri"/>
              </a:rPr>
              <a:t>▪ By Ingredient Type, 'Regular Ingredients' leads at</a:t>
            </a:r>
          </a:p>
        </p:txBody>
      </p:sp>
      <p:pic>
        <p:nvPicPr>
          <p:cNvPr id="19" name="Picture 18" descr="lock.png"/>
          <p:cNvPicPr>
            <a:picLocks noChangeAspect="1"/>
          </p:cNvPicPr>
          <p:nvPr/>
        </p:nvPicPr>
        <p:blipFill>
          <a:blip r:embed="rId4"/>
          <a:stretch>
            <a:fillRect/>
          </a:stretch>
        </p:blipFill>
        <p:spPr>
          <a:xfrm>
            <a:off x="3155846" y="1390396"/>
            <a:ext cx="128699" cy="187198"/>
          </a:xfrm>
          <a:prstGeom prst="rect">
            <a:avLst/>
          </a:prstGeom>
        </p:spPr>
      </p:pic>
      <p:sp>
        <p:nvSpPr>
          <p:cNvPr id="20" name="TextBox 19"/>
          <p:cNvSpPr txBox="1"/>
          <p:nvPr/>
        </p:nvSpPr>
        <p:spPr>
          <a:xfrm>
            <a:off x="3323342" y="1400175"/>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21" name="Picture 20" descr="lock.png"/>
          <p:cNvPicPr>
            <a:picLocks noChangeAspect="1"/>
          </p:cNvPicPr>
          <p:nvPr/>
        </p:nvPicPr>
        <p:blipFill>
          <a:blip r:embed="rId4"/>
          <a:stretch>
            <a:fillRect/>
          </a:stretch>
        </p:blipFill>
        <p:spPr>
          <a:xfrm>
            <a:off x="3870923" y="1390396"/>
            <a:ext cx="128699" cy="187198"/>
          </a:xfrm>
          <a:prstGeom prst="rect">
            <a:avLst/>
          </a:prstGeom>
        </p:spPr>
      </p:pic>
      <p:sp>
        <p:nvSpPr>
          <p:cNvPr id="22" name="TextBox 21"/>
          <p:cNvSpPr txBox="1"/>
          <p:nvPr/>
        </p:nvSpPr>
        <p:spPr>
          <a:xfrm>
            <a:off x="4038419" y="1400175"/>
            <a:ext cx="2373337" cy="186689"/>
          </a:xfrm>
          <a:prstGeom prst="rect">
            <a:avLst/>
          </a:prstGeom>
          <a:noFill/>
        </p:spPr>
        <p:txBody>
          <a:bodyPr wrap="none" lIns="0" rIns="0" tIns="0" bIns="0">
            <a:spAutoFit/>
          </a:bodyPr>
          <a:lstStyle/>
          <a:p>
            <a:r>
              <a:rPr sz="1100" b="0">
                <a:solidFill>
                  <a:srgbClr val="2E2E2E"/>
                </a:solidFill>
                <a:latin typeface="Calibri"/>
              </a:rPr>
              <a:t>share), ahead of 'Emerging Ingredients' (</a:t>
            </a:r>
          </a:p>
        </p:txBody>
      </p:sp>
      <p:pic>
        <p:nvPicPr>
          <p:cNvPr id="23" name="Picture 22" descr="lock.png"/>
          <p:cNvPicPr>
            <a:picLocks noChangeAspect="1"/>
          </p:cNvPicPr>
          <p:nvPr/>
        </p:nvPicPr>
        <p:blipFill>
          <a:blip r:embed="rId4"/>
          <a:stretch>
            <a:fillRect/>
          </a:stretch>
        </p:blipFill>
        <p:spPr>
          <a:xfrm>
            <a:off x="6359808" y="1390396"/>
            <a:ext cx="128699" cy="187198"/>
          </a:xfrm>
          <a:prstGeom prst="rect">
            <a:avLst/>
          </a:prstGeom>
        </p:spPr>
      </p:pic>
      <p:sp>
        <p:nvSpPr>
          <p:cNvPr id="24" name="TextBox 23"/>
          <p:cNvSpPr txBox="1"/>
          <p:nvPr/>
        </p:nvSpPr>
        <p:spPr>
          <a:xfrm>
            <a:off x="6527304" y="1400175"/>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25" name="TextBox 24"/>
          <p:cNvSpPr txBox="1"/>
          <p:nvPr/>
        </p:nvSpPr>
        <p:spPr>
          <a:xfrm>
            <a:off x="276225" y="1618107"/>
            <a:ext cx="3000542" cy="186689"/>
          </a:xfrm>
          <a:prstGeom prst="rect">
            <a:avLst/>
          </a:prstGeom>
          <a:noFill/>
        </p:spPr>
        <p:txBody>
          <a:bodyPr wrap="none" lIns="0" rIns="0" tIns="0" bIns="0">
            <a:spAutoFit/>
          </a:bodyPr>
          <a:lstStyle/>
          <a:p>
            <a:r>
              <a:rPr sz="1100" b="0">
                <a:solidFill>
                  <a:srgbClr val="2E2E2E"/>
                </a:solidFill>
                <a:latin typeface="Calibri"/>
              </a:rPr>
              <a:t>▪ By End-use Application, 'Facial Sunscreen' leads at</a:t>
            </a:r>
          </a:p>
        </p:txBody>
      </p:sp>
      <p:pic>
        <p:nvPicPr>
          <p:cNvPr id="26" name="Picture 25" descr="lock.png"/>
          <p:cNvPicPr>
            <a:picLocks noChangeAspect="1"/>
          </p:cNvPicPr>
          <p:nvPr/>
        </p:nvPicPr>
        <p:blipFill>
          <a:blip r:embed="rId4"/>
          <a:stretch>
            <a:fillRect/>
          </a:stretch>
        </p:blipFill>
        <p:spPr>
          <a:xfrm>
            <a:off x="3224818" y="1608328"/>
            <a:ext cx="128699" cy="187198"/>
          </a:xfrm>
          <a:prstGeom prst="rect">
            <a:avLst/>
          </a:prstGeom>
        </p:spPr>
      </p:pic>
      <p:sp>
        <p:nvSpPr>
          <p:cNvPr id="27" name="TextBox 26"/>
          <p:cNvSpPr txBox="1"/>
          <p:nvPr/>
        </p:nvSpPr>
        <p:spPr>
          <a:xfrm>
            <a:off x="3392314" y="1618107"/>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28" name="Picture 27" descr="lock.png"/>
          <p:cNvPicPr>
            <a:picLocks noChangeAspect="1"/>
          </p:cNvPicPr>
          <p:nvPr/>
        </p:nvPicPr>
        <p:blipFill>
          <a:blip r:embed="rId4"/>
          <a:stretch>
            <a:fillRect/>
          </a:stretch>
        </p:blipFill>
        <p:spPr>
          <a:xfrm>
            <a:off x="3939895" y="1608328"/>
            <a:ext cx="128699" cy="187198"/>
          </a:xfrm>
          <a:prstGeom prst="rect">
            <a:avLst/>
          </a:prstGeom>
        </p:spPr>
      </p:pic>
      <p:sp>
        <p:nvSpPr>
          <p:cNvPr id="29" name="TextBox 28"/>
          <p:cNvSpPr txBox="1"/>
          <p:nvPr/>
        </p:nvSpPr>
        <p:spPr>
          <a:xfrm>
            <a:off x="4107391" y="1618107"/>
            <a:ext cx="2067743" cy="186689"/>
          </a:xfrm>
          <a:prstGeom prst="rect">
            <a:avLst/>
          </a:prstGeom>
          <a:noFill/>
        </p:spPr>
        <p:txBody>
          <a:bodyPr wrap="none" lIns="0" rIns="0" tIns="0" bIns="0">
            <a:spAutoFit/>
          </a:bodyPr>
          <a:lstStyle/>
          <a:p>
            <a:r>
              <a:rPr sz="1100" b="0">
                <a:solidFill>
                  <a:srgbClr val="2E2E2E"/>
                </a:solidFill>
                <a:latin typeface="Calibri"/>
              </a:rPr>
              <a:t>share), ahead of 'Body Sunscreen' (</a:t>
            </a:r>
          </a:p>
        </p:txBody>
      </p:sp>
      <p:pic>
        <p:nvPicPr>
          <p:cNvPr id="30" name="Picture 29" descr="lock.png"/>
          <p:cNvPicPr>
            <a:picLocks noChangeAspect="1"/>
          </p:cNvPicPr>
          <p:nvPr/>
        </p:nvPicPr>
        <p:blipFill>
          <a:blip r:embed="rId4"/>
          <a:stretch>
            <a:fillRect/>
          </a:stretch>
        </p:blipFill>
        <p:spPr>
          <a:xfrm>
            <a:off x="6123186" y="1608328"/>
            <a:ext cx="128699" cy="187198"/>
          </a:xfrm>
          <a:prstGeom prst="rect">
            <a:avLst/>
          </a:prstGeom>
        </p:spPr>
      </p:pic>
      <p:sp>
        <p:nvSpPr>
          <p:cNvPr id="31" name="TextBox 30"/>
          <p:cNvSpPr txBox="1"/>
          <p:nvPr/>
        </p:nvSpPr>
        <p:spPr>
          <a:xfrm>
            <a:off x="6290682" y="1618107"/>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2" name="TextBox 31"/>
          <p:cNvSpPr txBox="1"/>
          <p:nvPr/>
        </p:nvSpPr>
        <p:spPr>
          <a:xfrm>
            <a:off x="276225" y="1836039"/>
            <a:ext cx="2344939" cy="186689"/>
          </a:xfrm>
          <a:prstGeom prst="rect">
            <a:avLst/>
          </a:prstGeom>
          <a:noFill/>
        </p:spPr>
        <p:txBody>
          <a:bodyPr wrap="none" lIns="0" rIns="0" tIns="0" bIns="0">
            <a:spAutoFit/>
          </a:bodyPr>
          <a:lstStyle/>
          <a:p>
            <a:r>
              <a:rPr sz="1100" b="0">
                <a:solidFill>
                  <a:srgbClr val="2E2E2E"/>
                </a:solidFill>
                <a:latin typeface="Calibri"/>
              </a:rPr>
              <a:t>▪ By Pack Size, 'Above 200 g/ml' leads at</a:t>
            </a:r>
          </a:p>
        </p:txBody>
      </p:sp>
      <p:pic>
        <p:nvPicPr>
          <p:cNvPr id="33" name="Picture 32" descr="lock.png"/>
          <p:cNvPicPr>
            <a:picLocks noChangeAspect="1"/>
          </p:cNvPicPr>
          <p:nvPr/>
        </p:nvPicPr>
        <p:blipFill>
          <a:blip r:embed="rId4"/>
          <a:stretch>
            <a:fillRect/>
          </a:stretch>
        </p:blipFill>
        <p:spPr>
          <a:xfrm>
            <a:off x="2569216" y="1826260"/>
            <a:ext cx="128699" cy="187198"/>
          </a:xfrm>
          <a:prstGeom prst="rect">
            <a:avLst/>
          </a:prstGeom>
        </p:spPr>
      </p:pic>
      <p:sp>
        <p:nvSpPr>
          <p:cNvPr id="34" name="TextBox 33"/>
          <p:cNvSpPr txBox="1"/>
          <p:nvPr/>
        </p:nvSpPr>
        <p:spPr>
          <a:xfrm>
            <a:off x="2736711" y="1836039"/>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35" name="Picture 34" descr="lock.png"/>
          <p:cNvPicPr>
            <a:picLocks noChangeAspect="1"/>
          </p:cNvPicPr>
          <p:nvPr/>
        </p:nvPicPr>
        <p:blipFill>
          <a:blip r:embed="rId4"/>
          <a:stretch>
            <a:fillRect/>
          </a:stretch>
        </p:blipFill>
        <p:spPr>
          <a:xfrm>
            <a:off x="3284292" y="1826260"/>
            <a:ext cx="128699" cy="187198"/>
          </a:xfrm>
          <a:prstGeom prst="rect">
            <a:avLst/>
          </a:prstGeom>
        </p:spPr>
      </p:pic>
      <p:sp>
        <p:nvSpPr>
          <p:cNvPr id="36" name="TextBox 35"/>
          <p:cNvSpPr txBox="1"/>
          <p:nvPr/>
        </p:nvSpPr>
        <p:spPr>
          <a:xfrm>
            <a:off x="3451788" y="1836039"/>
            <a:ext cx="1947688" cy="186689"/>
          </a:xfrm>
          <a:prstGeom prst="rect">
            <a:avLst/>
          </a:prstGeom>
          <a:noFill/>
        </p:spPr>
        <p:txBody>
          <a:bodyPr wrap="none" lIns="0" rIns="0" tIns="0" bIns="0">
            <a:spAutoFit/>
          </a:bodyPr>
          <a:lstStyle/>
          <a:p>
            <a:r>
              <a:rPr sz="1100" b="0">
                <a:solidFill>
                  <a:srgbClr val="2E2E2E"/>
                </a:solidFill>
                <a:latin typeface="Calibri"/>
              </a:rPr>
              <a:t>share), ahead of 'Up to 30 g/ml' (</a:t>
            </a:r>
          </a:p>
        </p:txBody>
      </p:sp>
      <p:pic>
        <p:nvPicPr>
          <p:cNvPr id="37" name="Picture 36" descr="lock.png"/>
          <p:cNvPicPr>
            <a:picLocks noChangeAspect="1"/>
          </p:cNvPicPr>
          <p:nvPr/>
        </p:nvPicPr>
        <p:blipFill>
          <a:blip r:embed="rId4"/>
          <a:stretch>
            <a:fillRect/>
          </a:stretch>
        </p:blipFill>
        <p:spPr>
          <a:xfrm>
            <a:off x="5347529" y="1826260"/>
            <a:ext cx="128699" cy="187198"/>
          </a:xfrm>
          <a:prstGeom prst="rect">
            <a:avLst/>
          </a:prstGeom>
        </p:spPr>
      </p:pic>
      <p:sp>
        <p:nvSpPr>
          <p:cNvPr id="38" name="TextBox 37"/>
          <p:cNvSpPr txBox="1"/>
          <p:nvPr/>
        </p:nvSpPr>
        <p:spPr>
          <a:xfrm>
            <a:off x="5515024" y="1836039"/>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9" name="TextBox 38"/>
          <p:cNvSpPr txBox="1"/>
          <p:nvPr/>
        </p:nvSpPr>
        <p:spPr>
          <a:xfrm>
            <a:off x="276225" y="2053970"/>
            <a:ext cx="2205239" cy="186689"/>
          </a:xfrm>
          <a:prstGeom prst="rect">
            <a:avLst/>
          </a:prstGeom>
          <a:noFill/>
        </p:spPr>
        <p:txBody>
          <a:bodyPr wrap="none" lIns="0" rIns="0" tIns="0" bIns="0">
            <a:spAutoFit/>
          </a:bodyPr>
          <a:lstStyle/>
          <a:p>
            <a:r>
              <a:rPr sz="1100" b="0">
                <a:solidFill>
                  <a:srgbClr val="2E2E2E"/>
                </a:solidFill>
                <a:latin typeface="Calibri"/>
              </a:rPr>
              <a:t>▪ By Price Tier, 'Mass Market' leads at</a:t>
            </a:r>
          </a:p>
        </p:txBody>
      </p:sp>
      <p:pic>
        <p:nvPicPr>
          <p:cNvPr id="40" name="Picture 39" descr="lock.png"/>
          <p:cNvPicPr>
            <a:picLocks noChangeAspect="1"/>
          </p:cNvPicPr>
          <p:nvPr/>
        </p:nvPicPr>
        <p:blipFill>
          <a:blip r:embed="rId4"/>
          <a:stretch>
            <a:fillRect/>
          </a:stretch>
        </p:blipFill>
        <p:spPr>
          <a:xfrm>
            <a:off x="2429516" y="2044192"/>
            <a:ext cx="128699" cy="187198"/>
          </a:xfrm>
          <a:prstGeom prst="rect">
            <a:avLst/>
          </a:prstGeom>
        </p:spPr>
      </p:pic>
      <p:sp>
        <p:nvSpPr>
          <p:cNvPr id="41" name="TextBox 40"/>
          <p:cNvSpPr txBox="1"/>
          <p:nvPr/>
        </p:nvSpPr>
        <p:spPr>
          <a:xfrm>
            <a:off x="2597011" y="2053970"/>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2" name="Picture 41" descr="lock.png"/>
          <p:cNvPicPr>
            <a:picLocks noChangeAspect="1"/>
          </p:cNvPicPr>
          <p:nvPr/>
        </p:nvPicPr>
        <p:blipFill>
          <a:blip r:embed="rId4"/>
          <a:stretch>
            <a:fillRect/>
          </a:stretch>
        </p:blipFill>
        <p:spPr>
          <a:xfrm>
            <a:off x="3144592" y="2044192"/>
            <a:ext cx="128699" cy="187198"/>
          </a:xfrm>
          <a:prstGeom prst="rect">
            <a:avLst/>
          </a:prstGeom>
        </p:spPr>
      </p:pic>
      <p:sp>
        <p:nvSpPr>
          <p:cNvPr id="43" name="TextBox 42"/>
          <p:cNvSpPr txBox="1"/>
          <p:nvPr/>
        </p:nvSpPr>
        <p:spPr>
          <a:xfrm>
            <a:off x="3312088" y="2053970"/>
            <a:ext cx="1683022" cy="186689"/>
          </a:xfrm>
          <a:prstGeom prst="rect">
            <a:avLst/>
          </a:prstGeom>
          <a:noFill/>
        </p:spPr>
        <p:txBody>
          <a:bodyPr wrap="none" lIns="0" rIns="0" tIns="0" bIns="0">
            <a:spAutoFit/>
          </a:bodyPr>
          <a:lstStyle/>
          <a:p>
            <a:r>
              <a:rPr sz="1100" b="0">
                <a:solidFill>
                  <a:srgbClr val="2E2E2E"/>
                </a:solidFill>
                <a:latin typeface="Calibri"/>
              </a:rPr>
              <a:t>share), ahead of 'Premium' (</a:t>
            </a:r>
          </a:p>
        </p:txBody>
      </p:sp>
      <p:pic>
        <p:nvPicPr>
          <p:cNvPr id="44" name="Picture 43" descr="lock.png"/>
          <p:cNvPicPr>
            <a:picLocks noChangeAspect="1"/>
          </p:cNvPicPr>
          <p:nvPr/>
        </p:nvPicPr>
        <p:blipFill>
          <a:blip r:embed="rId4"/>
          <a:stretch>
            <a:fillRect/>
          </a:stretch>
        </p:blipFill>
        <p:spPr>
          <a:xfrm>
            <a:off x="4943163" y="2044192"/>
            <a:ext cx="128699" cy="187198"/>
          </a:xfrm>
          <a:prstGeom prst="rect">
            <a:avLst/>
          </a:prstGeom>
        </p:spPr>
      </p:pic>
      <p:sp>
        <p:nvSpPr>
          <p:cNvPr id="45" name="TextBox 44"/>
          <p:cNvSpPr txBox="1"/>
          <p:nvPr/>
        </p:nvSpPr>
        <p:spPr>
          <a:xfrm>
            <a:off x="5110658" y="2053970"/>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6" name="TextBox 45"/>
          <p:cNvSpPr txBox="1"/>
          <p:nvPr/>
        </p:nvSpPr>
        <p:spPr>
          <a:xfrm>
            <a:off x="276225" y="2271903"/>
            <a:ext cx="2097463" cy="186689"/>
          </a:xfrm>
          <a:prstGeom prst="rect">
            <a:avLst/>
          </a:prstGeom>
          <a:noFill/>
        </p:spPr>
        <p:txBody>
          <a:bodyPr wrap="none" lIns="0" rIns="0" tIns="0" bIns="0">
            <a:spAutoFit/>
          </a:bodyPr>
          <a:lstStyle/>
          <a:p>
            <a:r>
              <a:rPr sz="1100" b="0">
                <a:solidFill>
                  <a:srgbClr val="2E2E2E"/>
                </a:solidFill>
                <a:latin typeface="Calibri"/>
              </a:rPr>
              <a:t>▪ By Sales Channel, 'Offline' leads at</a:t>
            </a:r>
          </a:p>
        </p:txBody>
      </p:sp>
      <p:pic>
        <p:nvPicPr>
          <p:cNvPr id="47" name="Picture 46" descr="lock.png"/>
          <p:cNvPicPr>
            <a:picLocks noChangeAspect="1"/>
          </p:cNvPicPr>
          <p:nvPr/>
        </p:nvPicPr>
        <p:blipFill>
          <a:blip r:embed="rId4"/>
          <a:stretch>
            <a:fillRect/>
          </a:stretch>
        </p:blipFill>
        <p:spPr>
          <a:xfrm>
            <a:off x="2321739" y="2262124"/>
            <a:ext cx="128699" cy="187198"/>
          </a:xfrm>
          <a:prstGeom prst="rect">
            <a:avLst/>
          </a:prstGeom>
        </p:spPr>
      </p:pic>
      <p:sp>
        <p:nvSpPr>
          <p:cNvPr id="48" name="TextBox 47"/>
          <p:cNvSpPr txBox="1"/>
          <p:nvPr/>
        </p:nvSpPr>
        <p:spPr>
          <a:xfrm>
            <a:off x="2489235" y="2271903"/>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9" name="Picture 48" descr="lock.png"/>
          <p:cNvPicPr>
            <a:picLocks noChangeAspect="1"/>
          </p:cNvPicPr>
          <p:nvPr/>
        </p:nvPicPr>
        <p:blipFill>
          <a:blip r:embed="rId4"/>
          <a:stretch>
            <a:fillRect/>
          </a:stretch>
        </p:blipFill>
        <p:spPr>
          <a:xfrm>
            <a:off x="3036816" y="2262124"/>
            <a:ext cx="128699" cy="187198"/>
          </a:xfrm>
          <a:prstGeom prst="rect">
            <a:avLst/>
          </a:prstGeom>
        </p:spPr>
      </p:pic>
      <p:sp>
        <p:nvSpPr>
          <p:cNvPr id="50" name="TextBox 49"/>
          <p:cNvSpPr txBox="1"/>
          <p:nvPr/>
        </p:nvSpPr>
        <p:spPr>
          <a:xfrm>
            <a:off x="3204312" y="2271903"/>
            <a:ext cx="1536774" cy="186689"/>
          </a:xfrm>
          <a:prstGeom prst="rect">
            <a:avLst/>
          </a:prstGeom>
          <a:noFill/>
        </p:spPr>
        <p:txBody>
          <a:bodyPr wrap="none" lIns="0" rIns="0" tIns="0" bIns="0">
            <a:spAutoFit/>
          </a:bodyPr>
          <a:lstStyle/>
          <a:p>
            <a:r>
              <a:rPr sz="1100" b="0">
                <a:solidFill>
                  <a:srgbClr val="2E2E2E"/>
                </a:solidFill>
                <a:latin typeface="Calibri"/>
              </a:rPr>
              <a:t>share), ahead of 'Online' (</a:t>
            </a:r>
          </a:p>
        </p:txBody>
      </p:sp>
      <p:pic>
        <p:nvPicPr>
          <p:cNvPr id="51" name="Picture 50" descr="lock.png"/>
          <p:cNvPicPr>
            <a:picLocks noChangeAspect="1"/>
          </p:cNvPicPr>
          <p:nvPr/>
        </p:nvPicPr>
        <p:blipFill>
          <a:blip r:embed="rId4"/>
          <a:stretch>
            <a:fillRect/>
          </a:stretch>
        </p:blipFill>
        <p:spPr>
          <a:xfrm>
            <a:off x="4689138" y="2262124"/>
            <a:ext cx="128699" cy="187198"/>
          </a:xfrm>
          <a:prstGeom prst="rect">
            <a:avLst/>
          </a:prstGeom>
        </p:spPr>
      </p:pic>
      <p:sp>
        <p:nvSpPr>
          <p:cNvPr id="52" name="TextBox 51"/>
          <p:cNvSpPr txBox="1"/>
          <p:nvPr/>
        </p:nvSpPr>
        <p:spPr>
          <a:xfrm>
            <a:off x="4856634" y="2271903"/>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3" name="TextBox 52"/>
          <p:cNvSpPr txBox="1"/>
          <p:nvPr/>
        </p:nvSpPr>
        <p:spPr>
          <a:xfrm>
            <a:off x="276225" y="2489835"/>
            <a:ext cx="6677843" cy="186689"/>
          </a:xfrm>
          <a:prstGeom prst="rect">
            <a:avLst/>
          </a:prstGeom>
          <a:noFill/>
        </p:spPr>
        <p:txBody>
          <a:bodyPr wrap="none" lIns="0" rIns="0" tIns="0" bIns="0">
            <a:spAutoFit/>
          </a:bodyPr>
          <a:lstStyle/>
          <a:p>
            <a:r>
              <a:rPr sz="1100" b="0">
                <a:solidFill>
                  <a:srgbClr val="2E2E2E"/>
                </a:solidFill>
                <a:latin typeface="Calibri"/>
              </a:rPr>
              <a:t>▪ Use the Country slicer in the top band to switch country the selection stays synced across every page of the report.</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176847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11137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2797175"/>
            <a:ext cx="8458200" cy="32448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Form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SPF Rating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Ingredient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End-use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Pack Size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Tier</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Segmental Analysis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Product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Type</a:t>
            </a:r>
          </a:p>
        </p:txBody>
      </p:sp>
      <p:graphicFrame>
        <p:nvGraphicFramePr>
          <p:cNvPr id="15" name="Table 14"/>
          <p:cNvGraphicFramePr>
            <a:graphicFrameLocks noGrp="1"/>
          </p:cNvGraphicFramePr>
          <p:nvPr/>
        </p:nvGraphicFramePr>
        <p:xfrm>
          <a:off x="6181725" y="1238250"/>
          <a:ext cx="5857873" cy="2286000"/>
        </p:xfrm>
        <a:graphic>
          <a:graphicData uri="http://schemas.openxmlformats.org/drawingml/2006/table">
            <a:tbl>
              <a:tblPr>
                <a:tableStyleId>{5C22544A-7EE6-4342-B048-85BDC9FD1C3A}</a:tableStyleId>
              </a:tblPr>
              <a:tblGrid>
                <a:gridCol w="1925141"/>
                <a:gridCol w="983183"/>
                <a:gridCol w="983183"/>
                <a:gridCol w="983183"/>
                <a:gridCol w="983183"/>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886542"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Tables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Product Type,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Type (US$ Mn)</a:t>
            </a:r>
          </a:p>
        </p:txBody>
      </p:sp>
      <p:graphicFrame>
        <p:nvGraphicFramePr>
          <p:cNvPr id="16" name="Table 15"/>
          <p:cNvGraphicFramePr>
            <a:graphicFrameLocks noGrp="1"/>
          </p:cNvGraphicFramePr>
          <p:nvPr/>
        </p:nvGraphicFramePr>
        <p:xfrm>
          <a:off x="152400" y="1238250"/>
          <a:ext cx="11887201" cy="1971675"/>
        </p:xfrm>
        <a:graphic>
          <a:graphicData uri="http://schemas.openxmlformats.org/drawingml/2006/table">
            <a:tbl>
              <a:tblPr>
                <a:tableStyleId>{5C22544A-7EE6-4342-B048-85BDC9FD1C3A}</a:tableStyleId>
              </a:tblPr>
              <a:tblGrid>
                <a:gridCol w="3073675"/>
                <a:gridCol w="529415"/>
                <a:gridCol w="529415"/>
                <a:gridCol w="529415"/>
                <a:gridCol w="529415"/>
                <a:gridCol w="529415"/>
                <a:gridCol w="510766"/>
                <a:gridCol w="505438"/>
                <a:gridCol w="505438"/>
                <a:gridCol w="505438"/>
                <a:gridCol w="505438"/>
                <a:gridCol w="505438"/>
                <a:gridCol w="505438"/>
                <a:gridCol w="505438"/>
                <a:gridCol w="505438"/>
                <a:gridCol w="505438"/>
                <a:gridCol w="505438"/>
                <a:gridCol w="601305"/>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Zinc Oxide-based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Titanium Dioxide-based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Zinc Oxide &amp; Titanium Dioxide Combination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446148" y="2080450"/>
            <a:ext cx="366712" cy="533400"/>
          </a:xfrm>
          <a:prstGeom prst="rect">
            <a:avLst/>
          </a:prstGeom>
        </p:spPr>
      </p:pic>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Form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Segmental Analysis Form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Form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Form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Form Type</a:t>
            </a:r>
          </a:p>
        </p:txBody>
      </p:sp>
      <p:graphicFrame>
        <p:nvGraphicFramePr>
          <p:cNvPr id="15" name="Table 14"/>
          <p:cNvGraphicFramePr>
            <a:graphicFrameLocks noGrp="1"/>
          </p:cNvGraphicFramePr>
          <p:nvPr/>
        </p:nvGraphicFramePr>
        <p:xfrm>
          <a:off x="6181725" y="1238250"/>
          <a:ext cx="5857875" cy="2286001"/>
        </p:xfrm>
        <a:graphic>
          <a:graphicData uri="http://schemas.openxmlformats.org/drawingml/2006/table">
            <a:tbl>
              <a:tblPr>
                <a:tableStyleId>{5C22544A-7EE6-4342-B048-85BDC9FD1C3A}</a:tableStyleId>
              </a:tblPr>
              <a:tblGrid>
                <a:gridCol w="1665735"/>
                <a:gridCol w="1048035"/>
                <a:gridCol w="1048035"/>
                <a:gridCol w="1048035"/>
                <a:gridCol w="1048035"/>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407975">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Form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756840" y="2237613"/>
            <a:ext cx="366712" cy="533399"/>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Tables Form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Form Type, 2021–2036</a:t>
            </a:r>
          </a:p>
        </p:txBody>
      </p:sp>
      <p:sp>
        <p:nvSpPr>
          <p:cNvPr id="10" name="Rounded Rectangle 9"/>
          <p:cNvSpPr/>
          <p:nvPr/>
        </p:nvSpPr>
        <p:spPr>
          <a:xfrm>
            <a:off x="142875" y="981075"/>
            <a:ext cx="11906250" cy="4162425"/>
          </a:xfrm>
          <a:prstGeom prst="roundRect">
            <a:avLst>
              <a:gd name="adj" fmla="val 18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Form Type (US$ Mn)</a:t>
            </a:r>
          </a:p>
        </p:txBody>
      </p:sp>
      <p:graphicFrame>
        <p:nvGraphicFramePr>
          <p:cNvPr id="12" name="Table 11"/>
          <p:cNvGraphicFramePr>
            <a:graphicFrameLocks noGrp="1"/>
          </p:cNvGraphicFramePr>
          <p:nvPr/>
        </p:nvGraphicFramePr>
        <p:xfrm>
          <a:off x="152400" y="1238250"/>
          <a:ext cx="11887199" cy="3695698"/>
        </p:xfrm>
        <a:graphic>
          <a:graphicData uri="http://schemas.openxmlformats.org/drawingml/2006/table">
            <a:tbl>
              <a:tblPr>
                <a:tableStyleId>{5C22544A-7EE6-4342-B048-85BDC9FD1C3A}</a:tableStyleId>
              </a:tblPr>
              <a:tblGrid>
                <a:gridCol w="1779968"/>
                <a:gridCol w="594543"/>
                <a:gridCol w="594543"/>
                <a:gridCol w="594543"/>
                <a:gridCol w="594543"/>
                <a:gridCol w="594543"/>
                <a:gridCol w="594543"/>
                <a:gridCol w="594543"/>
                <a:gridCol w="594543"/>
                <a:gridCol w="594543"/>
                <a:gridCol w="594543"/>
                <a:gridCol w="594543"/>
                <a:gridCol w="594543"/>
                <a:gridCol w="594543"/>
                <a:gridCol w="594543"/>
                <a:gridCol w="594543"/>
                <a:gridCol w="594543"/>
                <a:gridCol w="594543"/>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98">
                <a:tc>
                  <a:txBody>
                    <a:bodyPr wrap="none"/>
                    <a:lstStyle/>
                    <a:p>
                      <a:pPr algn="l"/>
                      <a:r>
                        <a:rPr sz="1100" b="1">
                          <a:solidFill>
                            <a:srgbClr val="2E2E2E"/>
                          </a:solidFill>
                          <a:latin typeface="Calibri"/>
                        </a:rPr>
                        <a:t>Cream-based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Traditional Cream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Gel-Cream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Lotion-based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Standard Lotion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Lightweight Fluid / Milk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Gel-based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Water-based Gel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Oil-free Gel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Stick-based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Other Forms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 Spray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98">
                <a:tc>
                  <a:txBody>
                    <a:bodyPr wrap="none"/>
                    <a:lstStyle/>
                    <a:p>
                      <a:pPr algn="l"/>
                      <a:r>
                        <a:rPr sz="1100" b="1">
                          <a:solidFill>
                            <a:srgbClr val="2E2E2E"/>
                          </a:solidFill>
                          <a:latin typeface="Calibri"/>
                        </a:rPr>
                        <a:t>– Serum-based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9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943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799293" y="2942461"/>
            <a:ext cx="366712" cy="533400"/>
          </a:xfrm>
          <a:prstGeom prst="rect">
            <a:avLst/>
          </a:prstGeom>
        </p:spPr>
      </p:pic>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SPF Rating</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Segmental Analysis SPF Rating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SPF Rating: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SPF Rating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SPF Rating</a:t>
            </a:r>
          </a:p>
        </p:txBody>
      </p:sp>
      <p:graphicFrame>
        <p:nvGraphicFramePr>
          <p:cNvPr id="15" name="Table 14"/>
          <p:cNvGraphicFramePr>
            <a:graphicFrameLocks noGrp="1"/>
          </p:cNvGraphicFramePr>
          <p:nvPr/>
        </p:nvGraphicFramePr>
        <p:xfrm>
          <a:off x="6181725" y="1238250"/>
          <a:ext cx="5857874" cy="2285998"/>
        </p:xfrm>
        <a:graphic>
          <a:graphicData uri="http://schemas.openxmlformats.org/drawingml/2006/table">
            <a:tbl>
              <a:tblPr>
                <a:tableStyleId>{5C22544A-7EE6-4342-B048-85BDC9FD1C3A}</a:tableStyleId>
              </a:tblPr>
              <a:tblGrid>
                <a:gridCol w="1109650"/>
                <a:gridCol w="1187056"/>
                <a:gridCol w="1187056"/>
                <a:gridCol w="1187056"/>
                <a:gridCol w="1187056"/>
              </a:tblGrid>
              <a:tr h="246126">
                <a:tc>
                  <a:txBody>
                    <a:bodyPr wrap="none"/>
                    <a:lstStyle/>
                    <a:p>
                      <a:pPr algn="l"/>
                      <a:r>
                        <a:rPr sz="1100" b="1">
                          <a:solidFill>
                            <a:srgbClr val="0B2E4A"/>
                          </a:solidFill>
                          <a:latin typeface="Calibri"/>
                        </a:rPr>
                        <a:t>SPF Rating</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509968">
                <a:tc>
                  <a:txBody>
                    <a:bodyPr wrap="none"/>
                    <a:lstStyle/>
                    <a:p>
                      <a:pPr algn="l"/>
                      <a:r>
                        <a:rPr sz="1100" b="1">
                          <a:solidFill>
                            <a:srgbClr val="2E2E2E"/>
                          </a:solidFill>
                          <a:latin typeface="Calibri"/>
                        </a:rPr>
                        <a:t>Below SPF 30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SPF 30–49</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509968">
                <a:tc>
                  <a:txBody>
                    <a:bodyPr wrap="none"/>
                    <a:lstStyle/>
                    <a:p>
                      <a:pPr algn="l"/>
                      <a:r>
                        <a:rPr sz="1100" b="1">
                          <a:solidFill>
                            <a:srgbClr val="2E2E2E"/>
                          </a:solidFill>
                          <a:latin typeface="Calibri"/>
                        </a:rPr>
                        <a:t>SPF 50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Above SPF 50</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SPF Rating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478797" y="2237612"/>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Tables SPF Rating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SPF Rating, 2021–2036</a:t>
            </a:r>
          </a:p>
        </p:txBody>
      </p:sp>
      <p:sp>
        <p:nvSpPr>
          <p:cNvPr id="14" name="Rounded Rectangle 13"/>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SPF Rating (US$ Mn)</a:t>
            </a:r>
          </a:p>
        </p:txBody>
      </p:sp>
      <p:graphicFrame>
        <p:nvGraphicFramePr>
          <p:cNvPr id="16" name="Table 15"/>
          <p:cNvGraphicFramePr>
            <a:graphicFrameLocks noGrp="1"/>
          </p:cNvGraphicFramePr>
          <p:nvPr/>
        </p:nvGraphicFramePr>
        <p:xfrm>
          <a:off x="152400" y="1238250"/>
          <a:ext cx="11887206" cy="1485896"/>
        </p:xfrm>
        <a:graphic>
          <a:graphicData uri="http://schemas.openxmlformats.org/drawingml/2006/table">
            <a:tbl>
              <a:tblPr>
                <a:tableStyleId>{5C22544A-7EE6-4342-B048-85BDC9FD1C3A}</a:tableStyleId>
              </a:tblPr>
              <a:tblGrid>
                <a:gridCol w="1052477"/>
                <a:gridCol w="637337"/>
                <a:gridCol w="637337"/>
                <a:gridCol w="637337"/>
                <a:gridCol w="637337"/>
                <a:gridCol w="637337"/>
                <a:gridCol w="637337"/>
                <a:gridCol w="637337"/>
                <a:gridCol w="637337"/>
                <a:gridCol w="637337"/>
                <a:gridCol w="637337"/>
                <a:gridCol w="637337"/>
                <a:gridCol w="637337"/>
                <a:gridCol w="637337"/>
                <a:gridCol w="637337"/>
                <a:gridCol w="637337"/>
                <a:gridCol w="637337"/>
                <a:gridCol w="637337"/>
              </a:tblGrid>
              <a:tr h="246126">
                <a:tc>
                  <a:txBody>
                    <a:bodyPr wrap="none"/>
                    <a:lstStyle/>
                    <a:p>
                      <a:pPr algn="l"/>
                      <a:r>
                        <a:rPr sz="1100" b="1">
                          <a:solidFill>
                            <a:srgbClr val="0B2E4A"/>
                          </a:solidFill>
                          <a:latin typeface="Calibri"/>
                        </a:rPr>
                        <a:t>SPF Rating</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Below SPF 30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SPF 30–49</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SPF 50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Above SPF 50</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435551" y="1837563"/>
            <a:ext cx="366712" cy="533400"/>
          </a:xfrm>
          <a:prstGeom prst="rect">
            <a:avLst/>
          </a:prstGeom>
        </p:spPr>
      </p:pic>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Ingredient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Segmental Analysis Ingredient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Ingredient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Ingredient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Ingredient Type</a:t>
            </a:r>
          </a:p>
        </p:txBody>
      </p:sp>
      <p:graphicFrame>
        <p:nvGraphicFramePr>
          <p:cNvPr id="15" name="Table 14"/>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531794"/>
                <a:gridCol w="1081520"/>
                <a:gridCol w="1081520"/>
                <a:gridCol w="1081520"/>
                <a:gridCol w="1081520"/>
              </a:tblGrid>
              <a:tr h="246126">
                <a:tc>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Niche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Emerging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Ingredient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689869"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Tables Ingredient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Ingredient Type, 2021–2036</a:t>
            </a:r>
          </a:p>
        </p:txBody>
      </p:sp>
      <p:sp>
        <p:nvSpPr>
          <p:cNvPr id="10" name="Rounded Rectangle 9"/>
          <p:cNvSpPr/>
          <p:nvPr/>
        </p:nvSpPr>
        <p:spPr>
          <a:xfrm>
            <a:off x="142875" y="981075"/>
            <a:ext cx="11906250" cy="5638800"/>
          </a:xfrm>
          <a:prstGeom prst="roundRect">
            <a:avLst>
              <a:gd name="adj" fmla="val 13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Ingredient Type (US$ Mn)</a:t>
            </a:r>
          </a:p>
        </p:txBody>
      </p:sp>
      <p:graphicFrame>
        <p:nvGraphicFramePr>
          <p:cNvPr id="12" name="Table 11"/>
          <p:cNvGraphicFramePr>
            <a:graphicFrameLocks noGrp="1"/>
          </p:cNvGraphicFramePr>
          <p:nvPr/>
        </p:nvGraphicFramePr>
        <p:xfrm>
          <a:off x="152400" y="1238250"/>
          <a:ext cx="11887205" cy="5172066"/>
        </p:xfrm>
        <a:graphic>
          <a:graphicData uri="http://schemas.openxmlformats.org/drawingml/2006/table">
            <a:tbl>
              <a:tblPr>
                <a:tableStyleId>{5C22544A-7EE6-4342-B048-85BDC9FD1C3A}</a:tableStyleId>
              </a:tblPr>
              <a:tblGrid>
                <a:gridCol w="2979849"/>
                <a:gridCol w="535051"/>
                <a:gridCol w="535051"/>
                <a:gridCol w="535051"/>
                <a:gridCol w="535051"/>
                <a:gridCol w="535051"/>
                <a:gridCol w="516204"/>
                <a:gridCol w="510819"/>
                <a:gridCol w="510819"/>
                <a:gridCol w="510819"/>
                <a:gridCol w="510819"/>
                <a:gridCol w="510819"/>
                <a:gridCol w="510819"/>
                <a:gridCol w="510819"/>
                <a:gridCol w="510819"/>
                <a:gridCol w="510819"/>
                <a:gridCol w="510819"/>
                <a:gridCol w="607707"/>
              </a:tblGrid>
              <a:tr h="246126">
                <a:tc>
                  <a:txBody>
                    <a:bodyPr wrap="none"/>
                    <a:lstStyle/>
                    <a:p>
                      <a:pPr algn="l"/>
                      <a:r>
                        <a:rPr sz="1100" b="1">
                          <a:solidFill>
                            <a:srgbClr val="0B2E4A"/>
                          </a:solidFill>
                          <a:latin typeface="Calibri"/>
                        </a:rPr>
                        <a:t>Ingredient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297">
                <a:tc>
                  <a:txBody>
                    <a:bodyPr wrap="none"/>
                    <a:lstStyle/>
                    <a:p>
                      <a:pPr algn="l"/>
                      <a:r>
                        <a:rPr sz="1100" b="1">
                          <a:solidFill>
                            <a:srgbClr val="2E2E2E"/>
                          </a:solidFill>
                          <a:latin typeface="Calibri"/>
                        </a:rPr>
                        <a:t>Regular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Ceramide NP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Ceramide AP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Ceramide EOP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Ceramide 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Ceramide 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Ceramide 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Multi-ceramide blends and complexes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Niche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Ceramide EOS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Ceramide EOH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Specialized ceramide-lipid complexes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Ceramide-based liquid-crystal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Emerging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Fermentation-derived ceramides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Biotechnologically produced ceramides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Encapsulated ceramide delivery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Ceramide-loaded liposomal systems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Advanced ceramide delivery technologies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64198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399237" y="3680645"/>
            <a:ext cx="366712" cy="533400"/>
          </a:xfrm>
          <a:prstGeom prst="rect">
            <a:avLst/>
          </a:prstGeom>
        </p:spPr>
      </p:pic>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End-use 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Segmental Analysis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End-use Application: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End-use Application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End-use Application</a:t>
            </a:r>
          </a:p>
        </p:txBody>
      </p:sp>
      <p:graphicFrame>
        <p:nvGraphicFramePr>
          <p:cNvPr id="15" name="Table 14"/>
          <p:cNvGraphicFramePr>
            <a:graphicFrameLocks noGrp="1"/>
          </p:cNvGraphicFramePr>
          <p:nvPr/>
        </p:nvGraphicFramePr>
        <p:xfrm>
          <a:off x="6181725" y="1238250"/>
          <a:ext cx="5857877" cy="2285998"/>
        </p:xfrm>
        <a:graphic>
          <a:graphicData uri="http://schemas.openxmlformats.org/drawingml/2006/table">
            <a:tbl>
              <a:tblPr>
                <a:tableStyleId>{5C22544A-7EE6-4342-B048-85BDC9FD1C3A}</a:tableStyleId>
              </a:tblPr>
              <a:tblGrid>
                <a:gridCol w="1627713"/>
                <a:gridCol w="1057541"/>
                <a:gridCol w="1057541"/>
                <a:gridCol w="1057541"/>
                <a:gridCol w="1057541"/>
              </a:tblGrid>
              <a:tr h="246126">
                <a:tc>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509968">
                <a:tc>
                  <a:txBody>
                    <a:bodyPr wrap="none"/>
                    <a:lstStyle/>
                    <a:p>
                      <a:pPr algn="l"/>
                      <a:r>
                        <a:rPr sz="1100" b="1">
                          <a:solidFill>
                            <a:srgbClr val="2E2E2E"/>
                          </a:solidFill>
                          <a:latin typeface="Calibri"/>
                        </a:rPr>
                        <a:t>Facial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Body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509968">
                <a:tc>
                  <a:txBody>
                    <a:bodyPr wrap="none"/>
                    <a:lstStyle/>
                    <a:p>
                      <a:pPr algn="l"/>
                      <a:r>
                        <a:rPr sz="1100" b="1">
                          <a:solidFill>
                            <a:srgbClr val="2E2E2E"/>
                          </a:solidFill>
                          <a:latin typeface="Calibri"/>
                        </a:rPr>
                        <a:t>Face &amp; Body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Lip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End-use Application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737829" y="2237612"/>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Tables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End-use Application, 2021–2036</a:t>
            </a:r>
          </a:p>
        </p:txBody>
      </p:sp>
      <p:sp>
        <p:nvSpPr>
          <p:cNvPr id="14" name="Rounded Rectangle 13"/>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End-use Application (US$ Mn)</a:t>
            </a:r>
          </a:p>
        </p:txBody>
      </p:sp>
      <p:graphicFrame>
        <p:nvGraphicFramePr>
          <p:cNvPr id="16" name="Table 15"/>
          <p:cNvGraphicFramePr>
            <a:graphicFrameLocks noGrp="1"/>
          </p:cNvGraphicFramePr>
          <p:nvPr/>
        </p:nvGraphicFramePr>
        <p:xfrm>
          <a:off x="152400" y="1238250"/>
          <a:ext cx="11887207" cy="1485896"/>
        </p:xfrm>
        <a:graphic>
          <a:graphicData uri="http://schemas.openxmlformats.org/drawingml/2006/table">
            <a:tbl>
              <a:tblPr>
                <a:tableStyleId>{5C22544A-7EE6-4342-B048-85BDC9FD1C3A}</a:tableStyleId>
              </a:tblPr>
              <a:tblGrid>
                <a:gridCol w="1639097"/>
                <a:gridCol w="602830"/>
                <a:gridCol w="602830"/>
                <a:gridCol w="602830"/>
                <a:gridCol w="602830"/>
                <a:gridCol w="602830"/>
                <a:gridCol w="602830"/>
                <a:gridCol w="602830"/>
                <a:gridCol w="602830"/>
                <a:gridCol w="602830"/>
                <a:gridCol w="602830"/>
                <a:gridCol w="602830"/>
                <a:gridCol w="602830"/>
                <a:gridCol w="602830"/>
                <a:gridCol w="602830"/>
                <a:gridCol w="602830"/>
                <a:gridCol w="602830"/>
                <a:gridCol w="602830"/>
              </a:tblGrid>
              <a:tr h="246126">
                <a:tc>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Facial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Body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Face &amp; Body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Lip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728861" y="1837563"/>
            <a:ext cx="366712" cy="533400"/>
          </a:xfrm>
          <a:prstGeom prst="rect">
            <a:avLst/>
          </a:prstGeom>
        </p:spPr>
      </p:pic>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Pack Size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Segmental Analysis Pack Size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Pack Size: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Pack Size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Pack Size</a:t>
            </a:r>
          </a:p>
        </p:txBody>
      </p:sp>
      <p:graphicFrame>
        <p:nvGraphicFramePr>
          <p:cNvPr id="15" name="Table 14"/>
          <p:cNvGraphicFramePr>
            <a:graphicFrameLocks noGrp="1"/>
          </p:cNvGraphicFramePr>
          <p:nvPr/>
        </p:nvGraphicFramePr>
        <p:xfrm>
          <a:off x="6181725" y="1238250"/>
          <a:ext cx="5857874" cy="2286001"/>
        </p:xfrm>
        <a:graphic>
          <a:graphicData uri="http://schemas.openxmlformats.org/drawingml/2006/table">
            <a:tbl>
              <a:tblPr>
                <a:tableStyleId>{5C22544A-7EE6-4342-B048-85BDC9FD1C3A}</a:tableStyleId>
              </a:tblPr>
              <a:tblGrid>
                <a:gridCol w="1503566"/>
                <a:gridCol w="1088577"/>
                <a:gridCol w="1088577"/>
                <a:gridCol w="1088577"/>
                <a:gridCol w="1088577"/>
              </a:tblGrid>
              <a:tr h="246126">
                <a:tc>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407975">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Pack Size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675754"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Tables Pack Size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Pack Size, 2021–2036</a:t>
            </a:r>
          </a:p>
        </p:txBody>
      </p:sp>
      <p:sp>
        <p:nvSpPr>
          <p:cNvPr id="14" name="Rounded Rectangle 13"/>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Pack Size (US$ Mn)</a:t>
            </a:r>
          </a:p>
        </p:txBody>
      </p:sp>
      <p:graphicFrame>
        <p:nvGraphicFramePr>
          <p:cNvPr id="16" name="Table 15"/>
          <p:cNvGraphicFramePr>
            <a:graphicFrameLocks noGrp="1"/>
          </p:cNvGraphicFramePr>
          <p:nvPr/>
        </p:nvGraphicFramePr>
        <p:xfrm>
          <a:off x="152400" y="1238250"/>
          <a:ext cx="11887200" cy="1724022"/>
        </p:xfrm>
        <a:graphic>
          <a:graphicData uri="http://schemas.openxmlformats.org/drawingml/2006/table">
            <a:tbl>
              <a:tblPr>
                <a:tableStyleId>{5C22544A-7EE6-4342-B048-85BDC9FD1C3A}</a:tableStyleId>
              </a:tblPr>
              <a:tblGrid>
                <a:gridCol w="1492023"/>
                <a:gridCol w="611481"/>
                <a:gridCol w="611481"/>
                <a:gridCol w="611481"/>
                <a:gridCol w="611481"/>
                <a:gridCol w="611481"/>
                <a:gridCol w="611481"/>
                <a:gridCol w="611481"/>
                <a:gridCol w="611481"/>
                <a:gridCol w="611481"/>
                <a:gridCol w="611481"/>
                <a:gridCol w="611481"/>
                <a:gridCol w="611481"/>
                <a:gridCol w="611481"/>
                <a:gridCol w="611481"/>
                <a:gridCol w="611481"/>
                <a:gridCol w="611481"/>
                <a:gridCol w="611481"/>
              </a:tblGrid>
              <a:tr h="246126">
                <a:tc>
                  <a:txBody>
                    <a:bodyPr wrap="none"/>
                    <a:lstStyle/>
                    <a:p>
                      <a:pPr algn="l"/>
                      <a:r>
                        <a:rPr sz="1100" b="1">
                          <a:solidFill>
                            <a:srgbClr val="0B2E4A"/>
                          </a:solidFill>
                          <a:latin typeface="Calibri"/>
                        </a:rPr>
                        <a:t>Pack Size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Up to 30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30–50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50–100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Above 100–200 g/ml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Above 200 g/ml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55321" y="1956623"/>
            <a:ext cx="366712" cy="533400"/>
          </a:xfrm>
          <a:prstGeom prst="rect">
            <a:avLst/>
          </a:prstGeom>
        </p:spPr>
      </p:pic>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Price Tier</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Segmental Analysis Price Tier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Price Tier: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Price Tier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Price Tier</a:t>
            </a:r>
          </a:p>
        </p:txBody>
      </p:sp>
      <p:graphicFrame>
        <p:nvGraphicFramePr>
          <p:cNvPr id="15" name="Table 14"/>
          <p:cNvGraphicFramePr>
            <a:graphicFrameLocks noGrp="1"/>
          </p:cNvGraphicFramePr>
          <p:nvPr/>
        </p:nvGraphicFramePr>
        <p:xfrm>
          <a:off x="6181725" y="1238250"/>
          <a:ext cx="5857876" cy="2285998"/>
        </p:xfrm>
        <a:graphic>
          <a:graphicData uri="http://schemas.openxmlformats.org/drawingml/2006/table">
            <a:tbl>
              <a:tblPr>
                <a:tableStyleId>{5C22544A-7EE6-4342-B048-85BDC9FD1C3A}</a:tableStyleId>
              </a:tblPr>
              <a:tblGrid>
                <a:gridCol w="1304060"/>
                <a:gridCol w="1138454"/>
                <a:gridCol w="1138454"/>
                <a:gridCol w="1138454"/>
                <a:gridCol w="1138454"/>
              </a:tblGrid>
              <a:tr h="246126">
                <a:tc>
                  <a:txBody>
                    <a:bodyPr wrap="none"/>
                    <a:lstStyle/>
                    <a:p>
                      <a:pPr algn="l"/>
                      <a:r>
                        <a:rPr sz="1100" b="1">
                          <a:solidFill>
                            <a:srgbClr val="0B2E4A"/>
                          </a:solidFill>
                          <a:latin typeface="Calibri"/>
                        </a:rPr>
                        <a:t>Price Tier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509968">
                <a:tc>
                  <a:txBody>
                    <a:bodyPr wrap="none"/>
                    <a:lstStyle/>
                    <a:p>
                      <a:pPr algn="l"/>
                      <a:r>
                        <a:rPr sz="1100" b="1">
                          <a:solidFill>
                            <a:srgbClr val="2E2E2E"/>
                          </a:solidFill>
                          <a:latin typeface="Calibri"/>
                        </a:rPr>
                        <a:t>Mass Market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Masstige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509968">
                <a:tc>
                  <a:txBody>
                    <a:bodyPr wrap="none"/>
                    <a:lstStyle/>
                    <a:p>
                      <a:pPr algn="l"/>
                      <a:r>
                        <a:rPr sz="1100" b="1">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Prestige / Luxury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Price Tier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576003" y="2237612"/>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Tables Price Tier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Price Tier, 2021–2036</a:t>
            </a:r>
          </a:p>
        </p:txBody>
      </p:sp>
      <p:sp>
        <p:nvSpPr>
          <p:cNvPr id="14" name="Rounded Rectangle 13"/>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Price Tier (US$ Mn)</a:t>
            </a:r>
          </a:p>
        </p:txBody>
      </p:sp>
      <p:graphicFrame>
        <p:nvGraphicFramePr>
          <p:cNvPr id="16" name="Table 15"/>
          <p:cNvGraphicFramePr>
            <a:graphicFrameLocks noGrp="1"/>
          </p:cNvGraphicFramePr>
          <p:nvPr/>
        </p:nvGraphicFramePr>
        <p:xfrm>
          <a:off x="152400" y="1238250"/>
          <a:ext cx="11887201" cy="1485896"/>
        </p:xfrm>
        <a:graphic>
          <a:graphicData uri="http://schemas.openxmlformats.org/drawingml/2006/table">
            <a:tbl>
              <a:tblPr>
                <a:tableStyleId>{5C22544A-7EE6-4342-B048-85BDC9FD1C3A}</a:tableStyleId>
              </a:tblPr>
              <a:tblGrid>
                <a:gridCol w="1264445"/>
                <a:gridCol w="624868"/>
                <a:gridCol w="624868"/>
                <a:gridCol w="624868"/>
                <a:gridCol w="624868"/>
                <a:gridCol w="624868"/>
                <a:gridCol w="624868"/>
                <a:gridCol w="624868"/>
                <a:gridCol w="624868"/>
                <a:gridCol w="624868"/>
                <a:gridCol w="624868"/>
                <a:gridCol w="624868"/>
                <a:gridCol w="624868"/>
                <a:gridCol w="624868"/>
                <a:gridCol w="624868"/>
                <a:gridCol w="624868"/>
                <a:gridCol w="624868"/>
                <a:gridCol w="624868"/>
              </a:tblGrid>
              <a:tr h="246126">
                <a:tc>
                  <a:txBody>
                    <a:bodyPr wrap="none"/>
                    <a:lstStyle/>
                    <a:p>
                      <a:pPr algn="l"/>
                      <a:r>
                        <a:rPr sz="1100" b="1">
                          <a:solidFill>
                            <a:srgbClr val="0B2E4A"/>
                          </a:solidFill>
                          <a:latin typeface="Calibri"/>
                        </a:rPr>
                        <a:t>Price Tier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Mass Market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Masstige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Prestige / Luxury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41532" y="1837563"/>
            <a:ext cx="366712" cy="533400"/>
          </a:xfrm>
          <a:prstGeom prst="rect">
            <a:avLst/>
          </a:prstGeom>
        </p:spPr>
      </p:pic>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Segmental Analysis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Sales Channel: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Sales Channel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Sales Channel</a:t>
            </a:r>
          </a:p>
        </p:txBody>
      </p:sp>
      <p:graphicFrame>
        <p:nvGraphicFramePr>
          <p:cNvPr id="15" name="Table 14"/>
          <p:cNvGraphicFramePr>
            <a:graphicFrameLocks noGrp="1"/>
          </p:cNvGraphicFramePr>
          <p:nvPr/>
        </p:nvGraphicFramePr>
        <p:xfrm>
          <a:off x="6181725" y="1238250"/>
          <a:ext cx="5857873" cy="2286000"/>
        </p:xfrm>
        <a:graphic>
          <a:graphicData uri="http://schemas.openxmlformats.org/drawingml/2006/table">
            <a:tbl>
              <a:tblPr>
                <a:tableStyleId>{5C22544A-7EE6-4342-B048-85BDC9FD1C3A}</a:tableStyleId>
              </a:tblPr>
              <a:tblGrid>
                <a:gridCol w="1128877"/>
                <a:gridCol w="1182249"/>
                <a:gridCol w="1182249"/>
                <a:gridCol w="1182249"/>
                <a:gridCol w="1182249"/>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Online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Offline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Sales Channel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488410"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Ceramide Sunscreen Market Tables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Sales Channel, 2021–2036</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Sales Channel (US$ Mn)</a:t>
            </a:r>
          </a:p>
        </p:txBody>
      </p:sp>
      <p:graphicFrame>
        <p:nvGraphicFramePr>
          <p:cNvPr id="12" name="Table 11"/>
          <p:cNvGraphicFramePr>
            <a:graphicFrameLocks noGrp="1"/>
          </p:cNvGraphicFramePr>
          <p:nvPr/>
        </p:nvGraphicFramePr>
        <p:xfrm>
          <a:off x="152400" y="1238250"/>
          <a:ext cx="11887205" cy="1724022"/>
        </p:xfrm>
        <a:graphic>
          <a:graphicData uri="http://schemas.openxmlformats.org/drawingml/2006/table">
            <a:tbl>
              <a:tblPr>
                <a:tableStyleId>{5C22544A-7EE6-4342-B048-85BDC9FD1C3A}</a:tableStyleId>
              </a:tblPr>
              <a:tblGrid>
                <a:gridCol w="2406067"/>
                <a:gridCol w="557714"/>
                <a:gridCol w="557714"/>
                <a:gridCol w="557714"/>
                <a:gridCol w="557714"/>
                <a:gridCol w="557714"/>
                <a:gridCol w="557714"/>
                <a:gridCol w="557714"/>
                <a:gridCol w="557714"/>
                <a:gridCol w="557714"/>
                <a:gridCol w="557714"/>
                <a:gridCol w="557714"/>
                <a:gridCol w="557714"/>
                <a:gridCol w="557714"/>
                <a:gridCol w="557714"/>
                <a:gridCol w="557714"/>
                <a:gridCol w="557714"/>
                <a:gridCol w="557714"/>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 Supermarkets &amp; Hypermarkets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Pharmacies &amp; Drugstores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Beauty &amp; Cosmetics Specialty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Department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Dermatology Clinics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112346" y="1956623"/>
            <a:ext cx="366712" cy="533400"/>
          </a:xfrm>
          <a:prstGeom prst="rect">
            <a:avLst/>
          </a:prstGeom>
        </p:spPr>
      </p:pic>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Ceramide Sunscreen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111919" y="3471051"/>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3477.0</a:t>
            </a:r>
          </a:p>
        </p:txBody>
      </p:sp>
      <p:sp>
        <p:nvSpPr>
          <p:cNvPr id="14" name="TextBox 13"/>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4654.8</a:t>
            </a:r>
          </a:p>
        </p:txBody>
      </p:sp>
      <p:sp>
        <p:nvSpPr>
          <p:cNvPr id="15" name="TextBox 14"/>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5832.7</a:t>
            </a:r>
          </a:p>
        </p:txBody>
      </p:sp>
      <p:cxnSp>
        <p:nvCxnSpPr>
          <p:cNvPr id="16" name="Connector 15"/>
          <p:cNvCxnSpPr/>
          <p:nvPr/>
        </p:nvCxnSpPr>
        <p:spPr>
          <a:xfrm>
            <a:off x="1825625" y="2943585"/>
            <a:ext cx="0" cy="23339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06550" y="2943585"/>
            <a:ext cx="438150" cy="23339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2791185"/>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Mineral Ceramide Suns…</a:t>
            </a:r>
          </a:p>
        </p:txBody>
      </p:sp>
      <p:cxnSp>
        <p:nvCxnSpPr>
          <p:cNvPr id="20" name="Connector 19"/>
          <p:cNvCxnSpPr/>
          <p:nvPr/>
        </p:nvCxnSpPr>
        <p:spPr>
          <a:xfrm>
            <a:off x="4162425" y="1927636"/>
            <a:ext cx="0" cy="41870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943350" y="1927636"/>
            <a:ext cx="438150" cy="41870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94025" y="1775236"/>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2994025" y="3566301"/>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Chemical Ceramide Sun…</a:t>
            </a:r>
          </a:p>
        </p:txBody>
      </p:sp>
      <p:cxnSp>
        <p:nvCxnSpPr>
          <p:cNvPr id="24" name="Connector 23"/>
          <p:cNvCxnSpPr/>
          <p:nvPr/>
        </p:nvCxnSpPr>
        <p:spPr>
          <a:xfrm>
            <a:off x="6499225" y="3013232"/>
            <a:ext cx="0" cy="31448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280150" y="3013232"/>
            <a:ext cx="438150" cy="31448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30825" y="2860832"/>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7" name="TextBox 26"/>
          <p:cNvSpPr txBox="1"/>
          <p:nvPr/>
        </p:nvSpPr>
        <p:spPr>
          <a:xfrm>
            <a:off x="5330825" y="3566301"/>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Hybrid Ceramide Sunsc…</a:t>
            </a:r>
          </a:p>
        </p:txBody>
      </p:sp>
      <p:sp>
        <p:nvSpPr>
          <p:cNvPr id="28" name="Rounded Rectangle 27"/>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30" name="Connector 29"/>
          <p:cNvCxnSpPr/>
          <p:nvPr/>
        </p:nvCxnSpPr>
        <p:spPr>
          <a:xfrm>
            <a:off x="619125" y="452282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9125" y="488606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19125" y="561253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19125" y="597577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9125" y="4522825"/>
            <a:ext cx="0" cy="1452946"/>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0550" y="452282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0550" y="488606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0550" y="561253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90550" y="597577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41" name="FMI Scale tick"/>
          <p:cNvSpPr txBox="1"/>
          <p:nvPr/>
        </p:nvSpPr>
        <p:spPr>
          <a:xfrm>
            <a:off x="219075" y="4456150"/>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sp>
        <p:nvSpPr>
          <p:cNvPr id="42" name="FMI Scale tick"/>
          <p:cNvSpPr txBox="1"/>
          <p:nvPr/>
        </p:nvSpPr>
        <p:spPr>
          <a:xfrm>
            <a:off x="219075" y="4819387"/>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43"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4" name="FMI Scale tick"/>
          <p:cNvSpPr txBox="1"/>
          <p:nvPr/>
        </p:nvSpPr>
        <p:spPr>
          <a:xfrm>
            <a:off x="219075" y="5545859"/>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45" name="FMI Scale tick"/>
          <p:cNvSpPr txBox="1"/>
          <p:nvPr/>
        </p:nvSpPr>
        <p:spPr>
          <a:xfrm>
            <a:off x="219075" y="5909096"/>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cxnSp>
        <p:nvCxnSpPr>
          <p:cNvPr id="46" name="Connector 45"/>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MI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49" name="Rectangle 48"/>
          <p:cNvSpPr/>
          <p:nvPr/>
        </p:nvSpPr>
        <p:spPr>
          <a:xfrm>
            <a:off x="2152650" y="5205215"/>
            <a:ext cx="457200" cy="4408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MI Data Label"/>
          <p:cNvSpPr txBox="1"/>
          <p:nvPr/>
        </p:nvSpPr>
        <p:spPr>
          <a:xfrm>
            <a:off x="1793875" y="506234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1" name="Rectangle 50"/>
          <p:cNvSpPr/>
          <p:nvPr/>
        </p:nvSpPr>
        <p:spPr>
          <a:xfrm>
            <a:off x="3327400" y="4769274"/>
            <a:ext cx="457200" cy="48002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MI Data Label"/>
          <p:cNvSpPr txBox="1"/>
          <p:nvPr/>
        </p:nvSpPr>
        <p:spPr>
          <a:xfrm>
            <a:off x="2968625" y="462639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3" name="Rectangle 52"/>
          <p:cNvSpPr/>
          <p:nvPr/>
        </p:nvSpPr>
        <p:spPr>
          <a:xfrm>
            <a:off x="4502150" y="5249298"/>
            <a:ext cx="457200" cy="37968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MI Data Label"/>
          <p:cNvSpPr txBox="1"/>
          <p:nvPr/>
        </p:nvSpPr>
        <p:spPr>
          <a:xfrm>
            <a:off x="4143375" y="563851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5" name="Rectangle 54"/>
          <p:cNvSpPr/>
          <p:nvPr/>
        </p:nvSpPr>
        <p:spPr>
          <a:xfrm>
            <a:off x="5676900" y="5249298"/>
            <a:ext cx="457200" cy="37898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MI Data Label"/>
          <p:cNvSpPr txBox="1"/>
          <p:nvPr/>
        </p:nvSpPr>
        <p:spPr>
          <a:xfrm>
            <a:off x="5318125" y="5637805"/>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7" name="Rectangle 56"/>
          <p:cNvSpPr/>
          <p:nvPr/>
        </p:nvSpPr>
        <p:spPr>
          <a:xfrm>
            <a:off x="6851650" y="5249298"/>
            <a:ext cx="457200" cy="7665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MI Data Label"/>
          <p:cNvSpPr txBox="1"/>
          <p:nvPr/>
        </p:nvSpPr>
        <p:spPr>
          <a:xfrm>
            <a:off x="6492875" y="5335475"/>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9" name="TextBox 58"/>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60" name="TextBox 59"/>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61" name="TextBox 60"/>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62" name="TextBox 61"/>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63" name="TextBox 62"/>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64" name="TextBox 63"/>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65" name="Rounded Rectangle 6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67" name="Rectangle 6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lock.png"/>
          <p:cNvPicPr>
            <a:picLocks noChangeAspect="1"/>
          </p:cNvPicPr>
          <p:nvPr/>
        </p:nvPicPr>
        <p:blipFill>
          <a:blip r:embed="rId4"/>
          <a:stretch>
            <a:fillRect/>
          </a:stretch>
        </p:blipFill>
        <p:spPr>
          <a:xfrm>
            <a:off x="1761275" y="2764261"/>
            <a:ext cx="128699" cy="187198"/>
          </a:xfrm>
          <a:prstGeom prst="rect">
            <a:avLst/>
          </a:prstGeom>
        </p:spPr>
      </p:pic>
      <p:pic>
        <p:nvPicPr>
          <p:cNvPr id="71" name="Picture 70" descr="lock.png"/>
          <p:cNvPicPr>
            <a:picLocks noChangeAspect="1"/>
          </p:cNvPicPr>
          <p:nvPr/>
        </p:nvPicPr>
        <p:blipFill>
          <a:blip r:embed="rId4"/>
          <a:stretch>
            <a:fillRect/>
          </a:stretch>
        </p:blipFill>
        <p:spPr>
          <a:xfrm>
            <a:off x="4098075" y="1748312"/>
            <a:ext cx="128699" cy="187198"/>
          </a:xfrm>
          <a:prstGeom prst="rect">
            <a:avLst/>
          </a:prstGeom>
        </p:spPr>
      </p:pic>
      <p:pic>
        <p:nvPicPr>
          <p:cNvPr id="72" name="Picture 71" descr="lock.png"/>
          <p:cNvPicPr>
            <a:picLocks noChangeAspect="1"/>
          </p:cNvPicPr>
          <p:nvPr/>
        </p:nvPicPr>
        <p:blipFill>
          <a:blip r:embed="rId4"/>
          <a:stretch>
            <a:fillRect/>
          </a:stretch>
        </p:blipFill>
        <p:spPr>
          <a:xfrm>
            <a:off x="6434875" y="2833908"/>
            <a:ext cx="128699" cy="187198"/>
          </a:xfrm>
          <a:prstGeom prst="rect">
            <a:avLst/>
          </a:prstGeom>
        </p:spPr>
      </p:pic>
      <p:pic>
        <p:nvPicPr>
          <p:cNvPr id="73" name="Picture 72" descr="lock.png"/>
          <p:cNvPicPr>
            <a:picLocks noChangeAspect="1"/>
          </p:cNvPicPr>
          <p:nvPr/>
        </p:nvPicPr>
        <p:blipFill>
          <a:blip r:embed="rId4"/>
          <a:stretch>
            <a:fillRect/>
          </a:stretch>
        </p:blipFill>
        <p:spPr>
          <a:xfrm>
            <a:off x="1142150" y="4444308"/>
            <a:ext cx="128699" cy="187198"/>
          </a:xfrm>
          <a:prstGeom prst="rect">
            <a:avLst/>
          </a:prstGeom>
        </p:spPr>
      </p:pic>
      <p:pic>
        <p:nvPicPr>
          <p:cNvPr id="74" name="Picture 73" descr="lock.png"/>
          <p:cNvPicPr>
            <a:picLocks noChangeAspect="1"/>
          </p:cNvPicPr>
          <p:nvPr/>
        </p:nvPicPr>
        <p:blipFill>
          <a:blip r:embed="rId4"/>
          <a:stretch>
            <a:fillRect/>
          </a:stretch>
        </p:blipFill>
        <p:spPr>
          <a:xfrm>
            <a:off x="2316900" y="5035416"/>
            <a:ext cx="128699" cy="187198"/>
          </a:xfrm>
          <a:prstGeom prst="rect">
            <a:avLst/>
          </a:prstGeom>
        </p:spPr>
      </p:pic>
      <p:pic>
        <p:nvPicPr>
          <p:cNvPr id="75" name="Picture 74" descr="lock.png"/>
          <p:cNvPicPr>
            <a:picLocks noChangeAspect="1"/>
          </p:cNvPicPr>
          <p:nvPr/>
        </p:nvPicPr>
        <p:blipFill>
          <a:blip r:embed="rId4"/>
          <a:stretch>
            <a:fillRect/>
          </a:stretch>
        </p:blipFill>
        <p:spPr>
          <a:xfrm>
            <a:off x="3491650" y="4599475"/>
            <a:ext cx="128699" cy="187198"/>
          </a:xfrm>
          <a:prstGeom prst="rect">
            <a:avLst/>
          </a:prstGeom>
        </p:spPr>
      </p:pic>
      <p:pic>
        <p:nvPicPr>
          <p:cNvPr id="76" name="Picture 75" descr="lock.png"/>
          <p:cNvPicPr>
            <a:picLocks noChangeAspect="1"/>
          </p:cNvPicPr>
          <p:nvPr/>
        </p:nvPicPr>
        <p:blipFill>
          <a:blip r:embed="rId4"/>
          <a:stretch>
            <a:fillRect/>
          </a:stretch>
        </p:blipFill>
        <p:spPr>
          <a:xfrm>
            <a:off x="4666400" y="5611586"/>
            <a:ext cx="128699" cy="187198"/>
          </a:xfrm>
          <a:prstGeom prst="rect">
            <a:avLst/>
          </a:prstGeom>
        </p:spPr>
      </p:pic>
      <p:pic>
        <p:nvPicPr>
          <p:cNvPr id="77" name="Picture 76" descr="lock.png"/>
          <p:cNvPicPr>
            <a:picLocks noChangeAspect="1"/>
          </p:cNvPicPr>
          <p:nvPr/>
        </p:nvPicPr>
        <p:blipFill>
          <a:blip r:embed="rId4"/>
          <a:stretch>
            <a:fillRect/>
          </a:stretch>
        </p:blipFill>
        <p:spPr>
          <a:xfrm>
            <a:off x="5841150" y="5610881"/>
            <a:ext cx="128699" cy="187198"/>
          </a:xfrm>
          <a:prstGeom prst="rect">
            <a:avLst/>
          </a:prstGeom>
        </p:spPr>
      </p:pic>
      <p:pic>
        <p:nvPicPr>
          <p:cNvPr id="78" name="Picture 77" descr="lock.png"/>
          <p:cNvPicPr>
            <a:picLocks noChangeAspect="1"/>
          </p:cNvPicPr>
          <p:nvPr/>
        </p:nvPicPr>
        <p:blipFill>
          <a:blip r:embed="rId4"/>
          <a:stretch>
            <a:fillRect/>
          </a:stretch>
        </p:blipFill>
        <p:spPr>
          <a:xfrm>
            <a:off x="7015900" y="5308550"/>
            <a:ext cx="128699" cy="187198"/>
          </a:xfrm>
          <a:prstGeom prst="rect">
            <a:avLst/>
          </a:prstGeom>
        </p:spPr>
      </p:pic>
      <p:sp>
        <p:nvSpPr>
          <p:cNvPr id="79" name="TextBox 78"/>
          <p:cNvSpPr txBox="1"/>
          <p:nvPr/>
        </p:nvSpPr>
        <p:spPr>
          <a:xfrm>
            <a:off x="8048625" y="1736673"/>
            <a:ext cx="3654424"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product type</a:t>
            </a:r>
          </a:p>
        </p:txBody>
      </p:sp>
      <p:sp>
        <p:nvSpPr>
          <p:cNvPr id="80" name="TextBox 79"/>
          <p:cNvSpPr txBox="1"/>
          <p:nvPr/>
        </p:nvSpPr>
        <p:spPr>
          <a:xfrm>
            <a:off x="8048625" y="1911934"/>
            <a:ext cx="3848100" cy="194310"/>
          </a:xfrm>
          <a:prstGeom prst="rect">
            <a:avLst/>
          </a:prstGeom>
          <a:noFill/>
        </p:spPr>
        <p:txBody>
          <a:bodyPr wrap="none" lIns="0" rIns="0" tIns="0" bIns="0">
            <a:spAutoFit/>
          </a:bodyPr>
          <a:lstStyle/>
          <a:p>
            <a:r>
              <a:rPr sz="1150" b="0">
                <a:solidFill>
                  <a:srgbClr val="2E2E2E"/>
                </a:solidFill>
                <a:latin typeface="Calibri"/>
              </a:rPr>
              <a:t>types in USD, harmonised across regions. Each candlestick spans</a:t>
            </a:r>
          </a:p>
        </p:txBody>
      </p:sp>
      <p:sp>
        <p:nvSpPr>
          <p:cNvPr id="81" name="TextBox 80"/>
          <p:cNvSpPr txBox="1"/>
          <p:nvPr/>
        </p:nvSpPr>
        <p:spPr>
          <a:xfrm>
            <a:off x="8048625" y="2087194"/>
            <a:ext cx="3848100" cy="194310"/>
          </a:xfrm>
          <a:prstGeom prst="rect">
            <a:avLst/>
          </a:prstGeom>
          <a:noFill/>
        </p:spPr>
        <p:txBody>
          <a:bodyPr wrap="none" lIns="0" rIns="0" tIns="0" bIns="0">
            <a:spAutoFit/>
          </a:bodyPr>
          <a:lstStyle/>
          <a:p>
            <a:r>
              <a:rPr sz="1150" b="0">
                <a:solidFill>
                  <a:srgbClr val="2E2E2E"/>
                </a:solidFill>
                <a:latin typeface="Calibri"/>
              </a:rPr>
              <a:t>the minimum-to-maximum observed price within the base year,</a:t>
            </a:r>
          </a:p>
        </p:txBody>
      </p:sp>
      <p:sp>
        <p:nvSpPr>
          <p:cNvPr id="82" name="TextBox 81"/>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83" name="TextBox 82"/>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84" name="TextBox 83"/>
          <p:cNvSpPr txBox="1"/>
          <p:nvPr/>
        </p:nvSpPr>
        <p:spPr>
          <a:xfrm>
            <a:off x="8048625" y="2665551"/>
            <a:ext cx="3454176" cy="194310"/>
          </a:xfrm>
          <a:prstGeom prst="rect">
            <a:avLst/>
          </a:prstGeom>
          <a:noFill/>
        </p:spPr>
        <p:txBody>
          <a:bodyPr wrap="none" lIns="0" rIns="0" tIns="0" bIns="0">
            <a:spAutoFit/>
          </a:bodyPr>
          <a:lstStyle/>
          <a:p>
            <a:r>
              <a:rPr sz="1150" b="0">
                <a:solidFill>
                  <a:srgbClr val="2E2E2E"/>
                </a:solidFill>
                <a:latin typeface="Calibri"/>
              </a:rPr>
              <a:t>price levels 'Hybrid Ceramide Sunscreen' shows the most</a:t>
            </a:r>
          </a:p>
        </p:txBody>
      </p:sp>
      <p:sp>
        <p:nvSpPr>
          <p:cNvPr id="85" name="TextBox 84"/>
          <p:cNvSpPr txBox="1"/>
          <p:nvPr/>
        </p:nvSpPr>
        <p:spPr>
          <a:xfrm>
            <a:off x="8048625" y="2840811"/>
            <a:ext cx="873769" cy="194310"/>
          </a:xfrm>
          <a:prstGeom prst="rect">
            <a:avLst/>
          </a:prstGeom>
          <a:noFill/>
        </p:spPr>
        <p:txBody>
          <a:bodyPr wrap="none" lIns="0" rIns="0" tIns="0" bIns="0">
            <a:spAutoFit/>
          </a:bodyPr>
          <a:lstStyle/>
          <a:p>
            <a:r>
              <a:rPr sz="1150" b="0">
                <a:solidFill>
                  <a:srgbClr val="2E2E2E"/>
                </a:solidFill>
                <a:latin typeface="Calibri"/>
              </a:rPr>
              <a:t>movement (+</a:t>
            </a:r>
          </a:p>
        </p:txBody>
      </p:sp>
      <p:pic>
        <p:nvPicPr>
          <p:cNvPr id="86" name="Picture 85" descr="lock.png"/>
          <p:cNvPicPr>
            <a:picLocks noChangeAspect="1"/>
          </p:cNvPicPr>
          <p:nvPr/>
        </p:nvPicPr>
        <p:blipFill>
          <a:blip r:embed="rId4"/>
          <a:stretch>
            <a:fillRect/>
          </a:stretch>
        </p:blipFill>
        <p:spPr>
          <a:xfrm>
            <a:off x="8871548" y="2830588"/>
            <a:ext cx="134549" cy="195707"/>
          </a:xfrm>
          <a:prstGeom prst="rect">
            <a:avLst/>
          </a:prstGeom>
        </p:spPr>
      </p:pic>
      <p:sp>
        <p:nvSpPr>
          <p:cNvPr id="87" name="TextBox 86"/>
          <p:cNvSpPr txBox="1"/>
          <p:nvPr/>
        </p:nvSpPr>
        <p:spPr>
          <a:xfrm>
            <a:off x="9046658" y="2840811"/>
            <a:ext cx="2734481" cy="194310"/>
          </a:xfrm>
          <a:prstGeom prst="rect">
            <a:avLst/>
          </a:prstGeom>
          <a:noFill/>
        </p:spPr>
        <p:txBody>
          <a:bodyPr wrap="none" lIns="0" rIns="0" tIns="0" bIns="0">
            <a:spAutoFit/>
          </a:bodyPr>
          <a:lstStyle/>
          <a:p>
            <a:r>
              <a:rPr sz="1150" b="0">
                <a:solidFill>
                  <a:srgbClr val="2E2E2E"/>
                </a:solidFill>
                <a:latin typeface="Calibri"/>
              </a:rPr>
              <a:t>) and 'Mineral Ceramide Sunscreen' the least</a:t>
            </a:r>
          </a:p>
        </p:txBody>
      </p:sp>
      <p:sp>
        <p:nvSpPr>
          <p:cNvPr id="88" name="TextBox 87"/>
          <p:cNvSpPr txBox="1"/>
          <p:nvPr/>
        </p:nvSpPr>
        <p:spPr>
          <a:xfrm>
            <a:off x="8048625" y="3016071"/>
            <a:ext cx="19315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89" name="Picture 88" descr="lock.png"/>
          <p:cNvPicPr>
            <a:picLocks noChangeAspect="1"/>
          </p:cNvPicPr>
          <p:nvPr/>
        </p:nvPicPr>
        <p:blipFill>
          <a:blip r:embed="rId4"/>
          <a:stretch>
            <a:fillRect/>
          </a:stretch>
        </p:blipFill>
        <p:spPr>
          <a:xfrm>
            <a:off x="8190933" y="3005848"/>
            <a:ext cx="134549" cy="195707"/>
          </a:xfrm>
          <a:prstGeom prst="rect">
            <a:avLst/>
          </a:prstGeom>
        </p:spPr>
      </p:pic>
      <p:sp>
        <p:nvSpPr>
          <p:cNvPr id="90" name="TextBox 89"/>
          <p:cNvSpPr txBox="1"/>
          <p:nvPr/>
        </p:nvSpPr>
        <p:spPr>
          <a:xfrm>
            <a:off x="8366042" y="3016071"/>
            <a:ext cx="3385145" cy="194310"/>
          </a:xfrm>
          <a:prstGeom prst="rect">
            <a:avLst/>
          </a:prstGeom>
          <a:noFill/>
        </p:spPr>
        <p:txBody>
          <a:bodyPr wrap="none" lIns="0" rIns="0" tIns="0" bIns="0">
            <a:spAutoFit/>
          </a:bodyPr>
          <a:lstStyle/>
          <a:p>
            <a:r>
              <a:rPr sz="1150" b="0">
                <a:solidFill>
                  <a:srgbClr val="2E2E2E"/>
                </a:solidFill>
                <a:latin typeface="Calibri"/>
              </a:rPr>
              <a:t>) variability stakeholders should monitor when planning</a:t>
            </a:r>
          </a:p>
        </p:txBody>
      </p:sp>
      <p:sp>
        <p:nvSpPr>
          <p:cNvPr id="91" name="TextBox 90"/>
          <p:cNvSpPr txBox="1"/>
          <p:nvPr/>
        </p:nvSpPr>
        <p:spPr>
          <a:xfrm>
            <a:off x="8048625" y="3191331"/>
            <a:ext cx="1492200" cy="194310"/>
          </a:xfrm>
          <a:prstGeom prst="rect">
            <a:avLst/>
          </a:prstGeom>
          <a:noFill/>
        </p:spPr>
        <p:txBody>
          <a:bodyPr wrap="none" lIns="0" rIns="0" tIns="0" bIns="0">
            <a:spAutoFit/>
          </a:bodyPr>
          <a:lstStyle/>
          <a:p>
            <a:r>
              <a:rPr sz="1150" b="0">
                <a:solidFill>
                  <a:srgbClr val="2E2E2E"/>
                </a:solidFill>
                <a:latin typeface="Calibri"/>
              </a:rPr>
              <a:t>procurement or pricing.</a:t>
            </a:r>
          </a:p>
        </p:txBody>
      </p:sp>
      <p:sp>
        <p:nvSpPr>
          <p:cNvPr id="92" name="TextBox 91"/>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93" name="TextBox 92"/>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94" name="TextBox 93"/>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95" name="TextBox 94"/>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96" name="TextBox 95"/>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97" name="Picture 96" descr="lock.png"/>
          <p:cNvPicPr>
            <a:picLocks noChangeAspect="1"/>
          </p:cNvPicPr>
          <p:nvPr/>
        </p:nvPicPr>
        <p:blipFill>
          <a:blip r:embed="rId4"/>
          <a:stretch>
            <a:fillRect/>
          </a:stretch>
        </p:blipFill>
        <p:spPr>
          <a:xfrm>
            <a:off x="10338039" y="4162564"/>
            <a:ext cx="134549" cy="195707"/>
          </a:xfrm>
          <a:prstGeom prst="rect">
            <a:avLst/>
          </a:prstGeom>
        </p:spPr>
      </p:pic>
      <p:sp>
        <p:nvSpPr>
          <p:cNvPr id="98" name="TextBox 97"/>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99" name="TextBox 98"/>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00" name="TextBox 99"/>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01" name="TextBox 100"/>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Pricing Assessment: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by product type,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Product Type, 2021 to 2036 (US$/Units)</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90"/>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369418">
                <a:tc>
                  <a:txBody>
                    <a:bodyPr wrap="square"/>
                    <a:lstStyle/>
                    <a:p>
                      <a:pPr algn="l"/>
                      <a:r>
                        <a:rPr sz="850" b="1">
                          <a:solidFill>
                            <a:srgbClr val="FFFFFF"/>
                          </a:solidFill>
                          <a:latin typeface="Calibri"/>
                        </a:rPr>
                        <a:t>Product Type</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369418">
                <a:tc>
                  <a:txBody>
                    <a:bodyPr wrap="square"/>
                    <a:lstStyle/>
                    <a:p>
                      <a:pPr algn="l"/>
                      <a:r>
                        <a:rPr sz="850" b="1">
                          <a:solidFill>
                            <a:srgbClr val="1F1F1F"/>
                          </a:solidFill>
                          <a:latin typeface="Calibri"/>
                        </a:rPr>
                        <a:t>Chemical Ceramide Sunscreen</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369418">
                <a:tc>
                  <a:txBody>
                    <a:bodyPr wrap="square"/>
                    <a:lstStyle/>
                    <a:p>
                      <a:pPr algn="l"/>
                      <a:r>
                        <a:rPr sz="850" b="1">
                          <a:solidFill>
                            <a:srgbClr val="1F1F1F"/>
                          </a:solidFill>
                          <a:latin typeface="Calibri"/>
                        </a:rPr>
                        <a:t>Mineral Ceramide Sunscreen</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D9E6F2"/>
                    </a:solidFill>
                  </a:tcPr>
                </a:tc>
              </a:tr>
              <a:tr h="369418">
                <a:tc>
                  <a:txBody>
                    <a:bodyPr wrap="square"/>
                    <a:lstStyle/>
                    <a:p>
                      <a:pPr algn="l"/>
                      <a:r>
                        <a:rPr sz="850" b="1">
                          <a:solidFill>
                            <a:srgbClr val="1F1F1F"/>
                          </a:solidFill>
                          <a:latin typeface="Calibri"/>
                        </a:rPr>
                        <a:t>Hybrid Ceramide Sunscreen</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369418">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(Units).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4071291"/>
            <a:ext cx="330041" cy="480060"/>
          </a:xfrm>
          <a:prstGeom prst="rect">
            <a:avLst/>
          </a:prstGeom>
        </p:spPr>
      </p:pic>
      <p:sp>
        <p:nvSpPr>
          <p:cNvPr id="34" name="TextBox 33"/>
          <p:cNvSpPr txBox="1"/>
          <p:nvPr/>
        </p:nvSpPr>
        <p:spPr>
          <a:xfrm>
            <a:off x="411480" y="1110615"/>
            <a:ext cx="5369073" cy="217169"/>
          </a:xfrm>
          <a:prstGeom prst="rect">
            <a:avLst/>
          </a:prstGeom>
          <a:noFill/>
        </p:spPr>
        <p:txBody>
          <a:bodyPr wrap="none" lIns="0" rIns="0" tIns="0" bIns="0">
            <a:spAutoFit/>
          </a:bodyPr>
          <a:lstStyle/>
          <a:p>
            <a:r>
              <a:rPr sz="1300" b="1">
                <a:solidFill>
                  <a:srgbClr val="FFFFFF"/>
                </a:solidFill>
                <a:latin typeface="Calibri"/>
              </a:rPr>
              <a:t>Chemical Ceramide Sunscreen commands the highest 2026 price point at US$</a:t>
            </a:r>
          </a:p>
        </p:txBody>
      </p:sp>
      <p:pic>
        <p:nvPicPr>
          <p:cNvPr id="35" name="Picture 34" descr="lock.png"/>
          <p:cNvPicPr>
            <a:picLocks noChangeAspect="1"/>
          </p:cNvPicPr>
          <p:nvPr/>
        </p:nvPicPr>
        <p:blipFill>
          <a:blip r:embed="rId6"/>
          <a:stretch>
            <a:fillRect/>
          </a:stretch>
        </p:blipFill>
        <p:spPr>
          <a:xfrm>
            <a:off x="5733014" y="1099058"/>
            <a:ext cx="152098" cy="221234"/>
          </a:xfrm>
          <a:prstGeom prst="rect">
            <a:avLst/>
          </a:prstGeom>
        </p:spPr>
      </p:pic>
      <p:sp>
        <p:nvSpPr>
          <p:cNvPr id="36" name="TextBox 35"/>
          <p:cNvSpPr txBox="1"/>
          <p:nvPr/>
        </p:nvSpPr>
        <p:spPr>
          <a:xfrm>
            <a:off x="5930964" y="1110615"/>
            <a:ext cx="668883" cy="217169"/>
          </a:xfrm>
          <a:prstGeom prst="rect">
            <a:avLst/>
          </a:prstGeom>
          <a:noFill/>
        </p:spPr>
        <p:txBody>
          <a:bodyPr wrap="none" lIns="0" rIns="0" tIns="0" bIns="0">
            <a:spAutoFit/>
          </a:bodyPr>
          <a:lstStyle/>
          <a:p>
            <a:r>
              <a:rPr sz="1300" b="1">
                <a:solidFill>
                  <a:srgbClr val="FFFFFF"/>
                </a:solidFill>
                <a:latin typeface="Calibri"/>
              </a:rPr>
              <a:t>/Units, a</a:t>
            </a:r>
          </a:p>
        </p:txBody>
      </p:sp>
      <p:pic>
        <p:nvPicPr>
          <p:cNvPr id="37" name="Picture 36" descr="lock.png"/>
          <p:cNvPicPr>
            <a:picLocks noChangeAspect="1"/>
          </p:cNvPicPr>
          <p:nvPr/>
        </p:nvPicPr>
        <p:blipFill>
          <a:blip r:embed="rId6"/>
          <a:stretch>
            <a:fillRect/>
          </a:stretch>
        </p:blipFill>
        <p:spPr>
          <a:xfrm>
            <a:off x="6552308" y="1099058"/>
            <a:ext cx="152098" cy="221234"/>
          </a:xfrm>
          <a:prstGeom prst="rect">
            <a:avLst/>
          </a:prstGeom>
        </p:spPr>
      </p:pic>
      <p:sp>
        <p:nvSpPr>
          <p:cNvPr id="38" name="TextBox 37"/>
          <p:cNvSpPr txBox="1"/>
          <p:nvPr/>
        </p:nvSpPr>
        <p:spPr>
          <a:xfrm>
            <a:off x="6750258" y="1110615"/>
            <a:ext cx="3028329" cy="217169"/>
          </a:xfrm>
          <a:prstGeom prst="rect">
            <a:avLst/>
          </a:prstGeom>
          <a:noFill/>
        </p:spPr>
        <p:txBody>
          <a:bodyPr wrap="none" lIns="0" rIns="0" tIns="0" bIns="0">
            <a:spAutoFit/>
          </a:bodyPr>
          <a:lstStyle/>
          <a:p>
            <a:r>
              <a:rPr sz="1300" b="1">
                <a:solidFill>
                  <a:srgbClr val="FFFFFF"/>
                </a:solidFill>
                <a:latin typeface="Calibri"/>
              </a:rPr>
              <a:t>premium over Hybrid Ceramide Sunscreen.</a:t>
            </a:r>
          </a:p>
        </p:txBody>
      </p:sp>
      <p:sp>
        <p:nvSpPr>
          <p:cNvPr id="39" name="TextBox 38"/>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40" name="Picture 39" descr="lock.png"/>
          <p:cNvPicPr>
            <a:picLocks noChangeAspect="1"/>
          </p:cNvPicPr>
          <p:nvPr/>
        </p:nvPicPr>
        <p:blipFill>
          <a:blip r:embed="rId6"/>
          <a:stretch>
            <a:fillRect/>
          </a:stretch>
        </p:blipFill>
        <p:spPr>
          <a:xfrm>
            <a:off x="9106620" y="1593461"/>
            <a:ext cx="123784" cy="180050"/>
          </a:xfrm>
          <a:prstGeom prst="rect">
            <a:avLst/>
          </a:prstGeom>
        </p:spPr>
      </p:pic>
      <p:sp>
        <p:nvSpPr>
          <p:cNvPr id="41" name="TextBox 40"/>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2" name="TextBox 41"/>
          <p:cNvSpPr txBox="1"/>
          <p:nvPr/>
        </p:nvSpPr>
        <p:spPr>
          <a:xfrm>
            <a:off x="806576" y="5530976"/>
            <a:ext cx="3142989" cy="179069"/>
          </a:xfrm>
          <a:prstGeom prst="rect">
            <a:avLst/>
          </a:prstGeom>
          <a:noFill/>
        </p:spPr>
        <p:txBody>
          <a:bodyPr wrap="none" lIns="0" rIns="0" tIns="0" bIns="0">
            <a:spAutoFit/>
          </a:bodyPr>
          <a:lstStyle/>
          <a:p>
            <a:r>
              <a:rPr sz="1050" b="0">
                <a:solidFill>
                  <a:srgbClr val="1F1F1F"/>
                </a:solidFill>
                <a:latin typeface="Calibri"/>
              </a:rPr>
              <a:t>Chemical Ceramide Sunscreen sits at the top of the 2026</a:t>
            </a:r>
          </a:p>
        </p:txBody>
      </p:sp>
      <p:sp>
        <p:nvSpPr>
          <p:cNvPr id="43" name="TextBox 42"/>
          <p:cNvSpPr txBox="1"/>
          <p:nvPr/>
        </p:nvSpPr>
        <p:spPr>
          <a:xfrm>
            <a:off x="806576" y="5690996"/>
            <a:ext cx="1493825" cy="179069"/>
          </a:xfrm>
          <a:prstGeom prst="rect">
            <a:avLst/>
          </a:prstGeom>
          <a:noFill/>
        </p:spPr>
        <p:txBody>
          <a:bodyPr wrap="none" lIns="0" rIns="0" tIns="0" bIns="0">
            <a:spAutoFit/>
          </a:bodyPr>
          <a:lstStyle/>
          <a:p>
            <a:r>
              <a:rPr sz="1050" b="0">
                <a:solidFill>
                  <a:srgbClr val="1F1F1F"/>
                </a:solidFill>
                <a:latin typeface="Calibri"/>
              </a:rPr>
              <a:t>price ladder at an index of</a:t>
            </a:r>
          </a:p>
        </p:txBody>
      </p:sp>
      <p:pic>
        <p:nvPicPr>
          <p:cNvPr id="44" name="Picture 43" descr="lock.png"/>
          <p:cNvPicPr>
            <a:picLocks noChangeAspect="1"/>
          </p:cNvPicPr>
          <p:nvPr/>
        </p:nvPicPr>
        <p:blipFill>
          <a:blip r:embed="rId6"/>
          <a:stretch>
            <a:fillRect/>
          </a:stretch>
        </p:blipFill>
        <p:spPr>
          <a:xfrm>
            <a:off x="2247351" y="5681662"/>
            <a:ext cx="122849" cy="178689"/>
          </a:xfrm>
          <a:prstGeom prst="rect">
            <a:avLst/>
          </a:prstGeom>
        </p:spPr>
      </p:pic>
      <p:sp>
        <p:nvSpPr>
          <p:cNvPr id="45" name="TextBox 44"/>
          <p:cNvSpPr txBox="1"/>
          <p:nvPr/>
        </p:nvSpPr>
        <p:spPr>
          <a:xfrm>
            <a:off x="2407233" y="5690996"/>
            <a:ext cx="1376102" cy="179069"/>
          </a:xfrm>
          <a:prstGeom prst="rect">
            <a:avLst/>
          </a:prstGeom>
          <a:noFill/>
        </p:spPr>
        <p:txBody>
          <a:bodyPr wrap="none" lIns="0" rIns="0" tIns="0" bIns="0">
            <a:spAutoFit/>
          </a:bodyPr>
          <a:lstStyle/>
          <a:p>
            <a:r>
              <a:rPr sz="1050" b="0">
                <a:solidFill>
                  <a:srgbClr val="1F1F1F"/>
                </a:solidFill>
                <a:latin typeface="Calibri"/>
              </a:rPr>
              <a:t>, while Hybrid Ceramide</a:t>
            </a:r>
          </a:p>
        </p:txBody>
      </p:sp>
      <p:sp>
        <p:nvSpPr>
          <p:cNvPr id="46" name="TextBox 45"/>
          <p:cNvSpPr txBox="1"/>
          <p:nvPr/>
        </p:nvSpPr>
        <p:spPr>
          <a:xfrm>
            <a:off x="806576" y="5851016"/>
            <a:ext cx="1148469" cy="179069"/>
          </a:xfrm>
          <a:prstGeom prst="rect">
            <a:avLst/>
          </a:prstGeom>
          <a:noFill/>
        </p:spPr>
        <p:txBody>
          <a:bodyPr wrap="none" lIns="0" rIns="0" tIns="0" bIns="0">
            <a:spAutoFit/>
          </a:bodyPr>
          <a:lstStyle/>
          <a:p>
            <a:r>
              <a:rPr sz="1050" b="0">
                <a:solidFill>
                  <a:srgbClr val="1F1F1F"/>
                </a:solidFill>
                <a:latin typeface="Calibri"/>
              </a:rPr>
              <a:t>Sunscreen trades at</a:t>
            </a:r>
          </a:p>
        </p:txBody>
      </p:sp>
      <p:pic>
        <p:nvPicPr>
          <p:cNvPr id="47" name="Picture 46" descr="lock.png"/>
          <p:cNvPicPr>
            <a:picLocks noChangeAspect="1"/>
          </p:cNvPicPr>
          <p:nvPr/>
        </p:nvPicPr>
        <p:blipFill>
          <a:blip r:embed="rId6"/>
          <a:stretch>
            <a:fillRect/>
          </a:stretch>
        </p:blipFill>
        <p:spPr>
          <a:xfrm>
            <a:off x="1901995" y="5841682"/>
            <a:ext cx="122849" cy="178689"/>
          </a:xfrm>
          <a:prstGeom prst="rect">
            <a:avLst/>
          </a:prstGeom>
        </p:spPr>
      </p:pic>
      <p:sp>
        <p:nvSpPr>
          <p:cNvPr id="48" name="TextBox 47"/>
          <p:cNvSpPr txBox="1"/>
          <p:nvPr/>
        </p:nvSpPr>
        <p:spPr>
          <a:xfrm>
            <a:off x="2061878" y="5851016"/>
            <a:ext cx="1680827" cy="179069"/>
          </a:xfrm>
          <a:prstGeom prst="rect">
            <a:avLst/>
          </a:prstGeom>
          <a:noFill/>
        </p:spPr>
        <p:txBody>
          <a:bodyPr wrap="none" lIns="0" rIns="0" tIns="0" bIns="0">
            <a:spAutoFit/>
          </a:bodyPr>
          <a:lstStyle/>
          <a:p>
            <a:r>
              <a:rPr sz="1050" b="0">
                <a:solidFill>
                  <a:srgbClr val="1F1F1F"/>
                </a:solidFill>
                <a:latin typeface="Calibri"/>
              </a:rPr>
              <a:t>, which keeps the full product</a:t>
            </a:r>
          </a:p>
        </p:txBody>
      </p:sp>
      <p:sp>
        <p:nvSpPr>
          <p:cNvPr id="49" name="TextBox 48"/>
          <p:cNvSpPr txBox="1"/>
          <p:nvPr/>
        </p:nvSpPr>
        <p:spPr>
          <a:xfrm>
            <a:off x="806576" y="6011036"/>
            <a:ext cx="1089087" cy="179069"/>
          </a:xfrm>
          <a:prstGeom prst="rect">
            <a:avLst/>
          </a:prstGeom>
          <a:noFill/>
        </p:spPr>
        <p:txBody>
          <a:bodyPr wrap="none" lIns="0" rIns="0" tIns="0" bIns="0">
            <a:spAutoFit/>
          </a:bodyPr>
          <a:lstStyle/>
          <a:p>
            <a:r>
              <a:rPr sz="1050" b="0">
                <a:solidFill>
                  <a:srgbClr val="1F1F1F"/>
                </a:solidFill>
                <a:latin typeface="Calibri"/>
              </a:rPr>
              <a:t>type spread within</a:t>
            </a:r>
          </a:p>
        </p:txBody>
      </p:sp>
      <p:pic>
        <p:nvPicPr>
          <p:cNvPr id="50" name="Picture 49" descr="lock.png"/>
          <p:cNvPicPr>
            <a:picLocks noChangeAspect="1"/>
          </p:cNvPicPr>
          <p:nvPr/>
        </p:nvPicPr>
        <p:blipFill>
          <a:blip r:embed="rId6"/>
          <a:stretch>
            <a:fillRect/>
          </a:stretch>
        </p:blipFill>
        <p:spPr>
          <a:xfrm>
            <a:off x="1842613" y="6001702"/>
            <a:ext cx="122849" cy="178689"/>
          </a:xfrm>
          <a:prstGeom prst="rect">
            <a:avLst/>
          </a:prstGeom>
        </p:spPr>
      </p:pic>
      <p:sp>
        <p:nvSpPr>
          <p:cNvPr id="51" name="TextBox 50"/>
          <p:cNvSpPr txBox="1"/>
          <p:nvPr/>
        </p:nvSpPr>
        <p:spPr>
          <a:xfrm>
            <a:off x="2002495"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2" name="TextBox 51"/>
          <p:cNvSpPr txBox="1"/>
          <p:nvPr/>
        </p:nvSpPr>
        <p:spPr>
          <a:xfrm>
            <a:off x="4732401" y="5530976"/>
            <a:ext cx="2805186" cy="179069"/>
          </a:xfrm>
          <a:prstGeom prst="rect">
            <a:avLst/>
          </a:prstGeom>
          <a:noFill/>
        </p:spPr>
        <p:txBody>
          <a:bodyPr wrap="none" lIns="0" rIns="0" tIns="0" bIns="0">
            <a:spAutoFit/>
          </a:bodyPr>
          <a:lstStyle/>
          <a:p>
            <a:r>
              <a:rPr sz="1050" b="0">
                <a:solidFill>
                  <a:srgbClr val="1F1F1F"/>
                </a:solidFill>
                <a:latin typeface="Calibri"/>
              </a:rPr>
              <a:t>Hybrid Ceramide Sunscreen posts the fastest price</a:t>
            </a:r>
          </a:p>
        </p:txBody>
      </p:sp>
      <p:sp>
        <p:nvSpPr>
          <p:cNvPr id="53" name="TextBox 52"/>
          <p:cNvSpPr txBox="1"/>
          <p:nvPr/>
        </p:nvSpPr>
        <p:spPr>
          <a:xfrm>
            <a:off x="4732401" y="5690996"/>
            <a:ext cx="698934" cy="179069"/>
          </a:xfrm>
          <a:prstGeom prst="rect">
            <a:avLst/>
          </a:prstGeom>
          <a:noFill/>
        </p:spPr>
        <p:txBody>
          <a:bodyPr wrap="none" lIns="0" rIns="0" tIns="0" bIns="0">
            <a:spAutoFit/>
          </a:bodyPr>
          <a:lstStyle/>
          <a:p>
            <a:r>
              <a:rPr sz="1050" b="0">
                <a:solidFill>
                  <a:srgbClr val="1F1F1F"/>
                </a:solidFill>
                <a:latin typeface="Calibri"/>
              </a:rPr>
              <a:t>growth at a</a:t>
            </a:r>
          </a:p>
        </p:txBody>
      </p:sp>
      <p:pic>
        <p:nvPicPr>
          <p:cNvPr id="54" name="Picture 53" descr="lock.png"/>
          <p:cNvPicPr>
            <a:picLocks noChangeAspect="1"/>
          </p:cNvPicPr>
          <p:nvPr/>
        </p:nvPicPr>
        <p:blipFill>
          <a:blip r:embed="rId6"/>
          <a:stretch>
            <a:fillRect/>
          </a:stretch>
        </p:blipFill>
        <p:spPr>
          <a:xfrm>
            <a:off x="5378284" y="5681662"/>
            <a:ext cx="122849" cy="178689"/>
          </a:xfrm>
          <a:prstGeom prst="rect">
            <a:avLst/>
          </a:prstGeom>
        </p:spPr>
      </p:pic>
      <p:sp>
        <p:nvSpPr>
          <p:cNvPr id="55" name="TextBox 54"/>
          <p:cNvSpPr txBox="1"/>
          <p:nvPr/>
        </p:nvSpPr>
        <p:spPr>
          <a:xfrm>
            <a:off x="5538166" y="5690996"/>
            <a:ext cx="1760248" cy="179069"/>
          </a:xfrm>
          <a:prstGeom prst="rect">
            <a:avLst/>
          </a:prstGeom>
          <a:noFill/>
        </p:spPr>
        <p:txBody>
          <a:bodyPr wrap="none" lIns="0" rIns="0" tIns="0" bIns="0">
            <a:spAutoFit/>
          </a:bodyPr>
          <a:lstStyle/>
          <a:p>
            <a:r>
              <a:rPr sz="1050" b="0">
                <a:solidFill>
                  <a:srgbClr val="1F1F1F"/>
                </a:solidFill>
                <a:latin typeface="Calibri"/>
              </a:rPr>
              <a:t>CAGR between 2026 and 2036,</a:t>
            </a:r>
          </a:p>
        </p:txBody>
      </p:sp>
      <p:sp>
        <p:nvSpPr>
          <p:cNvPr id="56" name="TextBox 55"/>
          <p:cNvSpPr txBox="1"/>
          <p:nvPr/>
        </p:nvSpPr>
        <p:spPr>
          <a:xfrm>
            <a:off x="4732401" y="5851016"/>
            <a:ext cx="897656" cy="179069"/>
          </a:xfrm>
          <a:prstGeom prst="rect">
            <a:avLst/>
          </a:prstGeom>
          <a:noFill/>
        </p:spPr>
        <p:txBody>
          <a:bodyPr wrap="none" lIns="0" rIns="0" tIns="0" bIns="0">
            <a:spAutoFit/>
          </a:bodyPr>
          <a:lstStyle/>
          <a:p>
            <a:r>
              <a:rPr sz="1050" b="0">
                <a:solidFill>
                  <a:srgbClr val="1F1F1F"/>
                </a:solidFill>
                <a:latin typeface="Calibri"/>
              </a:rPr>
              <a:t>compared with</a:t>
            </a:r>
          </a:p>
        </p:txBody>
      </p:sp>
      <p:pic>
        <p:nvPicPr>
          <p:cNvPr id="57" name="Picture 56" descr="lock.png"/>
          <p:cNvPicPr>
            <a:picLocks noChangeAspect="1"/>
          </p:cNvPicPr>
          <p:nvPr/>
        </p:nvPicPr>
        <p:blipFill>
          <a:blip r:embed="rId6"/>
          <a:stretch>
            <a:fillRect/>
          </a:stretch>
        </p:blipFill>
        <p:spPr>
          <a:xfrm>
            <a:off x="5577007" y="5841682"/>
            <a:ext cx="122849" cy="178689"/>
          </a:xfrm>
          <a:prstGeom prst="rect">
            <a:avLst/>
          </a:prstGeom>
        </p:spPr>
      </p:pic>
      <p:sp>
        <p:nvSpPr>
          <p:cNvPr id="58" name="TextBox 57"/>
          <p:cNvSpPr txBox="1"/>
          <p:nvPr/>
        </p:nvSpPr>
        <p:spPr>
          <a:xfrm>
            <a:off x="5736889" y="5851016"/>
            <a:ext cx="1861579" cy="179069"/>
          </a:xfrm>
          <a:prstGeom prst="rect">
            <a:avLst/>
          </a:prstGeom>
          <a:noFill/>
        </p:spPr>
        <p:txBody>
          <a:bodyPr wrap="none" lIns="0" rIns="0" tIns="0" bIns="0">
            <a:spAutoFit/>
          </a:bodyPr>
          <a:lstStyle/>
          <a:p>
            <a:r>
              <a:rPr sz="1050" b="0">
                <a:solidFill>
                  <a:srgbClr val="1F1F1F"/>
                </a:solidFill>
                <a:latin typeface="Calibri"/>
              </a:rPr>
              <a:t>for Mineral Ceramide Sunscreen.</a:t>
            </a:r>
          </a:p>
        </p:txBody>
      </p:sp>
      <p:sp>
        <p:nvSpPr>
          <p:cNvPr id="59" name="TextBox 58"/>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60" name="Picture 59" descr="lock.png"/>
          <p:cNvPicPr>
            <a:picLocks noChangeAspect="1"/>
          </p:cNvPicPr>
          <p:nvPr/>
        </p:nvPicPr>
        <p:blipFill>
          <a:blip r:embed="rId6"/>
          <a:stretch>
            <a:fillRect/>
          </a:stretch>
        </p:blipFill>
        <p:spPr>
          <a:xfrm>
            <a:off x="10841019" y="5521642"/>
            <a:ext cx="122849" cy="178689"/>
          </a:xfrm>
          <a:prstGeom prst="rect">
            <a:avLst/>
          </a:prstGeom>
        </p:spPr>
      </p:pic>
      <p:sp>
        <p:nvSpPr>
          <p:cNvPr id="61" name="TextBox 60"/>
          <p:cNvSpPr txBox="1"/>
          <p:nvPr/>
        </p:nvSpPr>
        <p:spPr>
          <a:xfrm>
            <a:off x="11000901" y="5530976"/>
            <a:ext cx="542143" cy="179069"/>
          </a:xfrm>
          <a:prstGeom prst="rect">
            <a:avLst/>
          </a:prstGeom>
          <a:noFill/>
        </p:spPr>
        <p:txBody>
          <a:bodyPr wrap="none" lIns="0" rIns="0" tIns="0" bIns="0">
            <a:spAutoFit/>
          </a:bodyPr>
          <a:lstStyle/>
          <a:p>
            <a:r>
              <a:rPr sz="1050" b="0">
                <a:solidFill>
                  <a:srgbClr val="1F1F1F"/>
                </a:solidFill>
                <a:latin typeface="Calibri"/>
              </a:rPr>
              <a:t>/Units in</a:t>
            </a:r>
          </a:p>
        </p:txBody>
      </p:sp>
      <p:sp>
        <p:nvSpPr>
          <p:cNvPr id="62" name="TextBox 61"/>
          <p:cNvSpPr txBox="1"/>
          <p:nvPr/>
        </p:nvSpPr>
        <p:spPr>
          <a:xfrm>
            <a:off x="8658225" y="5690996"/>
            <a:ext cx="737220" cy="179069"/>
          </a:xfrm>
          <a:prstGeom prst="rect">
            <a:avLst/>
          </a:prstGeom>
          <a:noFill/>
        </p:spPr>
        <p:txBody>
          <a:bodyPr wrap="none" lIns="0" rIns="0" tIns="0" bIns="0">
            <a:spAutoFit/>
          </a:bodyPr>
          <a:lstStyle/>
          <a:p>
            <a:r>
              <a:rPr sz="1050" b="0">
                <a:solidFill>
                  <a:srgbClr val="1F1F1F"/>
                </a:solidFill>
                <a:latin typeface="Calibri"/>
              </a:rPr>
              <a:t>2026 to US$</a:t>
            </a:r>
          </a:p>
        </p:txBody>
      </p:sp>
      <p:pic>
        <p:nvPicPr>
          <p:cNvPr id="63" name="Picture 62" descr="lock.png"/>
          <p:cNvPicPr>
            <a:picLocks noChangeAspect="1"/>
          </p:cNvPicPr>
          <p:nvPr/>
        </p:nvPicPr>
        <p:blipFill>
          <a:blip r:embed="rId6"/>
          <a:stretch>
            <a:fillRect/>
          </a:stretch>
        </p:blipFill>
        <p:spPr>
          <a:xfrm>
            <a:off x="9342394" y="5681662"/>
            <a:ext cx="122849" cy="178689"/>
          </a:xfrm>
          <a:prstGeom prst="rect">
            <a:avLst/>
          </a:prstGeom>
        </p:spPr>
      </p:pic>
      <p:sp>
        <p:nvSpPr>
          <p:cNvPr id="64" name="TextBox 63"/>
          <p:cNvSpPr txBox="1"/>
          <p:nvPr/>
        </p:nvSpPr>
        <p:spPr>
          <a:xfrm>
            <a:off x="9502276" y="5690996"/>
            <a:ext cx="2270224" cy="179069"/>
          </a:xfrm>
          <a:prstGeom prst="rect">
            <a:avLst/>
          </a:prstGeom>
          <a:noFill/>
        </p:spPr>
        <p:txBody>
          <a:bodyPr wrap="none" lIns="0" rIns="0" tIns="0" bIns="0">
            <a:spAutoFit/>
          </a:bodyPr>
          <a:lstStyle/>
          <a:p>
            <a:r>
              <a:rPr sz="1050" b="0">
                <a:solidFill>
                  <a:srgbClr val="1F1F1F"/>
                </a:solidFill>
                <a:latin typeface="Calibri"/>
              </a:rPr>
              <a:t>/Units in 2036, and the gap between the</a:t>
            </a:r>
          </a:p>
        </p:txBody>
      </p:sp>
      <p:sp>
        <p:nvSpPr>
          <p:cNvPr id="65" name="TextBox 64"/>
          <p:cNvSpPr txBox="1"/>
          <p:nvPr/>
        </p:nvSpPr>
        <p:spPr>
          <a:xfrm>
            <a:off x="8658225" y="5851016"/>
            <a:ext cx="2878373" cy="179069"/>
          </a:xfrm>
          <a:prstGeom prst="rect">
            <a:avLst/>
          </a:prstGeom>
          <a:noFill/>
        </p:spPr>
        <p:txBody>
          <a:bodyPr wrap="none" lIns="0" rIns="0" tIns="0" bIns="0">
            <a:spAutoFit/>
          </a:bodyPr>
          <a:lstStyle/>
          <a:p>
            <a:r>
              <a:rPr sz="1050" b="0">
                <a:solidFill>
                  <a:srgbClr val="1F1F1F"/>
                </a:solidFill>
                <a:latin typeface="Calibri"/>
              </a:rPr>
              <a:t>highest and lowest priced product type moves from</a:t>
            </a:r>
          </a:p>
        </p:txBody>
      </p:sp>
      <p:pic>
        <p:nvPicPr>
          <p:cNvPr id="66" name="Picture 65" descr="lock.png"/>
          <p:cNvPicPr>
            <a:picLocks noChangeAspect="1"/>
          </p:cNvPicPr>
          <p:nvPr/>
        </p:nvPicPr>
        <p:blipFill>
          <a:blip r:embed="rId6"/>
          <a:stretch>
            <a:fillRect/>
          </a:stretch>
        </p:blipFill>
        <p:spPr>
          <a:xfrm>
            <a:off x="11483547" y="5841682"/>
            <a:ext cx="122849" cy="178689"/>
          </a:xfrm>
          <a:prstGeom prst="rect">
            <a:avLst/>
          </a:prstGeom>
        </p:spPr>
      </p:pic>
      <p:sp>
        <p:nvSpPr>
          <p:cNvPr id="67" name="TextBox 66"/>
          <p:cNvSpPr txBox="1"/>
          <p:nvPr/>
        </p:nvSpPr>
        <p:spPr>
          <a:xfrm>
            <a:off x="8658225" y="6011036"/>
            <a:ext cx="623403" cy="179069"/>
          </a:xfrm>
          <a:prstGeom prst="rect">
            <a:avLst/>
          </a:prstGeom>
          <a:noFill/>
        </p:spPr>
        <p:txBody>
          <a:bodyPr wrap="none" lIns="0" rIns="0" tIns="0" bIns="0">
            <a:spAutoFit/>
          </a:bodyPr>
          <a:lstStyle/>
          <a:p>
            <a:r>
              <a:rPr sz="1050" b="0">
                <a:solidFill>
                  <a:srgbClr val="1F1F1F"/>
                </a:solidFill>
                <a:latin typeface="Calibri"/>
              </a:rPr>
              <a:t>in 2021 to</a:t>
            </a:r>
          </a:p>
        </p:txBody>
      </p:sp>
      <p:pic>
        <p:nvPicPr>
          <p:cNvPr id="68" name="Picture 67" descr="lock.png"/>
          <p:cNvPicPr>
            <a:picLocks noChangeAspect="1"/>
          </p:cNvPicPr>
          <p:nvPr/>
        </p:nvPicPr>
        <p:blipFill>
          <a:blip r:embed="rId6"/>
          <a:stretch>
            <a:fillRect/>
          </a:stretch>
        </p:blipFill>
        <p:spPr>
          <a:xfrm>
            <a:off x="9228578" y="6001702"/>
            <a:ext cx="122849" cy="178689"/>
          </a:xfrm>
          <a:prstGeom prst="rect">
            <a:avLst/>
          </a:prstGeom>
        </p:spPr>
      </p:pic>
      <p:sp>
        <p:nvSpPr>
          <p:cNvPr id="69" name="TextBox 68"/>
          <p:cNvSpPr txBox="1"/>
          <p:nvPr/>
        </p:nvSpPr>
        <p:spPr>
          <a:xfrm>
            <a:off x="9388460"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70" name="Picture 69" descr="lock.png"/>
          <p:cNvPicPr>
            <a:picLocks noChangeAspect="1"/>
          </p:cNvPicPr>
          <p:nvPr/>
        </p:nvPicPr>
        <p:blipFill>
          <a:blip r:embed="rId6"/>
          <a:stretch>
            <a:fillRect/>
          </a:stretch>
        </p:blipFill>
        <p:spPr>
          <a:xfrm>
            <a:off x="3418190" y="3048804"/>
            <a:ext cx="454926" cy="661711"/>
          </a:xfrm>
          <a:prstGeom prst="rect">
            <a:avLst/>
          </a:prstGeom>
        </p:spPr>
      </p:pic>
      <p:pic>
        <p:nvPicPr>
          <p:cNvPr id="71" name="Picture 70" descr="lock.png"/>
          <p:cNvPicPr>
            <a:picLocks noChangeAspect="1"/>
          </p:cNvPicPr>
          <p:nvPr/>
        </p:nvPicPr>
        <p:blipFill>
          <a:blip r:embed="rId6"/>
          <a:stretch>
            <a:fillRect/>
          </a:stretch>
        </p:blipFill>
        <p:spPr>
          <a:xfrm>
            <a:off x="9403270" y="2219134"/>
            <a:ext cx="256698" cy="373379"/>
          </a:xfrm>
          <a:prstGeom prst="rect">
            <a:avLst/>
          </a:prstGeom>
        </p:spPr>
      </p:pic>
      <p:sp>
        <p:nvSpPr>
          <p:cNvPr id="72"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Price Matrix: Product Type × SPF Rating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for every product type and spf rating combination, 2026</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Matrix (US$/Units), Shaded by Index vs Global Average</a:t>
            </a:r>
          </a:p>
        </p:txBody>
      </p:sp>
      <p:graphicFrame>
        <p:nvGraphicFramePr>
          <p:cNvPr id="13" name="Table 12"/>
          <p:cNvGraphicFramePr>
            <a:graphicFrameLocks noGrp="1"/>
          </p:cNvGraphicFramePr>
          <p:nvPr/>
        </p:nvGraphicFramePr>
        <p:xfrm>
          <a:off x="365760" y="1868043"/>
          <a:ext cx="7365672" cy="2834640"/>
        </p:xfrm>
        <a:graphic>
          <a:graphicData uri="http://schemas.openxmlformats.org/drawingml/2006/table">
            <a:tbl>
              <a:tblPr firstRow="1" bandRow="1">
                <a:tableStyleId>{5C22544A-7EE6-4342-B048-85BDC9FD1C3A}</a:tableStyleId>
              </a:tblPr>
              <a:tblGrid>
                <a:gridCol w="1600200"/>
                <a:gridCol w="1290492"/>
                <a:gridCol w="1290492"/>
                <a:gridCol w="1290492"/>
                <a:gridCol w="1290492"/>
                <a:gridCol w="603504"/>
              </a:tblGrid>
              <a:tr h="566928">
                <a:tc>
                  <a:txBody>
                    <a:bodyPr wrap="square"/>
                    <a:lstStyle/>
                    <a:p>
                      <a:pPr algn="l"/>
                      <a:r>
                        <a:rPr sz="800" b="1">
                          <a:solidFill>
                            <a:srgbClr val="FFFFFF"/>
                          </a:solidFill>
                          <a:latin typeface="Calibri"/>
                        </a:rPr>
                        <a:t>Product Type</a:t>
                      </a:r>
                    </a:p>
                  </a:txBody>
                  <a:tcPr marL="36576" marR="36576" marT="9144" marB="9144" anchor="ctr">
                    <a:solidFill>
                      <a:srgbClr val="0B2E4A"/>
                    </a:solidFill>
                  </a:tcPr>
                </a:tc>
                <a:tc>
                  <a:txBody>
                    <a:bodyPr wrap="square"/>
                    <a:lstStyle/>
                    <a:p>
                      <a:pPr algn="ctr"/>
                      <a:r>
                        <a:rPr sz="800" b="1">
                          <a:solidFill>
                            <a:srgbClr val="FFFFFF"/>
                          </a:solidFill>
                          <a:latin typeface="Calibri"/>
                        </a:rPr>
                        <a:t>Below SPF 30</a:t>
                      </a:r>
                    </a:p>
                  </a:txBody>
                  <a:tcPr marL="36576" marR="36576" marT="9144" marB="9144" anchor="ctr">
                    <a:solidFill>
                      <a:srgbClr val="0B2E4A"/>
                    </a:solidFill>
                  </a:tcPr>
                </a:tc>
                <a:tc>
                  <a:txBody>
                    <a:bodyPr wrap="square"/>
                    <a:lstStyle/>
                    <a:p>
                      <a:pPr algn="ctr"/>
                      <a:r>
                        <a:rPr sz="800" b="1">
                          <a:solidFill>
                            <a:srgbClr val="FFFFFF"/>
                          </a:solidFill>
                          <a:latin typeface="Calibri"/>
                        </a:rPr>
                        <a:t>SPF 30–49</a:t>
                      </a:r>
                    </a:p>
                  </a:txBody>
                  <a:tcPr marL="36576" marR="36576" marT="9144" marB="9144" anchor="ctr">
                    <a:solidFill>
                      <a:srgbClr val="0B2E4A"/>
                    </a:solidFill>
                  </a:tcPr>
                </a:tc>
                <a:tc>
                  <a:txBody>
                    <a:bodyPr wrap="square"/>
                    <a:lstStyle/>
                    <a:p>
                      <a:pPr algn="ctr"/>
                      <a:r>
                        <a:rPr sz="800" b="1">
                          <a:solidFill>
                            <a:srgbClr val="FFFFFF"/>
                          </a:solidFill>
                          <a:latin typeface="Calibri"/>
                        </a:rPr>
                        <a:t>SPF 50</a:t>
                      </a:r>
                    </a:p>
                  </a:txBody>
                  <a:tcPr marL="36576" marR="36576" marT="9144" marB="9144" anchor="ctr">
                    <a:solidFill>
                      <a:srgbClr val="0B2E4A"/>
                    </a:solidFill>
                  </a:tcPr>
                </a:tc>
                <a:tc>
                  <a:txBody>
                    <a:bodyPr wrap="square"/>
                    <a:lstStyle/>
                    <a:p>
                      <a:pPr algn="ctr"/>
                      <a:r>
                        <a:rPr sz="800" b="1">
                          <a:solidFill>
                            <a:srgbClr val="FFFFFF"/>
                          </a:solidFill>
                          <a:latin typeface="Calibri"/>
                        </a:rPr>
                        <a:t>Above SPF 50</a:t>
                      </a:r>
                    </a:p>
                  </a:txBody>
                  <a:tcPr marL="36576" marR="36576" marT="9144" marB="9144" anchor="ctr">
                    <a:solidFill>
                      <a:srgbClr val="0B2E4A"/>
                    </a:solidFill>
                  </a:tcPr>
                </a:tc>
                <a:tc>
                  <a:txBody>
                    <a:bodyPr wrap="square"/>
                    <a:lstStyle/>
                    <a:p>
                      <a:pPr algn="ctr"/>
                      <a:r>
                        <a:rPr sz="800" b="1">
                          <a:solidFill>
                            <a:srgbClr val="FFFFFF"/>
                          </a:solidFill>
                          <a:latin typeface="Calibri"/>
                        </a:rPr>
                        <a:t>Row Avg.</a:t>
                      </a:r>
                    </a:p>
                  </a:txBody>
                  <a:tcPr marL="36576" marR="36576" marT="9144" marB="9144" anchor="ctr">
                    <a:solidFill>
                      <a:srgbClr val="0B2E4A"/>
                    </a:solidFill>
                  </a:tcPr>
                </a:tc>
              </a:tr>
              <a:tr h="566928">
                <a:tc>
                  <a:txBody>
                    <a:bodyPr wrap="square"/>
                    <a:lstStyle/>
                    <a:p>
                      <a:pPr algn="l"/>
                      <a:r>
                        <a:rPr sz="900" b="1">
                          <a:solidFill>
                            <a:srgbClr val="1F1F1F"/>
                          </a:solidFill>
                          <a:latin typeface="Calibri"/>
                        </a:rPr>
                        <a:t>Chemical Ceramide Sunscreen</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566928">
                <a:tc>
                  <a:txBody>
                    <a:bodyPr wrap="square"/>
                    <a:lstStyle/>
                    <a:p>
                      <a:pPr algn="l"/>
                      <a:r>
                        <a:rPr sz="900" b="1">
                          <a:solidFill>
                            <a:srgbClr val="1F1F1F"/>
                          </a:solidFill>
                          <a:latin typeface="Calibri"/>
                        </a:rPr>
                        <a:t>Mineral Ceramide Sunscreen</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566928">
                <a:tc>
                  <a:txBody>
                    <a:bodyPr wrap="square"/>
                    <a:lstStyle/>
                    <a:p>
                      <a:pPr algn="l"/>
                      <a:r>
                        <a:rPr sz="900" b="1">
                          <a:solidFill>
                            <a:srgbClr val="1F1F1F"/>
                          </a:solidFill>
                          <a:latin typeface="Calibri"/>
                        </a:rPr>
                        <a:t>Hybrid Ceramide Sunscreen</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566928">
                <a:tc>
                  <a:txBody>
                    <a:bodyPr wrap="square"/>
                    <a:lstStyle/>
                    <a:p>
                      <a:pPr algn="l"/>
                      <a:r>
                        <a:rPr sz="900" b="1">
                          <a:solidFill>
                            <a:srgbClr val="1F1F1F"/>
                          </a:solidFill>
                          <a:latin typeface="Calibri"/>
                        </a:rPr>
                        <a:t>Column Avg.</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4" name="Rectangle 13"/>
          <p:cNvSpPr/>
          <p:nvPr/>
        </p:nvSpPr>
        <p:spPr>
          <a:xfrm>
            <a:off x="384048" y="4794123"/>
            <a:ext cx="180975" cy="142875"/>
          </a:xfrm>
          <a:prstGeom prst="rect">
            <a:avLst/>
          </a:prstGeom>
          <a:solidFill>
            <a:srgbClr val="9DC0E0"/>
          </a:solidFill>
          <a:ln w="9525">
            <a:solidFill>
              <a:srgbClr val="D9DEE4"/>
            </a:solidFill>
          </a:ln>
          <a:effectLst/>
        </p:spPr>
        <p:txBody>
          <a:bodyPr rtlCol="0" anchor="ctr"/>
          <a:lstStyle/>
          <a:p>
            <a:pPr algn="ctr"/>
          </a:p>
        </p:txBody>
      </p:sp>
      <p:sp>
        <p:nvSpPr>
          <p:cNvPr id="15" name="FMI Scale legend"/>
          <p:cNvSpPr txBox="1"/>
          <p:nvPr/>
        </p:nvSpPr>
        <p:spPr>
          <a:xfrm>
            <a:off x="5935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below 97.5</a:t>
            </a:r>
          </a:p>
        </p:txBody>
      </p:sp>
      <p:sp>
        <p:nvSpPr>
          <p:cNvPr id="16" name="Rectangle 15"/>
          <p:cNvSpPr/>
          <p:nvPr/>
        </p:nvSpPr>
        <p:spPr>
          <a:xfrm>
            <a:off x="1850898" y="4794123"/>
            <a:ext cx="180975" cy="142875"/>
          </a:xfrm>
          <a:prstGeom prst="rect">
            <a:avLst/>
          </a:prstGeom>
          <a:solidFill>
            <a:srgbClr val="D9E6F2"/>
          </a:solidFill>
          <a:ln w="9525">
            <a:solidFill>
              <a:srgbClr val="D9DEE4"/>
            </a:solidFill>
          </a:ln>
          <a:effectLst/>
        </p:spPr>
        <p:txBody>
          <a:bodyPr rtlCol="0" anchor="ctr"/>
          <a:lstStyle/>
          <a:p>
            <a:pPr algn="ctr"/>
          </a:p>
        </p:txBody>
      </p:sp>
      <p:sp>
        <p:nvSpPr>
          <p:cNvPr id="17" name="FMI Scale legend"/>
          <p:cNvSpPr txBox="1"/>
          <p:nvPr/>
        </p:nvSpPr>
        <p:spPr>
          <a:xfrm>
            <a:off x="20604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97.5 to 99</a:t>
            </a:r>
          </a:p>
        </p:txBody>
      </p:sp>
      <p:sp>
        <p:nvSpPr>
          <p:cNvPr id="18" name="Rectangle 17"/>
          <p:cNvSpPr/>
          <p:nvPr/>
        </p:nvSpPr>
        <p:spPr>
          <a:xfrm>
            <a:off x="3317748" y="4794123"/>
            <a:ext cx="180975" cy="142875"/>
          </a:xfrm>
          <a:prstGeom prst="rect">
            <a:avLst/>
          </a:prstGeom>
          <a:solidFill>
            <a:srgbClr val="F7F7F7"/>
          </a:solidFill>
          <a:ln w="9525">
            <a:solidFill>
              <a:srgbClr val="D9DEE4"/>
            </a:solidFill>
          </a:ln>
          <a:effectLst/>
        </p:spPr>
        <p:txBody>
          <a:bodyPr rtlCol="0" anchor="ctr"/>
          <a:lstStyle/>
          <a:p>
            <a:pPr algn="ctr"/>
          </a:p>
        </p:txBody>
      </p:sp>
      <p:sp>
        <p:nvSpPr>
          <p:cNvPr id="19" name="FMI Scale legend"/>
          <p:cNvSpPr txBox="1"/>
          <p:nvPr/>
        </p:nvSpPr>
        <p:spPr>
          <a:xfrm>
            <a:off x="35272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Parity: 99 to 101</a:t>
            </a:r>
          </a:p>
        </p:txBody>
      </p:sp>
      <p:sp>
        <p:nvSpPr>
          <p:cNvPr id="20" name="Rectangle 19"/>
          <p:cNvSpPr/>
          <p:nvPr/>
        </p:nvSpPr>
        <p:spPr>
          <a:xfrm>
            <a:off x="4784598" y="4794123"/>
            <a:ext cx="180975" cy="142875"/>
          </a:xfrm>
          <a:prstGeom prst="rect">
            <a:avLst/>
          </a:prstGeom>
          <a:solidFill>
            <a:srgbClr val="FBE3D3"/>
          </a:solidFill>
          <a:ln w="9525">
            <a:solidFill>
              <a:srgbClr val="D9DEE4"/>
            </a:solidFill>
          </a:ln>
          <a:effectLst/>
        </p:spPr>
        <p:txBody>
          <a:bodyPr rtlCol="0" anchor="ctr"/>
          <a:lstStyle/>
          <a:p>
            <a:pPr algn="ctr"/>
          </a:p>
        </p:txBody>
      </p:sp>
      <p:sp>
        <p:nvSpPr>
          <p:cNvPr id="21" name="FMI Scale legend"/>
          <p:cNvSpPr txBox="1"/>
          <p:nvPr/>
        </p:nvSpPr>
        <p:spPr>
          <a:xfrm>
            <a:off x="49941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101 to 102.5</a:t>
            </a:r>
          </a:p>
        </p:txBody>
      </p:sp>
      <p:sp>
        <p:nvSpPr>
          <p:cNvPr id="22" name="Rectangle 21"/>
          <p:cNvSpPr/>
          <p:nvPr/>
        </p:nvSpPr>
        <p:spPr>
          <a:xfrm>
            <a:off x="6251448" y="4794123"/>
            <a:ext cx="180975" cy="142875"/>
          </a:xfrm>
          <a:prstGeom prst="rect">
            <a:avLst/>
          </a:prstGeom>
          <a:solidFill>
            <a:srgbClr val="F4B183"/>
          </a:solidFill>
          <a:ln w="9525">
            <a:solidFill>
              <a:srgbClr val="D9DEE4"/>
            </a:solidFill>
          </a:ln>
          <a:effectLst/>
        </p:spPr>
        <p:txBody>
          <a:bodyPr rtlCol="0" anchor="ctr"/>
          <a:lstStyle/>
          <a:p>
            <a:pPr algn="ctr"/>
          </a:p>
        </p:txBody>
      </p:sp>
      <p:sp>
        <p:nvSpPr>
          <p:cNvPr id="23" name="FMI Scale legend"/>
          <p:cNvSpPr txBox="1"/>
          <p:nvPr/>
        </p:nvSpPr>
        <p:spPr>
          <a:xfrm>
            <a:off x="64609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above 102.5</a:t>
            </a:r>
          </a:p>
        </p:txBody>
      </p:sp>
      <p:sp>
        <p:nvSpPr>
          <p:cNvPr id="24" name="Rectangle 23"/>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25" name="TextBox 24"/>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Range Across All SPF Rating Sub-Types, 2026</a:t>
            </a:r>
          </a:p>
        </p:txBody>
      </p:sp>
      <p:sp>
        <p:nvSpPr>
          <p:cNvPr id="26" name="TextBox 25"/>
          <p:cNvSpPr txBox="1"/>
          <p:nvPr/>
        </p:nvSpPr>
        <p:spPr>
          <a:xfrm>
            <a:off x="8065008" y="1965579"/>
            <a:ext cx="3749040" cy="219075"/>
          </a:xfrm>
          <a:prstGeom prst="rect">
            <a:avLst/>
          </a:prstGeom>
          <a:noFill/>
        </p:spPr>
        <p:txBody>
          <a:bodyPr wrap="square" anchor="t" lIns="27432" rIns="27432" tIns="27432" bIns="27432">
            <a:spAutoFit/>
          </a:bodyPr>
          <a:lstStyle/>
          <a:p>
            <a:pPr algn="l"/>
            <a:r>
              <a:rPr sz="850" b="0" i="1">
                <a:solidFill>
                  <a:srgbClr val="59636E"/>
                </a:solidFill>
                <a:latin typeface="Calibri"/>
              </a:rPr>
              <a:t>Bar spans lowest to highest price (US$/Units) at the finest data level.</a:t>
            </a:r>
          </a:p>
        </p:txBody>
      </p:sp>
      <p:graphicFrame>
        <p:nvGraphicFramePr>
          <p:cNvPr id="27" name="FMI Price Chart"/>
          <p:cNvGraphicFramePr>
            <a:graphicFrameLocks noGrp="1"/>
          </p:cNvGraphicFramePr>
          <p:nvPr/>
        </p:nvGraphicFramePr>
        <p:xfrm>
          <a:off x="8001000" y="2032635"/>
          <a:ext cx="3867912" cy="2971800"/>
        </p:xfrm>
        <a:graphic>
          <a:graphicData uri="http://schemas.openxmlformats.org/drawingml/2006/chart">
            <c:chart xmlns:c="http://schemas.openxmlformats.org/drawingml/2006/chart" r:id="rId3"/>
          </a:graphicData>
        </a:graphic>
      </p:graphicFrame>
      <p:sp>
        <p:nvSpPr>
          <p:cNvPr id="28" name="Rectangle 2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9" name="Oval 2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30" name="TextBox 2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Premium Pockets</a:t>
            </a:r>
          </a:p>
        </p:txBody>
      </p:sp>
      <p:sp>
        <p:nvSpPr>
          <p:cNvPr id="31" name="TextBox 3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2" name="Rectangle 3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33" name="Oval 3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34" name="TextBox 3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Value Pockets</a:t>
            </a:r>
          </a:p>
        </p:txBody>
      </p:sp>
      <p:sp>
        <p:nvSpPr>
          <p:cNvPr id="35" name="TextBox 3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6" name="Rectangle 3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37" name="Oval 3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38" name="TextBox 3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Within-Type Spread</a:t>
            </a:r>
          </a:p>
        </p:txBody>
      </p:sp>
      <p:sp>
        <p:nvSpPr>
          <p:cNvPr id="39" name="TextBox 3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40" name="TextBox 3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4636770" y="3302127"/>
            <a:ext cx="366712" cy="533399"/>
          </a:xfrm>
          <a:prstGeom prst="rect">
            <a:avLst/>
          </a:prstGeom>
        </p:spPr>
      </p:pic>
      <p:sp>
        <p:nvSpPr>
          <p:cNvPr id="43" name="TextBox 42"/>
          <p:cNvSpPr txBox="1"/>
          <p:nvPr/>
        </p:nvSpPr>
        <p:spPr>
          <a:xfrm>
            <a:off x="411480" y="1110615"/>
            <a:ext cx="6453832" cy="217169"/>
          </a:xfrm>
          <a:prstGeom prst="rect">
            <a:avLst/>
          </a:prstGeom>
          <a:noFill/>
        </p:spPr>
        <p:txBody>
          <a:bodyPr wrap="none" lIns="0" rIns="0" tIns="0" bIns="0">
            <a:spAutoFit/>
          </a:bodyPr>
          <a:lstStyle/>
          <a:p>
            <a:r>
              <a:rPr sz="1300" b="1">
                <a:solidFill>
                  <a:srgbClr val="FFFFFF"/>
                </a:solidFill>
                <a:latin typeface="Calibri"/>
              </a:rPr>
              <a:t>Chemical Ceramide Sunscreen for SPF 30–49 is the highest priced combination in 2026 at US$</a:t>
            </a:r>
          </a:p>
        </p:txBody>
      </p:sp>
      <p:pic>
        <p:nvPicPr>
          <p:cNvPr id="44" name="Picture 43" descr="lock.png"/>
          <p:cNvPicPr>
            <a:picLocks noChangeAspect="1"/>
          </p:cNvPicPr>
          <p:nvPr/>
        </p:nvPicPr>
        <p:blipFill>
          <a:blip r:embed="rId5"/>
          <a:stretch>
            <a:fillRect/>
          </a:stretch>
        </p:blipFill>
        <p:spPr>
          <a:xfrm>
            <a:off x="6817773" y="1099058"/>
            <a:ext cx="152098" cy="221234"/>
          </a:xfrm>
          <a:prstGeom prst="rect">
            <a:avLst/>
          </a:prstGeom>
        </p:spPr>
      </p:pic>
      <p:sp>
        <p:nvSpPr>
          <p:cNvPr id="45" name="TextBox 44"/>
          <p:cNvSpPr txBox="1"/>
          <p:nvPr/>
        </p:nvSpPr>
        <p:spPr>
          <a:xfrm>
            <a:off x="7015723" y="1110615"/>
            <a:ext cx="669528" cy="217169"/>
          </a:xfrm>
          <a:prstGeom prst="rect">
            <a:avLst/>
          </a:prstGeom>
          <a:noFill/>
        </p:spPr>
        <p:txBody>
          <a:bodyPr wrap="none" lIns="0" rIns="0" tIns="0" bIns="0">
            <a:spAutoFit/>
          </a:bodyPr>
          <a:lstStyle/>
          <a:p>
            <a:r>
              <a:rPr sz="1300" b="1">
                <a:solidFill>
                  <a:srgbClr val="FFFFFF"/>
                </a:solidFill>
                <a:latin typeface="Calibri"/>
              </a:rPr>
              <a:t>/Units, +</a:t>
            </a:r>
          </a:p>
        </p:txBody>
      </p:sp>
      <p:pic>
        <p:nvPicPr>
          <p:cNvPr id="46" name="Picture 45" descr="lock.png"/>
          <p:cNvPicPr>
            <a:picLocks noChangeAspect="1"/>
          </p:cNvPicPr>
          <p:nvPr/>
        </p:nvPicPr>
        <p:blipFill>
          <a:blip r:embed="rId5"/>
          <a:stretch>
            <a:fillRect/>
          </a:stretch>
        </p:blipFill>
        <p:spPr>
          <a:xfrm>
            <a:off x="7637712" y="1099058"/>
            <a:ext cx="152098" cy="221234"/>
          </a:xfrm>
          <a:prstGeom prst="rect">
            <a:avLst/>
          </a:prstGeom>
        </p:spPr>
      </p:pic>
      <p:sp>
        <p:nvSpPr>
          <p:cNvPr id="47" name="TextBox 46"/>
          <p:cNvSpPr txBox="1"/>
          <p:nvPr/>
        </p:nvSpPr>
        <p:spPr>
          <a:xfrm>
            <a:off x="7835661" y="1110615"/>
            <a:ext cx="1871984" cy="217169"/>
          </a:xfrm>
          <a:prstGeom prst="rect">
            <a:avLst/>
          </a:prstGeom>
          <a:noFill/>
        </p:spPr>
        <p:txBody>
          <a:bodyPr wrap="none" lIns="0" rIns="0" tIns="0" bIns="0">
            <a:spAutoFit/>
          </a:bodyPr>
          <a:lstStyle/>
          <a:p>
            <a:r>
              <a:rPr sz="1300" b="1">
                <a:solidFill>
                  <a:srgbClr val="FFFFFF"/>
                </a:solidFill>
                <a:latin typeface="Calibri"/>
              </a:rPr>
              <a:t>above the Global average.</a:t>
            </a:r>
          </a:p>
        </p:txBody>
      </p:sp>
      <p:sp>
        <p:nvSpPr>
          <p:cNvPr id="48" name="TextBox 47"/>
          <p:cNvSpPr txBox="1"/>
          <p:nvPr/>
        </p:nvSpPr>
        <p:spPr>
          <a:xfrm>
            <a:off x="806576" y="5530976"/>
            <a:ext cx="3079179" cy="179069"/>
          </a:xfrm>
          <a:prstGeom prst="rect">
            <a:avLst/>
          </a:prstGeom>
          <a:noFill/>
        </p:spPr>
        <p:txBody>
          <a:bodyPr wrap="none" lIns="0" rIns="0" tIns="0" bIns="0">
            <a:spAutoFit/>
          </a:bodyPr>
          <a:lstStyle/>
          <a:p>
            <a:r>
              <a:rPr sz="1050" b="0">
                <a:solidFill>
                  <a:srgbClr val="1F1F1F"/>
                </a:solidFill>
                <a:latin typeface="Calibri"/>
              </a:rPr>
              <a:t>Chemical Ceramide Sunscreen positioned on SPF 30–49</a:t>
            </a:r>
          </a:p>
        </p:txBody>
      </p:sp>
      <p:sp>
        <p:nvSpPr>
          <p:cNvPr id="49" name="TextBox 48"/>
          <p:cNvSpPr txBox="1"/>
          <p:nvPr/>
        </p:nvSpPr>
        <p:spPr>
          <a:xfrm>
            <a:off x="806576" y="5690996"/>
            <a:ext cx="2398365" cy="179069"/>
          </a:xfrm>
          <a:prstGeom prst="rect">
            <a:avLst/>
          </a:prstGeom>
          <a:noFill/>
        </p:spPr>
        <p:txBody>
          <a:bodyPr wrap="none" lIns="0" rIns="0" tIns="0" bIns="0">
            <a:spAutoFit/>
          </a:bodyPr>
          <a:lstStyle/>
          <a:p>
            <a:r>
              <a:rPr sz="1050" b="0">
                <a:solidFill>
                  <a:srgbClr val="1F1F1F"/>
                </a:solidFill>
                <a:latin typeface="Calibri"/>
              </a:rPr>
              <a:t>carry the strongest premium at an index of</a:t>
            </a:r>
          </a:p>
        </p:txBody>
      </p:sp>
      <p:pic>
        <p:nvPicPr>
          <p:cNvPr id="50" name="Picture 49" descr="lock.png"/>
          <p:cNvPicPr>
            <a:picLocks noChangeAspect="1"/>
          </p:cNvPicPr>
          <p:nvPr/>
        </p:nvPicPr>
        <p:blipFill>
          <a:blip r:embed="rId5"/>
          <a:stretch>
            <a:fillRect/>
          </a:stretch>
        </p:blipFill>
        <p:spPr>
          <a:xfrm>
            <a:off x="3151891" y="5681662"/>
            <a:ext cx="122849" cy="178689"/>
          </a:xfrm>
          <a:prstGeom prst="rect">
            <a:avLst/>
          </a:prstGeom>
        </p:spPr>
      </p:pic>
      <p:sp>
        <p:nvSpPr>
          <p:cNvPr id="51" name="TextBox 50"/>
          <p:cNvSpPr txBox="1"/>
          <p:nvPr/>
        </p:nvSpPr>
        <p:spPr>
          <a:xfrm>
            <a:off x="3311773" y="5690996"/>
            <a:ext cx="462446" cy="179069"/>
          </a:xfrm>
          <a:prstGeom prst="rect">
            <a:avLst/>
          </a:prstGeom>
          <a:noFill/>
        </p:spPr>
        <p:txBody>
          <a:bodyPr wrap="none" lIns="0" rIns="0" tIns="0" bIns="0">
            <a:spAutoFit/>
          </a:bodyPr>
          <a:lstStyle/>
          <a:p>
            <a:r>
              <a:rPr sz="1050" b="0">
                <a:solidFill>
                  <a:srgbClr val="1F1F1F"/>
                </a:solidFill>
                <a:latin typeface="Calibri"/>
              </a:rPr>
              <a:t>, which</a:t>
            </a:r>
          </a:p>
        </p:txBody>
      </p:sp>
      <p:sp>
        <p:nvSpPr>
          <p:cNvPr id="52" name="TextBox 51"/>
          <p:cNvSpPr txBox="1"/>
          <p:nvPr/>
        </p:nvSpPr>
        <p:spPr>
          <a:xfrm>
            <a:off x="806576" y="5851016"/>
            <a:ext cx="3130227" cy="179069"/>
          </a:xfrm>
          <a:prstGeom prst="rect">
            <a:avLst/>
          </a:prstGeom>
          <a:noFill/>
        </p:spPr>
        <p:txBody>
          <a:bodyPr wrap="none" lIns="0" rIns="0" tIns="0" bIns="0">
            <a:spAutoFit/>
          </a:bodyPr>
          <a:lstStyle/>
          <a:p>
            <a:r>
              <a:rPr sz="1050" b="0">
                <a:solidFill>
                  <a:srgbClr val="1F1F1F"/>
                </a:solidFill>
                <a:latin typeface="Calibri"/>
              </a:rPr>
              <a:t>signals room for value-added claims in this combination.</a:t>
            </a:r>
          </a:p>
        </p:txBody>
      </p:sp>
      <p:sp>
        <p:nvSpPr>
          <p:cNvPr id="53" name="TextBox 52"/>
          <p:cNvSpPr txBox="1"/>
          <p:nvPr/>
        </p:nvSpPr>
        <p:spPr>
          <a:xfrm>
            <a:off x="4732401" y="5530976"/>
            <a:ext cx="2843993" cy="179069"/>
          </a:xfrm>
          <a:prstGeom prst="rect">
            <a:avLst/>
          </a:prstGeom>
          <a:noFill/>
        </p:spPr>
        <p:txBody>
          <a:bodyPr wrap="none" lIns="0" rIns="0" tIns="0" bIns="0">
            <a:spAutoFit/>
          </a:bodyPr>
          <a:lstStyle/>
          <a:p>
            <a:r>
              <a:rPr sz="1050" b="0">
                <a:solidFill>
                  <a:srgbClr val="1F1F1F"/>
                </a:solidFill>
                <a:latin typeface="Calibri"/>
              </a:rPr>
              <a:t>Hybrid Ceramide Sunscreen for Below SPF 30 is the</a:t>
            </a:r>
          </a:p>
        </p:txBody>
      </p:sp>
      <p:sp>
        <p:nvSpPr>
          <p:cNvPr id="54" name="TextBox 53"/>
          <p:cNvSpPr txBox="1"/>
          <p:nvPr/>
        </p:nvSpPr>
        <p:spPr>
          <a:xfrm>
            <a:off x="4732401" y="5690996"/>
            <a:ext cx="2290018" cy="179069"/>
          </a:xfrm>
          <a:prstGeom prst="rect">
            <a:avLst/>
          </a:prstGeom>
          <a:noFill/>
        </p:spPr>
        <p:txBody>
          <a:bodyPr wrap="none" lIns="0" rIns="0" tIns="0" bIns="0">
            <a:spAutoFit/>
          </a:bodyPr>
          <a:lstStyle/>
          <a:p>
            <a:r>
              <a:rPr sz="1050" b="0">
                <a:solidFill>
                  <a:srgbClr val="1F1F1F"/>
                </a:solidFill>
                <a:latin typeface="Calibri"/>
              </a:rPr>
              <a:t>lowest priced combination at an index of</a:t>
            </a:r>
          </a:p>
        </p:txBody>
      </p:sp>
      <p:pic>
        <p:nvPicPr>
          <p:cNvPr id="55" name="Picture 54" descr="lock.png"/>
          <p:cNvPicPr>
            <a:picLocks noChangeAspect="1"/>
          </p:cNvPicPr>
          <p:nvPr/>
        </p:nvPicPr>
        <p:blipFill>
          <a:blip r:embed="rId5"/>
          <a:stretch>
            <a:fillRect/>
          </a:stretch>
        </p:blipFill>
        <p:spPr>
          <a:xfrm>
            <a:off x="6969368" y="5681662"/>
            <a:ext cx="122849" cy="178689"/>
          </a:xfrm>
          <a:prstGeom prst="rect">
            <a:avLst/>
          </a:prstGeom>
        </p:spPr>
      </p:pic>
      <p:sp>
        <p:nvSpPr>
          <p:cNvPr id="56" name="TextBox 55"/>
          <p:cNvSpPr txBox="1"/>
          <p:nvPr/>
        </p:nvSpPr>
        <p:spPr>
          <a:xfrm>
            <a:off x="7129250" y="5690996"/>
            <a:ext cx="475729" cy="179069"/>
          </a:xfrm>
          <a:prstGeom prst="rect">
            <a:avLst/>
          </a:prstGeom>
          <a:noFill/>
        </p:spPr>
        <p:txBody>
          <a:bodyPr wrap="none" lIns="0" rIns="0" tIns="0" bIns="0">
            <a:spAutoFit/>
          </a:bodyPr>
          <a:lstStyle/>
          <a:p>
            <a:r>
              <a:rPr sz="1050" b="0">
                <a:solidFill>
                  <a:srgbClr val="1F1F1F"/>
                </a:solidFill>
                <a:latin typeface="Calibri"/>
              </a:rPr>
              <a:t>, sitting</a:t>
            </a:r>
          </a:p>
        </p:txBody>
      </p:sp>
      <p:pic>
        <p:nvPicPr>
          <p:cNvPr id="57" name="Picture 56" descr="lock.png"/>
          <p:cNvPicPr>
            <a:picLocks noChangeAspect="1"/>
          </p:cNvPicPr>
          <p:nvPr/>
        </p:nvPicPr>
        <p:blipFill>
          <a:blip r:embed="rId5"/>
          <a:stretch>
            <a:fillRect/>
          </a:stretch>
        </p:blipFill>
        <p:spPr>
          <a:xfrm>
            <a:off x="7551929" y="5681662"/>
            <a:ext cx="122849" cy="178689"/>
          </a:xfrm>
          <a:prstGeom prst="rect">
            <a:avLst/>
          </a:prstGeom>
        </p:spPr>
      </p:pic>
      <p:sp>
        <p:nvSpPr>
          <p:cNvPr id="58" name="TextBox 57"/>
          <p:cNvSpPr txBox="1"/>
          <p:nvPr/>
        </p:nvSpPr>
        <p:spPr>
          <a:xfrm>
            <a:off x="4732401" y="5851016"/>
            <a:ext cx="1846733" cy="179069"/>
          </a:xfrm>
          <a:prstGeom prst="rect">
            <a:avLst/>
          </a:prstGeom>
          <a:noFill/>
        </p:spPr>
        <p:txBody>
          <a:bodyPr wrap="none" lIns="0" rIns="0" tIns="0" bIns="0">
            <a:spAutoFit/>
          </a:bodyPr>
          <a:lstStyle/>
          <a:p>
            <a:r>
              <a:rPr sz="1050" b="0">
                <a:solidFill>
                  <a:srgbClr val="1F1F1F"/>
                </a:solidFill>
                <a:latin typeface="Calibri"/>
              </a:rPr>
              <a:t>below the Global average of US$</a:t>
            </a:r>
          </a:p>
        </p:txBody>
      </p:sp>
      <p:pic>
        <p:nvPicPr>
          <p:cNvPr id="59" name="Picture 58" descr="lock.png"/>
          <p:cNvPicPr>
            <a:picLocks noChangeAspect="1"/>
          </p:cNvPicPr>
          <p:nvPr/>
        </p:nvPicPr>
        <p:blipFill>
          <a:blip r:embed="rId5"/>
          <a:stretch>
            <a:fillRect/>
          </a:stretch>
        </p:blipFill>
        <p:spPr>
          <a:xfrm>
            <a:off x="6526084" y="5841682"/>
            <a:ext cx="122849" cy="178689"/>
          </a:xfrm>
          <a:prstGeom prst="rect">
            <a:avLst/>
          </a:prstGeom>
        </p:spPr>
      </p:pic>
      <p:sp>
        <p:nvSpPr>
          <p:cNvPr id="60" name="TextBox 59"/>
          <p:cNvSpPr txBox="1"/>
          <p:nvPr/>
        </p:nvSpPr>
        <p:spPr>
          <a:xfrm>
            <a:off x="6685966" y="5851016"/>
            <a:ext cx="444735" cy="179069"/>
          </a:xfrm>
          <a:prstGeom prst="rect">
            <a:avLst/>
          </a:prstGeom>
          <a:noFill/>
        </p:spPr>
        <p:txBody>
          <a:bodyPr wrap="none" lIns="0" rIns="0" tIns="0" bIns="0">
            <a:spAutoFit/>
          </a:bodyPr>
          <a:lstStyle/>
          <a:p>
            <a:r>
              <a:rPr sz="1050" b="0">
                <a:solidFill>
                  <a:srgbClr val="1F1F1F"/>
                </a:solidFill>
                <a:latin typeface="Calibri"/>
              </a:rPr>
              <a:t>/Units.</a:t>
            </a:r>
          </a:p>
        </p:txBody>
      </p:sp>
      <p:sp>
        <p:nvSpPr>
          <p:cNvPr id="61" name="TextBox 60"/>
          <p:cNvSpPr txBox="1"/>
          <p:nvPr/>
        </p:nvSpPr>
        <p:spPr>
          <a:xfrm>
            <a:off x="8658225" y="5530976"/>
            <a:ext cx="3086211" cy="179069"/>
          </a:xfrm>
          <a:prstGeom prst="rect">
            <a:avLst/>
          </a:prstGeom>
          <a:noFill/>
        </p:spPr>
        <p:txBody>
          <a:bodyPr wrap="none" lIns="0" rIns="0" tIns="0" bIns="0">
            <a:spAutoFit/>
          </a:bodyPr>
          <a:lstStyle/>
          <a:p>
            <a:r>
              <a:rPr sz="1050" b="0">
                <a:solidFill>
                  <a:srgbClr val="1F1F1F"/>
                </a:solidFill>
                <a:latin typeface="Calibri"/>
              </a:rPr>
              <a:t>Chemical Ceramide Sunscreen show the widest internal</a:t>
            </a:r>
          </a:p>
        </p:txBody>
      </p:sp>
      <p:sp>
        <p:nvSpPr>
          <p:cNvPr id="62" name="TextBox 61"/>
          <p:cNvSpPr txBox="1"/>
          <p:nvPr/>
        </p:nvSpPr>
        <p:spPr>
          <a:xfrm>
            <a:off x="8658225" y="5690996"/>
            <a:ext cx="884634" cy="179069"/>
          </a:xfrm>
          <a:prstGeom prst="rect">
            <a:avLst/>
          </a:prstGeom>
          <a:noFill/>
        </p:spPr>
        <p:txBody>
          <a:bodyPr wrap="none" lIns="0" rIns="0" tIns="0" bIns="0">
            <a:spAutoFit/>
          </a:bodyPr>
          <a:lstStyle/>
          <a:p>
            <a:r>
              <a:rPr sz="1050" b="0">
                <a:solidFill>
                  <a:srgbClr val="1F1F1F"/>
                </a:solidFill>
                <a:latin typeface="Calibri"/>
              </a:rPr>
              <a:t>price spread at</a:t>
            </a:r>
          </a:p>
        </p:txBody>
      </p:sp>
      <p:pic>
        <p:nvPicPr>
          <p:cNvPr id="63" name="Picture 62" descr="lock.png"/>
          <p:cNvPicPr>
            <a:picLocks noChangeAspect="1"/>
          </p:cNvPicPr>
          <p:nvPr/>
        </p:nvPicPr>
        <p:blipFill>
          <a:blip r:embed="rId5"/>
          <a:stretch>
            <a:fillRect/>
          </a:stretch>
        </p:blipFill>
        <p:spPr>
          <a:xfrm>
            <a:off x="9489808" y="5681662"/>
            <a:ext cx="122849" cy="178689"/>
          </a:xfrm>
          <a:prstGeom prst="rect">
            <a:avLst/>
          </a:prstGeom>
        </p:spPr>
      </p:pic>
      <p:sp>
        <p:nvSpPr>
          <p:cNvPr id="64" name="TextBox 63"/>
          <p:cNvSpPr txBox="1"/>
          <p:nvPr/>
        </p:nvSpPr>
        <p:spPr>
          <a:xfrm>
            <a:off x="9649690" y="5690996"/>
            <a:ext cx="1085701" cy="179069"/>
          </a:xfrm>
          <a:prstGeom prst="rect">
            <a:avLst/>
          </a:prstGeom>
          <a:noFill/>
        </p:spPr>
        <p:txBody>
          <a:bodyPr wrap="none" lIns="0" rIns="0" tIns="0" bIns="0">
            <a:spAutoFit/>
          </a:bodyPr>
          <a:lstStyle/>
          <a:p>
            <a:r>
              <a:rPr sz="1050" b="0">
                <a:solidFill>
                  <a:srgbClr val="1F1F1F"/>
                </a:solidFill>
                <a:latin typeface="Calibri"/>
              </a:rPr>
              <a:t>, ranging from US$</a:t>
            </a:r>
          </a:p>
        </p:txBody>
      </p:sp>
      <p:pic>
        <p:nvPicPr>
          <p:cNvPr id="65" name="Picture 64" descr="lock.png"/>
          <p:cNvPicPr>
            <a:picLocks noChangeAspect="1"/>
          </p:cNvPicPr>
          <p:nvPr/>
        </p:nvPicPr>
        <p:blipFill>
          <a:blip r:embed="rId5"/>
          <a:stretch>
            <a:fillRect/>
          </a:stretch>
        </p:blipFill>
        <p:spPr>
          <a:xfrm>
            <a:off x="10682341" y="5681662"/>
            <a:ext cx="122849" cy="178689"/>
          </a:xfrm>
          <a:prstGeom prst="rect">
            <a:avLst/>
          </a:prstGeom>
        </p:spPr>
      </p:pic>
      <p:sp>
        <p:nvSpPr>
          <p:cNvPr id="66" name="TextBox 65"/>
          <p:cNvSpPr txBox="1"/>
          <p:nvPr/>
        </p:nvSpPr>
        <p:spPr>
          <a:xfrm>
            <a:off x="10842223" y="5690996"/>
            <a:ext cx="801290" cy="179069"/>
          </a:xfrm>
          <a:prstGeom prst="rect">
            <a:avLst/>
          </a:prstGeom>
          <a:noFill/>
        </p:spPr>
        <p:txBody>
          <a:bodyPr wrap="none" lIns="0" rIns="0" tIns="0" bIns="0">
            <a:spAutoFit/>
          </a:bodyPr>
          <a:lstStyle/>
          <a:p>
            <a:r>
              <a:rPr sz="1050" b="0">
                <a:solidFill>
                  <a:srgbClr val="1F1F1F"/>
                </a:solidFill>
                <a:latin typeface="Calibri"/>
              </a:rPr>
              <a:t>/Units to US$</a:t>
            </a:r>
          </a:p>
        </p:txBody>
      </p:sp>
      <p:pic>
        <p:nvPicPr>
          <p:cNvPr id="67" name="Picture 66" descr="lock.png"/>
          <p:cNvPicPr>
            <a:picLocks noChangeAspect="1"/>
          </p:cNvPicPr>
          <p:nvPr/>
        </p:nvPicPr>
        <p:blipFill>
          <a:blip r:embed="rId5"/>
          <a:stretch>
            <a:fillRect/>
          </a:stretch>
        </p:blipFill>
        <p:spPr>
          <a:xfrm>
            <a:off x="8645369" y="5841682"/>
            <a:ext cx="122849" cy="178689"/>
          </a:xfrm>
          <a:prstGeom prst="rect">
            <a:avLst/>
          </a:prstGeom>
        </p:spPr>
      </p:pic>
      <p:sp>
        <p:nvSpPr>
          <p:cNvPr id="68" name="TextBox 67"/>
          <p:cNvSpPr txBox="1"/>
          <p:nvPr/>
        </p:nvSpPr>
        <p:spPr>
          <a:xfrm>
            <a:off x="8805252" y="5851016"/>
            <a:ext cx="1373497" cy="179069"/>
          </a:xfrm>
          <a:prstGeom prst="rect">
            <a:avLst/>
          </a:prstGeom>
          <a:noFill/>
        </p:spPr>
        <p:txBody>
          <a:bodyPr wrap="none" lIns="0" rIns="0" tIns="0" bIns="0">
            <a:spAutoFit/>
          </a:bodyPr>
          <a:lstStyle/>
          <a:p>
            <a:r>
              <a:rPr sz="1050" b="0">
                <a:solidFill>
                  <a:srgbClr val="1F1F1F"/>
                </a:solidFill>
                <a:latin typeface="Calibri"/>
              </a:rPr>
              <a:t>/Units across sub-types.</a:t>
            </a:r>
          </a:p>
        </p:txBody>
      </p:sp>
      <p:sp>
        <p:nvSpPr>
          <p:cNvPr id="69" name="TextBox 68"/>
          <p:cNvSpPr txBox="1"/>
          <p:nvPr/>
        </p:nvSpPr>
        <p:spPr>
          <a:xfrm>
            <a:off x="301752" y="6391275"/>
            <a:ext cx="5851659" cy="143408"/>
          </a:xfrm>
          <a:prstGeom prst="rect">
            <a:avLst/>
          </a:prstGeom>
          <a:noFill/>
        </p:spPr>
        <p:txBody>
          <a:bodyPr wrap="none" lIns="0" rIns="0" tIns="0" bIns="0">
            <a:spAutoFit/>
          </a:bodyPr>
          <a:lstStyle/>
          <a:p>
            <a:r>
              <a:rPr sz="816" b="0">
                <a:solidFill>
                  <a:srgbClr val="59636E"/>
                </a:solidFill>
                <a:latin typeface="Calibri"/>
              </a:rPr>
              <a:t>Source: FMI analysis. Cell price = combined value (US$) / combined volume (Units); shading shows the index vs the Global average of US$</a:t>
            </a:r>
          </a:p>
        </p:txBody>
      </p:sp>
      <p:pic>
        <p:nvPicPr>
          <p:cNvPr id="70" name="Picture 69" descr="lock.png"/>
          <p:cNvPicPr>
            <a:picLocks noChangeAspect="1"/>
          </p:cNvPicPr>
          <p:nvPr/>
        </p:nvPicPr>
        <p:blipFill>
          <a:blip r:embed="rId5"/>
          <a:stretch>
            <a:fillRect/>
          </a:stretch>
        </p:blipFill>
        <p:spPr>
          <a:xfrm>
            <a:off x="6095202" y="6384020"/>
            <a:ext cx="95470" cy="138866"/>
          </a:xfrm>
          <a:prstGeom prst="rect">
            <a:avLst/>
          </a:prstGeom>
        </p:spPr>
      </p:pic>
      <p:sp>
        <p:nvSpPr>
          <p:cNvPr id="71" name="TextBox 70"/>
          <p:cNvSpPr txBox="1"/>
          <p:nvPr/>
        </p:nvSpPr>
        <p:spPr>
          <a:xfrm>
            <a:off x="6219453" y="6391275"/>
            <a:ext cx="362604" cy="143408"/>
          </a:xfrm>
          <a:prstGeom prst="rect">
            <a:avLst/>
          </a:prstGeom>
          <a:noFill/>
        </p:spPr>
        <p:txBody>
          <a:bodyPr wrap="none" lIns="0" rIns="0" tIns="0" bIns="0">
            <a:spAutoFit/>
          </a:bodyPr>
          <a:lstStyle/>
          <a:p>
            <a:r>
              <a:rPr sz="816" b="0">
                <a:solidFill>
                  <a:srgbClr val="59636E"/>
                </a:solidFill>
                <a:latin typeface="Calibri"/>
              </a:rPr>
              <a:t>/Units.</a:t>
            </a:r>
          </a:p>
        </p:txBody>
      </p:sp>
      <p:pic>
        <p:nvPicPr>
          <p:cNvPr id="72" name="Picture 71" descr="lock.png"/>
          <p:cNvPicPr>
            <a:picLocks noChangeAspect="1"/>
          </p:cNvPicPr>
          <p:nvPr/>
        </p:nvPicPr>
        <p:blipFill>
          <a:blip r:embed="rId5"/>
          <a:stretch>
            <a:fillRect/>
          </a:stretch>
        </p:blipFill>
        <p:spPr>
          <a:xfrm>
            <a:off x="9913437" y="3234020"/>
            <a:ext cx="332271" cy="483303"/>
          </a:xfrm>
          <a:prstGeom prst="rect">
            <a:avLst/>
          </a:prstGeom>
        </p:spPr>
      </p:pic>
      <p:sp>
        <p:nvSpPr>
          <p:cNvPr id="73" name="lockshield_27"/>
          <p:cNvSpPr/>
          <p:nvPr/>
        </p:nvSpPr>
        <p:spPr>
          <a:xfrm>
            <a:off x="8001000" y="2032635"/>
            <a:ext cx="3867912" cy="2971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product types, 2026 (US$/Units)</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Product Types by Region (US$/Units),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product type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4" name="Picture 33" descr="lock.png"/>
          <p:cNvPicPr>
            <a:picLocks noChangeAspect="1"/>
          </p:cNvPicPr>
          <p:nvPr/>
        </p:nvPicPr>
        <p:blipFill>
          <a:blip r:embed="rId5"/>
          <a:stretch>
            <a:fillRect/>
          </a:stretch>
        </p:blipFill>
        <p:spPr>
          <a:xfrm>
            <a:off x="4349334" y="1099058"/>
            <a:ext cx="152098" cy="221234"/>
          </a:xfrm>
          <a:prstGeom prst="rect">
            <a:avLst/>
          </a:prstGeom>
        </p:spPr>
      </p:pic>
      <p:sp>
        <p:nvSpPr>
          <p:cNvPr id="35" name="TextBox 34"/>
          <p:cNvSpPr txBox="1"/>
          <p:nvPr/>
        </p:nvSpPr>
        <p:spPr>
          <a:xfrm>
            <a:off x="4547284" y="1110615"/>
            <a:ext cx="1209005" cy="217169"/>
          </a:xfrm>
          <a:prstGeom prst="rect">
            <a:avLst/>
          </a:prstGeom>
          <a:noFill/>
        </p:spPr>
        <p:txBody>
          <a:bodyPr wrap="none" lIns="0" rIns="0" tIns="0" bIns="0">
            <a:spAutoFit/>
          </a:bodyPr>
          <a:lstStyle/>
          <a:p>
            <a:r>
              <a:rPr sz="1300" b="1">
                <a:solidFill>
                  <a:srgbClr val="FFFFFF"/>
                </a:solidFill>
                <a:latin typeface="Calibri"/>
              </a:rPr>
              <a:t>/Units in 2026, +</a:t>
            </a:r>
          </a:p>
        </p:txBody>
      </p:sp>
      <p:pic>
        <p:nvPicPr>
          <p:cNvPr id="36" name="Picture 35" descr="lock.png"/>
          <p:cNvPicPr>
            <a:picLocks noChangeAspect="1"/>
          </p:cNvPicPr>
          <p:nvPr/>
        </p:nvPicPr>
        <p:blipFill>
          <a:blip r:embed="rId5"/>
          <a:stretch>
            <a:fillRect/>
          </a:stretch>
        </p:blipFill>
        <p:spPr>
          <a:xfrm>
            <a:off x="5708750" y="1099058"/>
            <a:ext cx="152098" cy="221234"/>
          </a:xfrm>
          <a:prstGeom prst="rect">
            <a:avLst/>
          </a:prstGeom>
        </p:spPr>
      </p:pic>
      <p:sp>
        <p:nvSpPr>
          <p:cNvPr id="37" name="TextBox 36"/>
          <p:cNvSpPr txBox="1"/>
          <p:nvPr/>
        </p:nvSpPr>
        <p:spPr>
          <a:xfrm>
            <a:off x="5906700"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8" name="TextBox 37"/>
          <p:cNvSpPr txBox="1"/>
          <p:nvPr/>
        </p:nvSpPr>
        <p:spPr>
          <a:xfrm>
            <a:off x="411480" y="1831467"/>
            <a:ext cx="4975274" cy="148589"/>
          </a:xfrm>
          <a:prstGeom prst="rect">
            <a:avLst/>
          </a:prstGeom>
          <a:noFill/>
        </p:spPr>
        <p:txBody>
          <a:bodyPr wrap="none" lIns="0" rIns="0" tIns="0" bIns="0">
            <a:spAutoFit/>
          </a:bodyPr>
          <a:lstStyle/>
          <a:p>
            <a:r>
              <a:rPr sz="850" b="0">
                <a:solidFill>
                  <a:srgbClr val="59636E"/>
                </a:solidFill>
                <a:latin typeface="Calibri"/>
              </a:rPr>
              <a:t>Bar spans the lowest to highest product type price in each region, read on the price index axis (Global average =</a:t>
            </a:r>
          </a:p>
        </p:txBody>
      </p:sp>
      <p:pic>
        <p:nvPicPr>
          <p:cNvPr id="39" name="Picture 38" descr="lock.png"/>
          <p:cNvPicPr>
            <a:picLocks noChangeAspect="1"/>
          </p:cNvPicPr>
          <p:nvPr/>
        </p:nvPicPr>
        <p:blipFill>
          <a:blip r:embed="rId5"/>
          <a:stretch>
            <a:fillRect/>
          </a:stretch>
        </p:blipFill>
        <p:spPr>
          <a:xfrm>
            <a:off x="5329294" y="1823910"/>
            <a:ext cx="99449" cy="144653"/>
          </a:xfrm>
          <a:prstGeom prst="rect">
            <a:avLst/>
          </a:prstGeom>
        </p:spPr>
      </p:pic>
      <p:sp>
        <p:nvSpPr>
          <p:cNvPr id="40" name="TextBox 39"/>
          <p:cNvSpPr txBox="1"/>
          <p:nvPr/>
        </p:nvSpPr>
        <p:spPr>
          <a:xfrm>
            <a:off x="5458723"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41" name="TextBox 40"/>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2" name="Picture 41" descr="lock.png"/>
          <p:cNvPicPr>
            <a:picLocks noChangeAspect="1"/>
          </p:cNvPicPr>
          <p:nvPr/>
        </p:nvPicPr>
        <p:blipFill>
          <a:blip r:embed="rId5"/>
          <a:stretch>
            <a:fillRect/>
          </a:stretch>
        </p:blipFill>
        <p:spPr>
          <a:xfrm>
            <a:off x="3531850" y="5521642"/>
            <a:ext cx="122849" cy="178689"/>
          </a:xfrm>
          <a:prstGeom prst="rect">
            <a:avLst/>
          </a:prstGeom>
        </p:spPr>
      </p:pic>
      <p:sp>
        <p:nvSpPr>
          <p:cNvPr id="43" name="TextBox 42"/>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4" name="TextBox 43"/>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5" name="Picture 44" descr="lock.png"/>
          <p:cNvPicPr>
            <a:picLocks noChangeAspect="1"/>
          </p:cNvPicPr>
          <p:nvPr/>
        </p:nvPicPr>
        <p:blipFill>
          <a:blip r:embed="rId5"/>
          <a:stretch>
            <a:fillRect/>
          </a:stretch>
        </p:blipFill>
        <p:spPr>
          <a:xfrm>
            <a:off x="1673060" y="5681662"/>
            <a:ext cx="122849" cy="178689"/>
          </a:xfrm>
          <a:prstGeom prst="rect">
            <a:avLst/>
          </a:prstGeom>
        </p:spPr>
      </p:pic>
      <p:sp>
        <p:nvSpPr>
          <p:cNvPr id="46" name="TextBox 45"/>
          <p:cNvSpPr txBox="1"/>
          <p:nvPr/>
        </p:nvSpPr>
        <p:spPr>
          <a:xfrm>
            <a:off x="1832943" y="5690996"/>
            <a:ext cx="2032173" cy="179069"/>
          </a:xfrm>
          <a:prstGeom prst="rect">
            <a:avLst/>
          </a:prstGeom>
          <a:noFill/>
        </p:spPr>
        <p:txBody>
          <a:bodyPr wrap="none" lIns="0" rIns="0" tIns="0" bIns="0">
            <a:spAutoFit/>
          </a:bodyPr>
          <a:lstStyle/>
          <a:p>
            <a:r>
              <a:rPr sz="1050" b="0">
                <a:solidFill>
                  <a:srgbClr val="1F1F1F"/>
                </a:solidFill>
                <a:latin typeface="Calibri"/>
              </a:rPr>
              <a:t>/Units in South Asia &amp; Pacific to US$</a:t>
            </a:r>
          </a:p>
        </p:txBody>
      </p:sp>
      <p:pic>
        <p:nvPicPr>
          <p:cNvPr id="47" name="Picture 46" descr="lock.png"/>
          <p:cNvPicPr>
            <a:picLocks noChangeAspect="1"/>
          </p:cNvPicPr>
          <p:nvPr/>
        </p:nvPicPr>
        <p:blipFill>
          <a:blip r:embed="rId5"/>
          <a:stretch>
            <a:fillRect/>
          </a:stretch>
        </p:blipFill>
        <p:spPr>
          <a:xfrm>
            <a:off x="793721" y="5841682"/>
            <a:ext cx="122849" cy="178689"/>
          </a:xfrm>
          <a:prstGeom prst="rect">
            <a:avLst/>
          </a:prstGeom>
        </p:spPr>
      </p:pic>
      <p:sp>
        <p:nvSpPr>
          <p:cNvPr id="48" name="TextBox 47"/>
          <p:cNvSpPr txBox="1"/>
          <p:nvPr/>
        </p:nvSpPr>
        <p:spPr>
          <a:xfrm>
            <a:off x="953604" y="5851016"/>
            <a:ext cx="1401886" cy="179069"/>
          </a:xfrm>
          <a:prstGeom prst="rect">
            <a:avLst/>
          </a:prstGeom>
          <a:noFill/>
        </p:spPr>
        <p:txBody>
          <a:bodyPr wrap="none" lIns="0" rIns="0" tIns="0" bIns="0">
            <a:spAutoFit/>
          </a:bodyPr>
          <a:lstStyle/>
          <a:p>
            <a:r>
              <a:rPr sz="1050" b="0">
                <a:solidFill>
                  <a:srgbClr val="1F1F1F"/>
                </a:solidFill>
                <a:latin typeface="Calibri"/>
              </a:rPr>
              <a:t>/Units in North America.</a:t>
            </a:r>
          </a:p>
        </p:txBody>
      </p:sp>
      <p:sp>
        <p:nvSpPr>
          <p:cNvPr id="49" name="TextBox 48"/>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50" name="TextBox 49"/>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1" name="Picture 50" descr="lock.png"/>
          <p:cNvPicPr>
            <a:picLocks noChangeAspect="1"/>
          </p:cNvPicPr>
          <p:nvPr/>
        </p:nvPicPr>
        <p:blipFill>
          <a:blip r:embed="rId5"/>
          <a:stretch>
            <a:fillRect/>
          </a:stretch>
        </p:blipFill>
        <p:spPr>
          <a:xfrm>
            <a:off x="4958179" y="5681662"/>
            <a:ext cx="122849" cy="178689"/>
          </a:xfrm>
          <a:prstGeom prst="rect">
            <a:avLst/>
          </a:prstGeom>
        </p:spPr>
      </p:pic>
      <p:sp>
        <p:nvSpPr>
          <p:cNvPr id="52" name="TextBox 51"/>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3" name="Picture 52" descr="lock.png"/>
          <p:cNvPicPr>
            <a:picLocks noChangeAspect="1"/>
          </p:cNvPicPr>
          <p:nvPr/>
        </p:nvPicPr>
        <p:blipFill>
          <a:blip r:embed="rId5"/>
          <a:stretch>
            <a:fillRect/>
          </a:stretch>
        </p:blipFill>
        <p:spPr>
          <a:xfrm>
            <a:off x="7243541" y="5681662"/>
            <a:ext cx="122849" cy="178689"/>
          </a:xfrm>
          <a:prstGeom prst="rect">
            <a:avLst/>
          </a:prstGeom>
        </p:spPr>
      </p:pic>
      <p:sp>
        <p:nvSpPr>
          <p:cNvPr id="54" name="TextBox 53"/>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5" name="TextBox 54"/>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6" name="TextBox 55"/>
          <p:cNvSpPr txBox="1"/>
          <p:nvPr/>
        </p:nvSpPr>
        <p:spPr>
          <a:xfrm>
            <a:off x="8658225" y="5530976"/>
            <a:ext cx="3084909" cy="179069"/>
          </a:xfrm>
          <a:prstGeom prst="rect">
            <a:avLst/>
          </a:prstGeom>
          <a:noFill/>
        </p:spPr>
        <p:txBody>
          <a:bodyPr wrap="none" lIns="0" rIns="0" tIns="0" bIns="0">
            <a:spAutoFit/>
          </a:bodyPr>
          <a:lstStyle/>
          <a:p>
            <a:r>
              <a:rPr sz="1050" b="0">
                <a:solidFill>
                  <a:srgbClr val="1F1F1F"/>
                </a:solidFill>
                <a:latin typeface="Calibri"/>
              </a:rPr>
              <a:t>Europe shows the widest gap between its cheapest and</a:t>
            </a:r>
          </a:p>
        </p:txBody>
      </p:sp>
      <p:sp>
        <p:nvSpPr>
          <p:cNvPr id="57" name="TextBox 56"/>
          <p:cNvSpPr txBox="1"/>
          <p:nvPr/>
        </p:nvSpPr>
        <p:spPr>
          <a:xfrm>
            <a:off x="8658225" y="5690996"/>
            <a:ext cx="1789695" cy="179069"/>
          </a:xfrm>
          <a:prstGeom prst="rect">
            <a:avLst/>
          </a:prstGeom>
          <a:noFill/>
        </p:spPr>
        <p:txBody>
          <a:bodyPr wrap="none" lIns="0" rIns="0" tIns="0" bIns="0">
            <a:spAutoFit/>
          </a:bodyPr>
          <a:lstStyle/>
          <a:p>
            <a:r>
              <a:rPr sz="1050" b="0">
                <a:solidFill>
                  <a:srgbClr val="1F1F1F"/>
                </a:solidFill>
                <a:latin typeface="Calibri"/>
              </a:rPr>
              <a:t>most expensive product type at</a:t>
            </a:r>
          </a:p>
        </p:txBody>
      </p:sp>
      <p:pic>
        <p:nvPicPr>
          <p:cNvPr id="58" name="Picture 57" descr="lock.png"/>
          <p:cNvPicPr>
            <a:picLocks noChangeAspect="1"/>
          </p:cNvPicPr>
          <p:nvPr/>
        </p:nvPicPr>
        <p:blipFill>
          <a:blip r:embed="rId5"/>
          <a:stretch>
            <a:fillRect/>
          </a:stretch>
        </p:blipFill>
        <p:spPr>
          <a:xfrm>
            <a:off x="10394869" y="5681662"/>
            <a:ext cx="122849" cy="178689"/>
          </a:xfrm>
          <a:prstGeom prst="rect">
            <a:avLst/>
          </a:prstGeom>
        </p:spPr>
      </p:pic>
      <p:sp>
        <p:nvSpPr>
          <p:cNvPr id="59" name="TextBox 58"/>
          <p:cNvSpPr txBox="1"/>
          <p:nvPr/>
        </p:nvSpPr>
        <p:spPr>
          <a:xfrm>
            <a:off x="10554752" y="5690996"/>
            <a:ext cx="946100" cy="179069"/>
          </a:xfrm>
          <a:prstGeom prst="rect">
            <a:avLst/>
          </a:prstGeom>
          <a:noFill/>
        </p:spPr>
        <p:txBody>
          <a:bodyPr wrap="none" lIns="0" rIns="0" tIns="0" bIns="0">
            <a:spAutoFit/>
          </a:bodyPr>
          <a:lstStyle/>
          <a:p>
            <a:r>
              <a:rPr sz="1050" b="0">
                <a:solidFill>
                  <a:srgbClr val="1F1F1F"/>
                </a:solidFill>
                <a:latin typeface="Calibri"/>
              </a:rPr>
              <a:t>, so product mix</a:t>
            </a:r>
          </a:p>
        </p:txBody>
      </p:sp>
      <p:sp>
        <p:nvSpPr>
          <p:cNvPr id="60" name="TextBox 59"/>
          <p:cNvSpPr txBox="1"/>
          <p:nvPr/>
        </p:nvSpPr>
        <p:spPr>
          <a:xfrm>
            <a:off x="8658225" y="5851016"/>
            <a:ext cx="2167867" cy="179069"/>
          </a:xfrm>
          <a:prstGeom prst="rect">
            <a:avLst/>
          </a:prstGeom>
          <a:noFill/>
        </p:spPr>
        <p:txBody>
          <a:bodyPr wrap="none" lIns="0" rIns="0" tIns="0" bIns="0">
            <a:spAutoFit/>
          </a:bodyPr>
          <a:lstStyle/>
          <a:p>
            <a:r>
              <a:rPr sz="1050" b="0">
                <a:solidFill>
                  <a:srgbClr val="1F1F1F"/>
                </a:solidFill>
                <a:latin typeface="Calibri"/>
              </a:rPr>
              <a:t>shifts move its average price the most.</a:t>
            </a:r>
          </a:p>
        </p:txBody>
      </p:sp>
      <p:pic>
        <p:nvPicPr>
          <p:cNvPr id="61" name="Picture 60" descr="lock.png"/>
          <p:cNvPicPr>
            <a:picLocks noChangeAspect="1"/>
          </p:cNvPicPr>
          <p:nvPr/>
        </p:nvPicPr>
        <p:blipFill>
          <a:blip r:embed="rId5"/>
          <a:stretch>
            <a:fillRect/>
          </a:stretch>
        </p:blipFill>
        <p:spPr>
          <a:xfrm>
            <a:off x="3952821" y="3129375"/>
            <a:ext cx="482444" cy="701737"/>
          </a:xfrm>
          <a:prstGeom prst="rect">
            <a:avLst/>
          </a:prstGeom>
        </p:spPr>
      </p:pic>
      <p:sp>
        <p:nvSpPr>
          <p:cNvPr id="62"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(US$/Units).</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1,733</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2,943</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4,153</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5,362</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6,572</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7,782</a:t>
            </a:r>
          </a:p>
        </p:txBody>
      </p:sp>
      <p:sp>
        <p:nvSpPr>
          <p:cNvPr id="25" name="TextBox 24"/>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5054863" y="2100912"/>
            <a:ext cx="1872194"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95157"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3432210" y="2824823"/>
            <a:ext cx="131623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862558"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Europe</a:t>
            </a:r>
          </a:p>
        </p:txBody>
      </p:sp>
      <p:sp>
        <p:nvSpPr>
          <p:cNvPr id="32" name="Rectangle 31"/>
          <p:cNvSpPr/>
          <p:nvPr/>
        </p:nvSpPr>
        <p:spPr>
          <a:xfrm>
            <a:off x="4471534" y="3548733"/>
            <a:ext cx="167570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35570"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5" name="Rectangle 34"/>
          <p:cNvSpPr/>
          <p:nvPr/>
        </p:nvSpPr>
        <p:spPr>
          <a:xfrm>
            <a:off x="2424800" y="4272643"/>
            <a:ext cx="95242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720432"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840816"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299771"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1" name="Rectangle 40"/>
          <p:cNvSpPr/>
          <p:nvPr/>
        </p:nvSpPr>
        <p:spPr>
          <a:xfrm>
            <a:off x="3221298" y="5720463"/>
            <a:ext cx="123398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631106"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8048625" y="1736673"/>
            <a:ext cx="3848100" cy="194310"/>
          </a:xfrm>
          <a:prstGeom prst="rect">
            <a:avLst/>
          </a:prstGeom>
          <a:noFill/>
        </p:spPr>
        <p:txBody>
          <a:bodyPr wrap="none" lIns="0" rIns="0" tIns="0" bIns="0">
            <a:spAutoFit/>
          </a:bodyPr>
          <a:lstStyle/>
          <a:p>
            <a:r>
              <a:rPr sz="1150" b="0">
                <a:solidFill>
                  <a:srgbClr val="2E2E2E"/>
                </a:solidFill>
                <a:latin typeface="Calibri"/>
              </a:rPr>
              <a:t>Chemical ceramide sunscreen segment is expected to command</a:t>
            </a:r>
          </a:p>
        </p:txBody>
      </p:sp>
      <p:sp>
        <p:nvSpPr>
          <p:cNvPr id="54" name="TextBox 53"/>
          <p:cNvSpPr txBox="1"/>
          <p:nvPr/>
        </p:nvSpPr>
        <p:spPr>
          <a:xfrm>
            <a:off x="8048625" y="1911934"/>
            <a:ext cx="1998526" cy="194310"/>
          </a:xfrm>
          <a:prstGeom prst="rect">
            <a:avLst/>
          </a:prstGeom>
          <a:noFill/>
        </p:spPr>
        <p:txBody>
          <a:bodyPr wrap="none" lIns="0" rIns="0" tIns="0" bIns="0">
            <a:spAutoFit/>
          </a:bodyPr>
          <a:lstStyle/>
          <a:p>
            <a:r>
              <a:rPr sz="1150" b="0">
                <a:solidFill>
                  <a:srgbClr val="2E2E2E"/>
                </a:solidFill>
                <a:latin typeface="Calibri"/>
              </a:rPr>
              <a:t>the highest average price of US$</a:t>
            </a:r>
          </a:p>
        </p:txBody>
      </p:sp>
      <p:pic>
        <p:nvPicPr>
          <p:cNvPr id="55" name="Picture 54" descr="lock.png"/>
          <p:cNvPicPr>
            <a:picLocks noChangeAspect="1"/>
          </p:cNvPicPr>
          <p:nvPr/>
        </p:nvPicPr>
        <p:blipFill>
          <a:blip r:embed="rId4"/>
          <a:stretch>
            <a:fillRect/>
          </a:stretch>
        </p:blipFill>
        <p:spPr>
          <a:xfrm>
            <a:off x="9996305" y="1901710"/>
            <a:ext cx="134549" cy="195707"/>
          </a:xfrm>
          <a:prstGeom prst="rect">
            <a:avLst/>
          </a:prstGeom>
        </p:spPr>
      </p:pic>
      <p:sp>
        <p:nvSpPr>
          <p:cNvPr id="56" name="TextBox 55"/>
          <p:cNvSpPr txBox="1"/>
          <p:nvPr/>
        </p:nvSpPr>
        <p:spPr>
          <a:xfrm>
            <a:off x="10171414" y="1911934"/>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57" name="TextBox 56"/>
          <p:cNvSpPr txBox="1"/>
          <p:nvPr/>
        </p:nvSpPr>
        <p:spPr>
          <a:xfrm>
            <a:off x="8048625" y="2087194"/>
            <a:ext cx="3335225" cy="194310"/>
          </a:xfrm>
          <a:prstGeom prst="rect">
            <a:avLst/>
          </a:prstGeom>
          <a:noFill/>
        </p:spPr>
        <p:txBody>
          <a:bodyPr wrap="none" lIns="0" rIns="0" tIns="0" bIns="0">
            <a:spAutoFit/>
          </a:bodyPr>
          <a:lstStyle/>
          <a:p>
            <a:r>
              <a:rPr sz="1150" b="0">
                <a:solidFill>
                  <a:srgbClr val="2E2E2E"/>
                </a:solidFill>
                <a:latin typeface="Calibri"/>
              </a:rPr>
              <a:t>selling price of ceramide sunscreen is estimated at US$</a:t>
            </a:r>
          </a:p>
        </p:txBody>
      </p:sp>
      <p:pic>
        <p:nvPicPr>
          <p:cNvPr id="58" name="Picture 57" descr="lock.png"/>
          <p:cNvPicPr>
            <a:picLocks noChangeAspect="1"/>
          </p:cNvPicPr>
          <p:nvPr/>
        </p:nvPicPr>
        <p:blipFill>
          <a:blip r:embed="rId4"/>
          <a:stretch>
            <a:fillRect/>
          </a:stretch>
        </p:blipFill>
        <p:spPr>
          <a:xfrm>
            <a:off x="11333004" y="2076970"/>
            <a:ext cx="134549" cy="195707"/>
          </a:xfrm>
          <a:prstGeom prst="rect">
            <a:avLst/>
          </a:prstGeom>
        </p:spPr>
      </p:pic>
      <p:sp>
        <p:nvSpPr>
          <p:cNvPr id="59" name="TextBox 58"/>
          <p:cNvSpPr txBox="1"/>
          <p:nvPr/>
        </p:nvSpPr>
        <p:spPr>
          <a:xfrm>
            <a:off x="11508114" y="2087194"/>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60" name="TextBox 59"/>
          <p:cNvSpPr txBox="1"/>
          <p:nvPr/>
        </p:nvSpPr>
        <p:spPr>
          <a:xfrm>
            <a:off x="8048625" y="2262454"/>
            <a:ext cx="2904492" cy="194310"/>
          </a:xfrm>
          <a:prstGeom prst="rect">
            <a:avLst/>
          </a:prstGeom>
          <a:noFill/>
        </p:spPr>
        <p:txBody>
          <a:bodyPr wrap="none" lIns="0" rIns="0" tIns="0" bIns="0">
            <a:spAutoFit/>
          </a:bodyPr>
          <a:lstStyle/>
          <a:p>
            <a:r>
              <a:rPr sz="1150" b="0">
                <a:solidFill>
                  <a:srgbClr val="2E2E2E"/>
                </a:solidFill>
                <a:latin typeface="Calibri"/>
              </a:rPr>
              <a:t>Unit in 2025 and is projected to increase to US$</a:t>
            </a:r>
          </a:p>
        </p:txBody>
      </p:sp>
      <p:pic>
        <p:nvPicPr>
          <p:cNvPr id="61" name="Picture 60" descr="lock.png"/>
          <p:cNvPicPr>
            <a:picLocks noChangeAspect="1"/>
          </p:cNvPicPr>
          <p:nvPr/>
        </p:nvPicPr>
        <p:blipFill>
          <a:blip r:embed="rId4"/>
          <a:stretch>
            <a:fillRect/>
          </a:stretch>
        </p:blipFill>
        <p:spPr>
          <a:xfrm>
            <a:off x="10902271" y="2252230"/>
            <a:ext cx="134549" cy="195707"/>
          </a:xfrm>
          <a:prstGeom prst="rect">
            <a:avLst/>
          </a:prstGeom>
        </p:spPr>
      </p:pic>
      <p:sp>
        <p:nvSpPr>
          <p:cNvPr id="62" name="TextBox 61"/>
          <p:cNvSpPr txBox="1"/>
          <p:nvPr/>
        </p:nvSpPr>
        <p:spPr>
          <a:xfrm>
            <a:off x="11077380" y="2262454"/>
            <a:ext cx="739130" cy="194310"/>
          </a:xfrm>
          <a:prstGeom prst="rect">
            <a:avLst/>
          </a:prstGeom>
          <a:noFill/>
        </p:spPr>
        <p:txBody>
          <a:bodyPr wrap="none" lIns="0" rIns="0" tIns="0" bIns="0">
            <a:spAutoFit/>
          </a:bodyPr>
          <a:lstStyle/>
          <a:p>
            <a:r>
              <a:rPr sz="1150" b="0">
                <a:solidFill>
                  <a:srgbClr val="2E2E2E"/>
                </a:solidFill>
                <a:latin typeface="Calibri"/>
              </a:rPr>
              <a:t>per Unit by</a:t>
            </a:r>
          </a:p>
        </p:txBody>
      </p:sp>
      <p:sp>
        <p:nvSpPr>
          <p:cNvPr id="63" name="TextBox 62"/>
          <p:cNvSpPr txBox="1"/>
          <p:nvPr/>
        </p:nvSpPr>
        <p:spPr>
          <a:xfrm>
            <a:off x="8048625" y="2437714"/>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64" name="TextBox 63"/>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5" name="TextBox 64"/>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6" name="TextBox 65"/>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7" name="TextBox 66"/>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68" name="TextBox 67"/>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69" name="TextBox 68"/>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70" name="TextBox 69"/>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Ceramide Sunscreen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1" name="Rounded Rectangle 10"/>
          <p:cNvSpPr/>
          <p:nvPr/>
        </p:nvSpPr>
        <p:spPr>
          <a:xfrm>
            <a:off x="142875" y="1354081"/>
            <a:ext cx="702945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3" name="Freeform 12"/>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0" name="TextBox 39"/>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1" name="TextBox 40"/>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2" name="TextBox 41"/>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3" name="TextBox 42"/>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4" name="TextBox 43"/>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Rounded Rectangle 53"/>
          <p:cNvSpPr/>
          <p:nvPr/>
        </p:nvSpPr>
        <p:spPr>
          <a:xfrm>
            <a:off x="7248525" y="1354081"/>
            <a:ext cx="480060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6" name="Rectangle 55"/>
          <p:cNvSpPr/>
          <p:nvPr/>
        </p:nvSpPr>
        <p:spPr>
          <a:xfrm>
            <a:off x="7381875" y="1677931"/>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Ceramide Sunscreen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Ceramide Sunscreen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8" name="Rounded Rectangle 57"/>
          <p:cNvSpPr/>
          <p:nvPr/>
        </p:nvSpPr>
        <p:spPr>
          <a:xfrm>
            <a:off x="7248525" y="4943046"/>
            <a:ext cx="480060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0" name="Rectangle 59"/>
          <p:cNvSpPr/>
          <p:nvPr/>
        </p:nvSpPr>
        <p:spPr>
          <a:xfrm>
            <a:off x="7381875" y="5266896"/>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4" name="Picture 63" descr="lock.png"/>
          <p:cNvPicPr>
            <a:picLocks noChangeAspect="1"/>
          </p:cNvPicPr>
          <p:nvPr/>
        </p:nvPicPr>
        <p:blipFill>
          <a:blip r:embed="rId4"/>
          <a:stretch>
            <a:fillRect/>
          </a:stretch>
        </p:blipFill>
        <p:spPr>
          <a:xfrm>
            <a:off x="3896652" y="1889132"/>
            <a:ext cx="128699" cy="187198"/>
          </a:xfrm>
          <a:prstGeom prst="rect">
            <a:avLst/>
          </a:prstGeom>
        </p:spPr>
      </p:pic>
      <p:sp>
        <p:nvSpPr>
          <p:cNvPr id="65" name="TextBox 64"/>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6" name="Picture 65" descr="lock.png"/>
          <p:cNvPicPr>
            <a:picLocks noChangeAspect="1"/>
          </p:cNvPicPr>
          <p:nvPr/>
        </p:nvPicPr>
        <p:blipFill>
          <a:blip r:embed="rId4"/>
          <a:stretch>
            <a:fillRect/>
          </a:stretch>
        </p:blipFill>
        <p:spPr>
          <a:xfrm>
            <a:off x="5370988" y="2315626"/>
            <a:ext cx="92663" cy="134782"/>
          </a:xfrm>
          <a:prstGeom prst="rect">
            <a:avLst/>
          </a:prstGeom>
        </p:spPr>
      </p:pic>
      <p:sp>
        <p:nvSpPr>
          <p:cNvPr id="67" name="TextBox 66"/>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8" name="Picture 67" descr="lock.png"/>
          <p:cNvPicPr>
            <a:picLocks noChangeAspect="1"/>
          </p:cNvPicPr>
          <p:nvPr/>
        </p:nvPicPr>
        <p:blipFill>
          <a:blip r:embed="rId4"/>
          <a:stretch>
            <a:fillRect/>
          </a:stretch>
        </p:blipFill>
        <p:spPr>
          <a:xfrm>
            <a:off x="6125111" y="3363591"/>
            <a:ext cx="92663" cy="134782"/>
          </a:xfrm>
          <a:prstGeom prst="rect">
            <a:avLst/>
          </a:prstGeom>
        </p:spPr>
      </p:pic>
      <p:sp>
        <p:nvSpPr>
          <p:cNvPr id="69" name="TextBox 68"/>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0" name="Picture 69" descr="lock.png"/>
          <p:cNvPicPr>
            <a:picLocks noChangeAspect="1"/>
          </p:cNvPicPr>
          <p:nvPr/>
        </p:nvPicPr>
        <p:blipFill>
          <a:blip r:embed="rId4"/>
          <a:stretch>
            <a:fillRect/>
          </a:stretch>
        </p:blipFill>
        <p:spPr>
          <a:xfrm>
            <a:off x="6130716" y="4655202"/>
            <a:ext cx="97811" cy="142270"/>
          </a:xfrm>
          <a:prstGeom prst="rect">
            <a:avLst/>
          </a:prstGeom>
        </p:spPr>
      </p:pic>
      <p:sp>
        <p:nvSpPr>
          <p:cNvPr id="71" name="TextBox 70"/>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2" name="Picture 71" descr="lock.png"/>
          <p:cNvPicPr>
            <a:picLocks noChangeAspect="1"/>
          </p:cNvPicPr>
          <p:nvPr/>
        </p:nvPicPr>
        <p:blipFill>
          <a:blip r:embed="rId4"/>
          <a:stretch>
            <a:fillRect/>
          </a:stretch>
        </p:blipFill>
        <p:spPr>
          <a:xfrm>
            <a:off x="4837988" y="5767261"/>
            <a:ext cx="92663" cy="134782"/>
          </a:xfrm>
          <a:prstGeom prst="rect">
            <a:avLst/>
          </a:prstGeom>
        </p:spPr>
      </p:pic>
      <p:sp>
        <p:nvSpPr>
          <p:cNvPr id="73" name="TextBox 72"/>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4" name="Picture 73" descr="lock.png"/>
          <p:cNvPicPr>
            <a:picLocks noChangeAspect="1"/>
          </p:cNvPicPr>
          <p:nvPr/>
        </p:nvPicPr>
        <p:blipFill>
          <a:blip r:embed="rId4"/>
          <a:stretch>
            <a:fillRect/>
          </a:stretch>
        </p:blipFill>
        <p:spPr>
          <a:xfrm>
            <a:off x="4119536" y="6103453"/>
            <a:ext cx="97811" cy="142270"/>
          </a:xfrm>
          <a:prstGeom prst="rect">
            <a:avLst/>
          </a:prstGeom>
        </p:spPr>
      </p:pic>
      <p:sp>
        <p:nvSpPr>
          <p:cNvPr id="75" name="TextBox 74"/>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6" name="TextBox 75"/>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7" name="Picture 76" descr="lock.png"/>
          <p:cNvPicPr>
            <a:picLocks noChangeAspect="1"/>
          </p:cNvPicPr>
          <p:nvPr/>
        </p:nvPicPr>
        <p:blipFill>
          <a:blip r:embed="rId4"/>
          <a:stretch>
            <a:fillRect/>
          </a:stretch>
        </p:blipFill>
        <p:spPr>
          <a:xfrm>
            <a:off x="2497177" y="5767261"/>
            <a:ext cx="92663" cy="134782"/>
          </a:xfrm>
          <a:prstGeom prst="rect">
            <a:avLst/>
          </a:prstGeom>
        </p:spPr>
      </p:pic>
      <p:sp>
        <p:nvSpPr>
          <p:cNvPr id="78" name="TextBox 77"/>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9" name="Picture 78" descr="lock.png"/>
          <p:cNvPicPr>
            <a:picLocks noChangeAspect="1"/>
          </p:cNvPicPr>
          <p:nvPr/>
        </p:nvPicPr>
        <p:blipFill>
          <a:blip r:embed="rId4"/>
          <a:stretch>
            <a:fillRect/>
          </a:stretch>
        </p:blipFill>
        <p:spPr>
          <a:xfrm>
            <a:off x="1612685" y="4719297"/>
            <a:ext cx="92663" cy="134782"/>
          </a:xfrm>
          <a:prstGeom prst="rect">
            <a:avLst/>
          </a:prstGeom>
        </p:spPr>
      </p:pic>
      <p:sp>
        <p:nvSpPr>
          <p:cNvPr id="80" name="TextBox 79"/>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1" name="Picture 80" descr="lock.png"/>
          <p:cNvPicPr>
            <a:picLocks noChangeAspect="1"/>
          </p:cNvPicPr>
          <p:nvPr/>
        </p:nvPicPr>
        <p:blipFill>
          <a:blip r:embed="rId4"/>
          <a:stretch>
            <a:fillRect/>
          </a:stretch>
        </p:blipFill>
        <p:spPr>
          <a:xfrm>
            <a:off x="2155213" y="3363591"/>
            <a:ext cx="92663" cy="134782"/>
          </a:xfrm>
          <a:prstGeom prst="rect">
            <a:avLst/>
          </a:prstGeom>
        </p:spPr>
      </p:pic>
      <p:sp>
        <p:nvSpPr>
          <p:cNvPr id="82" name="TextBox 81"/>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3" name="Picture 82" descr="lock.png"/>
          <p:cNvPicPr>
            <a:picLocks noChangeAspect="1"/>
          </p:cNvPicPr>
          <p:nvPr/>
        </p:nvPicPr>
        <p:blipFill>
          <a:blip r:embed="rId4"/>
          <a:stretch>
            <a:fillRect/>
          </a:stretch>
        </p:blipFill>
        <p:spPr>
          <a:xfrm>
            <a:off x="2374076" y="2375977"/>
            <a:ext cx="92663" cy="134782"/>
          </a:xfrm>
          <a:prstGeom prst="rect">
            <a:avLst/>
          </a:prstGeom>
        </p:spPr>
      </p:pic>
      <p:sp>
        <p:nvSpPr>
          <p:cNvPr id="84" name="TextBox 83"/>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5" name="Picture 84" descr="lock.png"/>
          <p:cNvPicPr>
            <a:picLocks noChangeAspect="1"/>
          </p:cNvPicPr>
          <p:nvPr/>
        </p:nvPicPr>
        <p:blipFill>
          <a:blip r:embed="rId4"/>
          <a:stretch>
            <a:fillRect/>
          </a:stretch>
        </p:blipFill>
        <p:spPr>
          <a:xfrm>
            <a:off x="8070793" y="5352366"/>
            <a:ext cx="128699" cy="187198"/>
          </a:xfrm>
          <a:prstGeom prst="rect">
            <a:avLst/>
          </a:prstGeom>
        </p:spPr>
      </p:pic>
      <p:sp>
        <p:nvSpPr>
          <p:cNvPr id="86" name="TextBox 85"/>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7" name="TextBox 86"/>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8" name="Picture 87" descr="lock.png"/>
          <p:cNvPicPr>
            <a:picLocks noChangeAspect="1"/>
          </p:cNvPicPr>
          <p:nvPr/>
        </p:nvPicPr>
        <p:blipFill>
          <a:blip r:embed="rId4"/>
          <a:stretch>
            <a:fillRect/>
          </a:stretch>
        </p:blipFill>
        <p:spPr>
          <a:xfrm>
            <a:off x="9181298" y="5570298"/>
            <a:ext cx="128699" cy="187198"/>
          </a:xfrm>
          <a:prstGeom prst="rect">
            <a:avLst/>
          </a:prstGeom>
        </p:spPr>
      </p:pic>
      <p:sp>
        <p:nvSpPr>
          <p:cNvPr id="89" name="TextBox 88"/>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0" name="TextBox 89"/>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1" name="Picture 90" descr="lock.png"/>
          <p:cNvPicPr>
            <a:picLocks noChangeAspect="1"/>
          </p:cNvPicPr>
          <p:nvPr/>
        </p:nvPicPr>
        <p:blipFill>
          <a:blip r:embed="rId4"/>
          <a:stretch>
            <a:fillRect/>
          </a:stretch>
        </p:blipFill>
        <p:spPr>
          <a:xfrm>
            <a:off x="8808310" y="5788230"/>
            <a:ext cx="128699" cy="187198"/>
          </a:xfrm>
          <a:prstGeom prst="rect">
            <a:avLst/>
          </a:prstGeom>
        </p:spPr>
      </p:pic>
      <p:sp>
        <p:nvSpPr>
          <p:cNvPr id="92" name="TextBox 91"/>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3" name="TextBox 92"/>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4" name="Picture 93" descr="lock.png"/>
          <p:cNvPicPr>
            <a:picLocks noChangeAspect="1"/>
          </p:cNvPicPr>
          <p:nvPr/>
        </p:nvPicPr>
        <p:blipFill>
          <a:blip r:embed="rId4"/>
          <a:stretch>
            <a:fillRect/>
          </a:stretch>
        </p:blipFill>
        <p:spPr>
          <a:xfrm>
            <a:off x="8855241" y="6006162"/>
            <a:ext cx="128699" cy="187198"/>
          </a:xfrm>
          <a:prstGeom prst="rect">
            <a:avLst/>
          </a:prstGeom>
        </p:spPr>
      </p:pic>
      <p:sp>
        <p:nvSpPr>
          <p:cNvPr id="95" name="TextBox 94"/>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6" name="TextBox 95"/>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7" name="Picture 96" descr="lock.png"/>
          <p:cNvPicPr>
            <a:picLocks noChangeAspect="1"/>
          </p:cNvPicPr>
          <p:nvPr/>
        </p:nvPicPr>
        <p:blipFill>
          <a:blip r:embed="rId4"/>
          <a:stretch>
            <a:fillRect/>
          </a:stretch>
        </p:blipFill>
        <p:spPr>
          <a:xfrm>
            <a:off x="8930002" y="6224094"/>
            <a:ext cx="128699" cy="187198"/>
          </a:xfrm>
          <a:prstGeom prst="rect">
            <a:avLst/>
          </a:prstGeom>
        </p:spPr>
      </p:pic>
      <p:sp>
        <p:nvSpPr>
          <p:cNvPr id="98" name="TextBox 97"/>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(US$/Units)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3" name="Table 12"/>
          <p:cNvGraphicFramePr>
            <a:graphicFrameLocks noGrp="1"/>
          </p:cNvGraphicFramePr>
          <p:nvPr/>
        </p:nvGraphicFramePr>
        <p:xfrm>
          <a:off x="152400" y="1574749"/>
          <a:ext cx="5886452" cy="2271330"/>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7" name="Table 16"/>
          <p:cNvGraphicFramePr>
            <a:graphicFrameLocks noGrp="1"/>
          </p:cNvGraphicFramePr>
          <p:nvPr/>
        </p:nvGraphicFramePr>
        <p:xfrm>
          <a:off x="6210300" y="1574749"/>
          <a:ext cx="5829299" cy="2271330"/>
        </p:xfrm>
        <a:graphic>
          <a:graphicData uri="http://schemas.openxmlformats.org/drawingml/2006/table">
            <a:tbl>
              <a:tblPr>
                <a:tableStyleId>{5C22544A-7EE6-4342-B048-85BDC9FD1C3A}</a:tableStyleId>
              </a:tblPr>
              <a:tblGrid>
                <a:gridCol w="2038759"/>
                <a:gridCol w="947635"/>
                <a:gridCol w="947635"/>
                <a:gridCol w="947635"/>
                <a:gridCol w="947635"/>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399"/>
          </a:xfrm>
          <a:prstGeom prst="rect">
            <a:avLst/>
          </a:prstGeom>
        </p:spPr>
      </p:pic>
      <p:pic>
        <p:nvPicPr>
          <p:cNvPr id="25" name="Picture 24"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product type type and region (US$/Units).</a:t>
            </a:r>
          </a:p>
        </p:txBody>
      </p:sp>
      <p:sp>
        <p:nvSpPr>
          <p:cNvPr id="11" name="Rounded Rectangle 10"/>
          <p:cNvSpPr/>
          <p:nvPr/>
        </p:nvSpPr>
        <p:spPr>
          <a:xfrm>
            <a:off x="142875" y="1314450"/>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Product Type (US$/Units)</a:t>
            </a:r>
          </a:p>
        </p:txBody>
      </p:sp>
      <p:graphicFrame>
        <p:nvGraphicFramePr>
          <p:cNvPr id="13" name="Table 12"/>
          <p:cNvGraphicFramePr>
            <a:graphicFrameLocks noGrp="1"/>
          </p:cNvGraphicFramePr>
          <p:nvPr/>
        </p:nvGraphicFramePr>
        <p:xfrm>
          <a:off x="152400" y="1571625"/>
          <a:ext cx="11887200" cy="2409822"/>
        </p:xfrm>
        <a:graphic>
          <a:graphicData uri="http://schemas.openxmlformats.org/drawingml/2006/table">
            <a:tbl>
              <a:tblPr>
                <a:tableStyleId>{5C22544A-7EE6-4342-B048-85BDC9FD1C3A}</a:tableStyleId>
              </a:tblPr>
              <a:tblGrid>
                <a:gridCol w="1762708"/>
                <a:gridCol w="2531123"/>
                <a:gridCol w="2531123"/>
                <a:gridCol w="2531123"/>
                <a:gridCol w="2531123"/>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Mineral Ceramide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Chemical Ceramide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Hybrid Ceramide Sunscreen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360616">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0616">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0616">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990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333875"/>
            <a:ext cx="11906250" cy="2209800"/>
          </a:xfrm>
          <a:prstGeom prst="roundRect">
            <a:avLst>
              <a:gd name="adj" fmla="val 34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419600"/>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6577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743450"/>
            <a:ext cx="11639550" cy="17240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790664" y="2632899"/>
            <a:ext cx="366712" cy="533400"/>
          </a:xfrm>
          <a:prstGeom prst="rect">
            <a:avLst/>
          </a:prstGeom>
        </p:spPr>
      </p:pic>
      <p:sp>
        <p:nvSpPr>
          <p:cNvPr id="21" name="TextBox 20"/>
          <p:cNvSpPr txBox="1"/>
          <p:nvPr/>
        </p:nvSpPr>
        <p:spPr>
          <a:xfrm>
            <a:off x="276225" y="4752975"/>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742751"/>
            <a:ext cx="134549" cy="195707"/>
          </a:xfrm>
          <a:prstGeom prst="rect">
            <a:avLst/>
          </a:prstGeom>
        </p:spPr>
      </p:pic>
      <p:sp>
        <p:nvSpPr>
          <p:cNvPr id="23" name="TextBox 22"/>
          <p:cNvSpPr txBox="1"/>
          <p:nvPr/>
        </p:nvSpPr>
        <p:spPr>
          <a:xfrm>
            <a:off x="5042176" y="4752975"/>
            <a:ext cx="3704629" cy="194310"/>
          </a:xfrm>
          <a:prstGeom prst="rect">
            <a:avLst/>
          </a:prstGeom>
          <a:noFill/>
        </p:spPr>
        <p:txBody>
          <a:bodyPr wrap="none" lIns="0" rIns="0" tIns="0" bIns="0">
            <a:spAutoFit/>
          </a:bodyPr>
          <a:lstStyle/>
          <a:p>
            <a:r>
              <a:rPr sz="1150" b="0">
                <a:solidFill>
                  <a:srgbClr val="2E2E2E"/>
                </a:solidFill>
                <a:latin typeface="Calibri"/>
              </a:rPr>
              <a:t>US$/Units) and 'South Asia &amp; Pacific' the most competitive (~</a:t>
            </a:r>
          </a:p>
        </p:txBody>
      </p:sp>
      <p:pic>
        <p:nvPicPr>
          <p:cNvPr id="24" name="Picture 23" descr="lock.png"/>
          <p:cNvPicPr>
            <a:picLocks noChangeAspect="1"/>
          </p:cNvPicPr>
          <p:nvPr/>
        </p:nvPicPr>
        <p:blipFill>
          <a:blip r:embed="rId4"/>
          <a:stretch>
            <a:fillRect/>
          </a:stretch>
        </p:blipFill>
        <p:spPr>
          <a:xfrm>
            <a:off x="8695960" y="4742751"/>
            <a:ext cx="134549" cy="195707"/>
          </a:xfrm>
          <a:prstGeom prst="rect">
            <a:avLst/>
          </a:prstGeom>
        </p:spPr>
      </p:pic>
      <p:sp>
        <p:nvSpPr>
          <p:cNvPr id="25" name="TextBox 24"/>
          <p:cNvSpPr txBox="1"/>
          <p:nvPr/>
        </p:nvSpPr>
        <p:spPr>
          <a:xfrm>
            <a:off x="8871069" y="4752975"/>
            <a:ext cx="759097" cy="194310"/>
          </a:xfrm>
          <a:prstGeom prst="rect">
            <a:avLst/>
          </a:prstGeom>
          <a:noFill/>
        </p:spPr>
        <p:txBody>
          <a:bodyPr wrap="none" lIns="0" rIns="0" tIns="0" bIns="0">
            <a:spAutoFit/>
          </a:bodyPr>
          <a:lstStyle/>
          <a:p>
            <a:r>
              <a:rPr sz="1150" b="0">
                <a:solidFill>
                  <a:srgbClr val="2E2E2E"/>
                </a:solidFill>
                <a:latin typeface="Calibri"/>
              </a:rPr>
              <a:t>US$/Units).</a:t>
            </a:r>
          </a:p>
        </p:txBody>
      </p:sp>
      <p:sp>
        <p:nvSpPr>
          <p:cNvPr id="26" name="TextBox 25"/>
          <p:cNvSpPr txBox="1"/>
          <p:nvPr/>
        </p:nvSpPr>
        <p:spPr>
          <a:xfrm>
            <a:off x="276225" y="4980813"/>
            <a:ext cx="5929610" cy="194310"/>
          </a:xfrm>
          <a:prstGeom prst="rect">
            <a:avLst/>
          </a:prstGeom>
          <a:noFill/>
        </p:spPr>
        <p:txBody>
          <a:bodyPr wrap="none" lIns="0" rIns="0" tIns="0" bIns="0">
            <a:spAutoFit/>
          </a:bodyPr>
          <a:lstStyle/>
          <a:p>
            <a:r>
              <a:rPr sz="1150" b="0">
                <a:solidFill>
                  <a:srgbClr val="2E2E2E"/>
                </a:solidFill>
                <a:latin typeface="Calibri"/>
              </a:rPr>
              <a:t>▪ Price ranges are benchmarked per product type type at 2026, derived as Value ÷ Volume with a ±</a:t>
            </a:r>
          </a:p>
        </p:txBody>
      </p:sp>
      <p:pic>
        <p:nvPicPr>
          <p:cNvPr id="27" name="Picture 26" descr="lock.png"/>
          <p:cNvPicPr>
            <a:picLocks noChangeAspect="1"/>
          </p:cNvPicPr>
          <p:nvPr/>
        </p:nvPicPr>
        <p:blipFill>
          <a:blip r:embed="rId4"/>
          <a:stretch>
            <a:fillRect/>
          </a:stretch>
        </p:blipFill>
        <p:spPr>
          <a:xfrm>
            <a:off x="6154989" y="4970589"/>
            <a:ext cx="134549" cy="195707"/>
          </a:xfrm>
          <a:prstGeom prst="rect">
            <a:avLst/>
          </a:prstGeom>
        </p:spPr>
      </p:pic>
      <p:sp>
        <p:nvSpPr>
          <p:cNvPr id="28" name="TextBox 27"/>
          <p:cNvSpPr txBox="1"/>
          <p:nvPr/>
        </p:nvSpPr>
        <p:spPr>
          <a:xfrm>
            <a:off x="6330098" y="4980813"/>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9" name="TextBox 28"/>
          <p:cNvSpPr txBox="1"/>
          <p:nvPr/>
        </p:nvSpPr>
        <p:spPr>
          <a:xfrm>
            <a:off x="276225" y="5208650"/>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198427"/>
            <a:ext cx="134549" cy="195707"/>
          </a:xfrm>
          <a:prstGeom prst="rect">
            <a:avLst/>
          </a:prstGeom>
        </p:spPr>
      </p:pic>
      <p:sp>
        <p:nvSpPr>
          <p:cNvPr id="31" name="TextBox 30"/>
          <p:cNvSpPr txBox="1"/>
          <p:nvPr/>
        </p:nvSpPr>
        <p:spPr>
          <a:xfrm>
            <a:off x="2541355" y="5208650"/>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436488"/>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Price Forecast &amp; Dynamics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product type type and the structural factors shaping it (US$/Units).</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(US$/Units)</a:t>
            </a:r>
          </a:p>
        </p:txBody>
      </p:sp>
      <p:graphicFrame>
        <p:nvGraphicFramePr>
          <p:cNvPr id="13" name="Table 12"/>
          <p:cNvGraphicFramePr>
            <a:graphicFrameLocks noGrp="1"/>
          </p:cNvGraphicFramePr>
          <p:nvPr/>
        </p:nvGraphicFramePr>
        <p:xfrm>
          <a:off x="152400" y="1574749"/>
          <a:ext cx="11887199" cy="1504674"/>
        </p:xfrm>
        <a:graphic>
          <a:graphicData uri="http://schemas.openxmlformats.org/drawingml/2006/table">
            <a:tbl>
              <a:tblPr>
                <a:tableStyleId>{5C22544A-7EE6-4342-B048-85BDC9FD1C3A}</a:tableStyleId>
              </a:tblPr>
              <a:tblGrid>
                <a:gridCol w="4040243"/>
                <a:gridCol w="1307826"/>
                <a:gridCol w="1307826"/>
                <a:gridCol w="1307826"/>
                <a:gridCol w="1307826"/>
                <a:gridCol w="1307826"/>
                <a:gridCol w="1307826"/>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419516">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19516">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19516">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7929431" y="2183449"/>
            <a:ext cx="366712" cy="533400"/>
          </a:xfrm>
          <a:prstGeom prst="rect">
            <a:avLst/>
          </a:prstGeom>
        </p:spPr>
      </p:pic>
      <p:sp>
        <p:nvSpPr>
          <p:cNvPr id="25" name="TextBox 24"/>
          <p:cNvSpPr txBox="1"/>
          <p:nvPr/>
        </p:nvSpPr>
        <p:spPr>
          <a:xfrm>
            <a:off x="6334125" y="3817595"/>
            <a:ext cx="3340605" cy="194310"/>
          </a:xfrm>
          <a:prstGeom prst="rect">
            <a:avLst/>
          </a:prstGeom>
          <a:noFill/>
        </p:spPr>
        <p:txBody>
          <a:bodyPr wrap="none" lIns="0" rIns="0" tIns="0" bIns="0">
            <a:spAutoFit/>
          </a:bodyPr>
          <a:lstStyle/>
          <a:p>
            <a:r>
              <a:rPr sz="1150" b="0">
                <a:solidFill>
                  <a:srgbClr val="2E2E2E"/>
                </a:solidFill>
                <a:latin typeface="Calibri"/>
              </a:rPr>
              <a:t>▪ Average product type price is projected to rise from ~</a:t>
            </a:r>
          </a:p>
        </p:txBody>
      </p:sp>
      <p:pic>
        <p:nvPicPr>
          <p:cNvPr id="26" name="Picture 25" descr="lock.png"/>
          <p:cNvPicPr>
            <a:picLocks noChangeAspect="1"/>
          </p:cNvPicPr>
          <p:nvPr/>
        </p:nvPicPr>
        <p:blipFill>
          <a:blip r:embed="rId4"/>
          <a:stretch>
            <a:fillRect/>
          </a:stretch>
        </p:blipFill>
        <p:spPr>
          <a:xfrm>
            <a:off x="9623884" y="3807371"/>
            <a:ext cx="134549" cy="195707"/>
          </a:xfrm>
          <a:prstGeom prst="rect">
            <a:avLst/>
          </a:prstGeom>
        </p:spPr>
      </p:pic>
      <p:sp>
        <p:nvSpPr>
          <p:cNvPr id="27" name="TextBox 26"/>
          <p:cNvSpPr txBox="1"/>
          <p:nvPr/>
        </p:nvSpPr>
        <p:spPr>
          <a:xfrm>
            <a:off x="9798993"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10056259" y="3807371"/>
            <a:ext cx="134549" cy="195707"/>
          </a:xfrm>
          <a:prstGeom prst="rect">
            <a:avLst/>
          </a:prstGeom>
        </p:spPr>
      </p:pic>
      <p:sp>
        <p:nvSpPr>
          <p:cNvPr id="29" name="TextBox 28"/>
          <p:cNvSpPr txBox="1"/>
          <p:nvPr/>
        </p:nvSpPr>
        <p:spPr>
          <a:xfrm>
            <a:off x="10231368" y="3817595"/>
            <a:ext cx="1286817" cy="194310"/>
          </a:xfrm>
          <a:prstGeom prst="rect">
            <a:avLst/>
          </a:prstGeom>
          <a:noFill/>
        </p:spPr>
        <p:txBody>
          <a:bodyPr wrap="none" lIns="0" rIns="0" tIns="0" bIns="0">
            <a:spAutoFit/>
          </a:bodyPr>
          <a:lstStyle/>
          <a:p>
            <a:r>
              <a:rPr sz="1150" b="0">
                <a:solidFill>
                  <a:srgbClr val="2E2E2E"/>
                </a:solidFill>
                <a:latin typeface="Calibri"/>
              </a:rPr>
              <a:t>US$/Units by 2036 a</a:t>
            </a:r>
          </a:p>
        </p:txBody>
      </p:sp>
      <p:sp>
        <p:nvSpPr>
          <p:cNvPr id="30" name="TextBox 29"/>
          <p:cNvSpPr txBox="1"/>
          <p:nvPr/>
        </p:nvSpPr>
        <p:spPr>
          <a:xfrm>
            <a:off x="6334125" y="3992855"/>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1" name="Picture 30" descr="lock.png"/>
          <p:cNvPicPr>
            <a:picLocks noChangeAspect="1"/>
          </p:cNvPicPr>
          <p:nvPr/>
        </p:nvPicPr>
        <p:blipFill>
          <a:blip r:embed="rId4"/>
          <a:stretch>
            <a:fillRect/>
          </a:stretch>
        </p:blipFill>
        <p:spPr>
          <a:xfrm>
            <a:off x="6432218" y="3982631"/>
            <a:ext cx="134549" cy="195707"/>
          </a:xfrm>
          <a:prstGeom prst="rect">
            <a:avLst/>
          </a:prstGeom>
        </p:spPr>
      </p:pic>
      <p:sp>
        <p:nvSpPr>
          <p:cNvPr id="32" name="TextBox 31"/>
          <p:cNvSpPr txBox="1"/>
          <p:nvPr/>
        </p:nvSpPr>
        <p:spPr>
          <a:xfrm>
            <a:off x="6607327"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3" name="TextBox 32"/>
          <p:cNvSpPr txBox="1"/>
          <p:nvPr/>
        </p:nvSpPr>
        <p:spPr>
          <a:xfrm>
            <a:off x="6334125" y="4220692"/>
            <a:ext cx="4877308" cy="194310"/>
          </a:xfrm>
          <a:prstGeom prst="rect">
            <a:avLst/>
          </a:prstGeom>
          <a:noFill/>
        </p:spPr>
        <p:txBody>
          <a:bodyPr wrap="none" lIns="0" rIns="0" tIns="0" bIns="0">
            <a:spAutoFit/>
          </a:bodyPr>
          <a:lstStyle/>
          <a:p>
            <a:r>
              <a:rPr sz="1150" b="0">
                <a:solidFill>
                  <a:srgbClr val="2E2E2E"/>
                </a:solidFill>
                <a:latin typeface="Calibri"/>
              </a:rPr>
              <a:t>▪ 'Hybrid Ceramide Sunscreen' shows the strongest forecast price appreciation (+</a:t>
            </a:r>
          </a:p>
        </p:txBody>
      </p:sp>
      <p:pic>
        <p:nvPicPr>
          <p:cNvPr id="34" name="Picture 33" descr="lock.png"/>
          <p:cNvPicPr>
            <a:picLocks noChangeAspect="1"/>
          </p:cNvPicPr>
          <p:nvPr/>
        </p:nvPicPr>
        <p:blipFill>
          <a:blip r:embed="rId4"/>
          <a:stretch>
            <a:fillRect/>
          </a:stretch>
        </p:blipFill>
        <p:spPr>
          <a:xfrm>
            <a:off x="11160587" y="4210469"/>
            <a:ext cx="134549" cy="195707"/>
          </a:xfrm>
          <a:prstGeom prst="rect">
            <a:avLst/>
          </a:prstGeom>
        </p:spPr>
      </p:pic>
      <p:sp>
        <p:nvSpPr>
          <p:cNvPr id="35" name="TextBox 34"/>
          <p:cNvSpPr txBox="1"/>
          <p:nvPr/>
        </p:nvSpPr>
        <p:spPr>
          <a:xfrm>
            <a:off x="11335696" y="4220692"/>
            <a:ext cx="420216" cy="194310"/>
          </a:xfrm>
          <a:prstGeom prst="rect">
            <a:avLst/>
          </a:prstGeom>
          <a:noFill/>
        </p:spPr>
        <p:txBody>
          <a:bodyPr wrap="none" lIns="0" rIns="0" tIns="0" bIns="0">
            <a:spAutoFit/>
          </a:bodyPr>
          <a:lstStyle/>
          <a:p>
            <a:r>
              <a:rPr sz="1150" b="0">
                <a:solidFill>
                  <a:srgbClr val="2E2E2E"/>
                </a:solidFill>
                <a:latin typeface="Calibri"/>
              </a:rPr>
              <a:t>) over</a:t>
            </a:r>
          </a:p>
        </p:txBody>
      </p:sp>
      <p:sp>
        <p:nvSpPr>
          <p:cNvPr id="36" name="TextBox 35"/>
          <p:cNvSpPr txBox="1"/>
          <p:nvPr/>
        </p:nvSpPr>
        <p:spPr>
          <a:xfrm>
            <a:off x="6334125" y="4395952"/>
            <a:ext cx="794469" cy="194310"/>
          </a:xfrm>
          <a:prstGeom prst="rect">
            <a:avLst/>
          </a:prstGeom>
          <a:noFill/>
        </p:spPr>
        <p:txBody>
          <a:bodyPr wrap="none" lIns="0" rIns="0" tIns="0" bIns="0">
            <a:spAutoFit/>
          </a:bodyPr>
          <a:lstStyle/>
          <a:p>
            <a:r>
              <a:rPr sz="1150" b="0">
                <a:solidFill>
                  <a:srgbClr val="2E2E2E"/>
                </a:solidFill>
                <a:latin typeface="Calibri"/>
              </a:rPr>
              <a:t>the horizon.</a:t>
            </a:r>
          </a:p>
        </p:txBody>
      </p:sp>
      <p:sp>
        <p:nvSpPr>
          <p:cNvPr id="37" name="TextBox 36"/>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8" name="TextBox 37"/>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9" name="TextBox 38"/>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40" name="TextBox 39"/>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2564419"/>
                <a:gridCol w="517443"/>
                <a:gridCol w="1087817"/>
                <a:gridCol w="1018330"/>
                <a:gridCol w="2489141"/>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L'Oréal S.A.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Company Profile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Profile Element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Overview</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Product Portfolio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Market Segments — Product Sales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663223" y="3086680"/>
            <a:ext cx="330041" cy="480060"/>
          </a:xfrm>
          <a:prstGeom prst="rect">
            <a:avLst/>
          </a:prstGeom>
        </p:spPr>
      </p:pic>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Ceramide Sunscreen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6558061" cy="153161"/>
          </a:xfrm>
          <a:prstGeom prst="rect">
            <a:avLst/>
          </a:prstGeom>
          <a:noFill/>
        </p:spPr>
        <p:txBody>
          <a:bodyPr wrap="none" lIns="0" rIns="0" tIns="0" bIns="0">
            <a:spAutoFit/>
          </a:bodyPr>
          <a:lstStyle/>
          <a:p>
            <a:r>
              <a:rPr sz="879" b="0">
                <a:solidFill>
                  <a:srgbClr val="2E2E2E"/>
                </a:solidFill>
                <a:latin typeface="Calibri"/>
              </a:rPr>
              <a:t>▪ The Ceramide Sunscreen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Ceramide Sunscreen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Ceramide Sunscreen Market Buyers / End-User Assessment</a:t>
            </a:r>
          </a:p>
        </p:txBody>
      </p:sp>
      <p:graphicFrame>
        <p:nvGraphicFramePr>
          <p:cNvPr id="12" name="Table 11"/>
          <p:cNvGraphicFramePr>
            <a:graphicFrameLocks noGrp="1"/>
          </p:cNvGraphicFramePr>
          <p:nvPr/>
        </p:nvGraphicFramePr>
        <p:xfrm>
          <a:off x="152400" y="1238250"/>
          <a:ext cx="11889241" cy="2905122"/>
        </p:xfrm>
        <a:graphic>
          <a:graphicData uri="http://schemas.openxmlformats.org/drawingml/2006/table">
            <a:tbl>
              <a:tblPr>
                <a:tableStyleId>{5C22544A-7EE6-4342-B048-85BDC9FD1C3A}</a:tableStyleId>
              </a:tblPr>
              <a:tblGrid>
                <a:gridCol w="2576286"/>
                <a:gridCol w="964036"/>
                <a:gridCol w="966676"/>
                <a:gridCol w="1010076"/>
                <a:gridCol w="1414642"/>
                <a:gridCol w="1123263"/>
                <a:gridCol w="1307309"/>
                <a:gridCol w="1159044"/>
                <a:gridCol w="1367909"/>
              </a:tblGrid>
              <a:tr h="438912">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squar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squar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Avg Price (US$/Units)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46621">
                <a:tc>
                  <a:txBody>
                    <a:bodyPr wrap="none"/>
                    <a:lstStyle/>
                    <a:p>
                      <a:pPr algn="l"/>
                      <a:r>
                        <a:rPr sz="1100" b="1">
                          <a:solidFill>
                            <a:srgbClr val="2E2E2E"/>
                          </a:solidFill>
                          <a:latin typeface="Calibri"/>
                        </a:rPr>
                        <a:t>L'Oréal S.A.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Company Profile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Profile Element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Overview</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Product Portfolio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Rest of LATAM</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Market Segments — Product Sales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Market Segments — Channel Sales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Market Segments — Regional Sales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Sales Footprint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Strategy Overview — Marketing Strategy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Spain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1529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486275"/>
            <a:ext cx="11906250" cy="2143125"/>
          </a:xfrm>
          <a:prstGeom prst="roundRect">
            <a:avLst>
              <a:gd name="adj" fmla="val 35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5720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8101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895850"/>
            <a:ext cx="11639550" cy="16573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687510" y="2643566"/>
            <a:ext cx="366712" cy="533400"/>
          </a:xfrm>
          <a:prstGeom prst="rect">
            <a:avLst/>
          </a:prstGeom>
        </p:spPr>
      </p:pic>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Ceramide Sunscreen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Dynamics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TextBox 9"/>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1" name="Rectangle 10"/>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TextBox 12"/>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4" name="TextBox 13"/>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5" name="TextBox 14"/>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6" name="Rectangle 15"/>
          <p:cNvSpPr/>
          <p:nvPr/>
        </p:nvSpPr>
        <p:spPr>
          <a:xfrm>
            <a:off x="142875" y="1518365"/>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025" y="1518365"/>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8" name="TextBox 17"/>
          <p:cNvSpPr txBox="1"/>
          <p:nvPr/>
        </p:nvSpPr>
        <p:spPr>
          <a:xfrm>
            <a:off x="1724025" y="1545745"/>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9" name="TextBox 18"/>
          <p:cNvSpPr txBox="1"/>
          <p:nvPr/>
        </p:nvSpPr>
        <p:spPr>
          <a:xfrm>
            <a:off x="5534025" y="1545745"/>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0" name="TextBox 19"/>
          <p:cNvSpPr txBox="1"/>
          <p:nvPr/>
        </p:nvSpPr>
        <p:spPr>
          <a:xfrm>
            <a:off x="8391525" y="1545745"/>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2221132"/>
            <a:ext cx="11906250" cy="702767"/>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2221132"/>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3" name="TextBox 22"/>
          <p:cNvSpPr txBox="1"/>
          <p:nvPr/>
        </p:nvSpPr>
        <p:spPr>
          <a:xfrm>
            <a:off x="1724025" y="2248513"/>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5534025" y="2248513"/>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8391525" y="2248513"/>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2923899"/>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0025" y="2923899"/>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8" name="TextBox 27"/>
          <p:cNvSpPr txBox="1"/>
          <p:nvPr/>
        </p:nvSpPr>
        <p:spPr>
          <a:xfrm>
            <a:off x="1724025" y="2951280"/>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5534025" y="2951280"/>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Competitive intensity at scale.</a:t>
            </a:r>
          </a:p>
        </p:txBody>
      </p:sp>
      <p:sp>
        <p:nvSpPr>
          <p:cNvPr id="30" name="TextBox 29"/>
          <p:cNvSpPr txBox="1"/>
          <p:nvPr/>
        </p:nvSpPr>
        <p:spPr>
          <a:xfrm>
            <a:off x="8391525" y="2951280"/>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Rectangle 30"/>
          <p:cNvSpPr/>
          <p:nvPr/>
        </p:nvSpPr>
        <p:spPr>
          <a:xfrm>
            <a:off x="142875" y="3626667"/>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0025" y="3626667"/>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33" name="TextBox 32"/>
          <p:cNvSpPr txBox="1"/>
          <p:nvPr/>
        </p:nvSpPr>
        <p:spPr>
          <a:xfrm>
            <a:off x="1724025" y="3654047"/>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5534025" y="3654047"/>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8391525" y="3654047"/>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Rectangle 35"/>
          <p:cNvSpPr/>
          <p:nvPr/>
        </p:nvSpPr>
        <p:spPr>
          <a:xfrm>
            <a:off x="142875" y="4137770"/>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0025" y="4137770"/>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8" name="TextBox 37"/>
          <p:cNvSpPr txBox="1"/>
          <p:nvPr/>
        </p:nvSpPr>
        <p:spPr>
          <a:xfrm>
            <a:off x="1724025" y="4165151"/>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9" name="TextBox 38"/>
          <p:cNvSpPr txBox="1"/>
          <p:nvPr/>
        </p:nvSpPr>
        <p:spPr>
          <a:xfrm>
            <a:off x="5534025" y="4165151"/>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8391525" y="4165151"/>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Rectangle 40"/>
          <p:cNvSpPr/>
          <p:nvPr/>
        </p:nvSpPr>
        <p:spPr>
          <a:xfrm>
            <a:off x="142875" y="4648874"/>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0025" y="4648874"/>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43" name="TextBox 42"/>
          <p:cNvSpPr txBox="1"/>
          <p:nvPr/>
        </p:nvSpPr>
        <p:spPr>
          <a:xfrm>
            <a:off x="1724025" y="4676254"/>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5534025" y="4676254"/>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TextBox 44"/>
          <p:cNvSpPr txBox="1"/>
          <p:nvPr/>
        </p:nvSpPr>
        <p:spPr>
          <a:xfrm>
            <a:off x="8391525" y="4676254"/>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6" name="Connector 45"/>
          <p:cNvCxnSpPr/>
          <p:nvPr/>
        </p:nvCxnSpPr>
        <p:spPr>
          <a:xfrm>
            <a:off x="142875" y="5159977"/>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00025" y="5178231"/>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48" name="Rounded Rectangle 47"/>
          <p:cNvSpPr/>
          <p:nvPr/>
        </p:nvSpPr>
        <p:spPr>
          <a:xfrm>
            <a:off x="142875" y="5433783"/>
            <a:ext cx="11906250" cy="994827"/>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6225" y="5470290"/>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50" name="Connector 49"/>
          <p:cNvCxnSpPr/>
          <p:nvPr/>
        </p:nvCxnSpPr>
        <p:spPr>
          <a:xfrm>
            <a:off x="276225" y="5707588"/>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76225" y="5762349"/>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1752600" y="170210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4" name="Picture 53" descr="lock.png"/>
          <p:cNvPicPr>
            <a:picLocks noChangeAspect="1"/>
          </p:cNvPicPr>
          <p:nvPr/>
        </p:nvPicPr>
        <p:blipFill>
          <a:blip r:embed="rId4"/>
          <a:stretch>
            <a:fillRect/>
          </a:stretch>
        </p:blipFill>
        <p:spPr>
          <a:xfrm>
            <a:off x="2438789" y="1692329"/>
            <a:ext cx="128699" cy="187198"/>
          </a:xfrm>
          <a:prstGeom prst="rect">
            <a:avLst/>
          </a:prstGeom>
        </p:spPr>
      </p:pic>
      <p:sp>
        <p:nvSpPr>
          <p:cNvPr id="55" name="TextBox 54"/>
          <p:cNvSpPr txBox="1"/>
          <p:nvPr/>
        </p:nvSpPr>
        <p:spPr>
          <a:xfrm>
            <a:off x="2606285" y="1702107"/>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6" name="Picture 55" descr="lock.png"/>
          <p:cNvPicPr>
            <a:picLocks noChangeAspect="1"/>
          </p:cNvPicPr>
          <p:nvPr/>
        </p:nvPicPr>
        <p:blipFill>
          <a:blip r:embed="rId4"/>
          <a:stretch>
            <a:fillRect/>
          </a:stretch>
        </p:blipFill>
        <p:spPr>
          <a:xfrm>
            <a:off x="4110756" y="1692329"/>
            <a:ext cx="128699" cy="187198"/>
          </a:xfrm>
          <a:prstGeom prst="rect">
            <a:avLst/>
          </a:prstGeom>
        </p:spPr>
      </p:pic>
      <p:sp>
        <p:nvSpPr>
          <p:cNvPr id="57" name="TextBox 56"/>
          <p:cNvSpPr txBox="1"/>
          <p:nvPr/>
        </p:nvSpPr>
        <p:spPr>
          <a:xfrm>
            <a:off x="4278252" y="1702107"/>
            <a:ext cx="946852" cy="186689"/>
          </a:xfrm>
          <a:prstGeom prst="rect">
            <a:avLst/>
          </a:prstGeom>
          <a:noFill/>
        </p:spPr>
        <p:txBody>
          <a:bodyPr wrap="none" lIns="0" rIns="0" tIns="0" bIns="0">
            <a:spAutoFit/>
          </a:bodyPr>
          <a:lstStyle/>
          <a:p>
            <a:r>
              <a:rPr sz="1100" b="0">
                <a:solidFill>
                  <a:srgbClr val="2E2E2E"/>
                </a:solidFill>
                <a:latin typeface="Calibri"/>
              </a:rPr>
              <a:t>CAGR), Mineral</a:t>
            </a:r>
          </a:p>
        </p:txBody>
      </p:sp>
      <p:sp>
        <p:nvSpPr>
          <p:cNvPr id="58" name="TextBox 57"/>
          <p:cNvSpPr txBox="1"/>
          <p:nvPr/>
        </p:nvSpPr>
        <p:spPr>
          <a:xfrm>
            <a:off x="1752600" y="1869747"/>
            <a:ext cx="3120404" cy="186689"/>
          </a:xfrm>
          <a:prstGeom prst="rect">
            <a:avLst/>
          </a:prstGeom>
          <a:noFill/>
        </p:spPr>
        <p:txBody>
          <a:bodyPr wrap="none" lIns="0" rIns="0" tIns="0" bIns="0">
            <a:spAutoFit/>
          </a:bodyPr>
          <a:lstStyle/>
          <a:p>
            <a:r>
              <a:rPr sz="1100" b="0">
                <a:solidFill>
                  <a:srgbClr val="2E2E2E"/>
                </a:solidFill>
                <a:latin typeface="Calibri"/>
              </a:rPr>
              <a:t>Ceramide Sunscreen demand, Accelerating vs history.</a:t>
            </a:r>
          </a:p>
        </p:txBody>
      </p:sp>
      <p:sp>
        <p:nvSpPr>
          <p:cNvPr id="59" name="TextBox 58"/>
          <p:cNvSpPr txBox="1"/>
          <p:nvPr/>
        </p:nvSpPr>
        <p:spPr>
          <a:xfrm>
            <a:off x="5562600" y="1702107"/>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0" name="Picture 59" descr="lock.png"/>
          <p:cNvPicPr>
            <a:picLocks noChangeAspect="1"/>
          </p:cNvPicPr>
          <p:nvPr/>
        </p:nvPicPr>
        <p:blipFill>
          <a:blip r:embed="rId4"/>
          <a:stretch>
            <a:fillRect/>
          </a:stretch>
        </p:blipFill>
        <p:spPr>
          <a:xfrm>
            <a:off x="6797766" y="1692329"/>
            <a:ext cx="128699" cy="187198"/>
          </a:xfrm>
          <a:prstGeom prst="rect">
            <a:avLst/>
          </a:prstGeom>
        </p:spPr>
      </p:pic>
      <p:sp>
        <p:nvSpPr>
          <p:cNvPr id="61" name="TextBox 60"/>
          <p:cNvSpPr txBox="1"/>
          <p:nvPr/>
        </p:nvSpPr>
        <p:spPr>
          <a:xfrm>
            <a:off x="6965262" y="1702107"/>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2" name="TextBox 61"/>
          <p:cNvSpPr txBox="1"/>
          <p:nvPr/>
        </p:nvSpPr>
        <p:spPr>
          <a:xfrm>
            <a:off x="5562600" y="1869747"/>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3" name="Picture 62" descr="lock.png"/>
          <p:cNvPicPr>
            <a:picLocks noChangeAspect="1"/>
          </p:cNvPicPr>
          <p:nvPr/>
        </p:nvPicPr>
        <p:blipFill>
          <a:blip r:embed="rId4"/>
          <a:stretch>
            <a:fillRect/>
          </a:stretch>
        </p:blipFill>
        <p:spPr>
          <a:xfrm>
            <a:off x="6258066" y="1859969"/>
            <a:ext cx="128699" cy="187198"/>
          </a:xfrm>
          <a:prstGeom prst="rect">
            <a:avLst/>
          </a:prstGeom>
        </p:spPr>
      </p:pic>
      <p:sp>
        <p:nvSpPr>
          <p:cNvPr id="64" name="TextBox 63"/>
          <p:cNvSpPr txBox="1"/>
          <p:nvPr/>
        </p:nvSpPr>
        <p:spPr>
          <a:xfrm>
            <a:off x="6425562" y="1869747"/>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65" name="TextBox 64"/>
          <p:cNvSpPr txBox="1"/>
          <p:nvPr/>
        </p:nvSpPr>
        <p:spPr>
          <a:xfrm>
            <a:off x="8420100" y="1702107"/>
            <a:ext cx="2189162" cy="186689"/>
          </a:xfrm>
          <a:prstGeom prst="rect">
            <a:avLst/>
          </a:prstGeom>
          <a:noFill/>
        </p:spPr>
        <p:txBody>
          <a:bodyPr wrap="none" lIns="0" rIns="0" tIns="0" bIns="0">
            <a:spAutoFit/>
          </a:bodyPr>
          <a:lstStyle/>
          <a:p>
            <a:r>
              <a:rPr sz="1100" b="0">
                <a:solidFill>
                  <a:srgbClr val="2E2E2E"/>
                </a:solidFill>
                <a:latin typeface="Calibri"/>
              </a:rPr>
              <a:t>Scale Chemical Ceramide Sunscreen (</a:t>
            </a:r>
          </a:p>
        </p:txBody>
      </p:sp>
      <p:pic>
        <p:nvPicPr>
          <p:cNvPr id="66" name="Picture 65" descr="lock.png"/>
          <p:cNvPicPr>
            <a:picLocks noChangeAspect="1"/>
          </p:cNvPicPr>
          <p:nvPr/>
        </p:nvPicPr>
        <p:blipFill>
          <a:blip r:embed="rId4"/>
          <a:stretch>
            <a:fillRect/>
          </a:stretch>
        </p:blipFill>
        <p:spPr>
          <a:xfrm>
            <a:off x="10557314" y="1692329"/>
            <a:ext cx="128699" cy="187198"/>
          </a:xfrm>
          <a:prstGeom prst="rect">
            <a:avLst/>
          </a:prstGeom>
        </p:spPr>
      </p:pic>
      <p:sp>
        <p:nvSpPr>
          <p:cNvPr id="67" name="TextBox 66"/>
          <p:cNvSpPr txBox="1"/>
          <p:nvPr/>
        </p:nvSpPr>
        <p:spPr>
          <a:xfrm>
            <a:off x="10724809" y="1702107"/>
            <a:ext cx="830907" cy="186689"/>
          </a:xfrm>
          <a:prstGeom prst="rect">
            <a:avLst/>
          </a:prstGeom>
          <a:noFill/>
        </p:spPr>
        <p:txBody>
          <a:bodyPr wrap="none" lIns="0" rIns="0" tIns="0" bIns="0">
            <a:spAutoFit/>
          </a:bodyPr>
          <a:lstStyle/>
          <a:p>
            <a:r>
              <a:rPr sz="1100" b="0">
                <a:solidFill>
                  <a:srgbClr val="2E2E2E"/>
                </a:solidFill>
                <a:latin typeface="Calibri"/>
              </a:rPr>
              <a:t>), Mix shift to</a:t>
            </a:r>
          </a:p>
        </p:txBody>
      </p:sp>
      <p:sp>
        <p:nvSpPr>
          <p:cNvPr id="68" name="TextBox 67"/>
          <p:cNvSpPr txBox="1"/>
          <p:nvPr/>
        </p:nvSpPr>
        <p:spPr>
          <a:xfrm>
            <a:off x="8420100" y="1869747"/>
            <a:ext cx="1749598" cy="186689"/>
          </a:xfrm>
          <a:prstGeom prst="rect">
            <a:avLst/>
          </a:prstGeom>
          <a:noFill/>
        </p:spPr>
        <p:txBody>
          <a:bodyPr wrap="none" lIns="0" rIns="0" tIns="0" bIns="0">
            <a:spAutoFit/>
          </a:bodyPr>
          <a:lstStyle/>
          <a:p>
            <a:r>
              <a:rPr sz="1100" b="0">
                <a:solidFill>
                  <a:srgbClr val="2E2E2E"/>
                </a:solidFill>
                <a:latin typeface="Calibri"/>
              </a:rPr>
              <a:t>Mineral Ceramide Sunscreen,</a:t>
            </a:r>
          </a:p>
        </p:txBody>
      </p:sp>
      <p:pic>
        <p:nvPicPr>
          <p:cNvPr id="69" name="Picture 68" descr="lock.png"/>
          <p:cNvPicPr>
            <a:picLocks noChangeAspect="1"/>
          </p:cNvPicPr>
          <p:nvPr/>
        </p:nvPicPr>
        <p:blipFill>
          <a:blip r:embed="rId4"/>
          <a:stretch>
            <a:fillRect/>
          </a:stretch>
        </p:blipFill>
        <p:spPr>
          <a:xfrm>
            <a:off x="10117750" y="1859969"/>
            <a:ext cx="128699" cy="187198"/>
          </a:xfrm>
          <a:prstGeom prst="rect">
            <a:avLst/>
          </a:prstGeom>
        </p:spPr>
      </p:pic>
      <p:sp>
        <p:nvSpPr>
          <p:cNvPr id="70" name="TextBox 69"/>
          <p:cNvSpPr txBox="1"/>
          <p:nvPr/>
        </p:nvSpPr>
        <p:spPr>
          <a:xfrm>
            <a:off x="10285246" y="186974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71" name="TextBox 70"/>
          <p:cNvSpPr txBox="1"/>
          <p:nvPr/>
        </p:nvSpPr>
        <p:spPr>
          <a:xfrm>
            <a:off x="1752600" y="2404876"/>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2" name="Picture 71" descr="lock.png"/>
          <p:cNvPicPr>
            <a:picLocks noChangeAspect="1"/>
          </p:cNvPicPr>
          <p:nvPr/>
        </p:nvPicPr>
        <p:blipFill>
          <a:blip r:embed="rId4"/>
          <a:stretch>
            <a:fillRect/>
          </a:stretch>
        </p:blipFill>
        <p:spPr>
          <a:xfrm>
            <a:off x="2438789" y="2395097"/>
            <a:ext cx="128699" cy="187198"/>
          </a:xfrm>
          <a:prstGeom prst="rect">
            <a:avLst/>
          </a:prstGeom>
        </p:spPr>
      </p:pic>
      <p:sp>
        <p:nvSpPr>
          <p:cNvPr id="73" name="TextBox 72"/>
          <p:cNvSpPr txBox="1"/>
          <p:nvPr/>
        </p:nvSpPr>
        <p:spPr>
          <a:xfrm>
            <a:off x="2606285" y="2404876"/>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4" name="Picture 73" descr="lock.png"/>
          <p:cNvPicPr>
            <a:picLocks noChangeAspect="1"/>
          </p:cNvPicPr>
          <p:nvPr/>
        </p:nvPicPr>
        <p:blipFill>
          <a:blip r:embed="rId4"/>
          <a:stretch>
            <a:fillRect/>
          </a:stretch>
        </p:blipFill>
        <p:spPr>
          <a:xfrm>
            <a:off x="4237905" y="2395097"/>
            <a:ext cx="128699" cy="187198"/>
          </a:xfrm>
          <a:prstGeom prst="rect">
            <a:avLst/>
          </a:prstGeom>
        </p:spPr>
      </p:pic>
      <p:sp>
        <p:nvSpPr>
          <p:cNvPr id="75" name="TextBox 74"/>
          <p:cNvSpPr txBox="1"/>
          <p:nvPr/>
        </p:nvSpPr>
        <p:spPr>
          <a:xfrm>
            <a:off x="4405401" y="2404876"/>
            <a:ext cx="627633" cy="186689"/>
          </a:xfrm>
          <a:prstGeom prst="rect">
            <a:avLst/>
          </a:prstGeom>
          <a:noFill/>
        </p:spPr>
        <p:txBody>
          <a:bodyPr wrap="none" lIns="0" rIns="0" tIns="0" bIns="0">
            <a:spAutoFit/>
          </a:bodyPr>
          <a:lstStyle/>
          <a:p>
            <a:r>
              <a:rPr sz="1100" b="0">
                <a:solidFill>
                  <a:srgbClr val="2E2E2E"/>
                </a:solidFill>
                <a:latin typeface="Calibri"/>
              </a:rPr>
              <a:t>), Mineral</a:t>
            </a:r>
          </a:p>
        </p:txBody>
      </p:sp>
      <p:sp>
        <p:nvSpPr>
          <p:cNvPr id="76" name="TextBox 75"/>
          <p:cNvSpPr txBox="1"/>
          <p:nvPr/>
        </p:nvSpPr>
        <p:spPr>
          <a:xfrm>
            <a:off x="1752600" y="2572516"/>
            <a:ext cx="3120404" cy="186689"/>
          </a:xfrm>
          <a:prstGeom prst="rect">
            <a:avLst/>
          </a:prstGeom>
          <a:noFill/>
        </p:spPr>
        <p:txBody>
          <a:bodyPr wrap="none" lIns="0" rIns="0" tIns="0" bIns="0">
            <a:spAutoFit/>
          </a:bodyPr>
          <a:lstStyle/>
          <a:p>
            <a:r>
              <a:rPr sz="1100" b="0">
                <a:solidFill>
                  <a:srgbClr val="2E2E2E"/>
                </a:solidFill>
                <a:latin typeface="Calibri"/>
              </a:rPr>
              <a:t>Ceramide Sunscreen demand, Accelerating vs history.</a:t>
            </a:r>
          </a:p>
        </p:txBody>
      </p:sp>
      <p:sp>
        <p:nvSpPr>
          <p:cNvPr id="77" name="TextBox 76"/>
          <p:cNvSpPr txBox="1"/>
          <p:nvPr/>
        </p:nvSpPr>
        <p:spPr>
          <a:xfrm>
            <a:off x="5562600" y="2488696"/>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78" name="Picture 77" descr="lock.png"/>
          <p:cNvPicPr>
            <a:picLocks noChangeAspect="1"/>
          </p:cNvPicPr>
          <p:nvPr/>
        </p:nvPicPr>
        <p:blipFill>
          <a:blip r:embed="rId4"/>
          <a:stretch>
            <a:fillRect/>
          </a:stretch>
        </p:blipFill>
        <p:spPr>
          <a:xfrm>
            <a:off x="6623687" y="2478917"/>
            <a:ext cx="128699" cy="187198"/>
          </a:xfrm>
          <a:prstGeom prst="rect">
            <a:avLst/>
          </a:prstGeom>
        </p:spPr>
      </p:pic>
      <p:sp>
        <p:nvSpPr>
          <p:cNvPr id="79" name="TextBox 78"/>
          <p:cNvSpPr txBox="1"/>
          <p:nvPr/>
        </p:nvSpPr>
        <p:spPr>
          <a:xfrm>
            <a:off x="6791183" y="2488696"/>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80" name="TextBox 79"/>
          <p:cNvSpPr txBox="1"/>
          <p:nvPr/>
        </p:nvSpPr>
        <p:spPr>
          <a:xfrm>
            <a:off x="8420100" y="2404876"/>
            <a:ext cx="2189162" cy="186689"/>
          </a:xfrm>
          <a:prstGeom prst="rect">
            <a:avLst/>
          </a:prstGeom>
          <a:noFill/>
        </p:spPr>
        <p:txBody>
          <a:bodyPr wrap="none" lIns="0" rIns="0" tIns="0" bIns="0">
            <a:spAutoFit/>
          </a:bodyPr>
          <a:lstStyle/>
          <a:p>
            <a:r>
              <a:rPr sz="1100" b="0">
                <a:solidFill>
                  <a:srgbClr val="2E2E2E"/>
                </a:solidFill>
                <a:latin typeface="Calibri"/>
              </a:rPr>
              <a:t>Scale Chemical Ceramide Sunscreen (</a:t>
            </a:r>
          </a:p>
        </p:txBody>
      </p:sp>
      <p:pic>
        <p:nvPicPr>
          <p:cNvPr id="81" name="Picture 80" descr="lock.png"/>
          <p:cNvPicPr>
            <a:picLocks noChangeAspect="1"/>
          </p:cNvPicPr>
          <p:nvPr/>
        </p:nvPicPr>
        <p:blipFill>
          <a:blip r:embed="rId4"/>
          <a:stretch>
            <a:fillRect/>
          </a:stretch>
        </p:blipFill>
        <p:spPr>
          <a:xfrm>
            <a:off x="10557314" y="2395097"/>
            <a:ext cx="128699" cy="187198"/>
          </a:xfrm>
          <a:prstGeom prst="rect">
            <a:avLst/>
          </a:prstGeom>
        </p:spPr>
      </p:pic>
      <p:sp>
        <p:nvSpPr>
          <p:cNvPr id="82" name="TextBox 81"/>
          <p:cNvSpPr txBox="1"/>
          <p:nvPr/>
        </p:nvSpPr>
        <p:spPr>
          <a:xfrm>
            <a:off x="10724809" y="2404876"/>
            <a:ext cx="830907" cy="186689"/>
          </a:xfrm>
          <a:prstGeom prst="rect">
            <a:avLst/>
          </a:prstGeom>
          <a:noFill/>
        </p:spPr>
        <p:txBody>
          <a:bodyPr wrap="none" lIns="0" rIns="0" tIns="0" bIns="0">
            <a:spAutoFit/>
          </a:bodyPr>
          <a:lstStyle/>
          <a:p>
            <a:r>
              <a:rPr sz="1100" b="0">
                <a:solidFill>
                  <a:srgbClr val="2E2E2E"/>
                </a:solidFill>
                <a:latin typeface="Calibri"/>
              </a:rPr>
              <a:t>), Mix shift to</a:t>
            </a:r>
          </a:p>
        </p:txBody>
      </p:sp>
      <p:sp>
        <p:nvSpPr>
          <p:cNvPr id="83" name="TextBox 82"/>
          <p:cNvSpPr txBox="1"/>
          <p:nvPr/>
        </p:nvSpPr>
        <p:spPr>
          <a:xfrm>
            <a:off x="8420100" y="2572516"/>
            <a:ext cx="1749598" cy="186689"/>
          </a:xfrm>
          <a:prstGeom prst="rect">
            <a:avLst/>
          </a:prstGeom>
          <a:noFill/>
        </p:spPr>
        <p:txBody>
          <a:bodyPr wrap="none" lIns="0" rIns="0" tIns="0" bIns="0">
            <a:spAutoFit/>
          </a:bodyPr>
          <a:lstStyle/>
          <a:p>
            <a:r>
              <a:rPr sz="1100" b="0">
                <a:solidFill>
                  <a:srgbClr val="2E2E2E"/>
                </a:solidFill>
                <a:latin typeface="Calibri"/>
              </a:rPr>
              <a:t>Mineral Ceramide Sunscreen,</a:t>
            </a:r>
          </a:p>
        </p:txBody>
      </p:sp>
      <p:pic>
        <p:nvPicPr>
          <p:cNvPr id="84" name="Picture 83" descr="lock.png"/>
          <p:cNvPicPr>
            <a:picLocks noChangeAspect="1"/>
          </p:cNvPicPr>
          <p:nvPr/>
        </p:nvPicPr>
        <p:blipFill>
          <a:blip r:embed="rId4"/>
          <a:stretch>
            <a:fillRect/>
          </a:stretch>
        </p:blipFill>
        <p:spPr>
          <a:xfrm>
            <a:off x="10117750" y="2562737"/>
            <a:ext cx="128699" cy="187198"/>
          </a:xfrm>
          <a:prstGeom prst="rect">
            <a:avLst/>
          </a:prstGeom>
        </p:spPr>
      </p:pic>
      <p:sp>
        <p:nvSpPr>
          <p:cNvPr id="85" name="TextBox 84"/>
          <p:cNvSpPr txBox="1"/>
          <p:nvPr/>
        </p:nvSpPr>
        <p:spPr>
          <a:xfrm>
            <a:off x="10285246" y="2572516"/>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86" name="TextBox 85"/>
          <p:cNvSpPr txBox="1"/>
          <p:nvPr/>
        </p:nvSpPr>
        <p:spPr>
          <a:xfrm>
            <a:off x="1752600" y="3107643"/>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7" name="Picture 86" descr="lock.png"/>
          <p:cNvPicPr>
            <a:picLocks noChangeAspect="1"/>
          </p:cNvPicPr>
          <p:nvPr/>
        </p:nvPicPr>
        <p:blipFill>
          <a:blip r:embed="rId4"/>
          <a:stretch>
            <a:fillRect/>
          </a:stretch>
        </p:blipFill>
        <p:spPr>
          <a:xfrm>
            <a:off x="2438789" y="3097864"/>
            <a:ext cx="128699" cy="187198"/>
          </a:xfrm>
          <a:prstGeom prst="rect">
            <a:avLst/>
          </a:prstGeom>
        </p:spPr>
      </p:pic>
      <p:sp>
        <p:nvSpPr>
          <p:cNvPr id="88" name="TextBox 87"/>
          <p:cNvSpPr txBox="1"/>
          <p:nvPr/>
        </p:nvSpPr>
        <p:spPr>
          <a:xfrm>
            <a:off x="2606285" y="3107643"/>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89" name="Picture 88" descr="lock.png"/>
          <p:cNvPicPr>
            <a:picLocks noChangeAspect="1"/>
          </p:cNvPicPr>
          <p:nvPr/>
        </p:nvPicPr>
        <p:blipFill>
          <a:blip r:embed="rId4"/>
          <a:stretch>
            <a:fillRect/>
          </a:stretch>
        </p:blipFill>
        <p:spPr>
          <a:xfrm>
            <a:off x="4237905" y="3097864"/>
            <a:ext cx="128699" cy="187198"/>
          </a:xfrm>
          <a:prstGeom prst="rect">
            <a:avLst/>
          </a:prstGeom>
        </p:spPr>
      </p:pic>
      <p:sp>
        <p:nvSpPr>
          <p:cNvPr id="90" name="TextBox 89"/>
          <p:cNvSpPr txBox="1"/>
          <p:nvPr/>
        </p:nvSpPr>
        <p:spPr>
          <a:xfrm>
            <a:off x="4405401" y="3107643"/>
            <a:ext cx="627633" cy="186689"/>
          </a:xfrm>
          <a:prstGeom prst="rect">
            <a:avLst/>
          </a:prstGeom>
          <a:noFill/>
        </p:spPr>
        <p:txBody>
          <a:bodyPr wrap="none" lIns="0" rIns="0" tIns="0" bIns="0">
            <a:spAutoFit/>
          </a:bodyPr>
          <a:lstStyle/>
          <a:p>
            <a:r>
              <a:rPr sz="1100" b="0">
                <a:solidFill>
                  <a:srgbClr val="2E2E2E"/>
                </a:solidFill>
                <a:latin typeface="Calibri"/>
              </a:rPr>
              <a:t>), Mineral</a:t>
            </a:r>
          </a:p>
        </p:txBody>
      </p:sp>
      <p:sp>
        <p:nvSpPr>
          <p:cNvPr id="91" name="TextBox 90"/>
          <p:cNvSpPr txBox="1"/>
          <p:nvPr/>
        </p:nvSpPr>
        <p:spPr>
          <a:xfrm>
            <a:off x="1752600" y="3275283"/>
            <a:ext cx="3120404" cy="186689"/>
          </a:xfrm>
          <a:prstGeom prst="rect">
            <a:avLst/>
          </a:prstGeom>
          <a:noFill/>
        </p:spPr>
        <p:txBody>
          <a:bodyPr wrap="none" lIns="0" rIns="0" tIns="0" bIns="0">
            <a:spAutoFit/>
          </a:bodyPr>
          <a:lstStyle/>
          <a:p>
            <a:r>
              <a:rPr sz="1100" b="0">
                <a:solidFill>
                  <a:srgbClr val="2E2E2E"/>
                </a:solidFill>
                <a:latin typeface="Calibri"/>
              </a:rPr>
              <a:t>Ceramide Sunscreen demand, Accelerating vs history.</a:t>
            </a:r>
          </a:p>
        </p:txBody>
      </p:sp>
      <p:sp>
        <p:nvSpPr>
          <p:cNvPr id="92" name="TextBox 91"/>
          <p:cNvSpPr txBox="1"/>
          <p:nvPr/>
        </p:nvSpPr>
        <p:spPr>
          <a:xfrm>
            <a:off x="8420100" y="3107643"/>
            <a:ext cx="2112218" cy="186689"/>
          </a:xfrm>
          <a:prstGeom prst="rect">
            <a:avLst/>
          </a:prstGeom>
          <a:noFill/>
        </p:spPr>
        <p:txBody>
          <a:bodyPr wrap="none" lIns="0" rIns="0" tIns="0" bIns="0">
            <a:spAutoFit/>
          </a:bodyPr>
          <a:lstStyle/>
          <a:p>
            <a:r>
              <a:rPr sz="1100" b="0">
                <a:solidFill>
                  <a:srgbClr val="2E2E2E"/>
                </a:solidFill>
                <a:latin typeface="Calibri"/>
              </a:rPr>
              <a:t>Scale Mineral Ceramide Sunscreen (</a:t>
            </a:r>
          </a:p>
        </p:txBody>
      </p:sp>
      <p:pic>
        <p:nvPicPr>
          <p:cNvPr id="93" name="Picture 92" descr="lock.png"/>
          <p:cNvPicPr>
            <a:picLocks noChangeAspect="1"/>
          </p:cNvPicPr>
          <p:nvPr/>
        </p:nvPicPr>
        <p:blipFill>
          <a:blip r:embed="rId4"/>
          <a:stretch>
            <a:fillRect/>
          </a:stretch>
        </p:blipFill>
        <p:spPr>
          <a:xfrm>
            <a:off x="10480369" y="3097864"/>
            <a:ext cx="128699" cy="187198"/>
          </a:xfrm>
          <a:prstGeom prst="rect">
            <a:avLst/>
          </a:prstGeom>
        </p:spPr>
      </p:pic>
      <p:sp>
        <p:nvSpPr>
          <p:cNvPr id="94" name="TextBox 93"/>
          <p:cNvSpPr txBox="1"/>
          <p:nvPr/>
        </p:nvSpPr>
        <p:spPr>
          <a:xfrm>
            <a:off x="10647865" y="3107643"/>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5" name="Picture 94" descr="lock.png"/>
          <p:cNvPicPr>
            <a:picLocks noChangeAspect="1"/>
          </p:cNvPicPr>
          <p:nvPr/>
        </p:nvPicPr>
        <p:blipFill>
          <a:blip r:embed="rId4"/>
          <a:stretch>
            <a:fillRect/>
          </a:stretch>
        </p:blipFill>
        <p:spPr>
          <a:xfrm>
            <a:off x="10749334" y="3097864"/>
            <a:ext cx="128699" cy="187198"/>
          </a:xfrm>
          <a:prstGeom prst="rect">
            <a:avLst/>
          </a:prstGeom>
        </p:spPr>
      </p:pic>
      <p:sp>
        <p:nvSpPr>
          <p:cNvPr id="96" name="TextBox 95"/>
          <p:cNvSpPr txBox="1"/>
          <p:nvPr/>
        </p:nvSpPr>
        <p:spPr>
          <a:xfrm>
            <a:off x="10916830" y="3107643"/>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97" name="TextBox 96"/>
          <p:cNvSpPr txBox="1"/>
          <p:nvPr/>
        </p:nvSpPr>
        <p:spPr>
          <a:xfrm>
            <a:off x="8420100" y="3275283"/>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98" name="TextBox 97"/>
          <p:cNvSpPr txBox="1"/>
          <p:nvPr/>
        </p:nvSpPr>
        <p:spPr>
          <a:xfrm>
            <a:off x="1752600" y="3714578"/>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99" name="Picture 98" descr="lock.png"/>
          <p:cNvPicPr>
            <a:picLocks noChangeAspect="1"/>
          </p:cNvPicPr>
          <p:nvPr/>
        </p:nvPicPr>
        <p:blipFill>
          <a:blip r:embed="rId4"/>
          <a:stretch>
            <a:fillRect/>
          </a:stretch>
        </p:blipFill>
        <p:spPr>
          <a:xfrm>
            <a:off x="2834969" y="3704799"/>
            <a:ext cx="128699" cy="187198"/>
          </a:xfrm>
          <a:prstGeom prst="rect">
            <a:avLst/>
          </a:prstGeom>
        </p:spPr>
      </p:pic>
      <p:sp>
        <p:nvSpPr>
          <p:cNvPr id="100" name="TextBox 99"/>
          <p:cNvSpPr txBox="1"/>
          <p:nvPr/>
        </p:nvSpPr>
        <p:spPr>
          <a:xfrm>
            <a:off x="3002465" y="3714578"/>
            <a:ext cx="2142760" cy="186689"/>
          </a:xfrm>
          <a:prstGeom prst="rect">
            <a:avLst/>
          </a:prstGeom>
          <a:noFill/>
        </p:spPr>
        <p:txBody>
          <a:bodyPr wrap="none" lIns="0" rIns="0" tIns="0" bIns="0">
            <a:spAutoFit/>
          </a:bodyPr>
          <a:lstStyle/>
          <a:p>
            <a:r>
              <a:rPr sz="1100" b="0">
                <a:solidFill>
                  <a:srgbClr val="2E2E2E"/>
                </a:solidFill>
                <a:latin typeface="Calibri"/>
              </a:rPr>
              <a:t>CAGR), Mineral Ceramide Sunscreen</a:t>
            </a:r>
          </a:p>
        </p:txBody>
      </p:sp>
      <p:sp>
        <p:nvSpPr>
          <p:cNvPr id="101" name="TextBox 100"/>
          <p:cNvSpPr txBox="1"/>
          <p:nvPr/>
        </p:nvSpPr>
        <p:spPr>
          <a:xfrm>
            <a:off x="1752600" y="3882218"/>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02" name="TextBox 101"/>
          <p:cNvSpPr txBox="1"/>
          <p:nvPr/>
        </p:nvSpPr>
        <p:spPr>
          <a:xfrm>
            <a:off x="5562600" y="3798398"/>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03" name="Picture 102" descr="lock.png"/>
          <p:cNvPicPr>
            <a:picLocks noChangeAspect="1"/>
          </p:cNvPicPr>
          <p:nvPr/>
        </p:nvPicPr>
        <p:blipFill>
          <a:blip r:embed="rId4"/>
          <a:stretch>
            <a:fillRect/>
          </a:stretch>
        </p:blipFill>
        <p:spPr>
          <a:xfrm>
            <a:off x="6797766" y="3788619"/>
            <a:ext cx="128699" cy="187198"/>
          </a:xfrm>
          <a:prstGeom prst="rect">
            <a:avLst/>
          </a:prstGeom>
        </p:spPr>
      </p:pic>
      <p:sp>
        <p:nvSpPr>
          <p:cNvPr id="104" name="TextBox 103"/>
          <p:cNvSpPr txBox="1"/>
          <p:nvPr/>
        </p:nvSpPr>
        <p:spPr>
          <a:xfrm>
            <a:off x="6965262" y="3798398"/>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05" name="TextBox 104"/>
          <p:cNvSpPr txBox="1"/>
          <p:nvPr/>
        </p:nvSpPr>
        <p:spPr>
          <a:xfrm>
            <a:off x="8420100" y="3714578"/>
            <a:ext cx="2189162" cy="186689"/>
          </a:xfrm>
          <a:prstGeom prst="rect">
            <a:avLst/>
          </a:prstGeom>
          <a:noFill/>
        </p:spPr>
        <p:txBody>
          <a:bodyPr wrap="none" lIns="0" rIns="0" tIns="0" bIns="0">
            <a:spAutoFit/>
          </a:bodyPr>
          <a:lstStyle/>
          <a:p>
            <a:r>
              <a:rPr sz="1100" b="0">
                <a:solidFill>
                  <a:srgbClr val="2E2E2E"/>
                </a:solidFill>
                <a:latin typeface="Calibri"/>
              </a:rPr>
              <a:t>Scale Chemical Ceramide Sunscreen (</a:t>
            </a:r>
          </a:p>
        </p:txBody>
      </p:sp>
      <p:pic>
        <p:nvPicPr>
          <p:cNvPr id="106" name="Picture 105" descr="lock.png"/>
          <p:cNvPicPr>
            <a:picLocks noChangeAspect="1"/>
          </p:cNvPicPr>
          <p:nvPr/>
        </p:nvPicPr>
        <p:blipFill>
          <a:blip r:embed="rId4"/>
          <a:stretch>
            <a:fillRect/>
          </a:stretch>
        </p:blipFill>
        <p:spPr>
          <a:xfrm>
            <a:off x="10557314" y="3704799"/>
            <a:ext cx="128699" cy="187198"/>
          </a:xfrm>
          <a:prstGeom prst="rect">
            <a:avLst/>
          </a:prstGeom>
        </p:spPr>
      </p:pic>
      <p:sp>
        <p:nvSpPr>
          <p:cNvPr id="107" name="TextBox 106"/>
          <p:cNvSpPr txBox="1"/>
          <p:nvPr/>
        </p:nvSpPr>
        <p:spPr>
          <a:xfrm>
            <a:off x="10724809" y="3714578"/>
            <a:ext cx="830907" cy="186689"/>
          </a:xfrm>
          <a:prstGeom prst="rect">
            <a:avLst/>
          </a:prstGeom>
          <a:noFill/>
        </p:spPr>
        <p:txBody>
          <a:bodyPr wrap="none" lIns="0" rIns="0" tIns="0" bIns="0">
            <a:spAutoFit/>
          </a:bodyPr>
          <a:lstStyle/>
          <a:p>
            <a:r>
              <a:rPr sz="1100" b="0">
                <a:solidFill>
                  <a:srgbClr val="2E2E2E"/>
                </a:solidFill>
                <a:latin typeface="Calibri"/>
              </a:rPr>
              <a:t>), Mix shift to</a:t>
            </a:r>
          </a:p>
        </p:txBody>
      </p:sp>
      <p:sp>
        <p:nvSpPr>
          <p:cNvPr id="108" name="TextBox 107"/>
          <p:cNvSpPr txBox="1"/>
          <p:nvPr/>
        </p:nvSpPr>
        <p:spPr>
          <a:xfrm>
            <a:off x="8420100" y="3882218"/>
            <a:ext cx="1749598" cy="186689"/>
          </a:xfrm>
          <a:prstGeom prst="rect">
            <a:avLst/>
          </a:prstGeom>
          <a:noFill/>
        </p:spPr>
        <p:txBody>
          <a:bodyPr wrap="none" lIns="0" rIns="0" tIns="0" bIns="0">
            <a:spAutoFit/>
          </a:bodyPr>
          <a:lstStyle/>
          <a:p>
            <a:r>
              <a:rPr sz="1100" b="0">
                <a:solidFill>
                  <a:srgbClr val="2E2E2E"/>
                </a:solidFill>
                <a:latin typeface="Calibri"/>
              </a:rPr>
              <a:t>Mineral Ceramide Sunscreen,</a:t>
            </a:r>
          </a:p>
        </p:txBody>
      </p:sp>
      <p:pic>
        <p:nvPicPr>
          <p:cNvPr id="109" name="Picture 108" descr="lock.png"/>
          <p:cNvPicPr>
            <a:picLocks noChangeAspect="1"/>
          </p:cNvPicPr>
          <p:nvPr/>
        </p:nvPicPr>
        <p:blipFill>
          <a:blip r:embed="rId4"/>
          <a:stretch>
            <a:fillRect/>
          </a:stretch>
        </p:blipFill>
        <p:spPr>
          <a:xfrm>
            <a:off x="10117750" y="3872439"/>
            <a:ext cx="128699" cy="187198"/>
          </a:xfrm>
          <a:prstGeom prst="rect">
            <a:avLst/>
          </a:prstGeom>
        </p:spPr>
      </p:pic>
      <p:sp>
        <p:nvSpPr>
          <p:cNvPr id="110" name="TextBox 109"/>
          <p:cNvSpPr txBox="1"/>
          <p:nvPr/>
        </p:nvSpPr>
        <p:spPr>
          <a:xfrm>
            <a:off x="10285246" y="3882218"/>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11" name="TextBox 110"/>
          <p:cNvSpPr txBox="1"/>
          <p:nvPr/>
        </p:nvSpPr>
        <p:spPr>
          <a:xfrm>
            <a:off x="1752600" y="4225682"/>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12" name="Picture 111" descr="lock.png"/>
          <p:cNvPicPr>
            <a:picLocks noChangeAspect="1"/>
          </p:cNvPicPr>
          <p:nvPr/>
        </p:nvPicPr>
        <p:blipFill>
          <a:blip r:embed="rId4"/>
          <a:stretch>
            <a:fillRect/>
          </a:stretch>
        </p:blipFill>
        <p:spPr>
          <a:xfrm>
            <a:off x="2962118" y="4215903"/>
            <a:ext cx="128699" cy="187198"/>
          </a:xfrm>
          <a:prstGeom prst="rect">
            <a:avLst/>
          </a:prstGeom>
        </p:spPr>
      </p:pic>
      <p:sp>
        <p:nvSpPr>
          <p:cNvPr id="113" name="TextBox 112"/>
          <p:cNvSpPr txBox="1"/>
          <p:nvPr/>
        </p:nvSpPr>
        <p:spPr>
          <a:xfrm>
            <a:off x="3129614" y="4225682"/>
            <a:ext cx="1823541" cy="186689"/>
          </a:xfrm>
          <a:prstGeom prst="rect">
            <a:avLst/>
          </a:prstGeom>
          <a:noFill/>
        </p:spPr>
        <p:txBody>
          <a:bodyPr wrap="none" lIns="0" rIns="0" tIns="0" bIns="0">
            <a:spAutoFit/>
          </a:bodyPr>
          <a:lstStyle/>
          <a:p>
            <a:r>
              <a:rPr sz="1100" b="0">
                <a:solidFill>
                  <a:srgbClr val="2E2E2E"/>
                </a:solidFill>
                <a:latin typeface="Calibri"/>
              </a:rPr>
              <a:t>), Mineral Ceramide Sunscreen</a:t>
            </a:r>
          </a:p>
        </p:txBody>
      </p:sp>
      <p:sp>
        <p:nvSpPr>
          <p:cNvPr id="114" name="TextBox 113"/>
          <p:cNvSpPr txBox="1"/>
          <p:nvPr/>
        </p:nvSpPr>
        <p:spPr>
          <a:xfrm>
            <a:off x="1752600" y="4393322"/>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15" name="TextBox 114"/>
          <p:cNvSpPr txBox="1"/>
          <p:nvPr/>
        </p:nvSpPr>
        <p:spPr>
          <a:xfrm>
            <a:off x="5562600" y="4309502"/>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16" name="Picture 115" descr="lock.png"/>
          <p:cNvPicPr>
            <a:picLocks noChangeAspect="1"/>
          </p:cNvPicPr>
          <p:nvPr/>
        </p:nvPicPr>
        <p:blipFill>
          <a:blip r:embed="rId4"/>
          <a:stretch>
            <a:fillRect/>
          </a:stretch>
        </p:blipFill>
        <p:spPr>
          <a:xfrm>
            <a:off x="6623687" y="4299723"/>
            <a:ext cx="128699" cy="187198"/>
          </a:xfrm>
          <a:prstGeom prst="rect">
            <a:avLst/>
          </a:prstGeom>
        </p:spPr>
      </p:pic>
      <p:sp>
        <p:nvSpPr>
          <p:cNvPr id="117" name="TextBox 116"/>
          <p:cNvSpPr txBox="1"/>
          <p:nvPr/>
        </p:nvSpPr>
        <p:spPr>
          <a:xfrm>
            <a:off x="6791183" y="4309502"/>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18" name="TextBox 117"/>
          <p:cNvSpPr txBox="1"/>
          <p:nvPr/>
        </p:nvSpPr>
        <p:spPr>
          <a:xfrm>
            <a:off x="8420100" y="4225682"/>
            <a:ext cx="2189162" cy="186689"/>
          </a:xfrm>
          <a:prstGeom prst="rect">
            <a:avLst/>
          </a:prstGeom>
          <a:noFill/>
        </p:spPr>
        <p:txBody>
          <a:bodyPr wrap="none" lIns="0" rIns="0" tIns="0" bIns="0">
            <a:spAutoFit/>
          </a:bodyPr>
          <a:lstStyle/>
          <a:p>
            <a:r>
              <a:rPr sz="1100" b="0">
                <a:solidFill>
                  <a:srgbClr val="2E2E2E"/>
                </a:solidFill>
                <a:latin typeface="Calibri"/>
              </a:rPr>
              <a:t>Scale Chemical Ceramide Sunscreen (</a:t>
            </a:r>
          </a:p>
        </p:txBody>
      </p:sp>
      <p:pic>
        <p:nvPicPr>
          <p:cNvPr id="119" name="Picture 118" descr="lock.png"/>
          <p:cNvPicPr>
            <a:picLocks noChangeAspect="1"/>
          </p:cNvPicPr>
          <p:nvPr/>
        </p:nvPicPr>
        <p:blipFill>
          <a:blip r:embed="rId4"/>
          <a:stretch>
            <a:fillRect/>
          </a:stretch>
        </p:blipFill>
        <p:spPr>
          <a:xfrm>
            <a:off x="10557314" y="4215903"/>
            <a:ext cx="128699" cy="187198"/>
          </a:xfrm>
          <a:prstGeom prst="rect">
            <a:avLst/>
          </a:prstGeom>
        </p:spPr>
      </p:pic>
      <p:sp>
        <p:nvSpPr>
          <p:cNvPr id="120" name="TextBox 119"/>
          <p:cNvSpPr txBox="1"/>
          <p:nvPr/>
        </p:nvSpPr>
        <p:spPr>
          <a:xfrm>
            <a:off x="10724809" y="4225682"/>
            <a:ext cx="830907" cy="186689"/>
          </a:xfrm>
          <a:prstGeom prst="rect">
            <a:avLst/>
          </a:prstGeom>
          <a:noFill/>
        </p:spPr>
        <p:txBody>
          <a:bodyPr wrap="none" lIns="0" rIns="0" tIns="0" bIns="0">
            <a:spAutoFit/>
          </a:bodyPr>
          <a:lstStyle/>
          <a:p>
            <a:r>
              <a:rPr sz="1100" b="0">
                <a:solidFill>
                  <a:srgbClr val="2E2E2E"/>
                </a:solidFill>
                <a:latin typeface="Calibri"/>
              </a:rPr>
              <a:t>), Mix shift to</a:t>
            </a:r>
          </a:p>
        </p:txBody>
      </p:sp>
      <p:sp>
        <p:nvSpPr>
          <p:cNvPr id="121" name="TextBox 120"/>
          <p:cNvSpPr txBox="1"/>
          <p:nvPr/>
        </p:nvSpPr>
        <p:spPr>
          <a:xfrm>
            <a:off x="8420100" y="4393322"/>
            <a:ext cx="1749598" cy="186689"/>
          </a:xfrm>
          <a:prstGeom prst="rect">
            <a:avLst/>
          </a:prstGeom>
          <a:noFill/>
        </p:spPr>
        <p:txBody>
          <a:bodyPr wrap="none" lIns="0" rIns="0" tIns="0" bIns="0">
            <a:spAutoFit/>
          </a:bodyPr>
          <a:lstStyle/>
          <a:p>
            <a:r>
              <a:rPr sz="1100" b="0">
                <a:solidFill>
                  <a:srgbClr val="2E2E2E"/>
                </a:solidFill>
                <a:latin typeface="Calibri"/>
              </a:rPr>
              <a:t>Mineral Ceramide Sunscreen,</a:t>
            </a:r>
          </a:p>
        </p:txBody>
      </p:sp>
      <p:pic>
        <p:nvPicPr>
          <p:cNvPr id="122" name="Picture 121" descr="lock.png"/>
          <p:cNvPicPr>
            <a:picLocks noChangeAspect="1"/>
          </p:cNvPicPr>
          <p:nvPr/>
        </p:nvPicPr>
        <p:blipFill>
          <a:blip r:embed="rId4"/>
          <a:stretch>
            <a:fillRect/>
          </a:stretch>
        </p:blipFill>
        <p:spPr>
          <a:xfrm>
            <a:off x="10117750" y="4383543"/>
            <a:ext cx="128699" cy="187198"/>
          </a:xfrm>
          <a:prstGeom prst="rect">
            <a:avLst/>
          </a:prstGeom>
        </p:spPr>
      </p:pic>
      <p:sp>
        <p:nvSpPr>
          <p:cNvPr id="123" name="TextBox 122"/>
          <p:cNvSpPr txBox="1"/>
          <p:nvPr/>
        </p:nvSpPr>
        <p:spPr>
          <a:xfrm>
            <a:off x="10285246" y="4393322"/>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24" name="TextBox 123"/>
          <p:cNvSpPr txBox="1"/>
          <p:nvPr/>
        </p:nvSpPr>
        <p:spPr>
          <a:xfrm>
            <a:off x="1752600" y="4736785"/>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25" name="Picture 124" descr="lock.png"/>
          <p:cNvPicPr>
            <a:picLocks noChangeAspect="1"/>
          </p:cNvPicPr>
          <p:nvPr/>
        </p:nvPicPr>
        <p:blipFill>
          <a:blip r:embed="rId4"/>
          <a:stretch>
            <a:fillRect/>
          </a:stretch>
        </p:blipFill>
        <p:spPr>
          <a:xfrm>
            <a:off x="2834969" y="4727006"/>
            <a:ext cx="128699" cy="187198"/>
          </a:xfrm>
          <a:prstGeom prst="rect">
            <a:avLst/>
          </a:prstGeom>
        </p:spPr>
      </p:pic>
      <p:sp>
        <p:nvSpPr>
          <p:cNvPr id="126" name="TextBox 125"/>
          <p:cNvSpPr txBox="1"/>
          <p:nvPr/>
        </p:nvSpPr>
        <p:spPr>
          <a:xfrm>
            <a:off x="3002465" y="4736785"/>
            <a:ext cx="2142760" cy="186689"/>
          </a:xfrm>
          <a:prstGeom prst="rect">
            <a:avLst/>
          </a:prstGeom>
          <a:noFill/>
        </p:spPr>
        <p:txBody>
          <a:bodyPr wrap="none" lIns="0" rIns="0" tIns="0" bIns="0">
            <a:spAutoFit/>
          </a:bodyPr>
          <a:lstStyle/>
          <a:p>
            <a:r>
              <a:rPr sz="1100" b="0">
                <a:solidFill>
                  <a:srgbClr val="2E2E2E"/>
                </a:solidFill>
                <a:latin typeface="Calibri"/>
              </a:rPr>
              <a:t>CAGR), Mineral Ceramide Sunscreen</a:t>
            </a:r>
          </a:p>
        </p:txBody>
      </p:sp>
      <p:sp>
        <p:nvSpPr>
          <p:cNvPr id="127" name="TextBox 126"/>
          <p:cNvSpPr txBox="1"/>
          <p:nvPr/>
        </p:nvSpPr>
        <p:spPr>
          <a:xfrm>
            <a:off x="1752600" y="4904425"/>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28" name="TextBox 127"/>
          <p:cNvSpPr txBox="1"/>
          <p:nvPr/>
        </p:nvSpPr>
        <p:spPr>
          <a:xfrm>
            <a:off x="5562600" y="4820605"/>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29" name="Picture 128" descr="lock.png"/>
          <p:cNvPicPr>
            <a:picLocks noChangeAspect="1"/>
          </p:cNvPicPr>
          <p:nvPr/>
        </p:nvPicPr>
        <p:blipFill>
          <a:blip r:embed="rId4"/>
          <a:stretch>
            <a:fillRect/>
          </a:stretch>
        </p:blipFill>
        <p:spPr>
          <a:xfrm>
            <a:off x="6797766" y="4810826"/>
            <a:ext cx="128699" cy="187198"/>
          </a:xfrm>
          <a:prstGeom prst="rect">
            <a:avLst/>
          </a:prstGeom>
        </p:spPr>
      </p:pic>
      <p:sp>
        <p:nvSpPr>
          <p:cNvPr id="130" name="TextBox 129"/>
          <p:cNvSpPr txBox="1"/>
          <p:nvPr/>
        </p:nvSpPr>
        <p:spPr>
          <a:xfrm>
            <a:off x="6965262" y="4820605"/>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31" name="TextBox 130"/>
          <p:cNvSpPr txBox="1"/>
          <p:nvPr/>
        </p:nvSpPr>
        <p:spPr>
          <a:xfrm>
            <a:off x="8420100" y="4736785"/>
            <a:ext cx="2189162" cy="186689"/>
          </a:xfrm>
          <a:prstGeom prst="rect">
            <a:avLst/>
          </a:prstGeom>
          <a:noFill/>
        </p:spPr>
        <p:txBody>
          <a:bodyPr wrap="none" lIns="0" rIns="0" tIns="0" bIns="0">
            <a:spAutoFit/>
          </a:bodyPr>
          <a:lstStyle/>
          <a:p>
            <a:r>
              <a:rPr sz="1100" b="0">
                <a:solidFill>
                  <a:srgbClr val="2E2E2E"/>
                </a:solidFill>
                <a:latin typeface="Calibri"/>
              </a:rPr>
              <a:t>Scale Chemical Ceramide Sunscreen (</a:t>
            </a:r>
          </a:p>
        </p:txBody>
      </p:sp>
      <p:pic>
        <p:nvPicPr>
          <p:cNvPr id="132" name="Picture 131" descr="lock.png"/>
          <p:cNvPicPr>
            <a:picLocks noChangeAspect="1"/>
          </p:cNvPicPr>
          <p:nvPr/>
        </p:nvPicPr>
        <p:blipFill>
          <a:blip r:embed="rId4"/>
          <a:stretch>
            <a:fillRect/>
          </a:stretch>
        </p:blipFill>
        <p:spPr>
          <a:xfrm>
            <a:off x="10557314" y="4727006"/>
            <a:ext cx="128699" cy="187198"/>
          </a:xfrm>
          <a:prstGeom prst="rect">
            <a:avLst/>
          </a:prstGeom>
        </p:spPr>
      </p:pic>
      <p:sp>
        <p:nvSpPr>
          <p:cNvPr id="133" name="TextBox 132"/>
          <p:cNvSpPr txBox="1"/>
          <p:nvPr/>
        </p:nvSpPr>
        <p:spPr>
          <a:xfrm>
            <a:off x="10724809" y="4736785"/>
            <a:ext cx="830907" cy="186689"/>
          </a:xfrm>
          <a:prstGeom prst="rect">
            <a:avLst/>
          </a:prstGeom>
          <a:noFill/>
        </p:spPr>
        <p:txBody>
          <a:bodyPr wrap="none" lIns="0" rIns="0" tIns="0" bIns="0">
            <a:spAutoFit/>
          </a:bodyPr>
          <a:lstStyle/>
          <a:p>
            <a:r>
              <a:rPr sz="1100" b="0">
                <a:solidFill>
                  <a:srgbClr val="2E2E2E"/>
                </a:solidFill>
                <a:latin typeface="Calibri"/>
              </a:rPr>
              <a:t>), Mix shift to</a:t>
            </a:r>
          </a:p>
        </p:txBody>
      </p:sp>
      <p:sp>
        <p:nvSpPr>
          <p:cNvPr id="134" name="TextBox 133"/>
          <p:cNvSpPr txBox="1"/>
          <p:nvPr/>
        </p:nvSpPr>
        <p:spPr>
          <a:xfrm>
            <a:off x="8420100" y="4904425"/>
            <a:ext cx="1749598" cy="186689"/>
          </a:xfrm>
          <a:prstGeom prst="rect">
            <a:avLst/>
          </a:prstGeom>
          <a:noFill/>
        </p:spPr>
        <p:txBody>
          <a:bodyPr wrap="none" lIns="0" rIns="0" tIns="0" bIns="0">
            <a:spAutoFit/>
          </a:bodyPr>
          <a:lstStyle/>
          <a:p>
            <a:r>
              <a:rPr sz="1100" b="0">
                <a:solidFill>
                  <a:srgbClr val="2E2E2E"/>
                </a:solidFill>
                <a:latin typeface="Calibri"/>
              </a:rPr>
              <a:t>Mineral Ceramide Sunscreen,</a:t>
            </a:r>
          </a:p>
        </p:txBody>
      </p:sp>
      <p:pic>
        <p:nvPicPr>
          <p:cNvPr id="135" name="Picture 134" descr="lock.png"/>
          <p:cNvPicPr>
            <a:picLocks noChangeAspect="1"/>
          </p:cNvPicPr>
          <p:nvPr/>
        </p:nvPicPr>
        <p:blipFill>
          <a:blip r:embed="rId4"/>
          <a:stretch>
            <a:fillRect/>
          </a:stretch>
        </p:blipFill>
        <p:spPr>
          <a:xfrm>
            <a:off x="10117750" y="4894645"/>
            <a:ext cx="128699" cy="187198"/>
          </a:xfrm>
          <a:prstGeom prst="rect">
            <a:avLst/>
          </a:prstGeom>
        </p:spPr>
      </p:pic>
      <p:sp>
        <p:nvSpPr>
          <p:cNvPr id="136" name="TextBox 135"/>
          <p:cNvSpPr txBox="1"/>
          <p:nvPr/>
        </p:nvSpPr>
        <p:spPr>
          <a:xfrm>
            <a:off x="10285246" y="4904425"/>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37" name="TextBox 136"/>
          <p:cNvSpPr txBox="1"/>
          <p:nvPr/>
        </p:nvSpPr>
        <p:spPr>
          <a:xfrm>
            <a:off x="304800" y="5807511"/>
            <a:ext cx="4373612" cy="186689"/>
          </a:xfrm>
          <a:prstGeom prst="rect">
            <a:avLst/>
          </a:prstGeom>
          <a:noFill/>
        </p:spPr>
        <p:txBody>
          <a:bodyPr wrap="none" lIns="0" rIns="0" tIns="0" bIns="0">
            <a:spAutoFit/>
          </a:bodyPr>
          <a:lstStyle/>
          <a:p>
            <a:r>
              <a:rPr sz="1100" b="0">
                <a:solidFill>
                  <a:srgbClr val="2E2E2E"/>
                </a:solidFill>
                <a:latin typeface="Calibri"/>
              </a:rPr>
              <a:t>▪ North America, Europe, South Asia &amp; Pacific anchor scale with a combined</a:t>
            </a:r>
          </a:p>
        </p:txBody>
      </p:sp>
      <p:pic>
        <p:nvPicPr>
          <p:cNvPr id="138" name="Picture 137" descr="lock.png"/>
          <p:cNvPicPr>
            <a:picLocks noChangeAspect="1"/>
          </p:cNvPicPr>
          <p:nvPr/>
        </p:nvPicPr>
        <p:blipFill>
          <a:blip r:embed="rId4"/>
          <a:stretch>
            <a:fillRect/>
          </a:stretch>
        </p:blipFill>
        <p:spPr>
          <a:xfrm>
            <a:off x="4626463" y="5797732"/>
            <a:ext cx="128699" cy="187198"/>
          </a:xfrm>
          <a:prstGeom prst="rect">
            <a:avLst/>
          </a:prstGeom>
        </p:spPr>
      </p:pic>
      <p:sp>
        <p:nvSpPr>
          <p:cNvPr id="139" name="TextBox 138"/>
          <p:cNvSpPr txBox="1"/>
          <p:nvPr/>
        </p:nvSpPr>
        <p:spPr>
          <a:xfrm>
            <a:off x="4793959" y="5807511"/>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40" name="Picture 139" descr="lock.png"/>
          <p:cNvPicPr>
            <a:picLocks noChangeAspect="1"/>
          </p:cNvPicPr>
          <p:nvPr/>
        </p:nvPicPr>
        <p:blipFill>
          <a:blip r:embed="rId4"/>
          <a:stretch>
            <a:fillRect/>
          </a:stretch>
        </p:blipFill>
        <p:spPr>
          <a:xfrm>
            <a:off x="9365009" y="5797732"/>
            <a:ext cx="128699" cy="187198"/>
          </a:xfrm>
          <a:prstGeom prst="rect">
            <a:avLst/>
          </a:prstGeom>
        </p:spPr>
      </p:pic>
      <p:sp>
        <p:nvSpPr>
          <p:cNvPr id="141" name="TextBox 140"/>
          <p:cNvSpPr txBox="1"/>
          <p:nvPr/>
        </p:nvSpPr>
        <p:spPr>
          <a:xfrm>
            <a:off x="9532505" y="5807511"/>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42" name="Picture 141" descr="lock.png"/>
          <p:cNvPicPr>
            <a:picLocks noChangeAspect="1"/>
          </p:cNvPicPr>
          <p:nvPr/>
        </p:nvPicPr>
        <p:blipFill>
          <a:blip r:embed="rId4"/>
          <a:stretch>
            <a:fillRect/>
          </a:stretch>
        </p:blipFill>
        <p:spPr>
          <a:xfrm>
            <a:off x="291332" y="5965372"/>
            <a:ext cx="128699" cy="187198"/>
          </a:xfrm>
          <a:prstGeom prst="rect">
            <a:avLst/>
          </a:prstGeom>
        </p:spPr>
      </p:pic>
      <p:sp>
        <p:nvSpPr>
          <p:cNvPr id="143" name="TextBox 142"/>
          <p:cNvSpPr txBox="1"/>
          <p:nvPr/>
        </p:nvSpPr>
        <p:spPr>
          <a:xfrm>
            <a:off x="458828" y="5975151"/>
            <a:ext cx="11008816" cy="186689"/>
          </a:xfrm>
          <a:prstGeom prst="rect">
            <a:avLst/>
          </a:prstGeom>
          <a:noFill/>
        </p:spPr>
        <p:txBody>
          <a:bodyPr wrap="none" lIns="0" rIns="0" tIns="0" bIns="0">
            <a:spAutoFit/>
          </a:bodyPr>
          <a:lstStyle/>
          <a:p>
            <a:r>
              <a:rPr sz="1100" b="0">
                <a:solidFill>
                  <a:srgbClr val="2E2E2E"/>
                </a:solidFill>
                <a:latin typeface="Calibri"/>
              </a:rPr>
              <a:t>. 3 of 6 regions grow at or above that pace, so entry logic has to differ by region scale defence in the leaders, mix and premiumisation in the mid-tier, and availability-led expansion in the fastest</a:t>
            </a:r>
          </a:p>
        </p:txBody>
      </p:sp>
      <p:sp>
        <p:nvSpPr>
          <p:cNvPr id="144" name="TextBox 143"/>
          <p:cNvSpPr txBox="1"/>
          <p:nvPr/>
        </p:nvSpPr>
        <p:spPr>
          <a:xfrm>
            <a:off x="304800" y="6142791"/>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Oval 9"/>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38400" y="1783043"/>
            <a:ext cx="2324100" cy="3011860"/>
          </a:xfrm>
          <a:custGeom>
            <a:avLst/>
            <a:gdLst/>
            <a:ahLst/>
            <a:cxnLst/>
            <a:rect l="l" t="t" r="r" b="b"/>
            <a:pathLst>
              <a:path w="244" h="330">
                <a:moveTo>
                  <a:pt x="244" y="0"/>
                </a:moveTo>
                <a:lnTo>
                  <a:pt x="180" y="97"/>
                </a:lnTo>
                <a:lnTo>
                  <a:pt x="49" y="75"/>
                </a:lnTo>
                <a:lnTo>
                  <a:pt x="97" y="197"/>
                </a:lnTo>
                <a:lnTo>
                  <a:pt x="0" y="287"/>
                </a:lnTo>
                <a:lnTo>
                  <a:pt x="133" y="319"/>
                </a:lnTo>
                <a:lnTo>
                  <a:pt x="203" y="315"/>
                </a:lnTo>
                <a:lnTo>
                  <a:pt x="244" y="330"/>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1" name="Oval 30"/>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3" name="Oval 32"/>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5" name="Oval 34"/>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7" name="Oval 36"/>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9" name="Oval 38"/>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1" name="Oval 40"/>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3" name="Oval 42"/>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5" name="Rectangle 44"/>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7"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8"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9"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50"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51"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52"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3"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4"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5"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6"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7" name="Connector 56"/>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9" name="Connector 58"/>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3 product type lines and 4 end-use application routes, giving producers focused reformulation and channel latitude.</a:t>
            </a:r>
          </a:p>
        </p:txBody>
      </p:sp>
      <p:sp>
        <p:nvSpPr>
          <p:cNvPr id="64" name="TextBox 63"/>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8" name="Picture 67" descr="lock.png"/>
          <p:cNvPicPr>
            <a:picLocks noChangeAspect="1"/>
          </p:cNvPicPr>
          <p:nvPr/>
        </p:nvPicPr>
        <p:blipFill>
          <a:blip r:embed="rId4"/>
          <a:stretch>
            <a:fillRect/>
          </a:stretch>
        </p:blipFill>
        <p:spPr>
          <a:xfrm>
            <a:off x="4538330" y="1313604"/>
            <a:ext cx="118403" cy="172222"/>
          </a:xfrm>
          <a:prstGeom prst="rect">
            <a:avLst/>
          </a:prstGeom>
        </p:spPr>
      </p:pic>
      <p:sp>
        <p:nvSpPr>
          <p:cNvPr id="69" name="TextBox 68"/>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70" name="Picture 69" descr="lock.png"/>
          <p:cNvPicPr>
            <a:picLocks noChangeAspect="1"/>
          </p:cNvPicPr>
          <p:nvPr/>
        </p:nvPicPr>
        <p:blipFill>
          <a:blip r:embed="rId4"/>
          <a:stretch>
            <a:fillRect/>
          </a:stretch>
        </p:blipFill>
        <p:spPr>
          <a:xfrm>
            <a:off x="3523486" y="1552218"/>
            <a:ext cx="118403" cy="172222"/>
          </a:xfrm>
          <a:prstGeom prst="rect">
            <a:avLst/>
          </a:prstGeom>
        </p:spPr>
      </p:pic>
      <p:sp>
        <p:nvSpPr>
          <p:cNvPr id="71" name="TextBox 70"/>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2" name="Picture 71" descr="lock.png"/>
          <p:cNvPicPr>
            <a:picLocks noChangeAspect="1"/>
          </p:cNvPicPr>
          <p:nvPr/>
        </p:nvPicPr>
        <p:blipFill>
          <a:blip r:embed="rId4"/>
          <a:stretch>
            <a:fillRect/>
          </a:stretch>
        </p:blipFill>
        <p:spPr>
          <a:xfrm>
            <a:off x="2648537" y="2302942"/>
            <a:ext cx="118403" cy="172222"/>
          </a:xfrm>
          <a:prstGeom prst="rect">
            <a:avLst/>
          </a:prstGeom>
        </p:spPr>
      </p:pic>
      <p:sp>
        <p:nvSpPr>
          <p:cNvPr id="73" name="TextBox 72"/>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4" name="Picture 73" descr="lock.png"/>
          <p:cNvPicPr>
            <a:picLocks noChangeAspect="1"/>
          </p:cNvPicPr>
          <p:nvPr/>
        </p:nvPicPr>
        <p:blipFill>
          <a:blip r:embed="rId4"/>
          <a:stretch>
            <a:fillRect/>
          </a:stretch>
        </p:blipFill>
        <p:spPr>
          <a:xfrm>
            <a:off x="2162976" y="3269072"/>
            <a:ext cx="118403" cy="172222"/>
          </a:xfrm>
          <a:prstGeom prst="rect">
            <a:avLst/>
          </a:prstGeom>
        </p:spPr>
      </p:pic>
      <p:sp>
        <p:nvSpPr>
          <p:cNvPr id="75" name="TextBox 74"/>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6" name="Picture 75" descr="lock.png"/>
          <p:cNvPicPr>
            <a:picLocks noChangeAspect="1"/>
          </p:cNvPicPr>
          <p:nvPr/>
        </p:nvPicPr>
        <p:blipFill>
          <a:blip r:embed="rId4"/>
          <a:stretch>
            <a:fillRect/>
          </a:stretch>
        </p:blipFill>
        <p:spPr>
          <a:xfrm>
            <a:off x="2162976" y="4341395"/>
            <a:ext cx="118403" cy="172222"/>
          </a:xfrm>
          <a:prstGeom prst="rect">
            <a:avLst/>
          </a:prstGeom>
        </p:spPr>
      </p:pic>
      <p:sp>
        <p:nvSpPr>
          <p:cNvPr id="77" name="TextBox 76"/>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8" name="Picture 77" descr="lock.png"/>
          <p:cNvPicPr>
            <a:picLocks noChangeAspect="1"/>
          </p:cNvPicPr>
          <p:nvPr/>
        </p:nvPicPr>
        <p:blipFill>
          <a:blip r:embed="rId4"/>
          <a:stretch>
            <a:fillRect/>
          </a:stretch>
        </p:blipFill>
        <p:spPr>
          <a:xfrm>
            <a:off x="2648537" y="5307524"/>
            <a:ext cx="118403" cy="172222"/>
          </a:xfrm>
          <a:prstGeom prst="rect">
            <a:avLst/>
          </a:prstGeom>
        </p:spPr>
      </p:pic>
      <p:sp>
        <p:nvSpPr>
          <p:cNvPr id="79" name="TextBox 78"/>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80" name="Picture 79" descr="lock.png"/>
          <p:cNvPicPr>
            <a:picLocks noChangeAspect="1"/>
          </p:cNvPicPr>
          <p:nvPr/>
        </p:nvPicPr>
        <p:blipFill>
          <a:blip r:embed="rId4"/>
          <a:stretch>
            <a:fillRect/>
          </a:stretch>
        </p:blipFill>
        <p:spPr>
          <a:xfrm>
            <a:off x="3523486" y="6058248"/>
            <a:ext cx="118403" cy="172222"/>
          </a:xfrm>
          <a:prstGeom prst="rect">
            <a:avLst/>
          </a:prstGeom>
        </p:spPr>
      </p:pic>
      <p:sp>
        <p:nvSpPr>
          <p:cNvPr id="81" name="TextBox 80"/>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2" name="Picture 81" descr="lock.png"/>
          <p:cNvPicPr>
            <a:picLocks noChangeAspect="1"/>
          </p:cNvPicPr>
          <p:nvPr/>
        </p:nvPicPr>
        <p:blipFill>
          <a:blip r:embed="rId4"/>
          <a:stretch>
            <a:fillRect/>
          </a:stretch>
        </p:blipFill>
        <p:spPr>
          <a:xfrm>
            <a:off x="4538330" y="6296863"/>
            <a:ext cx="118403" cy="172222"/>
          </a:xfrm>
          <a:prstGeom prst="rect">
            <a:avLst/>
          </a:prstGeom>
        </p:spPr>
      </p:pic>
      <p:sp>
        <p:nvSpPr>
          <p:cNvPr id="83" name="TextBox 82"/>
          <p:cNvSpPr txBox="1"/>
          <p:nvPr/>
        </p:nvSpPr>
        <p:spPr>
          <a:xfrm>
            <a:off x="5000625" y="1496754"/>
            <a:ext cx="2874019" cy="186689"/>
          </a:xfrm>
          <a:prstGeom prst="rect">
            <a:avLst/>
          </a:prstGeom>
          <a:noFill/>
        </p:spPr>
        <p:txBody>
          <a:bodyPr wrap="none" lIns="0" rIns="0" tIns="0" bIns="0">
            <a:spAutoFit/>
          </a:bodyPr>
          <a:lstStyle/>
          <a:p>
            <a:r>
              <a:rPr sz="1100" b="0">
                <a:solidFill>
                  <a:srgbClr val="2E2E2E"/>
                </a:solidFill>
                <a:latin typeface="Calibri"/>
              </a:rPr>
              <a:t>▪ Supply-side conditions are led by Capacity Add (</a:t>
            </a:r>
          </a:p>
        </p:txBody>
      </p:sp>
      <p:pic>
        <p:nvPicPr>
          <p:cNvPr id="84" name="Picture 83" descr="lock.png"/>
          <p:cNvPicPr>
            <a:picLocks noChangeAspect="1"/>
          </p:cNvPicPr>
          <p:nvPr/>
        </p:nvPicPr>
        <p:blipFill>
          <a:blip r:embed="rId4"/>
          <a:stretch>
            <a:fillRect/>
          </a:stretch>
        </p:blipFill>
        <p:spPr>
          <a:xfrm>
            <a:off x="7822696" y="1486975"/>
            <a:ext cx="128699" cy="187198"/>
          </a:xfrm>
          <a:prstGeom prst="rect">
            <a:avLst/>
          </a:prstGeom>
        </p:spPr>
      </p:pic>
      <p:sp>
        <p:nvSpPr>
          <p:cNvPr id="85" name="TextBox 84"/>
          <p:cNvSpPr txBox="1"/>
          <p:nvPr/>
        </p:nvSpPr>
        <p:spPr>
          <a:xfrm>
            <a:off x="7990192" y="1496754"/>
            <a:ext cx="1533773" cy="186689"/>
          </a:xfrm>
          <a:prstGeom prst="rect">
            <a:avLst/>
          </a:prstGeom>
          <a:noFill/>
        </p:spPr>
        <p:txBody>
          <a:bodyPr wrap="none" lIns="0" rIns="0" tIns="0" bIns="0">
            <a:spAutoFit/>
          </a:bodyPr>
          <a:lstStyle/>
          <a:p>
            <a:r>
              <a:rPr sz="1100" b="0">
                <a:solidFill>
                  <a:srgbClr val="2E2E2E"/>
                </a:solidFill>
                <a:latin typeface="Calibri"/>
              </a:rPr>
              <a:t>/10), Geographic Spread (</a:t>
            </a:r>
          </a:p>
        </p:txBody>
      </p:sp>
      <p:pic>
        <p:nvPicPr>
          <p:cNvPr id="86" name="Picture 85" descr="lock.png"/>
          <p:cNvPicPr>
            <a:picLocks noChangeAspect="1"/>
          </p:cNvPicPr>
          <p:nvPr/>
        </p:nvPicPr>
        <p:blipFill>
          <a:blip r:embed="rId4"/>
          <a:stretch>
            <a:fillRect/>
          </a:stretch>
        </p:blipFill>
        <p:spPr>
          <a:xfrm>
            <a:off x="9472016" y="1486975"/>
            <a:ext cx="128699" cy="187198"/>
          </a:xfrm>
          <a:prstGeom prst="rect">
            <a:avLst/>
          </a:prstGeom>
        </p:spPr>
      </p:pic>
      <p:sp>
        <p:nvSpPr>
          <p:cNvPr id="87" name="TextBox 86"/>
          <p:cNvSpPr txBox="1"/>
          <p:nvPr/>
        </p:nvSpPr>
        <p:spPr>
          <a:xfrm>
            <a:off x="9639512" y="1496754"/>
            <a:ext cx="1595164" cy="186689"/>
          </a:xfrm>
          <a:prstGeom prst="rect">
            <a:avLst/>
          </a:prstGeom>
          <a:noFill/>
        </p:spPr>
        <p:txBody>
          <a:bodyPr wrap="none" lIns="0" rIns="0" tIns="0" bIns="0">
            <a:spAutoFit/>
          </a:bodyPr>
          <a:lstStyle/>
          <a:p>
            <a:r>
              <a:rPr sz="1100" b="0">
                <a:solidFill>
                  <a:srgbClr val="2E2E2E"/>
                </a:solidFill>
                <a:latin typeface="Calibri"/>
              </a:rPr>
              <a:t>/10), Production Scale-up (</a:t>
            </a:r>
          </a:p>
        </p:txBody>
      </p:sp>
      <p:pic>
        <p:nvPicPr>
          <p:cNvPr id="88" name="Picture 87" descr="lock.png"/>
          <p:cNvPicPr>
            <a:picLocks noChangeAspect="1"/>
          </p:cNvPicPr>
          <p:nvPr/>
        </p:nvPicPr>
        <p:blipFill>
          <a:blip r:embed="rId4"/>
          <a:stretch>
            <a:fillRect/>
          </a:stretch>
        </p:blipFill>
        <p:spPr>
          <a:xfrm>
            <a:off x="11182729" y="1486975"/>
            <a:ext cx="128699" cy="187198"/>
          </a:xfrm>
          <a:prstGeom prst="rect">
            <a:avLst/>
          </a:prstGeom>
        </p:spPr>
      </p:pic>
      <p:sp>
        <p:nvSpPr>
          <p:cNvPr id="89" name="TextBox 88"/>
          <p:cNvSpPr txBox="1"/>
          <p:nvPr/>
        </p:nvSpPr>
        <p:spPr>
          <a:xfrm>
            <a:off x="11350224"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90" name="TextBox 89"/>
          <p:cNvSpPr txBox="1"/>
          <p:nvPr/>
        </p:nvSpPr>
        <p:spPr>
          <a:xfrm>
            <a:off x="5000625"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91" name="TextBox 90"/>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2" name="Picture 91" descr="lock.png"/>
          <p:cNvPicPr>
            <a:picLocks noChangeAspect="1"/>
          </p:cNvPicPr>
          <p:nvPr/>
        </p:nvPicPr>
        <p:blipFill>
          <a:blip r:embed="rId4"/>
          <a:stretch>
            <a:fillRect/>
          </a:stretch>
        </p:blipFill>
        <p:spPr>
          <a:xfrm>
            <a:off x="6194591" y="1943318"/>
            <a:ext cx="128699" cy="187198"/>
          </a:xfrm>
          <a:prstGeom prst="rect">
            <a:avLst/>
          </a:prstGeom>
        </p:spPr>
      </p:pic>
      <p:sp>
        <p:nvSpPr>
          <p:cNvPr id="93" name="TextBox 92"/>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4" name="Picture 93" descr="lock.png"/>
          <p:cNvPicPr>
            <a:picLocks noChangeAspect="1"/>
          </p:cNvPicPr>
          <p:nvPr/>
        </p:nvPicPr>
        <p:blipFill>
          <a:blip r:embed="rId4"/>
          <a:stretch>
            <a:fillRect/>
          </a:stretch>
        </p:blipFill>
        <p:spPr>
          <a:xfrm>
            <a:off x="9312927" y="1943318"/>
            <a:ext cx="128699" cy="187198"/>
          </a:xfrm>
          <a:prstGeom prst="rect">
            <a:avLst/>
          </a:prstGeom>
        </p:spPr>
      </p:pic>
      <p:sp>
        <p:nvSpPr>
          <p:cNvPr id="95" name="TextBox 94"/>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6" name="TextBox 95"/>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7" name="TextBox 96"/>
          <p:cNvSpPr txBox="1"/>
          <p:nvPr/>
        </p:nvSpPr>
        <p:spPr>
          <a:xfrm>
            <a:off x="5000625" y="2401990"/>
            <a:ext cx="2540049" cy="186689"/>
          </a:xfrm>
          <a:prstGeom prst="rect">
            <a:avLst/>
          </a:prstGeom>
          <a:noFill/>
        </p:spPr>
        <p:txBody>
          <a:bodyPr wrap="none" lIns="0" rIns="0" tIns="0" bIns="0">
            <a:spAutoFit/>
          </a:bodyPr>
          <a:lstStyle/>
          <a:p>
            <a:r>
              <a:rPr sz="1100" b="0">
                <a:solidFill>
                  <a:srgbClr val="2E2E2E"/>
                </a:solidFill>
                <a:latin typeface="Calibri"/>
              </a:rPr>
              <a:t>▪ Supply is dispersed: 'North America' holds</a:t>
            </a:r>
          </a:p>
        </p:txBody>
      </p:sp>
      <p:pic>
        <p:nvPicPr>
          <p:cNvPr id="98" name="Picture 97" descr="lock.png"/>
          <p:cNvPicPr>
            <a:picLocks noChangeAspect="1"/>
          </p:cNvPicPr>
          <p:nvPr/>
        </p:nvPicPr>
        <p:blipFill>
          <a:blip r:embed="rId4"/>
          <a:stretch>
            <a:fillRect/>
          </a:stretch>
        </p:blipFill>
        <p:spPr>
          <a:xfrm>
            <a:off x="7488726" y="2392211"/>
            <a:ext cx="128699" cy="187198"/>
          </a:xfrm>
          <a:prstGeom prst="rect">
            <a:avLst/>
          </a:prstGeom>
        </p:spPr>
      </p:pic>
      <p:sp>
        <p:nvSpPr>
          <p:cNvPr id="99" name="TextBox 98"/>
          <p:cNvSpPr txBox="1"/>
          <p:nvPr/>
        </p:nvSpPr>
        <p:spPr>
          <a:xfrm>
            <a:off x="7656222"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6 regions.</a:t>
            </a:r>
          </a:p>
        </p:txBody>
      </p:sp>
      <p:sp>
        <p:nvSpPr>
          <p:cNvPr id="100" name="TextBox 99"/>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101" name="Picture 100" descr="lock.png"/>
          <p:cNvPicPr>
            <a:picLocks noChangeAspect="1"/>
          </p:cNvPicPr>
          <p:nvPr/>
        </p:nvPicPr>
        <p:blipFill>
          <a:blip r:embed="rId4"/>
          <a:stretch>
            <a:fillRect/>
          </a:stretch>
        </p:blipFill>
        <p:spPr>
          <a:xfrm>
            <a:off x="7880268" y="3122359"/>
            <a:ext cx="128699" cy="187198"/>
          </a:xfrm>
          <a:prstGeom prst="rect">
            <a:avLst/>
          </a:prstGeom>
        </p:spPr>
      </p:pic>
      <p:sp>
        <p:nvSpPr>
          <p:cNvPr id="102" name="TextBox 101"/>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3" name="Picture 102" descr="lock.png"/>
          <p:cNvPicPr>
            <a:picLocks noChangeAspect="1"/>
          </p:cNvPicPr>
          <p:nvPr/>
        </p:nvPicPr>
        <p:blipFill>
          <a:blip r:embed="rId4"/>
          <a:stretch>
            <a:fillRect/>
          </a:stretch>
        </p:blipFill>
        <p:spPr>
          <a:xfrm>
            <a:off x="8654826" y="3122359"/>
            <a:ext cx="128699" cy="187198"/>
          </a:xfrm>
          <a:prstGeom prst="rect">
            <a:avLst/>
          </a:prstGeom>
        </p:spPr>
      </p:pic>
      <p:sp>
        <p:nvSpPr>
          <p:cNvPr id="104" name="TextBox 103"/>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Oval 9"/>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7429500" y="2065976"/>
            <a:ext cx="2324100" cy="3668993"/>
          </a:xfrm>
          <a:custGeom>
            <a:avLst/>
            <a:gdLst/>
            <a:ahLst/>
            <a:cxnLst/>
            <a:rect l="l" t="t" r="r" b="b"/>
            <a:pathLst>
              <a:path w="244" h="402">
                <a:moveTo>
                  <a:pt x="0" y="0"/>
                </a:moveTo>
                <a:lnTo>
                  <a:pt x="65" y="65"/>
                </a:lnTo>
                <a:lnTo>
                  <a:pt x="73" y="142"/>
                </a:lnTo>
                <a:lnTo>
                  <a:pt x="98" y="178"/>
                </a:lnTo>
                <a:lnTo>
                  <a:pt x="244" y="256"/>
                </a:lnTo>
                <a:lnTo>
                  <a:pt x="100" y="280"/>
                </a:lnTo>
                <a:lnTo>
                  <a:pt x="97" y="402"/>
                </a:lnTo>
                <a:lnTo>
                  <a:pt x="0" y="393"/>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1" name="Oval 30"/>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3" name="Oval 32"/>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5" name="Oval 34"/>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7" name="Oval 36"/>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9" name="Oval 38"/>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1" name="Oval 40"/>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3" name="Oval 42"/>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5" name="Rectangle 44"/>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7"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8"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9"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50"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51"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52"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3"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4"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5"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6"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7" name="Connector 56"/>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9" name="Connector 58"/>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4" name="TextBox 63"/>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8" name="Picture 67" descr="lock.png"/>
          <p:cNvPicPr>
            <a:picLocks noChangeAspect="1"/>
          </p:cNvPicPr>
          <p:nvPr/>
        </p:nvPicPr>
        <p:blipFill>
          <a:blip r:embed="rId4"/>
          <a:stretch>
            <a:fillRect/>
          </a:stretch>
        </p:blipFill>
        <p:spPr>
          <a:xfrm>
            <a:off x="8424374" y="1313604"/>
            <a:ext cx="118403" cy="172222"/>
          </a:xfrm>
          <a:prstGeom prst="rect">
            <a:avLst/>
          </a:prstGeom>
        </p:spPr>
      </p:pic>
      <p:sp>
        <p:nvSpPr>
          <p:cNvPr id="69" name="TextBox 68"/>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70" name="Picture 69" descr="lock.png"/>
          <p:cNvPicPr>
            <a:picLocks noChangeAspect="1"/>
          </p:cNvPicPr>
          <p:nvPr/>
        </p:nvPicPr>
        <p:blipFill>
          <a:blip r:embed="rId4"/>
          <a:stretch>
            <a:fillRect/>
          </a:stretch>
        </p:blipFill>
        <p:spPr>
          <a:xfrm>
            <a:off x="9398803" y="1552218"/>
            <a:ext cx="118403" cy="172222"/>
          </a:xfrm>
          <a:prstGeom prst="rect">
            <a:avLst/>
          </a:prstGeom>
        </p:spPr>
      </p:pic>
      <p:sp>
        <p:nvSpPr>
          <p:cNvPr id="71" name="TextBox 70"/>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2" name="Picture 71" descr="lock.png"/>
          <p:cNvPicPr>
            <a:picLocks noChangeAspect="1"/>
          </p:cNvPicPr>
          <p:nvPr/>
        </p:nvPicPr>
        <p:blipFill>
          <a:blip r:embed="rId4"/>
          <a:stretch>
            <a:fillRect/>
          </a:stretch>
        </p:blipFill>
        <p:spPr>
          <a:xfrm>
            <a:off x="10135940" y="2302942"/>
            <a:ext cx="118403" cy="172222"/>
          </a:xfrm>
          <a:prstGeom prst="rect">
            <a:avLst/>
          </a:prstGeom>
        </p:spPr>
      </p:pic>
      <p:sp>
        <p:nvSpPr>
          <p:cNvPr id="73" name="TextBox 72"/>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4" name="Picture 73" descr="lock.png"/>
          <p:cNvPicPr>
            <a:picLocks noChangeAspect="1"/>
          </p:cNvPicPr>
          <p:nvPr/>
        </p:nvPicPr>
        <p:blipFill>
          <a:blip r:embed="rId4"/>
          <a:stretch>
            <a:fillRect/>
          </a:stretch>
        </p:blipFill>
        <p:spPr>
          <a:xfrm>
            <a:off x="10646855" y="3269072"/>
            <a:ext cx="118403" cy="172222"/>
          </a:xfrm>
          <a:prstGeom prst="rect">
            <a:avLst/>
          </a:prstGeom>
        </p:spPr>
      </p:pic>
      <p:sp>
        <p:nvSpPr>
          <p:cNvPr id="75" name="TextBox 74"/>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6" name="Picture 75" descr="lock.png"/>
          <p:cNvPicPr>
            <a:picLocks noChangeAspect="1"/>
          </p:cNvPicPr>
          <p:nvPr/>
        </p:nvPicPr>
        <p:blipFill>
          <a:blip r:embed="rId4"/>
          <a:stretch>
            <a:fillRect/>
          </a:stretch>
        </p:blipFill>
        <p:spPr>
          <a:xfrm>
            <a:off x="10991008" y="4341395"/>
            <a:ext cx="118403" cy="172222"/>
          </a:xfrm>
          <a:prstGeom prst="rect">
            <a:avLst/>
          </a:prstGeom>
        </p:spPr>
      </p:pic>
      <p:sp>
        <p:nvSpPr>
          <p:cNvPr id="77" name="TextBox 76"/>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8" name="Picture 77" descr="lock.png"/>
          <p:cNvPicPr>
            <a:picLocks noChangeAspect="1"/>
          </p:cNvPicPr>
          <p:nvPr/>
        </p:nvPicPr>
        <p:blipFill>
          <a:blip r:embed="rId4"/>
          <a:stretch>
            <a:fillRect/>
          </a:stretch>
        </p:blipFill>
        <p:spPr>
          <a:xfrm>
            <a:off x="10402276" y="5307524"/>
            <a:ext cx="118403" cy="172222"/>
          </a:xfrm>
          <a:prstGeom prst="rect">
            <a:avLst/>
          </a:prstGeom>
        </p:spPr>
      </p:pic>
      <p:sp>
        <p:nvSpPr>
          <p:cNvPr id="79" name="TextBox 78"/>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80" name="Picture 79" descr="lock.png"/>
          <p:cNvPicPr>
            <a:picLocks noChangeAspect="1"/>
          </p:cNvPicPr>
          <p:nvPr/>
        </p:nvPicPr>
        <p:blipFill>
          <a:blip r:embed="rId4"/>
          <a:stretch>
            <a:fillRect/>
          </a:stretch>
        </p:blipFill>
        <p:spPr>
          <a:xfrm>
            <a:off x="9407087" y="6058248"/>
            <a:ext cx="118403" cy="172222"/>
          </a:xfrm>
          <a:prstGeom prst="rect">
            <a:avLst/>
          </a:prstGeom>
        </p:spPr>
      </p:pic>
      <p:sp>
        <p:nvSpPr>
          <p:cNvPr id="81" name="TextBox 80"/>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2" name="Picture 81" descr="lock.png"/>
          <p:cNvPicPr>
            <a:picLocks noChangeAspect="1"/>
          </p:cNvPicPr>
          <p:nvPr/>
        </p:nvPicPr>
        <p:blipFill>
          <a:blip r:embed="rId4"/>
          <a:stretch>
            <a:fillRect/>
          </a:stretch>
        </p:blipFill>
        <p:spPr>
          <a:xfrm>
            <a:off x="8436172" y="6296863"/>
            <a:ext cx="118403" cy="172222"/>
          </a:xfrm>
          <a:prstGeom prst="rect">
            <a:avLst/>
          </a:prstGeom>
        </p:spPr>
      </p:pic>
      <p:sp>
        <p:nvSpPr>
          <p:cNvPr id="83" name="TextBox 82"/>
          <p:cNvSpPr txBox="1"/>
          <p:nvPr/>
        </p:nvSpPr>
        <p:spPr>
          <a:xfrm>
            <a:off x="209550" y="1496754"/>
            <a:ext cx="3383706" cy="186689"/>
          </a:xfrm>
          <a:prstGeom prst="rect">
            <a:avLst/>
          </a:prstGeom>
          <a:noFill/>
        </p:spPr>
        <p:txBody>
          <a:bodyPr wrap="none" lIns="0" rIns="0" tIns="0" bIns="0">
            <a:spAutoFit/>
          </a:bodyPr>
          <a:lstStyle/>
          <a:p>
            <a:r>
              <a:rPr sz="1100" b="0">
                <a:solidFill>
                  <a:srgbClr val="2E2E2E"/>
                </a:solidFill>
                <a:latin typeface="Calibri"/>
              </a:rPr>
              <a:t>▪ Demand-side conditions are led by Volume Momentum (</a:t>
            </a:r>
          </a:p>
        </p:txBody>
      </p:sp>
      <p:pic>
        <p:nvPicPr>
          <p:cNvPr id="84" name="Picture 83" descr="lock.png"/>
          <p:cNvPicPr>
            <a:picLocks noChangeAspect="1"/>
          </p:cNvPicPr>
          <p:nvPr/>
        </p:nvPicPr>
        <p:blipFill>
          <a:blip r:embed="rId4"/>
          <a:stretch>
            <a:fillRect/>
          </a:stretch>
        </p:blipFill>
        <p:spPr>
          <a:xfrm>
            <a:off x="3541308" y="1486975"/>
            <a:ext cx="128699" cy="187198"/>
          </a:xfrm>
          <a:prstGeom prst="rect">
            <a:avLst/>
          </a:prstGeom>
        </p:spPr>
      </p:pic>
      <p:sp>
        <p:nvSpPr>
          <p:cNvPr id="85" name="TextBox 84"/>
          <p:cNvSpPr txBox="1"/>
          <p:nvPr/>
        </p:nvSpPr>
        <p:spPr>
          <a:xfrm>
            <a:off x="3708804" y="1496754"/>
            <a:ext cx="1363240" cy="186689"/>
          </a:xfrm>
          <a:prstGeom prst="rect">
            <a:avLst/>
          </a:prstGeom>
          <a:noFill/>
        </p:spPr>
        <p:txBody>
          <a:bodyPr wrap="none" lIns="0" rIns="0" tIns="0" bIns="0">
            <a:spAutoFit/>
          </a:bodyPr>
          <a:lstStyle/>
          <a:p>
            <a:r>
              <a:rPr sz="1100" b="0">
                <a:solidFill>
                  <a:srgbClr val="2E2E2E"/>
                </a:solidFill>
                <a:latin typeface="Calibri"/>
              </a:rPr>
              <a:t>/10), Adoption Depth (</a:t>
            </a:r>
          </a:p>
        </p:txBody>
      </p:sp>
      <p:pic>
        <p:nvPicPr>
          <p:cNvPr id="86" name="Picture 85" descr="lock.png"/>
          <p:cNvPicPr>
            <a:picLocks noChangeAspect="1"/>
          </p:cNvPicPr>
          <p:nvPr/>
        </p:nvPicPr>
        <p:blipFill>
          <a:blip r:embed="rId4"/>
          <a:stretch>
            <a:fillRect/>
          </a:stretch>
        </p:blipFill>
        <p:spPr>
          <a:xfrm>
            <a:off x="5020096" y="1486975"/>
            <a:ext cx="128699" cy="187198"/>
          </a:xfrm>
          <a:prstGeom prst="rect">
            <a:avLst/>
          </a:prstGeom>
        </p:spPr>
      </p:pic>
      <p:sp>
        <p:nvSpPr>
          <p:cNvPr id="87" name="TextBox 86"/>
          <p:cNvSpPr txBox="1"/>
          <p:nvPr/>
        </p:nvSpPr>
        <p:spPr>
          <a:xfrm>
            <a:off x="5187592" y="1496754"/>
            <a:ext cx="1398165" cy="186689"/>
          </a:xfrm>
          <a:prstGeom prst="rect">
            <a:avLst/>
          </a:prstGeom>
          <a:noFill/>
        </p:spPr>
        <p:txBody>
          <a:bodyPr wrap="none" lIns="0" rIns="0" tIns="0" bIns="0">
            <a:spAutoFit/>
          </a:bodyPr>
          <a:lstStyle/>
          <a:p>
            <a:r>
              <a:rPr sz="1100" b="0">
                <a:solidFill>
                  <a:srgbClr val="2E2E2E"/>
                </a:solidFill>
                <a:latin typeface="Calibri"/>
              </a:rPr>
              <a:t>/10), Demand Growth (</a:t>
            </a:r>
          </a:p>
        </p:txBody>
      </p:sp>
      <p:pic>
        <p:nvPicPr>
          <p:cNvPr id="88" name="Picture 87" descr="lock.png"/>
          <p:cNvPicPr>
            <a:picLocks noChangeAspect="1"/>
          </p:cNvPicPr>
          <p:nvPr/>
        </p:nvPicPr>
        <p:blipFill>
          <a:blip r:embed="rId4"/>
          <a:stretch>
            <a:fillRect/>
          </a:stretch>
        </p:blipFill>
        <p:spPr>
          <a:xfrm>
            <a:off x="6533809" y="1486975"/>
            <a:ext cx="128699" cy="187198"/>
          </a:xfrm>
          <a:prstGeom prst="rect">
            <a:avLst/>
          </a:prstGeom>
        </p:spPr>
      </p:pic>
      <p:sp>
        <p:nvSpPr>
          <p:cNvPr id="89" name="TextBox 88"/>
          <p:cNvSpPr txBox="1"/>
          <p:nvPr/>
        </p:nvSpPr>
        <p:spPr>
          <a:xfrm>
            <a:off x="6701305" y="1496754"/>
            <a:ext cx="314399" cy="186689"/>
          </a:xfrm>
          <a:prstGeom prst="rect">
            <a:avLst/>
          </a:prstGeom>
          <a:noFill/>
        </p:spPr>
        <p:txBody>
          <a:bodyPr wrap="none" lIns="0" rIns="0" tIns="0" bIns="0">
            <a:spAutoFit/>
          </a:bodyPr>
          <a:lstStyle/>
          <a:p>
            <a:r>
              <a:rPr sz="1100" b="0">
                <a:solidFill>
                  <a:srgbClr val="2E2E2E"/>
                </a:solidFill>
                <a:latin typeface="Calibri"/>
              </a:rPr>
              <a:t>/10)</a:t>
            </a:r>
          </a:p>
        </p:txBody>
      </p:sp>
      <p:sp>
        <p:nvSpPr>
          <p:cNvPr id="90" name="TextBox 89"/>
          <p:cNvSpPr txBox="1"/>
          <p:nvPr/>
        </p:nvSpPr>
        <p:spPr>
          <a:xfrm>
            <a:off x="209550" y="1664394"/>
            <a:ext cx="3041277" cy="186689"/>
          </a:xfrm>
          <a:prstGeom prst="rect">
            <a:avLst/>
          </a:prstGeom>
          <a:noFill/>
        </p:spPr>
        <p:txBody>
          <a:bodyPr wrap="none" lIns="0" rIns="0" tIns="0" bIns="0">
            <a:spAutoFit/>
          </a:bodyPr>
          <a:lstStyle/>
          <a:p>
            <a:r>
              <a:rPr sz="1100" b="0">
                <a:solidFill>
                  <a:srgbClr val="2E2E2E"/>
                </a:solidFill>
                <a:latin typeface="Calibri"/>
              </a:rPr>
              <a:t>on a 0-10 scale scored from the global dataset itself.</a:t>
            </a:r>
          </a:p>
        </p:txBody>
      </p:sp>
      <p:sp>
        <p:nvSpPr>
          <p:cNvPr id="91" name="TextBox 90"/>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2" name="Picture 91" descr="lock.png"/>
          <p:cNvPicPr>
            <a:picLocks noChangeAspect="1"/>
          </p:cNvPicPr>
          <p:nvPr/>
        </p:nvPicPr>
        <p:blipFill>
          <a:blip r:embed="rId4"/>
          <a:stretch>
            <a:fillRect/>
          </a:stretch>
        </p:blipFill>
        <p:spPr>
          <a:xfrm>
            <a:off x="1156039" y="1935869"/>
            <a:ext cx="128699" cy="187198"/>
          </a:xfrm>
          <a:prstGeom prst="rect">
            <a:avLst/>
          </a:prstGeom>
        </p:spPr>
      </p:pic>
      <p:sp>
        <p:nvSpPr>
          <p:cNvPr id="93" name="TextBox 92"/>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4" name="Picture 93" descr="lock.png"/>
          <p:cNvPicPr>
            <a:picLocks noChangeAspect="1"/>
          </p:cNvPicPr>
          <p:nvPr/>
        </p:nvPicPr>
        <p:blipFill>
          <a:blip r:embed="rId4"/>
          <a:stretch>
            <a:fillRect/>
          </a:stretch>
        </p:blipFill>
        <p:spPr>
          <a:xfrm>
            <a:off x="2354882" y="1935869"/>
            <a:ext cx="128699" cy="187198"/>
          </a:xfrm>
          <a:prstGeom prst="rect">
            <a:avLst/>
          </a:prstGeom>
        </p:spPr>
      </p:pic>
      <p:sp>
        <p:nvSpPr>
          <p:cNvPr id="95" name="TextBox 94"/>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6" name="TextBox 95"/>
          <p:cNvSpPr txBox="1"/>
          <p:nvPr/>
        </p:nvSpPr>
        <p:spPr>
          <a:xfrm>
            <a:off x="209550" y="2226902"/>
            <a:ext cx="2269108" cy="186689"/>
          </a:xfrm>
          <a:prstGeom prst="rect">
            <a:avLst/>
          </a:prstGeom>
          <a:noFill/>
        </p:spPr>
        <p:txBody>
          <a:bodyPr wrap="none" lIns="0" rIns="0" tIns="0" bIns="0">
            <a:spAutoFit/>
          </a:bodyPr>
          <a:lstStyle/>
          <a:p>
            <a:r>
              <a:rPr sz="1100" b="0">
                <a:solidFill>
                  <a:srgbClr val="2E2E2E"/>
                </a:solidFill>
                <a:latin typeface="Calibri"/>
              </a:rPr>
              <a:t>▪ 'Mineral Ceramide Sunscreen' carries</a:t>
            </a:r>
          </a:p>
        </p:txBody>
      </p:sp>
      <p:pic>
        <p:nvPicPr>
          <p:cNvPr id="97" name="Picture 96" descr="lock.png"/>
          <p:cNvPicPr>
            <a:picLocks noChangeAspect="1"/>
          </p:cNvPicPr>
          <p:nvPr/>
        </p:nvPicPr>
        <p:blipFill>
          <a:blip r:embed="rId4"/>
          <a:stretch>
            <a:fillRect/>
          </a:stretch>
        </p:blipFill>
        <p:spPr>
          <a:xfrm>
            <a:off x="2426709" y="2217123"/>
            <a:ext cx="128699" cy="187198"/>
          </a:xfrm>
          <a:prstGeom prst="rect">
            <a:avLst/>
          </a:prstGeom>
        </p:spPr>
      </p:pic>
      <p:sp>
        <p:nvSpPr>
          <p:cNvPr id="98" name="TextBox 97"/>
          <p:cNvSpPr txBox="1"/>
          <p:nvPr/>
        </p:nvSpPr>
        <p:spPr>
          <a:xfrm>
            <a:off x="2594205" y="2226902"/>
            <a:ext cx="4303216" cy="186689"/>
          </a:xfrm>
          <a:prstGeom prst="rect">
            <a:avLst/>
          </a:prstGeom>
          <a:noFill/>
        </p:spPr>
        <p:txBody>
          <a:bodyPr wrap="none" lIns="0" rIns="0" tIns="0" bIns="0">
            <a:spAutoFit/>
          </a:bodyPr>
          <a:lstStyle/>
          <a:p>
            <a:r>
              <a:rPr sz="1100" b="0">
                <a:solidFill>
                  <a:srgbClr val="2E2E2E"/>
                </a:solidFill>
                <a:latin typeface="Calibri"/>
              </a:rPr>
              <a:t>of product type demand while 'Chemical Ceramide Sunscreen' compounds</a:t>
            </a:r>
          </a:p>
        </p:txBody>
      </p:sp>
      <p:sp>
        <p:nvSpPr>
          <p:cNvPr id="99" name="TextBox 98"/>
          <p:cNvSpPr txBox="1"/>
          <p:nvPr/>
        </p:nvSpPr>
        <p:spPr>
          <a:xfrm>
            <a:off x="209550" y="2394542"/>
            <a:ext cx="603622" cy="186689"/>
          </a:xfrm>
          <a:prstGeom prst="rect">
            <a:avLst/>
          </a:prstGeom>
          <a:noFill/>
        </p:spPr>
        <p:txBody>
          <a:bodyPr wrap="none" lIns="0" rIns="0" tIns="0" bIns="0">
            <a:spAutoFit/>
          </a:bodyPr>
          <a:lstStyle/>
          <a:p>
            <a:r>
              <a:rPr sz="1100" b="0">
                <a:solidFill>
                  <a:srgbClr val="2E2E2E"/>
                </a:solidFill>
                <a:latin typeface="Calibri"/>
              </a:rPr>
              <a:t>fastest at</a:t>
            </a:r>
          </a:p>
        </p:txBody>
      </p:sp>
      <p:pic>
        <p:nvPicPr>
          <p:cNvPr id="100" name="Picture 99" descr="lock.png"/>
          <p:cNvPicPr>
            <a:picLocks noChangeAspect="1"/>
          </p:cNvPicPr>
          <p:nvPr/>
        </p:nvPicPr>
        <p:blipFill>
          <a:blip r:embed="rId4"/>
          <a:stretch>
            <a:fillRect/>
          </a:stretch>
        </p:blipFill>
        <p:spPr>
          <a:xfrm>
            <a:off x="761223" y="2384763"/>
            <a:ext cx="128699" cy="187198"/>
          </a:xfrm>
          <a:prstGeom prst="rect">
            <a:avLst/>
          </a:prstGeom>
        </p:spPr>
      </p:pic>
      <p:sp>
        <p:nvSpPr>
          <p:cNvPr id="101" name="TextBox 100"/>
          <p:cNvSpPr txBox="1"/>
          <p:nvPr/>
        </p:nvSpPr>
        <p:spPr>
          <a:xfrm>
            <a:off x="928719" y="239454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2" name="TextBox 101"/>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3" name="Picture 102" descr="lock.png"/>
          <p:cNvPicPr>
            <a:picLocks noChangeAspect="1"/>
          </p:cNvPicPr>
          <p:nvPr/>
        </p:nvPicPr>
        <p:blipFill>
          <a:blip r:embed="rId4"/>
          <a:stretch>
            <a:fillRect/>
          </a:stretch>
        </p:blipFill>
        <p:spPr>
          <a:xfrm>
            <a:off x="2634349" y="2757285"/>
            <a:ext cx="128699" cy="187198"/>
          </a:xfrm>
          <a:prstGeom prst="rect">
            <a:avLst/>
          </a:prstGeom>
        </p:spPr>
      </p:pic>
      <p:sp>
        <p:nvSpPr>
          <p:cNvPr id="104" name="TextBox 103"/>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5" name="Picture 104" descr="lock.png"/>
          <p:cNvPicPr>
            <a:picLocks noChangeAspect="1"/>
          </p:cNvPicPr>
          <p:nvPr/>
        </p:nvPicPr>
        <p:blipFill>
          <a:blip r:embed="rId4"/>
          <a:stretch>
            <a:fillRect/>
          </a:stretch>
        </p:blipFill>
        <p:spPr>
          <a:xfrm>
            <a:off x="3281469" y="2757285"/>
            <a:ext cx="128699" cy="187198"/>
          </a:xfrm>
          <a:prstGeom prst="rect">
            <a:avLst/>
          </a:prstGeom>
        </p:spPr>
      </p:pic>
      <p:sp>
        <p:nvSpPr>
          <p:cNvPr id="106" name="TextBox 105"/>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3 of 6 regions at or above pace.</a:t>
            </a:r>
          </a:p>
        </p:txBody>
      </p:sp>
      <p:sp>
        <p:nvSpPr>
          <p:cNvPr id="107" name="TextBox 106"/>
          <p:cNvSpPr txBox="1"/>
          <p:nvPr/>
        </p:nvSpPr>
        <p:spPr>
          <a:xfrm>
            <a:off x="209550" y="3139587"/>
            <a:ext cx="4510523" cy="186689"/>
          </a:xfrm>
          <a:prstGeom prst="rect">
            <a:avLst/>
          </a:prstGeom>
          <a:noFill/>
        </p:spPr>
        <p:txBody>
          <a:bodyPr wrap="none" lIns="0" rIns="0" tIns="0" bIns="0">
            <a:spAutoFit/>
          </a:bodyPr>
          <a:lstStyle/>
          <a:p>
            <a:r>
              <a:rPr sz="1100" b="0">
                <a:solidFill>
                  <a:srgbClr val="2E2E2E"/>
                </a:solidFill>
                <a:latin typeface="Calibri"/>
              </a:rPr>
              <a:t>▪ Reach runs through 4 end-use application routes, led by 'Facial Sunscreen' at</a:t>
            </a:r>
          </a:p>
        </p:txBody>
      </p:sp>
      <p:pic>
        <p:nvPicPr>
          <p:cNvPr id="108" name="Picture 107" descr="lock.png"/>
          <p:cNvPicPr>
            <a:picLocks noChangeAspect="1"/>
          </p:cNvPicPr>
          <p:nvPr/>
        </p:nvPicPr>
        <p:blipFill>
          <a:blip r:embed="rId4"/>
          <a:stretch>
            <a:fillRect/>
          </a:stretch>
        </p:blipFill>
        <p:spPr>
          <a:xfrm>
            <a:off x="4668125" y="3129808"/>
            <a:ext cx="128699" cy="187198"/>
          </a:xfrm>
          <a:prstGeom prst="rect">
            <a:avLst/>
          </a:prstGeom>
        </p:spPr>
      </p:pic>
      <p:sp>
        <p:nvSpPr>
          <p:cNvPr id="109" name="TextBox 108"/>
          <p:cNvSpPr txBox="1"/>
          <p:nvPr/>
        </p:nvSpPr>
        <p:spPr>
          <a:xfrm>
            <a:off x="4835621" y="3139587"/>
            <a:ext cx="2097424" cy="186689"/>
          </a:xfrm>
          <a:prstGeom prst="rect">
            <a:avLst/>
          </a:prstGeom>
          <a:noFill/>
        </p:spPr>
        <p:txBody>
          <a:bodyPr wrap="none" lIns="0" rIns="0" tIns="0" bIns="0">
            <a:spAutoFit/>
          </a:bodyPr>
          <a:lstStyle/>
          <a:p>
            <a:r>
              <a:rPr sz="1100" b="0">
                <a:solidFill>
                  <a:srgbClr val="2E2E2E"/>
                </a:solidFill>
                <a:latin typeface="Calibri"/>
              </a:rPr>
              <a:t>and with 'Facial Sunscreen' growing</a:t>
            </a:r>
          </a:p>
        </p:txBody>
      </p:sp>
      <p:sp>
        <p:nvSpPr>
          <p:cNvPr id="110" name="TextBox 109"/>
          <p:cNvSpPr txBox="1"/>
          <p:nvPr/>
        </p:nvSpPr>
        <p:spPr>
          <a:xfrm>
            <a:off x="209550" y="3307227"/>
            <a:ext cx="603622" cy="186689"/>
          </a:xfrm>
          <a:prstGeom prst="rect">
            <a:avLst/>
          </a:prstGeom>
          <a:noFill/>
        </p:spPr>
        <p:txBody>
          <a:bodyPr wrap="none" lIns="0" rIns="0" tIns="0" bIns="0">
            <a:spAutoFit/>
          </a:bodyPr>
          <a:lstStyle/>
          <a:p>
            <a:r>
              <a:rPr sz="1100" b="0">
                <a:solidFill>
                  <a:srgbClr val="2E2E2E"/>
                </a:solidFill>
                <a:latin typeface="Calibri"/>
              </a:rPr>
              <a:t>fastest at</a:t>
            </a:r>
          </a:p>
        </p:txBody>
      </p:sp>
      <p:pic>
        <p:nvPicPr>
          <p:cNvPr id="111" name="Picture 110" descr="lock.png"/>
          <p:cNvPicPr>
            <a:picLocks noChangeAspect="1"/>
          </p:cNvPicPr>
          <p:nvPr/>
        </p:nvPicPr>
        <p:blipFill>
          <a:blip r:embed="rId4"/>
          <a:stretch>
            <a:fillRect/>
          </a:stretch>
        </p:blipFill>
        <p:spPr>
          <a:xfrm>
            <a:off x="761223" y="3297448"/>
            <a:ext cx="128699" cy="187198"/>
          </a:xfrm>
          <a:prstGeom prst="rect">
            <a:avLst/>
          </a:prstGeom>
        </p:spPr>
      </p:pic>
      <p:sp>
        <p:nvSpPr>
          <p:cNvPr id="112" name="TextBox 111"/>
          <p:cNvSpPr txBox="1"/>
          <p:nvPr/>
        </p:nvSpPr>
        <p:spPr>
          <a:xfrm>
            <a:off x="928719" y="330722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2" name="Rectangle 11"/>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Hybrid Ceramide Sunscreen Lags the Category and Dilutes Blended Growth</a:t>
            </a:r>
          </a:p>
        </p:txBody>
      </p:sp>
      <p:sp>
        <p:nvSpPr>
          <p:cNvPr id="14" name="TextBox 13"/>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53513"/>
            <a:ext cx="2505943" cy="186689"/>
          </a:xfrm>
          <a:prstGeom prst="rect">
            <a:avLst/>
          </a:prstGeom>
          <a:noFill/>
        </p:spPr>
        <p:txBody>
          <a:bodyPr wrap="none" lIns="0" rIns="0" tIns="0" bIns="0">
            <a:spAutoFit/>
          </a:bodyPr>
          <a:lstStyle/>
          <a:p>
            <a:r>
              <a:rPr sz="1100" b="0">
                <a:solidFill>
                  <a:srgbClr val="2E2E2E"/>
                </a:solidFill>
                <a:latin typeface="Calibri"/>
              </a:rPr>
              <a:t>'Hybrid Ceramide Sunscreen' grows at only</a:t>
            </a:r>
          </a:p>
        </p:txBody>
      </p:sp>
      <p:pic>
        <p:nvPicPr>
          <p:cNvPr id="64" name="Picture 63" descr="lock.png"/>
          <p:cNvPicPr>
            <a:picLocks noChangeAspect="1"/>
          </p:cNvPicPr>
          <p:nvPr/>
        </p:nvPicPr>
        <p:blipFill>
          <a:blip r:embed="rId4"/>
          <a:stretch>
            <a:fillRect/>
          </a:stretch>
        </p:blipFill>
        <p:spPr>
          <a:xfrm>
            <a:off x="2644494" y="1743734"/>
            <a:ext cx="128699" cy="187198"/>
          </a:xfrm>
          <a:prstGeom prst="rect">
            <a:avLst/>
          </a:prstGeom>
        </p:spPr>
      </p:pic>
      <p:sp>
        <p:nvSpPr>
          <p:cNvPr id="65" name="TextBox 64"/>
          <p:cNvSpPr txBox="1"/>
          <p:nvPr/>
        </p:nvSpPr>
        <p:spPr>
          <a:xfrm>
            <a:off x="2811990" y="1753513"/>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6" name="Picture 65" descr="lock.png"/>
          <p:cNvPicPr>
            <a:picLocks noChangeAspect="1"/>
          </p:cNvPicPr>
          <p:nvPr/>
        </p:nvPicPr>
        <p:blipFill>
          <a:blip r:embed="rId4"/>
          <a:stretch>
            <a:fillRect/>
          </a:stretch>
        </p:blipFill>
        <p:spPr>
          <a:xfrm>
            <a:off x="4339637" y="1743734"/>
            <a:ext cx="128699" cy="187198"/>
          </a:xfrm>
          <a:prstGeom prst="rect">
            <a:avLst/>
          </a:prstGeom>
        </p:spPr>
      </p:pic>
      <p:sp>
        <p:nvSpPr>
          <p:cNvPr id="67" name="TextBox 66"/>
          <p:cNvSpPr txBox="1"/>
          <p:nvPr/>
        </p:nvSpPr>
        <p:spPr>
          <a:xfrm>
            <a:off x="4507133" y="1753513"/>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8" name="Picture 67" descr="lock.png"/>
          <p:cNvPicPr>
            <a:picLocks noChangeAspect="1"/>
          </p:cNvPicPr>
          <p:nvPr/>
        </p:nvPicPr>
        <p:blipFill>
          <a:blip r:embed="rId4"/>
          <a:stretch>
            <a:fillRect/>
          </a:stretch>
        </p:blipFill>
        <p:spPr>
          <a:xfrm>
            <a:off x="4739297" y="1743734"/>
            <a:ext cx="128699" cy="187198"/>
          </a:xfrm>
          <a:prstGeom prst="rect">
            <a:avLst/>
          </a:prstGeom>
        </p:spPr>
      </p:pic>
      <p:sp>
        <p:nvSpPr>
          <p:cNvPr id="69" name="TextBox 68"/>
          <p:cNvSpPr txBox="1"/>
          <p:nvPr/>
        </p:nvSpPr>
        <p:spPr>
          <a:xfrm>
            <a:off x="4906793" y="1753513"/>
            <a:ext cx="3120677" cy="186689"/>
          </a:xfrm>
          <a:prstGeom prst="rect">
            <a:avLst/>
          </a:prstGeom>
          <a:noFill/>
        </p:spPr>
        <p:txBody>
          <a:bodyPr wrap="none" lIns="0" rIns="0" tIns="0" bIns="0">
            <a:spAutoFit/>
          </a:bodyPr>
          <a:lstStyle/>
          <a:p>
            <a:r>
              <a:rPr sz="1100" b="0">
                <a:solidFill>
                  <a:srgbClr val="2E2E2E"/>
                </a:solidFill>
                <a:latin typeface="Calibri"/>
              </a:rPr>
              <a:t>BPS gap, and 'Hybrid Ceramide Sunscreen' surrenders</a:t>
            </a:r>
          </a:p>
        </p:txBody>
      </p:sp>
      <p:pic>
        <p:nvPicPr>
          <p:cNvPr id="70" name="Picture 69" descr="lock.png"/>
          <p:cNvPicPr>
            <a:picLocks noChangeAspect="1"/>
          </p:cNvPicPr>
          <p:nvPr/>
        </p:nvPicPr>
        <p:blipFill>
          <a:blip r:embed="rId4"/>
          <a:stretch>
            <a:fillRect/>
          </a:stretch>
        </p:blipFill>
        <p:spPr>
          <a:xfrm>
            <a:off x="7975522" y="1743734"/>
            <a:ext cx="128699" cy="187198"/>
          </a:xfrm>
          <a:prstGeom prst="rect">
            <a:avLst/>
          </a:prstGeom>
        </p:spPr>
      </p:pic>
      <p:sp>
        <p:nvSpPr>
          <p:cNvPr id="71" name="TextBox 70"/>
          <p:cNvSpPr txBox="1"/>
          <p:nvPr/>
        </p:nvSpPr>
        <p:spPr>
          <a:xfrm>
            <a:off x="8143018" y="1753513"/>
            <a:ext cx="917128" cy="186689"/>
          </a:xfrm>
          <a:prstGeom prst="rect">
            <a:avLst/>
          </a:prstGeom>
          <a:noFill/>
        </p:spPr>
        <p:txBody>
          <a:bodyPr wrap="none" lIns="0" rIns="0" tIns="0" bIns="0">
            <a:spAutoFit/>
          </a:bodyPr>
          <a:lstStyle/>
          <a:p>
            <a:r>
              <a:rPr sz="1100" b="0">
                <a:solidFill>
                  <a:srgbClr val="2E2E2E"/>
                </a:solidFill>
                <a:latin typeface="Calibri"/>
              </a:rPr>
              <a:t>BPS of product</a:t>
            </a:r>
          </a:p>
        </p:txBody>
      </p:sp>
      <p:sp>
        <p:nvSpPr>
          <p:cNvPr id="72" name="TextBox 71"/>
          <p:cNvSpPr txBox="1"/>
          <p:nvPr/>
        </p:nvSpPr>
        <p:spPr>
          <a:xfrm>
            <a:off x="190500" y="1921153"/>
            <a:ext cx="9351788" cy="186689"/>
          </a:xfrm>
          <a:prstGeom prst="rect">
            <a:avLst/>
          </a:prstGeom>
          <a:noFill/>
        </p:spPr>
        <p:txBody>
          <a:bodyPr wrap="none" lIns="0" rIns="0" tIns="0" bIns="0">
            <a:spAutoFit/>
          </a:bodyPr>
          <a:lstStyle/>
          <a:p>
            <a:r>
              <a:rPr sz="1100" b="0">
                <a:solidFill>
                  <a:srgbClr val="2E2E2E"/>
                </a:solidFill>
                <a:latin typeface="Calibri"/>
              </a:rPr>
              <a:t>type share between 2026 and 2036. Because these lines still carry meaningful volume, the drag is absorbed by the whole category: blended growth sits below what</a:t>
            </a:r>
          </a:p>
        </p:txBody>
      </p:sp>
      <p:sp>
        <p:nvSpPr>
          <p:cNvPr id="73" name="TextBox 72"/>
          <p:cNvSpPr txBox="1"/>
          <p:nvPr/>
        </p:nvSpPr>
        <p:spPr>
          <a:xfrm>
            <a:off x="190500" y="2088793"/>
            <a:ext cx="8990533" cy="186689"/>
          </a:xfrm>
          <a:prstGeom prst="rect">
            <a:avLst/>
          </a:prstGeom>
          <a:noFill/>
        </p:spPr>
        <p:txBody>
          <a:bodyPr wrap="none" lIns="0" rIns="0" tIns="0" bIns="0">
            <a:spAutoFit/>
          </a:bodyPr>
          <a:lstStyle/>
          <a:p>
            <a:r>
              <a:rPr sz="1100" b="0">
                <a:solidFill>
                  <a:srgbClr val="2E2E2E"/>
                </a:solidFill>
                <a:latin typeface="Calibri"/>
              </a:rPr>
              <a:t>the leading lines achieve on their own. Rationalising or repositioning the lagging end of a 3-line portfolio is therefore a precondition for realising the headline</a:t>
            </a:r>
          </a:p>
        </p:txBody>
      </p:sp>
      <p:sp>
        <p:nvSpPr>
          <p:cNvPr id="74" name="TextBox 73"/>
          <p:cNvSpPr txBox="1"/>
          <p:nvPr/>
        </p:nvSpPr>
        <p:spPr>
          <a:xfrm>
            <a:off x="190500" y="2256433"/>
            <a:ext cx="573608" cy="186689"/>
          </a:xfrm>
          <a:prstGeom prst="rect">
            <a:avLst/>
          </a:prstGeom>
          <a:noFill/>
        </p:spPr>
        <p:txBody>
          <a:bodyPr wrap="none" lIns="0" rIns="0" tIns="0" bIns="0">
            <a:spAutoFit/>
          </a:bodyPr>
          <a:lstStyle/>
          <a:p>
            <a:r>
              <a:rPr sz="1100" b="0">
                <a:solidFill>
                  <a:srgbClr val="2E2E2E"/>
                </a:solidFill>
                <a:latin typeface="Calibri"/>
              </a:rPr>
              <a:t>forecast.</a:t>
            </a:r>
          </a:p>
        </p:txBody>
      </p:sp>
      <p:sp>
        <p:nvSpPr>
          <p:cNvPr id="75" name="TextBox 74"/>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6" name="Picture 75" descr="lock.png"/>
          <p:cNvPicPr>
            <a:picLocks noChangeAspect="1"/>
          </p:cNvPicPr>
          <p:nvPr/>
        </p:nvPicPr>
        <p:blipFill>
          <a:blip r:embed="rId4"/>
          <a:stretch>
            <a:fillRect/>
          </a:stretch>
        </p:blipFill>
        <p:spPr>
          <a:xfrm>
            <a:off x="1870142" y="3488640"/>
            <a:ext cx="128699" cy="187198"/>
          </a:xfrm>
          <a:prstGeom prst="rect">
            <a:avLst/>
          </a:prstGeom>
        </p:spPr>
      </p:pic>
      <p:sp>
        <p:nvSpPr>
          <p:cNvPr id="77" name="TextBox 76"/>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8" name="Picture 77" descr="lock.png"/>
          <p:cNvPicPr>
            <a:picLocks noChangeAspect="1"/>
          </p:cNvPicPr>
          <p:nvPr/>
        </p:nvPicPr>
        <p:blipFill>
          <a:blip r:embed="rId4"/>
          <a:stretch>
            <a:fillRect/>
          </a:stretch>
        </p:blipFill>
        <p:spPr>
          <a:xfrm>
            <a:off x="2455597" y="3488640"/>
            <a:ext cx="128699" cy="187198"/>
          </a:xfrm>
          <a:prstGeom prst="rect">
            <a:avLst/>
          </a:prstGeom>
        </p:spPr>
      </p:pic>
      <p:sp>
        <p:nvSpPr>
          <p:cNvPr id="79" name="TextBox 78"/>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6 regions sit below the market pace altogether. Demand is therefore not uniformly</a:t>
            </a:r>
          </a:p>
        </p:txBody>
      </p:sp>
      <p:sp>
        <p:nvSpPr>
          <p:cNvPr id="80" name="TextBox 79"/>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81" name="Picture 80" descr="lock.png"/>
          <p:cNvPicPr>
            <a:picLocks noChangeAspect="1"/>
          </p:cNvPicPr>
          <p:nvPr/>
        </p:nvPicPr>
        <p:blipFill>
          <a:blip r:embed="rId4"/>
          <a:stretch>
            <a:fillRect/>
          </a:stretch>
        </p:blipFill>
        <p:spPr>
          <a:xfrm>
            <a:off x="8756642" y="3656280"/>
            <a:ext cx="128699" cy="187198"/>
          </a:xfrm>
          <a:prstGeom prst="rect">
            <a:avLst/>
          </a:prstGeom>
        </p:spPr>
      </p:pic>
      <p:sp>
        <p:nvSpPr>
          <p:cNvPr id="82" name="TextBox 81"/>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3" name="TextBox 82"/>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4" name="TextBox 83"/>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5" name="Picture 84" descr="lock.png"/>
          <p:cNvPicPr>
            <a:picLocks noChangeAspect="1"/>
          </p:cNvPicPr>
          <p:nvPr/>
        </p:nvPicPr>
        <p:blipFill>
          <a:blip r:embed="rId4"/>
          <a:stretch>
            <a:fillRect/>
          </a:stretch>
        </p:blipFill>
        <p:spPr>
          <a:xfrm>
            <a:off x="3476146" y="5240995"/>
            <a:ext cx="128699" cy="187198"/>
          </a:xfrm>
          <a:prstGeom prst="rect">
            <a:avLst/>
          </a:prstGeom>
        </p:spPr>
      </p:pic>
      <p:sp>
        <p:nvSpPr>
          <p:cNvPr id="86" name="TextBox 85"/>
          <p:cNvSpPr txBox="1"/>
          <p:nvPr/>
        </p:nvSpPr>
        <p:spPr>
          <a:xfrm>
            <a:off x="3643642" y="5250774"/>
            <a:ext cx="2957512" cy="186689"/>
          </a:xfrm>
          <a:prstGeom prst="rect">
            <a:avLst/>
          </a:prstGeom>
          <a:noFill/>
        </p:spPr>
        <p:txBody>
          <a:bodyPr wrap="none" lIns="0" rIns="0" tIns="0" bIns="0">
            <a:spAutoFit/>
          </a:bodyPr>
          <a:lstStyle/>
          <a:p>
            <a:r>
              <a:rPr sz="1100" b="0">
                <a:solidFill>
                  <a:srgbClr val="2E2E2E"/>
                </a:solidFill>
                <a:latin typeface="Calibri"/>
              </a:rPr>
              <a:t>of 2036 value and the leading product type line for</a:t>
            </a:r>
          </a:p>
        </p:txBody>
      </p:sp>
      <p:pic>
        <p:nvPicPr>
          <p:cNvPr id="87" name="Picture 86" descr="lock.png"/>
          <p:cNvPicPr>
            <a:picLocks noChangeAspect="1"/>
          </p:cNvPicPr>
          <p:nvPr/>
        </p:nvPicPr>
        <p:blipFill>
          <a:blip r:embed="rId4"/>
          <a:stretch>
            <a:fillRect/>
          </a:stretch>
        </p:blipFill>
        <p:spPr>
          <a:xfrm>
            <a:off x="6549206" y="5240995"/>
            <a:ext cx="128699" cy="187198"/>
          </a:xfrm>
          <a:prstGeom prst="rect">
            <a:avLst/>
          </a:prstGeom>
        </p:spPr>
      </p:pic>
      <p:sp>
        <p:nvSpPr>
          <p:cNvPr id="88" name="TextBox 87"/>
          <p:cNvSpPr txBox="1"/>
          <p:nvPr/>
        </p:nvSpPr>
        <p:spPr>
          <a:xfrm>
            <a:off x="6716702"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9" name="Picture 88" descr="lock.png"/>
          <p:cNvPicPr>
            <a:picLocks noChangeAspect="1"/>
          </p:cNvPicPr>
          <p:nvPr/>
        </p:nvPicPr>
        <p:blipFill>
          <a:blip r:embed="rId4"/>
          <a:stretch>
            <a:fillRect/>
          </a:stretch>
        </p:blipFill>
        <p:spPr>
          <a:xfrm>
            <a:off x="177032" y="5408635"/>
            <a:ext cx="128699" cy="187198"/>
          </a:xfrm>
          <a:prstGeom prst="rect">
            <a:avLst/>
          </a:prstGeom>
        </p:spPr>
      </p:pic>
      <p:sp>
        <p:nvSpPr>
          <p:cNvPr id="90" name="TextBox 89"/>
          <p:cNvSpPr txBox="1"/>
          <p:nvPr/>
        </p:nvSpPr>
        <p:spPr>
          <a:xfrm>
            <a:off x="344528" y="5418414"/>
            <a:ext cx="9124776" cy="186689"/>
          </a:xfrm>
          <a:prstGeom prst="rect">
            <a:avLst/>
          </a:prstGeom>
          <a:noFill/>
        </p:spPr>
        <p:txBody>
          <a:bodyPr wrap="none" lIns="0" rIns="0" tIns="0" bIns="0">
            <a:spAutoFit/>
          </a:bodyPr>
          <a:lstStyle/>
          <a:p>
            <a:r>
              <a:rPr sz="1100" b="0">
                <a:solidFill>
                  <a:srgbClr val="2E2E2E"/>
                </a:solidFill>
                <a:latin typeface="Calibri"/>
              </a:rPr>
              <a:t>a year, so cost movements cannot be passed on evenly across 6 regions. The practical constraint is the same in either case commercial terms set for the market</a:t>
            </a:r>
          </a:p>
        </p:txBody>
      </p:sp>
      <p:sp>
        <p:nvSpPr>
          <p:cNvPr id="91" name="TextBox 90"/>
          <p:cNvSpPr txBox="1"/>
          <p:nvPr/>
        </p:nvSpPr>
        <p:spPr>
          <a:xfrm>
            <a:off x="190500" y="5586054"/>
            <a:ext cx="6191894" cy="186689"/>
          </a:xfrm>
          <a:prstGeom prst="rect">
            <a:avLst/>
          </a:prstGeom>
          <a:noFill/>
        </p:spPr>
        <p:txBody>
          <a:bodyPr wrap="none" lIns="0" rIns="0" tIns="0" bIns="0">
            <a:spAutoFit/>
          </a:bodyPr>
          <a:lstStyle/>
          <a:p>
            <a:r>
              <a:rPr sz="1100" b="0">
                <a:solidFill>
                  <a:srgbClr val="2E2E2E"/>
                </a:solidFill>
                <a:latin typeface="Calibri"/>
              </a:rPr>
              <a:t>as a whole underserve part of it, and margin is lost in the mismatch rather than in the headline growth rate.</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2" name="Rectangle 11"/>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4" name="TextBox 13"/>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Netherlands Offers Under-penetrated, Above-pace Headroom</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Facial Sunscreen Opens the Fastest Route to Market</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4" name="Picture 63" descr="lock.png"/>
          <p:cNvPicPr>
            <a:picLocks noChangeAspect="1"/>
          </p:cNvPicPr>
          <p:nvPr/>
        </p:nvPicPr>
        <p:blipFill>
          <a:blip r:embed="rId4"/>
          <a:stretch>
            <a:fillRect/>
          </a:stretch>
        </p:blipFill>
        <p:spPr>
          <a:xfrm>
            <a:off x="800563" y="1736285"/>
            <a:ext cx="128699" cy="187198"/>
          </a:xfrm>
          <a:prstGeom prst="rect">
            <a:avLst/>
          </a:prstGeom>
        </p:spPr>
      </p:pic>
      <p:sp>
        <p:nvSpPr>
          <p:cNvPr id="65" name="TextBox 64"/>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6" name="TextBox 65"/>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7" name="Picture 66" descr="lock.png"/>
          <p:cNvPicPr>
            <a:picLocks noChangeAspect="1"/>
          </p:cNvPicPr>
          <p:nvPr/>
        </p:nvPicPr>
        <p:blipFill>
          <a:blip r:embed="rId4"/>
          <a:stretch>
            <a:fillRect/>
          </a:stretch>
        </p:blipFill>
        <p:spPr>
          <a:xfrm>
            <a:off x="3907797" y="1903925"/>
            <a:ext cx="128699" cy="187198"/>
          </a:xfrm>
          <a:prstGeom prst="rect">
            <a:avLst/>
          </a:prstGeom>
        </p:spPr>
      </p:pic>
      <p:sp>
        <p:nvSpPr>
          <p:cNvPr id="68" name="TextBox 67"/>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9" name="TextBox 68"/>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70" name="Picture 69" descr="lock.png"/>
          <p:cNvPicPr>
            <a:picLocks noChangeAspect="1"/>
          </p:cNvPicPr>
          <p:nvPr/>
        </p:nvPicPr>
        <p:blipFill>
          <a:blip r:embed="rId4"/>
          <a:stretch>
            <a:fillRect/>
          </a:stretch>
        </p:blipFill>
        <p:spPr>
          <a:xfrm>
            <a:off x="1313797" y="2071565"/>
            <a:ext cx="128699" cy="187198"/>
          </a:xfrm>
          <a:prstGeom prst="rect">
            <a:avLst/>
          </a:prstGeom>
        </p:spPr>
      </p:pic>
      <p:sp>
        <p:nvSpPr>
          <p:cNvPr id="71" name="TextBox 70"/>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2" name="TextBox 71"/>
          <p:cNvSpPr txBox="1"/>
          <p:nvPr/>
        </p:nvSpPr>
        <p:spPr>
          <a:xfrm>
            <a:off x="190500" y="3498419"/>
            <a:ext cx="1680294" cy="186689"/>
          </a:xfrm>
          <a:prstGeom prst="rect">
            <a:avLst/>
          </a:prstGeom>
          <a:noFill/>
        </p:spPr>
        <p:txBody>
          <a:bodyPr wrap="none" lIns="0" rIns="0" tIns="0" bIns="0">
            <a:spAutoFit/>
          </a:bodyPr>
          <a:lstStyle/>
          <a:p>
            <a:r>
              <a:rPr sz="1100" b="0">
                <a:solidFill>
                  <a:srgbClr val="2E2E2E"/>
                </a:solidFill>
                <a:latin typeface="Calibri"/>
              </a:rPr>
              <a:t>'Netherlands' compounds at</a:t>
            </a:r>
          </a:p>
        </p:txBody>
      </p:sp>
      <p:pic>
        <p:nvPicPr>
          <p:cNvPr id="73" name="Picture 72" descr="lock.png"/>
          <p:cNvPicPr>
            <a:picLocks noChangeAspect="1"/>
          </p:cNvPicPr>
          <p:nvPr/>
        </p:nvPicPr>
        <p:blipFill>
          <a:blip r:embed="rId4"/>
          <a:stretch>
            <a:fillRect/>
          </a:stretch>
        </p:blipFill>
        <p:spPr>
          <a:xfrm>
            <a:off x="1818845" y="3488640"/>
            <a:ext cx="128699" cy="187198"/>
          </a:xfrm>
          <a:prstGeom prst="rect">
            <a:avLst/>
          </a:prstGeom>
        </p:spPr>
      </p:pic>
      <p:sp>
        <p:nvSpPr>
          <p:cNvPr id="74" name="TextBox 73"/>
          <p:cNvSpPr txBox="1"/>
          <p:nvPr/>
        </p:nvSpPr>
        <p:spPr>
          <a:xfrm>
            <a:off x="1986341" y="3498419"/>
            <a:ext cx="7315207" cy="186689"/>
          </a:xfrm>
          <a:prstGeom prst="rect">
            <a:avLst/>
          </a:prstGeom>
          <a:noFill/>
        </p:spPr>
        <p:txBody>
          <a:bodyPr wrap="none" lIns="0" rIns="0" tIns="0" bIns="0">
            <a:spAutoFit/>
          </a:bodyPr>
          <a:lstStyle/>
          <a:p>
            <a:r>
              <a:rPr sz="1100" b="0">
                <a:solidFill>
                  <a:srgbClr val="2E2E2E"/>
                </a:solidFill>
                <a:latin typeface="Calibri"/>
              </a:rPr>
              <a:t>CAGR from a below-median base one of 7 geographies in the dataset combining above-median growth with below-median size.</a:t>
            </a:r>
          </a:p>
        </p:txBody>
      </p:sp>
      <p:sp>
        <p:nvSpPr>
          <p:cNvPr id="75" name="TextBox 74"/>
          <p:cNvSpPr txBox="1"/>
          <p:nvPr/>
        </p:nvSpPr>
        <p:spPr>
          <a:xfrm>
            <a:off x="190500" y="3666059"/>
            <a:ext cx="5046191" cy="186689"/>
          </a:xfrm>
          <a:prstGeom prst="rect">
            <a:avLst/>
          </a:prstGeom>
          <a:noFill/>
        </p:spPr>
        <p:txBody>
          <a:bodyPr wrap="none" lIns="0" rIns="0" tIns="0" bIns="0">
            <a:spAutoFit/>
          </a:bodyPr>
          <a:lstStyle/>
          <a:p>
            <a:r>
              <a:rPr sz="1100" b="0">
                <a:solidFill>
                  <a:srgbClr val="2E2E2E"/>
                </a:solidFill>
                <a:latin typeface="Calibri"/>
              </a:rPr>
              <a:t>That profile is where share is cheapest to buy: competitive intensity is lower than in the</a:t>
            </a:r>
          </a:p>
        </p:txBody>
      </p:sp>
      <p:pic>
        <p:nvPicPr>
          <p:cNvPr id="76" name="Picture 75" descr="lock.png"/>
          <p:cNvPicPr>
            <a:picLocks noChangeAspect="1"/>
          </p:cNvPicPr>
          <p:nvPr/>
        </p:nvPicPr>
        <p:blipFill>
          <a:blip r:embed="rId4"/>
          <a:stretch>
            <a:fillRect/>
          </a:stretch>
        </p:blipFill>
        <p:spPr>
          <a:xfrm>
            <a:off x="5184742" y="3656280"/>
            <a:ext cx="128699" cy="187198"/>
          </a:xfrm>
          <a:prstGeom prst="rect">
            <a:avLst/>
          </a:prstGeom>
        </p:spPr>
      </p:pic>
      <p:sp>
        <p:nvSpPr>
          <p:cNvPr id="77" name="TextBox 76"/>
          <p:cNvSpPr txBox="1"/>
          <p:nvPr/>
        </p:nvSpPr>
        <p:spPr>
          <a:xfrm>
            <a:off x="535223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8" name="Picture 77" descr="lock.png"/>
          <p:cNvPicPr>
            <a:picLocks noChangeAspect="1"/>
          </p:cNvPicPr>
          <p:nvPr/>
        </p:nvPicPr>
        <p:blipFill>
          <a:blip r:embed="rId4"/>
          <a:stretch>
            <a:fillRect/>
          </a:stretch>
        </p:blipFill>
        <p:spPr>
          <a:xfrm>
            <a:off x="7376219" y="3656280"/>
            <a:ext cx="128699" cy="187198"/>
          </a:xfrm>
          <a:prstGeom prst="rect">
            <a:avLst/>
          </a:prstGeom>
        </p:spPr>
      </p:pic>
      <p:sp>
        <p:nvSpPr>
          <p:cNvPr id="79" name="TextBox 78"/>
          <p:cNvSpPr txBox="1"/>
          <p:nvPr/>
        </p:nvSpPr>
        <p:spPr>
          <a:xfrm>
            <a:off x="754371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80" name="TextBox 79"/>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81" name="TextBox 80"/>
          <p:cNvSpPr txBox="1"/>
          <p:nvPr/>
        </p:nvSpPr>
        <p:spPr>
          <a:xfrm>
            <a:off x="190500" y="5250774"/>
            <a:ext cx="1596742" cy="186689"/>
          </a:xfrm>
          <a:prstGeom prst="rect">
            <a:avLst/>
          </a:prstGeom>
          <a:noFill/>
        </p:spPr>
        <p:txBody>
          <a:bodyPr wrap="none" lIns="0" rIns="0" tIns="0" bIns="0">
            <a:spAutoFit/>
          </a:bodyPr>
          <a:lstStyle/>
          <a:p>
            <a:r>
              <a:rPr sz="1100" b="0">
                <a:solidFill>
                  <a:srgbClr val="2E2E2E"/>
                </a:solidFill>
                <a:latin typeface="Calibri"/>
              </a:rPr>
              <a:t>'Facial Sunscreen' grows at</a:t>
            </a:r>
          </a:p>
        </p:txBody>
      </p:sp>
      <p:pic>
        <p:nvPicPr>
          <p:cNvPr id="82" name="Picture 81" descr="lock.png"/>
          <p:cNvPicPr>
            <a:picLocks noChangeAspect="1"/>
          </p:cNvPicPr>
          <p:nvPr/>
        </p:nvPicPr>
        <p:blipFill>
          <a:blip r:embed="rId4"/>
          <a:stretch>
            <a:fillRect/>
          </a:stretch>
        </p:blipFill>
        <p:spPr>
          <a:xfrm>
            <a:off x="1735293" y="5240995"/>
            <a:ext cx="128699" cy="187198"/>
          </a:xfrm>
          <a:prstGeom prst="rect">
            <a:avLst/>
          </a:prstGeom>
        </p:spPr>
      </p:pic>
      <p:sp>
        <p:nvSpPr>
          <p:cNvPr id="83" name="TextBox 82"/>
          <p:cNvSpPr txBox="1"/>
          <p:nvPr/>
        </p:nvSpPr>
        <p:spPr>
          <a:xfrm>
            <a:off x="1902789" y="5250774"/>
            <a:ext cx="3445081" cy="186689"/>
          </a:xfrm>
          <a:prstGeom prst="rect">
            <a:avLst/>
          </a:prstGeom>
          <a:noFill/>
        </p:spPr>
        <p:txBody>
          <a:bodyPr wrap="none" lIns="0" rIns="0" tIns="0" bIns="0">
            <a:spAutoFit/>
          </a:bodyPr>
          <a:lstStyle/>
          <a:p>
            <a:r>
              <a:rPr sz="1100" b="0">
                <a:solidFill>
                  <a:srgbClr val="2E2E2E"/>
                </a:solidFill>
                <a:latin typeface="Calibri"/>
              </a:rPr>
              <a:t>CAGR, the fastest of 4 end-use application routes, and adds</a:t>
            </a:r>
          </a:p>
        </p:txBody>
      </p:sp>
      <p:pic>
        <p:nvPicPr>
          <p:cNvPr id="84" name="Picture 83" descr="lock.png"/>
          <p:cNvPicPr>
            <a:picLocks noChangeAspect="1"/>
          </p:cNvPicPr>
          <p:nvPr/>
        </p:nvPicPr>
        <p:blipFill>
          <a:blip r:embed="rId4"/>
          <a:stretch>
            <a:fillRect/>
          </a:stretch>
        </p:blipFill>
        <p:spPr>
          <a:xfrm>
            <a:off x="5295922" y="5240995"/>
            <a:ext cx="128699" cy="187198"/>
          </a:xfrm>
          <a:prstGeom prst="rect">
            <a:avLst/>
          </a:prstGeom>
        </p:spPr>
      </p:pic>
      <p:sp>
        <p:nvSpPr>
          <p:cNvPr id="85" name="TextBox 84"/>
          <p:cNvSpPr txBox="1"/>
          <p:nvPr/>
        </p:nvSpPr>
        <p:spPr>
          <a:xfrm>
            <a:off x="5463418" y="5250774"/>
            <a:ext cx="3943265" cy="186689"/>
          </a:xfrm>
          <a:prstGeom prst="rect">
            <a:avLst/>
          </a:prstGeom>
          <a:noFill/>
        </p:spPr>
        <p:txBody>
          <a:bodyPr wrap="none" lIns="0" rIns="0" tIns="0" bIns="0">
            <a:spAutoFit/>
          </a:bodyPr>
          <a:lstStyle/>
          <a:p>
            <a:r>
              <a:rPr sz="1100" b="0">
                <a:solidFill>
                  <a:srgbClr val="2E2E2E"/>
                </a:solidFill>
                <a:latin typeface="Calibri"/>
              </a:rPr>
              <a:t>US$ Mn over the forecast period while 'Facial Sunscreen' still carries</a:t>
            </a:r>
          </a:p>
        </p:txBody>
      </p:sp>
      <p:pic>
        <p:nvPicPr>
          <p:cNvPr id="86" name="Picture 85" descr="lock.png"/>
          <p:cNvPicPr>
            <a:picLocks noChangeAspect="1"/>
          </p:cNvPicPr>
          <p:nvPr/>
        </p:nvPicPr>
        <p:blipFill>
          <a:blip r:embed="rId4"/>
          <a:stretch>
            <a:fillRect/>
          </a:stretch>
        </p:blipFill>
        <p:spPr>
          <a:xfrm>
            <a:off x="177032" y="5408635"/>
            <a:ext cx="128699" cy="187198"/>
          </a:xfrm>
          <a:prstGeom prst="rect">
            <a:avLst/>
          </a:prstGeom>
        </p:spPr>
      </p:pic>
      <p:sp>
        <p:nvSpPr>
          <p:cNvPr id="87" name="TextBox 86"/>
          <p:cNvSpPr txBox="1"/>
          <p:nvPr/>
        </p:nvSpPr>
        <p:spPr>
          <a:xfrm>
            <a:off x="344528" y="5418414"/>
            <a:ext cx="8197353" cy="186689"/>
          </a:xfrm>
          <a:prstGeom prst="rect">
            <a:avLst/>
          </a:prstGeom>
          <a:noFill/>
        </p:spPr>
        <p:txBody>
          <a:bodyPr wrap="none" lIns="0" rIns="0" tIns="0" bIns="0">
            <a:spAutoFit/>
          </a:bodyPr>
          <a:lstStyle/>
          <a:p>
            <a:r>
              <a:rPr sz="1100" b="0">
                <a:solidFill>
                  <a:srgbClr val="2E2E2E"/>
                </a:solidFill>
                <a:latin typeface="Calibri"/>
              </a:rPr>
              <a:t>of demand today. Pairing the incumbent route for volume with the fastest route for growth and leading with 'Chemical Ceramide Sunscreen' at</a:t>
            </a:r>
          </a:p>
        </p:txBody>
      </p:sp>
      <p:pic>
        <p:nvPicPr>
          <p:cNvPr id="88" name="Picture 87" descr="lock.png"/>
          <p:cNvPicPr>
            <a:picLocks noChangeAspect="1"/>
          </p:cNvPicPr>
          <p:nvPr/>
        </p:nvPicPr>
        <p:blipFill>
          <a:blip r:embed="rId4"/>
          <a:stretch>
            <a:fillRect/>
          </a:stretch>
        </p:blipFill>
        <p:spPr>
          <a:xfrm>
            <a:off x="8489933" y="5408635"/>
            <a:ext cx="128699" cy="187198"/>
          </a:xfrm>
          <a:prstGeom prst="rect">
            <a:avLst/>
          </a:prstGeom>
        </p:spPr>
      </p:pic>
      <p:sp>
        <p:nvSpPr>
          <p:cNvPr id="89" name="TextBox 88"/>
          <p:cNvSpPr txBox="1"/>
          <p:nvPr/>
        </p:nvSpPr>
        <p:spPr>
          <a:xfrm>
            <a:off x="8657429" y="5418414"/>
            <a:ext cx="384522" cy="186689"/>
          </a:xfrm>
          <a:prstGeom prst="rect">
            <a:avLst/>
          </a:prstGeom>
          <a:noFill/>
        </p:spPr>
        <p:txBody>
          <a:bodyPr wrap="none" lIns="0" rIns="0" tIns="0" bIns="0">
            <a:spAutoFit/>
          </a:bodyPr>
          <a:lstStyle/>
          <a:p>
            <a:r>
              <a:rPr sz="1100" b="0">
                <a:solidFill>
                  <a:srgbClr val="2E2E2E"/>
                </a:solidFill>
                <a:latin typeface="Calibri"/>
              </a:rPr>
              <a:t>is the</a:t>
            </a:r>
          </a:p>
        </p:txBody>
      </p:sp>
      <p:sp>
        <p:nvSpPr>
          <p:cNvPr id="90" name="TextBox 89"/>
          <p:cNvSpPr txBox="1"/>
          <p:nvPr/>
        </p:nvSpPr>
        <p:spPr>
          <a:xfrm>
            <a:off x="190500" y="5586054"/>
            <a:ext cx="2797621" cy="186689"/>
          </a:xfrm>
          <a:prstGeom prst="rect">
            <a:avLst/>
          </a:prstGeom>
          <a:noFill/>
        </p:spPr>
        <p:txBody>
          <a:bodyPr wrap="none" lIns="0" rIns="0" tIns="0" bIns="0">
            <a:spAutoFit/>
          </a:bodyPr>
          <a:lstStyle/>
          <a:p>
            <a:r>
              <a:rPr sz="1100" b="0">
                <a:solidFill>
                  <a:srgbClr val="2E2E2E"/>
                </a:solidFill>
                <a:latin typeface="Calibri"/>
              </a:rPr>
              <a:t>highest-yield combination the dataset supports.</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Ceramide Sunscreen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ectangle 9"/>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2" name="TextBox 11"/>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3" name="Rectangle 12"/>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5" name="Connector 14"/>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Rectangle 16"/>
          <p:cNvSpPr/>
          <p:nvPr/>
        </p:nvSpPr>
        <p:spPr>
          <a:xfrm>
            <a:off x="142875" y="26135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9" name="Connector 18"/>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2032</a:t>
            </a:r>
          </a:p>
        </p:txBody>
      </p:sp>
      <p:cxnSp>
        <p:nvCxnSpPr>
          <p:cNvPr id="23" name="Connector 22"/>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Rectangle 24"/>
          <p:cNvSpPr/>
          <p:nvPr/>
        </p:nvSpPr>
        <p:spPr>
          <a:xfrm>
            <a:off x="142875" y="45849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7" name="Connector 26"/>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Rectangle 28"/>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1" name="Connector 30"/>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4" name="TextBox 33"/>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5" name="Picture 34" descr="lock.png"/>
          <p:cNvPicPr>
            <a:picLocks noChangeAspect="1"/>
          </p:cNvPicPr>
          <p:nvPr/>
        </p:nvPicPr>
        <p:blipFill>
          <a:blip r:embed="rId4"/>
          <a:stretch>
            <a:fillRect/>
          </a:stretch>
        </p:blipFill>
        <p:spPr>
          <a:xfrm>
            <a:off x="5207711" y="1788160"/>
            <a:ext cx="128699" cy="187198"/>
          </a:xfrm>
          <a:prstGeom prst="rect">
            <a:avLst/>
          </a:prstGeom>
        </p:spPr>
      </p:pic>
      <p:sp>
        <p:nvSpPr>
          <p:cNvPr id="36" name="TextBox 35"/>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7" name="Picture 36" descr="lock.png"/>
          <p:cNvPicPr>
            <a:picLocks noChangeAspect="1"/>
          </p:cNvPicPr>
          <p:nvPr/>
        </p:nvPicPr>
        <p:blipFill>
          <a:blip r:embed="rId4"/>
          <a:stretch>
            <a:fillRect/>
          </a:stretch>
        </p:blipFill>
        <p:spPr>
          <a:xfrm>
            <a:off x="6259214" y="1788160"/>
            <a:ext cx="128699" cy="187198"/>
          </a:xfrm>
          <a:prstGeom prst="rect">
            <a:avLst/>
          </a:prstGeom>
        </p:spPr>
      </p:pic>
      <p:sp>
        <p:nvSpPr>
          <p:cNvPr id="38" name="TextBox 37"/>
          <p:cNvSpPr txBox="1"/>
          <p:nvPr/>
        </p:nvSpPr>
        <p:spPr>
          <a:xfrm>
            <a:off x="6426710" y="1797939"/>
            <a:ext cx="4989438"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'Mineral</a:t>
            </a:r>
          </a:p>
        </p:txBody>
      </p:sp>
      <p:sp>
        <p:nvSpPr>
          <p:cNvPr id="39" name="TextBox 38"/>
          <p:cNvSpPr txBox="1"/>
          <p:nvPr/>
        </p:nvSpPr>
        <p:spPr>
          <a:xfrm>
            <a:off x="1743075" y="1965579"/>
            <a:ext cx="1271289" cy="186689"/>
          </a:xfrm>
          <a:prstGeom prst="rect">
            <a:avLst/>
          </a:prstGeom>
          <a:noFill/>
        </p:spPr>
        <p:txBody>
          <a:bodyPr wrap="none" lIns="0" rIns="0" tIns="0" bIns="0">
            <a:spAutoFit/>
          </a:bodyPr>
          <a:lstStyle/>
          <a:p>
            <a:r>
              <a:rPr sz="1100" b="0">
                <a:solidFill>
                  <a:srgbClr val="2E2E2E"/>
                </a:solidFill>
                <a:latin typeface="Calibri"/>
              </a:rPr>
              <a:t>Ceramide Sunscreen'</a:t>
            </a:r>
          </a:p>
        </p:txBody>
      </p:sp>
      <p:pic>
        <p:nvPicPr>
          <p:cNvPr id="40" name="Picture 39" descr="lock.png"/>
          <p:cNvPicPr>
            <a:picLocks noChangeAspect="1"/>
          </p:cNvPicPr>
          <p:nvPr/>
        </p:nvPicPr>
        <p:blipFill>
          <a:blip r:embed="rId4"/>
          <a:stretch>
            <a:fillRect/>
          </a:stretch>
        </p:blipFill>
        <p:spPr>
          <a:xfrm>
            <a:off x="2962416" y="1955800"/>
            <a:ext cx="128699" cy="187198"/>
          </a:xfrm>
          <a:prstGeom prst="rect">
            <a:avLst/>
          </a:prstGeom>
        </p:spPr>
      </p:pic>
      <p:sp>
        <p:nvSpPr>
          <p:cNvPr id="41" name="TextBox 40"/>
          <p:cNvSpPr txBox="1"/>
          <p:nvPr/>
        </p:nvSpPr>
        <p:spPr>
          <a:xfrm>
            <a:off x="3129912" y="1965579"/>
            <a:ext cx="7482209" cy="186689"/>
          </a:xfrm>
          <a:prstGeom prst="rect">
            <a:avLst/>
          </a:prstGeom>
          <a:noFill/>
        </p:spPr>
        <p:txBody>
          <a:bodyPr wrap="none" lIns="0" rIns="0" tIns="0" bIns="0">
            <a:spAutoFit/>
          </a:bodyPr>
          <a:lstStyle/>
          <a:p>
            <a:r>
              <a:rPr sz="1100" b="0">
                <a:solidFill>
                  <a:srgbClr val="2E2E2E"/>
                </a:solidFill>
                <a:latin typeface="Calibri"/>
              </a:rPr>
              <a:t>of product type value by 2036 set the pace, and the 4 end-use application routes tracked here all carried volume through the year.</a:t>
            </a:r>
          </a:p>
        </p:txBody>
      </p:sp>
      <p:sp>
        <p:nvSpPr>
          <p:cNvPr id="42" name="TextBox 41"/>
          <p:cNvSpPr txBox="1"/>
          <p:nvPr/>
        </p:nvSpPr>
        <p:spPr>
          <a:xfrm>
            <a:off x="1743075" y="2945502"/>
            <a:ext cx="5456658"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 1,750 US$ Mn, having compounded at</a:t>
            </a:r>
          </a:p>
        </p:txBody>
      </p:sp>
      <p:pic>
        <p:nvPicPr>
          <p:cNvPr id="43" name="Picture 42" descr="lock.png"/>
          <p:cNvPicPr>
            <a:picLocks noChangeAspect="1"/>
          </p:cNvPicPr>
          <p:nvPr/>
        </p:nvPicPr>
        <p:blipFill>
          <a:blip r:embed="rId4"/>
          <a:stretch>
            <a:fillRect/>
          </a:stretch>
        </p:blipFill>
        <p:spPr>
          <a:xfrm>
            <a:off x="7146814" y="2936114"/>
            <a:ext cx="123551" cy="179710"/>
          </a:xfrm>
          <a:prstGeom prst="rect">
            <a:avLst/>
          </a:prstGeom>
        </p:spPr>
      </p:pic>
      <p:sp>
        <p:nvSpPr>
          <p:cNvPr id="44" name="TextBox 43"/>
          <p:cNvSpPr txBox="1"/>
          <p:nvPr/>
        </p:nvSpPr>
        <p:spPr>
          <a:xfrm>
            <a:off x="7307610"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5" name="Picture 44" descr="lock.png"/>
          <p:cNvPicPr>
            <a:picLocks noChangeAspect="1"/>
          </p:cNvPicPr>
          <p:nvPr/>
        </p:nvPicPr>
        <p:blipFill>
          <a:blip r:embed="rId4"/>
          <a:stretch>
            <a:fillRect/>
          </a:stretch>
        </p:blipFill>
        <p:spPr>
          <a:xfrm>
            <a:off x="9565481" y="2936114"/>
            <a:ext cx="123551" cy="179710"/>
          </a:xfrm>
          <a:prstGeom prst="rect">
            <a:avLst/>
          </a:prstGeom>
        </p:spPr>
      </p:pic>
      <p:sp>
        <p:nvSpPr>
          <p:cNvPr id="46" name="TextBox 45"/>
          <p:cNvSpPr txBox="1"/>
          <p:nvPr/>
        </p:nvSpPr>
        <p:spPr>
          <a:xfrm>
            <a:off x="9726277" y="2945502"/>
            <a:ext cx="1896665" cy="179984"/>
          </a:xfrm>
          <a:prstGeom prst="rect">
            <a:avLst/>
          </a:prstGeom>
          <a:noFill/>
        </p:spPr>
        <p:txBody>
          <a:bodyPr wrap="none" lIns="0" rIns="0" tIns="0" bIns="0">
            <a:spAutoFit/>
          </a:bodyPr>
          <a:lstStyle/>
          <a:p>
            <a:r>
              <a:rPr sz="1055" b="0">
                <a:solidFill>
                  <a:srgbClr val="2E2E2E"/>
                </a:solidFill>
                <a:latin typeface="Calibri"/>
              </a:rPr>
              <a:t>of value across 6 regions, and the</a:t>
            </a:r>
          </a:p>
        </p:txBody>
      </p:sp>
      <p:sp>
        <p:nvSpPr>
          <p:cNvPr id="47" name="TextBox 46"/>
          <p:cNvSpPr txBox="1"/>
          <p:nvPr/>
        </p:nvSpPr>
        <p:spPr>
          <a:xfrm>
            <a:off x="1743075" y="3106436"/>
            <a:ext cx="4221622" cy="179984"/>
          </a:xfrm>
          <a:prstGeom prst="rect">
            <a:avLst/>
          </a:prstGeom>
          <a:noFill/>
        </p:spPr>
        <p:txBody>
          <a:bodyPr wrap="none" lIns="0" rIns="0" tIns="0" bIns="0">
            <a:spAutoFit/>
          </a:bodyPr>
          <a:lstStyle/>
          <a:p>
            <a:r>
              <a:rPr sz="1055" b="0">
                <a:solidFill>
                  <a:srgbClr val="2E2E2E"/>
                </a:solidFill>
                <a:latin typeface="Calibri"/>
              </a:rPr>
              <a:t>forecast is built from 12 segment breakdowns covering 3 product type lines.</a:t>
            </a:r>
          </a:p>
        </p:txBody>
      </p:sp>
      <p:sp>
        <p:nvSpPr>
          <p:cNvPr id="48" name="TextBox 47"/>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49" name="Picture 48" descr="lock.png"/>
          <p:cNvPicPr>
            <a:picLocks noChangeAspect="1"/>
          </p:cNvPicPr>
          <p:nvPr/>
        </p:nvPicPr>
        <p:blipFill>
          <a:blip r:embed="rId4"/>
          <a:stretch>
            <a:fillRect/>
          </a:stretch>
        </p:blipFill>
        <p:spPr>
          <a:xfrm>
            <a:off x="2779530" y="3921813"/>
            <a:ext cx="123551" cy="179710"/>
          </a:xfrm>
          <a:prstGeom prst="rect">
            <a:avLst/>
          </a:prstGeom>
        </p:spPr>
      </p:pic>
      <p:sp>
        <p:nvSpPr>
          <p:cNvPr id="50" name="TextBox 49"/>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1" name="Picture 50" descr="lock.png"/>
          <p:cNvPicPr>
            <a:picLocks noChangeAspect="1"/>
          </p:cNvPicPr>
          <p:nvPr/>
        </p:nvPicPr>
        <p:blipFill>
          <a:blip r:embed="rId4"/>
          <a:stretch>
            <a:fillRect/>
          </a:stretch>
        </p:blipFill>
        <p:spPr>
          <a:xfrm>
            <a:off x="5832609" y="3921813"/>
            <a:ext cx="123551" cy="179710"/>
          </a:xfrm>
          <a:prstGeom prst="rect">
            <a:avLst/>
          </a:prstGeom>
        </p:spPr>
      </p:pic>
      <p:sp>
        <p:nvSpPr>
          <p:cNvPr id="52" name="TextBox 51"/>
          <p:cNvSpPr txBox="1"/>
          <p:nvPr/>
        </p:nvSpPr>
        <p:spPr>
          <a:xfrm>
            <a:off x="5993405" y="3931201"/>
            <a:ext cx="4044029" cy="179984"/>
          </a:xfrm>
          <a:prstGeom prst="rect">
            <a:avLst/>
          </a:prstGeom>
          <a:noFill/>
        </p:spPr>
        <p:txBody>
          <a:bodyPr wrap="none" lIns="0" rIns="0" tIns="0" bIns="0">
            <a:spAutoFit/>
          </a:bodyPr>
          <a:lstStyle/>
          <a:p>
            <a:r>
              <a:rPr sz="1055" b="0">
                <a:solidFill>
                  <a:srgbClr val="2E2E2E"/>
                </a:solidFill>
                <a:latin typeface="Calibri"/>
              </a:rPr>
              <a:t>US$ Mn. Growth by this point is led by 'Chemical Ceramide Sunscreen' at</a:t>
            </a:r>
          </a:p>
        </p:txBody>
      </p:sp>
      <p:pic>
        <p:nvPicPr>
          <p:cNvPr id="53" name="Picture 52" descr="lock.png"/>
          <p:cNvPicPr>
            <a:picLocks noChangeAspect="1"/>
          </p:cNvPicPr>
          <p:nvPr/>
        </p:nvPicPr>
        <p:blipFill>
          <a:blip r:embed="rId4"/>
          <a:stretch>
            <a:fillRect/>
          </a:stretch>
        </p:blipFill>
        <p:spPr>
          <a:xfrm>
            <a:off x="9984516" y="3921813"/>
            <a:ext cx="123551" cy="179710"/>
          </a:xfrm>
          <a:prstGeom prst="rect">
            <a:avLst/>
          </a:prstGeom>
        </p:spPr>
      </p:pic>
      <p:sp>
        <p:nvSpPr>
          <p:cNvPr id="54" name="TextBox 53"/>
          <p:cNvSpPr txBox="1"/>
          <p:nvPr/>
        </p:nvSpPr>
        <p:spPr>
          <a:xfrm>
            <a:off x="10145312" y="3931201"/>
            <a:ext cx="1413374" cy="179984"/>
          </a:xfrm>
          <a:prstGeom prst="rect">
            <a:avLst/>
          </a:prstGeom>
          <a:noFill/>
        </p:spPr>
        <p:txBody>
          <a:bodyPr wrap="none" lIns="0" rIns="0" tIns="0" bIns="0">
            <a:spAutoFit/>
          </a:bodyPr>
          <a:lstStyle/>
          <a:p>
            <a:r>
              <a:rPr sz="1055" b="0">
                <a:solidFill>
                  <a:srgbClr val="2E2E2E"/>
                </a:solidFill>
                <a:latin typeface="Calibri"/>
              </a:rPr>
              <a:t>CAGR and by 'South Asia</a:t>
            </a:r>
          </a:p>
        </p:txBody>
      </p:sp>
      <p:sp>
        <p:nvSpPr>
          <p:cNvPr id="55" name="TextBox 54"/>
          <p:cNvSpPr txBox="1"/>
          <p:nvPr/>
        </p:nvSpPr>
        <p:spPr>
          <a:xfrm>
            <a:off x="1743075" y="4092135"/>
            <a:ext cx="1554837" cy="179984"/>
          </a:xfrm>
          <a:prstGeom prst="rect">
            <a:avLst/>
          </a:prstGeom>
          <a:noFill/>
        </p:spPr>
        <p:txBody>
          <a:bodyPr wrap="none" lIns="0" rIns="0" tIns="0" bIns="0">
            <a:spAutoFit/>
          </a:bodyPr>
          <a:lstStyle/>
          <a:p>
            <a:r>
              <a:rPr sz="1055" b="0">
                <a:solidFill>
                  <a:srgbClr val="2E2E2E"/>
                </a:solidFill>
                <a:latin typeface="Calibri"/>
              </a:rPr>
              <a:t>&amp; Pacific' among regions at</a:t>
            </a:r>
          </a:p>
        </p:txBody>
      </p:sp>
      <p:pic>
        <p:nvPicPr>
          <p:cNvPr id="56" name="Picture 55" descr="lock.png"/>
          <p:cNvPicPr>
            <a:picLocks noChangeAspect="1"/>
          </p:cNvPicPr>
          <p:nvPr/>
        </p:nvPicPr>
        <p:blipFill>
          <a:blip r:embed="rId4"/>
          <a:stretch>
            <a:fillRect/>
          </a:stretch>
        </p:blipFill>
        <p:spPr>
          <a:xfrm>
            <a:off x="3244993" y="4082747"/>
            <a:ext cx="123551" cy="179710"/>
          </a:xfrm>
          <a:prstGeom prst="rect">
            <a:avLst/>
          </a:prstGeom>
        </p:spPr>
      </p:pic>
      <p:sp>
        <p:nvSpPr>
          <p:cNvPr id="57" name="TextBox 56"/>
          <p:cNvSpPr txBox="1"/>
          <p:nvPr/>
        </p:nvSpPr>
        <p:spPr>
          <a:xfrm>
            <a:off x="3405789" y="4092135"/>
            <a:ext cx="3178063" cy="179984"/>
          </a:xfrm>
          <a:prstGeom prst="rect">
            <a:avLst/>
          </a:prstGeom>
          <a:noFill/>
        </p:spPr>
        <p:txBody>
          <a:bodyPr wrap="none" lIns="0" rIns="0" tIns="0" bIns="0">
            <a:spAutoFit/>
          </a:bodyPr>
          <a:lstStyle/>
          <a:p>
            <a:r>
              <a:rPr sz="1055" b="0">
                <a:solidFill>
                  <a:srgbClr val="2E2E2E"/>
                </a:solidFill>
                <a:latin typeface="Calibri"/>
              </a:rPr>
              <a:t>, with 3 of 6 regions running at or above the market rate.</a:t>
            </a:r>
          </a:p>
        </p:txBody>
      </p:sp>
      <p:sp>
        <p:nvSpPr>
          <p:cNvPr id="58" name="TextBox 57"/>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59" name="Picture 58" descr="lock.png"/>
          <p:cNvPicPr>
            <a:picLocks noChangeAspect="1"/>
          </p:cNvPicPr>
          <p:nvPr/>
        </p:nvPicPr>
        <p:blipFill>
          <a:blip r:embed="rId4"/>
          <a:stretch>
            <a:fillRect/>
          </a:stretch>
        </p:blipFill>
        <p:spPr>
          <a:xfrm>
            <a:off x="3880454" y="4907513"/>
            <a:ext cx="123551" cy="179710"/>
          </a:xfrm>
          <a:prstGeom prst="rect">
            <a:avLst/>
          </a:prstGeom>
        </p:spPr>
      </p:pic>
      <p:sp>
        <p:nvSpPr>
          <p:cNvPr id="60" name="TextBox 59"/>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1" name="Picture 60" descr="lock.png"/>
          <p:cNvPicPr>
            <a:picLocks noChangeAspect="1"/>
          </p:cNvPicPr>
          <p:nvPr/>
        </p:nvPicPr>
        <p:blipFill>
          <a:blip r:embed="rId4"/>
          <a:stretch>
            <a:fillRect/>
          </a:stretch>
        </p:blipFill>
        <p:spPr>
          <a:xfrm>
            <a:off x="4529470" y="4907513"/>
            <a:ext cx="123551" cy="179710"/>
          </a:xfrm>
          <a:prstGeom prst="rect">
            <a:avLst/>
          </a:prstGeom>
        </p:spPr>
      </p:pic>
      <p:sp>
        <p:nvSpPr>
          <p:cNvPr id="62" name="TextBox 61"/>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3" name="Picture 62" descr="lock.png"/>
          <p:cNvPicPr>
            <a:picLocks noChangeAspect="1"/>
          </p:cNvPicPr>
          <p:nvPr/>
        </p:nvPicPr>
        <p:blipFill>
          <a:blip r:embed="rId4"/>
          <a:stretch>
            <a:fillRect/>
          </a:stretch>
        </p:blipFill>
        <p:spPr>
          <a:xfrm>
            <a:off x="7218681" y="4907513"/>
            <a:ext cx="123551" cy="179710"/>
          </a:xfrm>
          <a:prstGeom prst="rect">
            <a:avLst/>
          </a:prstGeom>
        </p:spPr>
      </p:pic>
      <p:sp>
        <p:nvSpPr>
          <p:cNvPr id="64" name="TextBox 63"/>
          <p:cNvSpPr txBox="1"/>
          <p:nvPr/>
        </p:nvSpPr>
        <p:spPr>
          <a:xfrm>
            <a:off x="7379477" y="4916901"/>
            <a:ext cx="1845063" cy="179984"/>
          </a:xfrm>
          <a:prstGeom prst="rect">
            <a:avLst/>
          </a:prstGeom>
          <a:noFill/>
        </p:spPr>
        <p:txBody>
          <a:bodyPr wrap="none" lIns="0" rIns="0" tIns="0" bIns="0">
            <a:spAutoFit/>
          </a:bodyPr>
          <a:lstStyle/>
          <a:p>
            <a:r>
              <a:rPr sz="1055" b="0">
                <a:solidFill>
                  <a:srgbClr val="2E2E2E"/>
                </a:solidFill>
                <a:latin typeface="Calibri"/>
              </a:rPr>
              <a:t>US$/Units, and mix has moved +</a:t>
            </a:r>
          </a:p>
        </p:txBody>
      </p:sp>
      <p:pic>
        <p:nvPicPr>
          <p:cNvPr id="65" name="Picture 64" descr="lock.png"/>
          <p:cNvPicPr>
            <a:picLocks noChangeAspect="1"/>
          </p:cNvPicPr>
          <p:nvPr/>
        </p:nvPicPr>
        <p:blipFill>
          <a:blip r:embed="rId4"/>
          <a:stretch>
            <a:fillRect/>
          </a:stretch>
        </p:blipFill>
        <p:spPr>
          <a:xfrm>
            <a:off x="9171623" y="4907513"/>
            <a:ext cx="123551" cy="179710"/>
          </a:xfrm>
          <a:prstGeom prst="rect">
            <a:avLst/>
          </a:prstGeom>
        </p:spPr>
      </p:pic>
      <p:sp>
        <p:nvSpPr>
          <p:cNvPr id="66" name="TextBox 65"/>
          <p:cNvSpPr txBox="1"/>
          <p:nvPr/>
        </p:nvSpPr>
        <p:spPr>
          <a:xfrm>
            <a:off x="9332419" y="4916901"/>
            <a:ext cx="1743694" cy="179984"/>
          </a:xfrm>
          <a:prstGeom prst="rect">
            <a:avLst/>
          </a:prstGeom>
          <a:noFill/>
        </p:spPr>
        <p:txBody>
          <a:bodyPr wrap="none" lIns="0" rIns="0" tIns="0" bIns="0">
            <a:spAutoFit/>
          </a:bodyPr>
          <a:lstStyle/>
          <a:p>
            <a:r>
              <a:rPr sz="1055" b="0">
                <a:solidFill>
                  <a:srgbClr val="2E2E2E"/>
                </a:solidFill>
                <a:latin typeface="Calibri"/>
              </a:rPr>
              <a:t>BPS toward 'Mineral Ceramide</a:t>
            </a:r>
          </a:p>
        </p:txBody>
      </p:sp>
      <p:sp>
        <p:nvSpPr>
          <p:cNvPr id="67" name="TextBox 66"/>
          <p:cNvSpPr txBox="1"/>
          <p:nvPr/>
        </p:nvSpPr>
        <p:spPr>
          <a:xfrm>
            <a:off x="1743075" y="5077835"/>
            <a:ext cx="3069883" cy="179984"/>
          </a:xfrm>
          <a:prstGeom prst="rect">
            <a:avLst/>
          </a:prstGeom>
          <a:noFill/>
        </p:spPr>
        <p:txBody>
          <a:bodyPr wrap="none" lIns="0" rIns="0" tIns="0" bIns="0">
            <a:spAutoFit/>
          </a:bodyPr>
          <a:lstStyle/>
          <a:p>
            <a:r>
              <a:rPr sz="1055" b="0">
                <a:solidFill>
                  <a:srgbClr val="2E2E2E"/>
                </a:solidFill>
                <a:latin typeface="Calibri"/>
              </a:rPr>
              <a:t>Sunscreen' while 'Hybrid Ceramide Sunscreen' gives up</a:t>
            </a:r>
          </a:p>
        </p:txBody>
      </p:sp>
      <p:pic>
        <p:nvPicPr>
          <p:cNvPr id="68" name="Picture 67" descr="lock.png"/>
          <p:cNvPicPr>
            <a:picLocks noChangeAspect="1"/>
          </p:cNvPicPr>
          <p:nvPr/>
        </p:nvPicPr>
        <p:blipFill>
          <a:blip r:embed="rId4"/>
          <a:stretch>
            <a:fillRect/>
          </a:stretch>
        </p:blipFill>
        <p:spPr>
          <a:xfrm>
            <a:off x="4760040" y="5068447"/>
            <a:ext cx="123551" cy="179710"/>
          </a:xfrm>
          <a:prstGeom prst="rect">
            <a:avLst/>
          </a:prstGeom>
        </p:spPr>
      </p:pic>
      <p:sp>
        <p:nvSpPr>
          <p:cNvPr id="69" name="TextBox 68"/>
          <p:cNvSpPr txBox="1"/>
          <p:nvPr/>
        </p:nvSpPr>
        <p:spPr>
          <a:xfrm>
            <a:off x="4920836"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70" name="TextBox 69"/>
          <p:cNvSpPr txBox="1"/>
          <p:nvPr/>
        </p:nvSpPr>
        <p:spPr>
          <a:xfrm>
            <a:off x="1743075" y="5902601"/>
            <a:ext cx="3470357" cy="179984"/>
          </a:xfrm>
          <a:prstGeom prst="rect">
            <a:avLst/>
          </a:prstGeom>
          <a:noFill/>
        </p:spPr>
        <p:txBody>
          <a:bodyPr wrap="none" lIns="0" rIns="0" tIns="0" bIns="0">
            <a:spAutoFit/>
          </a:bodyPr>
          <a:lstStyle/>
          <a:p>
            <a:r>
              <a:rPr sz="1055" b="0">
                <a:solidFill>
                  <a:srgbClr val="2E2E2E"/>
                </a:solidFill>
                <a:latin typeface="Calibri"/>
              </a:rPr>
              <a:t>Forecast outcome: the global market reaches 3,780 US$ Mn, a</a:t>
            </a:r>
          </a:p>
        </p:txBody>
      </p:sp>
      <p:pic>
        <p:nvPicPr>
          <p:cNvPr id="71" name="Picture 70" descr="lock.png"/>
          <p:cNvPicPr>
            <a:picLocks noChangeAspect="1"/>
          </p:cNvPicPr>
          <p:nvPr/>
        </p:nvPicPr>
        <p:blipFill>
          <a:blip r:embed="rId4"/>
          <a:stretch>
            <a:fillRect/>
          </a:stretch>
        </p:blipFill>
        <p:spPr>
          <a:xfrm>
            <a:off x="5160514" y="5893213"/>
            <a:ext cx="123551" cy="179710"/>
          </a:xfrm>
          <a:prstGeom prst="rect">
            <a:avLst/>
          </a:prstGeom>
        </p:spPr>
      </p:pic>
      <p:sp>
        <p:nvSpPr>
          <p:cNvPr id="72" name="TextBox 71"/>
          <p:cNvSpPr txBox="1"/>
          <p:nvPr/>
        </p:nvSpPr>
        <p:spPr>
          <a:xfrm>
            <a:off x="5321309"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3" name="Picture 72" descr="lock.png"/>
          <p:cNvPicPr>
            <a:picLocks noChangeAspect="1"/>
          </p:cNvPicPr>
          <p:nvPr/>
        </p:nvPicPr>
        <p:blipFill>
          <a:blip r:embed="rId4"/>
          <a:stretch>
            <a:fillRect/>
          </a:stretch>
        </p:blipFill>
        <p:spPr>
          <a:xfrm>
            <a:off x="6706142" y="5893213"/>
            <a:ext cx="123551" cy="179710"/>
          </a:xfrm>
          <a:prstGeom prst="rect">
            <a:avLst/>
          </a:prstGeom>
        </p:spPr>
      </p:pic>
      <p:sp>
        <p:nvSpPr>
          <p:cNvPr id="74" name="TextBox 73"/>
          <p:cNvSpPr txBox="1"/>
          <p:nvPr/>
        </p:nvSpPr>
        <p:spPr>
          <a:xfrm>
            <a:off x="6866938" y="5902601"/>
            <a:ext cx="3728378" cy="179984"/>
          </a:xfrm>
          <a:prstGeom prst="rect">
            <a:avLst/>
          </a:prstGeom>
          <a:noFill/>
        </p:spPr>
        <p:txBody>
          <a:bodyPr wrap="none" lIns="0" rIns="0" tIns="0" bIns="0">
            <a:spAutoFit/>
          </a:bodyPr>
          <a:lstStyle/>
          <a:p>
            <a:r>
              <a:rPr sz="1055" b="0">
                <a:solidFill>
                  <a:srgbClr val="2E2E2E"/>
                </a:solidFill>
                <a:latin typeface="Calibri"/>
              </a:rPr>
              <a:t>US$ Mn of incremental value at 8.0% CAGR. Volume compounds at</a:t>
            </a:r>
          </a:p>
        </p:txBody>
      </p:sp>
      <p:pic>
        <p:nvPicPr>
          <p:cNvPr id="75" name="Picture 74" descr="lock.png"/>
          <p:cNvPicPr>
            <a:picLocks noChangeAspect="1"/>
          </p:cNvPicPr>
          <p:nvPr/>
        </p:nvPicPr>
        <p:blipFill>
          <a:blip r:embed="rId4"/>
          <a:stretch>
            <a:fillRect/>
          </a:stretch>
        </p:blipFill>
        <p:spPr>
          <a:xfrm>
            <a:off x="10542398" y="5893213"/>
            <a:ext cx="123551" cy="179710"/>
          </a:xfrm>
          <a:prstGeom prst="rect">
            <a:avLst/>
          </a:prstGeom>
        </p:spPr>
      </p:pic>
      <p:sp>
        <p:nvSpPr>
          <p:cNvPr id="76" name="TextBox 75"/>
          <p:cNvSpPr txBox="1"/>
          <p:nvPr/>
        </p:nvSpPr>
        <p:spPr>
          <a:xfrm>
            <a:off x="10703194"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77" name="TextBox 76"/>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78" name="Picture 77" descr="lock.png"/>
          <p:cNvPicPr>
            <a:picLocks noChangeAspect="1"/>
          </p:cNvPicPr>
          <p:nvPr/>
        </p:nvPicPr>
        <p:blipFill>
          <a:blip r:embed="rId4"/>
          <a:stretch>
            <a:fillRect/>
          </a:stretch>
        </p:blipFill>
        <p:spPr>
          <a:xfrm>
            <a:off x="3255209" y="6054147"/>
            <a:ext cx="123551" cy="179710"/>
          </a:xfrm>
          <a:prstGeom prst="rect">
            <a:avLst/>
          </a:prstGeom>
        </p:spPr>
      </p:pic>
      <p:sp>
        <p:nvSpPr>
          <p:cNvPr id="79" name="TextBox 78"/>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Ceramide Sunscreen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TextBox 9"/>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Supplier power, buyer power, competitive intensity, substitution and entry barriers scored from the global dataset 3 product type lines, 4 end-use application routes and 6 regions at 8.0% CAGR.</a:t>
            </a:r>
          </a:p>
        </p:txBody>
      </p:sp>
      <p:sp>
        <p:nvSpPr>
          <p:cNvPr id="11" name="Oval 10"/>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3" name="TextBox 12"/>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4" name="TextBox 13"/>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3 product type lines, which caps supplier leverage in commodity grades.</a:t>
            </a:r>
          </a:p>
        </p:txBody>
      </p:sp>
      <p:sp>
        <p:nvSpPr>
          <p:cNvPr id="17" name="Oval 16"/>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3" name="TextBox 22"/>
          <p:cNvSpPr txBox="1"/>
          <p:nvPr/>
        </p:nvSpPr>
        <p:spPr>
          <a:xfrm>
            <a:off x="26289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2628900" y="385483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2628900" y="4539352"/>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3 comparable product type lines compete for the same demand.</a:t>
            </a:r>
          </a:p>
        </p:txBody>
      </p:sp>
      <p:sp>
        <p:nvSpPr>
          <p:cNvPr id="26" name="Oval 25"/>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4" name="TextBox 33"/>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5010150" y="3480637"/>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01015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Oval 36"/>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2" name="TextBox 41"/>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TextBox 42"/>
          <p:cNvSpPr txBox="1"/>
          <p:nvPr/>
        </p:nvSpPr>
        <p:spPr>
          <a:xfrm>
            <a:off x="7391400" y="3854838"/>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73914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Oval 44"/>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3" name="TextBox 52"/>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4" name="TextBox 53"/>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5" name="TextBox 54"/>
          <p:cNvSpPr txBox="1"/>
          <p:nvPr/>
        </p:nvSpPr>
        <p:spPr>
          <a:xfrm>
            <a:off x="977265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7" name="TextBox 56"/>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58" name="TextBox 57"/>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59" name="Picture 58" descr="lock.png"/>
          <p:cNvPicPr>
            <a:picLocks noChangeAspect="1"/>
          </p:cNvPicPr>
          <p:nvPr/>
        </p:nvPicPr>
        <p:blipFill>
          <a:blip r:embed="rId4"/>
          <a:stretch>
            <a:fillRect/>
          </a:stretch>
        </p:blipFill>
        <p:spPr>
          <a:xfrm>
            <a:off x="1295293" y="3006595"/>
            <a:ext cx="128699" cy="187198"/>
          </a:xfrm>
          <a:prstGeom prst="rect">
            <a:avLst/>
          </a:prstGeom>
        </p:spPr>
      </p:pic>
      <p:sp>
        <p:nvSpPr>
          <p:cNvPr id="60" name="TextBox 59"/>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1" name="TextBox 60"/>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6 regions, concentrating</a:t>
            </a:r>
          </a:p>
        </p:txBody>
      </p:sp>
      <p:sp>
        <p:nvSpPr>
          <p:cNvPr id="62" name="TextBox 61"/>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3" name="TextBox 62"/>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4" name="Picture 63" descr="lock.png"/>
          <p:cNvPicPr>
            <a:picLocks noChangeAspect="1"/>
          </p:cNvPicPr>
          <p:nvPr/>
        </p:nvPicPr>
        <p:blipFill>
          <a:blip r:embed="rId4"/>
          <a:stretch>
            <a:fillRect/>
          </a:stretch>
        </p:blipFill>
        <p:spPr>
          <a:xfrm>
            <a:off x="1900439" y="3789826"/>
            <a:ext cx="128699" cy="187198"/>
          </a:xfrm>
          <a:prstGeom prst="rect">
            <a:avLst/>
          </a:prstGeom>
        </p:spPr>
      </p:pic>
      <p:sp>
        <p:nvSpPr>
          <p:cNvPr id="65" name="TextBox 64"/>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6" name="TextBox 65"/>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67" name="TextBox 66"/>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68" name="TextBox 67"/>
          <p:cNvSpPr txBox="1"/>
          <p:nvPr/>
        </p:nvSpPr>
        <p:spPr>
          <a:xfrm>
            <a:off x="2657475" y="2860746"/>
            <a:ext cx="1746324" cy="186689"/>
          </a:xfrm>
          <a:prstGeom prst="rect">
            <a:avLst/>
          </a:prstGeom>
          <a:noFill/>
        </p:spPr>
        <p:txBody>
          <a:bodyPr wrap="none" lIns="0" rIns="0" tIns="0" bIns="0">
            <a:spAutoFit/>
          </a:bodyPr>
          <a:lstStyle/>
          <a:p>
            <a:r>
              <a:rPr sz="1100" b="0">
                <a:solidFill>
                  <a:srgbClr val="2E2E2E"/>
                </a:solidFill>
                <a:latin typeface="Calibri"/>
              </a:rPr>
              <a:t>▸ Assessed moderate to high.</a:t>
            </a:r>
          </a:p>
        </p:txBody>
      </p:sp>
      <p:sp>
        <p:nvSpPr>
          <p:cNvPr id="69" name="TextBox 68"/>
          <p:cNvSpPr txBox="1"/>
          <p:nvPr/>
        </p:nvSpPr>
        <p:spPr>
          <a:xfrm>
            <a:off x="2657475" y="3028386"/>
            <a:ext cx="2033637" cy="186689"/>
          </a:xfrm>
          <a:prstGeom prst="rect">
            <a:avLst/>
          </a:prstGeom>
          <a:noFill/>
        </p:spPr>
        <p:txBody>
          <a:bodyPr wrap="none" lIns="0" rIns="0" tIns="0" bIns="0">
            <a:spAutoFit/>
          </a:bodyPr>
          <a:lstStyle/>
          <a:p>
            <a:r>
              <a:rPr sz="1100" b="0">
                <a:solidFill>
                  <a:srgbClr val="2E2E2E"/>
                </a:solidFill>
                <a:latin typeface="Calibri"/>
              </a:rPr>
              <a:t>Demand routes through 4 end-use</a:t>
            </a:r>
          </a:p>
        </p:txBody>
      </p:sp>
      <p:sp>
        <p:nvSpPr>
          <p:cNvPr id="70" name="TextBox 69"/>
          <p:cNvSpPr txBox="1"/>
          <p:nvPr/>
        </p:nvSpPr>
        <p:spPr>
          <a:xfrm>
            <a:off x="2657475" y="3196026"/>
            <a:ext cx="1999743" cy="186689"/>
          </a:xfrm>
          <a:prstGeom prst="rect">
            <a:avLst/>
          </a:prstGeom>
          <a:noFill/>
        </p:spPr>
        <p:txBody>
          <a:bodyPr wrap="none" lIns="0" rIns="0" tIns="0" bIns="0">
            <a:spAutoFit/>
          </a:bodyPr>
          <a:lstStyle/>
          <a:p>
            <a:r>
              <a:rPr sz="1100" b="0">
                <a:solidFill>
                  <a:srgbClr val="2E2E2E"/>
                </a:solidFill>
                <a:latin typeface="Calibri"/>
              </a:rPr>
              <a:t>application channels led by 'Facial</a:t>
            </a:r>
          </a:p>
        </p:txBody>
      </p:sp>
      <p:sp>
        <p:nvSpPr>
          <p:cNvPr id="71" name="TextBox 70"/>
          <p:cNvSpPr txBox="1"/>
          <p:nvPr/>
        </p:nvSpPr>
        <p:spPr>
          <a:xfrm>
            <a:off x="2657475" y="3363666"/>
            <a:ext cx="838547" cy="186689"/>
          </a:xfrm>
          <a:prstGeom prst="rect">
            <a:avLst/>
          </a:prstGeom>
          <a:noFill/>
        </p:spPr>
        <p:txBody>
          <a:bodyPr wrap="none" lIns="0" rIns="0" tIns="0" bIns="0">
            <a:spAutoFit/>
          </a:bodyPr>
          <a:lstStyle/>
          <a:p>
            <a:r>
              <a:rPr sz="1100" b="0">
                <a:solidFill>
                  <a:srgbClr val="2E2E2E"/>
                </a:solidFill>
                <a:latin typeface="Calibri"/>
              </a:rPr>
              <a:t>Sunscreen' at</a:t>
            </a:r>
          </a:p>
        </p:txBody>
      </p:sp>
      <p:pic>
        <p:nvPicPr>
          <p:cNvPr id="72" name="Picture 71" descr="lock.png"/>
          <p:cNvPicPr>
            <a:picLocks noChangeAspect="1"/>
          </p:cNvPicPr>
          <p:nvPr/>
        </p:nvPicPr>
        <p:blipFill>
          <a:blip r:embed="rId4"/>
          <a:stretch>
            <a:fillRect/>
          </a:stretch>
        </p:blipFill>
        <p:spPr>
          <a:xfrm>
            <a:off x="3444073" y="3353887"/>
            <a:ext cx="128699" cy="187198"/>
          </a:xfrm>
          <a:prstGeom prst="rect">
            <a:avLst/>
          </a:prstGeom>
        </p:spPr>
      </p:pic>
      <p:sp>
        <p:nvSpPr>
          <p:cNvPr id="73" name="TextBox 72"/>
          <p:cNvSpPr txBox="1"/>
          <p:nvPr/>
        </p:nvSpPr>
        <p:spPr>
          <a:xfrm>
            <a:off x="3611569" y="3363666"/>
            <a:ext cx="789979" cy="186689"/>
          </a:xfrm>
          <a:prstGeom prst="rect">
            <a:avLst/>
          </a:prstGeom>
          <a:noFill/>
        </p:spPr>
        <p:txBody>
          <a:bodyPr wrap="none" lIns="0" rIns="0" tIns="0" bIns="0">
            <a:spAutoFit/>
          </a:bodyPr>
          <a:lstStyle/>
          <a:p>
            <a:r>
              <a:rPr sz="1100" b="0">
                <a:solidFill>
                  <a:srgbClr val="2E2E2E"/>
                </a:solidFill>
                <a:latin typeface="Calibri"/>
              </a:rPr>
              <a:t>, giving large</a:t>
            </a:r>
          </a:p>
        </p:txBody>
      </p:sp>
      <p:sp>
        <p:nvSpPr>
          <p:cNvPr id="74" name="TextBox 73"/>
          <p:cNvSpPr txBox="1"/>
          <p:nvPr/>
        </p:nvSpPr>
        <p:spPr>
          <a:xfrm>
            <a:off x="2657475" y="3531306"/>
            <a:ext cx="808533" cy="186689"/>
          </a:xfrm>
          <a:prstGeom prst="rect">
            <a:avLst/>
          </a:prstGeom>
          <a:noFill/>
        </p:spPr>
        <p:txBody>
          <a:bodyPr wrap="none" lIns="0" rIns="0" tIns="0" bIns="0">
            <a:spAutoFit/>
          </a:bodyPr>
          <a:lstStyle/>
          <a:p>
            <a:r>
              <a:rPr sz="1100" b="0">
                <a:solidFill>
                  <a:srgbClr val="2E2E2E"/>
                </a:solidFill>
                <a:latin typeface="Calibri"/>
              </a:rPr>
              <a:t>buyers scale.</a:t>
            </a:r>
          </a:p>
        </p:txBody>
      </p:sp>
      <p:sp>
        <p:nvSpPr>
          <p:cNvPr id="75" name="TextBox 74"/>
          <p:cNvSpPr txBox="1"/>
          <p:nvPr/>
        </p:nvSpPr>
        <p:spPr>
          <a:xfrm>
            <a:off x="2657475" y="3900000"/>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6" name="TextBox 75"/>
          <p:cNvSpPr txBox="1"/>
          <p:nvPr/>
        </p:nvSpPr>
        <p:spPr>
          <a:xfrm>
            <a:off x="2657475" y="4067640"/>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7" name="Picture 76" descr="lock.png"/>
          <p:cNvPicPr>
            <a:picLocks noChangeAspect="1"/>
          </p:cNvPicPr>
          <p:nvPr/>
        </p:nvPicPr>
        <p:blipFill>
          <a:blip r:embed="rId4"/>
          <a:stretch>
            <a:fillRect/>
          </a:stretch>
        </p:blipFill>
        <p:spPr>
          <a:xfrm>
            <a:off x="3101372" y="4057861"/>
            <a:ext cx="128699" cy="187198"/>
          </a:xfrm>
          <a:prstGeom prst="rect">
            <a:avLst/>
          </a:prstGeom>
        </p:spPr>
      </p:pic>
      <p:sp>
        <p:nvSpPr>
          <p:cNvPr id="78" name="TextBox 77"/>
          <p:cNvSpPr txBox="1"/>
          <p:nvPr/>
        </p:nvSpPr>
        <p:spPr>
          <a:xfrm>
            <a:off x="3268868" y="4067640"/>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79" name="TextBox 78"/>
          <p:cNvSpPr txBox="1"/>
          <p:nvPr/>
        </p:nvSpPr>
        <p:spPr>
          <a:xfrm>
            <a:off x="2657475" y="4235280"/>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0" name="Picture 79" descr="lock.png"/>
          <p:cNvPicPr>
            <a:picLocks noChangeAspect="1"/>
          </p:cNvPicPr>
          <p:nvPr/>
        </p:nvPicPr>
        <p:blipFill>
          <a:blip r:embed="rId4"/>
          <a:stretch>
            <a:fillRect/>
          </a:stretch>
        </p:blipFill>
        <p:spPr>
          <a:xfrm>
            <a:off x="3238070" y="4225501"/>
            <a:ext cx="128699" cy="187198"/>
          </a:xfrm>
          <a:prstGeom prst="rect">
            <a:avLst/>
          </a:prstGeom>
        </p:spPr>
      </p:pic>
      <p:sp>
        <p:nvSpPr>
          <p:cNvPr id="81" name="TextBox 80"/>
          <p:cNvSpPr txBox="1"/>
          <p:nvPr/>
        </p:nvSpPr>
        <p:spPr>
          <a:xfrm>
            <a:off x="3405566" y="423528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2" name="TextBox 81"/>
          <p:cNvSpPr txBox="1"/>
          <p:nvPr/>
        </p:nvSpPr>
        <p:spPr>
          <a:xfrm>
            <a:off x="5038725" y="2841285"/>
            <a:ext cx="2114550" cy="186689"/>
          </a:xfrm>
          <a:prstGeom prst="rect">
            <a:avLst/>
          </a:prstGeom>
          <a:noFill/>
        </p:spPr>
        <p:txBody>
          <a:bodyPr wrap="none" lIns="0" rIns="0" tIns="0" bIns="0">
            <a:spAutoFit/>
          </a:bodyPr>
          <a:lstStyle/>
          <a:p>
            <a:r>
              <a:rPr sz="1100" b="0">
                <a:solidFill>
                  <a:srgbClr val="2E2E2E"/>
                </a:solidFill>
                <a:latin typeface="Calibri"/>
              </a:rPr>
              <a:t>▸ Assessed moderate. 3 product type</a:t>
            </a:r>
          </a:p>
        </p:txBody>
      </p:sp>
      <p:sp>
        <p:nvSpPr>
          <p:cNvPr id="83" name="TextBox 82"/>
          <p:cNvSpPr txBox="1"/>
          <p:nvPr/>
        </p:nvSpPr>
        <p:spPr>
          <a:xfrm>
            <a:off x="5038725" y="3008925"/>
            <a:ext cx="2022723" cy="186689"/>
          </a:xfrm>
          <a:prstGeom prst="rect">
            <a:avLst/>
          </a:prstGeom>
          <a:noFill/>
        </p:spPr>
        <p:txBody>
          <a:bodyPr wrap="none" lIns="0" rIns="0" tIns="0" bIns="0">
            <a:spAutoFit/>
          </a:bodyPr>
          <a:lstStyle/>
          <a:p>
            <a:r>
              <a:rPr sz="1100" b="0">
                <a:solidFill>
                  <a:srgbClr val="2E2E2E"/>
                </a:solidFill>
                <a:latin typeface="Calibri"/>
              </a:rPr>
              <a:t>lines compete inside the segment;</a:t>
            </a:r>
          </a:p>
        </p:txBody>
      </p:sp>
      <p:sp>
        <p:nvSpPr>
          <p:cNvPr id="84" name="TextBox 83"/>
          <p:cNvSpPr txBox="1"/>
          <p:nvPr/>
        </p:nvSpPr>
        <p:spPr>
          <a:xfrm>
            <a:off x="5038725" y="3176565"/>
            <a:ext cx="997074" cy="186689"/>
          </a:xfrm>
          <a:prstGeom prst="rect">
            <a:avLst/>
          </a:prstGeom>
          <a:noFill/>
        </p:spPr>
        <p:txBody>
          <a:bodyPr wrap="none" lIns="0" rIns="0" tIns="0" bIns="0">
            <a:spAutoFit/>
          </a:bodyPr>
          <a:lstStyle/>
          <a:p>
            <a:r>
              <a:rPr sz="1100" b="0">
                <a:solidFill>
                  <a:srgbClr val="2E2E2E"/>
                </a:solidFill>
                <a:latin typeface="Calibri"/>
              </a:rPr>
              <a:t>the leader holds</a:t>
            </a:r>
          </a:p>
        </p:txBody>
      </p:sp>
      <p:pic>
        <p:nvPicPr>
          <p:cNvPr id="85" name="Picture 84" descr="lock.png"/>
          <p:cNvPicPr>
            <a:picLocks noChangeAspect="1"/>
          </p:cNvPicPr>
          <p:nvPr/>
        </p:nvPicPr>
        <p:blipFill>
          <a:blip r:embed="rId4"/>
          <a:stretch>
            <a:fillRect/>
          </a:stretch>
        </p:blipFill>
        <p:spPr>
          <a:xfrm>
            <a:off x="5983850" y="3166786"/>
            <a:ext cx="128699" cy="187198"/>
          </a:xfrm>
          <a:prstGeom prst="rect">
            <a:avLst/>
          </a:prstGeom>
        </p:spPr>
      </p:pic>
      <p:sp>
        <p:nvSpPr>
          <p:cNvPr id="86" name="TextBox 85"/>
          <p:cNvSpPr txBox="1"/>
          <p:nvPr/>
        </p:nvSpPr>
        <p:spPr>
          <a:xfrm>
            <a:off x="6151346" y="317656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7" name="TextBox 86"/>
          <p:cNvSpPr txBox="1"/>
          <p:nvPr/>
        </p:nvSpPr>
        <p:spPr>
          <a:xfrm>
            <a:off x="5038725" y="3533248"/>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88" name="TextBox 87"/>
          <p:cNvSpPr txBox="1"/>
          <p:nvPr/>
        </p:nvSpPr>
        <p:spPr>
          <a:xfrm>
            <a:off x="5038725" y="3700888"/>
            <a:ext cx="1998712" cy="186689"/>
          </a:xfrm>
          <a:prstGeom prst="rect">
            <a:avLst/>
          </a:prstGeom>
          <a:noFill/>
        </p:spPr>
        <p:txBody>
          <a:bodyPr wrap="none" lIns="0" rIns="0" tIns="0" bIns="0">
            <a:spAutoFit/>
          </a:bodyPr>
          <a:lstStyle/>
          <a:p>
            <a:r>
              <a:rPr sz="1100" b="0">
                <a:solidFill>
                  <a:srgbClr val="2E2E2E"/>
                </a:solidFill>
                <a:latin typeface="Calibri"/>
              </a:rPr>
              <a:t>'Chemical Ceramide Sunscreen' at</a:t>
            </a:r>
          </a:p>
        </p:txBody>
      </p:sp>
      <p:pic>
        <p:nvPicPr>
          <p:cNvPr id="89" name="Picture 88" descr="lock.png"/>
          <p:cNvPicPr>
            <a:picLocks noChangeAspect="1"/>
          </p:cNvPicPr>
          <p:nvPr/>
        </p:nvPicPr>
        <p:blipFill>
          <a:blip r:embed="rId4"/>
          <a:stretch>
            <a:fillRect/>
          </a:stretch>
        </p:blipFill>
        <p:spPr>
          <a:xfrm>
            <a:off x="5025257" y="3858749"/>
            <a:ext cx="128699" cy="187198"/>
          </a:xfrm>
          <a:prstGeom prst="rect">
            <a:avLst/>
          </a:prstGeom>
        </p:spPr>
      </p:pic>
      <p:sp>
        <p:nvSpPr>
          <p:cNvPr id="90" name="TextBox 89"/>
          <p:cNvSpPr txBox="1"/>
          <p:nvPr/>
        </p:nvSpPr>
        <p:spPr>
          <a:xfrm>
            <a:off x="5192753" y="3868528"/>
            <a:ext cx="1501576" cy="186689"/>
          </a:xfrm>
          <a:prstGeom prst="rect">
            <a:avLst/>
          </a:prstGeom>
          <a:noFill/>
        </p:spPr>
        <p:txBody>
          <a:bodyPr wrap="none" lIns="0" rIns="0" tIns="0" bIns="0">
            <a:spAutoFit/>
          </a:bodyPr>
          <a:lstStyle/>
          <a:p>
            <a:r>
              <a:rPr sz="1100" b="0">
                <a:solidFill>
                  <a:srgbClr val="2E2E2E"/>
                </a:solidFill>
                <a:latin typeface="Calibri"/>
              </a:rPr>
              <a:t>against 'Hybrid Ceramide</a:t>
            </a:r>
          </a:p>
        </p:txBody>
      </p:sp>
      <p:sp>
        <p:nvSpPr>
          <p:cNvPr id="91" name="TextBox 90"/>
          <p:cNvSpPr txBox="1"/>
          <p:nvPr/>
        </p:nvSpPr>
        <p:spPr>
          <a:xfrm>
            <a:off x="5038725" y="4036168"/>
            <a:ext cx="838547" cy="186689"/>
          </a:xfrm>
          <a:prstGeom prst="rect">
            <a:avLst/>
          </a:prstGeom>
          <a:noFill/>
        </p:spPr>
        <p:txBody>
          <a:bodyPr wrap="none" lIns="0" rIns="0" tIns="0" bIns="0">
            <a:spAutoFit/>
          </a:bodyPr>
          <a:lstStyle/>
          <a:p>
            <a:r>
              <a:rPr sz="1100" b="0">
                <a:solidFill>
                  <a:srgbClr val="2E2E2E"/>
                </a:solidFill>
                <a:latin typeface="Calibri"/>
              </a:rPr>
              <a:t>Sunscreen' at</a:t>
            </a:r>
          </a:p>
        </p:txBody>
      </p:sp>
      <p:pic>
        <p:nvPicPr>
          <p:cNvPr id="92" name="Picture 91" descr="lock.png"/>
          <p:cNvPicPr>
            <a:picLocks noChangeAspect="1"/>
          </p:cNvPicPr>
          <p:nvPr/>
        </p:nvPicPr>
        <p:blipFill>
          <a:blip r:embed="rId4"/>
          <a:stretch>
            <a:fillRect/>
          </a:stretch>
        </p:blipFill>
        <p:spPr>
          <a:xfrm>
            <a:off x="5825323" y="4026389"/>
            <a:ext cx="128699" cy="187198"/>
          </a:xfrm>
          <a:prstGeom prst="rect">
            <a:avLst/>
          </a:prstGeom>
        </p:spPr>
      </p:pic>
      <p:sp>
        <p:nvSpPr>
          <p:cNvPr id="93" name="TextBox 92"/>
          <p:cNvSpPr txBox="1"/>
          <p:nvPr/>
        </p:nvSpPr>
        <p:spPr>
          <a:xfrm>
            <a:off x="5992819" y="4036168"/>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4" name="TextBox 93"/>
          <p:cNvSpPr txBox="1"/>
          <p:nvPr/>
        </p:nvSpPr>
        <p:spPr>
          <a:xfrm>
            <a:off x="5038725" y="4392850"/>
            <a:ext cx="2114550" cy="186689"/>
          </a:xfrm>
          <a:prstGeom prst="rect">
            <a:avLst/>
          </a:prstGeom>
          <a:noFill/>
        </p:spPr>
        <p:txBody>
          <a:bodyPr wrap="none" lIns="0" rIns="0" tIns="0" bIns="0">
            <a:spAutoFit/>
          </a:bodyPr>
          <a:lstStyle/>
          <a:p>
            <a:r>
              <a:rPr sz="1100" b="0">
                <a:solidFill>
                  <a:srgbClr val="2E2E2E"/>
                </a:solidFill>
                <a:latin typeface="Calibri"/>
              </a:rPr>
              <a:t>▸ 3 of 6 regions grow at or above the</a:t>
            </a:r>
          </a:p>
        </p:txBody>
      </p:sp>
      <p:pic>
        <p:nvPicPr>
          <p:cNvPr id="95" name="Picture 94" descr="lock.png"/>
          <p:cNvPicPr>
            <a:picLocks noChangeAspect="1"/>
          </p:cNvPicPr>
          <p:nvPr/>
        </p:nvPicPr>
        <p:blipFill>
          <a:blip r:embed="rId4"/>
          <a:stretch>
            <a:fillRect/>
          </a:stretch>
        </p:blipFill>
        <p:spPr>
          <a:xfrm>
            <a:off x="5025257" y="4550711"/>
            <a:ext cx="128699" cy="187198"/>
          </a:xfrm>
          <a:prstGeom prst="rect">
            <a:avLst/>
          </a:prstGeom>
        </p:spPr>
      </p:pic>
      <p:sp>
        <p:nvSpPr>
          <p:cNvPr id="96" name="TextBox 95"/>
          <p:cNvSpPr txBox="1"/>
          <p:nvPr/>
        </p:nvSpPr>
        <p:spPr>
          <a:xfrm>
            <a:off x="5192753" y="4560490"/>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97" name="TextBox 96"/>
          <p:cNvSpPr txBox="1"/>
          <p:nvPr/>
        </p:nvSpPr>
        <p:spPr>
          <a:xfrm>
            <a:off x="5038725" y="4728130"/>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98" name="TextBox 97"/>
          <p:cNvSpPr txBox="1"/>
          <p:nvPr/>
        </p:nvSpPr>
        <p:spPr>
          <a:xfrm>
            <a:off x="7419975" y="2860746"/>
            <a:ext cx="1981795" cy="186689"/>
          </a:xfrm>
          <a:prstGeom prst="rect">
            <a:avLst/>
          </a:prstGeom>
          <a:noFill/>
        </p:spPr>
        <p:txBody>
          <a:bodyPr wrap="none" lIns="0" rIns="0" tIns="0" bIns="0">
            <a:spAutoFit/>
          </a:bodyPr>
          <a:lstStyle/>
          <a:p>
            <a:r>
              <a:rPr sz="1100" b="0">
                <a:solidFill>
                  <a:srgbClr val="2E2E2E"/>
                </a:solidFill>
                <a:latin typeface="Calibri"/>
              </a:rPr>
              <a:t>▸ Assessed low. 'Hybrid Ceramide</a:t>
            </a:r>
          </a:p>
        </p:txBody>
      </p:sp>
      <p:sp>
        <p:nvSpPr>
          <p:cNvPr id="99" name="TextBox 98"/>
          <p:cNvSpPr txBox="1"/>
          <p:nvPr/>
        </p:nvSpPr>
        <p:spPr>
          <a:xfrm>
            <a:off x="7419975" y="3028386"/>
            <a:ext cx="1009352" cy="186689"/>
          </a:xfrm>
          <a:prstGeom prst="rect">
            <a:avLst/>
          </a:prstGeom>
          <a:noFill/>
        </p:spPr>
        <p:txBody>
          <a:bodyPr wrap="none" lIns="0" rIns="0" tIns="0" bIns="0">
            <a:spAutoFit/>
          </a:bodyPr>
          <a:lstStyle/>
          <a:p>
            <a:r>
              <a:rPr sz="1100" b="0">
                <a:solidFill>
                  <a:srgbClr val="2E2E2E"/>
                </a:solidFill>
                <a:latin typeface="Calibri"/>
              </a:rPr>
              <a:t>Sunscreen' loses</a:t>
            </a:r>
          </a:p>
        </p:txBody>
      </p:sp>
      <p:pic>
        <p:nvPicPr>
          <p:cNvPr id="100" name="Picture 99" descr="lock.png"/>
          <p:cNvPicPr>
            <a:picLocks noChangeAspect="1"/>
          </p:cNvPicPr>
          <p:nvPr/>
        </p:nvPicPr>
        <p:blipFill>
          <a:blip r:embed="rId4"/>
          <a:stretch>
            <a:fillRect/>
          </a:stretch>
        </p:blipFill>
        <p:spPr>
          <a:xfrm>
            <a:off x="8377378" y="3018607"/>
            <a:ext cx="128699" cy="187198"/>
          </a:xfrm>
          <a:prstGeom prst="rect">
            <a:avLst/>
          </a:prstGeom>
        </p:spPr>
      </p:pic>
      <p:sp>
        <p:nvSpPr>
          <p:cNvPr id="101" name="TextBox 100"/>
          <p:cNvSpPr txBox="1"/>
          <p:nvPr/>
        </p:nvSpPr>
        <p:spPr>
          <a:xfrm>
            <a:off x="8544874" y="3028386"/>
            <a:ext cx="933772" cy="186689"/>
          </a:xfrm>
          <a:prstGeom prst="rect">
            <a:avLst/>
          </a:prstGeom>
          <a:noFill/>
        </p:spPr>
        <p:txBody>
          <a:bodyPr wrap="none" lIns="0" rIns="0" tIns="0" bIns="0">
            <a:spAutoFit/>
          </a:bodyPr>
          <a:lstStyle/>
          <a:p>
            <a:r>
              <a:rPr sz="1100" b="0">
                <a:solidFill>
                  <a:srgbClr val="2E2E2E"/>
                </a:solidFill>
                <a:latin typeface="Calibri"/>
              </a:rPr>
              <a:t>BPS of share to</a:t>
            </a:r>
          </a:p>
        </p:txBody>
      </p:sp>
      <p:sp>
        <p:nvSpPr>
          <p:cNvPr id="102" name="TextBox 101"/>
          <p:cNvSpPr txBox="1"/>
          <p:nvPr/>
        </p:nvSpPr>
        <p:spPr>
          <a:xfrm>
            <a:off x="7419975" y="3196026"/>
            <a:ext cx="1919858" cy="186689"/>
          </a:xfrm>
          <a:prstGeom prst="rect">
            <a:avLst/>
          </a:prstGeom>
          <a:noFill/>
        </p:spPr>
        <p:txBody>
          <a:bodyPr wrap="none" lIns="0" rIns="0" tIns="0" bIns="0">
            <a:spAutoFit/>
          </a:bodyPr>
          <a:lstStyle/>
          <a:p>
            <a:r>
              <a:rPr sz="1100" b="0">
                <a:solidFill>
                  <a:srgbClr val="2E2E2E"/>
                </a:solidFill>
                <a:latin typeface="Calibri"/>
              </a:rPr>
              <a:t>'Mineral Ceramide Sunscreen' (+</a:t>
            </a:r>
          </a:p>
        </p:txBody>
      </p:sp>
      <p:pic>
        <p:nvPicPr>
          <p:cNvPr id="103" name="Picture 102" descr="lock.png"/>
          <p:cNvPicPr>
            <a:picLocks noChangeAspect="1"/>
          </p:cNvPicPr>
          <p:nvPr/>
        </p:nvPicPr>
        <p:blipFill>
          <a:blip r:embed="rId4"/>
          <a:stretch>
            <a:fillRect/>
          </a:stretch>
        </p:blipFill>
        <p:spPr>
          <a:xfrm>
            <a:off x="9287884" y="3186247"/>
            <a:ext cx="128699" cy="187198"/>
          </a:xfrm>
          <a:prstGeom prst="rect">
            <a:avLst/>
          </a:prstGeom>
        </p:spPr>
      </p:pic>
      <p:sp>
        <p:nvSpPr>
          <p:cNvPr id="104" name="TextBox 103"/>
          <p:cNvSpPr txBox="1"/>
          <p:nvPr/>
        </p:nvSpPr>
        <p:spPr>
          <a:xfrm>
            <a:off x="7419975" y="3363666"/>
            <a:ext cx="2035274" cy="186689"/>
          </a:xfrm>
          <a:prstGeom prst="rect">
            <a:avLst/>
          </a:prstGeom>
          <a:noFill/>
        </p:spPr>
        <p:txBody>
          <a:bodyPr wrap="none" lIns="0" rIns="0" tIns="0" bIns="0">
            <a:spAutoFit/>
          </a:bodyPr>
          <a:lstStyle/>
          <a:p>
            <a:r>
              <a:rPr sz="1100" b="0">
                <a:solidFill>
                  <a:srgbClr val="2E2E2E"/>
                </a:solidFill>
                <a:latin typeface="Calibri"/>
              </a:rPr>
              <a:t>BPS) by 2036 substitution is visible</a:t>
            </a:r>
          </a:p>
        </p:txBody>
      </p:sp>
      <p:sp>
        <p:nvSpPr>
          <p:cNvPr id="105" name="TextBox 104"/>
          <p:cNvSpPr txBox="1"/>
          <p:nvPr/>
        </p:nvSpPr>
        <p:spPr>
          <a:xfrm>
            <a:off x="7419975" y="3531306"/>
            <a:ext cx="904304" cy="186689"/>
          </a:xfrm>
          <a:prstGeom prst="rect">
            <a:avLst/>
          </a:prstGeom>
          <a:noFill/>
        </p:spPr>
        <p:txBody>
          <a:bodyPr wrap="none" lIns="0" rIns="0" tIns="0" bIns="0">
            <a:spAutoFit/>
          </a:bodyPr>
          <a:lstStyle/>
          <a:p>
            <a:r>
              <a:rPr sz="1100" b="0">
                <a:solidFill>
                  <a:srgbClr val="2E2E2E"/>
                </a:solidFill>
                <a:latin typeface="Calibri"/>
              </a:rPr>
              <a:t>inside the mix.</a:t>
            </a:r>
          </a:p>
        </p:txBody>
      </p:sp>
      <p:sp>
        <p:nvSpPr>
          <p:cNvPr id="106" name="TextBox 105"/>
          <p:cNvSpPr txBox="1"/>
          <p:nvPr/>
        </p:nvSpPr>
        <p:spPr>
          <a:xfrm>
            <a:off x="7419975" y="3894694"/>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07" name="Picture 106" descr="lock.png"/>
          <p:cNvPicPr>
            <a:picLocks noChangeAspect="1"/>
          </p:cNvPicPr>
          <p:nvPr/>
        </p:nvPicPr>
        <p:blipFill>
          <a:blip r:embed="rId4"/>
          <a:stretch>
            <a:fillRect/>
          </a:stretch>
        </p:blipFill>
        <p:spPr>
          <a:xfrm>
            <a:off x="8917440" y="3885306"/>
            <a:ext cx="123551" cy="179710"/>
          </a:xfrm>
          <a:prstGeom prst="rect">
            <a:avLst/>
          </a:prstGeom>
        </p:spPr>
      </p:pic>
      <p:sp>
        <p:nvSpPr>
          <p:cNvPr id="108" name="TextBox 107"/>
          <p:cNvSpPr txBox="1"/>
          <p:nvPr/>
        </p:nvSpPr>
        <p:spPr>
          <a:xfrm>
            <a:off x="9078236" y="3894694"/>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09" name="Picture 108" descr="lock.png"/>
          <p:cNvPicPr>
            <a:picLocks noChangeAspect="1"/>
          </p:cNvPicPr>
          <p:nvPr/>
        </p:nvPicPr>
        <p:blipFill>
          <a:blip r:embed="rId4"/>
          <a:stretch>
            <a:fillRect/>
          </a:stretch>
        </p:blipFill>
        <p:spPr>
          <a:xfrm>
            <a:off x="9206555" y="3885306"/>
            <a:ext cx="123551" cy="179710"/>
          </a:xfrm>
          <a:prstGeom prst="rect">
            <a:avLst/>
          </a:prstGeom>
        </p:spPr>
      </p:pic>
      <p:sp>
        <p:nvSpPr>
          <p:cNvPr id="110" name="TextBox 109"/>
          <p:cNvSpPr txBox="1"/>
          <p:nvPr/>
        </p:nvSpPr>
        <p:spPr>
          <a:xfrm>
            <a:off x="7419975" y="4055628"/>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1" name="TextBox 110"/>
          <p:cNvSpPr txBox="1"/>
          <p:nvPr/>
        </p:nvSpPr>
        <p:spPr>
          <a:xfrm>
            <a:off x="7419975" y="4392850"/>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2" name="Picture 111" descr="lock.png"/>
          <p:cNvPicPr>
            <a:picLocks noChangeAspect="1"/>
          </p:cNvPicPr>
          <p:nvPr/>
        </p:nvPicPr>
        <p:blipFill>
          <a:blip r:embed="rId4"/>
          <a:stretch>
            <a:fillRect/>
          </a:stretch>
        </p:blipFill>
        <p:spPr>
          <a:xfrm>
            <a:off x="8622399" y="4383071"/>
            <a:ext cx="128699" cy="187198"/>
          </a:xfrm>
          <a:prstGeom prst="rect">
            <a:avLst/>
          </a:prstGeom>
        </p:spPr>
      </p:pic>
      <p:sp>
        <p:nvSpPr>
          <p:cNvPr id="113" name="TextBox 112"/>
          <p:cNvSpPr txBox="1"/>
          <p:nvPr/>
        </p:nvSpPr>
        <p:spPr>
          <a:xfrm>
            <a:off x="8789895" y="4392850"/>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4" name="TextBox 113"/>
          <p:cNvSpPr txBox="1"/>
          <p:nvPr/>
        </p:nvSpPr>
        <p:spPr>
          <a:xfrm>
            <a:off x="7419975" y="4560490"/>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5" name="TextBox 114"/>
          <p:cNvSpPr txBox="1"/>
          <p:nvPr/>
        </p:nvSpPr>
        <p:spPr>
          <a:xfrm>
            <a:off x="7419975" y="4728130"/>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16" name="TextBox 115"/>
          <p:cNvSpPr txBox="1"/>
          <p:nvPr/>
        </p:nvSpPr>
        <p:spPr>
          <a:xfrm>
            <a:off x="9801225" y="2932554"/>
            <a:ext cx="2058193" cy="186689"/>
          </a:xfrm>
          <a:prstGeom prst="rect">
            <a:avLst/>
          </a:prstGeom>
          <a:noFill/>
        </p:spPr>
        <p:txBody>
          <a:bodyPr wrap="none" lIns="0" rIns="0" tIns="0" bIns="0">
            <a:spAutoFit/>
          </a:bodyPr>
          <a:lstStyle/>
          <a:p>
            <a:r>
              <a:rPr sz="1100" b="0">
                <a:solidFill>
                  <a:srgbClr val="2E2E2E"/>
                </a:solidFill>
                <a:latin typeface="Calibri"/>
              </a:rPr>
              <a:t>▸ Assessed high. The market grows</a:t>
            </a:r>
          </a:p>
        </p:txBody>
      </p:sp>
      <p:sp>
        <p:nvSpPr>
          <p:cNvPr id="117" name="TextBox 116"/>
          <p:cNvSpPr txBox="1"/>
          <p:nvPr/>
        </p:nvSpPr>
        <p:spPr>
          <a:xfrm>
            <a:off x="9801225" y="3100194"/>
            <a:ext cx="189979" cy="186689"/>
          </a:xfrm>
          <a:prstGeom prst="rect">
            <a:avLst/>
          </a:prstGeom>
          <a:noFill/>
        </p:spPr>
        <p:txBody>
          <a:bodyPr wrap="none" lIns="0" rIns="0" tIns="0" bIns="0">
            <a:spAutoFit/>
          </a:bodyPr>
          <a:lstStyle/>
          <a:p>
            <a:r>
              <a:rPr sz="1100" b="0">
                <a:solidFill>
                  <a:srgbClr val="2E2E2E"/>
                </a:solidFill>
                <a:latin typeface="Calibri"/>
              </a:rPr>
              <a:t>at</a:t>
            </a:r>
          </a:p>
        </p:txBody>
      </p:sp>
      <p:pic>
        <p:nvPicPr>
          <p:cNvPr id="118" name="Picture 117" descr="lock.png"/>
          <p:cNvPicPr>
            <a:picLocks noChangeAspect="1"/>
          </p:cNvPicPr>
          <p:nvPr/>
        </p:nvPicPr>
        <p:blipFill>
          <a:blip r:embed="rId4"/>
          <a:stretch>
            <a:fillRect/>
          </a:stretch>
        </p:blipFill>
        <p:spPr>
          <a:xfrm>
            <a:off x="9939255" y="3090415"/>
            <a:ext cx="128699" cy="187198"/>
          </a:xfrm>
          <a:prstGeom prst="rect">
            <a:avLst/>
          </a:prstGeom>
        </p:spPr>
      </p:pic>
      <p:sp>
        <p:nvSpPr>
          <p:cNvPr id="119" name="TextBox 118"/>
          <p:cNvSpPr txBox="1"/>
          <p:nvPr/>
        </p:nvSpPr>
        <p:spPr>
          <a:xfrm>
            <a:off x="10106751" y="310019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0" name="Picture 119" descr="lock.png"/>
          <p:cNvPicPr>
            <a:picLocks noChangeAspect="1"/>
          </p:cNvPicPr>
          <p:nvPr/>
        </p:nvPicPr>
        <p:blipFill>
          <a:blip r:embed="rId4"/>
          <a:stretch>
            <a:fillRect/>
          </a:stretch>
        </p:blipFill>
        <p:spPr>
          <a:xfrm>
            <a:off x="10995379" y="3090415"/>
            <a:ext cx="128699" cy="187198"/>
          </a:xfrm>
          <a:prstGeom prst="rect">
            <a:avLst/>
          </a:prstGeom>
        </p:spPr>
      </p:pic>
      <p:sp>
        <p:nvSpPr>
          <p:cNvPr id="121" name="TextBox 120"/>
          <p:cNvSpPr txBox="1"/>
          <p:nvPr/>
        </p:nvSpPr>
        <p:spPr>
          <a:xfrm>
            <a:off x="11162875" y="3100194"/>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22" name="TextBox 121"/>
          <p:cNvSpPr txBox="1"/>
          <p:nvPr/>
        </p:nvSpPr>
        <p:spPr>
          <a:xfrm>
            <a:off x="9801225" y="3267834"/>
            <a:ext cx="1517674" cy="186689"/>
          </a:xfrm>
          <a:prstGeom prst="rect">
            <a:avLst/>
          </a:prstGeom>
          <a:noFill/>
        </p:spPr>
        <p:txBody>
          <a:bodyPr wrap="none" lIns="0" rIns="0" tIns="0" bIns="0">
            <a:spAutoFit/>
          </a:bodyPr>
          <a:lstStyle/>
          <a:p>
            <a:r>
              <a:rPr sz="1100" b="0">
                <a:solidFill>
                  <a:srgbClr val="2E2E2E"/>
                </a:solidFill>
                <a:latin typeface="Calibri"/>
              </a:rPr>
              <a:t>by 2036, attracting entry.</a:t>
            </a:r>
          </a:p>
        </p:txBody>
      </p:sp>
      <p:sp>
        <p:nvSpPr>
          <p:cNvPr id="123" name="TextBox 122"/>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6 regions</a:t>
            </a:r>
          </a:p>
        </p:txBody>
      </p:sp>
      <p:sp>
        <p:nvSpPr>
          <p:cNvPr id="124" name="TextBox 123"/>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5" name="Picture 124" descr="lock.png"/>
          <p:cNvPicPr>
            <a:picLocks noChangeAspect="1"/>
          </p:cNvPicPr>
          <p:nvPr/>
        </p:nvPicPr>
        <p:blipFill>
          <a:blip r:embed="rId4"/>
          <a:stretch>
            <a:fillRect/>
          </a:stretch>
        </p:blipFill>
        <p:spPr>
          <a:xfrm>
            <a:off x="11242394" y="3866197"/>
            <a:ext cx="128699" cy="187198"/>
          </a:xfrm>
          <a:prstGeom prst="rect">
            <a:avLst/>
          </a:prstGeom>
        </p:spPr>
      </p:pic>
      <p:sp>
        <p:nvSpPr>
          <p:cNvPr id="126" name="TextBox 125"/>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27" name="TextBox 126"/>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28" name="TextBox 127"/>
          <p:cNvSpPr txBox="1"/>
          <p:nvPr/>
        </p:nvSpPr>
        <p:spPr>
          <a:xfrm>
            <a:off x="9801225" y="4400299"/>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29" name="TextBox 128"/>
          <p:cNvSpPr txBox="1"/>
          <p:nvPr/>
        </p:nvSpPr>
        <p:spPr>
          <a:xfrm>
            <a:off x="9801225" y="4567939"/>
            <a:ext cx="2021631" cy="186689"/>
          </a:xfrm>
          <a:prstGeom prst="rect">
            <a:avLst/>
          </a:prstGeom>
          <a:noFill/>
        </p:spPr>
        <p:txBody>
          <a:bodyPr wrap="none" lIns="0" rIns="0" tIns="0" bIns="0">
            <a:spAutoFit/>
          </a:bodyPr>
          <a:lstStyle/>
          <a:p>
            <a:r>
              <a:rPr sz="1100" b="0">
                <a:solidFill>
                  <a:srgbClr val="2E2E2E"/>
                </a:solidFill>
                <a:latin typeface="Calibri"/>
              </a:rPr>
              <a:t>and 'Mineral Ceramide Sunscreen'</a:t>
            </a:r>
          </a:p>
        </p:txBody>
      </p:sp>
      <p:sp>
        <p:nvSpPr>
          <p:cNvPr id="130" name="TextBox 129"/>
          <p:cNvSpPr txBox="1"/>
          <p:nvPr/>
        </p:nvSpPr>
        <p:spPr>
          <a:xfrm>
            <a:off x="9801225" y="4735579"/>
            <a:ext cx="118491"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1" name="Picture 130" descr="lock.png"/>
          <p:cNvPicPr>
            <a:picLocks noChangeAspect="1"/>
          </p:cNvPicPr>
          <p:nvPr/>
        </p:nvPicPr>
        <p:blipFill>
          <a:blip r:embed="rId4"/>
          <a:stretch>
            <a:fillRect/>
          </a:stretch>
        </p:blipFill>
        <p:spPr>
          <a:xfrm>
            <a:off x="9867768" y="4725800"/>
            <a:ext cx="128699" cy="187198"/>
          </a:xfrm>
          <a:prstGeom prst="rect">
            <a:avLst/>
          </a:prstGeom>
        </p:spPr>
      </p:pic>
      <p:sp>
        <p:nvSpPr>
          <p:cNvPr id="132" name="TextBox 131"/>
          <p:cNvSpPr txBox="1"/>
          <p:nvPr/>
        </p:nvSpPr>
        <p:spPr>
          <a:xfrm>
            <a:off x="10035264" y="4735579"/>
            <a:ext cx="1468015" cy="186689"/>
          </a:xfrm>
          <a:prstGeom prst="rect">
            <a:avLst/>
          </a:prstGeom>
          <a:noFill/>
        </p:spPr>
        <p:txBody>
          <a:bodyPr wrap="none" lIns="0" rIns="0" tIns="0" bIns="0">
            <a:spAutoFit/>
          </a:bodyPr>
          <a:lstStyle/>
          <a:p>
            <a:r>
              <a:rPr sz="1100" b="0">
                <a:solidFill>
                  <a:srgbClr val="2E2E2E"/>
                </a:solidFill>
                <a:latin typeface="Calibri"/>
              </a:rPr>
              <a:t>of segment) remains the</a:t>
            </a:r>
          </a:p>
        </p:txBody>
      </p:sp>
      <p:sp>
        <p:nvSpPr>
          <p:cNvPr id="133" name="TextBox 132"/>
          <p:cNvSpPr txBox="1"/>
          <p:nvPr/>
        </p:nvSpPr>
        <p:spPr>
          <a:xfrm>
            <a:off x="9801225" y="4903219"/>
            <a:ext cx="1023267" cy="186689"/>
          </a:xfrm>
          <a:prstGeom prst="rect">
            <a:avLst/>
          </a:prstGeom>
          <a:noFill/>
        </p:spPr>
        <p:txBody>
          <a:bodyPr wrap="none" lIns="0" rIns="0" tIns="0" bIns="0">
            <a:spAutoFit/>
          </a:bodyPr>
          <a:lstStyle/>
          <a:p>
            <a:r>
              <a:rPr sz="1100" b="0">
                <a:solidFill>
                  <a:srgbClr val="2E2E2E"/>
                </a:solidFill>
                <a:latin typeface="Calibri"/>
              </a:rPr>
              <a:t>principal barrier.</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Ceramide Sunscreen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Ceramide Sunscreen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401605"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'Mineral Ceramide Sunscreen') to lift</a:t>
            </a:r>
          </a:p>
        </p:txBody>
      </p:sp>
      <p:sp>
        <p:nvSpPr>
          <p:cNvPr id="33" name="TextBox 32"/>
          <p:cNvSpPr txBox="1"/>
          <p:nvPr/>
        </p:nvSpPr>
        <p:spPr>
          <a:xfrm>
            <a:off x="276225" y="2351539"/>
            <a:ext cx="3225403" cy="194310"/>
          </a:xfrm>
          <a:prstGeom prst="rect">
            <a:avLst/>
          </a:prstGeom>
          <a:noFill/>
        </p:spPr>
        <p:txBody>
          <a:bodyPr wrap="none" lIns="0" rIns="0" tIns="0" bIns="0">
            <a:spAutoFit/>
          </a:bodyPr>
          <a:lstStyle/>
          <a:p>
            <a:r>
              <a:rPr sz="1150" b="0">
                <a:solidFill>
                  <a:srgbClr val="2E2E2E"/>
                </a:solidFill>
                <a:latin typeface="Calibri"/>
              </a:rPr>
              <a:t>blended ASP and 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2923617" cy="194310"/>
          </a:xfrm>
          <a:prstGeom prst="rect">
            <a:avLst/>
          </a:prstGeom>
          <a:noFill/>
        </p:spPr>
        <p:txBody>
          <a:bodyPr wrap="none" lIns="0" rIns="0" tIns="0" bIns="0">
            <a:spAutoFit/>
          </a:bodyPr>
          <a:lstStyle/>
          <a:p>
            <a:r>
              <a:rPr sz="1150" b="0">
                <a:solidFill>
                  <a:srgbClr val="2E2E2E"/>
                </a:solidFill>
                <a:latin typeface="Calibri"/>
              </a:rPr>
              <a:t>▪ Benchmark relentlessly against 'L'Oréal S.A.' (~</a:t>
            </a:r>
          </a:p>
        </p:txBody>
      </p:sp>
      <p:pic>
        <p:nvPicPr>
          <p:cNvPr id="43" name="Picture 42" descr="lock.png"/>
          <p:cNvPicPr>
            <a:picLocks noChangeAspect="1"/>
          </p:cNvPicPr>
          <p:nvPr/>
        </p:nvPicPr>
        <p:blipFill>
          <a:blip r:embed="rId4"/>
          <a:stretch>
            <a:fillRect/>
          </a:stretch>
        </p:blipFill>
        <p:spPr>
          <a:xfrm>
            <a:off x="9197371" y="4455378"/>
            <a:ext cx="134549" cy="195707"/>
          </a:xfrm>
          <a:prstGeom prst="rect">
            <a:avLst/>
          </a:prstGeom>
        </p:spPr>
      </p:pic>
      <p:sp>
        <p:nvSpPr>
          <p:cNvPr id="44" name="TextBox 43"/>
          <p:cNvSpPr txBox="1"/>
          <p:nvPr/>
        </p:nvSpPr>
        <p:spPr>
          <a:xfrm>
            <a:off x="9372481" y="4465602"/>
            <a:ext cx="2219597" cy="194310"/>
          </a:xfrm>
          <a:prstGeom prst="rect">
            <a:avLst/>
          </a:prstGeom>
          <a:noFill/>
        </p:spPr>
        <p:txBody>
          <a:bodyPr wrap="none" lIns="0" rIns="0" tIns="0" bIns="0">
            <a:spAutoFit/>
          </a:bodyPr>
          <a:lstStyle/>
          <a:p>
            <a:r>
              <a:rPr sz="1150" b="0">
                <a:solidFill>
                  <a:srgbClr val="2E2E2E"/>
                </a:solidFill>
                <a:latin typeface="Calibri"/>
              </a:rPr>
              <a:t>share) match on service and lead on</a:t>
            </a:r>
          </a:p>
        </p:txBody>
      </p:sp>
      <p:sp>
        <p:nvSpPr>
          <p:cNvPr id="45" name="TextBox 44"/>
          <p:cNvSpPr txBox="1"/>
          <p:nvPr/>
        </p:nvSpPr>
        <p:spPr>
          <a:xfrm>
            <a:off x="6324600" y="4640861"/>
            <a:ext cx="1560376" cy="194310"/>
          </a:xfrm>
          <a:prstGeom prst="rect">
            <a:avLst/>
          </a:prstGeom>
          <a:noFill/>
        </p:spPr>
        <p:txBody>
          <a:bodyPr wrap="none" lIns="0" rIns="0" tIns="0" bIns="0">
            <a:spAutoFit/>
          </a:bodyPr>
          <a:lstStyle/>
          <a:p>
            <a:r>
              <a:rPr sz="1150" b="0">
                <a:solidFill>
                  <a:srgbClr val="2E2E2E"/>
                </a:solidFill>
                <a:latin typeface="Calibri"/>
              </a:rPr>
              <a:t>innovation 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1" name="Rounded Rectangle 10"/>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3" name="Chart 12"/>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4" name="TextBox 13"/>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100% =</a:t>
            </a:r>
          </a:p>
          <a:p>
            <a:pPr algn="ctr"/>
            <a:r>
              <a:rPr sz="1300" b="1">
                <a:solidFill>
                  <a:srgbClr val="2E2E2E"/>
                </a:solidFill>
                <a:latin typeface="Calibri"/>
              </a:rPr>
              <a:t>1,750 US$ Mn</a:t>
            </a:r>
          </a:p>
        </p:txBody>
      </p:sp>
      <p:sp>
        <p:nvSpPr>
          <p:cNvPr id="15" name="Rounded Rectangle 14"/>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7" name="Rectangle 16"/>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5"/>
          <a:stretch>
            <a:fillRect/>
          </a:stretch>
        </p:blipFill>
        <p:spPr>
          <a:xfrm>
            <a:off x="2533173" y="3678610"/>
            <a:ext cx="523875" cy="762000"/>
          </a:xfrm>
          <a:prstGeom prst="rect">
            <a:avLst/>
          </a:prstGeom>
        </p:spPr>
      </p:pic>
      <p:sp>
        <p:nvSpPr>
          <p:cNvPr id="21" name="TextBox 20"/>
          <p:cNvSpPr txBox="1"/>
          <p:nvPr/>
        </p:nvSpPr>
        <p:spPr>
          <a:xfrm>
            <a:off x="7934325" y="1773181"/>
            <a:ext cx="3962400" cy="194310"/>
          </a:xfrm>
          <a:prstGeom prst="rect">
            <a:avLst/>
          </a:prstGeom>
          <a:noFill/>
        </p:spPr>
        <p:txBody>
          <a:bodyPr wrap="none" lIns="0" rIns="0" tIns="0" bIns="0">
            <a:spAutoFit/>
          </a:bodyPr>
          <a:lstStyle/>
          <a:p>
            <a:r>
              <a:rPr sz="1150" b="0">
                <a:solidFill>
                  <a:srgbClr val="2E2E2E"/>
                </a:solidFill>
                <a:latin typeface="Calibri"/>
              </a:rPr>
              <a:t>L'Oréal S.A. accounted for the largest share of the global ceramide</a:t>
            </a:r>
          </a:p>
        </p:txBody>
      </p:sp>
      <p:sp>
        <p:nvSpPr>
          <p:cNvPr id="22" name="TextBox 21"/>
          <p:cNvSpPr txBox="1"/>
          <p:nvPr/>
        </p:nvSpPr>
        <p:spPr>
          <a:xfrm>
            <a:off x="7934325" y="1948441"/>
            <a:ext cx="3962400" cy="194310"/>
          </a:xfrm>
          <a:prstGeom prst="rect">
            <a:avLst/>
          </a:prstGeom>
          <a:noFill/>
        </p:spPr>
        <p:txBody>
          <a:bodyPr wrap="none" lIns="0" rIns="0" tIns="0" bIns="0">
            <a:spAutoFit/>
          </a:bodyPr>
          <a:lstStyle/>
          <a:p>
            <a:r>
              <a:rPr sz="1150" b="0">
                <a:solidFill>
                  <a:srgbClr val="2E2E2E"/>
                </a:solidFill>
                <a:latin typeface="Calibri"/>
              </a:rPr>
              <a:t>sunscreen market in 2026. The global ceramide sunscreen market</a:t>
            </a:r>
          </a:p>
        </p:txBody>
      </p:sp>
      <p:sp>
        <p:nvSpPr>
          <p:cNvPr id="23" name="TextBox 22"/>
          <p:cNvSpPr txBox="1"/>
          <p:nvPr/>
        </p:nvSpPr>
        <p:spPr>
          <a:xfrm>
            <a:off x="7934325" y="2123701"/>
            <a:ext cx="3586534" cy="194310"/>
          </a:xfrm>
          <a:prstGeom prst="rect">
            <a:avLst/>
          </a:prstGeom>
          <a:noFill/>
        </p:spPr>
        <p:txBody>
          <a:bodyPr wrap="none" lIns="0" rIns="0" tIns="0" bIns="0">
            <a:spAutoFit/>
          </a:bodyPr>
          <a:lstStyle/>
          <a:p>
            <a:r>
              <a:rPr sz="1150" b="0">
                <a:solidFill>
                  <a:srgbClr val="2E2E2E"/>
                </a:solidFill>
                <a:latin typeface="Calibri"/>
              </a:rPr>
              <a:t>is fragmented, with the top three players accounting for an</a:t>
            </a:r>
          </a:p>
        </p:txBody>
      </p:sp>
      <p:sp>
        <p:nvSpPr>
          <p:cNvPr id="24" name="TextBox 23"/>
          <p:cNvSpPr txBox="1"/>
          <p:nvPr/>
        </p:nvSpPr>
        <p:spPr>
          <a:xfrm>
            <a:off x="7934325" y="2298961"/>
            <a:ext cx="673806" cy="194310"/>
          </a:xfrm>
          <a:prstGeom prst="rect">
            <a:avLst/>
          </a:prstGeom>
          <a:noFill/>
        </p:spPr>
        <p:txBody>
          <a:bodyPr wrap="none" lIns="0" rIns="0" tIns="0" bIns="0">
            <a:spAutoFit/>
          </a:bodyPr>
          <a:lstStyle/>
          <a:p>
            <a:r>
              <a:rPr sz="1150" b="0">
                <a:solidFill>
                  <a:srgbClr val="2E2E2E"/>
                </a:solidFill>
                <a:latin typeface="Calibri"/>
              </a:rPr>
              <a:t>estimated</a:t>
            </a:r>
          </a:p>
        </p:txBody>
      </p:sp>
      <p:pic>
        <p:nvPicPr>
          <p:cNvPr id="25" name="Picture 24" descr="lock.png"/>
          <p:cNvPicPr>
            <a:picLocks noChangeAspect="1"/>
          </p:cNvPicPr>
          <p:nvPr/>
        </p:nvPicPr>
        <p:blipFill>
          <a:blip r:embed="rId5"/>
          <a:stretch>
            <a:fillRect/>
          </a:stretch>
        </p:blipFill>
        <p:spPr>
          <a:xfrm>
            <a:off x="8557285" y="2288737"/>
            <a:ext cx="134549" cy="195707"/>
          </a:xfrm>
          <a:prstGeom prst="rect">
            <a:avLst/>
          </a:prstGeom>
        </p:spPr>
      </p:pic>
      <p:sp>
        <p:nvSpPr>
          <p:cNvPr id="26" name="TextBox 25"/>
          <p:cNvSpPr txBox="1"/>
          <p:nvPr/>
        </p:nvSpPr>
        <p:spPr>
          <a:xfrm>
            <a:off x="8732395" y="2298961"/>
            <a:ext cx="1758912" cy="194310"/>
          </a:xfrm>
          <a:prstGeom prst="rect">
            <a:avLst/>
          </a:prstGeom>
          <a:noFill/>
        </p:spPr>
        <p:txBody>
          <a:bodyPr wrap="none" lIns="0" rIns="0" tIns="0" bIns="0">
            <a:spAutoFit/>
          </a:bodyPr>
          <a:lstStyle/>
          <a:p>
            <a:r>
              <a:rPr sz="1150" b="0">
                <a:solidFill>
                  <a:srgbClr val="2E2E2E"/>
                </a:solidFill>
                <a:latin typeface="Calibri"/>
              </a:rPr>
              <a:t>share of the market in 2026.</a:t>
            </a:r>
          </a:p>
        </p:txBody>
      </p:sp>
      <p:sp>
        <p:nvSpPr>
          <p:cNvPr id="27" name="TextBox 26"/>
          <p:cNvSpPr txBox="1"/>
          <p:nvPr/>
        </p:nvSpPr>
        <p:spPr>
          <a:xfrm>
            <a:off x="7934325" y="2526799"/>
            <a:ext cx="2423853" cy="194310"/>
          </a:xfrm>
          <a:prstGeom prst="rect">
            <a:avLst/>
          </a:prstGeom>
          <a:noFill/>
        </p:spPr>
        <p:txBody>
          <a:bodyPr wrap="none" lIns="0" rIns="0" tIns="0" bIns="0">
            <a:spAutoFit/>
          </a:bodyPr>
          <a:lstStyle/>
          <a:p>
            <a:r>
              <a:rPr sz="1150" b="0">
                <a:solidFill>
                  <a:srgbClr val="2E2E2E"/>
                </a:solidFill>
                <a:latin typeface="Calibri"/>
              </a:rPr>
              <a:t>L'Oréal S.A. accounted for an estimated</a:t>
            </a:r>
          </a:p>
        </p:txBody>
      </p:sp>
      <p:pic>
        <p:nvPicPr>
          <p:cNvPr id="28" name="Picture 27" descr="lock.png"/>
          <p:cNvPicPr>
            <a:picLocks noChangeAspect="1"/>
          </p:cNvPicPr>
          <p:nvPr/>
        </p:nvPicPr>
        <p:blipFill>
          <a:blip r:embed="rId5"/>
          <a:stretch>
            <a:fillRect/>
          </a:stretch>
        </p:blipFill>
        <p:spPr>
          <a:xfrm>
            <a:off x="10307331" y="2516575"/>
            <a:ext cx="134549" cy="195707"/>
          </a:xfrm>
          <a:prstGeom prst="rect">
            <a:avLst/>
          </a:prstGeom>
        </p:spPr>
      </p:pic>
      <p:sp>
        <p:nvSpPr>
          <p:cNvPr id="29" name="TextBox 28"/>
          <p:cNvSpPr txBox="1"/>
          <p:nvPr/>
        </p:nvSpPr>
        <p:spPr>
          <a:xfrm>
            <a:off x="10482441" y="2526799"/>
            <a:ext cx="1285391" cy="194310"/>
          </a:xfrm>
          <a:prstGeom prst="rect">
            <a:avLst/>
          </a:prstGeom>
          <a:noFill/>
        </p:spPr>
        <p:txBody>
          <a:bodyPr wrap="none" lIns="0" rIns="0" tIns="0" bIns="0">
            <a:spAutoFit/>
          </a:bodyPr>
          <a:lstStyle/>
          <a:p>
            <a:r>
              <a:rPr sz="1150" b="0">
                <a:solidFill>
                  <a:srgbClr val="2E2E2E"/>
                </a:solidFill>
                <a:latin typeface="Calibri"/>
              </a:rPr>
              <a:t>share of the market,</a:t>
            </a:r>
          </a:p>
        </p:txBody>
      </p:sp>
      <p:sp>
        <p:nvSpPr>
          <p:cNvPr id="30" name="TextBox 29"/>
          <p:cNvSpPr txBox="1"/>
          <p:nvPr/>
        </p:nvSpPr>
        <p:spPr>
          <a:xfrm>
            <a:off x="7934325" y="2702058"/>
            <a:ext cx="2084387" cy="194310"/>
          </a:xfrm>
          <a:prstGeom prst="rect">
            <a:avLst/>
          </a:prstGeom>
          <a:noFill/>
        </p:spPr>
        <p:txBody>
          <a:bodyPr wrap="none" lIns="0" rIns="0" tIns="0" bIns="0">
            <a:spAutoFit/>
          </a:bodyPr>
          <a:lstStyle/>
          <a:p>
            <a:r>
              <a:rPr sz="1150" b="0">
                <a:solidFill>
                  <a:srgbClr val="2E2E2E"/>
                </a:solidFill>
                <a:latin typeface="Calibri"/>
              </a:rPr>
              <a:t>followed by Company Profile with</a:t>
            </a:r>
          </a:p>
        </p:txBody>
      </p:sp>
      <p:pic>
        <p:nvPicPr>
          <p:cNvPr id="31" name="Picture 30" descr="lock.png"/>
          <p:cNvPicPr>
            <a:picLocks noChangeAspect="1"/>
          </p:cNvPicPr>
          <p:nvPr/>
        </p:nvPicPr>
        <p:blipFill>
          <a:blip r:embed="rId5"/>
          <a:stretch>
            <a:fillRect/>
          </a:stretch>
        </p:blipFill>
        <p:spPr>
          <a:xfrm>
            <a:off x="9967866" y="2691835"/>
            <a:ext cx="134549" cy="195707"/>
          </a:xfrm>
          <a:prstGeom prst="rect">
            <a:avLst/>
          </a:prstGeom>
        </p:spPr>
      </p:pic>
      <p:sp>
        <p:nvSpPr>
          <p:cNvPr id="32" name="TextBox 31"/>
          <p:cNvSpPr txBox="1"/>
          <p:nvPr/>
        </p:nvSpPr>
        <p:spPr>
          <a:xfrm>
            <a:off x="10142975" y="2702058"/>
            <a:ext cx="1577451" cy="194310"/>
          </a:xfrm>
          <a:prstGeom prst="rect">
            <a:avLst/>
          </a:prstGeom>
          <a:noFill/>
        </p:spPr>
        <p:txBody>
          <a:bodyPr wrap="none" lIns="0" rIns="0" tIns="0" bIns="0">
            <a:spAutoFit/>
          </a:bodyPr>
          <a:lstStyle/>
          <a:p>
            <a:r>
              <a:rPr sz="1150" b="0">
                <a:solidFill>
                  <a:srgbClr val="2E2E2E"/>
                </a:solidFill>
                <a:latin typeface="Calibri"/>
              </a:rPr>
              <a:t>. Key players are focusing</a:t>
            </a:r>
          </a:p>
        </p:txBody>
      </p:sp>
      <p:sp>
        <p:nvSpPr>
          <p:cNvPr id="33" name="TextBox 32"/>
          <p:cNvSpPr txBox="1"/>
          <p:nvPr/>
        </p:nvSpPr>
        <p:spPr>
          <a:xfrm>
            <a:off x="7934325" y="2877318"/>
            <a:ext cx="3568278" cy="194310"/>
          </a:xfrm>
          <a:prstGeom prst="rect">
            <a:avLst/>
          </a:prstGeom>
          <a:noFill/>
        </p:spPr>
        <p:txBody>
          <a:bodyPr wrap="none" lIns="0" rIns="0" tIns="0" bIns="0">
            <a:spAutoFit/>
          </a:bodyPr>
          <a:lstStyle/>
          <a:p>
            <a:r>
              <a:rPr sz="1150" b="0">
                <a:solidFill>
                  <a:srgbClr val="2E2E2E"/>
                </a:solidFill>
                <a:latin typeface="Calibri"/>
              </a:rPr>
              <a:t>on product innovation, geographic expansion and strategic</a:t>
            </a:r>
          </a:p>
        </p:txBody>
      </p:sp>
      <p:sp>
        <p:nvSpPr>
          <p:cNvPr id="34" name="TextBox 33"/>
          <p:cNvSpPr txBox="1"/>
          <p:nvPr/>
        </p:nvSpPr>
        <p:spPr>
          <a:xfrm>
            <a:off x="7934325" y="3052578"/>
            <a:ext cx="2993776" cy="194310"/>
          </a:xfrm>
          <a:prstGeom prst="rect">
            <a:avLst/>
          </a:prstGeom>
          <a:noFill/>
        </p:spPr>
        <p:txBody>
          <a:bodyPr wrap="none" lIns="0" rIns="0" tIns="0" bIns="0">
            <a:spAutoFit/>
          </a:bodyPr>
          <a:lstStyle/>
          <a:p>
            <a:r>
              <a:rPr sz="1150" b="0">
                <a:solidFill>
                  <a:srgbClr val="2E2E2E"/>
                </a:solidFill>
                <a:latin typeface="Calibri"/>
              </a:rPr>
              <a:t>partnerships to strengthen their market position.</a:t>
            </a:r>
          </a:p>
        </p:txBody>
      </p:sp>
      <p:sp>
        <p:nvSpPr>
          <p:cNvPr id="35" name="TextBox 34"/>
          <p:cNvSpPr txBox="1"/>
          <p:nvPr/>
        </p:nvSpPr>
        <p:spPr>
          <a:xfrm>
            <a:off x="7934325" y="328041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6" name="TextBox 35"/>
          <p:cNvSpPr txBox="1"/>
          <p:nvPr/>
        </p:nvSpPr>
        <p:spPr>
          <a:xfrm>
            <a:off x="7934325" y="345567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37" name="lockshield_13"/>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product type,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Mineral Ceramide Sunscreen</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Hybrid Ceramide Sunscreen</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Chemical Ceramide Sunscreen</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3287316" cy="194310"/>
          </a:xfrm>
          <a:prstGeom prst="rect">
            <a:avLst/>
          </a:prstGeom>
          <a:noFill/>
        </p:spPr>
        <p:txBody>
          <a:bodyPr wrap="none" lIns="0" rIns="0" tIns="0" bIns="0">
            <a:spAutoFit/>
          </a:bodyPr>
          <a:lstStyle/>
          <a:p>
            <a:r>
              <a:rPr sz="1150" b="0">
                <a:solidFill>
                  <a:srgbClr val="2E2E2E"/>
                </a:solidFill>
                <a:latin typeface="Calibri"/>
              </a:rPr>
              <a:t>▪ Mineral Ceramide Sunscreen: 'L'Oréal S.A.' leads at ~</a:t>
            </a:r>
          </a:p>
        </p:txBody>
      </p:sp>
      <p:pic>
        <p:nvPicPr>
          <p:cNvPr id="29" name="Picture 28" descr="lock.png"/>
          <p:cNvPicPr>
            <a:picLocks noChangeAspect="1"/>
          </p:cNvPicPr>
          <p:nvPr/>
        </p:nvPicPr>
        <p:blipFill>
          <a:blip r:embed="rId7"/>
          <a:stretch>
            <a:fillRect/>
          </a:stretch>
        </p:blipFill>
        <p:spPr>
          <a:xfrm>
            <a:off x="3512695" y="5012116"/>
            <a:ext cx="134549" cy="195707"/>
          </a:xfrm>
          <a:prstGeom prst="rect">
            <a:avLst/>
          </a:prstGeom>
        </p:spPr>
      </p:pic>
      <p:sp>
        <p:nvSpPr>
          <p:cNvPr id="30" name="TextBox 29"/>
          <p:cNvSpPr txBox="1"/>
          <p:nvPr/>
        </p:nvSpPr>
        <p:spPr>
          <a:xfrm>
            <a:off x="3687804" y="5022340"/>
            <a:ext cx="1477081" cy="194310"/>
          </a:xfrm>
          <a:prstGeom prst="rect">
            <a:avLst/>
          </a:prstGeom>
          <a:noFill/>
        </p:spPr>
        <p:txBody>
          <a:bodyPr wrap="none" lIns="0" rIns="0" tIns="0" bIns="0">
            <a:spAutoFit/>
          </a:bodyPr>
          <a:lstStyle/>
          <a:p>
            <a:r>
              <a:rPr sz="1150" b="0">
                <a:solidFill>
                  <a:srgbClr val="2E2E2E"/>
                </a:solidFill>
                <a:latin typeface="Calibri"/>
              </a:rPr>
              <a:t>, ahead of 'Overview' (~</a:t>
            </a:r>
          </a:p>
        </p:txBody>
      </p:sp>
      <p:pic>
        <p:nvPicPr>
          <p:cNvPr id="31" name="Picture 30" descr="lock.png"/>
          <p:cNvPicPr>
            <a:picLocks noChangeAspect="1"/>
          </p:cNvPicPr>
          <p:nvPr/>
        </p:nvPicPr>
        <p:blipFill>
          <a:blip r:embed="rId7"/>
          <a:stretch>
            <a:fillRect/>
          </a:stretch>
        </p:blipFill>
        <p:spPr>
          <a:xfrm>
            <a:off x="5114040" y="5012116"/>
            <a:ext cx="134549" cy="195707"/>
          </a:xfrm>
          <a:prstGeom prst="rect">
            <a:avLst/>
          </a:prstGeom>
        </p:spPr>
      </p:pic>
      <p:sp>
        <p:nvSpPr>
          <p:cNvPr id="32" name="TextBox 31"/>
          <p:cNvSpPr txBox="1"/>
          <p:nvPr/>
        </p:nvSpPr>
        <p:spPr>
          <a:xfrm>
            <a:off x="5289149"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623819" y="5012116"/>
            <a:ext cx="134549" cy="195707"/>
          </a:xfrm>
          <a:prstGeom prst="rect">
            <a:avLst/>
          </a:prstGeom>
        </p:spPr>
      </p:pic>
      <p:sp>
        <p:nvSpPr>
          <p:cNvPr id="34" name="TextBox 33"/>
          <p:cNvSpPr txBox="1"/>
          <p:nvPr/>
        </p:nvSpPr>
        <p:spPr>
          <a:xfrm>
            <a:off x="6798928"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354384" y="5012116"/>
            <a:ext cx="134549" cy="195707"/>
          </a:xfrm>
          <a:prstGeom prst="rect">
            <a:avLst/>
          </a:prstGeom>
        </p:spPr>
      </p:pic>
      <p:sp>
        <p:nvSpPr>
          <p:cNvPr id="36" name="TextBox 35"/>
          <p:cNvSpPr txBox="1"/>
          <p:nvPr/>
        </p:nvSpPr>
        <p:spPr>
          <a:xfrm>
            <a:off x="8529493"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3458455" cy="194310"/>
          </a:xfrm>
          <a:prstGeom prst="rect">
            <a:avLst/>
          </a:prstGeom>
          <a:noFill/>
        </p:spPr>
        <p:txBody>
          <a:bodyPr wrap="none" lIns="0" rIns="0" tIns="0" bIns="0">
            <a:spAutoFit/>
          </a:bodyPr>
          <a:lstStyle/>
          <a:p>
            <a:r>
              <a:rPr sz="1150" b="0">
                <a:solidFill>
                  <a:srgbClr val="2E2E2E"/>
                </a:solidFill>
                <a:latin typeface="Calibri"/>
              </a:rPr>
              <a:t>▪ Hybrid Ceramide Sunscreen: 'Profile Element' leads at ~</a:t>
            </a:r>
          </a:p>
        </p:txBody>
      </p:sp>
      <p:pic>
        <p:nvPicPr>
          <p:cNvPr id="38" name="Picture 37" descr="lock.png"/>
          <p:cNvPicPr>
            <a:picLocks noChangeAspect="1"/>
          </p:cNvPicPr>
          <p:nvPr/>
        </p:nvPicPr>
        <p:blipFill>
          <a:blip r:embed="rId7"/>
          <a:stretch>
            <a:fillRect/>
          </a:stretch>
        </p:blipFill>
        <p:spPr>
          <a:xfrm>
            <a:off x="3683834" y="5239954"/>
            <a:ext cx="134549" cy="195707"/>
          </a:xfrm>
          <a:prstGeom prst="rect">
            <a:avLst/>
          </a:prstGeom>
        </p:spPr>
      </p:pic>
      <p:sp>
        <p:nvSpPr>
          <p:cNvPr id="39" name="TextBox 38"/>
          <p:cNvSpPr txBox="1"/>
          <p:nvPr/>
        </p:nvSpPr>
        <p:spPr>
          <a:xfrm>
            <a:off x="3858943" y="5250177"/>
            <a:ext cx="1896405" cy="194310"/>
          </a:xfrm>
          <a:prstGeom prst="rect">
            <a:avLst/>
          </a:prstGeom>
          <a:noFill/>
        </p:spPr>
        <p:txBody>
          <a:bodyPr wrap="none" lIns="0" rIns="0" tIns="0" bIns="0">
            <a:spAutoFit/>
          </a:bodyPr>
          <a:lstStyle/>
          <a:p>
            <a:r>
              <a:rPr sz="1150" b="0">
                <a:solidFill>
                  <a:srgbClr val="2E2E2E"/>
                </a:solidFill>
                <a:latin typeface="Calibri"/>
              </a:rPr>
              <a:t>, ahead of 'Company Profile' (~</a:t>
            </a:r>
          </a:p>
        </p:txBody>
      </p:sp>
      <p:pic>
        <p:nvPicPr>
          <p:cNvPr id="40" name="Picture 39" descr="lock.png"/>
          <p:cNvPicPr>
            <a:picLocks noChangeAspect="1"/>
          </p:cNvPicPr>
          <p:nvPr/>
        </p:nvPicPr>
        <p:blipFill>
          <a:blip r:embed="rId7"/>
          <a:stretch>
            <a:fillRect/>
          </a:stretch>
        </p:blipFill>
        <p:spPr>
          <a:xfrm>
            <a:off x="5704502" y="5239954"/>
            <a:ext cx="134549" cy="195707"/>
          </a:xfrm>
          <a:prstGeom prst="rect">
            <a:avLst/>
          </a:prstGeom>
        </p:spPr>
      </p:pic>
      <p:sp>
        <p:nvSpPr>
          <p:cNvPr id="41" name="TextBox 40"/>
          <p:cNvSpPr txBox="1"/>
          <p:nvPr/>
        </p:nvSpPr>
        <p:spPr>
          <a:xfrm>
            <a:off x="5879612"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7214281" y="5239954"/>
            <a:ext cx="134549" cy="195707"/>
          </a:xfrm>
          <a:prstGeom prst="rect">
            <a:avLst/>
          </a:prstGeom>
        </p:spPr>
      </p:pic>
      <p:sp>
        <p:nvSpPr>
          <p:cNvPr id="43" name="TextBox 42"/>
          <p:cNvSpPr txBox="1"/>
          <p:nvPr/>
        </p:nvSpPr>
        <p:spPr>
          <a:xfrm>
            <a:off x="7389390"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944846" y="5239954"/>
            <a:ext cx="134549" cy="195707"/>
          </a:xfrm>
          <a:prstGeom prst="rect">
            <a:avLst/>
          </a:prstGeom>
        </p:spPr>
      </p:pic>
      <p:sp>
        <p:nvSpPr>
          <p:cNvPr id="45" name="TextBox 44"/>
          <p:cNvSpPr txBox="1"/>
          <p:nvPr/>
        </p:nvSpPr>
        <p:spPr>
          <a:xfrm>
            <a:off x="9119955"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3367758" cy="194310"/>
          </a:xfrm>
          <a:prstGeom prst="rect">
            <a:avLst/>
          </a:prstGeom>
          <a:noFill/>
        </p:spPr>
        <p:txBody>
          <a:bodyPr wrap="none" lIns="0" rIns="0" tIns="0" bIns="0">
            <a:spAutoFit/>
          </a:bodyPr>
          <a:lstStyle/>
          <a:p>
            <a:r>
              <a:rPr sz="1150" b="0">
                <a:solidFill>
                  <a:srgbClr val="2E2E2E"/>
                </a:solidFill>
                <a:latin typeface="Calibri"/>
              </a:rPr>
              <a:t>▪ Chemical Ceramide Sunscreen: 'L'Oréal S.A.' leads at ~</a:t>
            </a:r>
          </a:p>
        </p:txBody>
      </p:sp>
      <p:pic>
        <p:nvPicPr>
          <p:cNvPr id="47" name="Picture 46" descr="lock.png"/>
          <p:cNvPicPr>
            <a:picLocks noChangeAspect="1"/>
          </p:cNvPicPr>
          <p:nvPr/>
        </p:nvPicPr>
        <p:blipFill>
          <a:blip r:embed="rId7"/>
          <a:stretch>
            <a:fillRect/>
          </a:stretch>
        </p:blipFill>
        <p:spPr>
          <a:xfrm>
            <a:off x="3593137" y="5467792"/>
            <a:ext cx="134549" cy="195707"/>
          </a:xfrm>
          <a:prstGeom prst="rect">
            <a:avLst/>
          </a:prstGeom>
        </p:spPr>
      </p:pic>
      <p:sp>
        <p:nvSpPr>
          <p:cNvPr id="48" name="TextBox 47"/>
          <p:cNvSpPr txBox="1"/>
          <p:nvPr/>
        </p:nvSpPr>
        <p:spPr>
          <a:xfrm>
            <a:off x="3768246" y="5478015"/>
            <a:ext cx="1896405" cy="194310"/>
          </a:xfrm>
          <a:prstGeom prst="rect">
            <a:avLst/>
          </a:prstGeom>
          <a:noFill/>
        </p:spPr>
        <p:txBody>
          <a:bodyPr wrap="none" lIns="0" rIns="0" tIns="0" bIns="0">
            <a:spAutoFit/>
          </a:bodyPr>
          <a:lstStyle/>
          <a:p>
            <a:r>
              <a:rPr sz="1150" b="0">
                <a:solidFill>
                  <a:srgbClr val="2E2E2E"/>
                </a:solidFill>
                <a:latin typeface="Calibri"/>
              </a:rPr>
              <a:t>, ahead of 'Company Profile' (~</a:t>
            </a:r>
          </a:p>
        </p:txBody>
      </p:sp>
      <p:pic>
        <p:nvPicPr>
          <p:cNvPr id="49" name="Picture 48" descr="lock.png"/>
          <p:cNvPicPr>
            <a:picLocks noChangeAspect="1"/>
          </p:cNvPicPr>
          <p:nvPr/>
        </p:nvPicPr>
        <p:blipFill>
          <a:blip r:embed="rId7"/>
          <a:stretch>
            <a:fillRect/>
          </a:stretch>
        </p:blipFill>
        <p:spPr>
          <a:xfrm>
            <a:off x="5613805" y="5467792"/>
            <a:ext cx="134549" cy="195707"/>
          </a:xfrm>
          <a:prstGeom prst="rect">
            <a:avLst/>
          </a:prstGeom>
        </p:spPr>
      </p:pic>
      <p:sp>
        <p:nvSpPr>
          <p:cNvPr id="50" name="TextBox 49"/>
          <p:cNvSpPr txBox="1"/>
          <p:nvPr/>
        </p:nvSpPr>
        <p:spPr>
          <a:xfrm>
            <a:off x="5788914"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7123584" y="5467792"/>
            <a:ext cx="134549" cy="195707"/>
          </a:xfrm>
          <a:prstGeom prst="rect">
            <a:avLst/>
          </a:prstGeom>
        </p:spPr>
      </p:pic>
      <p:sp>
        <p:nvSpPr>
          <p:cNvPr id="52" name="TextBox 51"/>
          <p:cNvSpPr txBox="1"/>
          <p:nvPr/>
        </p:nvSpPr>
        <p:spPr>
          <a:xfrm>
            <a:off x="7298693"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854149" y="5467792"/>
            <a:ext cx="134549" cy="195707"/>
          </a:xfrm>
          <a:prstGeom prst="rect">
            <a:avLst/>
          </a:prstGeom>
        </p:spPr>
      </p:pic>
      <p:sp>
        <p:nvSpPr>
          <p:cNvPr id="54" name="TextBox 53"/>
          <p:cNvSpPr txBox="1"/>
          <p:nvPr/>
        </p:nvSpPr>
        <p:spPr>
          <a:xfrm>
            <a:off x="9029258"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446102" cy="194310"/>
          </a:xfrm>
          <a:prstGeom prst="rect">
            <a:avLst/>
          </a:prstGeom>
          <a:noFill/>
        </p:spPr>
        <p:txBody>
          <a:bodyPr wrap="none" lIns="0" rIns="0" tIns="0" bIns="0">
            <a:spAutoFit/>
          </a:bodyPr>
          <a:lstStyle/>
          <a:p>
            <a:r>
              <a:rPr sz="1150" b="0">
                <a:solidFill>
                  <a:srgbClr val="2E2E2E"/>
                </a:solidFill>
                <a:latin typeface="Calibri"/>
              </a:rPr>
              <a:t>▪ North America: 'L'Oréal S.A.' leads at ~</a:t>
            </a:r>
          </a:p>
        </p:txBody>
      </p:sp>
      <p:pic>
        <p:nvPicPr>
          <p:cNvPr id="29" name="Picture 28" descr="lock.png"/>
          <p:cNvPicPr>
            <a:picLocks noChangeAspect="1"/>
          </p:cNvPicPr>
          <p:nvPr/>
        </p:nvPicPr>
        <p:blipFill>
          <a:blip r:embed="rId7"/>
          <a:stretch>
            <a:fillRect/>
          </a:stretch>
        </p:blipFill>
        <p:spPr>
          <a:xfrm>
            <a:off x="2671481" y="5012116"/>
            <a:ext cx="134549" cy="195707"/>
          </a:xfrm>
          <a:prstGeom prst="rect">
            <a:avLst/>
          </a:prstGeom>
        </p:spPr>
      </p:pic>
      <p:sp>
        <p:nvSpPr>
          <p:cNvPr id="30" name="TextBox 29"/>
          <p:cNvSpPr txBox="1"/>
          <p:nvPr/>
        </p:nvSpPr>
        <p:spPr>
          <a:xfrm>
            <a:off x="2846591" y="5022340"/>
            <a:ext cx="1896405" cy="194310"/>
          </a:xfrm>
          <a:prstGeom prst="rect">
            <a:avLst/>
          </a:prstGeom>
          <a:noFill/>
        </p:spPr>
        <p:txBody>
          <a:bodyPr wrap="none" lIns="0" rIns="0" tIns="0" bIns="0">
            <a:spAutoFit/>
          </a:bodyPr>
          <a:lstStyle/>
          <a:p>
            <a:r>
              <a:rPr sz="1150" b="0">
                <a:solidFill>
                  <a:srgbClr val="2E2E2E"/>
                </a:solidFill>
                <a:latin typeface="Calibri"/>
              </a:rPr>
              <a:t>, ahead of 'Company Profile' (~</a:t>
            </a:r>
          </a:p>
        </p:txBody>
      </p:sp>
      <p:pic>
        <p:nvPicPr>
          <p:cNvPr id="31" name="Picture 30" descr="lock.png"/>
          <p:cNvPicPr>
            <a:picLocks noChangeAspect="1"/>
          </p:cNvPicPr>
          <p:nvPr/>
        </p:nvPicPr>
        <p:blipFill>
          <a:blip r:embed="rId7"/>
          <a:stretch>
            <a:fillRect/>
          </a:stretch>
        </p:blipFill>
        <p:spPr>
          <a:xfrm>
            <a:off x="4692150" y="5012116"/>
            <a:ext cx="134549" cy="195707"/>
          </a:xfrm>
          <a:prstGeom prst="rect">
            <a:avLst/>
          </a:prstGeom>
        </p:spPr>
      </p:pic>
      <p:sp>
        <p:nvSpPr>
          <p:cNvPr id="32" name="TextBox 31"/>
          <p:cNvSpPr txBox="1"/>
          <p:nvPr/>
        </p:nvSpPr>
        <p:spPr>
          <a:xfrm>
            <a:off x="4867259"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201928" y="5012116"/>
            <a:ext cx="134549" cy="195707"/>
          </a:xfrm>
          <a:prstGeom prst="rect">
            <a:avLst/>
          </a:prstGeom>
        </p:spPr>
      </p:pic>
      <p:sp>
        <p:nvSpPr>
          <p:cNvPr id="34" name="TextBox 33"/>
          <p:cNvSpPr txBox="1"/>
          <p:nvPr/>
        </p:nvSpPr>
        <p:spPr>
          <a:xfrm>
            <a:off x="6377038"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7932493" y="5012116"/>
            <a:ext cx="134549" cy="195707"/>
          </a:xfrm>
          <a:prstGeom prst="rect">
            <a:avLst/>
          </a:prstGeom>
        </p:spPr>
      </p:pic>
      <p:sp>
        <p:nvSpPr>
          <p:cNvPr id="36" name="TextBox 35"/>
          <p:cNvSpPr txBox="1"/>
          <p:nvPr/>
        </p:nvSpPr>
        <p:spPr>
          <a:xfrm>
            <a:off x="8107603"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1999965" cy="194310"/>
          </a:xfrm>
          <a:prstGeom prst="rect">
            <a:avLst/>
          </a:prstGeom>
          <a:noFill/>
        </p:spPr>
        <p:txBody>
          <a:bodyPr wrap="none" lIns="0" rIns="0" tIns="0" bIns="0">
            <a:spAutoFit/>
          </a:bodyPr>
          <a:lstStyle/>
          <a:p>
            <a:r>
              <a:rPr sz="1150" b="0">
                <a:solidFill>
                  <a:srgbClr val="2E2E2E"/>
                </a:solidFill>
                <a:latin typeface="Calibri"/>
              </a:rPr>
              <a:t>▪ Europe: 'L'Oréal S.A.' leads at ~</a:t>
            </a:r>
          </a:p>
        </p:txBody>
      </p:sp>
      <p:pic>
        <p:nvPicPr>
          <p:cNvPr id="38" name="Picture 37" descr="lock.png"/>
          <p:cNvPicPr>
            <a:picLocks noChangeAspect="1"/>
          </p:cNvPicPr>
          <p:nvPr/>
        </p:nvPicPr>
        <p:blipFill>
          <a:blip r:embed="rId7"/>
          <a:stretch>
            <a:fillRect/>
          </a:stretch>
        </p:blipFill>
        <p:spPr>
          <a:xfrm>
            <a:off x="2225344" y="5239954"/>
            <a:ext cx="134549" cy="195707"/>
          </a:xfrm>
          <a:prstGeom prst="rect">
            <a:avLst/>
          </a:prstGeom>
        </p:spPr>
      </p:pic>
      <p:sp>
        <p:nvSpPr>
          <p:cNvPr id="39" name="TextBox 38"/>
          <p:cNvSpPr txBox="1"/>
          <p:nvPr/>
        </p:nvSpPr>
        <p:spPr>
          <a:xfrm>
            <a:off x="2400453" y="5250177"/>
            <a:ext cx="1477081" cy="194310"/>
          </a:xfrm>
          <a:prstGeom prst="rect">
            <a:avLst/>
          </a:prstGeom>
          <a:noFill/>
        </p:spPr>
        <p:txBody>
          <a:bodyPr wrap="none" lIns="0" rIns="0" tIns="0" bIns="0">
            <a:spAutoFit/>
          </a:bodyPr>
          <a:lstStyle/>
          <a:p>
            <a:r>
              <a:rPr sz="1150" b="0">
                <a:solidFill>
                  <a:srgbClr val="2E2E2E"/>
                </a:solidFill>
                <a:latin typeface="Calibri"/>
              </a:rPr>
              <a:t>, ahead of 'Overview' (~</a:t>
            </a:r>
          </a:p>
        </p:txBody>
      </p:sp>
      <p:pic>
        <p:nvPicPr>
          <p:cNvPr id="40" name="Picture 39" descr="lock.png"/>
          <p:cNvPicPr>
            <a:picLocks noChangeAspect="1"/>
          </p:cNvPicPr>
          <p:nvPr/>
        </p:nvPicPr>
        <p:blipFill>
          <a:blip r:embed="rId7"/>
          <a:stretch>
            <a:fillRect/>
          </a:stretch>
        </p:blipFill>
        <p:spPr>
          <a:xfrm>
            <a:off x="3826689" y="5239954"/>
            <a:ext cx="134549" cy="195707"/>
          </a:xfrm>
          <a:prstGeom prst="rect">
            <a:avLst/>
          </a:prstGeom>
        </p:spPr>
      </p:pic>
      <p:sp>
        <p:nvSpPr>
          <p:cNvPr id="41" name="TextBox 40"/>
          <p:cNvSpPr txBox="1"/>
          <p:nvPr/>
        </p:nvSpPr>
        <p:spPr>
          <a:xfrm>
            <a:off x="4001799"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5336468" y="5239954"/>
            <a:ext cx="134549" cy="195707"/>
          </a:xfrm>
          <a:prstGeom prst="rect">
            <a:avLst/>
          </a:prstGeom>
        </p:spPr>
      </p:pic>
      <p:sp>
        <p:nvSpPr>
          <p:cNvPr id="43" name="TextBox 42"/>
          <p:cNvSpPr txBox="1"/>
          <p:nvPr/>
        </p:nvSpPr>
        <p:spPr>
          <a:xfrm>
            <a:off x="5511577"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7067033" y="5239954"/>
            <a:ext cx="134549" cy="195707"/>
          </a:xfrm>
          <a:prstGeom prst="rect">
            <a:avLst/>
          </a:prstGeom>
        </p:spPr>
      </p:pic>
      <p:sp>
        <p:nvSpPr>
          <p:cNvPr id="45" name="TextBox 44"/>
          <p:cNvSpPr txBox="1"/>
          <p:nvPr/>
        </p:nvSpPr>
        <p:spPr>
          <a:xfrm>
            <a:off x="7242142"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2984363" cy="194310"/>
          </a:xfrm>
          <a:prstGeom prst="rect">
            <a:avLst/>
          </a:prstGeom>
          <a:noFill/>
        </p:spPr>
        <p:txBody>
          <a:bodyPr wrap="none" lIns="0" rIns="0" tIns="0" bIns="0">
            <a:spAutoFit/>
          </a:bodyPr>
          <a:lstStyle/>
          <a:p>
            <a:r>
              <a:rPr sz="1150" b="0">
                <a:solidFill>
                  <a:srgbClr val="2E2E2E"/>
                </a:solidFill>
                <a:latin typeface="Calibri"/>
              </a:rPr>
              <a:t>▪ South Asia &amp; Pacific: 'Profile Element' leads at ~</a:t>
            </a:r>
          </a:p>
        </p:txBody>
      </p:sp>
      <p:pic>
        <p:nvPicPr>
          <p:cNvPr id="47" name="Picture 46" descr="lock.png"/>
          <p:cNvPicPr>
            <a:picLocks noChangeAspect="1"/>
          </p:cNvPicPr>
          <p:nvPr/>
        </p:nvPicPr>
        <p:blipFill>
          <a:blip r:embed="rId7"/>
          <a:stretch>
            <a:fillRect/>
          </a:stretch>
        </p:blipFill>
        <p:spPr>
          <a:xfrm>
            <a:off x="3209742" y="5467792"/>
            <a:ext cx="134549" cy="195707"/>
          </a:xfrm>
          <a:prstGeom prst="rect">
            <a:avLst/>
          </a:prstGeom>
        </p:spPr>
      </p:pic>
      <p:sp>
        <p:nvSpPr>
          <p:cNvPr id="48" name="TextBox 47"/>
          <p:cNvSpPr txBox="1"/>
          <p:nvPr/>
        </p:nvSpPr>
        <p:spPr>
          <a:xfrm>
            <a:off x="3384851" y="5478015"/>
            <a:ext cx="1896405" cy="194310"/>
          </a:xfrm>
          <a:prstGeom prst="rect">
            <a:avLst/>
          </a:prstGeom>
          <a:noFill/>
        </p:spPr>
        <p:txBody>
          <a:bodyPr wrap="none" lIns="0" rIns="0" tIns="0" bIns="0">
            <a:spAutoFit/>
          </a:bodyPr>
          <a:lstStyle/>
          <a:p>
            <a:r>
              <a:rPr sz="1150" b="0">
                <a:solidFill>
                  <a:srgbClr val="2E2E2E"/>
                </a:solidFill>
                <a:latin typeface="Calibri"/>
              </a:rPr>
              <a:t>, ahead of 'Company Profile' (~</a:t>
            </a:r>
          </a:p>
        </p:txBody>
      </p:sp>
      <p:pic>
        <p:nvPicPr>
          <p:cNvPr id="49" name="Picture 48" descr="lock.png"/>
          <p:cNvPicPr>
            <a:picLocks noChangeAspect="1"/>
          </p:cNvPicPr>
          <p:nvPr/>
        </p:nvPicPr>
        <p:blipFill>
          <a:blip r:embed="rId7"/>
          <a:stretch>
            <a:fillRect/>
          </a:stretch>
        </p:blipFill>
        <p:spPr>
          <a:xfrm>
            <a:off x="5230410" y="5467792"/>
            <a:ext cx="134549" cy="195707"/>
          </a:xfrm>
          <a:prstGeom prst="rect">
            <a:avLst/>
          </a:prstGeom>
        </p:spPr>
      </p:pic>
      <p:sp>
        <p:nvSpPr>
          <p:cNvPr id="50" name="TextBox 49"/>
          <p:cNvSpPr txBox="1"/>
          <p:nvPr/>
        </p:nvSpPr>
        <p:spPr>
          <a:xfrm>
            <a:off x="5405520"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740189" y="5467792"/>
            <a:ext cx="134549" cy="195707"/>
          </a:xfrm>
          <a:prstGeom prst="rect">
            <a:avLst/>
          </a:prstGeom>
        </p:spPr>
      </p:pic>
      <p:sp>
        <p:nvSpPr>
          <p:cNvPr id="52" name="TextBox 51"/>
          <p:cNvSpPr txBox="1"/>
          <p:nvPr/>
        </p:nvSpPr>
        <p:spPr>
          <a:xfrm>
            <a:off x="6915298"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470754" y="5467792"/>
            <a:ext cx="134549" cy="195707"/>
          </a:xfrm>
          <a:prstGeom prst="rect">
            <a:avLst/>
          </a:prstGeom>
        </p:spPr>
      </p:pic>
      <p:sp>
        <p:nvSpPr>
          <p:cNvPr id="54" name="TextBox 53"/>
          <p:cNvSpPr txBox="1"/>
          <p:nvPr/>
        </p:nvSpPr>
        <p:spPr>
          <a:xfrm>
            <a:off x="8645863"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Ceramide Sunscreen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L'Oréal S.A.</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Company Profile</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Profile Element</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Overview</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Product Portfolio</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L'Oréal S.A.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L'Oréal S.A.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L'Oréal S.A.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L'Oréal S.A.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L'Oréal S.A.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L'Oréal S.A.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L'Oréal S.A.: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3,780</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36028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8412956"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10822781"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2104623" y="3299104"/>
            <a:ext cx="197242" cy="286897"/>
          </a:xfrm>
          <a:prstGeom prst="rect">
            <a:avLst/>
          </a:prstGeom>
        </p:spPr>
      </p:pic>
      <p:pic>
        <p:nvPicPr>
          <p:cNvPr id="34" name="Picture 33" descr="lock.png"/>
          <p:cNvPicPr>
            <a:picLocks noChangeAspect="1"/>
          </p:cNvPicPr>
          <p:nvPr/>
        </p:nvPicPr>
        <p:blipFill>
          <a:blip r:embed="rId7"/>
          <a:stretch>
            <a:fillRect/>
          </a:stretch>
        </p:blipFill>
        <p:spPr>
          <a:xfrm>
            <a:off x="608607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9278088" y="3145920"/>
            <a:ext cx="444576" cy="646656"/>
          </a:xfrm>
          <a:prstGeom prst="rect">
            <a:avLst/>
          </a:prstGeom>
        </p:spPr>
      </p:pic>
      <p:sp>
        <p:nvSpPr>
          <p:cNvPr id="36" name="TextBox 35"/>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7" name="Picture 36" descr="lock.png"/>
          <p:cNvPicPr>
            <a:picLocks noChangeAspect="1"/>
          </p:cNvPicPr>
          <p:nvPr/>
        </p:nvPicPr>
        <p:blipFill>
          <a:blip r:embed="rId7"/>
          <a:stretch>
            <a:fillRect/>
          </a:stretch>
        </p:blipFill>
        <p:spPr>
          <a:xfrm>
            <a:off x="6017010" y="1533061"/>
            <a:ext cx="133378" cy="194005"/>
          </a:xfrm>
          <a:prstGeom prst="rect">
            <a:avLst/>
          </a:prstGeom>
        </p:spPr>
      </p:pic>
      <p:pic>
        <p:nvPicPr>
          <p:cNvPr id="38" name="Picture 37" descr="lock.png"/>
          <p:cNvPicPr>
            <a:picLocks noChangeAspect="1"/>
          </p:cNvPicPr>
          <p:nvPr/>
        </p:nvPicPr>
        <p:blipFill>
          <a:blip r:embed="rId7"/>
          <a:stretch>
            <a:fillRect/>
          </a:stretch>
        </p:blipFill>
        <p:spPr>
          <a:xfrm>
            <a:off x="5865805" y="1761621"/>
            <a:ext cx="97811" cy="142270"/>
          </a:xfrm>
          <a:prstGeom prst="rect">
            <a:avLst/>
          </a:prstGeom>
        </p:spPr>
      </p:pic>
      <p:sp>
        <p:nvSpPr>
          <p:cNvPr id="39" name="TextBox 38"/>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0" name="TextBox 39"/>
          <p:cNvSpPr txBox="1"/>
          <p:nvPr/>
        </p:nvSpPr>
        <p:spPr>
          <a:xfrm>
            <a:off x="276225" y="5204877"/>
            <a:ext cx="2509999" cy="194310"/>
          </a:xfrm>
          <a:prstGeom prst="rect">
            <a:avLst/>
          </a:prstGeom>
          <a:noFill/>
        </p:spPr>
        <p:txBody>
          <a:bodyPr wrap="none" lIns="0" rIns="0" tIns="0" bIns="0">
            <a:spAutoFit/>
          </a:bodyPr>
          <a:lstStyle/>
          <a:p>
            <a:r>
              <a:rPr sz="1150" b="0">
                <a:solidFill>
                  <a:srgbClr val="2E2E2E"/>
                </a:solidFill>
                <a:latin typeface="Calibri"/>
              </a:rPr>
              <a:t>▪ Market Position: L'Oréal S.A. captures ~</a:t>
            </a:r>
          </a:p>
        </p:txBody>
      </p:sp>
      <p:pic>
        <p:nvPicPr>
          <p:cNvPr id="41" name="Picture 40" descr="lock.png"/>
          <p:cNvPicPr>
            <a:picLocks noChangeAspect="1"/>
          </p:cNvPicPr>
          <p:nvPr/>
        </p:nvPicPr>
        <p:blipFill>
          <a:blip r:embed="rId7"/>
          <a:stretch>
            <a:fillRect/>
          </a:stretch>
        </p:blipFill>
        <p:spPr>
          <a:xfrm>
            <a:off x="2735378" y="5194653"/>
            <a:ext cx="134549" cy="195707"/>
          </a:xfrm>
          <a:prstGeom prst="rect">
            <a:avLst/>
          </a:prstGeom>
        </p:spPr>
      </p:pic>
      <p:sp>
        <p:nvSpPr>
          <p:cNvPr id="42" name="TextBox 41"/>
          <p:cNvSpPr txBox="1"/>
          <p:nvPr/>
        </p:nvSpPr>
        <p:spPr>
          <a:xfrm>
            <a:off x="2910487" y="5204877"/>
            <a:ext cx="4036379"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'Lip Sunscreen'.</a:t>
            </a:r>
          </a:p>
        </p:txBody>
      </p:sp>
      <p:sp>
        <p:nvSpPr>
          <p:cNvPr id="43" name="TextBox 42"/>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4" name="Picture 43" descr="lock.png"/>
          <p:cNvPicPr>
            <a:picLocks noChangeAspect="1"/>
          </p:cNvPicPr>
          <p:nvPr/>
        </p:nvPicPr>
        <p:blipFill>
          <a:blip r:embed="rId7"/>
          <a:stretch>
            <a:fillRect/>
          </a:stretch>
        </p:blipFill>
        <p:spPr>
          <a:xfrm>
            <a:off x="7583825" y="5422491"/>
            <a:ext cx="134549" cy="195707"/>
          </a:xfrm>
          <a:prstGeom prst="rect">
            <a:avLst/>
          </a:prstGeom>
        </p:spPr>
      </p:pic>
      <p:sp>
        <p:nvSpPr>
          <p:cNvPr id="45" name="TextBox 44"/>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7" name="Picture 46" descr="lock.png"/>
          <p:cNvPicPr>
            <a:picLocks noChangeAspect="1"/>
          </p:cNvPicPr>
          <p:nvPr/>
        </p:nvPicPr>
        <p:blipFill>
          <a:blip r:embed="rId7"/>
          <a:stretch>
            <a:fillRect/>
          </a:stretch>
        </p:blipFill>
        <p:spPr>
          <a:xfrm>
            <a:off x="1617169" y="5650329"/>
            <a:ext cx="134549" cy="195707"/>
          </a:xfrm>
          <a:prstGeom prst="rect">
            <a:avLst/>
          </a:prstGeom>
        </p:spPr>
      </p:pic>
      <p:sp>
        <p:nvSpPr>
          <p:cNvPr id="48" name="TextBox 47"/>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49" name="Picture 48" descr="lock.png"/>
          <p:cNvPicPr>
            <a:picLocks noChangeAspect="1"/>
          </p:cNvPicPr>
          <p:nvPr/>
        </p:nvPicPr>
        <p:blipFill>
          <a:blip r:embed="rId7"/>
          <a:stretch>
            <a:fillRect/>
          </a:stretch>
        </p:blipFill>
        <p:spPr>
          <a:xfrm>
            <a:off x="2870505" y="5650329"/>
            <a:ext cx="134549" cy="195707"/>
          </a:xfrm>
          <a:prstGeom prst="rect">
            <a:avLst/>
          </a:prstGeom>
        </p:spPr>
      </p:pic>
      <p:sp>
        <p:nvSpPr>
          <p:cNvPr id="50" name="TextBox 49"/>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1" name="TextBox 50"/>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2" name="Picture 51" descr="lock.png"/>
          <p:cNvPicPr>
            <a:picLocks noChangeAspect="1"/>
          </p:cNvPicPr>
          <p:nvPr/>
        </p:nvPicPr>
        <p:blipFill>
          <a:blip r:embed="rId7"/>
          <a:stretch>
            <a:fillRect/>
          </a:stretch>
        </p:blipFill>
        <p:spPr>
          <a:xfrm>
            <a:off x="1578914" y="5878167"/>
            <a:ext cx="134549" cy="195707"/>
          </a:xfrm>
          <a:prstGeom prst="rect">
            <a:avLst/>
          </a:prstGeom>
        </p:spPr>
      </p:pic>
      <p:sp>
        <p:nvSpPr>
          <p:cNvPr id="53" name="TextBox 52"/>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4" name="Picture 53" descr="lock.png"/>
          <p:cNvPicPr>
            <a:picLocks noChangeAspect="1"/>
          </p:cNvPicPr>
          <p:nvPr/>
        </p:nvPicPr>
        <p:blipFill>
          <a:blip r:embed="rId7"/>
          <a:stretch>
            <a:fillRect/>
          </a:stretch>
        </p:blipFill>
        <p:spPr>
          <a:xfrm>
            <a:off x="2775769" y="5878167"/>
            <a:ext cx="134549" cy="195707"/>
          </a:xfrm>
          <a:prstGeom prst="rect">
            <a:avLst/>
          </a:prstGeom>
        </p:spPr>
      </p:pic>
      <p:sp>
        <p:nvSpPr>
          <p:cNvPr id="55" name="TextBox 54"/>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6" name="Picture 55" descr="lock.png"/>
          <p:cNvPicPr>
            <a:picLocks noChangeAspect="1"/>
          </p:cNvPicPr>
          <p:nvPr/>
        </p:nvPicPr>
        <p:blipFill>
          <a:blip r:embed="rId7"/>
          <a:stretch>
            <a:fillRect/>
          </a:stretch>
        </p:blipFill>
        <p:spPr>
          <a:xfrm>
            <a:off x="4037092" y="5878167"/>
            <a:ext cx="134549" cy="195707"/>
          </a:xfrm>
          <a:prstGeom prst="rect">
            <a:avLst/>
          </a:prstGeom>
        </p:spPr>
      </p:pic>
      <p:sp>
        <p:nvSpPr>
          <p:cNvPr id="57" name="TextBox 56"/>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8"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L'Oréal S.A.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L'Oréal S.A.: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L'Oréal S.A.</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TAM  ·  100%  ·  3,780 US$ Mn</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57" name="Picture 56" descr="lock.png"/>
          <p:cNvPicPr>
            <a:picLocks noChangeAspect="1"/>
          </p:cNvPicPr>
          <p:nvPr/>
        </p:nvPicPr>
        <p:blipFill>
          <a:blip r:embed="rId5"/>
          <a:stretch>
            <a:fillRect/>
          </a:stretch>
        </p:blipFill>
        <p:spPr>
          <a:xfrm>
            <a:off x="735202" y="4482783"/>
            <a:ext cx="134549" cy="195707"/>
          </a:xfrm>
          <a:prstGeom prst="rect">
            <a:avLst/>
          </a:prstGeom>
        </p:spPr>
      </p:pic>
      <p:sp>
        <p:nvSpPr>
          <p:cNvPr id="58" name="TextBox 57"/>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59" name="Picture 58" descr="lock.png"/>
          <p:cNvPicPr>
            <a:picLocks noChangeAspect="1"/>
          </p:cNvPicPr>
          <p:nvPr/>
        </p:nvPicPr>
        <p:blipFill>
          <a:blip r:embed="rId5"/>
          <a:stretch>
            <a:fillRect/>
          </a:stretch>
        </p:blipFill>
        <p:spPr>
          <a:xfrm>
            <a:off x="1454256" y="4482783"/>
            <a:ext cx="134549" cy="195707"/>
          </a:xfrm>
          <a:prstGeom prst="rect">
            <a:avLst/>
          </a:prstGeom>
        </p:spPr>
      </p:pic>
      <p:sp>
        <p:nvSpPr>
          <p:cNvPr id="60" name="TextBox 59"/>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1" name="TextBox 60"/>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2" name="Picture 61" descr="lock.png"/>
          <p:cNvPicPr>
            <a:picLocks noChangeAspect="1"/>
          </p:cNvPicPr>
          <p:nvPr/>
        </p:nvPicPr>
        <p:blipFill>
          <a:blip r:embed="rId5"/>
          <a:stretch>
            <a:fillRect/>
          </a:stretch>
        </p:blipFill>
        <p:spPr>
          <a:xfrm>
            <a:off x="745471" y="4960279"/>
            <a:ext cx="134549" cy="195707"/>
          </a:xfrm>
          <a:prstGeom prst="rect">
            <a:avLst/>
          </a:prstGeom>
        </p:spPr>
      </p:pic>
      <p:sp>
        <p:nvSpPr>
          <p:cNvPr id="63" name="TextBox 62"/>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4" name="Picture 63" descr="lock.png"/>
          <p:cNvPicPr>
            <a:picLocks noChangeAspect="1"/>
          </p:cNvPicPr>
          <p:nvPr/>
        </p:nvPicPr>
        <p:blipFill>
          <a:blip r:embed="rId5"/>
          <a:stretch>
            <a:fillRect/>
          </a:stretch>
        </p:blipFill>
        <p:spPr>
          <a:xfrm>
            <a:off x="1461102" y="4960279"/>
            <a:ext cx="134549" cy="195707"/>
          </a:xfrm>
          <a:prstGeom prst="rect">
            <a:avLst/>
          </a:prstGeom>
        </p:spPr>
      </p:pic>
      <p:sp>
        <p:nvSpPr>
          <p:cNvPr id="65" name="TextBox 64"/>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6" name="TextBox 65"/>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67" name="TextBox 66"/>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68" name="Picture 67" descr="lock.png"/>
          <p:cNvPicPr>
            <a:picLocks noChangeAspect="1"/>
          </p:cNvPicPr>
          <p:nvPr/>
        </p:nvPicPr>
        <p:blipFill>
          <a:blip r:embed="rId5"/>
          <a:stretch>
            <a:fillRect/>
          </a:stretch>
        </p:blipFill>
        <p:spPr>
          <a:xfrm>
            <a:off x="1522276" y="5997147"/>
            <a:ext cx="128699" cy="187198"/>
          </a:xfrm>
          <a:prstGeom prst="rect">
            <a:avLst/>
          </a:prstGeom>
        </p:spPr>
      </p:pic>
      <p:sp>
        <p:nvSpPr>
          <p:cNvPr id="69" name="TextBox 68"/>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0" name="Picture 69" descr="lock.png"/>
          <p:cNvPicPr>
            <a:picLocks noChangeAspect="1"/>
          </p:cNvPicPr>
          <p:nvPr/>
        </p:nvPicPr>
        <p:blipFill>
          <a:blip r:embed="rId5"/>
          <a:stretch>
            <a:fillRect/>
          </a:stretch>
        </p:blipFill>
        <p:spPr>
          <a:xfrm>
            <a:off x="2667093" y="5997147"/>
            <a:ext cx="128699" cy="187198"/>
          </a:xfrm>
          <a:prstGeom prst="rect">
            <a:avLst/>
          </a:prstGeom>
        </p:spPr>
      </p:pic>
      <p:sp>
        <p:nvSpPr>
          <p:cNvPr id="71" name="TextBox 70"/>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2" name="Picture 71" descr="lock.png"/>
          <p:cNvPicPr>
            <a:picLocks noChangeAspect="1"/>
          </p:cNvPicPr>
          <p:nvPr/>
        </p:nvPicPr>
        <p:blipFill>
          <a:blip r:embed="rId5"/>
          <a:stretch>
            <a:fillRect/>
          </a:stretch>
        </p:blipFill>
        <p:spPr>
          <a:xfrm>
            <a:off x="5094041" y="5997147"/>
            <a:ext cx="128699" cy="187198"/>
          </a:xfrm>
          <a:prstGeom prst="rect">
            <a:avLst/>
          </a:prstGeom>
        </p:spPr>
      </p:pic>
      <p:sp>
        <p:nvSpPr>
          <p:cNvPr id="73" name="TextBox 72"/>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4" name="TextBox 73"/>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5" name="Picture 74" descr="lock.png"/>
          <p:cNvPicPr>
            <a:picLocks noChangeAspect="1"/>
          </p:cNvPicPr>
          <p:nvPr/>
        </p:nvPicPr>
        <p:blipFill>
          <a:blip r:embed="rId5"/>
          <a:stretch>
            <a:fillRect/>
          </a:stretch>
        </p:blipFill>
        <p:spPr>
          <a:xfrm>
            <a:off x="2839292" y="6215079"/>
            <a:ext cx="128699" cy="187198"/>
          </a:xfrm>
          <a:prstGeom prst="rect">
            <a:avLst/>
          </a:prstGeom>
        </p:spPr>
      </p:pic>
      <p:sp>
        <p:nvSpPr>
          <p:cNvPr id="76" name="TextBox 75"/>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77"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L'Oréal S.A.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L'Oréal S.A.: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L'Oréal S.A.: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'Mineral Ceramide Sunscreen'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L'Oréal S.A.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L'Oréal S.A.'s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L'Oréal S.A.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L'Oréal S.A. Financial Performance</a:t>
            </a:r>
          </a:p>
        </p:txBody>
      </p:sp>
      <p:graphicFrame>
        <p:nvGraphicFramePr>
          <p:cNvPr id="13" name="Table 12"/>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L'Oréal S.A.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L'Oréal S.A. Pricing Analysis (US$/Units)</a:t>
            </a:r>
          </a:p>
        </p:txBody>
      </p:sp>
      <p:graphicFrame>
        <p:nvGraphicFramePr>
          <p:cNvPr id="21" name="Table 20"/>
          <p:cNvGraphicFramePr>
            <a:graphicFrameLocks noGrp="1"/>
          </p:cNvGraphicFramePr>
          <p:nvPr/>
        </p:nvGraphicFramePr>
        <p:xfrm>
          <a:off x="6210300" y="1611256"/>
          <a:ext cx="5829300" cy="4772085"/>
        </p:xfrm>
        <a:graphic>
          <a:graphicData uri="http://schemas.openxmlformats.org/drawingml/2006/table">
            <a:tbl>
              <a:tblPr>
                <a:tableStyleId>{5C22544A-7EE6-4342-B048-85BDC9FD1C3A}</a:tableStyleId>
              </a:tblPr>
              <a:tblGrid>
                <a:gridCol w="3862854"/>
                <a:gridCol w="983223"/>
                <a:gridCol w="983223"/>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1508653">
                <a:tc>
                  <a:txBody>
                    <a:bodyPr wrap="none"/>
                    <a:lstStyle/>
                    <a:p>
                      <a:pPr algn="l"/>
                      <a:r>
                        <a:rPr sz="1100" b="1">
                          <a:solidFill>
                            <a:srgbClr val="2E2E2E"/>
                          </a:solidFill>
                          <a:latin typeface="Calibri"/>
                        </a:rPr>
                        <a:t>Mineral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508653">
                <a:tc>
                  <a:txBody>
                    <a:bodyPr wrap="none"/>
                    <a:lstStyle/>
                    <a:p>
                      <a:pPr algn="l"/>
                      <a:r>
                        <a:rPr sz="1100" b="1">
                          <a:solidFill>
                            <a:srgbClr val="2E2E2E"/>
                          </a:solidFill>
                          <a:latin typeface="Calibri"/>
                        </a:rPr>
                        <a:t>Hybrid Ceramide Sunscreen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1508653">
                <a:tc>
                  <a:txBody>
                    <a:bodyPr wrap="none"/>
                    <a:lstStyle/>
                    <a:p>
                      <a:pPr algn="l"/>
                      <a:r>
                        <a:rPr sz="1100" b="1">
                          <a:solidFill>
                            <a:srgbClr val="2E2E2E"/>
                          </a:solidFill>
                          <a:latin typeface="Calibri"/>
                        </a:rPr>
                        <a:t>Chemical Ceramide Sunscreen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50927" y="2219245"/>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869687" y="3853661"/>
            <a:ext cx="366712" cy="533400"/>
          </a:xfrm>
          <a:prstGeom prst="rect">
            <a:avLst/>
          </a:prstGeom>
        </p:spPr>
      </p:pic>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L'Oréal S.A.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L'Oréal S.A.'s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L'Oréal S.A.: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481774" cy="194310"/>
          </a:xfrm>
          <a:prstGeom prst="rect">
            <a:avLst/>
          </a:prstGeom>
          <a:noFill/>
        </p:spPr>
        <p:txBody>
          <a:bodyPr wrap="none" lIns="0" rIns="0" tIns="0" bIns="0">
            <a:spAutoFit/>
          </a:bodyPr>
          <a:lstStyle/>
          <a:p>
            <a:r>
              <a:rPr sz="1150" b="0">
                <a:solidFill>
                  <a:srgbClr val="2E2E2E"/>
                </a:solidFill>
                <a:latin typeface="Calibri"/>
              </a:rPr>
              <a:t>▪ Defend and extend leadership in 'Lip Sunscreen' L'Oréal S.A.'s strongest end-market while</a:t>
            </a:r>
          </a:p>
        </p:txBody>
      </p:sp>
      <p:sp>
        <p:nvSpPr>
          <p:cNvPr id="31" name="TextBox 30"/>
          <p:cNvSpPr txBox="1"/>
          <p:nvPr/>
        </p:nvSpPr>
        <p:spPr>
          <a:xfrm>
            <a:off x="276225" y="2678589"/>
            <a:ext cx="2090663" cy="194310"/>
          </a:xfrm>
          <a:prstGeom prst="rect">
            <a:avLst/>
          </a:prstGeom>
          <a:noFill/>
        </p:spPr>
        <p:txBody>
          <a:bodyPr wrap="none" lIns="0" rIns="0" tIns="0" bIns="0">
            <a:spAutoFit/>
          </a:bodyPr>
          <a:lstStyle/>
          <a:p>
            <a:r>
              <a:rPr sz="1150" b="0">
                <a:solidFill>
                  <a:srgbClr val="2E2E2E"/>
                </a:solidFill>
                <a:latin typeface="Calibri"/>
              </a:rPr>
              <a:t>scaling the 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377929" cy="194310"/>
          </a:xfrm>
          <a:prstGeom prst="rect">
            <a:avLst/>
          </a:prstGeom>
          <a:noFill/>
        </p:spPr>
        <p:txBody>
          <a:bodyPr wrap="none" lIns="0" rIns="0" tIns="0" bIns="0">
            <a:spAutoFit/>
          </a:bodyPr>
          <a:lstStyle/>
          <a:p>
            <a:r>
              <a:rPr sz="1150" b="0">
                <a:solidFill>
                  <a:srgbClr val="2E2E2E"/>
                </a:solidFill>
                <a:latin typeface="Calibri"/>
              </a:rPr>
              <a:t>▪ Premiumise the portfolio around 'Mineral Ceramide Sunscreen' and adjacent high-value</a:t>
            </a:r>
          </a:p>
        </p:txBody>
      </p:sp>
      <p:sp>
        <p:nvSpPr>
          <p:cNvPr id="46" name="TextBox 45"/>
          <p:cNvSpPr txBox="1"/>
          <p:nvPr/>
        </p:nvSpPr>
        <p:spPr>
          <a:xfrm>
            <a:off x="6334125" y="2678589"/>
            <a:ext cx="1694730" cy="194310"/>
          </a:xfrm>
          <a:prstGeom prst="rect">
            <a:avLst/>
          </a:prstGeom>
          <a:noFill/>
        </p:spPr>
        <p:txBody>
          <a:bodyPr wrap="none" lIns="0" rIns="0" tIns="0" bIns="0">
            <a:spAutoFit/>
          </a:bodyPr>
          <a:lstStyle/>
          <a:p>
            <a:r>
              <a:rPr sz="1150" b="0">
                <a:solidFill>
                  <a:srgbClr val="2E2E2E"/>
                </a:solidFill>
                <a:latin typeface="Calibri"/>
              </a:rPr>
              <a:t>lines to lift blended 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Ceramide Sunscreen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L'Oréal S.A.</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L'Oréal S.A., Company Profile, Overview.</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1068774" cy="186689"/>
          </a:xfrm>
          <a:prstGeom prst="rect">
            <a:avLst/>
          </a:prstGeom>
          <a:noFill/>
        </p:spPr>
        <p:txBody>
          <a:bodyPr wrap="none" lIns="0" rIns="0" tIns="0" bIns="0">
            <a:spAutoFit/>
          </a:bodyPr>
          <a:lstStyle/>
          <a:p>
            <a:r>
              <a:rPr sz="1100" b="1">
                <a:solidFill>
                  <a:srgbClr val="0F2D52"/>
                </a:solidFill>
                <a:latin typeface="Calibri"/>
              </a:rPr>
              <a:t>Facial Sunscreen,</a:t>
            </a:r>
          </a:p>
        </p:txBody>
      </p:sp>
      <p:pic>
        <p:nvPicPr>
          <p:cNvPr id="68" name="Picture 67" descr="lock.png"/>
          <p:cNvPicPr>
            <a:picLocks noChangeAspect="1"/>
          </p:cNvPicPr>
          <p:nvPr/>
        </p:nvPicPr>
        <p:blipFill>
          <a:blip r:embed="rId4"/>
          <a:stretch>
            <a:fillRect/>
          </a:stretch>
        </p:blipFill>
        <p:spPr>
          <a:xfrm>
            <a:off x="5722175" y="1295146"/>
            <a:ext cx="128699" cy="187198"/>
          </a:xfrm>
          <a:prstGeom prst="rect">
            <a:avLst/>
          </a:prstGeom>
        </p:spPr>
      </p:pic>
      <p:sp>
        <p:nvSpPr>
          <p:cNvPr id="69" name="TextBox 68"/>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70" name="Picture 69" descr="lock.png"/>
          <p:cNvPicPr>
            <a:picLocks noChangeAspect="1"/>
          </p:cNvPicPr>
          <p:nvPr/>
        </p:nvPicPr>
        <p:blipFill>
          <a:blip r:embed="rId4"/>
          <a:stretch>
            <a:fillRect/>
          </a:stretch>
        </p:blipFill>
        <p:spPr>
          <a:xfrm>
            <a:off x="1609246" y="2114296"/>
            <a:ext cx="128699" cy="187198"/>
          </a:xfrm>
          <a:prstGeom prst="rect">
            <a:avLst/>
          </a:prstGeom>
        </p:spPr>
      </p:pic>
      <p:sp>
        <p:nvSpPr>
          <p:cNvPr id="71" name="TextBox 70"/>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7 sub-segments tracked; no</a:t>
            </a:r>
          </a:p>
        </p:txBody>
      </p:sp>
      <p:sp>
        <p:nvSpPr>
          <p:cNvPr id="72" name="TextBox 71"/>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4.</a:t>
            </a:r>
          </a:p>
        </p:txBody>
      </p:sp>
      <p:sp>
        <p:nvSpPr>
          <p:cNvPr id="73" name="TextBox 72"/>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4" name="Picture 73" descr="lock.png"/>
          <p:cNvPicPr>
            <a:picLocks noChangeAspect="1"/>
          </p:cNvPicPr>
          <p:nvPr/>
        </p:nvPicPr>
        <p:blipFill>
          <a:blip r:embed="rId4"/>
          <a:stretch>
            <a:fillRect/>
          </a:stretch>
        </p:blipFill>
        <p:spPr>
          <a:xfrm>
            <a:off x="1835985" y="3219196"/>
            <a:ext cx="128699" cy="187198"/>
          </a:xfrm>
          <a:prstGeom prst="rect">
            <a:avLst/>
          </a:prstGeom>
        </p:spPr>
      </p:pic>
      <p:sp>
        <p:nvSpPr>
          <p:cNvPr id="75" name="TextBox 74"/>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6" name="Picture 75" descr="lock.png"/>
          <p:cNvPicPr>
            <a:picLocks noChangeAspect="1"/>
          </p:cNvPicPr>
          <p:nvPr/>
        </p:nvPicPr>
        <p:blipFill>
          <a:blip r:embed="rId4"/>
          <a:stretch>
            <a:fillRect/>
          </a:stretch>
        </p:blipFill>
        <p:spPr>
          <a:xfrm>
            <a:off x="3827189" y="3219196"/>
            <a:ext cx="128699" cy="187198"/>
          </a:xfrm>
          <a:prstGeom prst="rect">
            <a:avLst/>
          </a:prstGeom>
        </p:spPr>
      </p:pic>
      <p:sp>
        <p:nvSpPr>
          <p:cNvPr id="77" name="TextBox 76"/>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8" name="TextBox 77"/>
          <p:cNvSpPr txBox="1"/>
          <p:nvPr/>
        </p:nvSpPr>
        <p:spPr>
          <a:xfrm>
            <a:off x="523875" y="4333875"/>
            <a:ext cx="5315768" cy="186689"/>
          </a:xfrm>
          <a:prstGeom prst="rect">
            <a:avLst/>
          </a:prstGeom>
          <a:noFill/>
        </p:spPr>
        <p:txBody>
          <a:bodyPr wrap="none" lIns="0" rIns="0" tIns="0" bIns="0">
            <a:spAutoFit/>
          </a:bodyPr>
          <a:lstStyle/>
          <a:p>
            <a:r>
              <a:rPr sz="1100" b="0">
                <a:solidFill>
                  <a:srgbClr val="1F2933"/>
                </a:solidFill>
                <a:latin typeface="Calibri"/>
              </a:rPr>
              <a:t>'Mineral Ceramide Sunscreen' is the largest line; 'Chemical Ceramide Sunscreen' compounds</a:t>
            </a:r>
          </a:p>
        </p:txBody>
      </p:sp>
      <p:sp>
        <p:nvSpPr>
          <p:cNvPr id="79" name="TextBox 78"/>
          <p:cNvSpPr txBox="1"/>
          <p:nvPr/>
        </p:nvSpPr>
        <p:spPr>
          <a:xfrm>
            <a:off x="523875" y="4501515"/>
            <a:ext cx="603622" cy="186689"/>
          </a:xfrm>
          <a:prstGeom prst="rect">
            <a:avLst/>
          </a:prstGeom>
          <a:noFill/>
        </p:spPr>
        <p:txBody>
          <a:bodyPr wrap="none" lIns="0" rIns="0" tIns="0" bIns="0">
            <a:spAutoFit/>
          </a:bodyPr>
          <a:lstStyle/>
          <a:p>
            <a:r>
              <a:rPr sz="1100" b="0">
                <a:solidFill>
                  <a:srgbClr val="1F2933"/>
                </a:solidFill>
                <a:latin typeface="Calibri"/>
              </a:rPr>
              <a:t>fastest at</a:t>
            </a:r>
          </a:p>
        </p:txBody>
      </p:sp>
      <p:pic>
        <p:nvPicPr>
          <p:cNvPr id="80" name="Picture 79" descr="lock.png"/>
          <p:cNvPicPr>
            <a:picLocks noChangeAspect="1"/>
          </p:cNvPicPr>
          <p:nvPr/>
        </p:nvPicPr>
        <p:blipFill>
          <a:blip r:embed="rId4"/>
          <a:stretch>
            <a:fillRect/>
          </a:stretch>
        </p:blipFill>
        <p:spPr>
          <a:xfrm>
            <a:off x="1075548" y="4491736"/>
            <a:ext cx="128699" cy="187198"/>
          </a:xfrm>
          <a:prstGeom prst="rect">
            <a:avLst/>
          </a:prstGeom>
        </p:spPr>
      </p:pic>
      <p:sp>
        <p:nvSpPr>
          <p:cNvPr id="81" name="TextBox 80"/>
          <p:cNvSpPr txBox="1"/>
          <p:nvPr/>
        </p:nvSpPr>
        <p:spPr>
          <a:xfrm>
            <a:off x="1243044"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L'Oréal S.A., Company Profile, Profile Element</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Overview, Product Portfolio</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Market Segments — Product Sales, Market Segments — Channel Sales, Market Segments — Regional Sales, Sales Footprint, Strategy Overview</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706903" y="2114550"/>
            <a:ext cx="129242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Mineral Ceramide Sunscreen</a:t>
            </a:r>
          </a:p>
        </p:txBody>
      </p:sp>
      <p:sp>
        <p:nvSpPr>
          <p:cNvPr id="30" name="TextBox 29"/>
          <p:cNvSpPr txBox="1"/>
          <p:nvPr/>
        </p:nvSpPr>
        <p:spPr>
          <a:xfrm>
            <a:off x="4037424" y="2114550"/>
            <a:ext cx="129242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Hybrid Ceramide Sunscreen</a:t>
            </a:r>
          </a:p>
        </p:txBody>
      </p:sp>
      <p:sp>
        <p:nvSpPr>
          <p:cNvPr id="31" name="TextBox 30"/>
          <p:cNvSpPr txBox="1"/>
          <p:nvPr/>
        </p:nvSpPr>
        <p:spPr>
          <a:xfrm>
            <a:off x="5367945" y="2114550"/>
            <a:ext cx="129242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Chemical Ceramide Sunscreen</a:t>
            </a:r>
          </a:p>
        </p:txBody>
      </p:sp>
      <p:sp>
        <p:nvSpPr>
          <p:cNvPr id="32" name="TextBox 31"/>
          <p:cNvSpPr txBox="1"/>
          <p:nvPr/>
        </p:nvSpPr>
        <p:spPr>
          <a:xfrm>
            <a:off x="6698466" y="2114550"/>
            <a:ext cx="129242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Facial Sunscreen</a:t>
            </a:r>
          </a:p>
        </p:txBody>
      </p:sp>
      <p:sp>
        <p:nvSpPr>
          <p:cNvPr id="33" name="TextBox 32"/>
          <p:cNvSpPr txBox="1"/>
          <p:nvPr/>
        </p:nvSpPr>
        <p:spPr>
          <a:xfrm>
            <a:off x="8028987" y="2114550"/>
            <a:ext cx="129242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Body Sunscreen</a:t>
            </a:r>
          </a:p>
        </p:txBody>
      </p:sp>
      <p:sp>
        <p:nvSpPr>
          <p:cNvPr id="34" name="TextBox 33"/>
          <p:cNvSpPr txBox="1"/>
          <p:nvPr/>
        </p:nvSpPr>
        <p:spPr>
          <a:xfrm>
            <a:off x="9359508" y="2114550"/>
            <a:ext cx="129242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Lip Sunscreen</a:t>
            </a:r>
          </a:p>
        </p:txBody>
      </p:sp>
      <p:sp>
        <p:nvSpPr>
          <p:cNvPr id="35" name="TextBox 34"/>
          <p:cNvSpPr txBox="1"/>
          <p:nvPr/>
        </p:nvSpPr>
        <p:spPr>
          <a:xfrm>
            <a:off x="10690029" y="2114550"/>
            <a:ext cx="129242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Face &amp; Body Sunscreen</a:t>
            </a:r>
          </a:p>
        </p:txBody>
      </p:sp>
      <p:cxnSp>
        <p:nvCxnSpPr>
          <p:cNvPr id="36" name="Connector 35"/>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5750" y="26289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L'Oréal S.A.</a:t>
            </a:r>
          </a:p>
        </p:txBody>
      </p:sp>
      <p:sp>
        <p:nvSpPr>
          <p:cNvPr id="39" name="TextBox 38"/>
          <p:cNvSpPr txBox="1"/>
          <p:nvPr/>
        </p:nvSpPr>
        <p:spPr>
          <a:xfrm>
            <a:off x="285750" y="27908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0" name="Oval 39"/>
          <p:cNvSpPr/>
          <p:nvPr/>
        </p:nvSpPr>
        <p:spPr>
          <a:xfrm>
            <a:off x="3276914"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3352800"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60743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937956"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268477"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598998"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867727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929519"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260040"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9718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Company Profile</a:t>
            </a:r>
          </a:p>
        </p:txBody>
      </p:sp>
      <p:sp>
        <p:nvSpPr>
          <p:cNvPr id="52" name="TextBox 51"/>
          <p:cNvSpPr txBox="1"/>
          <p:nvPr/>
        </p:nvSpPr>
        <p:spPr>
          <a:xfrm>
            <a:off x="285750" y="31337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3" name="Oval 52"/>
          <p:cNvSpPr/>
          <p:nvPr/>
        </p:nvSpPr>
        <p:spPr>
          <a:xfrm>
            <a:off x="327691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335280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0743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4686300"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937956"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26847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73437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598998"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929519"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1260040"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11334750"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3147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Profile Element</a:t>
            </a:r>
          </a:p>
        </p:txBody>
      </p:sp>
      <p:sp>
        <p:nvSpPr>
          <p:cNvPr id="67" name="TextBox 66"/>
          <p:cNvSpPr txBox="1"/>
          <p:nvPr/>
        </p:nvSpPr>
        <p:spPr>
          <a:xfrm>
            <a:off x="285750" y="34766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8" name="Oval 67"/>
          <p:cNvSpPr/>
          <p:nvPr/>
        </p:nvSpPr>
        <p:spPr>
          <a:xfrm>
            <a:off x="3276914"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60743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593795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6010275" y="33909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268477"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598998"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9929519"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0001250" y="33909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260040"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11334750"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5750" y="36576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Overview</a:t>
            </a:r>
          </a:p>
        </p:txBody>
      </p:sp>
      <p:sp>
        <p:nvSpPr>
          <p:cNvPr id="81" name="TextBox 80"/>
          <p:cNvSpPr txBox="1"/>
          <p:nvPr/>
        </p:nvSpPr>
        <p:spPr>
          <a:xfrm>
            <a:off x="285750" y="38195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82" name="Oval 81"/>
          <p:cNvSpPr/>
          <p:nvPr/>
        </p:nvSpPr>
        <p:spPr>
          <a:xfrm>
            <a:off x="327691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60743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4686300"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93795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010275" y="3733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26847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3437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598998"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6772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92951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1260040"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85750" y="40005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Product Portfolio</a:t>
            </a:r>
          </a:p>
        </p:txBody>
      </p:sp>
      <p:sp>
        <p:nvSpPr>
          <p:cNvPr id="96" name="TextBox 95"/>
          <p:cNvSpPr txBox="1"/>
          <p:nvPr/>
        </p:nvSpPr>
        <p:spPr>
          <a:xfrm>
            <a:off x="285750" y="41624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7" name="Oval 96"/>
          <p:cNvSpPr/>
          <p:nvPr/>
        </p:nvSpPr>
        <p:spPr>
          <a:xfrm>
            <a:off x="327691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3352800"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60743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4686300"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593795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010275"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26847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3437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598998"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92951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0001250"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1260040"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9" name="Connector 108"/>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85750" y="43434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Product Sales</a:t>
            </a:r>
          </a:p>
        </p:txBody>
      </p:sp>
      <p:sp>
        <p:nvSpPr>
          <p:cNvPr id="112" name="TextBox 111"/>
          <p:cNvSpPr txBox="1"/>
          <p:nvPr/>
        </p:nvSpPr>
        <p:spPr>
          <a:xfrm>
            <a:off x="285750" y="45053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13" name="Oval 112"/>
          <p:cNvSpPr/>
          <p:nvPr/>
        </p:nvSpPr>
        <p:spPr>
          <a:xfrm>
            <a:off x="327691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3352800"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60743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4686300"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593795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726847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8598998"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86772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92951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10001250" y="4419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1260040"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4" name="Connector 123"/>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5" name="Rectangle 124"/>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85750" y="46863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Channel Sales</a:t>
            </a:r>
          </a:p>
        </p:txBody>
      </p:sp>
      <p:sp>
        <p:nvSpPr>
          <p:cNvPr id="127" name="TextBox 126"/>
          <p:cNvSpPr txBox="1"/>
          <p:nvPr/>
        </p:nvSpPr>
        <p:spPr>
          <a:xfrm>
            <a:off x="285750" y="48482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8" name="Oval 127"/>
          <p:cNvSpPr/>
          <p:nvPr/>
        </p:nvSpPr>
        <p:spPr>
          <a:xfrm>
            <a:off x="327691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3352800"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60743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593795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6010275" y="4762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726847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73437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8598998"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86772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992951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1260040"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Connector 138"/>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0" name="Rectangle 139"/>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85750" y="50292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Regional Sales</a:t>
            </a:r>
          </a:p>
        </p:txBody>
      </p:sp>
      <p:sp>
        <p:nvSpPr>
          <p:cNvPr id="142" name="TextBox 141"/>
          <p:cNvSpPr txBox="1"/>
          <p:nvPr/>
        </p:nvSpPr>
        <p:spPr>
          <a:xfrm>
            <a:off x="285750" y="51911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3" name="Oval 142"/>
          <p:cNvSpPr/>
          <p:nvPr/>
        </p:nvSpPr>
        <p:spPr>
          <a:xfrm>
            <a:off x="327691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60743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4686300"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93795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6010275" y="5105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726847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734377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8598998"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992951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10001250" y="5105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1260040"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4" name="Connector 153"/>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5" name="Rectangle 154"/>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85750" y="53721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Sales Footprint</a:t>
            </a:r>
          </a:p>
        </p:txBody>
      </p:sp>
      <p:sp>
        <p:nvSpPr>
          <p:cNvPr id="157" name="TextBox 156"/>
          <p:cNvSpPr txBox="1"/>
          <p:nvPr/>
        </p:nvSpPr>
        <p:spPr>
          <a:xfrm>
            <a:off x="285750" y="55340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8" name="Oval 157"/>
          <p:cNvSpPr/>
          <p:nvPr/>
        </p:nvSpPr>
        <p:spPr>
          <a:xfrm>
            <a:off x="327691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reeform 158"/>
          <p:cNvSpPr/>
          <p:nvPr/>
        </p:nvSpPr>
        <p:spPr>
          <a:xfrm>
            <a:off x="3352800"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60743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4686300"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593795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6010275" y="5448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726847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8598998"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86772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9929519"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10001250" y="5448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11260040"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0" name="Connector 169"/>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1" name="Rectangle 170"/>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285750" y="57150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Strategy Overview</a:t>
            </a:r>
          </a:p>
        </p:txBody>
      </p:sp>
      <p:sp>
        <p:nvSpPr>
          <p:cNvPr id="173" name="TextBox 172"/>
          <p:cNvSpPr txBox="1"/>
          <p:nvPr/>
        </p:nvSpPr>
        <p:spPr>
          <a:xfrm>
            <a:off x="285750" y="58769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74" name="Oval 173"/>
          <p:cNvSpPr/>
          <p:nvPr/>
        </p:nvSpPr>
        <p:spPr>
          <a:xfrm>
            <a:off x="327691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3352800"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460743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Freeform 176"/>
          <p:cNvSpPr/>
          <p:nvPr/>
        </p:nvSpPr>
        <p:spPr>
          <a:xfrm>
            <a:off x="4686300"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593795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726847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Freeform 179"/>
          <p:cNvSpPr/>
          <p:nvPr/>
        </p:nvSpPr>
        <p:spPr>
          <a:xfrm>
            <a:off x="73437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8598998"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Freeform 181"/>
          <p:cNvSpPr/>
          <p:nvPr/>
        </p:nvSpPr>
        <p:spPr>
          <a:xfrm>
            <a:off x="86772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9929519"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11260040"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5" name="Connector 184"/>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6" name="Rectangle 185"/>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188" name="Rectangle 187"/>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190" name="Rectangle 189"/>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192" name="TextBox 191"/>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93" name="TextBox 192"/>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'Mineral Ceramide Sunscreen' is the most contested column (8 players active); 'Face &amp; Body Sunscreen' is the most open (3).</a:t>
            </a:r>
          </a:p>
        </p:txBody>
      </p:sp>
      <p:sp>
        <p:nvSpPr>
          <p:cNvPr id="194" name="TextBox 1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95" name="TextBox 194"/>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196" name="Picture 195" descr="lock.png"/>
          <p:cNvPicPr>
            <a:picLocks noChangeAspect="1"/>
          </p:cNvPicPr>
          <p:nvPr/>
        </p:nvPicPr>
        <p:blipFill>
          <a:blip r:embed="rId4"/>
          <a:stretch>
            <a:fillRect/>
          </a:stretch>
        </p:blipFill>
        <p:spPr>
          <a:xfrm>
            <a:off x="622441" y="1297051"/>
            <a:ext cx="128699" cy="187198"/>
          </a:xfrm>
          <a:prstGeom prst="rect">
            <a:avLst/>
          </a:prstGeom>
        </p:spPr>
      </p:pic>
      <p:sp>
        <p:nvSpPr>
          <p:cNvPr id="197" name="TextBox 196"/>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198" name="Picture 197" descr="lock.png"/>
          <p:cNvPicPr>
            <a:picLocks noChangeAspect="1"/>
          </p:cNvPicPr>
          <p:nvPr/>
        </p:nvPicPr>
        <p:blipFill>
          <a:blip r:embed="rId4"/>
          <a:stretch>
            <a:fillRect/>
          </a:stretch>
        </p:blipFill>
        <p:spPr>
          <a:xfrm>
            <a:off x="5547332" y="1297051"/>
            <a:ext cx="128699" cy="187198"/>
          </a:xfrm>
          <a:prstGeom prst="rect">
            <a:avLst/>
          </a:prstGeom>
        </p:spPr>
      </p:pic>
      <p:sp>
        <p:nvSpPr>
          <p:cNvPr id="199" name="TextBox 198"/>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200" name="Picture 199" descr="lock.png"/>
          <p:cNvPicPr>
            <a:picLocks noChangeAspect="1"/>
          </p:cNvPicPr>
          <p:nvPr/>
        </p:nvPicPr>
        <p:blipFill>
          <a:blip r:embed="rId4"/>
          <a:stretch>
            <a:fillRect/>
          </a:stretch>
        </p:blipFill>
        <p:spPr>
          <a:xfrm>
            <a:off x="6890588" y="1297051"/>
            <a:ext cx="128699" cy="187198"/>
          </a:xfrm>
          <a:prstGeom prst="rect">
            <a:avLst/>
          </a:prstGeom>
        </p:spPr>
      </p:pic>
      <p:sp>
        <p:nvSpPr>
          <p:cNvPr id="201" name="TextBox 200"/>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02" name="Picture 201"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Mineral Ceramide Sunscreen, share</a:t>
            </a:r>
          </a:p>
        </p:txBody>
      </p:sp>
      <p:sp>
        <p:nvSpPr>
          <p:cNvPr id="17" name="TextBox 16"/>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Hybrid Ceramide Sunscreen, share</a:t>
            </a:r>
          </a:p>
        </p:txBody>
      </p:sp>
      <p:sp>
        <p:nvSpPr>
          <p:cNvPr id="20" name="TextBox 19"/>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Chemical Ceramide Sunscreen, share</a:t>
            </a:r>
          </a:p>
        </p:txBody>
      </p:sp>
      <p:sp>
        <p:nvSpPr>
          <p:cNvPr id="23" name="TextBox 22"/>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Mineral Ceramide Sunscreen</a:t>
            </a:r>
          </a:p>
        </p:txBody>
      </p:sp>
      <p:sp>
        <p:nvSpPr>
          <p:cNvPr id="28" name="TextBox 27"/>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29" name="TextBox 28"/>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Profile Element</a:t>
            </a:r>
          </a:p>
        </p:txBody>
      </p:sp>
      <p:sp>
        <p:nvSpPr>
          <p:cNvPr id="35" name="TextBox 34"/>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L'Oréal S.A.</a:t>
            </a:r>
          </a:p>
        </p:txBody>
      </p:sp>
      <p:sp>
        <p:nvSpPr>
          <p:cNvPr id="37" name="TextBox 36"/>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Profile</a:t>
            </a:r>
          </a:p>
        </p:txBody>
      </p:sp>
      <p:sp>
        <p:nvSpPr>
          <p:cNvPr id="38" name="TextBox 37"/>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Product Portfolio</a:t>
            </a:r>
          </a:p>
        </p:txBody>
      </p:sp>
      <p:sp>
        <p:nvSpPr>
          <p:cNvPr id="39" name="TextBox 38"/>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Market Segments — Product Sales</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Hybrid Ceramide Sunscreen</a:t>
            </a:r>
          </a:p>
        </p:txBody>
      </p:sp>
      <p:sp>
        <p:nvSpPr>
          <p:cNvPr id="48" name="TextBox 47"/>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49" name="TextBox 48"/>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L'Oréal S.A.</a:t>
            </a:r>
          </a:p>
        </p:txBody>
      </p:sp>
      <p:sp>
        <p:nvSpPr>
          <p:cNvPr id="55" name="TextBox 54"/>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Profile</a:t>
            </a:r>
          </a:p>
        </p:txBody>
      </p:sp>
      <p:sp>
        <p:nvSpPr>
          <p:cNvPr id="57" name="TextBox 56"/>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Overview</a:t>
            </a:r>
          </a:p>
        </p:txBody>
      </p:sp>
      <p:sp>
        <p:nvSpPr>
          <p:cNvPr id="58" name="TextBox 57"/>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Product Portfolio</a:t>
            </a:r>
          </a:p>
        </p:txBody>
      </p:sp>
      <p:sp>
        <p:nvSpPr>
          <p:cNvPr id="59" name="TextBox 58"/>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Market Segments — Product Sales</a:t>
            </a:r>
          </a:p>
        </p:txBody>
      </p:sp>
      <p:cxnSp>
        <p:nvCxnSpPr>
          <p:cNvPr id="60" name="Connector 59"/>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62" name="TextBox 61"/>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3" name="Connector 62"/>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Chemical Ceramide Sunscreen</a:t>
            </a:r>
          </a:p>
        </p:txBody>
      </p:sp>
      <p:sp>
        <p:nvSpPr>
          <p:cNvPr id="68" name="TextBox 67"/>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69" name="TextBox 68"/>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70" name="TextBox 69"/>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71" name="TextBox 70"/>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72" name="Connector 71"/>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4" name="TextBox 73"/>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L'Oréal S.A.</a:t>
            </a:r>
          </a:p>
        </p:txBody>
      </p:sp>
      <p:sp>
        <p:nvSpPr>
          <p:cNvPr id="75" name="TextBox 74"/>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6" name="TextBox 75"/>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Profile Element</a:t>
            </a:r>
          </a:p>
        </p:txBody>
      </p:sp>
      <p:sp>
        <p:nvSpPr>
          <p:cNvPr id="77" name="TextBox 76"/>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Overview</a:t>
            </a:r>
          </a:p>
        </p:txBody>
      </p:sp>
      <p:sp>
        <p:nvSpPr>
          <p:cNvPr id="78" name="TextBox 77"/>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Product Portfolio</a:t>
            </a:r>
          </a:p>
        </p:txBody>
      </p:sp>
      <p:sp>
        <p:nvSpPr>
          <p:cNvPr id="79" name="TextBox 78"/>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Market Segments — Channel Sales</a:t>
            </a:r>
          </a:p>
        </p:txBody>
      </p:sp>
      <p:cxnSp>
        <p:nvCxnSpPr>
          <p:cNvPr id="80" name="Connector 79"/>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82" name="TextBox 81"/>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3" name="Connector 82"/>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End-use Application</a:t>
            </a:r>
          </a:p>
        </p:txBody>
      </p:sp>
      <p:sp>
        <p:nvSpPr>
          <p:cNvPr id="88" name="TextBox 87"/>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9" name="TextBox 88"/>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90" name="Connector 89"/>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Facial Sunscreen</a:t>
            </a:r>
          </a:p>
        </p:txBody>
      </p:sp>
      <p:sp>
        <p:nvSpPr>
          <p:cNvPr id="92" name="Rectangle 91"/>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Body Sunscreen</a:t>
            </a:r>
          </a:p>
        </p:txBody>
      </p:sp>
      <p:sp>
        <p:nvSpPr>
          <p:cNvPr id="95" name="Rectangle 94"/>
          <p:cNvSpPr/>
          <p:nvPr/>
        </p:nvSpPr>
        <p:spPr>
          <a:xfrm>
            <a:off x="10682288" y="2847975"/>
            <a:ext cx="52053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240925"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7" name="TextBox 96"/>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Lip Sunscreen</a:t>
            </a:r>
          </a:p>
        </p:txBody>
      </p:sp>
      <p:sp>
        <p:nvSpPr>
          <p:cNvPr id="98" name="Rectangle 97"/>
          <p:cNvSpPr/>
          <p:nvPr/>
        </p:nvSpPr>
        <p:spPr>
          <a:xfrm>
            <a:off x="10682288" y="3171825"/>
            <a:ext cx="37402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094415"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0" name="TextBox 99"/>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Face &amp; Body Sunscreen</a:t>
            </a:r>
          </a:p>
        </p:txBody>
      </p:sp>
      <p:sp>
        <p:nvSpPr>
          <p:cNvPr id="101" name="Rectangle 100"/>
          <p:cNvSpPr/>
          <p:nvPr/>
        </p:nvSpPr>
        <p:spPr>
          <a:xfrm>
            <a:off x="10682288" y="3495675"/>
            <a:ext cx="333849"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054236"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3" name="Connector 102"/>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5" name="TextBox 104"/>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06" name="Rectangle 105"/>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09" name="TextBox 108"/>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Chemical Ceramide Sunscreen Compounds Fastest Across the Product Type Mix  |  South Asia &amp; Pacific Emerges as the Growth Engine Among Regions  |  Premiumisation Lifts Average Realisation</a:t>
            </a:r>
          </a:p>
        </p:txBody>
      </p:sp>
      <p:sp>
        <p:nvSpPr>
          <p:cNvPr id="110" name="Rectangle 109"/>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3" name="TextBox 112"/>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Hybrid Ceramide Sunscreen Lags the Category and Dilutes Blended Growth  |  Uneven Region Performance Caps the Blended Rate  |  Concentration Risk Limits Pricing and Sourcing Flexibility</a:t>
            </a:r>
          </a:p>
        </p:txBody>
      </p:sp>
      <p:sp>
        <p:nvSpPr>
          <p:cNvPr id="114" name="TextBox 1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5" name="Picture 114" descr="lock.png"/>
          <p:cNvPicPr>
            <a:picLocks noChangeAspect="1"/>
          </p:cNvPicPr>
          <p:nvPr/>
        </p:nvPicPr>
        <p:blipFill>
          <a:blip r:embed="rId4"/>
          <a:stretch>
            <a:fillRect/>
          </a:stretch>
        </p:blipFill>
        <p:spPr>
          <a:xfrm>
            <a:off x="1316775" y="1258951"/>
            <a:ext cx="128699" cy="187198"/>
          </a:xfrm>
          <a:prstGeom prst="rect">
            <a:avLst/>
          </a:prstGeom>
        </p:spPr>
      </p:pic>
      <p:pic>
        <p:nvPicPr>
          <p:cNvPr id="116" name="Picture 115" descr="lock.png"/>
          <p:cNvPicPr>
            <a:picLocks noChangeAspect="1"/>
          </p:cNvPicPr>
          <p:nvPr/>
        </p:nvPicPr>
        <p:blipFill>
          <a:blip r:embed="rId4"/>
          <a:stretch>
            <a:fillRect/>
          </a:stretch>
        </p:blipFill>
        <p:spPr>
          <a:xfrm>
            <a:off x="3678975" y="1258951"/>
            <a:ext cx="128699" cy="187198"/>
          </a:xfrm>
          <a:prstGeom prst="rect">
            <a:avLst/>
          </a:prstGeom>
        </p:spPr>
      </p:pic>
      <p:pic>
        <p:nvPicPr>
          <p:cNvPr id="117" name="Picture 116" descr="lock.png"/>
          <p:cNvPicPr>
            <a:picLocks noChangeAspect="1"/>
          </p:cNvPicPr>
          <p:nvPr/>
        </p:nvPicPr>
        <p:blipFill>
          <a:blip r:embed="rId4"/>
          <a:stretch>
            <a:fillRect/>
          </a:stretch>
        </p:blipFill>
        <p:spPr>
          <a:xfrm>
            <a:off x="6041175" y="1258951"/>
            <a:ext cx="128699" cy="187198"/>
          </a:xfrm>
          <a:prstGeom prst="rect">
            <a:avLst/>
          </a:prstGeom>
        </p:spPr>
      </p:pic>
      <p:pic>
        <p:nvPicPr>
          <p:cNvPr id="118" name="Picture 117" descr="lock.png"/>
          <p:cNvPicPr>
            <a:picLocks noChangeAspect="1"/>
          </p:cNvPicPr>
          <p:nvPr/>
        </p:nvPicPr>
        <p:blipFill>
          <a:blip r:embed="rId4"/>
          <a:stretch>
            <a:fillRect/>
          </a:stretch>
        </p:blipFill>
        <p:spPr>
          <a:xfrm>
            <a:off x="8403375" y="1258951"/>
            <a:ext cx="128699" cy="187198"/>
          </a:xfrm>
          <a:prstGeom prst="rect">
            <a:avLst/>
          </a:prstGeom>
        </p:spPr>
      </p:pic>
      <p:pic>
        <p:nvPicPr>
          <p:cNvPr id="119" name="Picture 118" descr="lock.png"/>
          <p:cNvPicPr>
            <a:picLocks noChangeAspect="1"/>
          </p:cNvPicPr>
          <p:nvPr/>
        </p:nvPicPr>
        <p:blipFill>
          <a:blip r:embed="rId4"/>
          <a:stretch>
            <a:fillRect/>
          </a:stretch>
        </p:blipFill>
        <p:spPr>
          <a:xfrm>
            <a:off x="107655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554775" y="1925701"/>
            <a:ext cx="128699" cy="187198"/>
          </a:xfrm>
          <a:prstGeom prst="rect">
            <a:avLst/>
          </a:prstGeom>
        </p:spPr>
      </p:pic>
      <p:pic>
        <p:nvPicPr>
          <p:cNvPr id="121" name="Picture 120" descr="lock.png"/>
          <p:cNvPicPr>
            <a:picLocks noChangeAspect="1"/>
          </p:cNvPicPr>
          <p:nvPr/>
        </p:nvPicPr>
        <p:blipFill>
          <a:blip r:embed="rId4"/>
          <a:stretch>
            <a:fillRect/>
          </a:stretch>
        </p:blipFill>
        <p:spPr>
          <a:xfrm>
            <a:off x="554775" y="2135251"/>
            <a:ext cx="128699" cy="187198"/>
          </a:xfrm>
          <a:prstGeom prst="rect">
            <a:avLst/>
          </a:prstGeom>
        </p:spPr>
      </p:pic>
      <p:pic>
        <p:nvPicPr>
          <p:cNvPr id="122" name="Picture 121" descr="lock.png"/>
          <p:cNvPicPr>
            <a:picLocks noChangeAspect="1"/>
          </p:cNvPicPr>
          <p:nvPr/>
        </p:nvPicPr>
        <p:blipFill>
          <a:blip r:embed="rId4"/>
          <a:stretch>
            <a:fillRect/>
          </a:stretch>
        </p:blipFill>
        <p:spPr>
          <a:xfrm>
            <a:off x="3569437" y="1925701"/>
            <a:ext cx="128699" cy="187198"/>
          </a:xfrm>
          <a:prstGeom prst="rect">
            <a:avLst/>
          </a:prstGeom>
        </p:spPr>
      </p:pic>
      <p:pic>
        <p:nvPicPr>
          <p:cNvPr id="123" name="Picture 122" descr="lock.png"/>
          <p:cNvPicPr>
            <a:picLocks noChangeAspect="1"/>
          </p:cNvPicPr>
          <p:nvPr/>
        </p:nvPicPr>
        <p:blipFill>
          <a:blip r:embed="rId4"/>
          <a:stretch>
            <a:fillRect/>
          </a:stretch>
        </p:blipFill>
        <p:spPr>
          <a:xfrm>
            <a:off x="3569437" y="2135251"/>
            <a:ext cx="128699" cy="187198"/>
          </a:xfrm>
          <a:prstGeom prst="rect">
            <a:avLst/>
          </a:prstGeom>
        </p:spPr>
      </p:pic>
      <p:pic>
        <p:nvPicPr>
          <p:cNvPr id="124" name="Picture 123" descr="lock.png"/>
          <p:cNvPicPr>
            <a:picLocks noChangeAspect="1"/>
          </p:cNvPicPr>
          <p:nvPr/>
        </p:nvPicPr>
        <p:blipFill>
          <a:blip r:embed="rId4"/>
          <a:stretch>
            <a:fillRect/>
          </a:stretch>
        </p:blipFill>
        <p:spPr>
          <a:xfrm>
            <a:off x="6584100" y="1925701"/>
            <a:ext cx="128699" cy="187198"/>
          </a:xfrm>
          <a:prstGeom prst="rect">
            <a:avLst/>
          </a:prstGeom>
        </p:spPr>
      </p:pic>
      <p:pic>
        <p:nvPicPr>
          <p:cNvPr id="125" name="Picture 124" descr="lock.png"/>
          <p:cNvPicPr>
            <a:picLocks noChangeAspect="1"/>
          </p:cNvPicPr>
          <p:nvPr/>
        </p:nvPicPr>
        <p:blipFill>
          <a:blip r:embed="rId4"/>
          <a:stretch>
            <a:fillRect/>
          </a:stretch>
        </p:blipFill>
        <p:spPr>
          <a:xfrm>
            <a:off x="6584100" y="2135251"/>
            <a:ext cx="128699" cy="187198"/>
          </a:xfrm>
          <a:prstGeom prst="rect">
            <a:avLst/>
          </a:prstGeom>
        </p:spPr>
      </p:pic>
      <p:pic>
        <p:nvPicPr>
          <p:cNvPr id="126" name="Picture 125" descr="lock.png"/>
          <p:cNvPicPr>
            <a:picLocks noChangeAspect="1"/>
          </p:cNvPicPr>
          <p:nvPr/>
        </p:nvPicPr>
        <p:blipFill>
          <a:blip r:embed="rId4"/>
          <a:stretch>
            <a:fillRect/>
          </a:stretch>
        </p:blipFill>
        <p:spPr>
          <a:xfrm>
            <a:off x="11660925" y="2487676"/>
            <a:ext cx="128699" cy="187198"/>
          </a:xfrm>
          <a:prstGeom prst="rect">
            <a:avLst/>
          </a:prstGeom>
        </p:spPr>
      </p:pic>
      <p:pic>
        <p:nvPicPr>
          <p:cNvPr id="127" name="Picture 126" descr="lock.png"/>
          <p:cNvPicPr>
            <a:picLocks noChangeAspect="1"/>
          </p:cNvPicPr>
          <p:nvPr/>
        </p:nvPicPr>
        <p:blipFill>
          <a:blip r:embed="rId4"/>
          <a:stretch>
            <a:fillRect/>
          </a:stretch>
        </p:blipFill>
        <p:spPr>
          <a:xfrm>
            <a:off x="11414700" y="2811526"/>
            <a:ext cx="128699" cy="187198"/>
          </a:xfrm>
          <a:prstGeom prst="rect">
            <a:avLst/>
          </a:prstGeom>
        </p:spPr>
      </p:pic>
      <p:pic>
        <p:nvPicPr>
          <p:cNvPr id="128" name="Picture 127" descr="lock.png"/>
          <p:cNvPicPr>
            <a:picLocks noChangeAspect="1"/>
          </p:cNvPicPr>
          <p:nvPr/>
        </p:nvPicPr>
        <p:blipFill>
          <a:blip r:embed="rId4"/>
          <a:stretch>
            <a:fillRect/>
          </a:stretch>
        </p:blipFill>
        <p:spPr>
          <a:xfrm>
            <a:off x="11268190" y="3135376"/>
            <a:ext cx="128699" cy="187198"/>
          </a:xfrm>
          <a:prstGeom prst="rect">
            <a:avLst/>
          </a:prstGeom>
        </p:spPr>
      </p:pic>
      <p:pic>
        <p:nvPicPr>
          <p:cNvPr id="129" name="Picture 128" descr="lock.png"/>
          <p:cNvPicPr>
            <a:picLocks noChangeAspect="1"/>
          </p:cNvPicPr>
          <p:nvPr/>
        </p:nvPicPr>
        <p:blipFill>
          <a:blip r:embed="rId4"/>
          <a:stretch>
            <a:fillRect/>
          </a:stretch>
        </p:blipFill>
        <p:spPr>
          <a:xfrm>
            <a:off x="11228011" y="3459226"/>
            <a:ext cx="128699" cy="187198"/>
          </a:xfrm>
          <a:prstGeom prst="rect">
            <a:avLst/>
          </a:prstGeom>
        </p:spPr>
      </p:pic>
      <p:sp>
        <p:nvSpPr>
          <p:cNvPr id="130" name="TextBox 129"/>
          <p:cNvSpPr txBox="1"/>
          <p:nvPr/>
        </p:nvSpPr>
        <p:spPr>
          <a:xfrm>
            <a:off x="314325" y="4676775"/>
            <a:ext cx="2385069" cy="186689"/>
          </a:xfrm>
          <a:prstGeom prst="rect">
            <a:avLst/>
          </a:prstGeom>
          <a:noFill/>
        </p:spPr>
        <p:txBody>
          <a:bodyPr wrap="none" lIns="0" rIns="0" tIns="0" bIns="0">
            <a:spAutoFit/>
          </a:bodyPr>
          <a:lstStyle/>
          <a:p>
            <a:r>
              <a:rPr sz="1100" b="0">
                <a:solidFill>
                  <a:srgbClr val="1F2933"/>
                </a:solidFill>
                <a:latin typeface="Calibri"/>
              </a:rPr>
              <a:t>5 named players compete here; 'Mineral</a:t>
            </a:r>
          </a:p>
        </p:txBody>
      </p:sp>
      <p:sp>
        <p:nvSpPr>
          <p:cNvPr id="131" name="TextBox 130"/>
          <p:cNvSpPr txBox="1"/>
          <p:nvPr/>
        </p:nvSpPr>
        <p:spPr>
          <a:xfrm>
            <a:off x="314325" y="4844415"/>
            <a:ext cx="1571153" cy="186689"/>
          </a:xfrm>
          <a:prstGeom prst="rect">
            <a:avLst/>
          </a:prstGeom>
          <a:noFill/>
        </p:spPr>
        <p:txBody>
          <a:bodyPr wrap="none" lIns="0" rIns="0" tIns="0" bIns="0">
            <a:spAutoFit/>
          </a:bodyPr>
          <a:lstStyle/>
          <a:p>
            <a:r>
              <a:rPr sz="1100" b="0">
                <a:solidFill>
                  <a:srgbClr val="1F2933"/>
                </a:solidFill>
                <a:latin typeface="Calibri"/>
              </a:rPr>
              <a:t>Ceramide Sunscreen' adds</a:t>
            </a:r>
          </a:p>
        </p:txBody>
      </p:sp>
      <p:pic>
        <p:nvPicPr>
          <p:cNvPr id="132" name="Picture 131" descr="lock.png"/>
          <p:cNvPicPr>
            <a:picLocks noChangeAspect="1"/>
          </p:cNvPicPr>
          <p:nvPr/>
        </p:nvPicPr>
        <p:blipFill>
          <a:blip r:embed="rId4"/>
          <a:stretch>
            <a:fillRect/>
          </a:stretch>
        </p:blipFill>
        <p:spPr>
          <a:xfrm>
            <a:off x="1833530" y="4834636"/>
            <a:ext cx="128699" cy="187198"/>
          </a:xfrm>
          <a:prstGeom prst="rect">
            <a:avLst/>
          </a:prstGeom>
        </p:spPr>
      </p:pic>
      <p:sp>
        <p:nvSpPr>
          <p:cNvPr id="133" name="TextBox 132"/>
          <p:cNvSpPr txBox="1"/>
          <p:nvPr/>
        </p:nvSpPr>
        <p:spPr>
          <a:xfrm>
            <a:off x="2001026"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34" name="TextBox 133"/>
          <p:cNvSpPr txBox="1"/>
          <p:nvPr/>
        </p:nvSpPr>
        <p:spPr>
          <a:xfrm>
            <a:off x="314325"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35" name="TextBox 134"/>
          <p:cNvSpPr txBox="1"/>
          <p:nvPr/>
        </p:nvSpPr>
        <p:spPr>
          <a:xfrm>
            <a:off x="3328987" y="4676775"/>
            <a:ext cx="2320676" cy="186689"/>
          </a:xfrm>
          <a:prstGeom prst="rect">
            <a:avLst/>
          </a:prstGeom>
          <a:noFill/>
        </p:spPr>
        <p:txBody>
          <a:bodyPr wrap="none" lIns="0" rIns="0" tIns="0" bIns="0">
            <a:spAutoFit/>
          </a:bodyPr>
          <a:lstStyle/>
          <a:p>
            <a:r>
              <a:rPr sz="1100" b="0">
                <a:solidFill>
                  <a:srgbClr val="1F2933"/>
                </a:solidFill>
                <a:latin typeface="Calibri"/>
              </a:rPr>
              <a:t>5 named players compete here; 'Hybrid</a:t>
            </a:r>
          </a:p>
        </p:txBody>
      </p:sp>
      <p:sp>
        <p:nvSpPr>
          <p:cNvPr id="136" name="TextBox 135"/>
          <p:cNvSpPr txBox="1"/>
          <p:nvPr/>
        </p:nvSpPr>
        <p:spPr>
          <a:xfrm>
            <a:off x="3328987" y="4844415"/>
            <a:ext cx="1571153" cy="186689"/>
          </a:xfrm>
          <a:prstGeom prst="rect">
            <a:avLst/>
          </a:prstGeom>
          <a:noFill/>
        </p:spPr>
        <p:txBody>
          <a:bodyPr wrap="none" lIns="0" rIns="0" tIns="0" bIns="0">
            <a:spAutoFit/>
          </a:bodyPr>
          <a:lstStyle/>
          <a:p>
            <a:r>
              <a:rPr sz="1100" b="0">
                <a:solidFill>
                  <a:srgbClr val="1F2933"/>
                </a:solidFill>
                <a:latin typeface="Calibri"/>
              </a:rPr>
              <a:t>Ceramide Sunscreen' adds</a:t>
            </a:r>
          </a:p>
        </p:txBody>
      </p:sp>
      <p:pic>
        <p:nvPicPr>
          <p:cNvPr id="137" name="Picture 136" descr="lock.png"/>
          <p:cNvPicPr>
            <a:picLocks noChangeAspect="1"/>
          </p:cNvPicPr>
          <p:nvPr/>
        </p:nvPicPr>
        <p:blipFill>
          <a:blip r:embed="rId4"/>
          <a:stretch>
            <a:fillRect/>
          </a:stretch>
        </p:blipFill>
        <p:spPr>
          <a:xfrm>
            <a:off x="4848192" y="4834636"/>
            <a:ext cx="128699" cy="187198"/>
          </a:xfrm>
          <a:prstGeom prst="rect">
            <a:avLst/>
          </a:prstGeom>
        </p:spPr>
      </p:pic>
      <p:sp>
        <p:nvSpPr>
          <p:cNvPr id="138" name="TextBox 137"/>
          <p:cNvSpPr txBox="1"/>
          <p:nvPr/>
        </p:nvSpPr>
        <p:spPr>
          <a:xfrm>
            <a:off x="5015688"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39" name="TextBox 138"/>
          <p:cNvSpPr txBox="1"/>
          <p:nvPr/>
        </p:nvSpPr>
        <p:spPr>
          <a:xfrm>
            <a:off x="3328987"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40" name="TextBox 139"/>
          <p:cNvSpPr txBox="1"/>
          <p:nvPr/>
        </p:nvSpPr>
        <p:spPr>
          <a:xfrm>
            <a:off x="6343650" y="4676775"/>
            <a:ext cx="2462014" cy="186689"/>
          </a:xfrm>
          <a:prstGeom prst="rect">
            <a:avLst/>
          </a:prstGeom>
          <a:noFill/>
        </p:spPr>
        <p:txBody>
          <a:bodyPr wrap="none" lIns="0" rIns="0" tIns="0" bIns="0">
            <a:spAutoFit/>
          </a:bodyPr>
          <a:lstStyle/>
          <a:p>
            <a:r>
              <a:rPr sz="1100" b="0">
                <a:solidFill>
                  <a:srgbClr val="1F2933"/>
                </a:solidFill>
                <a:latin typeface="Calibri"/>
              </a:rPr>
              <a:t>5 named players compete here; 'Chemical</a:t>
            </a:r>
          </a:p>
        </p:txBody>
      </p:sp>
      <p:sp>
        <p:nvSpPr>
          <p:cNvPr id="141" name="TextBox 140"/>
          <p:cNvSpPr txBox="1"/>
          <p:nvPr/>
        </p:nvSpPr>
        <p:spPr>
          <a:xfrm>
            <a:off x="6343650" y="4844415"/>
            <a:ext cx="1571153" cy="186689"/>
          </a:xfrm>
          <a:prstGeom prst="rect">
            <a:avLst/>
          </a:prstGeom>
          <a:noFill/>
        </p:spPr>
        <p:txBody>
          <a:bodyPr wrap="none" lIns="0" rIns="0" tIns="0" bIns="0">
            <a:spAutoFit/>
          </a:bodyPr>
          <a:lstStyle/>
          <a:p>
            <a:r>
              <a:rPr sz="1100" b="0">
                <a:solidFill>
                  <a:srgbClr val="1F2933"/>
                </a:solidFill>
                <a:latin typeface="Calibri"/>
              </a:rPr>
              <a:t>Ceramide Sunscreen' adds</a:t>
            </a:r>
          </a:p>
        </p:txBody>
      </p:sp>
      <p:pic>
        <p:nvPicPr>
          <p:cNvPr id="142" name="Picture 141" descr="lock.png"/>
          <p:cNvPicPr>
            <a:picLocks noChangeAspect="1"/>
          </p:cNvPicPr>
          <p:nvPr/>
        </p:nvPicPr>
        <p:blipFill>
          <a:blip r:embed="rId4"/>
          <a:stretch>
            <a:fillRect/>
          </a:stretch>
        </p:blipFill>
        <p:spPr>
          <a:xfrm>
            <a:off x="7862855" y="4834636"/>
            <a:ext cx="128699" cy="187198"/>
          </a:xfrm>
          <a:prstGeom prst="rect">
            <a:avLst/>
          </a:prstGeom>
        </p:spPr>
      </p:pic>
      <p:sp>
        <p:nvSpPr>
          <p:cNvPr id="143" name="TextBox 142"/>
          <p:cNvSpPr txBox="1"/>
          <p:nvPr/>
        </p:nvSpPr>
        <p:spPr>
          <a:xfrm>
            <a:off x="8030351"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44" name="TextBox 143"/>
          <p:cNvSpPr txBox="1"/>
          <p:nvPr/>
        </p:nvSpPr>
        <p:spPr>
          <a:xfrm>
            <a:off x="6343650"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45" name="TextBox 144"/>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46" name="Picture 145" descr="lock.png"/>
          <p:cNvPicPr>
            <a:picLocks noChangeAspect="1"/>
          </p:cNvPicPr>
          <p:nvPr/>
        </p:nvPicPr>
        <p:blipFill>
          <a:blip r:embed="rId4"/>
          <a:stretch>
            <a:fillRect/>
          </a:stretch>
        </p:blipFill>
        <p:spPr>
          <a:xfrm>
            <a:off x="11035226" y="4666996"/>
            <a:ext cx="128699" cy="187198"/>
          </a:xfrm>
          <a:prstGeom prst="rect">
            <a:avLst/>
          </a:prstGeom>
        </p:spPr>
      </p:pic>
      <p:sp>
        <p:nvSpPr>
          <p:cNvPr id="147" name="TextBox 146"/>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48" name="TextBox 147"/>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49" name="TextBox 148"/>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L'Oréal S.A.</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Profile</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Profile Element</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Overview</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Product Portfolio</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Market Segments — Product Sales</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Market Segments — Channel Sales</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Market Segments — Regional Sales</a:t>
            </a:r>
          </a:p>
        </p:txBody>
      </p:sp>
      <p:sp>
        <p:nvSpPr>
          <p:cNvPr id="57" name="Rectangle 56"/>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Sales Footprint</a:t>
            </a:r>
          </a:p>
        </p:txBody>
      </p:sp>
      <p:sp>
        <p:nvSpPr>
          <p:cNvPr id="60" name="Rectangle 59"/>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62" name="TextBox 61"/>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Strategy Overview</a:t>
            </a:r>
          </a:p>
        </p:txBody>
      </p:sp>
      <p:sp>
        <p:nvSpPr>
          <p:cNvPr id="63" name="Rectangle 62"/>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5" name="TextBox 64"/>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6" name="TextBox 65"/>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7" name="Rectangle 66"/>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9" name="TextBox 68"/>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0" name="TextBox 69"/>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1" name="Rectangle 70"/>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3" name="TextBox 72"/>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4" name="TextBox 73"/>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5" name="TextBox 74"/>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6" name="Rectangle 75"/>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8" name="TextBox 77"/>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80" name="TextBox 79"/>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4" name="TextBox 83"/>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6" name="TextBox 85"/>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Rectangle 87"/>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90" name="TextBox 89"/>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91" name="TextBox 90"/>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92" name="TextBox 91"/>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3" name="TextBox 92"/>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4" name="TextBox 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5" name="Picture 94" descr="lock.png"/>
          <p:cNvPicPr>
            <a:picLocks noChangeAspect="1"/>
          </p:cNvPicPr>
          <p:nvPr/>
        </p:nvPicPr>
        <p:blipFill>
          <a:blip r:embed="rId4"/>
          <a:stretch>
            <a:fillRect/>
          </a:stretch>
        </p:blipFill>
        <p:spPr>
          <a:xfrm>
            <a:off x="1059600" y="4487926"/>
            <a:ext cx="128699" cy="187198"/>
          </a:xfrm>
          <a:prstGeom prst="rect">
            <a:avLst/>
          </a:prstGeom>
        </p:spPr>
      </p:pic>
      <p:pic>
        <p:nvPicPr>
          <p:cNvPr id="96" name="Picture 95" descr="lock.png"/>
          <p:cNvPicPr>
            <a:picLocks noChangeAspect="1"/>
          </p:cNvPicPr>
          <p:nvPr/>
        </p:nvPicPr>
        <p:blipFill>
          <a:blip r:embed="rId4"/>
          <a:stretch>
            <a:fillRect/>
          </a:stretch>
        </p:blipFill>
        <p:spPr>
          <a:xfrm>
            <a:off x="3821850" y="4487926"/>
            <a:ext cx="128699" cy="187198"/>
          </a:xfrm>
          <a:prstGeom prst="rect">
            <a:avLst/>
          </a:prstGeom>
        </p:spPr>
      </p:pic>
      <p:pic>
        <p:nvPicPr>
          <p:cNvPr id="97" name="Picture 96" descr="lock.png"/>
          <p:cNvPicPr>
            <a:picLocks noChangeAspect="1"/>
          </p:cNvPicPr>
          <p:nvPr/>
        </p:nvPicPr>
        <p:blipFill>
          <a:blip r:embed="rId4"/>
          <a:stretch>
            <a:fillRect/>
          </a:stretch>
        </p:blipFill>
        <p:spPr>
          <a:xfrm>
            <a:off x="6584100" y="4487926"/>
            <a:ext cx="128699" cy="187198"/>
          </a:xfrm>
          <a:prstGeom prst="rect">
            <a:avLst/>
          </a:prstGeom>
        </p:spPr>
      </p:pic>
      <p:sp>
        <p:nvSpPr>
          <p:cNvPr id="98" name="TextBox 97"/>
          <p:cNvSpPr txBox="1"/>
          <p:nvPr/>
        </p:nvSpPr>
        <p:spPr>
          <a:xfrm>
            <a:off x="21907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99" name="Picture 98" descr="lock.png"/>
          <p:cNvPicPr>
            <a:picLocks noChangeAspect="1"/>
          </p:cNvPicPr>
          <p:nvPr/>
        </p:nvPicPr>
        <p:blipFill>
          <a:blip r:embed="rId4"/>
          <a:stretch>
            <a:fillRect/>
          </a:stretch>
        </p:blipFill>
        <p:spPr>
          <a:xfrm>
            <a:off x="959834" y="5867145"/>
            <a:ext cx="128699" cy="187198"/>
          </a:xfrm>
          <a:prstGeom prst="rect">
            <a:avLst/>
          </a:prstGeom>
        </p:spPr>
      </p:pic>
      <p:sp>
        <p:nvSpPr>
          <p:cNvPr id="100" name="TextBox 99"/>
          <p:cNvSpPr txBox="1"/>
          <p:nvPr/>
        </p:nvSpPr>
        <p:spPr>
          <a:xfrm>
            <a:off x="112733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1" name="TextBox 100"/>
          <p:cNvSpPr txBox="1"/>
          <p:nvPr/>
        </p:nvSpPr>
        <p:spPr>
          <a:xfrm>
            <a:off x="3219450"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2" name="Picture 101" descr="lock.png"/>
          <p:cNvPicPr>
            <a:picLocks noChangeAspect="1"/>
          </p:cNvPicPr>
          <p:nvPr/>
        </p:nvPicPr>
        <p:blipFill>
          <a:blip r:embed="rId4"/>
          <a:stretch>
            <a:fillRect/>
          </a:stretch>
        </p:blipFill>
        <p:spPr>
          <a:xfrm>
            <a:off x="3960209" y="5867145"/>
            <a:ext cx="128699" cy="187198"/>
          </a:xfrm>
          <a:prstGeom prst="rect">
            <a:avLst/>
          </a:prstGeom>
        </p:spPr>
      </p:pic>
      <p:sp>
        <p:nvSpPr>
          <p:cNvPr id="103" name="TextBox 102"/>
          <p:cNvSpPr txBox="1"/>
          <p:nvPr/>
        </p:nvSpPr>
        <p:spPr>
          <a:xfrm>
            <a:off x="4127705"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4" name="TextBox 103"/>
          <p:cNvSpPr txBox="1"/>
          <p:nvPr/>
        </p:nvSpPr>
        <p:spPr>
          <a:xfrm>
            <a:off x="621982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5" name="Picture 104" descr="lock.png"/>
          <p:cNvPicPr>
            <a:picLocks noChangeAspect="1"/>
          </p:cNvPicPr>
          <p:nvPr/>
        </p:nvPicPr>
        <p:blipFill>
          <a:blip r:embed="rId4"/>
          <a:stretch>
            <a:fillRect/>
          </a:stretch>
        </p:blipFill>
        <p:spPr>
          <a:xfrm>
            <a:off x="6960584" y="5867145"/>
            <a:ext cx="128699" cy="187198"/>
          </a:xfrm>
          <a:prstGeom prst="rect">
            <a:avLst/>
          </a:prstGeom>
        </p:spPr>
      </p:pic>
      <p:sp>
        <p:nvSpPr>
          <p:cNvPr id="106" name="TextBox 105"/>
          <p:cNvSpPr txBox="1"/>
          <p:nvPr/>
        </p:nvSpPr>
        <p:spPr>
          <a:xfrm>
            <a:off x="712808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725953" y="1295400"/>
            <a:ext cx="214133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725953" y="1657350"/>
            <a:ext cx="214133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4943488" y="1295400"/>
            <a:ext cx="11064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4943488" y="1657350"/>
            <a:ext cx="11064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6126174" y="1295400"/>
            <a:ext cx="90937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6126174" y="1657350"/>
            <a:ext cx="90937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7111745" y="1295400"/>
            <a:ext cx="90937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7111745" y="1657350"/>
            <a:ext cx="90937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8097316" y="1295400"/>
            <a:ext cx="90937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8097316" y="1657350"/>
            <a:ext cx="90937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9082887" y="1295400"/>
            <a:ext cx="90937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9082887" y="1657350"/>
            <a:ext cx="90937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10068458" y="1295400"/>
            <a:ext cx="90937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10068458" y="1657350"/>
            <a:ext cx="90937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1054029" y="1295400"/>
            <a:ext cx="90937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1054029" y="1657350"/>
            <a:ext cx="90937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L'Oréal S.A.</a:t>
            </a:r>
          </a:p>
        </p:txBody>
      </p:sp>
      <p:sp>
        <p:nvSpPr>
          <p:cNvPr id="31" name="TextBox 30"/>
          <p:cNvSpPr txBox="1"/>
          <p:nvPr/>
        </p:nvSpPr>
        <p:spPr>
          <a:xfrm>
            <a:off x="285750" y="24098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2687853" y="22288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4943488" y="22288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50465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49023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75801"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461372"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30358" y="22288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9" name="TextBox 38"/>
          <p:cNvSpPr txBox="1"/>
          <p:nvPr/>
        </p:nvSpPr>
        <p:spPr>
          <a:xfrm>
            <a:off x="11015929" y="22288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5750" y="25908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Company Profile</a:t>
            </a:r>
          </a:p>
        </p:txBody>
      </p:sp>
      <p:sp>
        <p:nvSpPr>
          <p:cNvPr id="43" name="TextBox 42"/>
          <p:cNvSpPr txBox="1"/>
          <p:nvPr/>
        </p:nvSpPr>
        <p:spPr>
          <a:xfrm>
            <a:off x="285750" y="27527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4" name="TextBox 43"/>
          <p:cNvSpPr txBox="1"/>
          <p:nvPr/>
        </p:nvSpPr>
        <p:spPr>
          <a:xfrm>
            <a:off x="2687853" y="25717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4943488" y="25717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504659"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6581775"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49023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475801"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461372"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30358" y="25717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11015929" y="25717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3" name="Connector 52"/>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5750" y="29337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Profile Element</a:t>
            </a:r>
          </a:p>
        </p:txBody>
      </p:sp>
      <p:sp>
        <p:nvSpPr>
          <p:cNvPr id="56" name="TextBox 55"/>
          <p:cNvSpPr txBox="1"/>
          <p:nvPr/>
        </p:nvSpPr>
        <p:spPr>
          <a:xfrm>
            <a:off x="285750" y="30956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7" name="TextBox 56"/>
          <p:cNvSpPr txBox="1"/>
          <p:nvPr/>
        </p:nvSpPr>
        <p:spPr>
          <a:xfrm>
            <a:off x="2687853" y="29146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8" name="TextBox 57"/>
          <p:cNvSpPr txBox="1"/>
          <p:nvPr/>
        </p:nvSpPr>
        <p:spPr>
          <a:xfrm>
            <a:off x="4943488" y="29146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9" name="Oval 58"/>
          <p:cNvSpPr/>
          <p:nvPr/>
        </p:nvSpPr>
        <p:spPr>
          <a:xfrm>
            <a:off x="6504659"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6581775"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49023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475801"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461372"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953452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030358" y="29146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6" name="TextBox 65"/>
          <p:cNvSpPr txBox="1"/>
          <p:nvPr/>
        </p:nvSpPr>
        <p:spPr>
          <a:xfrm>
            <a:off x="11015929" y="29146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7" name="Connector 66"/>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2766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Overview</a:t>
            </a:r>
          </a:p>
        </p:txBody>
      </p:sp>
      <p:sp>
        <p:nvSpPr>
          <p:cNvPr id="70" name="TextBox 69"/>
          <p:cNvSpPr txBox="1"/>
          <p:nvPr/>
        </p:nvSpPr>
        <p:spPr>
          <a:xfrm>
            <a:off x="285750" y="34385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1" name="TextBox 70"/>
          <p:cNvSpPr txBox="1"/>
          <p:nvPr/>
        </p:nvSpPr>
        <p:spPr>
          <a:xfrm>
            <a:off x="2687853" y="32575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4943488" y="32575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3" name="Oval 72"/>
          <p:cNvSpPr/>
          <p:nvPr/>
        </p:nvSpPr>
        <p:spPr>
          <a:xfrm>
            <a:off x="6504659"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658177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749023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475801"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461372"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953452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030358" y="32575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0" name="TextBox 79"/>
          <p:cNvSpPr txBox="1"/>
          <p:nvPr/>
        </p:nvSpPr>
        <p:spPr>
          <a:xfrm>
            <a:off x="11015929" y="32575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1" name="Connector 80"/>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5750" y="36195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Product Portfolio</a:t>
            </a:r>
          </a:p>
        </p:txBody>
      </p:sp>
      <p:sp>
        <p:nvSpPr>
          <p:cNvPr id="84" name="TextBox 83"/>
          <p:cNvSpPr txBox="1"/>
          <p:nvPr/>
        </p:nvSpPr>
        <p:spPr>
          <a:xfrm>
            <a:off x="285750" y="37814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5" name="TextBox 84"/>
          <p:cNvSpPr txBox="1"/>
          <p:nvPr/>
        </p:nvSpPr>
        <p:spPr>
          <a:xfrm>
            <a:off x="2687853" y="36004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6" name="TextBox 85"/>
          <p:cNvSpPr txBox="1"/>
          <p:nvPr/>
        </p:nvSpPr>
        <p:spPr>
          <a:xfrm>
            <a:off x="4943488" y="36004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7" name="Oval 86"/>
          <p:cNvSpPr/>
          <p:nvPr/>
        </p:nvSpPr>
        <p:spPr>
          <a:xfrm>
            <a:off x="650465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65817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49023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7562850"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475801"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855345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461372"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953452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030358" y="36004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6" name="TextBox 95"/>
          <p:cNvSpPr txBox="1"/>
          <p:nvPr/>
        </p:nvSpPr>
        <p:spPr>
          <a:xfrm>
            <a:off x="11015929" y="36004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7" name="Connector 9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9624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Product Sales</a:t>
            </a:r>
          </a:p>
        </p:txBody>
      </p:sp>
      <p:sp>
        <p:nvSpPr>
          <p:cNvPr id="100" name="TextBox 99"/>
          <p:cNvSpPr txBox="1"/>
          <p:nvPr/>
        </p:nvSpPr>
        <p:spPr>
          <a:xfrm>
            <a:off x="285750" y="41243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1" name="TextBox 100"/>
          <p:cNvSpPr txBox="1"/>
          <p:nvPr/>
        </p:nvSpPr>
        <p:spPr>
          <a:xfrm>
            <a:off x="2687853" y="39433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4943488" y="39433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3" name="Oval 102"/>
          <p:cNvSpPr/>
          <p:nvPr/>
        </p:nvSpPr>
        <p:spPr>
          <a:xfrm>
            <a:off x="650465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65817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749023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7562850" y="4038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8475801"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855345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461372"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953452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030358" y="39433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2" name="TextBox 111"/>
          <p:cNvSpPr txBox="1"/>
          <p:nvPr/>
        </p:nvSpPr>
        <p:spPr>
          <a:xfrm>
            <a:off x="11015929" y="39433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3" name="Connector 112"/>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4" name="Rectangle 113"/>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5750" y="43053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Channel Sales</a:t>
            </a:r>
          </a:p>
        </p:txBody>
      </p:sp>
      <p:sp>
        <p:nvSpPr>
          <p:cNvPr id="116" name="TextBox 115"/>
          <p:cNvSpPr txBox="1"/>
          <p:nvPr/>
        </p:nvSpPr>
        <p:spPr>
          <a:xfrm>
            <a:off x="285750" y="44672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7" name="TextBox 116"/>
          <p:cNvSpPr txBox="1"/>
          <p:nvPr/>
        </p:nvSpPr>
        <p:spPr>
          <a:xfrm>
            <a:off x="2687853" y="42862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8" name="TextBox 117"/>
          <p:cNvSpPr txBox="1"/>
          <p:nvPr/>
        </p:nvSpPr>
        <p:spPr>
          <a:xfrm>
            <a:off x="4943488" y="42862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9" name="Oval 118"/>
          <p:cNvSpPr/>
          <p:nvPr/>
        </p:nvSpPr>
        <p:spPr>
          <a:xfrm>
            <a:off x="650465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65817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49023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7562850" y="43815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8475801"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855345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9461372"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953452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030358" y="42862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TextBox 127"/>
          <p:cNvSpPr txBox="1"/>
          <p:nvPr/>
        </p:nvSpPr>
        <p:spPr>
          <a:xfrm>
            <a:off x="11015929" y="42862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9" name="Connector 128"/>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0" name="Rectangle 129"/>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85750" y="46482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Regional Sales</a:t>
            </a:r>
          </a:p>
        </p:txBody>
      </p:sp>
      <p:sp>
        <p:nvSpPr>
          <p:cNvPr id="132" name="TextBox 131"/>
          <p:cNvSpPr txBox="1"/>
          <p:nvPr/>
        </p:nvSpPr>
        <p:spPr>
          <a:xfrm>
            <a:off x="285750" y="48101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3" name="TextBox 132"/>
          <p:cNvSpPr txBox="1"/>
          <p:nvPr/>
        </p:nvSpPr>
        <p:spPr>
          <a:xfrm>
            <a:off x="2687853" y="46291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4" name="TextBox 133"/>
          <p:cNvSpPr txBox="1"/>
          <p:nvPr/>
        </p:nvSpPr>
        <p:spPr>
          <a:xfrm>
            <a:off x="4943488" y="46291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5" name="Oval 134"/>
          <p:cNvSpPr/>
          <p:nvPr/>
        </p:nvSpPr>
        <p:spPr>
          <a:xfrm>
            <a:off x="650465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65817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749023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7562850" y="47244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8475801"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855345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9461372"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953452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0030358" y="46291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4" name="TextBox 143"/>
          <p:cNvSpPr txBox="1"/>
          <p:nvPr/>
        </p:nvSpPr>
        <p:spPr>
          <a:xfrm>
            <a:off x="11015929" y="46291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5" name="Connector 144"/>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6" name="Rectangle 145"/>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285750" y="49911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Sales Footprint</a:t>
            </a:r>
          </a:p>
        </p:txBody>
      </p:sp>
      <p:sp>
        <p:nvSpPr>
          <p:cNvPr id="148" name="TextBox 147"/>
          <p:cNvSpPr txBox="1"/>
          <p:nvPr/>
        </p:nvSpPr>
        <p:spPr>
          <a:xfrm>
            <a:off x="285750" y="51530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9" name="TextBox 148"/>
          <p:cNvSpPr txBox="1"/>
          <p:nvPr/>
        </p:nvSpPr>
        <p:spPr>
          <a:xfrm>
            <a:off x="2687853" y="49720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0" name="TextBox 149"/>
          <p:cNvSpPr txBox="1"/>
          <p:nvPr/>
        </p:nvSpPr>
        <p:spPr>
          <a:xfrm>
            <a:off x="4943488" y="49720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51" name="Oval 150"/>
          <p:cNvSpPr/>
          <p:nvPr/>
        </p:nvSpPr>
        <p:spPr>
          <a:xfrm>
            <a:off x="650465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658177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7490230"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reeform 153"/>
          <p:cNvSpPr/>
          <p:nvPr/>
        </p:nvSpPr>
        <p:spPr>
          <a:xfrm>
            <a:off x="7562850" y="50673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8475801"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855345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9461372"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953452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0030358" y="49720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0" name="TextBox 159"/>
          <p:cNvSpPr txBox="1"/>
          <p:nvPr/>
        </p:nvSpPr>
        <p:spPr>
          <a:xfrm>
            <a:off x="11015929" y="49720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61" name="Connector 160"/>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2" name="Rectangle 161"/>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285750" y="53340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Strategy Overview</a:t>
            </a:r>
          </a:p>
        </p:txBody>
      </p:sp>
      <p:sp>
        <p:nvSpPr>
          <p:cNvPr id="164" name="TextBox 163"/>
          <p:cNvSpPr txBox="1"/>
          <p:nvPr/>
        </p:nvSpPr>
        <p:spPr>
          <a:xfrm>
            <a:off x="285750" y="54959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5" name="TextBox 164"/>
          <p:cNvSpPr txBox="1"/>
          <p:nvPr/>
        </p:nvSpPr>
        <p:spPr>
          <a:xfrm>
            <a:off x="2687853" y="5314950"/>
            <a:ext cx="221753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6" name="TextBox 165"/>
          <p:cNvSpPr txBox="1"/>
          <p:nvPr/>
        </p:nvSpPr>
        <p:spPr>
          <a:xfrm>
            <a:off x="4943488" y="5314950"/>
            <a:ext cx="11064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7" name="Oval 166"/>
          <p:cNvSpPr/>
          <p:nvPr/>
        </p:nvSpPr>
        <p:spPr>
          <a:xfrm>
            <a:off x="650465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65817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7490230"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7562850" y="54102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8475801"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855345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9461372"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Freeform 173"/>
          <p:cNvSpPr/>
          <p:nvPr/>
        </p:nvSpPr>
        <p:spPr>
          <a:xfrm>
            <a:off x="953452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030358" y="53149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6" name="TextBox 175"/>
          <p:cNvSpPr txBox="1"/>
          <p:nvPr/>
        </p:nvSpPr>
        <p:spPr>
          <a:xfrm>
            <a:off x="11015929" y="5314950"/>
            <a:ext cx="98557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7" name="Connector 176"/>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8" name="Oval 177"/>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80" name="Oval 179"/>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Freeform 180"/>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83" name="Oval 182"/>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Freeform 183"/>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6" name="Oval 185"/>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8" name="TextBox 187"/>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9" name="TextBox 188"/>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90" name="TextBox 18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91" name="TextBox 190"/>
          <p:cNvSpPr txBox="1"/>
          <p:nvPr/>
        </p:nvSpPr>
        <p:spPr>
          <a:xfrm>
            <a:off x="9111462" y="1666875"/>
            <a:ext cx="373160" cy="173278"/>
          </a:xfrm>
          <a:prstGeom prst="rect">
            <a:avLst/>
          </a:prstGeom>
          <a:noFill/>
        </p:spPr>
        <p:txBody>
          <a:bodyPr wrap="none" lIns="0" rIns="0" tIns="0" bIns="0">
            <a:spAutoFit/>
          </a:bodyPr>
          <a:lstStyle/>
          <a:p>
            <a:r>
              <a:rPr sz="1011" b="0">
                <a:solidFill>
                  <a:srgbClr val="5F6B7A"/>
                </a:solidFill>
                <a:latin typeface="Calibri"/>
              </a:rPr>
              <a:t>Share</a:t>
            </a:r>
          </a:p>
        </p:txBody>
      </p:sp>
      <p:pic>
        <p:nvPicPr>
          <p:cNvPr id="192" name="Picture 191" descr="lock.png"/>
          <p:cNvPicPr>
            <a:picLocks noChangeAspect="1"/>
          </p:cNvPicPr>
          <p:nvPr/>
        </p:nvPicPr>
        <p:blipFill>
          <a:blip r:embed="rId4"/>
          <a:stretch>
            <a:fillRect/>
          </a:stretch>
        </p:blipFill>
        <p:spPr>
          <a:xfrm>
            <a:off x="9430734" y="1657878"/>
            <a:ext cx="118403" cy="172222"/>
          </a:xfrm>
          <a:prstGeom prst="rect">
            <a:avLst/>
          </a:prstGeom>
        </p:spPr>
      </p:pic>
      <p:sp>
        <p:nvSpPr>
          <p:cNvPr id="193" name="TextBox 192"/>
          <p:cNvSpPr txBox="1"/>
          <p:nvPr/>
        </p:nvSpPr>
        <p:spPr>
          <a:xfrm>
            <a:off x="9584830" y="1666875"/>
            <a:ext cx="359856" cy="173278"/>
          </a:xfrm>
          <a:prstGeom prst="rect">
            <a:avLst/>
          </a:prstGeom>
          <a:noFill/>
        </p:spPr>
        <p:txBody>
          <a:bodyPr wrap="none" lIns="0" rIns="0" tIns="0" bIns="0">
            <a:spAutoFit/>
          </a:bodyPr>
          <a:lstStyle/>
          <a:p>
            <a:r>
              <a:rPr sz="1011" b="0">
                <a:solidFill>
                  <a:srgbClr val="5F6B7A"/>
                </a:solidFill>
                <a:latin typeface="Calibri"/>
              </a:rPr>
              <a:t>+ = 3,</a:t>
            </a:r>
          </a:p>
        </p:txBody>
      </p:sp>
      <p:pic>
        <p:nvPicPr>
          <p:cNvPr id="194" name="Picture 193" descr="lock.png"/>
          <p:cNvPicPr>
            <a:picLocks noChangeAspect="1"/>
          </p:cNvPicPr>
          <p:nvPr/>
        </p:nvPicPr>
        <p:blipFill>
          <a:blip r:embed="rId4"/>
          <a:stretch>
            <a:fillRect/>
          </a:stretch>
        </p:blipFill>
        <p:spPr>
          <a:xfrm>
            <a:off x="9099071" y="1812107"/>
            <a:ext cx="118403" cy="172222"/>
          </a:xfrm>
          <a:prstGeom prst="rect">
            <a:avLst/>
          </a:prstGeom>
        </p:spPr>
      </p:pic>
      <p:sp>
        <p:nvSpPr>
          <p:cNvPr id="195" name="TextBox 194"/>
          <p:cNvSpPr txBox="1"/>
          <p:nvPr/>
        </p:nvSpPr>
        <p:spPr>
          <a:xfrm>
            <a:off x="9253168" y="1821103"/>
            <a:ext cx="598077" cy="173278"/>
          </a:xfrm>
          <a:prstGeom prst="rect">
            <a:avLst/>
          </a:prstGeom>
          <a:noFill/>
        </p:spPr>
        <p:txBody>
          <a:bodyPr wrap="none" lIns="0" rIns="0" tIns="0" bIns="0">
            <a:spAutoFit/>
          </a:bodyPr>
          <a:lstStyle/>
          <a:p>
            <a:r>
              <a:rPr sz="1011" b="0">
                <a:solidFill>
                  <a:srgbClr val="5F6B7A"/>
                </a:solidFill>
                <a:latin typeface="Calibri"/>
              </a:rPr>
              <a:t>= 2, else 1</a:t>
            </a:r>
          </a:p>
        </p:txBody>
      </p:sp>
      <p:pic>
        <p:nvPicPr>
          <p:cNvPr id="196" name="Picture 195" descr="lock.png"/>
          <p:cNvPicPr>
            <a:picLocks noChangeAspect="1"/>
          </p:cNvPicPr>
          <p:nvPr/>
        </p:nvPicPr>
        <p:blipFill>
          <a:blip r:embed="rId4"/>
          <a:stretch>
            <a:fillRect/>
          </a:stretch>
        </p:blipFill>
        <p:spPr>
          <a:xfrm>
            <a:off x="3732271"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10458794" y="23067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1444365" y="2306701"/>
            <a:ext cx="128699" cy="187198"/>
          </a:xfrm>
          <a:prstGeom prst="rect">
            <a:avLst/>
          </a:prstGeom>
        </p:spPr>
      </p:pic>
      <p:pic>
        <p:nvPicPr>
          <p:cNvPr id="199" name="Picture 198" descr="lock.png"/>
          <p:cNvPicPr>
            <a:picLocks noChangeAspect="1"/>
          </p:cNvPicPr>
          <p:nvPr/>
        </p:nvPicPr>
        <p:blipFill>
          <a:blip r:embed="rId4"/>
          <a:stretch>
            <a:fillRect/>
          </a:stretch>
        </p:blipFill>
        <p:spPr>
          <a:xfrm>
            <a:off x="3732271"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10458794" y="26496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1444365" y="2649601"/>
            <a:ext cx="128699" cy="187198"/>
          </a:xfrm>
          <a:prstGeom prst="rect">
            <a:avLst/>
          </a:prstGeom>
        </p:spPr>
      </p:pic>
      <p:pic>
        <p:nvPicPr>
          <p:cNvPr id="202" name="Picture 201" descr="lock.png"/>
          <p:cNvPicPr>
            <a:picLocks noChangeAspect="1"/>
          </p:cNvPicPr>
          <p:nvPr/>
        </p:nvPicPr>
        <p:blipFill>
          <a:blip r:embed="rId4"/>
          <a:stretch>
            <a:fillRect/>
          </a:stretch>
        </p:blipFill>
        <p:spPr>
          <a:xfrm>
            <a:off x="3732271"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10458794" y="29925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1444365" y="2992501"/>
            <a:ext cx="128699" cy="187198"/>
          </a:xfrm>
          <a:prstGeom prst="rect">
            <a:avLst/>
          </a:prstGeom>
        </p:spPr>
      </p:pic>
      <p:pic>
        <p:nvPicPr>
          <p:cNvPr id="205" name="Picture 204" descr="lock.png"/>
          <p:cNvPicPr>
            <a:picLocks noChangeAspect="1"/>
          </p:cNvPicPr>
          <p:nvPr/>
        </p:nvPicPr>
        <p:blipFill>
          <a:blip r:embed="rId4"/>
          <a:stretch>
            <a:fillRect/>
          </a:stretch>
        </p:blipFill>
        <p:spPr>
          <a:xfrm>
            <a:off x="3732271"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10458794" y="33354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1444365" y="3335401"/>
            <a:ext cx="128699" cy="187198"/>
          </a:xfrm>
          <a:prstGeom prst="rect">
            <a:avLst/>
          </a:prstGeom>
        </p:spPr>
      </p:pic>
      <p:pic>
        <p:nvPicPr>
          <p:cNvPr id="208" name="Picture 207" descr="lock.png"/>
          <p:cNvPicPr>
            <a:picLocks noChangeAspect="1"/>
          </p:cNvPicPr>
          <p:nvPr/>
        </p:nvPicPr>
        <p:blipFill>
          <a:blip r:embed="rId4"/>
          <a:stretch>
            <a:fillRect/>
          </a:stretch>
        </p:blipFill>
        <p:spPr>
          <a:xfrm>
            <a:off x="3732271"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10458794" y="36783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1444365" y="3678301"/>
            <a:ext cx="128699" cy="187198"/>
          </a:xfrm>
          <a:prstGeom prst="rect">
            <a:avLst/>
          </a:prstGeom>
        </p:spPr>
      </p:pic>
      <p:pic>
        <p:nvPicPr>
          <p:cNvPr id="211" name="Picture 210" descr="lock.png"/>
          <p:cNvPicPr>
            <a:picLocks noChangeAspect="1"/>
          </p:cNvPicPr>
          <p:nvPr/>
        </p:nvPicPr>
        <p:blipFill>
          <a:blip r:embed="rId4"/>
          <a:stretch>
            <a:fillRect/>
          </a:stretch>
        </p:blipFill>
        <p:spPr>
          <a:xfrm>
            <a:off x="3732271"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10458794" y="40212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1444365" y="4021201"/>
            <a:ext cx="128699" cy="187198"/>
          </a:xfrm>
          <a:prstGeom prst="rect">
            <a:avLst/>
          </a:prstGeom>
        </p:spPr>
      </p:pic>
      <p:pic>
        <p:nvPicPr>
          <p:cNvPr id="214" name="Picture 213" descr="lock.png"/>
          <p:cNvPicPr>
            <a:picLocks noChangeAspect="1"/>
          </p:cNvPicPr>
          <p:nvPr/>
        </p:nvPicPr>
        <p:blipFill>
          <a:blip r:embed="rId4"/>
          <a:stretch>
            <a:fillRect/>
          </a:stretch>
        </p:blipFill>
        <p:spPr>
          <a:xfrm>
            <a:off x="3732271"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10458794" y="43641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1444365" y="4364101"/>
            <a:ext cx="128699" cy="187198"/>
          </a:xfrm>
          <a:prstGeom prst="rect">
            <a:avLst/>
          </a:prstGeom>
        </p:spPr>
      </p:pic>
      <p:pic>
        <p:nvPicPr>
          <p:cNvPr id="217" name="Picture 216" descr="lock.png"/>
          <p:cNvPicPr>
            <a:picLocks noChangeAspect="1"/>
          </p:cNvPicPr>
          <p:nvPr/>
        </p:nvPicPr>
        <p:blipFill>
          <a:blip r:embed="rId4"/>
          <a:stretch>
            <a:fillRect/>
          </a:stretch>
        </p:blipFill>
        <p:spPr>
          <a:xfrm>
            <a:off x="3732271"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10458794" y="47070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1444365" y="4707001"/>
            <a:ext cx="128699" cy="187198"/>
          </a:xfrm>
          <a:prstGeom prst="rect">
            <a:avLst/>
          </a:prstGeom>
        </p:spPr>
      </p:pic>
      <p:pic>
        <p:nvPicPr>
          <p:cNvPr id="220" name="Picture 219" descr="lock.png"/>
          <p:cNvPicPr>
            <a:picLocks noChangeAspect="1"/>
          </p:cNvPicPr>
          <p:nvPr/>
        </p:nvPicPr>
        <p:blipFill>
          <a:blip r:embed="rId4"/>
          <a:stretch>
            <a:fillRect/>
          </a:stretch>
        </p:blipFill>
        <p:spPr>
          <a:xfrm>
            <a:off x="3732271"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10458794" y="50499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1444365" y="5049901"/>
            <a:ext cx="128699" cy="187198"/>
          </a:xfrm>
          <a:prstGeom prst="rect">
            <a:avLst/>
          </a:prstGeom>
        </p:spPr>
      </p:pic>
      <p:pic>
        <p:nvPicPr>
          <p:cNvPr id="223" name="Picture 222" descr="lock.png"/>
          <p:cNvPicPr>
            <a:picLocks noChangeAspect="1"/>
          </p:cNvPicPr>
          <p:nvPr/>
        </p:nvPicPr>
        <p:blipFill>
          <a:blip r:embed="rId4"/>
          <a:stretch>
            <a:fillRect/>
          </a:stretch>
        </p:blipFill>
        <p:spPr>
          <a:xfrm>
            <a:off x="3732271" y="5392801"/>
            <a:ext cx="128699" cy="187198"/>
          </a:xfrm>
          <a:prstGeom prst="rect">
            <a:avLst/>
          </a:prstGeom>
        </p:spPr>
      </p:pic>
      <p:pic>
        <p:nvPicPr>
          <p:cNvPr id="224" name="Picture 223" descr="lock.png"/>
          <p:cNvPicPr>
            <a:picLocks noChangeAspect="1"/>
          </p:cNvPicPr>
          <p:nvPr/>
        </p:nvPicPr>
        <p:blipFill>
          <a:blip r:embed="rId4"/>
          <a:stretch>
            <a:fillRect/>
          </a:stretch>
        </p:blipFill>
        <p:spPr>
          <a:xfrm>
            <a:off x="10458794" y="5392801"/>
            <a:ext cx="128699" cy="187198"/>
          </a:xfrm>
          <a:prstGeom prst="rect">
            <a:avLst/>
          </a:prstGeom>
        </p:spPr>
      </p:pic>
      <p:pic>
        <p:nvPicPr>
          <p:cNvPr id="225" name="Picture 224" descr="lock.png"/>
          <p:cNvPicPr>
            <a:picLocks noChangeAspect="1"/>
          </p:cNvPicPr>
          <p:nvPr/>
        </p:nvPicPr>
        <p:blipFill>
          <a:blip r:embed="rId4"/>
          <a:stretch>
            <a:fillRect/>
          </a:stretch>
        </p:blipFill>
        <p:spPr>
          <a:xfrm>
            <a:off x="11444365" y="5392801"/>
            <a:ext cx="128699" cy="187198"/>
          </a:xfrm>
          <a:prstGeom prst="rect">
            <a:avLst/>
          </a:prstGeom>
        </p:spPr>
      </p:pic>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725953" y="1295400"/>
            <a:ext cx="129345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725953" y="1657350"/>
            <a:ext cx="129345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4095607" y="1295400"/>
            <a:ext cx="129345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4095607" y="1657350"/>
            <a:ext cx="129345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5465261" y="1295400"/>
            <a:ext cx="15673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5465261" y="1657350"/>
            <a:ext cx="15673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7108846" y="1295400"/>
            <a:ext cx="15673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7108846" y="1657350"/>
            <a:ext cx="15673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752431" y="1295400"/>
            <a:ext cx="15673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752431" y="1657350"/>
            <a:ext cx="15673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396015" y="1295400"/>
            <a:ext cx="15673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396015" y="1657350"/>
            <a:ext cx="15673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L'Oréal S.A.</a:t>
            </a:r>
          </a:p>
        </p:txBody>
      </p:sp>
      <p:sp>
        <p:nvSpPr>
          <p:cNvPr id="27" name="TextBox 26"/>
          <p:cNvSpPr txBox="1"/>
          <p:nvPr/>
        </p:nvSpPr>
        <p:spPr>
          <a:xfrm>
            <a:off x="285750" y="24098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329648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6134"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743450" y="2324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65261" y="22288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7108846" y="22288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Facial Sunscreen, Body Sunscreen</a:t>
            </a:r>
          </a:p>
        </p:txBody>
      </p:sp>
      <p:sp>
        <p:nvSpPr>
          <p:cNvPr id="33" name="TextBox 32"/>
          <p:cNvSpPr txBox="1"/>
          <p:nvPr/>
        </p:nvSpPr>
        <p:spPr>
          <a:xfrm>
            <a:off x="8714331" y="22288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357915" y="22288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Company Profile</a:t>
            </a:r>
          </a:p>
        </p:txBody>
      </p:sp>
      <p:sp>
        <p:nvSpPr>
          <p:cNvPr id="38" name="TextBox 37"/>
          <p:cNvSpPr txBox="1"/>
          <p:nvPr/>
        </p:nvSpPr>
        <p:spPr>
          <a:xfrm>
            <a:off x="285750" y="27527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3296480"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3371850"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66613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65261" y="25717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7108846" y="25717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Facial Sunscreen, Lip Sunscreen</a:t>
            </a:r>
          </a:p>
        </p:txBody>
      </p:sp>
      <p:sp>
        <p:nvSpPr>
          <p:cNvPr id="44" name="TextBox 43"/>
          <p:cNvSpPr txBox="1"/>
          <p:nvPr/>
        </p:nvSpPr>
        <p:spPr>
          <a:xfrm>
            <a:off x="8714331" y="25717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357915" y="25717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Profile Element</a:t>
            </a:r>
          </a:p>
        </p:txBody>
      </p:sp>
      <p:sp>
        <p:nvSpPr>
          <p:cNvPr id="49" name="TextBox 48"/>
          <p:cNvSpPr txBox="1"/>
          <p:nvPr/>
        </p:nvSpPr>
        <p:spPr>
          <a:xfrm>
            <a:off x="285750" y="30956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3296480"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3371850"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666134"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743450"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65261" y="29146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7108846" y="29146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Body Sunscreen, Lip Sunscreen</a:t>
            </a:r>
          </a:p>
        </p:txBody>
      </p:sp>
      <p:sp>
        <p:nvSpPr>
          <p:cNvPr id="56" name="TextBox 55"/>
          <p:cNvSpPr txBox="1"/>
          <p:nvPr/>
        </p:nvSpPr>
        <p:spPr>
          <a:xfrm>
            <a:off x="8714331" y="29146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357915" y="29146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Overview</a:t>
            </a:r>
          </a:p>
        </p:txBody>
      </p:sp>
      <p:sp>
        <p:nvSpPr>
          <p:cNvPr id="61" name="TextBox 60"/>
          <p:cNvSpPr txBox="1"/>
          <p:nvPr/>
        </p:nvSpPr>
        <p:spPr>
          <a:xfrm>
            <a:off x="285750" y="34385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3296480"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3371850"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66613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65261" y="32575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7108846" y="32575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Facial Sunscreen, Body Sunscreen</a:t>
            </a:r>
          </a:p>
        </p:txBody>
      </p:sp>
      <p:sp>
        <p:nvSpPr>
          <p:cNvPr id="67" name="TextBox 66"/>
          <p:cNvSpPr txBox="1"/>
          <p:nvPr/>
        </p:nvSpPr>
        <p:spPr>
          <a:xfrm>
            <a:off x="8714331" y="32575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357915" y="32575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Product Portfolio</a:t>
            </a:r>
          </a:p>
        </p:txBody>
      </p:sp>
      <p:sp>
        <p:nvSpPr>
          <p:cNvPr id="72" name="TextBox 71"/>
          <p:cNvSpPr txBox="1"/>
          <p:nvPr/>
        </p:nvSpPr>
        <p:spPr>
          <a:xfrm>
            <a:off x="285750" y="37814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3296480"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66613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474345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65261" y="36004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7108846" y="36004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Facial Sunscreen, Lip Sunscreen</a:t>
            </a:r>
          </a:p>
        </p:txBody>
      </p:sp>
      <p:sp>
        <p:nvSpPr>
          <p:cNvPr id="78" name="TextBox 77"/>
          <p:cNvSpPr txBox="1"/>
          <p:nvPr/>
        </p:nvSpPr>
        <p:spPr>
          <a:xfrm>
            <a:off x="8714331" y="36004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357915" y="36004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Product Sales</a:t>
            </a:r>
          </a:p>
        </p:txBody>
      </p:sp>
      <p:sp>
        <p:nvSpPr>
          <p:cNvPr id="83" name="TextBox 82"/>
          <p:cNvSpPr txBox="1"/>
          <p:nvPr/>
        </p:nvSpPr>
        <p:spPr>
          <a:xfrm>
            <a:off x="285750" y="41243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329648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337185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666134"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465261" y="39433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7108846" y="39433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Body Sunscreen, Lip Sunscreen</a:t>
            </a:r>
          </a:p>
        </p:txBody>
      </p:sp>
      <p:sp>
        <p:nvSpPr>
          <p:cNvPr id="89" name="TextBox 88"/>
          <p:cNvSpPr txBox="1"/>
          <p:nvPr/>
        </p:nvSpPr>
        <p:spPr>
          <a:xfrm>
            <a:off x="8714331" y="39433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357915" y="39433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Channel Sales</a:t>
            </a:r>
          </a:p>
        </p:txBody>
      </p:sp>
      <p:sp>
        <p:nvSpPr>
          <p:cNvPr id="94" name="TextBox 93"/>
          <p:cNvSpPr txBox="1"/>
          <p:nvPr/>
        </p:nvSpPr>
        <p:spPr>
          <a:xfrm>
            <a:off x="285750" y="44672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329648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3371850"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66613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743450"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465261" y="42862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7108846" y="42862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Facial Sunscreen, Body Sunscreen</a:t>
            </a:r>
          </a:p>
        </p:txBody>
      </p:sp>
      <p:sp>
        <p:nvSpPr>
          <p:cNvPr id="101" name="TextBox 100"/>
          <p:cNvSpPr txBox="1"/>
          <p:nvPr/>
        </p:nvSpPr>
        <p:spPr>
          <a:xfrm>
            <a:off x="8714331" y="42862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357915" y="42862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Regional Sales</a:t>
            </a:r>
          </a:p>
        </p:txBody>
      </p:sp>
      <p:sp>
        <p:nvSpPr>
          <p:cNvPr id="106" name="TextBox 105"/>
          <p:cNvSpPr txBox="1"/>
          <p:nvPr/>
        </p:nvSpPr>
        <p:spPr>
          <a:xfrm>
            <a:off x="285750" y="48101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329648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371850"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666134"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465261" y="46291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7108846" y="46291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Facial Sunscreen, Lip Sunscreen</a:t>
            </a:r>
          </a:p>
        </p:txBody>
      </p:sp>
      <p:sp>
        <p:nvSpPr>
          <p:cNvPr id="112" name="TextBox 111"/>
          <p:cNvSpPr txBox="1"/>
          <p:nvPr/>
        </p:nvSpPr>
        <p:spPr>
          <a:xfrm>
            <a:off x="8714331" y="46291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357915" y="46291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5750" y="49911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Sales Footprint</a:t>
            </a:r>
          </a:p>
        </p:txBody>
      </p:sp>
      <p:sp>
        <p:nvSpPr>
          <p:cNvPr id="117" name="TextBox 116"/>
          <p:cNvSpPr txBox="1"/>
          <p:nvPr/>
        </p:nvSpPr>
        <p:spPr>
          <a:xfrm>
            <a:off x="285750" y="51530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8" name="Oval 117"/>
          <p:cNvSpPr/>
          <p:nvPr/>
        </p:nvSpPr>
        <p:spPr>
          <a:xfrm>
            <a:off x="3296480"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66613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4743450"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465261" y="49720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22" name="TextBox 121"/>
          <p:cNvSpPr txBox="1"/>
          <p:nvPr/>
        </p:nvSpPr>
        <p:spPr>
          <a:xfrm>
            <a:off x="7108846" y="49720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Body Sunscreen, Lip Sunscreen</a:t>
            </a:r>
          </a:p>
        </p:txBody>
      </p:sp>
      <p:sp>
        <p:nvSpPr>
          <p:cNvPr id="123" name="TextBox 122"/>
          <p:cNvSpPr txBox="1"/>
          <p:nvPr/>
        </p:nvSpPr>
        <p:spPr>
          <a:xfrm>
            <a:off x="8714331" y="49720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4" name="TextBox 123"/>
          <p:cNvSpPr txBox="1"/>
          <p:nvPr/>
        </p:nvSpPr>
        <p:spPr>
          <a:xfrm>
            <a:off x="10357915" y="49720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5" name="Connector 124"/>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53340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Strategy Overview</a:t>
            </a:r>
          </a:p>
        </p:txBody>
      </p:sp>
      <p:sp>
        <p:nvSpPr>
          <p:cNvPr id="128" name="TextBox 127"/>
          <p:cNvSpPr txBox="1"/>
          <p:nvPr/>
        </p:nvSpPr>
        <p:spPr>
          <a:xfrm>
            <a:off x="285750" y="54959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9" name="Oval 128"/>
          <p:cNvSpPr/>
          <p:nvPr/>
        </p:nvSpPr>
        <p:spPr>
          <a:xfrm>
            <a:off x="3296480"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3371850"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666134"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465261" y="53149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3" name="TextBox 132"/>
          <p:cNvSpPr txBox="1"/>
          <p:nvPr/>
        </p:nvSpPr>
        <p:spPr>
          <a:xfrm>
            <a:off x="7108846" y="53149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Facial Sunscreen, Body Sunscreen</a:t>
            </a:r>
          </a:p>
        </p:txBody>
      </p:sp>
      <p:sp>
        <p:nvSpPr>
          <p:cNvPr id="134" name="TextBox 133"/>
          <p:cNvSpPr txBox="1"/>
          <p:nvPr/>
        </p:nvSpPr>
        <p:spPr>
          <a:xfrm>
            <a:off x="8714331" y="53149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5" name="TextBox 134"/>
          <p:cNvSpPr txBox="1"/>
          <p:nvPr/>
        </p:nvSpPr>
        <p:spPr>
          <a:xfrm>
            <a:off x="10357915" y="53149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6" name="Connector 13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9" name="Oval 13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2" name="Oval 14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5" name="Oval 14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7" name="TextBox 146"/>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8" name="TextBox 147"/>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9" name="TextBox 1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0" name="Picture 149" descr="lock.png"/>
          <p:cNvPicPr>
            <a:picLocks noChangeAspect="1"/>
          </p:cNvPicPr>
          <p:nvPr/>
        </p:nvPicPr>
        <p:blipFill>
          <a:blip r:embed="rId4"/>
          <a:stretch>
            <a:fillRect/>
          </a:stretch>
        </p:blipFill>
        <p:spPr>
          <a:xfrm>
            <a:off x="9471774" y="23067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115358" y="23067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471774" y="26496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115358" y="26496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471774" y="2992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115358" y="29925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471774" y="33354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115358" y="3335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471774" y="36783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115358" y="36783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471774" y="40212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115358" y="40212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471774" y="43641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115358" y="43641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471774" y="47070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115358" y="47070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471774"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115358" y="50499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471774" y="5392801"/>
            <a:ext cx="128699" cy="187198"/>
          </a:xfrm>
          <a:prstGeom prst="rect">
            <a:avLst/>
          </a:prstGeom>
        </p:spPr>
      </p:pic>
      <p:pic>
        <p:nvPicPr>
          <p:cNvPr id="169" name="Picture 168" descr="lock.png"/>
          <p:cNvPicPr>
            <a:picLocks noChangeAspect="1"/>
          </p:cNvPicPr>
          <p:nvPr/>
        </p:nvPicPr>
        <p:blipFill>
          <a:blip r:embed="rId4"/>
          <a:stretch>
            <a:fillRect/>
          </a:stretch>
        </p:blipFill>
        <p:spPr>
          <a:xfrm>
            <a:off x="11115358" y="5392801"/>
            <a:ext cx="128699" cy="187198"/>
          </a:xfrm>
          <a:prstGeom prst="rect">
            <a:avLst/>
          </a:prstGeom>
        </p:spPr>
      </p:pic>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725953" y="1295400"/>
            <a:ext cx="15673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725953" y="1657350"/>
            <a:ext cx="15673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4369538" y="1295400"/>
            <a:ext cx="15673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4369538" y="1657350"/>
            <a:ext cx="15673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6013123" y="1295400"/>
            <a:ext cx="129345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6013123" y="1657350"/>
            <a:ext cx="129345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382777" y="1295400"/>
            <a:ext cx="15673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382777" y="1657350"/>
            <a:ext cx="15673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9026361" y="1295400"/>
            <a:ext cx="15673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9026361" y="1657350"/>
            <a:ext cx="15673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669946" y="1295400"/>
            <a:ext cx="129345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669946" y="1657350"/>
            <a:ext cx="129345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L'Oréal S.A.</a:t>
            </a:r>
          </a:p>
        </p:txBody>
      </p:sp>
      <p:sp>
        <p:nvSpPr>
          <p:cNvPr id="27" name="TextBox 26"/>
          <p:cNvSpPr txBox="1"/>
          <p:nvPr/>
        </p:nvSpPr>
        <p:spPr>
          <a:xfrm>
            <a:off x="285750" y="24098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2725953" y="22288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4331438" y="22288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58365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44677" y="22288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8988261" y="22288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24047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Company Profile</a:t>
            </a:r>
          </a:p>
        </p:txBody>
      </p:sp>
      <p:sp>
        <p:nvSpPr>
          <p:cNvPr id="37" name="TextBox 36"/>
          <p:cNvSpPr txBox="1"/>
          <p:nvPr/>
        </p:nvSpPr>
        <p:spPr>
          <a:xfrm>
            <a:off x="285750" y="27527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2725953" y="25717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4331438" y="25717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58365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82777" y="25717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8988261" y="25717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24047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Profile Element</a:t>
            </a:r>
          </a:p>
        </p:txBody>
      </p:sp>
      <p:sp>
        <p:nvSpPr>
          <p:cNvPr id="47" name="TextBox 46"/>
          <p:cNvSpPr txBox="1"/>
          <p:nvPr/>
        </p:nvSpPr>
        <p:spPr>
          <a:xfrm>
            <a:off x="285750" y="30956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2725953" y="29146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4331438" y="29146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58365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44677" y="29146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8988261" y="29146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24047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Overview</a:t>
            </a:r>
          </a:p>
        </p:txBody>
      </p:sp>
      <p:sp>
        <p:nvSpPr>
          <p:cNvPr id="57" name="TextBox 56"/>
          <p:cNvSpPr txBox="1"/>
          <p:nvPr/>
        </p:nvSpPr>
        <p:spPr>
          <a:xfrm>
            <a:off x="285750" y="34385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725953" y="32575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4331438" y="32575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58365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82777" y="32575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8988261" y="32575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24047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Product Portfolio</a:t>
            </a:r>
          </a:p>
        </p:txBody>
      </p:sp>
      <p:sp>
        <p:nvSpPr>
          <p:cNvPr id="67" name="TextBox 66"/>
          <p:cNvSpPr txBox="1"/>
          <p:nvPr/>
        </p:nvSpPr>
        <p:spPr>
          <a:xfrm>
            <a:off x="285750" y="37814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2725953" y="36004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4331438" y="36004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583650"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44677" y="36004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8988261" y="36004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24047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3157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Product Sales</a:t>
            </a:r>
          </a:p>
        </p:txBody>
      </p:sp>
      <p:sp>
        <p:nvSpPr>
          <p:cNvPr id="78" name="TextBox 77"/>
          <p:cNvSpPr txBox="1"/>
          <p:nvPr/>
        </p:nvSpPr>
        <p:spPr>
          <a:xfrm>
            <a:off x="285750" y="41243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2725953" y="39433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4331438" y="39433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583650"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82777" y="39433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8988261" y="39433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24047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31570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Channel Sales</a:t>
            </a:r>
          </a:p>
        </p:txBody>
      </p:sp>
      <p:sp>
        <p:nvSpPr>
          <p:cNvPr id="89" name="TextBox 88"/>
          <p:cNvSpPr txBox="1"/>
          <p:nvPr/>
        </p:nvSpPr>
        <p:spPr>
          <a:xfrm>
            <a:off x="285750" y="44672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2725953" y="42862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4331438" y="42862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583650"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344677" y="42862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8988261" y="42862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24047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315700"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Market Segments — Regional Sales</a:t>
            </a:r>
          </a:p>
        </p:txBody>
      </p:sp>
      <p:sp>
        <p:nvSpPr>
          <p:cNvPr id="100" name="TextBox 99"/>
          <p:cNvSpPr txBox="1"/>
          <p:nvPr/>
        </p:nvSpPr>
        <p:spPr>
          <a:xfrm>
            <a:off x="285750" y="48101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2725953" y="46291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4331438" y="46291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583650"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382777" y="46291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8988261" y="46291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24047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315700"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9911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Sales Footprint</a:t>
            </a:r>
          </a:p>
        </p:txBody>
      </p:sp>
      <p:sp>
        <p:nvSpPr>
          <p:cNvPr id="111" name="TextBox 110"/>
          <p:cNvSpPr txBox="1"/>
          <p:nvPr/>
        </p:nvSpPr>
        <p:spPr>
          <a:xfrm>
            <a:off x="285750" y="51530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2725953" y="49720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3" name="TextBox 112"/>
          <p:cNvSpPr txBox="1"/>
          <p:nvPr/>
        </p:nvSpPr>
        <p:spPr>
          <a:xfrm>
            <a:off x="4331438" y="49720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6583650"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344677" y="49720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8988261" y="49720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7" name="Oval 116"/>
          <p:cNvSpPr/>
          <p:nvPr/>
        </p:nvSpPr>
        <p:spPr>
          <a:xfrm>
            <a:off x="1124047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1315700"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85750" y="5334000"/>
            <a:ext cx="2383053" cy="171450"/>
          </a:xfrm>
          <a:prstGeom prst="rect">
            <a:avLst/>
          </a:prstGeom>
          <a:noFill/>
        </p:spPr>
        <p:txBody>
          <a:bodyPr wrap="square" lIns="28575" rIns="28575" tIns="9525" bIns="9525" anchor="t">
            <a:spAutoFit/>
          </a:bodyPr>
          <a:lstStyle/>
          <a:p>
            <a:pPr algn="l"/>
            <a:r>
              <a:rPr sz="1100" b="1">
                <a:solidFill>
                  <a:srgbClr val="1F2933"/>
                </a:solidFill>
                <a:latin typeface="Calibri"/>
              </a:rPr>
              <a:t>Strategy Overview</a:t>
            </a:r>
          </a:p>
        </p:txBody>
      </p:sp>
      <p:sp>
        <p:nvSpPr>
          <p:cNvPr id="122" name="TextBox 121"/>
          <p:cNvSpPr txBox="1"/>
          <p:nvPr/>
        </p:nvSpPr>
        <p:spPr>
          <a:xfrm>
            <a:off x="285750" y="5495925"/>
            <a:ext cx="238305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3" name="TextBox 122"/>
          <p:cNvSpPr txBox="1"/>
          <p:nvPr/>
        </p:nvSpPr>
        <p:spPr>
          <a:xfrm>
            <a:off x="2725953" y="53149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4" name="TextBox 123"/>
          <p:cNvSpPr txBox="1"/>
          <p:nvPr/>
        </p:nvSpPr>
        <p:spPr>
          <a:xfrm>
            <a:off x="4331438" y="53149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6583650"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382777" y="5314950"/>
            <a:ext cx="1567385"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7" name="TextBox 126"/>
          <p:cNvSpPr txBox="1"/>
          <p:nvPr/>
        </p:nvSpPr>
        <p:spPr>
          <a:xfrm>
            <a:off x="8988261" y="5314950"/>
            <a:ext cx="164358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Oval 127"/>
          <p:cNvSpPr/>
          <p:nvPr/>
        </p:nvSpPr>
        <p:spPr>
          <a:xfrm>
            <a:off x="1124047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11315700"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3" name="Oval 132"/>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6" name="Oval 135"/>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9" name="Oval 138"/>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1" name="TextBox 140"/>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2" name="TextBox 141"/>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3" name="TextBox 1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4" name="Picture 143" descr="lock.png"/>
          <p:cNvPicPr>
            <a:picLocks noChangeAspect="1"/>
          </p:cNvPicPr>
          <p:nvPr/>
        </p:nvPicPr>
        <p:blipFill>
          <a:blip r:embed="rId4"/>
          <a:stretch>
            <a:fillRect/>
          </a:stretch>
        </p:blipFill>
        <p:spPr>
          <a:xfrm>
            <a:off x="5088881"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8102120" y="23067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745704" y="2306701"/>
            <a:ext cx="128699" cy="187198"/>
          </a:xfrm>
          <a:prstGeom prst="rect">
            <a:avLst/>
          </a:prstGeom>
        </p:spPr>
      </p:pic>
      <p:pic>
        <p:nvPicPr>
          <p:cNvPr id="147" name="Picture 146" descr="lock.png"/>
          <p:cNvPicPr>
            <a:picLocks noChangeAspect="1"/>
          </p:cNvPicPr>
          <p:nvPr/>
        </p:nvPicPr>
        <p:blipFill>
          <a:blip r:embed="rId4"/>
          <a:stretch>
            <a:fillRect/>
          </a:stretch>
        </p:blipFill>
        <p:spPr>
          <a:xfrm>
            <a:off x="5088881" y="2649601"/>
            <a:ext cx="128699" cy="187198"/>
          </a:xfrm>
          <a:prstGeom prst="rect">
            <a:avLst/>
          </a:prstGeom>
        </p:spPr>
      </p:pic>
      <p:pic>
        <p:nvPicPr>
          <p:cNvPr id="148" name="Picture 147" descr="lock.png"/>
          <p:cNvPicPr>
            <a:picLocks noChangeAspect="1"/>
          </p:cNvPicPr>
          <p:nvPr/>
        </p:nvPicPr>
        <p:blipFill>
          <a:blip r:embed="rId4"/>
          <a:stretch>
            <a:fillRect/>
          </a:stretch>
        </p:blipFill>
        <p:spPr>
          <a:xfrm>
            <a:off x="9745704" y="2649601"/>
            <a:ext cx="128699" cy="187198"/>
          </a:xfrm>
          <a:prstGeom prst="rect">
            <a:avLst/>
          </a:prstGeom>
        </p:spPr>
      </p:pic>
      <p:pic>
        <p:nvPicPr>
          <p:cNvPr id="149" name="Picture 148" descr="lock.png"/>
          <p:cNvPicPr>
            <a:picLocks noChangeAspect="1"/>
          </p:cNvPicPr>
          <p:nvPr/>
        </p:nvPicPr>
        <p:blipFill>
          <a:blip r:embed="rId4"/>
          <a:stretch>
            <a:fillRect/>
          </a:stretch>
        </p:blipFill>
        <p:spPr>
          <a:xfrm>
            <a:off x="5088881"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8102120" y="29925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745704" y="2992501"/>
            <a:ext cx="128699" cy="187198"/>
          </a:xfrm>
          <a:prstGeom prst="rect">
            <a:avLst/>
          </a:prstGeom>
        </p:spPr>
      </p:pic>
      <p:pic>
        <p:nvPicPr>
          <p:cNvPr id="152" name="Picture 151" descr="lock.png"/>
          <p:cNvPicPr>
            <a:picLocks noChangeAspect="1"/>
          </p:cNvPicPr>
          <p:nvPr/>
        </p:nvPicPr>
        <p:blipFill>
          <a:blip r:embed="rId4"/>
          <a:stretch>
            <a:fillRect/>
          </a:stretch>
        </p:blipFill>
        <p:spPr>
          <a:xfrm>
            <a:off x="5088881" y="33354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745704"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5088881"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8102120" y="36783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745704"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5088881" y="40212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745704"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5088881"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8102120"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745704"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5088881"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9745704"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5088881"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8102120"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745704"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5088881" y="53928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745704" y="5392801"/>
            <a:ext cx="128699" cy="187198"/>
          </a:xfrm>
          <a:prstGeom prst="rect">
            <a:avLst/>
          </a:prstGeom>
        </p:spPr>
      </p:pic>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L'Oréal S.A.</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20025" y="1885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896225" y="1885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420350" y="18954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54430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8" name="Connector 37"/>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 Profile</a:t>
            </a:r>
          </a:p>
        </p:txBody>
      </p:sp>
      <p:sp>
        <p:nvSpPr>
          <p:cNvPr id="41" name="Oval 40"/>
          <p:cNvSpPr/>
          <p:nvPr/>
        </p:nvSpPr>
        <p:spPr>
          <a:xfrm>
            <a:off x="284797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92417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200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420350" y="22002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48715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9" name="Connector 48"/>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Overview</a:t>
            </a:r>
          </a:p>
        </p:txBody>
      </p:sp>
      <p:sp>
        <p:nvSpPr>
          <p:cNvPr id="52" name="Oval 51"/>
          <p:cNvSpPr/>
          <p:nvPr/>
        </p:nvSpPr>
        <p:spPr>
          <a:xfrm>
            <a:off x="284797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292417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8200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420350" y="25050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48715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60" name="Connector 59"/>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Profile Element</a:t>
            </a:r>
          </a:p>
        </p:txBody>
      </p:sp>
      <p:sp>
        <p:nvSpPr>
          <p:cNvPr id="63" name="Oval 62"/>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82002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789622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420350" y="2809875"/>
            <a:ext cx="9715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43000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2" name="Connector 71"/>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Market Segments — Product Sales</a:t>
            </a:r>
          </a:p>
        </p:txBody>
      </p:sp>
      <p:sp>
        <p:nvSpPr>
          <p:cNvPr id="75" name="Oval 74"/>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5" name="Connector 84"/>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Product Portfolio</a:t>
            </a:r>
          </a:p>
        </p:txBody>
      </p:sp>
      <p:sp>
        <p:nvSpPr>
          <p:cNvPr id="88" name="Oval 87"/>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9" name="Connector 98"/>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0" name="Rectangle 99"/>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Market Segments — Regional Sales</a:t>
            </a:r>
          </a:p>
        </p:txBody>
      </p:sp>
      <p:sp>
        <p:nvSpPr>
          <p:cNvPr id="102" name="Oval 101"/>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2" name="Connector 11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Strategy Overview</a:t>
            </a:r>
          </a:p>
        </p:txBody>
      </p:sp>
      <p:sp>
        <p:nvSpPr>
          <p:cNvPr id="115" name="Oval 114"/>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5" name="Connector 124"/>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Market Segments — Channel Sales</a:t>
            </a:r>
          </a:p>
        </p:txBody>
      </p:sp>
      <p:sp>
        <p:nvSpPr>
          <p:cNvPr id="128" name="Oval 127"/>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9" name="Connector 138"/>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0" name="Rectangle 139"/>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Sales Footprint</a:t>
            </a:r>
          </a:p>
        </p:txBody>
      </p:sp>
      <p:sp>
        <p:nvSpPr>
          <p:cNvPr id="142" name="Oval 141"/>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53" name="Connector 152"/>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4" name="Oval 153"/>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6" name="Oval 155"/>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reeform 156"/>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9" name="Oval 158"/>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62" name="Oval 161"/>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64" name="TextBox 163"/>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5" name="Rectangle 164"/>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7" name="TextBox 166"/>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L'Oréal S.A., Company Profile, Overview, Profile Element</a:t>
            </a:r>
          </a:p>
        </p:txBody>
      </p:sp>
      <p:sp>
        <p:nvSpPr>
          <p:cNvPr id="168" name="TextBox 167"/>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segment breadth.</a:t>
            </a:r>
          </a:p>
        </p:txBody>
      </p:sp>
      <p:sp>
        <p:nvSpPr>
          <p:cNvPr id="169" name="Rectangle 168"/>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71" name="TextBox 170"/>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Market Segments — Product Sales, Product Portfolio</a:t>
            </a:r>
          </a:p>
        </p:txBody>
      </p:sp>
      <p:sp>
        <p:nvSpPr>
          <p:cNvPr id="172" name="TextBox 171"/>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73" name="Rectangle 172"/>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5" name="TextBox 174"/>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Market Segments — Regional Sales, Strategy Overview, Market Segments — Channel Sales, Sales Footprint</a:t>
            </a:r>
          </a:p>
        </p:txBody>
      </p:sp>
      <p:sp>
        <p:nvSpPr>
          <p:cNvPr id="176" name="TextBox 175"/>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7" name="TextBox 1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8" name="Picture 177" descr="lock.png"/>
          <p:cNvPicPr>
            <a:picLocks noChangeAspect="1"/>
          </p:cNvPicPr>
          <p:nvPr/>
        </p:nvPicPr>
        <p:blipFill>
          <a:blip r:embed="rId4"/>
          <a:stretch>
            <a:fillRect/>
          </a:stretch>
        </p:blipFill>
        <p:spPr>
          <a:xfrm>
            <a:off x="11689500" y="18685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632350" y="21733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632350" y="24781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575200" y="27829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479950" y="30877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422800" y="33925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327550" y="36973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327550" y="4002151"/>
            <a:ext cx="128699" cy="187198"/>
          </a:xfrm>
          <a:prstGeom prst="rect">
            <a:avLst/>
          </a:prstGeom>
        </p:spPr>
      </p:pic>
      <p:pic>
        <p:nvPicPr>
          <p:cNvPr id="186" name="Picture 185" descr="lock.png"/>
          <p:cNvPicPr>
            <a:picLocks noChangeAspect="1"/>
          </p:cNvPicPr>
          <p:nvPr/>
        </p:nvPicPr>
        <p:blipFill>
          <a:blip r:embed="rId4"/>
          <a:stretch>
            <a:fillRect/>
          </a:stretch>
        </p:blipFill>
        <p:spPr>
          <a:xfrm>
            <a:off x="11270400" y="4306951"/>
            <a:ext cx="128699" cy="187198"/>
          </a:xfrm>
          <a:prstGeom prst="rect">
            <a:avLst/>
          </a:prstGeom>
        </p:spPr>
      </p:pic>
      <p:pic>
        <p:nvPicPr>
          <p:cNvPr id="187" name="Picture 186" descr="lock.png"/>
          <p:cNvPicPr>
            <a:picLocks noChangeAspect="1"/>
          </p:cNvPicPr>
          <p:nvPr/>
        </p:nvPicPr>
        <p:blipFill>
          <a:blip r:embed="rId4"/>
          <a:stretch>
            <a:fillRect/>
          </a:stretch>
        </p:blipFill>
        <p:spPr>
          <a:xfrm>
            <a:off x="11270400" y="4611751"/>
            <a:ext cx="128699" cy="187198"/>
          </a:xfrm>
          <a:prstGeom prst="rect">
            <a:avLst/>
          </a:prstGeom>
        </p:spPr>
      </p:pic>
      <p:sp>
        <p:nvSpPr>
          <p:cNvPr id="188" name="TextBox 187"/>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2482959" y="1212159"/>
            <a:ext cx="92663" cy="134782"/>
          </a:xfrm>
          <a:prstGeom prst="rect">
            <a:avLst/>
          </a:prstGeom>
        </p:spPr>
      </p:pic>
      <p:sp>
        <p:nvSpPr>
          <p:cNvPr id="190" name="TextBox 189"/>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4140309" y="1212159"/>
            <a:ext cx="92663" cy="134782"/>
          </a:xfrm>
          <a:prstGeom prst="rect">
            <a:avLst/>
          </a:prstGeom>
        </p:spPr>
      </p:pic>
      <p:sp>
        <p:nvSpPr>
          <p:cNvPr id="192" name="TextBox 191"/>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5797659" y="1212159"/>
            <a:ext cx="92663" cy="134782"/>
          </a:xfrm>
          <a:prstGeom prst="rect">
            <a:avLst/>
          </a:prstGeom>
        </p:spPr>
      </p:pic>
      <p:sp>
        <p:nvSpPr>
          <p:cNvPr id="194" name="TextBox 193"/>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5" name="Picture 194" descr="lock.png"/>
          <p:cNvPicPr>
            <a:picLocks noChangeAspect="1"/>
          </p:cNvPicPr>
          <p:nvPr/>
        </p:nvPicPr>
        <p:blipFill>
          <a:blip r:embed="rId4"/>
          <a:stretch>
            <a:fillRect/>
          </a:stretch>
        </p:blipFill>
        <p:spPr>
          <a:xfrm>
            <a:off x="7455009" y="1212159"/>
            <a:ext cx="92663" cy="134782"/>
          </a:xfrm>
          <a:prstGeom prst="rect">
            <a:avLst/>
          </a:prstGeom>
        </p:spPr>
      </p:pic>
      <p:sp>
        <p:nvSpPr>
          <p:cNvPr id="196" name="TextBox 195"/>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7" name="Picture 196"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L'Oréal S.A.</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 Profile</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Mineral Ceramide Sunscreen</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Profile Element</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Overview</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Hybrid Ceramide Sunscreen</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Product Portfolio</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Market Segments — Product Sales</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Mineral Ceramide Sunscreen</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Market Segments — Channel Sales</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Market Segments — Regional Sales</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Hybrid Ceramide Sunscreen</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Sales Footprint</a:t>
            </a:r>
          </a:p>
        </p:txBody>
      </p:sp>
      <p:sp>
        <p:nvSpPr>
          <p:cNvPr id="109" name="TextBox 108"/>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10" name="TextBox 109"/>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1" name="Rectangle 110"/>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3" name="TextBox 112"/>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4" name="TextBox 113"/>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15" name="TextBox 114"/>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6" name="TextBox 115"/>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7" name="Connector 116"/>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Strategy Overview</a:t>
            </a:r>
          </a:p>
        </p:txBody>
      </p:sp>
      <p:sp>
        <p:nvSpPr>
          <p:cNvPr id="120" name="TextBox 119"/>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Mineral Ceramide Sunscreen</a:t>
            </a:r>
          </a:p>
        </p:txBody>
      </p:sp>
      <p:sp>
        <p:nvSpPr>
          <p:cNvPr id="121" name="TextBox 120"/>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22" name="Rectangle 121"/>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4" name="TextBox 123"/>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5" name="TextBox 124"/>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26" name="TextBox 125"/>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7" name="TextBox 126"/>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8" name="Connector 127"/>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31" name="TextBox 130"/>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32" name="Rectangle 131"/>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4" name="TextBox 133"/>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5" name="Rectangle 134"/>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7" name="TextBox 136"/>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8" name="Rectangle 137"/>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40" name="TextBox 139"/>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41" name="Rectangle 140"/>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3" name="TextBox 142"/>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4" name="Rectangle 143"/>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6" name="TextBox 145"/>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7" name="TextBox 146"/>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4126650" y="12780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17733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2268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27639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32592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3754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42498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4745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126650" y="5240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L'Oréal S.A.</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 Profile</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Profile Element</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Overview</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Product Portfolio</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Market Segments — Product Sales</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Market Segments — Channel Sales</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Market Segments — Regional Sales</a:t>
            </a:r>
          </a:p>
        </p:txBody>
      </p:sp>
      <p:sp>
        <p:nvSpPr>
          <p:cNvPr id="26" name="Rectangle 25"/>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Sales Footprint</a:t>
            </a:r>
          </a:p>
        </p:txBody>
      </p:sp>
      <p:sp>
        <p:nvSpPr>
          <p:cNvPr id="28" name="Rectangle 27"/>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Strategy Overview</a:t>
            </a:r>
          </a:p>
        </p:txBody>
      </p:sp>
      <p:sp>
        <p:nvSpPr>
          <p:cNvPr id="30" name="TextBox 29"/>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31" name="TextBox 30"/>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32" name="TextBox 31"/>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3" name="TextBox 32"/>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4" name="TextBox 33"/>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5" name="TextBox 34"/>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6" name="TextBox 35"/>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7" name="Rectangle 36"/>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6" name="Rectangle 45"/>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8" name="Rectangle 47"/>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51" name="Rectangle 50"/>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3" name="Rectangle 52"/>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8" name="Rectangle 57"/>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7" name="Rectangle 66"/>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9" name="Rectangle 68"/>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72" name="Rectangle 71"/>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4" name="Rectangle 73"/>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9" name="Rectangle 78"/>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8" name="Rectangle 87"/>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0" name="Rectangle 89"/>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3" name="Rectangle 92"/>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5" name="Rectangle 94"/>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0" name="Rectangle 99"/>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9" name="Rectangle 108"/>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1" name="Rectangle 110"/>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4" name="Rectangle 113"/>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6" name="Rectangle 115"/>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1" name="Rectangle 120"/>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6" name="Rectangle 125"/>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8" name="Rectangle 127"/>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0" name="Rectangle 129"/>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2" name="Rectangle 131"/>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5" name="Rectangle 134"/>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7" name="Rectangle 136"/>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Rectangle 138"/>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42" name="TextBox 141"/>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3" name="TextBox 142"/>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4" name="TextBox 143"/>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5" name="TextBox 144"/>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6" name="TextBox 145"/>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7" name="Rectangle 146"/>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1" name="Rectangle 150"/>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3" name="Rectangle 152"/>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5" name="Rectangle 154"/>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7" name="Rectangle 156"/>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5" name="Rectangle 164"/>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7" name="Rectangle 166"/>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9" name="Rectangle 168"/>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1" name="Rectangle 170"/>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9" name="Rectangle 178"/>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1" name="Rectangle 180"/>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3" name="Rectangle 182"/>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5" name="Rectangle 184"/>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1" name="Rectangle 190"/>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3" name="Rectangle 192"/>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5" name="Rectangle 194"/>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7" name="Rectangle 196"/>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9" name="Rectangle 198"/>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5" name="Rectangle 204"/>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7" name="Rectangle 206"/>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9" name="Rectangle 208"/>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1" name="Rectangle 210"/>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3" name="Rectangle 212"/>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6" name="Rectangle 215"/>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8" name="TextBox 217"/>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9" name="TextBox 218"/>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220" name="TextBox 219"/>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21" name="TextBox 220"/>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22" name="TextBox 221"/>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3" name="TextBox 222"/>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4" name="Rectangle 223"/>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6" name="Rectangle 225"/>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8" name="Rectangle 227"/>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6" name="Rectangle 235"/>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8" name="Rectangle 237"/>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0" name="Rectangle 239"/>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6" name="Rectangle 245"/>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8" name="Rectangle 247"/>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0" name="Rectangle 249"/>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6" name="Rectangle 255"/>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8" name="Rectangle 257"/>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0" name="Rectangle 259"/>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2" name="Rectangle 261"/>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7" name="Rectangle 266"/>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9" name="Rectangle 268"/>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1" name="Rectangle 270"/>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3" name="Rectangle 272"/>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8" name="Rectangle 277"/>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0" name="Rectangle 279"/>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2" name="Rectangle 281"/>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4" name="Rectangle 283"/>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0" name="Rectangle 289"/>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2" name="Rectangle 291"/>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4" name="Rectangle 293"/>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9259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9809692"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0" name="Rectangle 299"/>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2" name="Rectangle 301"/>
          <p:cNvSpPr/>
          <p:nvPr/>
        </p:nvSpPr>
        <p:spPr>
          <a:xfrm>
            <a:off x="10910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0900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4" name="Rectangle 303"/>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9809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0360025"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10" name="Rectangle 309"/>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2" name="Rectangle 311"/>
          <p:cNvSpPr/>
          <p:nvPr/>
        </p:nvSpPr>
        <p:spPr>
          <a:xfrm>
            <a:off x="11460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451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4" name="Rectangle 313"/>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6" name="Rectangle 315"/>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8" name="Rectangle 317"/>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20" name="TextBox 319"/>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21" name="Connector 320"/>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2" name="TextBox 321"/>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3" name="Rectangle 322"/>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5" name="TextBox 324"/>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6" name="Rectangle 325"/>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8" name="TextBox 327"/>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9" name="Rectangle 328"/>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31" name="TextBox 330"/>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32" name="Rectangle 331"/>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4" name="TextBox 333"/>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5" name="Rectangle 334"/>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7" name="TextBox 336"/>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8" name="Rectangle 337"/>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40" name="TextBox 339"/>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41" name="TextBox 3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Ceramide Sunscreen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L'Oréal S.A. · Company Profile · Profile Element · Overview</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Product Portfolio · Market Segments — Product Sales</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Market Segments — Channel Sales · Market Segments — Regional Sales · Sales Footprint · Strategy Overview</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1,750</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8160488" y="22876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989162"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9817838"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10646512"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8160488" y="25162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989162"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9817838"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10646512"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8160487" y="27448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989163"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9817837"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10646513"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8160487" y="29734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989163"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9817837"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10646513"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1475187"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8160488" y="32020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989163"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9817838"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8160488" y="3478276"/>
            <a:ext cx="128699" cy="187198"/>
          </a:xfrm>
          <a:prstGeom prst="rect">
            <a:avLst/>
          </a:prstGeom>
        </p:spPr>
      </p:pic>
      <p:pic>
        <p:nvPicPr>
          <p:cNvPr id="266" name="Picture 265" descr="lock.png"/>
          <p:cNvPicPr>
            <a:picLocks noChangeAspect="1"/>
          </p:cNvPicPr>
          <p:nvPr/>
        </p:nvPicPr>
        <p:blipFill>
          <a:blip r:embed="rId4"/>
          <a:stretch>
            <a:fillRect/>
          </a:stretch>
        </p:blipFill>
        <p:spPr>
          <a:xfrm>
            <a:off x="8989162"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9817838"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10646512" y="3478276"/>
            <a:ext cx="128699" cy="187198"/>
          </a:xfrm>
          <a:prstGeom prst="rect">
            <a:avLst/>
          </a:prstGeom>
        </p:spPr>
      </p:pic>
      <p:sp>
        <p:nvSpPr>
          <p:cNvPr id="269" name="TextBox 268"/>
          <p:cNvSpPr txBox="1"/>
          <p:nvPr/>
        </p:nvSpPr>
        <p:spPr>
          <a:xfrm>
            <a:off x="266700" y="1344930"/>
            <a:ext cx="2087661" cy="186689"/>
          </a:xfrm>
          <a:prstGeom prst="rect">
            <a:avLst/>
          </a:prstGeom>
          <a:noFill/>
        </p:spPr>
        <p:txBody>
          <a:bodyPr wrap="none" lIns="0" rIns="0" tIns="0" bIns="0">
            <a:spAutoFit/>
          </a:bodyPr>
          <a:lstStyle/>
          <a:p>
            <a:r>
              <a:rPr sz="1100" b="0">
                <a:solidFill>
                  <a:srgbClr val="6B7280"/>
                </a:solidFill>
                <a:latin typeface="Calibri"/>
              </a:rPr>
              <a:t>Market 1,750 US$ Mn · Tier 1 share</a:t>
            </a:r>
          </a:p>
        </p:txBody>
      </p:sp>
      <p:pic>
        <p:nvPicPr>
          <p:cNvPr id="270" name="Picture 269" descr="lock.png"/>
          <p:cNvPicPr>
            <a:picLocks noChangeAspect="1"/>
          </p:cNvPicPr>
          <p:nvPr/>
        </p:nvPicPr>
        <p:blipFill>
          <a:blip r:embed="rId4"/>
          <a:stretch>
            <a:fillRect/>
          </a:stretch>
        </p:blipFill>
        <p:spPr>
          <a:xfrm>
            <a:off x="2302413" y="1335151"/>
            <a:ext cx="128699" cy="187198"/>
          </a:xfrm>
          <a:prstGeom prst="rect">
            <a:avLst/>
          </a:prstGeom>
        </p:spPr>
      </p:pic>
      <p:sp>
        <p:nvSpPr>
          <p:cNvPr id="271" name="TextBox 270"/>
          <p:cNvSpPr txBox="1"/>
          <p:nvPr/>
        </p:nvSpPr>
        <p:spPr>
          <a:xfrm>
            <a:off x="2469909"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2" name="Picture 271" descr="lock.png"/>
          <p:cNvPicPr>
            <a:picLocks noChangeAspect="1"/>
          </p:cNvPicPr>
          <p:nvPr/>
        </p:nvPicPr>
        <p:blipFill>
          <a:blip r:embed="rId4"/>
          <a:stretch>
            <a:fillRect/>
          </a:stretch>
        </p:blipFill>
        <p:spPr>
          <a:xfrm>
            <a:off x="2620763" y="1335151"/>
            <a:ext cx="128699" cy="187198"/>
          </a:xfrm>
          <a:prstGeom prst="rect">
            <a:avLst/>
          </a:prstGeom>
        </p:spPr>
      </p:pic>
      <p:sp>
        <p:nvSpPr>
          <p:cNvPr id="273" name="TextBox 272"/>
          <p:cNvSpPr txBox="1"/>
          <p:nvPr/>
        </p:nvSpPr>
        <p:spPr>
          <a:xfrm>
            <a:off x="2788259"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4" name="Picture 273" descr="lock.png"/>
          <p:cNvPicPr>
            <a:picLocks noChangeAspect="1"/>
          </p:cNvPicPr>
          <p:nvPr/>
        </p:nvPicPr>
        <p:blipFill>
          <a:blip r:embed="rId4"/>
          <a:stretch>
            <a:fillRect/>
          </a:stretch>
        </p:blipFill>
        <p:spPr>
          <a:xfrm>
            <a:off x="1377182" y="1839976"/>
            <a:ext cx="128699" cy="187198"/>
          </a:xfrm>
          <a:prstGeom prst="rect">
            <a:avLst/>
          </a:prstGeom>
        </p:spPr>
      </p:pic>
      <p:sp>
        <p:nvSpPr>
          <p:cNvPr id="275" name="TextBox 274"/>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6" name="Picture 275" descr="lock.png"/>
          <p:cNvPicPr>
            <a:picLocks noChangeAspect="1"/>
          </p:cNvPicPr>
          <p:nvPr/>
        </p:nvPicPr>
        <p:blipFill>
          <a:blip r:embed="rId4"/>
          <a:stretch>
            <a:fillRect/>
          </a:stretch>
        </p:blipFill>
        <p:spPr>
          <a:xfrm>
            <a:off x="2922273" y="1839976"/>
            <a:ext cx="128699" cy="187198"/>
          </a:xfrm>
          <a:prstGeom prst="rect">
            <a:avLst/>
          </a:prstGeom>
        </p:spPr>
      </p:pic>
      <p:sp>
        <p:nvSpPr>
          <p:cNvPr id="277" name="TextBox 276"/>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78" name="Picture 277" descr="lock.png"/>
          <p:cNvPicPr>
            <a:picLocks noChangeAspect="1"/>
          </p:cNvPicPr>
          <p:nvPr/>
        </p:nvPicPr>
        <p:blipFill>
          <a:blip r:embed="rId4"/>
          <a:stretch>
            <a:fillRect/>
          </a:stretch>
        </p:blipFill>
        <p:spPr>
          <a:xfrm>
            <a:off x="1377182" y="2697226"/>
            <a:ext cx="128699" cy="187198"/>
          </a:xfrm>
          <a:prstGeom prst="rect">
            <a:avLst/>
          </a:prstGeom>
        </p:spPr>
      </p:pic>
      <p:sp>
        <p:nvSpPr>
          <p:cNvPr id="279" name="TextBox 278"/>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0" name="Picture 279" descr="lock.png"/>
          <p:cNvPicPr>
            <a:picLocks noChangeAspect="1"/>
          </p:cNvPicPr>
          <p:nvPr/>
        </p:nvPicPr>
        <p:blipFill>
          <a:blip r:embed="rId4"/>
          <a:stretch>
            <a:fillRect/>
          </a:stretch>
        </p:blipFill>
        <p:spPr>
          <a:xfrm>
            <a:off x="2922273" y="2697226"/>
            <a:ext cx="128699" cy="187198"/>
          </a:xfrm>
          <a:prstGeom prst="rect">
            <a:avLst/>
          </a:prstGeom>
        </p:spPr>
      </p:pic>
      <p:sp>
        <p:nvSpPr>
          <p:cNvPr id="281" name="TextBox 280"/>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2" name="Picture 281" descr="lock.png"/>
          <p:cNvPicPr>
            <a:picLocks noChangeAspect="1"/>
          </p:cNvPicPr>
          <p:nvPr/>
        </p:nvPicPr>
        <p:blipFill>
          <a:blip r:embed="rId4"/>
          <a:stretch>
            <a:fillRect/>
          </a:stretch>
        </p:blipFill>
        <p:spPr>
          <a:xfrm>
            <a:off x="1377182" y="3554476"/>
            <a:ext cx="128699" cy="187198"/>
          </a:xfrm>
          <a:prstGeom prst="rect">
            <a:avLst/>
          </a:prstGeom>
        </p:spPr>
      </p:pic>
      <p:sp>
        <p:nvSpPr>
          <p:cNvPr id="283" name="TextBox 282"/>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4" name="Picture 283" descr="lock.png"/>
          <p:cNvPicPr>
            <a:picLocks noChangeAspect="1"/>
          </p:cNvPicPr>
          <p:nvPr/>
        </p:nvPicPr>
        <p:blipFill>
          <a:blip r:embed="rId4"/>
          <a:stretch>
            <a:fillRect/>
          </a:stretch>
        </p:blipFill>
        <p:spPr>
          <a:xfrm>
            <a:off x="2922273" y="3554476"/>
            <a:ext cx="128699" cy="187198"/>
          </a:xfrm>
          <a:prstGeom prst="rect">
            <a:avLst/>
          </a:prstGeom>
        </p:spPr>
      </p:pic>
      <p:sp>
        <p:nvSpPr>
          <p:cNvPr id="285" name="TextBox 284"/>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6" name="Picture 285" descr="lock.png"/>
          <p:cNvPicPr>
            <a:picLocks noChangeAspect="1"/>
          </p:cNvPicPr>
          <p:nvPr/>
        </p:nvPicPr>
        <p:blipFill>
          <a:blip r:embed="rId4"/>
          <a:stretch>
            <a:fillRect/>
          </a:stretch>
        </p:blipFill>
        <p:spPr>
          <a:xfrm>
            <a:off x="1377182" y="4411726"/>
            <a:ext cx="128699" cy="187198"/>
          </a:xfrm>
          <a:prstGeom prst="rect">
            <a:avLst/>
          </a:prstGeom>
        </p:spPr>
      </p:pic>
      <p:sp>
        <p:nvSpPr>
          <p:cNvPr id="287" name="TextBox 286"/>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88" name="TextBox 287"/>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89" name="Picture 288" descr="lock.png"/>
          <p:cNvPicPr>
            <a:picLocks noChangeAspect="1"/>
          </p:cNvPicPr>
          <p:nvPr/>
        </p:nvPicPr>
        <p:blipFill>
          <a:blip r:embed="rId4"/>
          <a:stretch>
            <a:fillRect/>
          </a:stretch>
        </p:blipFill>
        <p:spPr>
          <a:xfrm>
            <a:off x="1682883" y="5792851"/>
            <a:ext cx="128699" cy="187198"/>
          </a:xfrm>
          <a:prstGeom prst="rect">
            <a:avLst/>
          </a:prstGeom>
        </p:spPr>
      </p:pic>
      <p:sp>
        <p:nvSpPr>
          <p:cNvPr id="290" name="TextBox 289"/>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1" name="Picture 290" descr="lock.png"/>
          <p:cNvPicPr>
            <a:picLocks noChangeAspect="1"/>
          </p:cNvPicPr>
          <p:nvPr/>
        </p:nvPicPr>
        <p:blipFill>
          <a:blip r:embed="rId4"/>
          <a:stretch>
            <a:fillRect/>
          </a:stretch>
        </p:blipFill>
        <p:spPr>
          <a:xfrm>
            <a:off x="1225147" y="6097651"/>
            <a:ext cx="128699" cy="187198"/>
          </a:xfrm>
          <a:prstGeom prst="rect">
            <a:avLst/>
          </a:prstGeom>
        </p:spPr>
      </p:pic>
      <p:sp>
        <p:nvSpPr>
          <p:cNvPr id="292" name="TextBox 291"/>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3" name="Picture 292" descr="lock.png"/>
          <p:cNvPicPr>
            <a:picLocks noChangeAspect="1"/>
          </p:cNvPicPr>
          <p:nvPr/>
        </p:nvPicPr>
        <p:blipFill>
          <a:blip r:embed="rId4"/>
          <a:stretch>
            <a:fillRect/>
          </a:stretch>
        </p:blipFill>
        <p:spPr>
          <a:xfrm>
            <a:off x="2408983" y="6097651"/>
            <a:ext cx="128699" cy="187198"/>
          </a:xfrm>
          <a:prstGeom prst="rect">
            <a:avLst/>
          </a:prstGeom>
        </p:spPr>
      </p:pic>
      <p:sp>
        <p:nvSpPr>
          <p:cNvPr id="294" name="TextBox 293"/>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5" name="Picture 294" descr="lock.png"/>
          <p:cNvPicPr>
            <a:picLocks noChangeAspect="1"/>
          </p:cNvPicPr>
          <p:nvPr/>
        </p:nvPicPr>
        <p:blipFill>
          <a:blip r:embed="rId4"/>
          <a:stretch>
            <a:fillRect/>
          </a:stretch>
        </p:blipFill>
        <p:spPr>
          <a:xfrm>
            <a:off x="3922150" y="6097651"/>
            <a:ext cx="128699" cy="187198"/>
          </a:xfrm>
          <a:prstGeom prst="rect">
            <a:avLst/>
          </a:prstGeom>
        </p:spPr>
      </p:pic>
      <p:sp>
        <p:nvSpPr>
          <p:cNvPr id="296" name="TextBox 295"/>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297" name="TextBox 296"/>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298" name="Picture 297" descr="lock.png"/>
          <p:cNvPicPr>
            <a:picLocks noChangeAspect="1"/>
          </p:cNvPicPr>
          <p:nvPr/>
        </p:nvPicPr>
        <p:blipFill>
          <a:blip r:embed="rId4"/>
          <a:stretch>
            <a:fillRect/>
          </a:stretch>
        </p:blipFill>
        <p:spPr>
          <a:xfrm>
            <a:off x="6791838" y="5467095"/>
            <a:ext cx="128699" cy="187198"/>
          </a:xfrm>
          <a:prstGeom prst="rect">
            <a:avLst/>
          </a:prstGeom>
        </p:spPr>
      </p:pic>
      <p:sp>
        <p:nvSpPr>
          <p:cNvPr id="299" name="TextBox 298"/>
          <p:cNvSpPr txBox="1"/>
          <p:nvPr/>
        </p:nvSpPr>
        <p:spPr>
          <a:xfrm>
            <a:off x="6959334" y="5476875"/>
            <a:ext cx="4115767"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 1,750 US$ Mn base; CR4 of</a:t>
            </a:r>
          </a:p>
        </p:txBody>
      </p:sp>
      <p:pic>
        <p:nvPicPr>
          <p:cNvPr id="300" name="Picture 299" descr="lock.png"/>
          <p:cNvPicPr>
            <a:picLocks noChangeAspect="1"/>
          </p:cNvPicPr>
          <p:nvPr/>
        </p:nvPicPr>
        <p:blipFill>
          <a:blip r:embed="rId4"/>
          <a:stretch>
            <a:fillRect/>
          </a:stretch>
        </p:blipFill>
        <p:spPr>
          <a:xfrm>
            <a:off x="11023153" y="5467095"/>
            <a:ext cx="128699" cy="187198"/>
          </a:xfrm>
          <a:prstGeom prst="rect">
            <a:avLst/>
          </a:prstGeom>
        </p:spPr>
      </p:pic>
      <p:sp>
        <p:nvSpPr>
          <p:cNvPr id="301" name="TextBox 300"/>
          <p:cNvSpPr txBox="1"/>
          <p:nvPr/>
        </p:nvSpPr>
        <p:spPr>
          <a:xfrm>
            <a:off x="11190649" y="5476875"/>
            <a:ext cx="530770" cy="186689"/>
          </a:xfrm>
          <a:prstGeom prst="rect">
            <a:avLst/>
          </a:prstGeom>
          <a:noFill/>
        </p:spPr>
        <p:txBody>
          <a:bodyPr wrap="none" lIns="0" rIns="0" tIns="0" bIns="0">
            <a:spAutoFit/>
          </a:bodyPr>
          <a:lstStyle/>
          <a:p>
            <a:r>
              <a:rPr sz="1100" b="0">
                <a:solidFill>
                  <a:srgbClr val="14213D"/>
                </a:solidFill>
                <a:latin typeface="Calibri"/>
              </a:rPr>
              <a:t>and HHI</a:t>
            </a:r>
          </a:p>
        </p:txBody>
      </p:sp>
      <p:sp>
        <p:nvSpPr>
          <p:cNvPr id="302" name="TextBox 301"/>
          <p:cNvSpPr txBox="1"/>
          <p:nvPr/>
        </p:nvSpPr>
        <p:spPr>
          <a:xfrm>
            <a:off x="6372225" y="5644515"/>
            <a:ext cx="192434" cy="186689"/>
          </a:xfrm>
          <a:prstGeom prst="rect">
            <a:avLst/>
          </a:prstGeom>
          <a:noFill/>
        </p:spPr>
        <p:txBody>
          <a:bodyPr wrap="none" lIns="0" rIns="0" tIns="0" bIns="0">
            <a:spAutoFit/>
          </a:bodyPr>
          <a:lstStyle/>
          <a:p>
            <a:r>
              <a:rPr sz="1100" b="0">
                <a:solidFill>
                  <a:srgbClr val="14213D"/>
                </a:solidFill>
                <a:latin typeface="Calibri"/>
              </a:rPr>
              <a:t>of</a:t>
            </a:r>
          </a:p>
        </p:txBody>
      </p:sp>
      <p:pic>
        <p:nvPicPr>
          <p:cNvPr id="303" name="Picture 302" descr="lock.png"/>
          <p:cNvPicPr>
            <a:picLocks noChangeAspect="1"/>
          </p:cNvPicPr>
          <p:nvPr/>
        </p:nvPicPr>
        <p:blipFill>
          <a:blip r:embed="rId4"/>
          <a:stretch>
            <a:fillRect/>
          </a:stretch>
        </p:blipFill>
        <p:spPr>
          <a:xfrm>
            <a:off x="6512711" y="5634735"/>
            <a:ext cx="128699" cy="187198"/>
          </a:xfrm>
          <a:prstGeom prst="rect">
            <a:avLst/>
          </a:prstGeom>
        </p:spPr>
      </p:pic>
      <p:sp>
        <p:nvSpPr>
          <p:cNvPr id="304" name="TextBox 303"/>
          <p:cNvSpPr txBox="1"/>
          <p:nvPr/>
        </p:nvSpPr>
        <p:spPr>
          <a:xfrm>
            <a:off x="6680207"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5" name="TextBox 304"/>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06" name="Picture 305" descr="lock.png"/>
          <p:cNvPicPr>
            <a:picLocks noChangeAspect="1"/>
          </p:cNvPicPr>
          <p:nvPr/>
        </p:nvPicPr>
        <p:blipFill>
          <a:blip r:embed="rId4"/>
          <a:stretch>
            <a:fillRect/>
          </a:stretch>
        </p:blipFill>
        <p:spPr>
          <a:xfrm>
            <a:off x="7651320" y="5848095"/>
            <a:ext cx="128699" cy="187198"/>
          </a:xfrm>
          <a:prstGeom prst="rect">
            <a:avLst/>
          </a:prstGeom>
        </p:spPr>
      </p:pic>
      <p:sp>
        <p:nvSpPr>
          <p:cNvPr id="307" name="TextBox 306"/>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08" name="Picture 307" descr="lock.png"/>
          <p:cNvPicPr>
            <a:picLocks noChangeAspect="1"/>
          </p:cNvPicPr>
          <p:nvPr/>
        </p:nvPicPr>
        <p:blipFill>
          <a:blip r:embed="rId4"/>
          <a:stretch>
            <a:fillRect/>
          </a:stretch>
        </p:blipFill>
        <p:spPr>
          <a:xfrm>
            <a:off x="8749737" y="5848095"/>
            <a:ext cx="128699" cy="187198"/>
          </a:xfrm>
          <a:prstGeom prst="rect">
            <a:avLst/>
          </a:prstGeom>
        </p:spPr>
      </p:pic>
      <p:sp>
        <p:nvSpPr>
          <p:cNvPr id="309" name="TextBox 308"/>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0" name="TextBox 309"/>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1" name="Picture 310" descr="lock.png"/>
          <p:cNvPicPr>
            <a:picLocks noChangeAspect="1"/>
          </p:cNvPicPr>
          <p:nvPr/>
        </p:nvPicPr>
        <p:blipFill>
          <a:blip r:embed="rId4"/>
          <a:stretch>
            <a:fillRect/>
          </a:stretch>
        </p:blipFill>
        <p:spPr>
          <a:xfrm>
            <a:off x="8481881" y="6067170"/>
            <a:ext cx="128699" cy="187198"/>
          </a:xfrm>
          <a:prstGeom prst="rect">
            <a:avLst/>
          </a:prstGeom>
        </p:spPr>
      </p:pic>
      <p:sp>
        <p:nvSpPr>
          <p:cNvPr id="312" name="TextBox 311"/>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3" name="Picture 312" descr="lock.png"/>
          <p:cNvPicPr>
            <a:picLocks noChangeAspect="1"/>
          </p:cNvPicPr>
          <p:nvPr/>
        </p:nvPicPr>
        <p:blipFill>
          <a:blip r:embed="rId4"/>
          <a:stretch>
            <a:fillRect/>
          </a:stretch>
        </p:blipFill>
        <p:spPr>
          <a:xfrm>
            <a:off x="10724926" y="6067170"/>
            <a:ext cx="128699" cy="187198"/>
          </a:xfrm>
          <a:prstGeom prst="rect">
            <a:avLst/>
          </a:prstGeom>
        </p:spPr>
      </p:pic>
      <p:sp>
        <p:nvSpPr>
          <p:cNvPr id="314" name="TextBox 313"/>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5" name="TextBox 314"/>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Ceramide Sunscreen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Structure broadly stable</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switching costs (3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pic>
        <p:nvPicPr>
          <p:cNvPr id="135" name="Picture 134" descr="lock.png"/>
          <p:cNvPicPr>
            <a:picLocks noChangeAspect="1"/>
          </p:cNvPicPr>
          <p:nvPr/>
        </p:nvPicPr>
        <p:blipFill>
          <a:blip r:embed="rId4"/>
          <a:stretch>
            <a:fillRect/>
          </a:stretch>
        </p:blipFill>
        <p:spPr>
          <a:xfrm>
            <a:off x="4279050" y="422598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463556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04513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5454713"/>
            <a:ext cx="128699" cy="187198"/>
          </a:xfrm>
          <a:prstGeom prst="rect">
            <a:avLst/>
          </a:prstGeom>
        </p:spPr>
      </p:pic>
      <p:pic>
        <p:nvPicPr>
          <p:cNvPr id="139" name="Picture 138" descr="lock.png"/>
          <p:cNvPicPr>
            <a:picLocks noChangeAspect="1"/>
          </p:cNvPicPr>
          <p:nvPr/>
        </p:nvPicPr>
        <p:blipFill>
          <a:blip r:embed="rId4"/>
          <a:stretch>
            <a:fillRect/>
          </a:stretch>
        </p:blipFill>
        <p:spPr>
          <a:xfrm>
            <a:off x="4279050" y="5864288"/>
            <a:ext cx="128699" cy="187198"/>
          </a:xfrm>
          <a:prstGeom prst="rect">
            <a:avLst/>
          </a:prstGeom>
        </p:spPr>
      </p:pic>
      <p:pic>
        <p:nvPicPr>
          <p:cNvPr id="140" name="Picture 139" descr="lock.png"/>
          <p:cNvPicPr>
            <a:picLocks noChangeAspect="1"/>
          </p:cNvPicPr>
          <p:nvPr/>
        </p:nvPicPr>
        <p:blipFill>
          <a:blip r:embed="rId4"/>
          <a:stretch>
            <a:fillRect/>
          </a:stretch>
        </p:blipFill>
        <p:spPr>
          <a:xfrm>
            <a:off x="4279050" y="6273863"/>
            <a:ext cx="128699" cy="187198"/>
          </a:xfrm>
          <a:prstGeom prst="rect">
            <a:avLst/>
          </a:prstGeom>
        </p:spPr>
      </p:pic>
      <p:sp>
        <p:nvSpPr>
          <p:cNvPr id="141" name="TextBox 140"/>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2" name="Picture 141" descr="lock.png"/>
          <p:cNvPicPr>
            <a:picLocks noChangeAspect="1"/>
          </p:cNvPicPr>
          <p:nvPr/>
        </p:nvPicPr>
        <p:blipFill>
          <a:blip r:embed="rId4"/>
          <a:stretch>
            <a:fillRect/>
          </a:stretch>
        </p:blipFill>
        <p:spPr>
          <a:xfrm>
            <a:off x="1424204" y="1860931"/>
            <a:ext cx="128699" cy="187198"/>
          </a:xfrm>
          <a:prstGeom prst="rect">
            <a:avLst/>
          </a:prstGeom>
        </p:spPr>
      </p:pic>
      <p:sp>
        <p:nvSpPr>
          <p:cNvPr id="143" name="TextBox 142"/>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4" name="Picture 143" descr="lock.png"/>
          <p:cNvPicPr>
            <a:picLocks noChangeAspect="1"/>
          </p:cNvPicPr>
          <p:nvPr/>
        </p:nvPicPr>
        <p:blipFill>
          <a:blip r:embed="rId4"/>
          <a:stretch>
            <a:fillRect/>
          </a:stretch>
        </p:blipFill>
        <p:spPr>
          <a:xfrm>
            <a:off x="1742554" y="1860931"/>
            <a:ext cx="128699" cy="187198"/>
          </a:xfrm>
          <a:prstGeom prst="rect">
            <a:avLst/>
          </a:prstGeom>
        </p:spPr>
      </p:pic>
      <p:sp>
        <p:nvSpPr>
          <p:cNvPr id="145" name="TextBox 144"/>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6" name="TextBox 145"/>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7" name="Picture 146" descr="lock.png"/>
          <p:cNvPicPr>
            <a:picLocks noChangeAspect="1"/>
          </p:cNvPicPr>
          <p:nvPr/>
        </p:nvPicPr>
        <p:blipFill>
          <a:blip r:embed="rId4"/>
          <a:stretch>
            <a:fillRect/>
          </a:stretch>
        </p:blipFill>
        <p:spPr>
          <a:xfrm>
            <a:off x="4681754" y="1860931"/>
            <a:ext cx="128699" cy="187198"/>
          </a:xfrm>
          <a:prstGeom prst="rect">
            <a:avLst/>
          </a:prstGeom>
        </p:spPr>
      </p:pic>
      <p:sp>
        <p:nvSpPr>
          <p:cNvPr id="148" name="TextBox 147"/>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9" name="Picture 148" descr="lock.png"/>
          <p:cNvPicPr>
            <a:picLocks noChangeAspect="1"/>
          </p:cNvPicPr>
          <p:nvPr/>
        </p:nvPicPr>
        <p:blipFill>
          <a:blip r:embed="rId4"/>
          <a:stretch>
            <a:fillRect/>
          </a:stretch>
        </p:blipFill>
        <p:spPr>
          <a:xfrm>
            <a:off x="5000104" y="1860931"/>
            <a:ext cx="128699" cy="187198"/>
          </a:xfrm>
          <a:prstGeom prst="rect">
            <a:avLst/>
          </a:prstGeom>
        </p:spPr>
      </p:pic>
      <p:sp>
        <p:nvSpPr>
          <p:cNvPr id="150" name="TextBox 149"/>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1" name="TextBox 150"/>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52" name="Picture 151" descr="lock.png"/>
          <p:cNvPicPr>
            <a:picLocks noChangeAspect="1"/>
          </p:cNvPicPr>
          <p:nvPr/>
        </p:nvPicPr>
        <p:blipFill>
          <a:blip r:embed="rId4"/>
          <a:stretch>
            <a:fillRect/>
          </a:stretch>
        </p:blipFill>
        <p:spPr>
          <a:xfrm>
            <a:off x="7939304" y="1860931"/>
            <a:ext cx="128699" cy="187198"/>
          </a:xfrm>
          <a:prstGeom prst="rect">
            <a:avLst/>
          </a:prstGeom>
        </p:spPr>
      </p:pic>
      <p:sp>
        <p:nvSpPr>
          <p:cNvPr id="153" name="TextBox 152"/>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4" name="Picture 153" descr="lock.png"/>
          <p:cNvPicPr>
            <a:picLocks noChangeAspect="1"/>
          </p:cNvPicPr>
          <p:nvPr/>
        </p:nvPicPr>
        <p:blipFill>
          <a:blip r:embed="rId4"/>
          <a:stretch>
            <a:fillRect/>
          </a:stretch>
        </p:blipFill>
        <p:spPr>
          <a:xfrm>
            <a:off x="8257654" y="1860931"/>
            <a:ext cx="128699" cy="187198"/>
          </a:xfrm>
          <a:prstGeom prst="rect">
            <a:avLst/>
          </a:prstGeom>
        </p:spPr>
      </p:pic>
      <p:sp>
        <p:nvSpPr>
          <p:cNvPr id="155" name="TextBox 154"/>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6" name="TextBox 155"/>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7" name="Picture 156" descr="lock.png"/>
          <p:cNvPicPr>
            <a:picLocks noChangeAspect="1"/>
          </p:cNvPicPr>
          <p:nvPr/>
        </p:nvPicPr>
        <p:blipFill>
          <a:blip r:embed="rId4"/>
          <a:stretch>
            <a:fillRect/>
          </a:stretch>
        </p:blipFill>
        <p:spPr>
          <a:xfrm>
            <a:off x="10872946" y="1944751"/>
            <a:ext cx="128699" cy="187198"/>
          </a:xfrm>
          <a:prstGeom prst="rect">
            <a:avLst/>
          </a:prstGeom>
        </p:spPr>
      </p:pic>
      <p:sp>
        <p:nvSpPr>
          <p:cNvPr id="158" name="TextBox 157"/>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9" name="Picture 158" descr="lock.png"/>
          <p:cNvPicPr>
            <a:picLocks noChangeAspect="1"/>
          </p:cNvPicPr>
          <p:nvPr/>
        </p:nvPicPr>
        <p:blipFill>
          <a:blip r:embed="rId4"/>
          <a:stretch>
            <a:fillRect/>
          </a:stretch>
        </p:blipFill>
        <p:spPr>
          <a:xfrm>
            <a:off x="11191297" y="1944751"/>
            <a:ext cx="128699" cy="187198"/>
          </a:xfrm>
          <a:prstGeom prst="rect">
            <a:avLst/>
          </a:prstGeom>
        </p:spPr>
      </p:pic>
      <p:sp>
        <p:nvSpPr>
          <p:cNvPr id="160" name="TextBox 159"/>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61" name="TextBox 160"/>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2" name="Picture 161" descr="lock.png"/>
          <p:cNvPicPr>
            <a:picLocks noChangeAspect="1"/>
          </p:cNvPicPr>
          <p:nvPr/>
        </p:nvPicPr>
        <p:blipFill>
          <a:blip r:embed="rId4"/>
          <a:stretch>
            <a:fillRect/>
          </a:stretch>
        </p:blipFill>
        <p:spPr>
          <a:xfrm>
            <a:off x="9434331" y="3847846"/>
            <a:ext cx="128699" cy="187198"/>
          </a:xfrm>
          <a:prstGeom prst="rect">
            <a:avLst/>
          </a:prstGeom>
        </p:spPr>
      </p:pic>
      <p:sp>
        <p:nvSpPr>
          <p:cNvPr id="163" name="TextBox 162"/>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4" name="TextBox 163"/>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5" name="Picture 164" descr="lock.png"/>
          <p:cNvPicPr>
            <a:picLocks noChangeAspect="1"/>
          </p:cNvPicPr>
          <p:nvPr/>
        </p:nvPicPr>
        <p:blipFill>
          <a:blip r:embed="rId4"/>
          <a:stretch>
            <a:fillRect/>
          </a:stretch>
        </p:blipFill>
        <p:spPr>
          <a:xfrm>
            <a:off x="9730921" y="4015486"/>
            <a:ext cx="128699" cy="187198"/>
          </a:xfrm>
          <a:prstGeom prst="rect">
            <a:avLst/>
          </a:prstGeom>
        </p:spPr>
      </p:pic>
      <p:sp>
        <p:nvSpPr>
          <p:cNvPr id="166" name="TextBox 165"/>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7" name="TextBox 166"/>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8" name="Picture 167" descr="lock.png"/>
          <p:cNvPicPr>
            <a:picLocks noChangeAspect="1"/>
          </p:cNvPicPr>
          <p:nvPr/>
        </p:nvPicPr>
        <p:blipFill>
          <a:blip r:embed="rId4"/>
          <a:stretch>
            <a:fillRect/>
          </a:stretch>
        </p:blipFill>
        <p:spPr>
          <a:xfrm>
            <a:off x="11077170" y="5009895"/>
            <a:ext cx="128699" cy="187198"/>
          </a:xfrm>
          <a:prstGeom prst="rect">
            <a:avLst/>
          </a:prstGeom>
        </p:spPr>
      </p:pic>
      <p:sp>
        <p:nvSpPr>
          <p:cNvPr id="169" name="TextBox 168"/>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70" name="TextBox 169"/>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Ceramide Sunscreen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6" name="TextBox 35"/>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7" name="TextBox 36"/>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8" name="TextBox 37"/>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9" name="TextBox 38"/>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40" name="TextBox 39"/>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41" name="TextBox 40"/>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2" name="TextBox 41"/>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L'Oréal S.A.</a:t>
            </a:r>
          </a:p>
        </p:txBody>
      </p:sp>
      <p:cxnSp>
        <p:nvCxnSpPr>
          <p:cNvPr id="43" name="Connector 42"/>
          <p:cNvCxnSpPr/>
          <p:nvPr/>
        </p:nvCxnSpPr>
        <p:spPr>
          <a:xfrm>
            <a:off x="16049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5" name="TextBox 44"/>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6" name="TextBox 45"/>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7" name="Rectangle 46"/>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1" name="TextBox 50"/>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2" name="Oval 51"/>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6" name="TextBox 55"/>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7" name="Oval 56"/>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9" name="Oval 58"/>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61" name="Oval 60"/>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3" name="Oval 62"/>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5" name="Oval 64"/>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7" name="Oval 66"/>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9" name="Oval 68"/>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71" name="TextBox 70"/>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 Profile</a:t>
            </a:r>
          </a:p>
        </p:txBody>
      </p:sp>
      <p:cxnSp>
        <p:nvCxnSpPr>
          <p:cNvPr id="72" name="Connector 71"/>
          <p:cNvCxnSpPr/>
          <p:nvPr/>
        </p:nvCxnSpPr>
        <p:spPr>
          <a:xfrm>
            <a:off x="26812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4" name="TextBox 73"/>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5" name="TextBox 74"/>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6" name="Rectangle 75"/>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0" name="TextBox 79"/>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1" name="Oval 80"/>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5" name="TextBox 84"/>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6" name="Oval 85"/>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8" name="Oval 87"/>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90" name="Oval 89"/>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2" name="Oval 91"/>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4" name="Oval 93"/>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6" name="Oval 95"/>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8" name="Oval 97"/>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00" name="TextBox 99"/>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Profile Element</a:t>
            </a:r>
          </a:p>
        </p:txBody>
      </p:sp>
      <p:cxnSp>
        <p:nvCxnSpPr>
          <p:cNvPr id="101" name="Connector 100"/>
          <p:cNvCxnSpPr/>
          <p:nvPr/>
        </p:nvCxnSpPr>
        <p:spPr>
          <a:xfrm>
            <a:off x="37576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3" name="TextBox 102"/>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4" name="TextBox 103"/>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5" name="Rectangle 104"/>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9" name="TextBox 108"/>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10" name="Oval 109"/>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4" name="TextBox 113"/>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5" name="Oval 114"/>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7" name="Oval 116"/>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9" name="Oval 118"/>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21" name="Oval 120"/>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3" name="Oval 122"/>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5" name="Oval 124"/>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7" name="Oval 126"/>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9" name="TextBox 128"/>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Overview</a:t>
            </a:r>
          </a:p>
        </p:txBody>
      </p:sp>
      <p:cxnSp>
        <p:nvCxnSpPr>
          <p:cNvPr id="130" name="Connector 129"/>
          <p:cNvCxnSpPr/>
          <p:nvPr/>
        </p:nvCxnSpPr>
        <p:spPr>
          <a:xfrm>
            <a:off x="48339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2" name="TextBox 131"/>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3" name="TextBox 132"/>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4" name="Rectangle 133"/>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8" name="TextBox 137"/>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9" name="Oval 138"/>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3" name="TextBox 142"/>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44" name="Oval 143"/>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6" name="Oval 145"/>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8" name="Oval 147"/>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50" name="Oval 149"/>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2" name="Oval 151"/>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4" name="Oval 153"/>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6" name="Oval 155"/>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8" name="TextBox 157"/>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Product Portfolio</a:t>
            </a:r>
          </a:p>
        </p:txBody>
      </p:sp>
      <p:cxnSp>
        <p:nvCxnSpPr>
          <p:cNvPr id="159" name="Connector 158"/>
          <p:cNvCxnSpPr/>
          <p:nvPr/>
        </p:nvCxnSpPr>
        <p:spPr>
          <a:xfrm>
            <a:off x="59102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61" name="TextBox 160"/>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2" name="TextBox 161"/>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3" name="Rectangle 162"/>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7" name="TextBox 166"/>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8" name="Oval 167"/>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2" name="TextBox 171"/>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3" name="Oval 172"/>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5" name="Oval 174"/>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7" name="Oval 176"/>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9" name="Oval 178"/>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81" name="Oval 180"/>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3" name="Oval 182"/>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5" name="Oval 184"/>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7" name="TextBox 186"/>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Market Segments — Product Sales</a:t>
            </a:r>
          </a:p>
        </p:txBody>
      </p:sp>
      <p:cxnSp>
        <p:nvCxnSpPr>
          <p:cNvPr id="188" name="Connector 187"/>
          <p:cNvCxnSpPr/>
          <p:nvPr/>
        </p:nvCxnSpPr>
        <p:spPr>
          <a:xfrm>
            <a:off x="69865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90" name="TextBox 189"/>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1" name="TextBox 190"/>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2" name="Rectangle 191"/>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6" name="TextBox 195"/>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7" name="Oval 196"/>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01" name="TextBox 200"/>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202" name="Oval 201"/>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4" name="Oval 203"/>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6" name="Oval 205"/>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8" name="Oval 207"/>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10" name="Oval 209"/>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2" name="Oval 211"/>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4" name="Oval 213"/>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6" name="TextBox 215"/>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Market Segments — Channel Sales</a:t>
            </a:r>
          </a:p>
        </p:txBody>
      </p:sp>
      <p:cxnSp>
        <p:nvCxnSpPr>
          <p:cNvPr id="217" name="Connector 216"/>
          <p:cNvCxnSpPr/>
          <p:nvPr/>
        </p:nvCxnSpPr>
        <p:spPr>
          <a:xfrm>
            <a:off x="80629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9" name="TextBox 218"/>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20" name="TextBox 219"/>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21" name="Rectangle 220"/>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5" name="TextBox 224"/>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6" name="Oval 225"/>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Freeform 226"/>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30" name="TextBox 229"/>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31" name="Oval 230"/>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3" name="Oval 232"/>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5" name="Oval 234"/>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7" name="Oval 236"/>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9" name="Oval 238"/>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41" name="Oval 240"/>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3" name="Oval 242"/>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5" name="TextBox 244"/>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Market Segments — Regional Sales</a:t>
            </a:r>
          </a:p>
        </p:txBody>
      </p:sp>
      <p:cxnSp>
        <p:nvCxnSpPr>
          <p:cNvPr id="246" name="Connector 245"/>
          <p:cNvCxnSpPr/>
          <p:nvPr/>
        </p:nvCxnSpPr>
        <p:spPr>
          <a:xfrm>
            <a:off x="91392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8" name="TextBox 247"/>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9" name="TextBox 248"/>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50" name="Rectangle 249"/>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4" name="TextBox 253"/>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5" name="Oval 254"/>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Freeform 255"/>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9" name="TextBox 258"/>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60" name="Oval 259"/>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2" name="Oval 261"/>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4" name="Oval 263"/>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6" name="Oval 265"/>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8" name="Oval 267"/>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70" name="Oval 269"/>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2" name="Oval 271"/>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4" name="TextBox 273"/>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Sales Footprint</a:t>
            </a:r>
          </a:p>
        </p:txBody>
      </p:sp>
      <p:cxnSp>
        <p:nvCxnSpPr>
          <p:cNvPr id="275" name="Connector 274"/>
          <p:cNvCxnSpPr/>
          <p:nvPr/>
        </p:nvCxnSpPr>
        <p:spPr>
          <a:xfrm>
            <a:off x="102155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7" name="TextBox 276"/>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8" name="TextBox 277"/>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9" name="Rectangle 278"/>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3" name="TextBox 282"/>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4" name="Oval 283"/>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Freeform 284"/>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88" name="TextBox 287"/>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9" name="Oval 288"/>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1" name="Oval 290"/>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3" name="Oval 292"/>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5" name="Oval 294"/>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7" name="Oval 296"/>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9" name="Oval 298"/>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1" name="Oval 300"/>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3" name="TextBox 302"/>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Strategy Overview</a:t>
            </a:r>
          </a:p>
        </p:txBody>
      </p:sp>
      <p:cxnSp>
        <p:nvCxnSpPr>
          <p:cNvPr id="304" name="Connector 303"/>
          <p:cNvCxnSpPr/>
          <p:nvPr/>
        </p:nvCxnSpPr>
        <p:spPr>
          <a:xfrm>
            <a:off x="112918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6" name="TextBox 305"/>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7" name="TextBox 306"/>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8" name="Rectangle 307"/>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2" name="TextBox 311"/>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3" name="Oval 312"/>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Freeform 313"/>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317" name="TextBox 316"/>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8" name="Oval 317"/>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20" name="Oval 319"/>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22" name="Oval 321"/>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4" name="Oval 323"/>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6" name="Oval 325"/>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8" name="Oval 327"/>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30" name="Oval 329"/>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32" name="TextBox 33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3" name="Rectangle 33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535906" y="5716715"/>
            <a:ext cx="1719262" cy="164283"/>
          </a:xfrm>
          <a:prstGeom prst="rect">
            <a:avLst/>
          </a:prstGeom>
          <a:noFill/>
        </p:spPr>
        <p:txBody>
          <a:bodyPr wrap="square" lIns="0" rIns="0" tIns="0" bIns="0" anchor="ctr">
            <a:spAutoFit/>
          </a:bodyPr>
          <a:lstStyle/>
          <a:p>
            <a:pPr algn="l"/>
            <a:r>
              <a:rPr sz="1100" b="0">
                <a:solidFill>
                  <a:srgbClr val="2E2E2E"/>
                </a:solidFill>
                <a:latin typeface="Calibri"/>
              </a:rPr>
              <a:t>Mineral Ceramide Sunscreen</a:t>
            </a:r>
          </a:p>
        </p:txBody>
      </p:sp>
      <p:sp>
        <p:nvSpPr>
          <p:cNvPr id="335" name="Rectangle 334"/>
          <p:cNvSpPr/>
          <p:nvPr/>
        </p:nvSpPr>
        <p:spPr>
          <a:xfrm>
            <a:off x="3312319"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3464719" y="5716715"/>
            <a:ext cx="1657350" cy="164283"/>
          </a:xfrm>
          <a:prstGeom prst="rect">
            <a:avLst/>
          </a:prstGeom>
          <a:noFill/>
        </p:spPr>
        <p:txBody>
          <a:bodyPr wrap="square" lIns="0" rIns="0" tIns="0" bIns="0" anchor="ctr">
            <a:spAutoFit/>
          </a:bodyPr>
          <a:lstStyle/>
          <a:p>
            <a:pPr algn="l"/>
            <a:r>
              <a:rPr sz="1100" b="0">
                <a:solidFill>
                  <a:srgbClr val="2E2E2E"/>
                </a:solidFill>
                <a:latin typeface="Calibri"/>
              </a:rPr>
              <a:t>Hybrid Ceramide Sunscreen</a:t>
            </a:r>
          </a:p>
        </p:txBody>
      </p:sp>
      <p:sp>
        <p:nvSpPr>
          <p:cNvPr id="337" name="Rectangle 336"/>
          <p:cNvSpPr/>
          <p:nvPr/>
        </p:nvSpPr>
        <p:spPr>
          <a:xfrm>
            <a:off x="5179219"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5331619" y="5716715"/>
            <a:ext cx="1795462" cy="164283"/>
          </a:xfrm>
          <a:prstGeom prst="rect">
            <a:avLst/>
          </a:prstGeom>
          <a:noFill/>
        </p:spPr>
        <p:txBody>
          <a:bodyPr wrap="square" lIns="0" rIns="0" tIns="0" bIns="0" anchor="ctr">
            <a:spAutoFit/>
          </a:bodyPr>
          <a:lstStyle/>
          <a:p>
            <a:pPr algn="l"/>
            <a:r>
              <a:rPr sz="1100" b="0">
                <a:solidFill>
                  <a:srgbClr val="2E2E2E"/>
                </a:solidFill>
                <a:latin typeface="Calibri"/>
              </a:rPr>
              <a:t>Chemical Ceramide Sunscreen</a:t>
            </a:r>
          </a:p>
        </p:txBody>
      </p:sp>
      <p:sp>
        <p:nvSpPr>
          <p:cNvPr id="339" name="Rectangle 338"/>
          <p:cNvSpPr/>
          <p:nvPr/>
        </p:nvSpPr>
        <p:spPr>
          <a:xfrm>
            <a:off x="7184231"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7336631"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41" name="TextBox 340"/>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42" name="TextBox 341"/>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3" name="TextBox 342"/>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4" name="TextBox 343"/>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5" name="TextBox 344"/>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6" name="TextBox 345"/>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7" name="TextBox 346"/>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8" name="TextBox 347"/>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9" name="TextBox 348"/>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50" name="TextBox 349"/>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51" name="TextBox 350"/>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52" name="Oval 35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4" name="TextBox 353"/>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5" name="Oval 35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7" name="TextBox 356"/>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8" name="Oval 35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60" name="TextBox 359"/>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61" name="Oval 36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3" name="TextBox 362"/>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4" name="Oval 36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6" name="TextBox 365"/>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7" name="Oval 36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9" name="TextBox 368"/>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70" name="Oval 36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72" name="TextBox 371"/>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3" name="TextBox 372"/>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4" name="TextBox 373"/>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5" name="TextBox 3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6" name="Picture 375" descr="lock.png"/>
          <p:cNvPicPr>
            <a:picLocks noChangeAspect="1"/>
          </p:cNvPicPr>
          <p:nvPr/>
        </p:nvPicPr>
        <p:blipFill>
          <a:blip r:embed="rId4"/>
          <a:stretch>
            <a:fillRect/>
          </a:stretch>
        </p:blipFill>
        <p:spPr>
          <a:xfrm>
            <a:off x="1769213" y="2702524"/>
            <a:ext cx="128699" cy="187198"/>
          </a:xfrm>
          <a:prstGeom prst="rect">
            <a:avLst/>
          </a:prstGeom>
        </p:spPr>
      </p:pic>
      <p:pic>
        <p:nvPicPr>
          <p:cNvPr id="377" name="Picture 376" descr="lock.png"/>
          <p:cNvPicPr>
            <a:picLocks noChangeAspect="1"/>
          </p:cNvPicPr>
          <p:nvPr/>
        </p:nvPicPr>
        <p:blipFill>
          <a:blip r:embed="rId4"/>
          <a:stretch>
            <a:fillRect/>
          </a:stretch>
        </p:blipFill>
        <p:spPr>
          <a:xfrm>
            <a:off x="1769213" y="3031091"/>
            <a:ext cx="128699" cy="187198"/>
          </a:xfrm>
          <a:prstGeom prst="rect">
            <a:avLst/>
          </a:prstGeom>
        </p:spPr>
      </p:pic>
      <p:pic>
        <p:nvPicPr>
          <p:cNvPr id="378" name="Picture 377" descr="lock.png"/>
          <p:cNvPicPr>
            <a:picLocks noChangeAspect="1"/>
          </p:cNvPicPr>
          <p:nvPr/>
        </p:nvPicPr>
        <p:blipFill>
          <a:blip r:embed="rId4"/>
          <a:stretch>
            <a:fillRect/>
          </a:stretch>
        </p:blipFill>
        <p:spPr>
          <a:xfrm>
            <a:off x="1769212" y="3560448"/>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2702524"/>
            <a:ext cx="128699" cy="187198"/>
          </a:xfrm>
          <a:prstGeom prst="rect">
            <a:avLst/>
          </a:prstGeom>
        </p:spPr>
      </p:pic>
      <p:pic>
        <p:nvPicPr>
          <p:cNvPr id="380" name="Picture 379" descr="lock.png"/>
          <p:cNvPicPr>
            <a:picLocks noChangeAspect="1"/>
          </p:cNvPicPr>
          <p:nvPr/>
        </p:nvPicPr>
        <p:blipFill>
          <a:blip r:embed="rId4"/>
          <a:stretch>
            <a:fillRect/>
          </a:stretch>
        </p:blipFill>
        <p:spPr>
          <a:xfrm>
            <a:off x="2845538" y="3031091"/>
            <a:ext cx="128699" cy="187198"/>
          </a:xfrm>
          <a:prstGeom prst="rect">
            <a:avLst/>
          </a:prstGeom>
        </p:spPr>
      </p:pic>
      <p:pic>
        <p:nvPicPr>
          <p:cNvPr id="381" name="Picture 380" descr="lock.png"/>
          <p:cNvPicPr>
            <a:picLocks noChangeAspect="1"/>
          </p:cNvPicPr>
          <p:nvPr/>
        </p:nvPicPr>
        <p:blipFill>
          <a:blip r:embed="rId4"/>
          <a:stretch>
            <a:fillRect/>
          </a:stretch>
        </p:blipFill>
        <p:spPr>
          <a:xfrm>
            <a:off x="2845538" y="3560448"/>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3" y="2702524"/>
            <a:ext cx="128699" cy="187198"/>
          </a:xfrm>
          <a:prstGeom prst="rect">
            <a:avLst/>
          </a:prstGeom>
        </p:spPr>
      </p:pic>
      <p:pic>
        <p:nvPicPr>
          <p:cNvPr id="383" name="Picture 382" descr="lock.png"/>
          <p:cNvPicPr>
            <a:picLocks noChangeAspect="1"/>
          </p:cNvPicPr>
          <p:nvPr/>
        </p:nvPicPr>
        <p:blipFill>
          <a:blip r:embed="rId4"/>
          <a:stretch>
            <a:fillRect/>
          </a:stretch>
        </p:blipFill>
        <p:spPr>
          <a:xfrm>
            <a:off x="3921863" y="3031091"/>
            <a:ext cx="128699" cy="187198"/>
          </a:xfrm>
          <a:prstGeom prst="rect">
            <a:avLst/>
          </a:prstGeom>
        </p:spPr>
      </p:pic>
      <p:pic>
        <p:nvPicPr>
          <p:cNvPr id="384" name="Picture 383" descr="lock.png"/>
          <p:cNvPicPr>
            <a:picLocks noChangeAspect="1"/>
          </p:cNvPicPr>
          <p:nvPr/>
        </p:nvPicPr>
        <p:blipFill>
          <a:blip r:embed="rId4"/>
          <a:stretch>
            <a:fillRect/>
          </a:stretch>
        </p:blipFill>
        <p:spPr>
          <a:xfrm>
            <a:off x="3921862" y="3560448"/>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2702524"/>
            <a:ext cx="128699" cy="187198"/>
          </a:xfrm>
          <a:prstGeom prst="rect">
            <a:avLst/>
          </a:prstGeom>
        </p:spPr>
      </p:pic>
      <p:pic>
        <p:nvPicPr>
          <p:cNvPr id="386" name="Picture 385" descr="lock.png"/>
          <p:cNvPicPr>
            <a:picLocks noChangeAspect="1"/>
          </p:cNvPicPr>
          <p:nvPr/>
        </p:nvPicPr>
        <p:blipFill>
          <a:blip r:embed="rId4"/>
          <a:stretch>
            <a:fillRect/>
          </a:stretch>
        </p:blipFill>
        <p:spPr>
          <a:xfrm>
            <a:off x="4998188" y="3031091"/>
            <a:ext cx="128699" cy="187198"/>
          </a:xfrm>
          <a:prstGeom prst="rect">
            <a:avLst/>
          </a:prstGeom>
        </p:spPr>
      </p:pic>
      <p:pic>
        <p:nvPicPr>
          <p:cNvPr id="387" name="Picture 386" descr="lock.png"/>
          <p:cNvPicPr>
            <a:picLocks noChangeAspect="1"/>
          </p:cNvPicPr>
          <p:nvPr/>
        </p:nvPicPr>
        <p:blipFill>
          <a:blip r:embed="rId4"/>
          <a:stretch>
            <a:fillRect/>
          </a:stretch>
        </p:blipFill>
        <p:spPr>
          <a:xfrm>
            <a:off x="4998188" y="3560448"/>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3" y="2702524"/>
            <a:ext cx="128699" cy="187198"/>
          </a:xfrm>
          <a:prstGeom prst="rect">
            <a:avLst/>
          </a:prstGeom>
        </p:spPr>
      </p:pic>
      <p:pic>
        <p:nvPicPr>
          <p:cNvPr id="389" name="Picture 388" descr="lock.png"/>
          <p:cNvPicPr>
            <a:picLocks noChangeAspect="1"/>
          </p:cNvPicPr>
          <p:nvPr/>
        </p:nvPicPr>
        <p:blipFill>
          <a:blip r:embed="rId4"/>
          <a:stretch>
            <a:fillRect/>
          </a:stretch>
        </p:blipFill>
        <p:spPr>
          <a:xfrm>
            <a:off x="6074513" y="3031091"/>
            <a:ext cx="128699" cy="187198"/>
          </a:xfrm>
          <a:prstGeom prst="rect">
            <a:avLst/>
          </a:prstGeom>
        </p:spPr>
      </p:pic>
      <p:pic>
        <p:nvPicPr>
          <p:cNvPr id="390" name="Picture 389" descr="lock.png"/>
          <p:cNvPicPr>
            <a:picLocks noChangeAspect="1"/>
          </p:cNvPicPr>
          <p:nvPr/>
        </p:nvPicPr>
        <p:blipFill>
          <a:blip r:embed="rId4"/>
          <a:stretch>
            <a:fillRect/>
          </a:stretch>
        </p:blipFill>
        <p:spPr>
          <a:xfrm>
            <a:off x="6074512" y="3560448"/>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2702524"/>
            <a:ext cx="128699" cy="187198"/>
          </a:xfrm>
          <a:prstGeom prst="rect">
            <a:avLst/>
          </a:prstGeom>
        </p:spPr>
      </p:pic>
      <p:pic>
        <p:nvPicPr>
          <p:cNvPr id="392" name="Picture 391" descr="lock.png"/>
          <p:cNvPicPr>
            <a:picLocks noChangeAspect="1"/>
          </p:cNvPicPr>
          <p:nvPr/>
        </p:nvPicPr>
        <p:blipFill>
          <a:blip r:embed="rId4"/>
          <a:stretch>
            <a:fillRect/>
          </a:stretch>
        </p:blipFill>
        <p:spPr>
          <a:xfrm>
            <a:off x="7150838" y="3031091"/>
            <a:ext cx="128699" cy="187198"/>
          </a:xfrm>
          <a:prstGeom prst="rect">
            <a:avLst/>
          </a:prstGeom>
        </p:spPr>
      </p:pic>
      <p:pic>
        <p:nvPicPr>
          <p:cNvPr id="393" name="Picture 392" descr="lock.png"/>
          <p:cNvPicPr>
            <a:picLocks noChangeAspect="1"/>
          </p:cNvPicPr>
          <p:nvPr/>
        </p:nvPicPr>
        <p:blipFill>
          <a:blip r:embed="rId4"/>
          <a:stretch>
            <a:fillRect/>
          </a:stretch>
        </p:blipFill>
        <p:spPr>
          <a:xfrm>
            <a:off x="7150838" y="3560448"/>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3" y="2702524"/>
            <a:ext cx="128699" cy="187198"/>
          </a:xfrm>
          <a:prstGeom prst="rect">
            <a:avLst/>
          </a:prstGeom>
        </p:spPr>
      </p:pic>
      <p:pic>
        <p:nvPicPr>
          <p:cNvPr id="395" name="Picture 394" descr="lock.png"/>
          <p:cNvPicPr>
            <a:picLocks noChangeAspect="1"/>
          </p:cNvPicPr>
          <p:nvPr/>
        </p:nvPicPr>
        <p:blipFill>
          <a:blip r:embed="rId4"/>
          <a:stretch>
            <a:fillRect/>
          </a:stretch>
        </p:blipFill>
        <p:spPr>
          <a:xfrm>
            <a:off x="8227163" y="3031091"/>
            <a:ext cx="128699" cy="187198"/>
          </a:xfrm>
          <a:prstGeom prst="rect">
            <a:avLst/>
          </a:prstGeom>
        </p:spPr>
      </p:pic>
      <p:pic>
        <p:nvPicPr>
          <p:cNvPr id="396" name="Picture 395" descr="lock.png"/>
          <p:cNvPicPr>
            <a:picLocks noChangeAspect="1"/>
          </p:cNvPicPr>
          <p:nvPr/>
        </p:nvPicPr>
        <p:blipFill>
          <a:blip r:embed="rId4"/>
          <a:stretch>
            <a:fillRect/>
          </a:stretch>
        </p:blipFill>
        <p:spPr>
          <a:xfrm>
            <a:off x="8227162" y="3560448"/>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2702524"/>
            <a:ext cx="128699" cy="187198"/>
          </a:xfrm>
          <a:prstGeom prst="rect">
            <a:avLst/>
          </a:prstGeom>
        </p:spPr>
      </p:pic>
      <p:pic>
        <p:nvPicPr>
          <p:cNvPr id="398" name="Picture 397" descr="lock.png"/>
          <p:cNvPicPr>
            <a:picLocks noChangeAspect="1"/>
          </p:cNvPicPr>
          <p:nvPr/>
        </p:nvPicPr>
        <p:blipFill>
          <a:blip r:embed="rId4"/>
          <a:stretch>
            <a:fillRect/>
          </a:stretch>
        </p:blipFill>
        <p:spPr>
          <a:xfrm>
            <a:off x="9303488" y="3031091"/>
            <a:ext cx="128699" cy="187198"/>
          </a:xfrm>
          <a:prstGeom prst="rect">
            <a:avLst/>
          </a:prstGeom>
        </p:spPr>
      </p:pic>
      <p:pic>
        <p:nvPicPr>
          <p:cNvPr id="399" name="Picture 398" descr="lock.png"/>
          <p:cNvPicPr>
            <a:picLocks noChangeAspect="1"/>
          </p:cNvPicPr>
          <p:nvPr/>
        </p:nvPicPr>
        <p:blipFill>
          <a:blip r:embed="rId4"/>
          <a:stretch>
            <a:fillRect/>
          </a:stretch>
        </p:blipFill>
        <p:spPr>
          <a:xfrm>
            <a:off x="9303488" y="3560448"/>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3" y="2702524"/>
            <a:ext cx="128699" cy="187198"/>
          </a:xfrm>
          <a:prstGeom prst="rect">
            <a:avLst/>
          </a:prstGeom>
        </p:spPr>
      </p:pic>
      <p:pic>
        <p:nvPicPr>
          <p:cNvPr id="401" name="Picture 400" descr="lock.png"/>
          <p:cNvPicPr>
            <a:picLocks noChangeAspect="1"/>
          </p:cNvPicPr>
          <p:nvPr/>
        </p:nvPicPr>
        <p:blipFill>
          <a:blip r:embed="rId4"/>
          <a:stretch>
            <a:fillRect/>
          </a:stretch>
        </p:blipFill>
        <p:spPr>
          <a:xfrm>
            <a:off x="10379813" y="3031091"/>
            <a:ext cx="128699" cy="187198"/>
          </a:xfrm>
          <a:prstGeom prst="rect">
            <a:avLst/>
          </a:prstGeom>
        </p:spPr>
      </p:pic>
      <p:pic>
        <p:nvPicPr>
          <p:cNvPr id="402" name="Picture 401" descr="lock.png"/>
          <p:cNvPicPr>
            <a:picLocks noChangeAspect="1"/>
          </p:cNvPicPr>
          <p:nvPr/>
        </p:nvPicPr>
        <p:blipFill>
          <a:blip r:embed="rId4"/>
          <a:stretch>
            <a:fillRect/>
          </a:stretch>
        </p:blipFill>
        <p:spPr>
          <a:xfrm>
            <a:off x="10379812" y="3560448"/>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2702524"/>
            <a:ext cx="128699" cy="187198"/>
          </a:xfrm>
          <a:prstGeom prst="rect">
            <a:avLst/>
          </a:prstGeom>
        </p:spPr>
      </p:pic>
      <p:pic>
        <p:nvPicPr>
          <p:cNvPr id="404" name="Picture 403" descr="lock.png"/>
          <p:cNvPicPr>
            <a:picLocks noChangeAspect="1"/>
          </p:cNvPicPr>
          <p:nvPr/>
        </p:nvPicPr>
        <p:blipFill>
          <a:blip r:embed="rId4"/>
          <a:stretch>
            <a:fillRect/>
          </a:stretch>
        </p:blipFill>
        <p:spPr>
          <a:xfrm>
            <a:off x="11456138" y="3031091"/>
            <a:ext cx="128699" cy="187198"/>
          </a:xfrm>
          <a:prstGeom prst="rect">
            <a:avLst/>
          </a:prstGeom>
        </p:spPr>
      </p:pic>
      <p:pic>
        <p:nvPicPr>
          <p:cNvPr id="405" name="Picture 404"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2">
            <a:extLst>
              <a:ext uri="{FF2B5EF4-FFF2-40B4-BE49-F238E27FC236}">
                <a16:creationId xmlns:a16="http://schemas.microsoft.com/office/drawing/2014/main" id="{CCC9DC92-CC39-269D-F4F6-1BCD7363F9A2}"/>
              </a:ext>
            </a:extLst>
          </p:cNvPr>
          <p:cNvSpPr/>
          <p:nvPr/>
        </p:nvSpPr>
        <p:spPr>
          <a:xfrm>
            <a:off x="0" y="0"/>
            <a:ext cx="12192000" cy="6858000"/>
          </a:xfrm>
          <a:prstGeom prst="rect">
            <a:avLst/>
          </a:prstGeom>
          <a:solidFill>
            <a:srgbClr val="FFFFFF"/>
          </a:solidFill>
          <a:ln>
            <a:solidFill>
              <a:srgbClr val="FFFFFF"/>
            </a:solidFill>
          </a:ln>
        </p:spPr>
        <p:style>
          <a:lnRef idx="2">
            <a:srgbClr val="2A5F8F">
              <a:shade val="15000"/>
            </a:srgbClr>
          </a:lnRef>
          <a:fillRef idx="1">
            <a:srgbClr val="2A5F8F"/>
          </a:fillRef>
          <a:effectRef idx="0">
            <a:srgbClr val="2A5F8F"/>
          </a:effectRef>
          <a:fontRef idx="minor">
            <a:srgbClr val="FFFFFF"/>
          </a:fontRef>
        </p:style>
        <p:txBody>
          <a:bodyPr rtlCol="0" anchor="ctr"/>
          <a:lstStyle/>
          <a:p>
            <a:pPr algn="ctr"/>
            <a:endParaRPr lang="en-US"/>
          </a:p>
        </p:txBody>
      </p:sp>
      <p:grpSp>
        <p:nvGrpSpPr>
          <p:cNvPr id="4" name="Group 23">
            <a:extLst>
              <a:ext uri="{FF2B5EF4-FFF2-40B4-BE49-F238E27FC236}">
                <a16:creationId xmlns:a16="http://schemas.microsoft.com/office/drawing/2014/main" id="{85B8B5CB-8306-A876-1A56-F5D391EBE3A2}"/>
              </a:ext>
            </a:extLst>
          </p:cNvPr>
          <p:cNvGrpSpPr>
            <a:grpSpLocks/>
          </p:cNvGrpSpPr>
          <p:nvPr/>
        </p:nvGrpSpPr>
        <p:grpSpPr bwMode="auto">
          <a:xfrm>
            <a:off x="152400" y="164419"/>
            <a:ext cx="12039600" cy="6021387"/>
            <a:chOff x="76010" y="229820"/>
            <a:chExt cx="12039981" cy="6021526"/>
          </a:xfrm>
        </p:grpSpPr>
        <p:sp>
          <p:nvSpPr>
            <p:cNvPr id="5" name="Rectangle 22">
              <a:extLst>
                <a:ext uri="{FF2B5EF4-FFF2-40B4-BE49-F238E27FC236}">
                  <a16:creationId xmlns:a16="http://schemas.microsoft.com/office/drawing/2014/main" id="{899C401F-7B85-B769-45BD-852117B2EFA8}"/>
                </a:ext>
              </a:extLst>
            </p:cNvPr>
            <p:cNvSpPr>
              <a:spLocks noChangeArrowheads="1"/>
            </p:cNvSpPr>
            <p:nvPr/>
          </p:nvSpPr>
          <p:spPr bwMode="auto">
            <a:xfrm>
              <a:off x="4523037" y="5943569"/>
              <a:ext cx="3145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930275" algn="l"/>
                </a:tabLst>
                <a:defRPr>
                  <a:solidFill>
                    <a:srgbClr val="000000"/>
                  </a:solidFill>
                  <a:latin typeface="Arial" panose="020B0604020202020204" pitchFamily="34" charset="0"/>
                  <a:cs typeface="Arial" panose="020B0604020202020204" pitchFamily="34" charset="0"/>
                </a:defRPr>
              </a:lvl1pPr>
              <a:lvl2pPr marL="742950" indent="-285750">
                <a:tabLst>
                  <a:tab pos="930275" algn="l"/>
                </a:tabLst>
                <a:defRPr>
                  <a:solidFill>
                    <a:srgbClr val="000000"/>
                  </a:solidFill>
                  <a:latin typeface="Arial" panose="020B0604020202020204" pitchFamily="34" charset="0"/>
                  <a:cs typeface="Arial" panose="020B0604020202020204" pitchFamily="34" charset="0"/>
                </a:defRPr>
              </a:lvl2pPr>
              <a:lvl3pPr marL="1143000" indent="-228600">
                <a:tabLst>
                  <a:tab pos="930275" algn="l"/>
                </a:tabLst>
                <a:defRPr>
                  <a:solidFill>
                    <a:srgbClr val="000000"/>
                  </a:solidFill>
                  <a:latin typeface="Arial" panose="020B0604020202020204" pitchFamily="34" charset="0"/>
                  <a:cs typeface="Arial" panose="020B0604020202020204" pitchFamily="34" charset="0"/>
                </a:defRPr>
              </a:lvl3pPr>
              <a:lvl4pPr marL="1600200" indent="-228600">
                <a:tabLst>
                  <a:tab pos="930275" algn="l"/>
                </a:tabLst>
                <a:defRPr>
                  <a:solidFill>
                    <a:srgbClr val="000000"/>
                  </a:solidFill>
                  <a:latin typeface="Arial" panose="020B0604020202020204" pitchFamily="34" charset="0"/>
                  <a:cs typeface="Arial" panose="020B0604020202020204" pitchFamily="34" charset="0"/>
                </a:defRPr>
              </a:lvl4pPr>
              <a:lvl5pPr marL="2057400" indent="-228600">
                <a:tabLst>
                  <a:tab pos="930275" algn="l"/>
                </a:tabLst>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9pPr>
            </a:lstStyle>
            <a:p>
              <a:pPr algn="ctr">
                <a:spcBef>
                  <a:spcPts val="200"/>
                </a:spcBef>
                <a:spcAft>
                  <a:spcPts val="200"/>
                </a:spcAft>
              </a:pPr>
              <a:r>
                <a:rPr lang="en-GB" altLang="en-US" sz="1400" b="1">
                  <a:ea typeface="MS PGothic" panose="020B0600070205080204" pitchFamily="34" charset="-128"/>
                </a:rPr>
                <a:t>Email: sales@futuremarketinsights.com</a:t>
              </a:r>
            </a:p>
          </p:txBody>
        </p:sp>
        <p:grpSp>
          <p:nvGrpSpPr>
            <p:cNvPr id="6" name="Group 21">
              <a:extLst>
                <a:ext uri="{FF2B5EF4-FFF2-40B4-BE49-F238E27FC236}">
                  <a16:creationId xmlns:a16="http://schemas.microsoft.com/office/drawing/2014/main" id="{5FBB3E24-8D41-905A-6BA3-11149D7E0A50}"/>
                </a:ext>
              </a:extLst>
            </p:cNvPr>
            <p:cNvGrpSpPr>
              <a:grpSpLocks/>
            </p:cNvGrpSpPr>
            <p:nvPr/>
          </p:nvGrpSpPr>
          <p:grpSpPr bwMode="auto">
            <a:xfrm>
              <a:off x="76010" y="229820"/>
              <a:ext cx="12039981" cy="5526596"/>
              <a:chOff x="76010" y="229820"/>
              <a:chExt cx="12039981" cy="5526596"/>
            </a:xfrm>
          </p:grpSpPr>
          <p:grpSp>
            <p:nvGrpSpPr>
              <p:cNvPr id="7" name="Group 24">
                <a:extLst>
                  <a:ext uri="{FF2B5EF4-FFF2-40B4-BE49-F238E27FC236}">
                    <a16:creationId xmlns:a16="http://schemas.microsoft.com/office/drawing/2014/main" id="{34C0848D-58FD-B698-603B-B8D2C7863B12}"/>
                  </a:ext>
                </a:extLst>
              </p:cNvPr>
              <p:cNvGrpSpPr>
                <a:grpSpLocks/>
              </p:cNvGrpSpPr>
              <p:nvPr/>
            </p:nvGrpSpPr>
            <p:grpSpPr bwMode="auto">
              <a:xfrm>
                <a:off x="76010" y="3513022"/>
                <a:ext cx="12039981" cy="54864"/>
                <a:chOff x="980685" y="3697699"/>
                <a:chExt cx="9950397" cy="54864"/>
              </a:xfrm>
            </p:grpSpPr>
            <p:sp>
              <p:nvSpPr>
                <p:cNvPr id="8" name="Rectangle 44">
                  <a:extLst>
                    <a:ext uri="{FF2B5EF4-FFF2-40B4-BE49-F238E27FC236}">
                      <a16:creationId xmlns:a16="http://schemas.microsoft.com/office/drawing/2014/main" id="{4C55A7B5-34B4-8F78-1AE4-63BEB5D835CF}"/>
                    </a:ext>
                  </a:extLst>
                </p:cNvPr>
                <p:cNvSpPr/>
                <p:nvPr/>
              </p:nvSpPr>
              <p:spPr>
                <a:xfrm>
                  <a:off x="980685" y="3697523"/>
                  <a:ext cx="3109499" cy="55563"/>
                </a:xfrm>
                <a:prstGeom prst="rect">
                  <a:avLst/>
                </a:prstGeom>
                <a:solidFill>
                  <a:srgbClr val="92C73E"/>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9" name="Rectangle 45">
                  <a:extLst>
                    <a:ext uri="{FF2B5EF4-FFF2-40B4-BE49-F238E27FC236}">
                      <a16:creationId xmlns:a16="http://schemas.microsoft.com/office/drawing/2014/main" id="{F34EF18C-34C1-6B37-6F48-1B3AC01098EE}"/>
                    </a:ext>
                  </a:extLst>
                </p:cNvPr>
                <p:cNvSpPr/>
                <p:nvPr/>
              </p:nvSpPr>
              <p:spPr>
                <a:xfrm>
                  <a:off x="4401134" y="3697523"/>
                  <a:ext cx="3109499" cy="55563"/>
                </a:xfrm>
                <a:prstGeom prst="rect">
                  <a:avLst/>
                </a:prstGeom>
                <a:solidFill>
                  <a:srgbClr val="EF5123"/>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10" name="Rectangle 46">
                  <a:extLst>
                    <a:ext uri="{FF2B5EF4-FFF2-40B4-BE49-F238E27FC236}">
                      <a16:creationId xmlns:a16="http://schemas.microsoft.com/office/drawing/2014/main" id="{1DC20229-C001-A2E1-EEF4-879BB49DF54C}"/>
                    </a:ext>
                  </a:extLst>
                </p:cNvPr>
                <p:cNvSpPr/>
                <p:nvPr/>
              </p:nvSpPr>
              <p:spPr>
                <a:xfrm>
                  <a:off x="7821583" y="3697523"/>
                  <a:ext cx="3109499" cy="55563"/>
                </a:xfrm>
                <a:prstGeom prst="rect">
                  <a:avLst/>
                </a:prstGeom>
                <a:solidFill>
                  <a:srgbClr val="8F288C"/>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grpSp>
          <p:grpSp>
            <p:nvGrpSpPr>
              <p:cNvPr id="11" name="Group 7">
                <a:extLst>
                  <a:ext uri="{FF2B5EF4-FFF2-40B4-BE49-F238E27FC236}">
                    <a16:creationId xmlns:a16="http://schemas.microsoft.com/office/drawing/2014/main" id="{F5B19A97-FB1F-FD32-44EF-0C72BC8DD69D}"/>
                  </a:ext>
                </a:extLst>
              </p:cNvPr>
              <p:cNvGrpSpPr>
                <a:grpSpLocks/>
              </p:cNvGrpSpPr>
              <p:nvPr/>
            </p:nvGrpSpPr>
            <p:grpSpPr bwMode="auto">
              <a:xfrm>
                <a:off x="249774" y="3716063"/>
                <a:ext cx="11668690" cy="2040353"/>
                <a:chOff x="249774" y="3716063"/>
                <a:chExt cx="11668690" cy="2040353"/>
              </a:xfrm>
            </p:grpSpPr>
            <p:cxnSp>
              <p:nvCxnSpPr>
                <p:cNvPr id="12" name="Straight Connector 13">
                  <a:extLst>
                    <a:ext uri="{FF2B5EF4-FFF2-40B4-BE49-F238E27FC236}">
                      <a16:creationId xmlns:a16="http://schemas.microsoft.com/office/drawing/2014/main" id="{6212A6C9-95CF-65EB-6160-29A1FA8799D8}"/>
                    </a:ext>
                  </a:extLst>
                </p:cNvPr>
                <p:cNvCxnSpPr/>
                <p:nvPr/>
              </p:nvCxnSpPr>
              <p:spPr>
                <a:xfrm>
                  <a:off x="297328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3" name="Straight Connector 14">
                  <a:extLst>
                    <a:ext uri="{FF2B5EF4-FFF2-40B4-BE49-F238E27FC236}">
                      <a16:creationId xmlns:a16="http://schemas.microsoft.com/office/drawing/2014/main" id="{5569CE85-C66C-AE72-E1E5-D22A37A01501}"/>
                    </a:ext>
                  </a:extLst>
                </p:cNvPr>
                <p:cNvCxnSpPr/>
                <p:nvPr/>
              </p:nvCxnSpPr>
              <p:spPr>
                <a:xfrm>
                  <a:off x="622617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4" name="Straight Connector 15">
                  <a:extLst>
                    <a:ext uri="{FF2B5EF4-FFF2-40B4-BE49-F238E27FC236}">
                      <a16:creationId xmlns:a16="http://schemas.microsoft.com/office/drawing/2014/main" id="{7FFA3833-E6A1-2A12-9739-19E5C6B0D04D}"/>
                    </a:ext>
                  </a:extLst>
                </p:cNvPr>
                <p:cNvCxnSpPr/>
                <p:nvPr/>
              </p:nvCxnSpPr>
              <p:spPr>
                <a:xfrm>
                  <a:off x="9426680"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grpSp>
              <p:nvGrpSpPr>
                <p:cNvPr id="15" name="Group 3">
                  <a:extLst>
                    <a:ext uri="{FF2B5EF4-FFF2-40B4-BE49-F238E27FC236}">
                      <a16:creationId xmlns:a16="http://schemas.microsoft.com/office/drawing/2014/main" id="{D6026827-3752-097F-C4B9-B5B0A33C1EE7}"/>
                    </a:ext>
                  </a:extLst>
                </p:cNvPr>
                <p:cNvGrpSpPr>
                  <a:grpSpLocks/>
                </p:cNvGrpSpPr>
                <p:nvPr/>
              </p:nvGrpSpPr>
              <p:grpSpPr bwMode="auto">
                <a:xfrm>
                  <a:off x="6746181" y="3731157"/>
                  <a:ext cx="2280186" cy="1706483"/>
                  <a:chOff x="6498583" y="3532655"/>
                  <a:chExt cx="2280186" cy="1706483"/>
                </a:xfrm>
              </p:grpSpPr>
              <p:grpSp>
                <p:nvGrpSpPr>
                  <p:cNvPr id="16" name="Group 28">
                    <a:extLst>
                      <a:ext uri="{FF2B5EF4-FFF2-40B4-BE49-F238E27FC236}">
                        <a16:creationId xmlns:a16="http://schemas.microsoft.com/office/drawing/2014/main" id="{F6A97133-09A9-4882-223C-0670F6DFD7E0}"/>
                      </a:ext>
                    </a:extLst>
                  </p:cNvPr>
                  <p:cNvGrpSpPr>
                    <a:grpSpLocks/>
                  </p:cNvGrpSpPr>
                  <p:nvPr/>
                </p:nvGrpSpPr>
                <p:grpSpPr bwMode="auto">
                  <a:xfrm>
                    <a:off x="6498583" y="3653110"/>
                    <a:ext cx="2280186" cy="1586028"/>
                    <a:chOff x="6373418" y="3837787"/>
                    <a:chExt cx="2280186" cy="1586028"/>
                  </a:xfrm>
                </p:grpSpPr>
                <p:sp>
                  <p:nvSpPr>
                    <p:cNvPr id="17" name="TextBox 39">
                      <a:extLst>
                        <a:ext uri="{FF2B5EF4-FFF2-40B4-BE49-F238E27FC236}">
                          <a16:creationId xmlns:a16="http://schemas.microsoft.com/office/drawing/2014/main" id="{46D75380-0311-71C0-CC91-426529CAAF89}"/>
                        </a:ext>
                      </a:extLst>
                    </p:cNvPr>
                    <p:cNvSpPr txBox="1">
                      <a:spLocks noChangeArrowheads="1"/>
                    </p:cNvSpPr>
                    <p:nvPr/>
                  </p:nvSpPr>
                  <p:spPr bwMode="auto">
                    <a:xfrm>
                      <a:off x="6734296" y="3837787"/>
                      <a:ext cx="1919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FF4500"/>
                          </a:solidFill>
                        </a:rPr>
                        <a:t>Middle East &amp; Africa</a:t>
                      </a:r>
                    </a:p>
                  </p:txBody>
                </p:sp>
                <p:sp>
                  <p:nvSpPr>
                    <p:cNvPr id="18" name="TextBox 42">
                      <a:extLst>
                        <a:ext uri="{FF2B5EF4-FFF2-40B4-BE49-F238E27FC236}">
                          <a16:creationId xmlns:a16="http://schemas.microsoft.com/office/drawing/2014/main" id="{5809E9B9-E741-68AD-D217-E199E00794EE}"/>
                        </a:ext>
                      </a:extLst>
                    </p:cNvPr>
                    <p:cNvSpPr txBox="1"/>
                    <p:nvPr/>
                  </p:nvSpPr>
                  <p:spPr>
                    <a:xfrm>
                      <a:off x="6374132" y="4322952"/>
                      <a:ext cx="1760594" cy="306395"/>
                    </a:xfrm>
                    <a:prstGeom prst="rect">
                      <a:avLst/>
                    </a:prstGeom>
                    <a:noFill/>
                  </p:spPr>
                  <p:txBody>
                    <a:bodyPr wrap="none">
                      <a:spAutoFit/>
                    </a:bodyPr>
                    <a:lstStyle/>
                    <a:p>
                      <a:pPr>
                        <a:defRPr/>
                      </a:pPr>
                      <a:r>
                        <a:rPr lang="en-IN" sz="1400" b="1" dirty="0">
                          <a:solidFill>
                            <a:srgbClr val="F8F8F8">
                              <a:lumMod val="25000"/>
                            </a:srgbClr>
                          </a:solidFill>
                        </a:rPr>
                        <a:t>Market Access DMCC</a:t>
                      </a:r>
                    </a:p>
                  </p:txBody>
                </p:sp>
                <p:sp>
                  <p:nvSpPr>
                    <p:cNvPr id="19" name="TextBox 41">
                      <a:extLst>
                        <a:ext uri="{FF2B5EF4-FFF2-40B4-BE49-F238E27FC236}">
                          <a16:creationId xmlns:a16="http://schemas.microsoft.com/office/drawing/2014/main" id="{9B546961-C861-56A8-7E65-8596A932CE67}"/>
                        </a:ext>
                      </a:extLst>
                    </p:cNvPr>
                    <p:cNvSpPr txBox="1">
                      <a:spLocks noChangeArrowheads="1"/>
                    </p:cNvSpPr>
                    <p:nvPr/>
                  </p:nvSpPr>
                  <p:spPr bwMode="auto">
                    <a:xfrm>
                      <a:off x="6373418" y="4592818"/>
                      <a:ext cx="21231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1602-6 Jumeirah Bay X2 Tower,</a:t>
                      </a:r>
                    </a:p>
                    <a:p>
                      <a:r>
                        <a:rPr lang="en-US" altLang="en-US" sz="1200"/>
                        <a:t>Plot No: JLT-PH2-X2A,</a:t>
                      </a:r>
                    </a:p>
                    <a:p>
                      <a:r>
                        <a:rPr lang="en-US" altLang="en-US" sz="1200"/>
                        <a:t>Jumeirah Lakes Towers, Dubai,</a:t>
                      </a:r>
                    </a:p>
                    <a:p>
                      <a:r>
                        <a:rPr lang="en-US" altLang="en-US" sz="1200"/>
                        <a:t>United Arab Emirates</a:t>
                      </a:r>
                      <a:endParaRPr lang="en-IN" altLang="en-US" sz="1200"/>
                    </a:p>
                  </p:txBody>
                </p:sp>
              </p:grpSp>
              <p:pic>
                <p:nvPicPr>
                  <p:cNvPr id="20" name="Picture 40">
                    <a:extLst>
                      <a:ext uri="{FF2B5EF4-FFF2-40B4-BE49-F238E27FC236}">
                        <a16:creationId xmlns:a16="http://schemas.microsoft.com/office/drawing/2014/main" id="{5156A16E-B887-4177-3106-696D2F06FC26}"/>
                      </a:ext>
                    </a:extLst>
                  </p:cNvPr>
                  <p:cNvPicPr>
                    <a:picLocks noChangeAspect="1"/>
                  </p:cNvPicPr>
                  <p:nvPr/>
                </p:nvPicPr>
                <p:blipFill>
                  <a:blip r:embed="rId2">
                    <a:duotone>
                      <a:srgbClr val="A35313">
                        <a:shade val="45000"/>
                        <a:satMod val="135000"/>
                      </a:srgbClr>
                      <a:prstClr val="white"/>
                    </a:duotone>
                  </a:blip>
                  <a:stretch>
                    <a:fillRect/>
                  </a:stretch>
                </p:blipFill>
                <p:spPr>
                  <a:xfrm>
                    <a:off x="6553299" y="3532655"/>
                    <a:ext cx="314753" cy="579465"/>
                  </a:xfrm>
                  <a:prstGeom prst="rect">
                    <a:avLst/>
                  </a:prstGeom>
                </p:spPr>
              </p:pic>
            </p:grpSp>
            <p:grpSp>
              <p:nvGrpSpPr>
                <p:cNvPr id="21" name="Group 5">
                  <a:extLst>
                    <a:ext uri="{FF2B5EF4-FFF2-40B4-BE49-F238E27FC236}">
                      <a16:creationId xmlns:a16="http://schemas.microsoft.com/office/drawing/2014/main" id="{2A4B2992-1262-B6DC-A65D-C0A800D496DF}"/>
                    </a:ext>
                  </a:extLst>
                </p:cNvPr>
                <p:cNvGrpSpPr>
                  <a:grpSpLocks/>
                </p:cNvGrpSpPr>
                <p:nvPr/>
              </p:nvGrpSpPr>
              <p:grpSpPr bwMode="auto">
                <a:xfrm>
                  <a:off x="3461337" y="3716063"/>
                  <a:ext cx="2276777" cy="2040353"/>
                  <a:chOff x="3837718" y="3645035"/>
                  <a:chExt cx="2276777" cy="2040353"/>
                </a:xfrm>
              </p:grpSpPr>
              <p:grpSp>
                <p:nvGrpSpPr>
                  <p:cNvPr id="22" name="Group 27">
                    <a:extLst>
                      <a:ext uri="{FF2B5EF4-FFF2-40B4-BE49-F238E27FC236}">
                        <a16:creationId xmlns:a16="http://schemas.microsoft.com/office/drawing/2014/main" id="{6828E551-2150-B3BA-D2CA-97B824FA8924}"/>
                      </a:ext>
                    </a:extLst>
                  </p:cNvPr>
                  <p:cNvGrpSpPr>
                    <a:grpSpLocks/>
                  </p:cNvGrpSpPr>
                  <p:nvPr/>
                </p:nvGrpSpPr>
                <p:grpSpPr bwMode="auto">
                  <a:xfrm>
                    <a:off x="3837718" y="3780584"/>
                    <a:ext cx="2276777" cy="1904804"/>
                    <a:chOff x="3358345" y="3965261"/>
                    <a:chExt cx="2276777" cy="1904804"/>
                  </a:xfrm>
                </p:grpSpPr>
                <p:sp>
                  <p:nvSpPr>
                    <p:cNvPr id="23" name="TextBox 42">
                      <a:extLst>
                        <a:ext uri="{FF2B5EF4-FFF2-40B4-BE49-F238E27FC236}">
                          <a16:creationId xmlns:a16="http://schemas.microsoft.com/office/drawing/2014/main" id="{A41A6F39-951D-AE17-5A44-85C21DFFF8C3}"/>
                        </a:ext>
                      </a:extLst>
                    </p:cNvPr>
                    <p:cNvSpPr txBox="1">
                      <a:spLocks noChangeArrowheads="1"/>
                    </p:cNvSpPr>
                    <p:nvPr/>
                  </p:nvSpPr>
                  <p:spPr bwMode="auto">
                    <a:xfrm>
                      <a:off x="3744196" y="3965261"/>
                      <a:ext cx="970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048B42"/>
                          </a:solidFill>
                        </a:rPr>
                        <a:t>Americas</a:t>
                      </a:r>
                    </a:p>
                  </p:txBody>
                </p:sp>
                <p:sp>
                  <p:nvSpPr>
                    <p:cNvPr id="24" name="TextBox 36">
                      <a:extLst>
                        <a:ext uri="{FF2B5EF4-FFF2-40B4-BE49-F238E27FC236}">
                          <a16:creationId xmlns:a16="http://schemas.microsoft.com/office/drawing/2014/main" id="{40F1E73B-005C-8069-CCAA-3318246B265D}"/>
                        </a:ext>
                      </a:extLst>
                    </p:cNvPr>
                    <p:cNvSpPr txBox="1"/>
                    <p:nvPr/>
                  </p:nvSpPr>
                  <p:spPr>
                    <a:xfrm>
                      <a:off x="3357675" y="4448839"/>
                      <a:ext cx="1871722"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25" name="TextBox 44">
                      <a:extLst>
                        <a:ext uri="{FF2B5EF4-FFF2-40B4-BE49-F238E27FC236}">
                          <a16:creationId xmlns:a16="http://schemas.microsoft.com/office/drawing/2014/main" id="{4ACA2C08-410D-CEED-63E0-EB4A1E0D76C3}"/>
                        </a:ext>
                      </a:extLst>
                    </p:cNvPr>
                    <p:cNvSpPr txBox="1">
                      <a:spLocks noChangeArrowheads="1"/>
                    </p:cNvSpPr>
                    <p:nvPr/>
                  </p:nvSpPr>
                  <p:spPr bwMode="auto">
                    <a:xfrm>
                      <a:off x="3358345" y="4720292"/>
                      <a:ext cx="22767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616 Corporate Way, Suite 2-9018,</a:t>
                      </a:r>
                    </a:p>
                    <a:p>
                      <a:r>
                        <a:rPr lang="en-US" altLang="en-US" sz="1200"/>
                        <a:t>Valley Cottage, NY 10989,</a:t>
                      </a:r>
                    </a:p>
                    <a:p>
                      <a:r>
                        <a:rPr lang="en-US" altLang="en-US" sz="1200"/>
                        <a:t>United States</a:t>
                      </a:r>
                      <a:endParaRPr lang="en-IN" altLang="en-US" sz="1200"/>
                    </a:p>
                  </p:txBody>
                </p:sp>
                <p:sp>
                  <p:nvSpPr>
                    <p:cNvPr id="26" name="TextBox 45">
                      <a:extLst>
                        <a:ext uri="{FF2B5EF4-FFF2-40B4-BE49-F238E27FC236}">
                          <a16:creationId xmlns:a16="http://schemas.microsoft.com/office/drawing/2014/main" id="{FE65EAAC-CE25-57B8-E88C-905CD3E8F924}"/>
                        </a:ext>
                      </a:extLst>
                    </p:cNvPr>
                    <p:cNvSpPr txBox="1">
                      <a:spLocks noChangeArrowheads="1"/>
                    </p:cNvSpPr>
                    <p:nvPr/>
                  </p:nvSpPr>
                  <p:spPr bwMode="auto">
                    <a:xfrm>
                      <a:off x="3358345" y="5593066"/>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+1-347-918-3531</a:t>
                      </a:r>
                      <a:endParaRPr lang="en-IN" altLang="en-US" sz="1200"/>
                    </a:p>
                  </p:txBody>
                </p:sp>
              </p:grpSp>
              <p:pic>
                <p:nvPicPr>
                  <p:cNvPr id="27" name="Picture 34">
                    <a:extLst>
                      <a:ext uri="{FF2B5EF4-FFF2-40B4-BE49-F238E27FC236}">
                        <a16:creationId xmlns:a16="http://schemas.microsoft.com/office/drawing/2014/main" id="{AE4DE93F-AF7B-7477-A367-DD4AF96A40A2}"/>
                      </a:ext>
                    </a:extLst>
                  </p:cNvPr>
                  <p:cNvPicPr>
                    <a:picLocks noChangeAspect="1"/>
                  </p:cNvPicPr>
                  <p:nvPr/>
                </p:nvPicPr>
                <p:blipFill>
                  <a:blip r:embed="rId3">
                    <a:duotone>
                      <a:srgbClr val="008189">
                        <a:shade val="45000"/>
                        <a:satMod val="135000"/>
                      </a:srgbClr>
                      <a:prstClr val="white"/>
                    </a:duotone>
                  </a:blip>
                  <a:stretch>
                    <a:fillRect/>
                  </a:stretch>
                </p:blipFill>
                <p:spPr>
                  <a:xfrm>
                    <a:off x="3941302" y="3645035"/>
                    <a:ext cx="304826" cy="609653"/>
                  </a:xfrm>
                  <a:prstGeom prst="rect">
                    <a:avLst/>
                  </a:prstGeom>
                </p:spPr>
              </p:pic>
            </p:grpSp>
            <p:grpSp>
              <p:nvGrpSpPr>
                <p:cNvPr id="28" name="Group 6">
                  <a:extLst>
                    <a:ext uri="{FF2B5EF4-FFF2-40B4-BE49-F238E27FC236}">
                      <a16:creationId xmlns:a16="http://schemas.microsoft.com/office/drawing/2014/main" id="{190EABA1-B31E-3B09-B1F2-A13884B8AD17}"/>
                    </a:ext>
                  </a:extLst>
                </p:cNvPr>
                <p:cNvGrpSpPr>
                  <a:grpSpLocks/>
                </p:cNvGrpSpPr>
                <p:nvPr/>
              </p:nvGrpSpPr>
              <p:grpSpPr bwMode="auto">
                <a:xfrm>
                  <a:off x="249774" y="3783125"/>
                  <a:ext cx="2236703" cy="1973291"/>
                  <a:chOff x="1216927" y="3772923"/>
                  <a:chExt cx="2236703" cy="1973291"/>
                </a:xfrm>
              </p:grpSpPr>
              <p:grpSp>
                <p:nvGrpSpPr>
                  <p:cNvPr id="29" name="Group 25">
                    <a:extLst>
                      <a:ext uri="{FF2B5EF4-FFF2-40B4-BE49-F238E27FC236}">
                        <a16:creationId xmlns:a16="http://schemas.microsoft.com/office/drawing/2014/main" id="{A1A8DC19-AF5B-6C89-F2CD-2778F01B419C}"/>
                      </a:ext>
                    </a:extLst>
                  </p:cNvPr>
                  <p:cNvGrpSpPr>
                    <a:grpSpLocks/>
                  </p:cNvGrpSpPr>
                  <p:nvPr/>
                </p:nvGrpSpPr>
                <p:grpSpPr bwMode="auto">
                  <a:xfrm>
                    <a:off x="1216927" y="3841410"/>
                    <a:ext cx="2236703" cy="1904804"/>
                    <a:chOff x="343272" y="4026087"/>
                    <a:chExt cx="2236703" cy="1904804"/>
                  </a:xfrm>
                </p:grpSpPr>
                <p:sp>
                  <p:nvSpPr>
                    <p:cNvPr id="30" name="TextBox 29">
                      <a:extLst>
                        <a:ext uri="{FF2B5EF4-FFF2-40B4-BE49-F238E27FC236}">
                          <a16:creationId xmlns:a16="http://schemas.microsoft.com/office/drawing/2014/main" id="{C78C136C-FF65-10A5-69D0-6976A498591E}"/>
                        </a:ext>
                      </a:extLst>
                    </p:cNvPr>
                    <p:cNvSpPr txBox="1"/>
                    <p:nvPr/>
                  </p:nvSpPr>
                  <p:spPr>
                    <a:xfrm>
                      <a:off x="963283" y="4025467"/>
                      <a:ext cx="1347831" cy="338146"/>
                    </a:xfrm>
                    <a:prstGeom prst="rect">
                      <a:avLst/>
                    </a:prstGeom>
                    <a:noFill/>
                  </p:spPr>
                  <p:txBody>
                    <a:bodyPr wrap="none">
                      <a:spAutoFit/>
                    </a:bodyPr>
                    <a:lstStyle/>
                    <a:p>
                      <a:pPr>
                        <a:defRPr/>
                      </a:pPr>
                      <a:r>
                        <a:rPr lang="en-IN" sz="1600" b="1" dirty="0">
                          <a:solidFill>
                            <a:srgbClr val="2A5F8F">
                              <a:lumMod val="50000"/>
                            </a:srgbClr>
                          </a:solidFill>
                        </a:rPr>
                        <a:t>Headquarters</a:t>
                      </a:r>
                    </a:p>
                  </p:txBody>
                </p:sp>
                <p:sp>
                  <p:nvSpPr>
                    <p:cNvPr id="31" name="TextBox 30">
                      <a:extLst>
                        <a:ext uri="{FF2B5EF4-FFF2-40B4-BE49-F238E27FC236}">
                          <a16:creationId xmlns:a16="http://schemas.microsoft.com/office/drawing/2014/main" id="{5CFB6527-6D97-69B5-C71C-CC03EB68BBF7}"/>
                        </a:ext>
                      </a:extLst>
                    </p:cNvPr>
                    <p:cNvSpPr txBox="1"/>
                    <p:nvPr/>
                  </p:nvSpPr>
                  <p:spPr>
                    <a:xfrm>
                      <a:off x="342551" y="4509666"/>
                      <a:ext cx="2225746" cy="307982"/>
                    </a:xfrm>
                    <a:prstGeom prst="rect">
                      <a:avLst/>
                    </a:prstGeom>
                    <a:noFill/>
                  </p:spPr>
                  <p:txBody>
                    <a:bodyPr wrap="none">
                      <a:spAutoFit/>
                    </a:bodyPr>
                    <a:lstStyle/>
                    <a:p>
                      <a:pPr>
                        <a:defRPr/>
                      </a:pPr>
                      <a:r>
                        <a:rPr lang="en-IN" sz="1400" b="1" dirty="0">
                          <a:solidFill>
                            <a:srgbClr val="F8F8F8">
                              <a:lumMod val="25000"/>
                            </a:srgbClr>
                          </a:solidFill>
                        </a:rPr>
                        <a:t>Future Market Insights, Inc.</a:t>
                      </a:r>
                    </a:p>
                  </p:txBody>
                </p:sp>
                <p:sp>
                  <p:nvSpPr>
                    <p:cNvPr id="32" name="TextBox 48">
                      <a:extLst>
                        <a:ext uri="{FF2B5EF4-FFF2-40B4-BE49-F238E27FC236}">
                          <a16:creationId xmlns:a16="http://schemas.microsoft.com/office/drawing/2014/main" id="{5E42A1C6-BB29-D226-788C-C515B7D7F676}"/>
                        </a:ext>
                      </a:extLst>
                    </p:cNvPr>
                    <p:cNvSpPr txBox="1">
                      <a:spLocks noChangeArrowheads="1"/>
                    </p:cNvSpPr>
                    <p:nvPr/>
                  </p:nvSpPr>
                  <p:spPr bwMode="auto">
                    <a:xfrm>
                      <a:off x="343272" y="4781118"/>
                      <a:ext cx="2236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Christiana Corporate,</a:t>
                      </a:r>
                    </a:p>
                    <a:p>
                      <a:r>
                        <a:rPr lang="en-US" altLang="en-US" sz="1200"/>
                        <a:t>200 Continental Drive, Suite 401,</a:t>
                      </a:r>
                    </a:p>
                    <a:p>
                      <a:r>
                        <a:rPr lang="en-US" altLang="en-US" sz="1200"/>
                        <a:t>Newark, Delaware - 19713,</a:t>
                      </a:r>
                    </a:p>
                    <a:p>
                      <a:r>
                        <a:rPr lang="en-US" altLang="en-US" sz="1200"/>
                        <a:t>United States</a:t>
                      </a:r>
                      <a:endParaRPr lang="en-IN" altLang="en-US" sz="1200"/>
                    </a:p>
                  </p:txBody>
                </p:sp>
                <p:sp>
                  <p:nvSpPr>
                    <p:cNvPr id="33" name="TextBox 49">
                      <a:extLst>
                        <a:ext uri="{FF2B5EF4-FFF2-40B4-BE49-F238E27FC236}">
                          <a16:creationId xmlns:a16="http://schemas.microsoft.com/office/drawing/2014/main" id="{7B0EBAC2-0F15-2082-71DE-E18F4A36524D}"/>
                        </a:ext>
                      </a:extLst>
                    </p:cNvPr>
                    <p:cNvSpPr txBox="1">
                      <a:spLocks noChangeArrowheads="1"/>
                    </p:cNvSpPr>
                    <p:nvPr/>
                  </p:nvSpPr>
                  <p:spPr bwMode="auto">
                    <a:xfrm>
                      <a:off x="343272" y="5653892"/>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+1-845-579-5705</a:t>
                      </a:r>
                      <a:endParaRPr lang="en-IN" altLang="en-US" sz="1200"/>
                    </a:p>
                  </p:txBody>
                </p:sp>
              </p:grpSp>
              <p:pic>
                <p:nvPicPr>
                  <p:cNvPr id="34" name="Picture 28">
                    <a:extLst>
                      <a:ext uri="{FF2B5EF4-FFF2-40B4-BE49-F238E27FC236}">
                        <a16:creationId xmlns:a16="http://schemas.microsoft.com/office/drawing/2014/main" id="{B598E670-72B9-922C-CBE9-A98B47FD87DC}"/>
                      </a:ext>
                    </a:extLst>
                  </p:cNvPr>
                  <p:cNvPicPr>
                    <a:picLocks noChangeAspect="1"/>
                  </p:cNvPicPr>
                  <p:nvPr/>
                </p:nvPicPr>
                <p:blipFill>
                  <a:blip r:embed="rId4">
                    <a:duotone>
                      <a:srgbClr val="2A5F8F">
                        <a:shade val="45000"/>
                        <a:satMod val="135000"/>
                      </a:srgbClr>
                      <a:prstClr val="white"/>
                    </a:duotone>
                  </a:blip>
                  <a:stretch>
                    <a:fillRect/>
                  </a:stretch>
                </p:blipFill>
                <p:spPr>
                  <a:xfrm>
                    <a:off x="1306513" y="3772923"/>
                    <a:ext cx="469433" cy="475529"/>
                  </a:xfrm>
                  <a:prstGeom prst="rect">
                    <a:avLst/>
                  </a:prstGeom>
                </p:spPr>
              </p:pic>
            </p:grpSp>
            <p:grpSp>
              <p:nvGrpSpPr>
                <p:cNvPr id="35" name="Group 2">
                  <a:extLst>
                    <a:ext uri="{FF2B5EF4-FFF2-40B4-BE49-F238E27FC236}">
                      <a16:creationId xmlns:a16="http://schemas.microsoft.com/office/drawing/2014/main" id="{4F9635CF-9D3F-75B0-5B7E-AEF9828266C3}"/>
                    </a:ext>
                  </a:extLst>
                </p:cNvPr>
                <p:cNvGrpSpPr>
                  <a:grpSpLocks/>
                </p:cNvGrpSpPr>
                <p:nvPr/>
              </p:nvGrpSpPr>
              <p:grpSpPr bwMode="auto">
                <a:xfrm>
                  <a:off x="9935559" y="3767762"/>
                  <a:ext cx="1982905" cy="1988654"/>
                  <a:chOff x="9005815" y="3745083"/>
                  <a:chExt cx="1982905" cy="1988654"/>
                </a:xfrm>
              </p:grpSpPr>
              <p:grpSp>
                <p:nvGrpSpPr>
                  <p:cNvPr id="36" name="Group 29">
                    <a:extLst>
                      <a:ext uri="{FF2B5EF4-FFF2-40B4-BE49-F238E27FC236}">
                        <a16:creationId xmlns:a16="http://schemas.microsoft.com/office/drawing/2014/main" id="{17F31F47-291F-4405-8AEA-EC1AAB6AA332}"/>
                      </a:ext>
                    </a:extLst>
                  </p:cNvPr>
                  <p:cNvGrpSpPr>
                    <a:grpSpLocks/>
                  </p:cNvGrpSpPr>
                  <p:nvPr/>
                </p:nvGrpSpPr>
                <p:grpSpPr bwMode="auto">
                  <a:xfrm>
                    <a:off x="9005815" y="3828933"/>
                    <a:ext cx="1982905" cy="1904804"/>
                    <a:chOff x="9388489" y="4013610"/>
                    <a:chExt cx="1982905" cy="1904804"/>
                  </a:xfrm>
                </p:grpSpPr>
                <p:sp>
                  <p:nvSpPr>
                    <p:cNvPr id="37" name="TextBox 32">
                      <a:extLst>
                        <a:ext uri="{FF2B5EF4-FFF2-40B4-BE49-F238E27FC236}">
                          <a16:creationId xmlns:a16="http://schemas.microsoft.com/office/drawing/2014/main" id="{C20F854C-8002-E239-0772-DDA0A057E702}"/>
                        </a:ext>
                      </a:extLst>
                    </p:cNvPr>
                    <p:cNvSpPr txBox="1">
                      <a:spLocks noChangeArrowheads="1"/>
                    </p:cNvSpPr>
                    <p:nvPr/>
                  </p:nvSpPr>
                  <p:spPr bwMode="auto">
                    <a:xfrm>
                      <a:off x="9829414" y="4013610"/>
                      <a:ext cx="789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8F288C"/>
                          </a:solidFill>
                        </a:rPr>
                        <a:t>Europe</a:t>
                      </a:r>
                    </a:p>
                  </p:txBody>
                </p:sp>
                <p:sp>
                  <p:nvSpPr>
                    <p:cNvPr id="38" name="TextBox 23">
                      <a:extLst>
                        <a:ext uri="{FF2B5EF4-FFF2-40B4-BE49-F238E27FC236}">
                          <a16:creationId xmlns:a16="http://schemas.microsoft.com/office/drawing/2014/main" id="{3322F8A5-D2B8-33CA-96AC-DF4EE7ACCB80}"/>
                        </a:ext>
                      </a:extLst>
                    </p:cNvPr>
                    <p:cNvSpPr txBox="1"/>
                    <p:nvPr/>
                  </p:nvSpPr>
                  <p:spPr>
                    <a:xfrm>
                      <a:off x="9389214" y="4498775"/>
                      <a:ext cx="1870134"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39" name="TextBox 36">
                      <a:extLst>
                        <a:ext uri="{FF2B5EF4-FFF2-40B4-BE49-F238E27FC236}">
                          <a16:creationId xmlns:a16="http://schemas.microsoft.com/office/drawing/2014/main" id="{BF5AF88F-6B60-2785-4EAA-4D18C1EE2E10}"/>
                        </a:ext>
                      </a:extLst>
                    </p:cNvPr>
                    <p:cNvSpPr txBox="1">
                      <a:spLocks noChangeArrowheads="1"/>
                    </p:cNvSpPr>
                    <p:nvPr/>
                  </p:nvSpPr>
                  <p:spPr bwMode="auto">
                    <a:xfrm>
                      <a:off x="9402137" y="4768641"/>
                      <a:ext cx="19692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3rd Floor, 207 Regent Street,</a:t>
                      </a:r>
                    </a:p>
                    <a:p>
                      <a:r>
                        <a:rPr lang="en-US" altLang="en-US" sz="1200"/>
                        <a:t>London W1B 3HH</a:t>
                      </a:r>
                    </a:p>
                    <a:p>
                      <a:r>
                        <a:rPr lang="en-US" altLang="en-US" sz="1200"/>
                        <a:t>United Kingdom</a:t>
                      </a:r>
                      <a:endParaRPr lang="en-IN" altLang="en-US" sz="1200"/>
                    </a:p>
                  </p:txBody>
                </p:sp>
                <p:sp>
                  <p:nvSpPr>
                    <p:cNvPr id="40" name="TextBox 37">
                      <a:extLst>
                        <a:ext uri="{FF2B5EF4-FFF2-40B4-BE49-F238E27FC236}">
                          <a16:creationId xmlns:a16="http://schemas.microsoft.com/office/drawing/2014/main" id="{6C7DE665-66A8-41DE-5008-32252CDA85C7}"/>
                        </a:ext>
                      </a:extLst>
                    </p:cNvPr>
                    <p:cNvSpPr txBox="1">
                      <a:spLocks noChangeArrowheads="1"/>
                    </p:cNvSpPr>
                    <p:nvPr/>
                  </p:nvSpPr>
                  <p:spPr bwMode="auto">
                    <a:xfrm>
                      <a:off x="9388489" y="5641415"/>
                      <a:ext cx="16882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D: +44 (0) 20 3287 4268</a:t>
                      </a:r>
                      <a:endParaRPr lang="en-IN" altLang="en-US" sz="1200"/>
                    </a:p>
                  </p:txBody>
                </p:sp>
                <p:sp>
                  <p:nvSpPr>
                    <p:cNvPr id="41" name="TextBox 38">
                      <a:extLst>
                        <a:ext uri="{FF2B5EF4-FFF2-40B4-BE49-F238E27FC236}">
                          <a16:creationId xmlns:a16="http://schemas.microsoft.com/office/drawing/2014/main" id="{7192F681-8D30-360D-BE9D-3B3024A1F2DD}"/>
                        </a:ext>
                      </a:extLst>
                    </p:cNvPr>
                    <p:cNvSpPr txBox="1">
                      <a:spLocks noChangeArrowheads="1"/>
                    </p:cNvSpPr>
                    <p:nvPr/>
                  </p:nvSpPr>
                  <p:spPr bwMode="auto">
                    <a:xfrm>
                      <a:off x="9388489" y="5392439"/>
                      <a:ext cx="16942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+ 44 (0) 20 8123 9659</a:t>
                      </a:r>
                      <a:endParaRPr lang="en-IN" altLang="en-US" sz="1200"/>
                    </a:p>
                  </p:txBody>
                </p:sp>
              </p:grpSp>
              <p:pic>
                <p:nvPicPr>
                  <p:cNvPr id="42" name="Picture 21">
                    <a:extLst>
                      <a:ext uri="{FF2B5EF4-FFF2-40B4-BE49-F238E27FC236}">
                        <a16:creationId xmlns:a16="http://schemas.microsoft.com/office/drawing/2014/main" id="{0DB190B5-E4D9-2234-7560-F46B079C348A}"/>
                      </a:ext>
                    </a:extLst>
                  </p:cNvPr>
                  <p:cNvPicPr>
                    <a:picLocks noChangeAspect="1"/>
                  </p:cNvPicPr>
                  <p:nvPr/>
                </p:nvPicPr>
                <p:blipFill>
                  <a:blip r:embed="rId5">
                    <a:duotone>
                      <a:srgbClr val="40315E">
                        <a:shade val="45000"/>
                        <a:satMod val="135000"/>
                      </a:srgbClr>
                      <a:prstClr val="white"/>
                    </a:duotone>
                  </a:blip>
                  <a:stretch>
                    <a:fillRect/>
                  </a:stretch>
                </p:blipFill>
                <p:spPr>
                  <a:xfrm>
                    <a:off x="9124235" y="3745083"/>
                    <a:ext cx="348835" cy="506254"/>
                  </a:xfrm>
                  <a:prstGeom prst="rect">
                    <a:avLst/>
                  </a:prstGeom>
                </p:spPr>
              </p:pic>
            </p:grpSp>
          </p:grpSp>
          <p:sp>
            <p:nvSpPr>
              <p:cNvPr id="43" name="TextBox 55">
                <a:extLst>
                  <a:ext uri="{FF2B5EF4-FFF2-40B4-BE49-F238E27FC236}">
                    <a16:creationId xmlns:a16="http://schemas.microsoft.com/office/drawing/2014/main" id="{143EC9E9-5458-9CB8-6ACE-446AFE79BB51}"/>
                  </a:ext>
                </a:extLst>
              </p:cNvPr>
              <p:cNvSpPr txBox="1">
                <a:spLocks noChangeArrowheads="1"/>
              </p:cNvSpPr>
              <p:nvPr/>
            </p:nvSpPr>
            <p:spPr bwMode="auto">
              <a:xfrm>
                <a:off x="274514" y="798871"/>
                <a:ext cx="1890261"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pPr algn="ctr">
                  <a:lnSpc>
                    <a:spcPts val="7600"/>
                  </a:lnSpc>
                </a:pPr>
                <a:r>
                  <a:rPr lang="en-IN" altLang="en-US" sz="8000">
                    <a:solidFill>
                      <a:srgbClr val="00B0F0"/>
                    </a:solidFill>
                    <a:latin typeface="Juxtaposer"/>
                  </a:rPr>
                  <a:t>Thank</a:t>
                </a:r>
                <a:br>
                  <a:rPr lang="en-IN" altLang="en-US" sz="8000">
                    <a:solidFill>
                      <a:srgbClr val="00B0F0"/>
                    </a:solidFill>
                    <a:latin typeface="Juxtaposer"/>
                  </a:rPr>
                </a:br>
                <a:r>
                  <a:rPr lang="en-IN" altLang="en-US" sz="8000">
                    <a:solidFill>
                      <a:srgbClr val="00B0F0"/>
                    </a:solidFill>
                    <a:latin typeface="Juxtaposer"/>
                  </a:rPr>
                  <a:t>You</a:t>
                </a:r>
              </a:p>
            </p:txBody>
          </p:sp>
          <p:pic>
            <p:nvPicPr>
              <p:cNvPr id="44" name="Picture 10">
                <a:extLst>
                  <a:ext uri="{FF2B5EF4-FFF2-40B4-BE49-F238E27FC236}">
                    <a16:creationId xmlns:a16="http://schemas.microsoft.com/office/drawing/2014/main" id="{BB144989-CF53-8B1E-220B-C1AE23628EE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92719" y="229820"/>
                <a:ext cx="3171090" cy="317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19">
                <a:extLst>
                  <a:ext uri="{FF2B5EF4-FFF2-40B4-BE49-F238E27FC236}">
                    <a16:creationId xmlns:a16="http://schemas.microsoft.com/office/drawing/2014/main" id="{31EE7083-91D9-EAE9-7B4A-61CD2CD28015}"/>
                  </a:ext>
                </a:extLst>
              </p:cNvPr>
              <p:cNvGrpSpPr>
                <a:grpSpLocks/>
              </p:cNvGrpSpPr>
              <p:nvPr/>
            </p:nvGrpSpPr>
            <p:grpSpPr bwMode="auto">
              <a:xfrm>
                <a:off x="6166925" y="272562"/>
                <a:ext cx="5750562" cy="3051976"/>
                <a:chOff x="6166925" y="272562"/>
                <a:chExt cx="5750562" cy="3051976"/>
              </a:xfrm>
            </p:grpSpPr>
            <p:pic>
              <p:nvPicPr>
                <p:cNvPr id="46" name="Picture 1">
                  <a:extLst>
                    <a:ext uri="{FF2B5EF4-FFF2-40B4-BE49-F238E27FC236}">
                      <a16:creationId xmlns:a16="http://schemas.microsoft.com/office/drawing/2014/main" id="{021C83A4-8483-5171-EA6C-FF76CE65A12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6925" y="2103900"/>
                  <a:ext cx="5750562" cy="12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8">
                  <a:extLst>
                    <a:ext uri="{FF2B5EF4-FFF2-40B4-BE49-F238E27FC236}">
                      <a16:creationId xmlns:a16="http://schemas.microsoft.com/office/drawing/2014/main" id="{38693FBE-DE43-1025-B0DC-2ADDCCB25AB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93725" y="272562"/>
                  <a:ext cx="3096962" cy="174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