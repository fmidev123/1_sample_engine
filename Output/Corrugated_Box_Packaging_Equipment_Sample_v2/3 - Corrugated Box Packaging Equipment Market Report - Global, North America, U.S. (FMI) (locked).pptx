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26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notesSlides/notesSlide27.xml" ContentType="application/vnd.openxmlformats-officedocument.presentationml.notesSlid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charts/chart9.xml" ContentType="application/vnd.openxmlformats-officedocument.drawingml.chart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charts/chart10.xml" ContentType="application/vnd.openxmlformats-officedocument.drawingml.chart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charts/chart11.xml" ContentType="application/vnd.openxmlformats-officedocument.drawingml.chart+xml"/>
  <Override PartName="/ppt/notesSlides/notesSlide35.xml" ContentType="application/vnd.openxmlformats-officedocument.presentationml.notesSlide+xml"/>
  <Override PartName="/ppt/charts/chart12.xml" ContentType="application/vnd.openxmlformats-officedocument.drawingml.chart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notesSlides/notesSlide42.xml" ContentType="application/vnd.openxmlformats-officedocument.presentationml.notesSlide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charts/chart20.xml" ContentType="application/vnd.openxmlformats-officedocument.drawingml.chart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notesSlides/notesSlide48.xml" ContentType="application/vnd.openxmlformats-officedocument.presentationml.notesSlid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charts/chart26.xml" ContentType="application/vnd.openxmlformats-officedocument.drawingml.chart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notesSlides/notesSlide53.xml" ContentType="application/vnd.openxmlformats-officedocument.presentationml.notesSlide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notesSlides/notesSlide54.xml" ContentType="application/vnd.openxmlformats-officedocument.presentationml.notesSlide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charts/chart35.xml" ContentType="application/vnd.openxmlformats-officedocument.drawingml.chart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notesSlides/notesSlide60.xml" ContentType="application/vnd.openxmlformats-officedocument.presentationml.notesSlide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notesSlides/notesSlide61.xml" ContentType="application/vnd.openxmlformats-officedocument.presentationml.notesSlide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notesSlides/notesSlide62.xml" ContentType="application/vnd.openxmlformats-officedocument.presentationml.notesSlide+xml"/>
  <Override PartName="/ppt/charts/chart46.xml" ContentType="application/vnd.openxmlformats-officedocument.drawingml.chart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charts/chart47.xml" ContentType="application/vnd.openxmlformats-officedocument.drawingml.chart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notesSlides/notesSlide67.xml" ContentType="application/vnd.openxmlformats-officedocument.presentationml.notesSlide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notesSlides/notesSlide68.xml" ContentType="application/vnd.openxmlformats-officedocument.presentationml.notesSlide+xml"/>
  <Override PartName="/ppt/charts/chart54.xml" ContentType="application/vnd.openxmlformats-officedocument.drawingml.chart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charts/chart55.xml" ContentType="application/vnd.openxmlformats-officedocument.drawingml.chart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charts/chart56.xml" ContentType="application/vnd.openxmlformats-officedocument.drawingml.chart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charts/chart57.xml" ContentType="application/vnd.openxmlformats-officedocument.drawingml.chart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notesSlides/notesSlide88.xml" ContentType="application/vnd.openxmlformats-officedocument.presentationml.notesSlide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notesSlides/notesSlide89.xml" ContentType="application/vnd.openxmlformats-officedocument.presentationml.notesSlide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charts/chart66.xml" ContentType="application/vnd.openxmlformats-officedocument.drawingml.chart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charts/chart67.xml" ContentType="application/vnd.openxmlformats-officedocument.drawingml.chart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charts/chart68.xml" ContentType="application/vnd.openxmlformats-officedocument.drawingml.chart+xml"/>
  <Override PartName="/ppt/notesSlides/notesSlide96.xml" ContentType="application/vnd.openxmlformats-officedocument.presentationml.notesSlide+xml"/>
  <Override PartName="/ppt/charts/chart69.xml" ContentType="application/vnd.openxmlformats-officedocument.drawingml.chart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notesSlides/notesSlide103.xml" ContentType="application/vnd.openxmlformats-officedocument.presentationml.notesSlide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charts/chart77.xml" ContentType="application/vnd.openxmlformats-officedocument.drawingml.chart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notesSlides/notesSlide109.xml" ContentType="application/vnd.openxmlformats-officedocument.presentationml.notesSlide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charts/chart83.xml" ContentType="application/vnd.openxmlformats-officedocument.drawingml.chart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notesSlides/notesSlide114.xml" ContentType="application/vnd.openxmlformats-officedocument.presentationml.notesSlide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notesSlides/notesSlide115.xml" ContentType="application/vnd.openxmlformats-officedocument.presentationml.notesSlide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charts/chart92.xml" ContentType="application/vnd.openxmlformats-officedocument.drawingml.chart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notesSlides/notesSlide121.xml" ContentType="application/vnd.openxmlformats-officedocument.presentationml.notesSlide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notesSlides/notesSlide122.xml" ContentType="application/vnd.openxmlformats-officedocument.presentationml.notesSlide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notesSlides/notesSlide123.xml" ContentType="application/vnd.openxmlformats-officedocument.presentationml.notesSlide+xml"/>
  <Override PartName="/ppt/charts/chart103.xml" ContentType="application/vnd.openxmlformats-officedocument.drawingml.chart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charts/chart104.xml" ContentType="application/vnd.openxmlformats-officedocument.drawingml.chart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notesSlides/notesSlide128.xml" ContentType="application/vnd.openxmlformats-officedocument.presentationml.notesSlide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0.xml" ContentType="application/vnd.openxmlformats-officedocument.drawingml.chart+xml"/>
  <Override PartName="/ppt/notesSlides/notesSlide129.xml" ContentType="application/vnd.openxmlformats-officedocument.presentationml.notesSlide+xml"/>
  <Override PartName="/ppt/charts/chart111.xml" ContentType="application/vnd.openxmlformats-officedocument.drawingml.chart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charts/chart112.xml" ContentType="application/vnd.openxmlformats-officedocument.drawingml.chart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charts/chart113.xml" ContentType="application/vnd.openxmlformats-officedocument.drawingml.chart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charts/chart114.xml" ContentType="application/vnd.openxmlformats-officedocument.drawingml.chart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notesSlides/notesSlide147.xml" ContentType="application/vnd.openxmlformats-officedocument.presentationml.notesSlide+xml"/>
  <Override PartName="/ppt/charts/chart119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notesSlides/notesSlide148.xml" ContentType="application/vnd.openxmlformats-officedocument.presentationml.notesSlide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notesSlides/notesSlide149.xml" ContentType="application/vnd.openxmlformats-officedocument.presentationml.notesSlide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charts/chart132.xml" ContentType="application/vnd.openxmlformats-officedocument.drawingml.chart+xml"/>
  <Override PartName="/ppt/charts/chart133.xml" ContentType="application/vnd.openxmlformats-officedocument.drawingml.chart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charts/chart134.xml" ContentType="application/vnd.openxmlformats-officedocument.drawingml.chart+xml"/>
  <Override PartName="/ppt/notesSlides/notesSlide158.xml" ContentType="application/vnd.openxmlformats-officedocument.presentationml.notesSlide+xml"/>
  <Override PartName="/ppt/charts/chart135.xml" ContentType="application/vnd.openxmlformats-officedocument.drawingml.chart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charts/chart136.xml" ContentType="application/vnd.openxmlformats-officedocument.drawingml.chart+xml"/>
  <Override PartName="/ppt/charts/chart137.xml" ContentType="application/vnd.openxmlformats-officedocument.drawingml.chart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charts/chart138.xml" ContentType="application/vnd.openxmlformats-officedocument.drawingml.chart+xml"/>
  <Override PartName="/ppt/charts/chart139.xml" ContentType="application/vnd.openxmlformats-officedocument.drawingml.chart+xml"/>
  <Override PartName="/ppt/notesSlides/notesSlide165.xml" ContentType="application/vnd.openxmlformats-officedocument.presentationml.notesSlide+xml"/>
  <Override PartName="/ppt/charts/chart140.xml" ContentType="application/vnd.openxmlformats-officedocument.drawingml.chart+xml"/>
  <Override PartName="/ppt/notesSlides/notesSlide166.xml" ContentType="application/vnd.openxmlformats-officedocument.presentationml.notesSlide+xml"/>
  <Override PartName="/ppt/charts/chart141.xml" ContentType="application/vnd.openxmlformats-officedocument.drawingml.chart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charts/chart142.xml" ContentType="application/vnd.openxmlformats-officedocument.drawingml.chart+xml"/>
  <Override PartName="/ppt/notesSlides/notesSlide189.xml" ContentType="application/vnd.openxmlformats-officedocument.presentationml.notesSlide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chart145.xml" ContentType="application/vnd.openxmlformats-officedocument.drawingml.chart+xml"/>
  <Override PartName="/ppt/notesSlides/notesSlide190.xml" ContentType="application/vnd.openxmlformats-officedocument.presentationml.notesSlide+xml"/>
  <Override PartName="/ppt/charts/chart146.xml" ContentType="application/vnd.openxmlformats-officedocument.drawingml.chart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charts/chart149.xml" ContentType="application/vnd.openxmlformats-officedocument.drawingml.chart+xml"/>
  <Override PartName="/ppt/charts/chart150.xml" ContentType="application/vnd.openxmlformats-officedocument.drawingml.chart+xml"/>
  <Override PartName="/ppt/charts/chart151.xml" ContentType="application/vnd.openxmlformats-officedocument.drawingml.chart+xml"/>
  <Override PartName="/ppt/notesSlides/notesSlide193.xml" ContentType="application/vnd.openxmlformats-officedocument.presentationml.notesSlide+xml"/>
  <Override PartName="/ppt/charts/chart152.xml" ContentType="application/vnd.openxmlformats-officedocument.drawingml.chart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5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553" r:id="rId13"/>
    <p:sldId id="547" r:id="rId14"/>
    <p:sldId id="548" r:id="rId15"/>
    <p:sldId id="549" r:id="rId16"/>
    <p:sldId id="550" r:id="rId17"/>
    <p:sldId id="551" r:id="rId18"/>
    <p:sldId id="552" r:id="rId19"/>
    <p:sldId id="562" r:id="rId20"/>
    <p:sldId id="554" r:id="rId21"/>
    <p:sldId id="555" r:id="rId22"/>
    <p:sldId id="556" r:id="rId23"/>
    <p:sldId id="557" r:id="rId24"/>
    <p:sldId id="558" r:id="rId25"/>
    <p:sldId id="559" r:id="rId26"/>
    <p:sldId id="560" r:id="rId27"/>
    <p:sldId id="561" r:id="rId28"/>
    <p:sldId id="267" r:id="rId29"/>
    <p:sldId id="268" r:id="rId30"/>
    <p:sldId id="269" r:id="rId31"/>
    <p:sldId id="270" r:id="rId32"/>
    <p:sldId id="271" r:id="rId33"/>
    <p:sldId id="272" r:id="rId34"/>
    <p:sldId id="273" r:id="rId35"/>
    <p:sldId id="274" r:id="rId36"/>
    <p:sldId id="275" r:id="rId37"/>
    <p:sldId id="276" r:id="rId38"/>
    <p:sldId id="277" r:id="rId39"/>
    <p:sldId id="278" r:id="rId40"/>
    <p:sldId id="279" r:id="rId41"/>
    <p:sldId id="280" r:id="rId42"/>
    <p:sldId id="281" r:id="rId43"/>
    <p:sldId id="282" r:id="rId44"/>
    <p:sldId id="283" r:id="rId45"/>
    <p:sldId id="284" r:id="rId46"/>
    <p:sldId id="285" r:id="rId47"/>
    <p:sldId id="286" r:id="rId48"/>
    <p:sldId id="287" r:id="rId49"/>
    <p:sldId id="288" r:id="rId50"/>
    <p:sldId id="289" r:id="rId51"/>
    <p:sldId id="290" r:id="rId52"/>
    <p:sldId id="291" r:id="rId53"/>
    <p:sldId id="296" r:id="rId54"/>
    <p:sldId id="297" r:id="rId55"/>
    <p:sldId id="298" r:id="rId56"/>
    <p:sldId id="303" r:id="rId57"/>
    <p:sldId id="304" r:id="rId58"/>
    <p:sldId id="305" r:id="rId59"/>
    <p:sldId id="306" r:id="rId60"/>
    <p:sldId id="308" r:id="rId61"/>
    <p:sldId id="309" r:id="rId62"/>
    <p:sldId id="312" r:id="rId63"/>
    <p:sldId id="313" r:id="rId64"/>
    <p:sldId id="314" r:id="rId65"/>
    <p:sldId id="315" r:id="rId66"/>
    <p:sldId id="316" r:id="rId67"/>
    <p:sldId id="318" r:id="rId68"/>
    <p:sldId id="319" r:id="rId69"/>
    <p:sldId id="322" r:id="rId70"/>
    <p:sldId id="323" r:id="rId71"/>
    <p:sldId id="324" r:id="rId72"/>
    <p:sldId id="325" r:id="rId73"/>
    <p:sldId id="326" r:id="rId74"/>
    <p:sldId id="327" r:id="rId75"/>
    <p:sldId id="328" r:id="rId76"/>
    <p:sldId id="331" r:id="rId77"/>
    <p:sldId id="332" r:id="rId78"/>
    <p:sldId id="335" r:id="rId79"/>
    <p:sldId id="336" r:id="rId80"/>
    <p:sldId id="337" r:id="rId81"/>
    <p:sldId id="338" r:id="rId82"/>
    <p:sldId id="339" r:id="rId83"/>
    <p:sldId id="341" r:id="rId84"/>
    <p:sldId id="342" r:id="rId85"/>
    <p:sldId id="345" r:id="rId86"/>
    <p:sldId id="346" r:id="rId87"/>
    <p:sldId id="347" r:id="rId88"/>
    <p:sldId id="348" r:id="rId89"/>
    <p:sldId id="349" r:id="rId90"/>
    <p:sldId id="350" r:id="rId91"/>
    <p:sldId id="351" r:id="rId92"/>
    <p:sldId id="352" r:id="rId93"/>
    <p:sldId id="353" r:id="rId94"/>
    <p:sldId id="354" r:id="rId95"/>
    <p:sldId id="355" r:id="rId96"/>
    <p:sldId id="356" r:id="rId97"/>
    <p:sldId id="357" r:id="rId98"/>
    <p:sldId id="358" r:id="rId99"/>
    <p:sldId id="359" r:id="rId100"/>
    <p:sldId id="360" r:id="rId101"/>
    <p:sldId id="361" r:id="rId102"/>
    <p:sldId id="362" r:id="rId103"/>
    <p:sldId id="363" r:id="rId104"/>
    <p:sldId id="364" r:id="rId105"/>
    <p:sldId id="365" r:id="rId106"/>
    <p:sldId id="366" r:id="rId107"/>
    <p:sldId id="367" r:id="rId108"/>
    <p:sldId id="368" r:id="rId109"/>
    <p:sldId id="369" r:id="rId110"/>
    <p:sldId id="370" r:id="rId111"/>
    <p:sldId id="371" r:id="rId112"/>
    <p:sldId id="372" r:id="rId113"/>
    <p:sldId id="373" r:id="rId114"/>
    <p:sldId id="374" r:id="rId115"/>
    <p:sldId id="375" r:id="rId116"/>
    <p:sldId id="376" r:id="rId117"/>
    <p:sldId id="377" r:id="rId118"/>
    <p:sldId id="378" r:id="rId119"/>
    <p:sldId id="379" r:id="rId120"/>
    <p:sldId id="380" r:id="rId121"/>
    <p:sldId id="381" r:id="rId122"/>
    <p:sldId id="382" r:id="rId123"/>
    <p:sldId id="383" r:id="rId124"/>
    <p:sldId id="384" r:id="rId125"/>
    <p:sldId id="387" r:id="rId126"/>
    <p:sldId id="388" r:id="rId127"/>
    <p:sldId id="389" r:id="rId128"/>
    <p:sldId id="394" r:id="rId129"/>
    <p:sldId id="395" r:id="rId130"/>
    <p:sldId id="396" r:id="rId131"/>
    <p:sldId id="397" r:id="rId132"/>
    <p:sldId id="399" r:id="rId133"/>
    <p:sldId id="400" r:id="rId134"/>
    <p:sldId id="403" r:id="rId135"/>
    <p:sldId id="404" r:id="rId136"/>
    <p:sldId id="405" r:id="rId137"/>
    <p:sldId id="406" r:id="rId138"/>
    <p:sldId id="407" r:id="rId139"/>
    <p:sldId id="409" r:id="rId140"/>
    <p:sldId id="410" r:id="rId141"/>
    <p:sldId id="413" r:id="rId142"/>
    <p:sldId id="414" r:id="rId143"/>
    <p:sldId id="415" r:id="rId144"/>
    <p:sldId id="416" r:id="rId145"/>
    <p:sldId id="417" r:id="rId146"/>
    <p:sldId id="418" r:id="rId147"/>
    <p:sldId id="419" r:id="rId148"/>
    <p:sldId id="421" r:id="rId149"/>
    <p:sldId id="422" r:id="rId150"/>
    <p:sldId id="425" r:id="rId151"/>
    <p:sldId id="426" r:id="rId152"/>
    <p:sldId id="427" r:id="rId153"/>
    <p:sldId id="428" r:id="rId154"/>
    <p:sldId id="429" r:id="rId155"/>
    <p:sldId id="431" r:id="rId156"/>
    <p:sldId id="432" r:id="rId157"/>
    <p:sldId id="435" r:id="rId158"/>
    <p:sldId id="436" r:id="rId159"/>
    <p:sldId id="437" r:id="rId160"/>
    <p:sldId id="438" r:id="rId161"/>
    <p:sldId id="439" r:id="rId162"/>
    <p:sldId id="440" r:id="rId163"/>
    <p:sldId id="441" r:id="rId164"/>
    <p:sldId id="442" r:id="rId165"/>
    <p:sldId id="443" r:id="rId166"/>
    <p:sldId id="444" r:id="rId167"/>
    <p:sldId id="445" r:id="rId168"/>
    <p:sldId id="446" r:id="rId169"/>
    <p:sldId id="447" r:id="rId170"/>
    <p:sldId id="448" r:id="rId171"/>
    <p:sldId id="449" r:id="rId172"/>
    <p:sldId id="450" r:id="rId173"/>
    <p:sldId id="451" r:id="rId174"/>
    <p:sldId id="452" r:id="rId175"/>
    <p:sldId id="453" r:id="rId176"/>
    <p:sldId id="454" r:id="rId177"/>
    <p:sldId id="455" r:id="rId178"/>
    <p:sldId id="456" r:id="rId179"/>
    <p:sldId id="457" r:id="rId180"/>
    <p:sldId id="458" r:id="rId181"/>
    <p:sldId id="459" r:id="rId182"/>
    <p:sldId id="460" r:id="rId183"/>
    <p:sldId id="461" r:id="rId184"/>
    <p:sldId id="464" r:id="rId185"/>
    <p:sldId id="465" r:id="rId186"/>
    <p:sldId id="466" r:id="rId187"/>
    <p:sldId id="468" r:id="rId188"/>
    <p:sldId id="469" r:id="rId189"/>
    <p:sldId id="470" r:id="rId190"/>
    <p:sldId id="472" r:id="rId191"/>
    <p:sldId id="473" r:id="rId192"/>
    <p:sldId id="474" r:id="rId193"/>
    <p:sldId id="476" r:id="rId194"/>
    <p:sldId id="479" r:id="rId195"/>
    <p:sldId id="480" r:id="rId196"/>
    <p:sldId id="481" r:id="rId197"/>
    <p:sldId id="483" r:id="rId198"/>
    <p:sldId id="484" r:id="rId199"/>
    <p:sldId id="485" r:id="rId200"/>
    <p:sldId id="486" r:id="rId201"/>
    <p:sldId id="487" r:id="rId202"/>
    <p:sldId id="488" r:id="rId203"/>
    <p:sldId id="489" r:id="rId204"/>
    <p:sldId id="490" r:id="rId205"/>
    <p:sldId id="491" r:id="rId206"/>
    <p:sldId id="492" r:id="rId207"/>
    <p:sldId id="493" r:id="rId208"/>
    <p:sldId id="494" r:id="rId209"/>
    <p:sldId id="495" r:id="rId210"/>
    <p:sldId id="496" r:id="rId211"/>
    <p:sldId id="497" r:id="rId212"/>
    <p:sldId id="498" r:id="rId213"/>
    <p:sldId id="499" r:id="rId214"/>
    <p:sldId id="500" r:id="rId215"/>
    <p:sldId id="501" r:id="rId216"/>
    <p:sldId id="502" r:id="rId217"/>
    <p:sldId id="503" r:id="rId218"/>
    <p:sldId id="504" r:id="rId219"/>
    <p:sldId id="505" r:id="rId220"/>
    <p:sldId id="506" r:id="rId221"/>
    <p:sldId id="507" r:id="rId222"/>
    <p:sldId id="508" r:id="rId223"/>
    <p:sldId id="509" r:id="rId224"/>
    <p:sldId id="510" r:id="rId225"/>
    <p:sldId id="525" r:id="rId226"/>
    <p:sldId id="526" r:id="rId227"/>
    <p:sldId id="527" r:id="rId228"/>
    <p:sldId id="528" r:id="rId229"/>
    <p:sldId id="529" r:id="rId230"/>
    <p:sldId id="530" r:id="rId231"/>
    <p:sldId id="531" r:id="rId232"/>
    <p:sldId id="532" r:id="rId233"/>
    <p:sldId id="533" r:id="rId234"/>
    <p:sldId id="534" r:id="rId235"/>
    <p:sldId id="535" r:id="rId236"/>
    <p:sldId id="536" r:id="rId237"/>
    <p:sldId id="511" r:id="rId238"/>
    <p:sldId id="512" r:id="rId239"/>
    <p:sldId id="513" r:id="rId240"/>
    <p:sldId id="514" r:id="rId241"/>
    <p:sldId id="515" r:id="rId242"/>
    <p:sldId id="516" r:id="rId243"/>
    <p:sldId id="517" r:id="rId244"/>
    <p:sldId id="518" r:id="rId245"/>
    <p:sldId id="519" r:id="rId246"/>
    <p:sldId id="520" r:id="rId247"/>
    <p:sldId id="521" r:id="rId248"/>
    <p:sldId id="522" r:id="rId249"/>
    <p:sldId id="523" r:id="rId250"/>
    <p:sldId id="524" r:id="rId251"/>
    <p:sldId id="563" r:id="rId252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78" d="100"/>
          <a:sy n="78" d="100"/>
        </p:scale>
        <p:origin x="850" y="6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notesMaster" Target="notesMasters/notesMaster1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presProps" Target="presProps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viewProps" Target="viewProps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theme" Target="theme/theme1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charts/_rels/chart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image" Target="../media/image9.png"/><Relationship Id="rId1" Type="http://schemas.openxmlformats.org/officeDocument/2006/relationships/image" Target="../media/image8.png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10" Type="http://schemas.openxmlformats.org/officeDocument/2006/relationships/image" Target="../media/image17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charts/_rels/chart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13" Type="http://schemas.openxmlformats.org/officeDocument/2006/relationships/image" Target="../media/image30.png"/><Relationship Id="rId18" Type="http://schemas.openxmlformats.org/officeDocument/2006/relationships/image" Target="../media/image35.png"/><Relationship Id="rId3" Type="http://schemas.openxmlformats.org/officeDocument/2006/relationships/image" Target="../media/image20.png"/><Relationship Id="rId21" Type="http://schemas.openxmlformats.org/officeDocument/2006/relationships/image" Target="../media/image38.png"/><Relationship Id="rId7" Type="http://schemas.openxmlformats.org/officeDocument/2006/relationships/image" Target="../media/image24.png"/><Relationship Id="rId12" Type="http://schemas.openxmlformats.org/officeDocument/2006/relationships/image" Target="../media/image29.png"/><Relationship Id="rId17" Type="http://schemas.openxmlformats.org/officeDocument/2006/relationships/image" Target="../media/image34.png"/><Relationship Id="rId2" Type="http://schemas.openxmlformats.org/officeDocument/2006/relationships/image" Target="../media/image19.png"/><Relationship Id="rId16" Type="http://schemas.openxmlformats.org/officeDocument/2006/relationships/image" Target="../media/image33.png"/><Relationship Id="rId20" Type="http://schemas.openxmlformats.org/officeDocument/2006/relationships/image" Target="../media/image37.png"/><Relationship Id="rId1" Type="http://schemas.openxmlformats.org/officeDocument/2006/relationships/image" Target="../media/image18.png"/><Relationship Id="rId6" Type="http://schemas.openxmlformats.org/officeDocument/2006/relationships/image" Target="../media/image23.png"/><Relationship Id="rId11" Type="http://schemas.openxmlformats.org/officeDocument/2006/relationships/image" Target="../media/image28.png"/><Relationship Id="rId5" Type="http://schemas.openxmlformats.org/officeDocument/2006/relationships/image" Target="../media/image22.png"/><Relationship Id="rId15" Type="http://schemas.openxmlformats.org/officeDocument/2006/relationships/image" Target="../media/image32.png"/><Relationship Id="rId10" Type="http://schemas.openxmlformats.org/officeDocument/2006/relationships/image" Target="../media/image27.png"/><Relationship Id="rId19" Type="http://schemas.openxmlformats.org/officeDocument/2006/relationships/image" Target="../media/image36.png"/><Relationship Id="rId4" Type="http://schemas.openxmlformats.org/officeDocument/2006/relationships/image" Target="../media/image21.png"/><Relationship Id="rId9" Type="http://schemas.openxmlformats.org/officeDocument/2006/relationships/image" Target="../media/image26.png"/><Relationship Id="rId14" Type="http://schemas.openxmlformats.org/officeDocument/2006/relationships/image" Target="../media/image31.png"/><Relationship Id="rId22" Type="http://schemas.openxmlformats.org/officeDocument/2006/relationships/image" Target="../media/image39.png"/></Relationships>
</file>

<file path=ppt/charts/_rels/char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3" Type="http://schemas.openxmlformats.org/officeDocument/2006/relationships/image" Target="../media/image42.png"/><Relationship Id="rId7" Type="http://schemas.openxmlformats.org/officeDocument/2006/relationships/image" Target="../media/image46.png"/><Relationship Id="rId2" Type="http://schemas.openxmlformats.org/officeDocument/2006/relationships/image" Target="../media/image41.png"/><Relationship Id="rId1" Type="http://schemas.openxmlformats.org/officeDocument/2006/relationships/image" Target="../media/image40.png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10" Type="http://schemas.openxmlformats.org/officeDocument/2006/relationships/image" Target="../media/image49.png"/><Relationship Id="rId4" Type="http://schemas.openxmlformats.org/officeDocument/2006/relationships/image" Target="../media/image43.png"/><Relationship Id="rId9" Type="http://schemas.openxmlformats.org/officeDocument/2006/relationships/image" Target="../media/image48.png"/></Relationships>
</file>

<file path=ppt/charts/_rels/char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png"/><Relationship Id="rId7" Type="http://schemas.openxmlformats.org/officeDocument/2006/relationships/image" Target="../media/image56.png"/><Relationship Id="rId2" Type="http://schemas.openxmlformats.org/officeDocument/2006/relationships/image" Target="../media/image51.png"/><Relationship Id="rId1" Type="http://schemas.openxmlformats.org/officeDocument/2006/relationships/image" Target="../media/image50.png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10" Type="http://schemas.openxmlformats.org/officeDocument/2006/relationships/image" Target="../media/image59.png"/><Relationship Id="rId4" Type="http://schemas.openxmlformats.org/officeDocument/2006/relationships/image" Target="../media/image53.png"/><Relationship Id="rId9" Type="http://schemas.openxmlformats.org/officeDocument/2006/relationships/image" Target="../media/image58.png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image" Target="../media/image60.png"/></Relationships>
</file>

<file path=ppt/charts/_rels/chart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.png"/><Relationship Id="rId3" Type="http://schemas.openxmlformats.org/officeDocument/2006/relationships/image" Target="../media/image83.png"/><Relationship Id="rId7" Type="http://schemas.openxmlformats.org/officeDocument/2006/relationships/image" Target="../media/image87.png"/><Relationship Id="rId2" Type="http://schemas.openxmlformats.org/officeDocument/2006/relationships/image" Target="../media/image82.png"/><Relationship Id="rId1" Type="http://schemas.openxmlformats.org/officeDocument/2006/relationships/image" Target="../media/image81.png"/><Relationship Id="rId6" Type="http://schemas.openxmlformats.org/officeDocument/2006/relationships/image" Target="../media/image86.png"/><Relationship Id="rId11" Type="http://schemas.openxmlformats.org/officeDocument/2006/relationships/image" Target="../media/image91.png"/><Relationship Id="rId5" Type="http://schemas.openxmlformats.org/officeDocument/2006/relationships/image" Target="../media/image85.png"/><Relationship Id="rId10" Type="http://schemas.openxmlformats.org/officeDocument/2006/relationships/image" Target="../media/image90.png"/><Relationship Id="rId4" Type="http://schemas.openxmlformats.org/officeDocument/2006/relationships/image" Target="../media/image84.png"/><Relationship Id="rId9" Type="http://schemas.openxmlformats.org/officeDocument/2006/relationships/image" Target="../media/image89.png"/></Relationships>
</file>

<file path=ppt/charts/_rels/char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3" Type="http://schemas.openxmlformats.org/officeDocument/2006/relationships/image" Target="../media/image97.png"/><Relationship Id="rId7" Type="http://schemas.openxmlformats.org/officeDocument/2006/relationships/image" Target="../media/image101.png"/><Relationship Id="rId12" Type="http://schemas.openxmlformats.org/officeDocument/2006/relationships/image" Target="../media/image106.png"/><Relationship Id="rId2" Type="http://schemas.openxmlformats.org/officeDocument/2006/relationships/image" Target="../media/image96.png"/><Relationship Id="rId1" Type="http://schemas.openxmlformats.org/officeDocument/2006/relationships/image" Target="../media/image95.png"/><Relationship Id="rId6" Type="http://schemas.openxmlformats.org/officeDocument/2006/relationships/image" Target="../media/image100.png"/><Relationship Id="rId11" Type="http://schemas.openxmlformats.org/officeDocument/2006/relationships/image" Target="../media/image105.png"/><Relationship Id="rId5" Type="http://schemas.openxmlformats.org/officeDocument/2006/relationships/image" Target="../media/image99.png"/><Relationship Id="rId10" Type="http://schemas.openxmlformats.org/officeDocument/2006/relationships/image" Target="../media/image104.png"/><Relationship Id="rId4" Type="http://schemas.openxmlformats.org/officeDocument/2006/relationships/image" Target="../media/image98.png"/><Relationship Id="rId9" Type="http://schemas.openxmlformats.org/officeDocument/2006/relationships/image" Target="../media/image103.png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charts/_rels/chart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png"/><Relationship Id="rId13" Type="http://schemas.openxmlformats.org/officeDocument/2006/relationships/image" Target="../media/image129.png"/><Relationship Id="rId3" Type="http://schemas.openxmlformats.org/officeDocument/2006/relationships/image" Target="../media/image120.png"/><Relationship Id="rId7" Type="http://schemas.openxmlformats.org/officeDocument/2006/relationships/image" Target="../media/image123.png"/><Relationship Id="rId12" Type="http://schemas.openxmlformats.org/officeDocument/2006/relationships/image" Target="../media/image128.png"/><Relationship Id="rId2" Type="http://schemas.openxmlformats.org/officeDocument/2006/relationships/image" Target="../media/image119.png"/><Relationship Id="rId1" Type="http://schemas.openxmlformats.org/officeDocument/2006/relationships/image" Target="../media/image118.png"/><Relationship Id="rId6" Type="http://schemas.openxmlformats.org/officeDocument/2006/relationships/image" Target="../media/image122.png"/><Relationship Id="rId11" Type="http://schemas.openxmlformats.org/officeDocument/2006/relationships/image" Target="../media/image127.png"/><Relationship Id="rId5" Type="http://schemas.openxmlformats.org/officeDocument/2006/relationships/image" Target="../media/image97.png"/><Relationship Id="rId15" Type="http://schemas.openxmlformats.org/officeDocument/2006/relationships/image" Target="../media/image131.png"/><Relationship Id="rId10" Type="http://schemas.openxmlformats.org/officeDocument/2006/relationships/image" Target="../media/image126.png"/><Relationship Id="rId4" Type="http://schemas.openxmlformats.org/officeDocument/2006/relationships/image" Target="../media/image121.png"/><Relationship Id="rId9" Type="http://schemas.openxmlformats.org/officeDocument/2006/relationships/image" Target="../media/image125.png"/><Relationship Id="rId14" Type="http://schemas.openxmlformats.org/officeDocument/2006/relationships/image" Target="../media/image130.png"/></Relationships>
</file>

<file path=ppt/charts/_rels/chart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.png"/><Relationship Id="rId3" Type="http://schemas.openxmlformats.org/officeDocument/2006/relationships/image" Target="../media/image134.png"/><Relationship Id="rId7" Type="http://schemas.openxmlformats.org/officeDocument/2006/relationships/image" Target="../media/image138.png"/><Relationship Id="rId2" Type="http://schemas.openxmlformats.org/officeDocument/2006/relationships/image" Target="../media/image133.png"/><Relationship Id="rId1" Type="http://schemas.openxmlformats.org/officeDocument/2006/relationships/image" Target="../media/image132.png"/><Relationship Id="rId6" Type="http://schemas.openxmlformats.org/officeDocument/2006/relationships/image" Target="../media/image137.png"/><Relationship Id="rId5" Type="http://schemas.openxmlformats.org/officeDocument/2006/relationships/image" Target="../media/image136.png"/><Relationship Id="rId4" Type="http://schemas.openxmlformats.org/officeDocument/2006/relationships/image" Target="../media/image135.png"/><Relationship Id="rId9" Type="http://schemas.openxmlformats.org/officeDocument/2006/relationships/image" Target="../media/image120.png"/></Relationships>
</file>

<file path=ppt/charts/_rels/chart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png"/><Relationship Id="rId13" Type="http://schemas.openxmlformats.org/officeDocument/2006/relationships/image" Target="../media/image157.png"/><Relationship Id="rId18" Type="http://schemas.openxmlformats.org/officeDocument/2006/relationships/image" Target="../media/image162.png"/><Relationship Id="rId3" Type="http://schemas.openxmlformats.org/officeDocument/2006/relationships/image" Target="../media/image91.png"/><Relationship Id="rId7" Type="http://schemas.openxmlformats.org/officeDocument/2006/relationships/image" Target="../media/image151.png"/><Relationship Id="rId12" Type="http://schemas.openxmlformats.org/officeDocument/2006/relationships/image" Target="../media/image156.png"/><Relationship Id="rId17" Type="http://schemas.openxmlformats.org/officeDocument/2006/relationships/image" Target="../media/image161.png"/><Relationship Id="rId2" Type="http://schemas.openxmlformats.org/officeDocument/2006/relationships/image" Target="../media/image148.png"/><Relationship Id="rId16" Type="http://schemas.openxmlformats.org/officeDocument/2006/relationships/image" Target="../media/image160.png"/><Relationship Id="rId1" Type="http://schemas.openxmlformats.org/officeDocument/2006/relationships/image" Target="../media/image104.png"/><Relationship Id="rId6" Type="http://schemas.openxmlformats.org/officeDocument/2006/relationships/image" Target="../media/image106.png"/><Relationship Id="rId11" Type="http://schemas.openxmlformats.org/officeDocument/2006/relationships/image" Target="../media/image155.png"/><Relationship Id="rId5" Type="http://schemas.openxmlformats.org/officeDocument/2006/relationships/image" Target="../media/image150.png"/><Relationship Id="rId15" Type="http://schemas.openxmlformats.org/officeDocument/2006/relationships/image" Target="../media/image159.png"/><Relationship Id="rId10" Type="http://schemas.openxmlformats.org/officeDocument/2006/relationships/image" Target="../media/image154.png"/><Relationship Id="rId4" Type="http://schemas.openxmlformats.org/officeDocument/2006/relationships/image" Target="../media/image149.png"/><Relationship Id="rId9" Type="http://schemas.openxmlformats.org/officeDocument/2006/relationships/image" Target="../media/image153.png"/><Relationship Id="rId14" Type="http://schemas.openxmlformats.org/officeDocument/2006/relationships/image" Target="../media/image158.png"/></Relationships>
</file>

<file path=ppt/charts/_rels/chart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3" Type="http://schemas.openxmlformats.org/officeDocument/2006/relationships/image" Target="../media/image165.png"/><Relationship Id="rId7" Type="http://schemas.openxmlformats.org/officeDocument/2006/relationships/image" Target="../media/image169.png"/><Relationship Id="rId2" Type="http://schemas.openxmlformats.org/officeDocument/2006/relationships/image" Target="../media/image164.png"/><Relationship Id="rId1" Type="http://schemas.openxmlformats.org/officeDocument/2006/relationships/image" Target="../media/image163.png"/><Relationship Id="rId6" Type="http://schemas.openxmlformats.org/officeDocument/2006/relationships/image" Target="../media/image168.png"/><Relationship Id="rId5" Type="http://schemas.openxmlformats.org/officeDocument/2006/relationships/image" Target="../media/image167.png"/><Relationship Id="rId4" Type="http://schemas.openxmlformats.org/officeDocument/2006/relationships/image" Target="../media/image166.png"/><Relationship Id="rId9" Type="http://schemas.openxmlformats.org/officeDocument/2006/relationships/image" Target="../media/image103.png"/></Relationships>
</file>

<file path=ppt/charts/_rels/chart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97.png"/><Relationship Id="rId18" Type="http://schemas.openxmlformats.org/officeDocument/2006/relationships/image" Target="../media/image201.png"/><Relationship Id="rId26" Type="http://schemas.openxmlformats.org/officeDocument/2006/relationships/image" Target="../media/image207.png"/><Relationship Id="rId3" Type="http://schemas.openxmlformats.org/officeDocument/2006/relationships/image" Target="../media/image187.png"/><Relationship Id="rId21" Type="http://schemas.openxmlformats.org/officeDocument/2006/relationships/image" Target="../media/image136.png"/><Relationship Id="rId7" Type="http://schemas.openxmlformats.org/officeDocument/2006/relationships/image" Target="../media/image191.png"/><Relationship Id="rId12" Type="http://schemas.openxmlformats.org/officeDocument/2006/relationships/image" Target="../media/image196.png"/><Relationship Id="rId17" Type="http://schemas.openxmlformats.org/officeDocument/2006/relationships/image" Target="../media/image54.png"/><Relationship Id="rId25" Type="http://schemas.openxmlformats.org/officeDocument/2006/relationships/image" Target="../media/image206.png"/><Relationship Id="rId33" Type="http://schemas.openxmlformats.org/officeDocument/2006/relationships/image" Target="../media/image212.png"/><Relationship Id="rId2" Type="http://schemas.openxmlformats.org/officeDocument/2006/relationships/image" Target="../media/image186.png"/><Relationship Id="rId16" Type="http://schemas.openxmlformats.org/officeDocument/2006/relationships/image" Target="../media/image200.png"/><Relationship Id="rId20" Type="http://schemas.openxmlformats.org/officeDocument/2006/relationships/image" Target="../media/image203.png"/><Relationship Id="rId29" Type="http://schemas.openxmlformats.org/officeDocument/2006/relationships/image" Target="../media/image57.png"/><Relationship Id="rId1" Type="http://schemas.openxmlformats.org/officeDocument/2006/relationships/image" Target="../media/image84.png"/><Relationship Id="rId6" Type="http://schemas.openxmlformats.org/officeDocument/2006/relationships/image" Target="../media/image190.png"/><Relationship Id="rId11" Type="http://schemas.openxmlformats.org/officeDocument/2006/relationships/image" Target="../media/image195.png"/><Relationship Id="rId24" Type="http://schemas.openxmlformats.org/officeDocument/2006/relationships/image" Target="../media/image205.png"/><Relationship Id="rId32" Type="http://schemas.openxmlformats.org/officeDocument/2006/relationships/image" Target="../media/image211.png"/><Relationship Id="rId5" Type="http://schemas.openxmlformats.org/officeDocument/2006/relationships/image" Target="../media/image189.png"/><Relationship Id="rId15" Type="http://schemas.openxmlformats.org/officeDocument/2006/relationships/image" Target="../media/image199.png"/><Relationship Id="rId23" Type="http://schemas.openxmlformats.org/officeDocument/2006/relationships/image" Target="../media/image204.png"/><Relationship Id="rId28" Type="http://schemas.openxmlformats.org/officeDocument/2006/relationships/image" Target="../media/image150.png"/><Relationship Id="rId10" Type="http://schemas.openxmlformats.org/officeDocument/2006/relationships/image" Target="../media/image194.png"/><Relationship Id="rId19" Type="http://schemas.openxmlformats.org/officeDocument/2006/relationships/image" Target="../media/image202.png"/><Relationship Id="rId31" Type="http://schemas.openxmlformats.org/officeDocument/2006/relationships/image" Target="../media/image210.png"/><Relationship Id="rId4" Type="http://schemas.openxmlformats.org/officeDocument/2006/relationships/image" Target="../media/image188.png"/><Relationship Id="rId9" Type="http://schemas.openxmlformats.org/officeDocument/2006/relationships/image" Target="../media/image193.png"/><Relationship Id="rId14" Type="http://schemas.openxmlformats.org/officeDocument/2006/relationships/image" Target="../media/image198.png"/><Relationship Id="rId22" Type="http://schemas.openxmlformats.org/officeDocument/2006/relationships/image" Target="../media/image139.png"/><Relationship Id="rId27" Type="http://schemas.openxmlformats.org/officeDocument/2006/relationships/image" Target="../media/image208.png"/><Relationship Id="rId30" Type="http://schemas.openxmlformats.org/officeDocument/2006/relationships/image" Target="../media/image209.png"/><Relationship Id="rId8" Type="http://schemas.openxmlformats.org/officeDocument/2006/relationships/image" Target="../media/image192.png"/></Relationships>
</file>

<file path=ppt/charts/_rels/chart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6.png"/><Relationship Id="rId13" Type="http://schemas.openxmlformats.org/officeDocument/2006/relationships/image" Target="../media/image221.png"/><Relationship Id="rId3" Type="http://schemas.openxmlformats.org/officeDocument/2006/relationships/image" Target="../media/image203.png"/><Relationship Id="rId7" Type="http://schemas.openxmlformats.org/officeDocument/2006/relationships/image" Target="../media/image215.png"/><Relationship Id="rId12" Type="http://schemas.openxmlformats.org/officeDocument/2006/relationships/image" Target="../media/image220.png"/><Relationship Id="rId17" Type="http://schemas.openxmlformats.org/officeDocument/2006/relationships/image" Target="../media/image224.png"/><Relationship Id="rId2" Type="http://schemas.openxmlformats.org/officeDocument/2006/relationships/image" Target="../media/image213.png"/><Relationship Id="rId16" Type="http://schemas.openxmlformats.org/officeDocument/2006/relationships/image" Target="../media/image223.png"/><Relationship Id="rId1" Type="http://schemas.openxmlformats.org/officeDocument/2006/relationships/image" Target="../media/image96.png"/><Relationship Id="rId6" Type="http://schemas.openxmlformats.org/officeDocument/2006/relationships/image" Target="../media/image188.png"/><Relationship Id="rId11" Type="http://schemas.openxmlformats.org/officeDocument/2006/relationships/image" Target="../media/image219.png"/><Relationship Id="rId5" Type="http://schemas.openxmlformats.org/officeDocument/2006/relationships/image" Target="../media/image81.png"/><Relationship Id="rId15" Type="http://schemas.openxmlformats.org/officeDocument/2006/relationships/image" Target="../media/image222.png"/><Relationship Id="rId10" Type="http://schemas.openxmlformats.org/officeDocument/2006/relationships/image" Target="../media/image218.png"/><Relationship Id="rId4" Type="http://schemas.openxmlformats.org/officeDocument/2006/relationships/image" Target="../media/image214.png"/><Relationship Id="rId9" Type="http://schemas.openxmlformats.org/officeDocument/2006/relationships/image" Target="../media/image217.png"/><Relationship Id="rId14" Type="http://schemas.openxmlformats.org/officeDocument/2006/relationships/image" Target="../media/image57.png"/></Relationships>
</file>

<file path=ppt/charts/_rels/chart3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57.png"/><Relationship Id="rId18" Type="http://schemas.openxmlformats.org/officeDocument/2006/relationships/image" Target="../media/image106.png"/><Relationship Id="rId26" Type="http://schemas.openxmlformats.org/officeDocument/2006/relationships/image" Target="../media/image265.png"/><Relationship Id="rId39" Type="http://schemas.openxmlformats.org/officeDocument/2006/relationships/image" Target="../media/image276.png"/><Relationship Id="rId21" Type="http://schemas.openxmlformats.org/officeDocument/2006/relationships/image" Target="../media/image262.png"/><Relationship Id="rId34" Type="http://schemas.openxmlformats.org/officeDocument/2006/relationships/image" Target="../media/image272.png"/><Relationship Id="rId42" Type="http://schemas.openxmlformats.org/officeDocument/2006/relationships/image" Target="../media/image279.png"/><Relationship Id="rId47" Type="http://schemas.openxmlformats.org/officeDocument/2006/relationships/image" Target="../media/image283.png"/><Relationship Id="rId7" Type="http://schemas.openxmlformats.org/officeDocument/2006/relationships/image" Target="../media/image100.png"/><Relationship Id="rId2" Type="http://schemas.openxmlformats.org/officeDocument/2006/relationships/image" Target="../media/image249.png"/><Relationship Id="rId16" Type="http://schemas.openxmlformats.org/officeDocument/2006/relationships/image" Target="../media/image259.png"/><Relationship Id="rId29" Type="http://schemas.openxmlformats.org/officeDocument/2006/relationships/image" Target="../media/image268.png"/><Relationship Id="rId1" Type="http://schemas.openxmlformats.org/officeDocument/2006/relationships/image" Target="../media/image248.png"/><Relationship Id="rId6" Type="http://schemas.openxmlformats.org/officeDocument/2006/relationships/image" Target="../media/image252.png"/><Relationship Id="rId11" Type="http://schemas.openxmlformats.org/officeDocument/2006/relationships/image" Target="../media/image255.png"/><Relationship Id="rId24" Type="http://schemas.openxmlformats.org/officeDocument/2006/relationships/image" Target="../media/image264.png"/><Relationship Id="rId32" Type="http://schemas.openxmlformats.org/officeDocument/2006/relationships/image" Target="../media/image219.png"/><Relationship Id="rId37" Type="http://schemas.openxmlformats.org/officeDocument/2006/relationships/image" Target="../media/image274.png"/><Relationship Id="rId40" Type="http://schemas.openxmlformats.org/officeDocument/2006/relationships/image" Target="../media/image277.png"/><Relationship Id="rId45" Type="http://schemas.openxmlformats.org/officeDocument/2006/relationships/image" Target="../media/image282.png"/><Relationship Id="rId5" Type="http://schemas.openxmlformats.org/officeDocument/2006/relationships/image" Target="../media/image52.png"/><Relationship Id="rId15" Type="http://schemas.openxmlformats.org/officeDocument/2006/relationships/image" Target="../media/image258.png"/><Relationship Id="rId23" Type="http://schemas.openxmlformats.org/officeDocument/2006/relationships/image" Target="../media/image91.png"/><Relationship Id="rId28" Type="http://schemas.openxmlformats.org/officeDocument/2006/relationships/image" Target="../media/image267.png"/><Relationship Id="rId36" Type="http://schemas.openxmlformats.org/officeDocument/2006/relationships/image" Target="../media/image101.png"/><Relationship Id="rId10" Type="http://schemas.openxmlformats.org/officeDocument/2006/relationships/image" Target="../media/image217.png"/><Relationship Id="rId19" Type="http://schemas.openxmlformats.org/officeDocument/2006/relationships/image" Target="../media/image89.png"/><Relationship Id="rId31" Type="http://schemas.openxmlformats.org/officeDocument/2006/relationships/image" Target="../media/image270.png"/><Relationship Id="rId44" Type="http://schemas.openxmlformats.org/officeDocument/2006/relationships/image" Target="../media/image281.png"/><Relationship Id="rId4" Type="http://schemas.openxmlformats.org/officeDocument/2006/relationships/image" Target="../media/image251.png"/><Relationship Id="rId9" Type="http://schemas.openxmlformats.org/officeDocument/2006/relationships/image" Target="../media/image254.png"/><Relationship Id="rId14" Type="http://schemas.openxmlformats.org/officeDocument/2006/relationships/image" Target="../media/image221.png"/><Relationship Id="rId22" Type="http://schemas.openxmlformats.org/officeDocument/2006/relationships/image" Target="../media/image263.png"/><Relationship Id="rId27" Type="http://schemas.openxmlformats.org/officeDocument/2006/relationships/image" Target="../media/image266.png"/><Relationship Id="rId30" Type="http://schemas.openxmlformats.org/officeDocument/2006/relationships/image" Target="../media/image269.png"/><Relationship Id="rId35" Type="http://schemas.openxmlformats.org/officeDocument/2006/relationships/image" Target="../media/image273.png"/><Relationship Id="rId43" Type="http://schemas.openxmlformats.org/officeDocument/2006/relationships/image" Target="../media/image280.png"/><Relationship Id="rId8" Type="http://schemas.openxmlformats.org/officeDocument/2006/relationships/image" Target="../media/image253.png"/><Relationship Id="rId3" Type="http://schemas.openxmlformats.org/officeDocument/2006/relationships/image" Target="../media/image250.png"/><Relationship Id="rId12" Type="http://schemas.openxmlformats.org/officeDocument/2006/relationships/image" Target="../media/image256.png"/><Relationship Id="rId17" Type="http://schemas.openxmlformats.org/officeDocument/2006/relationships/image" Target="../media/image260.png"/><Relationship Id="rId25" Type="http://schemas.openxmlformats.org/officeDocument/2006/relationships/image" Target="../media/image87.png"/><Relationship Id="rId33" Type="http://schemas.openxmlformats.org/officeDocument/2006/relationships/image" Target="../media/image271.png"/><Relationship Id="rId38" Type="http://schemas.openxmlformats.org/officeDocument/2006/relationships/image" Target="../media/image275.png"/><Relationship Id="rId46" Type="http://schemas.openxmlformats.org/officeDocument/2006/relationships/image" Target="../media/image196.png"/><Relationship Id="rId20" Type="http://schemas.openxmlformats.org/officeDocument/2006/relationships/image" Target="../media/image261.png"/><Relationship Id="rId41" Type="http://schemas.openxmlformats.org/officeDocument/2006/relationships/image" Target="../media/image278.png"/></Relationships>
</file>

<file path=ppt/charts/_rels/chart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13" Type="http://schemas.openxmlformats.org/officeDocument/2006/relationships/image" Target="../media/image221.png"/><Relationship Id="rId18" Type="http://schemas.openxmlformats.org/officeDocument/2006/relationships/image" Target="../media/image206.png"/><Relationship Id="rId26" Type="http://schemas.openxmlformats.org/officeDocument/2006/relationships/image" Target="../media/image278.png"/><Relationship Id="rId3" Type="http://schemas.openxmlformats.org/officeDocument/2006/relationships/image" Target="../media/image285.png"/><Relationship Id="rId21" Type="http://schemas.openxmlformats.org/officeDocument/2006/relationships/image" Target="../media/image276.png"/><Relationship Id="rId7" Type="http://schemas.openxmlformats.org/officeDocument/2006/relationships/image" Target="../media/image288.png"/><Relationship Id="rId12" Type="http://schemas.openxmlformats.org/officeDocument/2006/relationships/image" Target="../media/image196.png"/><Relationship Id="rId17" Type="http://schemas.openxmlformats.org/officeDocument/2006/relationships/image" Target="../media/image290.png"/><Relationship Id="rId25" Type="http://schemas.openxmlformats.org/officeDocument/2006/relationships/image" Target="../media/image50.png"/><Relationship Id="rId2" Type="http://schemas.openxmlformats.org/officeDocument/2006/relationships/image" Target="../media/image284.png"/><Relationship Id="rId16" Type="http://schemas.openxmlformats.org/officeDocument/2006/relationships/image" Target="../media/image258.png"/><Relationship Id="rId20" Type="http://schemas.openxmlformats.org/officeDocument/2006/relationships/image" Target="../media/image291.png"/><Relationship Id="rId1" Type="http://schemas.openxmlformats.org/officeDocument/2006/relationships/image" Target="../media/image268.png"/><Relationship Id="rId6" Type="http://schemas.openxmlformats.org/officeDocument/2006/relationships/image" Target="../media/image287.png"/><Relationship Id="rId11" Type="http://schemas.openxmlformats.org/officeDocument/2006/relationships/image" Target="../media/image192.png"/><Relationship Id="rId24" Type="http://schemas.openxmlformats.org/officeDocument/2006/relationships/image" Target="../media/image279.png"/><Relationship Id="rId5" Type="http://schemas.openxmlformats.org/officeDocument/2006/relationships/image" Target="../media/image220.png"/><Relationship Id="rId15" Type="http://schemas.openxmlformats.org/officeDocument/2006/relationships/image" Target="../media/image100.png"/><Relationship Id="rId23" Type="http://schemas.openxmlformats.org/officeDocument/2006/relationships/image" Target="../media/image293.png"/><Relationship Id="rId10" Type="http://schemas.openxmlformats.org/officeDocument/2006/relationships/image" Target="../media/image289.png"/><Relationship Id="rId19" Type="http://schemas.openxmlformats.org/officeDocument/2006/relationships/image" Target="../media/image90.png"/><Relationship Id="rId4" Type="http://schemas.openxmlformats.org/officeDocument/2006/relationships/image" Target="../media/image286.png"/><Relationship Id="rId9" Type="http://schemas.openxmlformats.org/officeDocument/2006/relationships/image" Target="../media/image219.png"/><Relationship Id="rId14" Type="http://schemas.openxmlformats.org/officeDocument/2006/relationships/image" Target="../media/image259.png"/><Relationship Id="rId22" Type="http://schemas.openxmlformats.org/officeDocument/2006/relationships/image" Target="../media/image292.png"/></Relationships>
</file>

<file path=ppt/charts/_rels/chart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.png"/><Relationship Id="rId13" Type="http://schemas.openxmlformats.org/officeDocument/2006/relationships/image" Target="../media/image315.png"/><Relationship Id="rId18" Type="http://schemas.openxmlformats.org/officeDocument/2006/relationships/image" Target="../media/image318.png"/><Relationship Id="rId26" Type="http://schemas.openxmlformats.org/officeDocument/2006/relationships/image" Target="../media/image323.png"/><Relationship Id="rId3" Type="http://schemas.openxmlformats.org/officeDocument/2006/relationships/image" Target="../media/image308.png"/><Relationship Id="rId21" Type="http://schemas.openxmlformats.org/officeDocument/2006/relationships/image" Target="../media/image320.png"/><Relationship Id="rId7" Type="http://schemas.openxmlformats.org/officeDocument/2006/relationships/image" Target="../media/image311.png"/><Relationship Id="rId12" Type="http://schemas.openxmlformats.org/officeDocument/2006/relationships/image" Target="../media/image314.png"/><Relationship Id="rId17" Type="http://schemas.openxmlformats.org/officeDocument/2006/relationships/image" Target="../media/image317.png"/><Relationship Id="rId25" Type="http://schemas.openxmlformats.org/officeDocument/2006/relationships/image" Target="../media/image280.png"/><Relationship Id="rId2" Type="http://schemas.openxmlformats.org/officeDocument/2006/relationships/image" Target="../media/image201.png"/><Relationship Id="rId16" Type="http://schemas.openxmlformats.org/officeDocument/2006/relationships/image" Target="../media/image136.png"/><Relationship Id="rId20" Type="http://schemas.openxmlformats.org/officeDocument/2006/relationships/image" Target="../media/image319.png"/><Relationship Id="rId29" Type="http://schemas.openxmlformats.org/officeDocument/2006/relationships/image" Target="../media/image326.png"/><Relationship Id="rId1" Type="http://schemas.openxmlformats.org/officeDocument/2006/relationships/image" Target="../media/image307.png"/><Relationship Id="rId6" Type="http://schemas.openxmlformats.org/officeDocument/2006/relationships/image" Target="../media/image310.png"/><Relationship Id="rId11" Type="http://schemas.openxmlformats.org/officeDocument/2006/relationships/image" Target="../media/image83.png"/><Relationship Id="rId24" Type="http://schemas.openxmlformats.org/officeDocument/2006/relationships/image" Target="../media/image135.png"/><Relationship Id="rId5" Type="http://schemas.openxmlformats.org/officeDocument/2006/relationships/image" Target="../media/image224.png"/><Relationship Id="rId15" Type="http://schemas.openxmlformats.org/officeDocument/2006/relationships/image" Target="../media/image316.png"/><Relationship Id="rId23" Type="http://schemas.openxmlformats.org/officeDocument/2006/relationships/image" Target="../media/image322.png"/><Relationship Id="rId28" Type="http://schemas.openxmlformats.org/officeDocument/2006/relationships/image" Target="../media/image325.png"/><Relationship Id="rId10" Type="http://schemas.openxmlformats.org/officeDocument/2006/relationships/image" Target="../media/image313.png"/><Relationship Id="rId19" Type="http://schemas.openxmlformats.org/officeDocument/2006/relationships/image" Target="../media/image138.png"/><Relationship Id="rId4" Type="http://schemas.openxmlformats.org/officeDocument/2006/relationships/image" Target="../media/image309.png"/><Relationship Id="rId9" Type="http://schemas.openxmlformats.org/officeDocument/2006/relationships/image" Target="../media/image312.png"/><Relationship Id="rId14" Type="http://schemas.openxmlformats.org/officeDocument/2006/relationships/image" Target="../media/image205.png"/><Relationship Id="rId22" Type="http://schemas.openxmlformats.org/officeDocument/2006/relationships/image" Target="../media/image321.png"/><Relationship Id="rId27" Type="http://schemas.openxmlformats.org/officeDocument/2006/relationships/image" Target="../media/image324.png"/><Relationship Id="rId30" Type="http://schemas.openxmlformats.org/officeDocument/2006/relationships/image" Target="../media/image252.png"/></Relationships>
</file>

<file path=ppt/charts/_rels/chart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3.png"/><Relationship Id="rId13" Type="http://schemas.openxmlformats.org/officeDocument/2006/relationships/image" Target="../media/image336.png"/><Relationship Id="rId3" Type="http://schemas.openxmlformats.org/officeDocument/2006/relationships/image" Target="../media/image329.png"/><Relationship Id="rId7" Type="http://schemas.openxmlformats.org/officeDocument/2006/relationships/image" Target="../media/image129.png"/><Relationship Id="rId12" Type="http://schemas.openxmlformats.org/officeDocument/2006/relationships/image" Target="../media/image102.png"/><Relationship Id="rId2" Type="http://schemas.openxmlformats.org/officeDocument/2006/relationships/image" Target="../media/image328.png"/><Relationship Id="rId1" Type="http://schemas.openxmlformats.org/officeDocument/2006/relationships/image" Target="../media/image327.png"/><Relationship Id="rId6" Type="http://schemas.openxmlformats.org/officeDocument/2006/relationships/image" Target="../media/image332.png"/><Relationship Id="rId11" Type="http://schemas.openxmlformats.org/officeDocument/2006/relationships/image" Target="../media/image335.png"/><Relationship Id="rId5" Type="http://schemas.openxmlformats.org/officeDocument/2006/relationships/image" Target="../media/image331.png"/><Relationship Id="rId15" Type="http://schemas.openxmlformats.org/officeDocument/2006/relationships/image" Target="../media/image337.png"/><Relationship Id="rId10" Type="http://schemas.openxmlformats.org/officeDocument/2006/relationships/image" Target="../media/image334.png"/><Relationship Id="rId4" Type="http://schemas.openxmlformats.org/officeDocument/2006/relationships/image" Target="../media/image330.png"/><Relationship Id="rId9" Type="http://schemas.openxmlformats.org/officeDocument/2006/relationships/image" Target="../media/image85.png"/><Relationship Id="rId14" Type="http://schemas.openxmlformats.org/officeDocument/2006/relationships/image" Target="../media/image201.png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charts/_rels/chart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5.png"/><Relationship Id="rId3" Type="http://schemas.openxmlformats.org/officeDocument/2006/relationships/image" Target="../media/image340.png"/><Relationship Id="rId7" Type="http://schemas.openxmlformats.org/officeDocument/2006/relationships/image" Target="../media/image344.png"/><Relationship Id="rId2" Type="http://schemas.openxmlformats.org/officeDocument/2006/relationships/image" Target="../media/image339.png"/><Relationship Id="rId1" Type="http://schemas.openxmlformats.org/officeDocument/2006/relationships/image" Target="../media/image338.png"/><Relationship Id="rId6" Type="http://schemas.openxmlformats.org/officeDocument/2006/relationships/image" Target="../media/image343.png"/><Relationship Id="rId5" Type="http://schemas.openxmlformats.org/officeDocument/2006/relationships/image" Target="../media/image342.png"/><Relationship Id="rId10" Type="http://schemas.openxmlformats.org/officeDocument/2006/relationships/image" Target="../media/image347.png"/><Relationship Id="rId4" Type="http://schemas.openxmlformats.org/officeDocument/2006/relationships/image" Target="../media/image341.png"/><Relationship Id="rId9" Type="http://schemas.openxmlformats.org/officeDocument/2006/relationships/image" Target="../media/image346.png"/></Relationships>
</file>

<file path=ppt/charts/_rels/chart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5.png"/><Relationship Id="rId13" Type="http://schemas.openxmlformats.org/officeDocument/2006/relationships/image" Target="../media/image360.png"/><Relationship Id="rId18" Type="http://schemas.openxmlformats.org/officeDocument/2006/relationships/image" Target="../media/image365.png"/><Relationship Id="rId3" Type="http://schemas.openxmlformats.org/officeDocument/2006/relationships/image" Target="../media/image350.png"/><Relationship Id="rId21" Type="http://schemas.openxmlformats.org/officeDocument/2006/relationships/image" Target="../media/image368.png"/><Relationship Id="rId7" Type="http://schemas.openxmlformats.org/officeDocument/2006/relationships/image" Target="../media/image354.png"/><Relationship Id="rId12" Type="http://schemas.openxmlformats.org/officeDocument/2006/relationships/image" Target="../media/image359.png"/><Relationship Id="rId17" Type="http://schemas.openxmlformats.org/officeDocument/2006/relationships/image" Target="../media/image364.png"/><Relationship Id="rId2" Type="http://schemas.openxmlformats.org/officeDocument/2006/relationships/image" Target="../media/image349.png"/><Relationship Id="rId16" Type="http://schemas.openxmlformats.org/officeDocument/2006/relationships/image" Target="../media/image363.png"/><Relationship Id="rId20" Type="http://schemas.openxmlformats.org/officeDocument/2006/relationships/image" Target="../media/image367.png"/><Relationship Id="rId1" Type="http://schemas.openxmlformats.org/officeDocument/2006/relationships/image" Target="../media/image348.png"/><Relationship Id="rId6" Type="http://schemas.openxmlformats.org/officeDocument/2006/relationships/image" Target="../media/image353.png"/><Relationship Id="rId11" Type="http://schemas.openxmlformats.org/officeDocument/2006/relationships/image" Target="../media/image358.png"/><Relationship Id="rId5" Type="http://schemas.openxmlformats.org/officeDocument/2006/relationships/image" Target="../media/image352.png"/><Relationship Id="rId15" Type="http://schemas.openxmlformats.org/officeDocument/2006/relationships/image" Target="../media/image362.png"/><Relationship Id="rId10" Type="http://schemas.openxmlformats.org/officeDocument/2006/relationships/image" Target="../media/image357.png"/><Relationship Id="rId19" Type="http://schemas.openxmlformats.org/officeDocument/2006/relationships/image" Target="../media/image366.png"/><Relationship Id="rId4" Type="http://schemas.openxmlformats.org/officeDocument/2006/relationships/image" Target="../media/image351.png"/><Relationship Id="rId9" Type="http://schemas.openxmlformats.org/officeDocument/2006/relationships/image" Target="../media/image356.png"/><Relationship Id="rId14" Type="http://schemas.openxmlformats.org/officeDocument/2006/relationships/image" Target="../media/image361.png"/><Relationship Id="rId22" Type="http://schemas.openxmlformats.org/officeDocument/2006/relationships/image" Target="../media/image369.png"/></Relationships>
</file>

<file path=ppt/charts/_rels/char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1.png"/><Relationship Id="rId1" Type="http://schemas.openxmlformats.org/officeDocument/2006/relationships/image" Target="../media/image370.png"/></Relationships>
</file>

<file path=ppt/charts/_rels/char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3.png"/><Relationship Id="rId1" Type="http://schemas.openxmlformats.org/officeDocument/2006/relationships/image" Target="../media/image372.png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png"/><Relationship Id="rId2" Type="http://schemas.openxmlformats.org/officeDocument/2006/relationships/image" Target="../media/image375.png"/><Relationship Id="rId1" Type="http://schemas.openxmlformats.org/officeDocument/2006/relationships/image" Target="../media/image374.png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8.png"/><Relationship Id="rId1" Type="http://schemas.openxmlformats.org/officeDocument/2006/relationships/image" Target="../media/image377.png"/><Relationship Id="rId4" Type="http://schemas.openxmlformats.org/officeDocument/2006/relationships/image" Target="../media/image380.png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1.png"/><Relationship Id="rId1" Type="http://schemas.openxmlformats.org/officeDocument/2006/relationships/image" Target="../media/image378.png"/><Relationship Id="rId4" Type="http://schemas.openxmlformats.org/officeDocument/2006/relationships/image" Target="../media/image382.png"/></Relationships>
</file>

<file path=ppt/charts/_rels/chart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0.png"/><Relationship Id="rId13" Type="http://schemas.openxmlformats.org/officeDocument/2006/relationships/image" Target="../media/image395.png"/><Relationship Id="rId18" Type="http://schemas.openxmlformats.org/officeDocument/2006/relationships/image" Target="../media/image400.png"/><Relationship Id="rId26" Type="http://schemas.openxmlformats.org/officeDocument/2006/relationships/image" Target="../media/image408.png"/><Relationship Id="rId3" Type="http://schemas.openxmlformats.org/officeDocument/2006/relationships/image" Target="../media/image385.png"/><Relationship Id="rId21" Type="http://schemas.openxmlformats.org/officeDocument/2006/relationships/image" Target="../media/image403.png"/><Relationship Id="rId7" Type="http://schemas.openxmlformats.org/officeDocument/2006/relationships/image" Target="../media/image389.png"/><Relationship Id="rId12" Type="http://schemas.openxmlformats.org/officeDocument/2006/relationships/image" Target="../media/image394.png"/><Relationship Id="rId17" Type="http://schemas.openxmlformats.org/officeDocument/2006/relationships/image" Target="../media/image399.png"/><Relationship Id="rId25" Type="http://schemas.openxmlformats.org/officeDocument/2006/relationships/image" Target="../media/image407.png"/><Relationship Id="rId2" Type="http://schemas.openxmlformats.org/officeDocument/2006/relationships/image" Target="../media/image384.png"/><Relationship Id="rId16" Type="http://schemas.openxmlformats.org/officeDocument/2006/relationships/image" Target="../media/image398.png"/><Relationship Id="rId20" Type="http://schemas.openxmlformats.org/officeDocument/2006/relationships/image" Target="../media/image402.png"/><Relationship Id="rId29" Type="http://schemas.openxmlformats.org/officeDocument/2006/relationships/image" Target="../media/image411.png"/><Relationship Id="rId1" Type="http://schemas.openxmlformats.org/officeDocument/2006/relationships/image" Target="../media/image383.png"/><Relationship Id="rId6" Type="http://schemas.openxmlformats.org/officeDocument/2006/relationships/image" Target="../media/image388.png"/><Relationship Id="rId11" Type="http://schemas.openxmlformats.org/officeDocument/2006/relationships/image" Target="../media/image393.png"/><Relationship Id="rId24" Type="http://schemas.openxmlformats.org/officeDocument/2006/relationships/image" Target="../media/image406.png"/><Relationship Id="rId32" Type="http://schemas.openxmlformats.org/officeDocument/2006/relationships/image" Target="../media/image414.png"/><Relationship Id="rId5" Type="http://schemas.openxmlformats.org/officeDocument/2006/relationships/image" Target="../media/image387.png"/><Relationship Id="rId15" Type="http://schemas.openxmlformats.org/officeDocument/2006/relationships/image" Target="../media/image397.png"/><Relationship Id="rId23" Type="http://schemas.openxmlformats.org/officeDocument/2006/relationships/image" Target="../media/image405.png"/><Relationship Id="rId28" Type="http://schemas.openxmlformats.org/officeDocument/2006/relationships/image" Target="../media/image410.png"/><Relationship Id="rId10" Type="http://schemas.openxmlformats.org/officeDocument/2006/relationships/image" Target="../media/image392.png"/><Relationship Id="rId19" Type="http://schemas.openxmlformats.org/officeDocument/2006/relationships/image" Target="../media/image401.png"/><Relationship Id="rId31" Type="http://schemas.openxmlformats.org/officeDocument/2006/relationships/image" Target="../media/image413.png"/><Relationship Id="rId4" Type="http://schemas.openxmlformats.org/officeDocument/2006/relationships/image" Target="../media/image386.png"/><Relationship Id="rId9" Type="http://schemas.openxmlformats.org/officeDocument/2006/relationships/image" Target="../media/image391.png"/><Relationship Id="rId14" Type="http://schemas.openxmlformats.org/officeDocument/2006/relationships/image" Target="../media/image396.png"/><Relationship Id="rId22" Type="http://schemas.openxmlformats.org/officeDocument/2006/relationships/image" Target="../media/image404.png"/><Relationship Id="rId27" Type="http://schemas.openxmlformats.org/officeDocument/2006/relationships/image" Target="../media/image409.png"/><Relationship Id="rId30" Type="http://schemas.openxmlformats.org/officeDocument/2006/relationships/image" Target="../media/image412.png"/></Relationships>
</file>

<file path=ppt/charts/_rels/chart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2.png"/><Relationship Id="rId13" Type="http://schemas.openxmlformats.org/officeDocument/2006/relationships/image" Target="../media/image427.png"/><Relationship Id="rId18" Type="http://schemas.openxmlformats.org/officeDocument/2006/relationships/image" Target="../media/image432.png"/><Relationship Id="rId26" Type="http://schemas.openxmlformats.org/officeDocument/2006/relationships/image" Target="../media/image440.png"/><Relationship Id="rId3" Type="http://schemas.openxmlformats.org/officeDocument/2006/relationships/image" Target="../media/image417.png"/><Relationship Id="rId21" Type="http://schemas.openxmlformats.org/officeDocument/2006/relationships/image" Target="../media/image435.png"/><Relationship Id="rId7" Type="http://schemas.openxmlformats.org/officeDocument/2006/relationships/image" Target="../media/image421.png"/><Relationship Id="rId12" Type="http://schemas.openxmlformats.org/officeDocument/2006/relationships/image" Target="../media/image426.png"/><Relationship Id="rId17" Type="http://schemas.openxmlformats.org/officeDocument/2006/relationships/image" Target="../media/image431.png"/><Relationship Id="rId25" Type="http://schemas.openxmlformats.org/officeDocument/2006/relationships/image" Target="../media/image439.png"/><Relationship Id="rId2" Type="http://schemas.openxmlformats.org/officeDocument/2006/relationships/image" Target="../media/image416.png"/><Relationship Id="rId16" Type="http://schemas.openxmlformats.org/officeDocument/2006/relationships/image" Target="../media/image430.png"/><Relationship Id="rId20" Type="http://schemas.openxmlformats.org/officeDocument/2006/relationships/image" Target="../media/image434.png"/><Relationship Id="rId29" Type="http://schemas.openxmlformats.org/officeDocument/2006/relationships/image" Target="../media/image443.png"/><Relationship Id="rId1" Type="http://schemas.openxmlformats.org/officeDocument/2006/relationships/image" Target="../media/image415.png"/><Relationship Id="rId6" Type="http://schemas.openxmlformats.org/officeDocument/2006/relationships/image" Target="../media/image420.png"/><Relationship Id="rId11" Type="http://schemas.openxmlformats.org/officeDocument/2006/relationships/image" Target="../media/image425.png"/><Relationship Id="rId24" Type="http://schemas.openxmlformats.org/officeDocument/2006/relationships/image" Target="../media/image438.png"/><Relationship Id="rId32" Type="http://schemas.openxmlformats.org/officeDocument/2006/relationships/image" Target="../media/image446.png"/><Relationship Id="rId5" Type="http://schemas.openxmlformats.org/officeDocument/2006/relationships/image" Target="../media/image419.png"/><Relationship Id="rId15" Type="http://schemas.openxmlformats.org/officeDocument/2006/relationships/image" Target="../media/image429.png"/><Relationship Id="rId23" Type="http://schemas.openxmlformats.org/officeDocument/2006/relationships/image" Target="../media/image437.png"/><Relationship Id="rId28" Type="http://schemas.openxmlformats.org/officeDocument/2006/relationships/image" Target="../media/image442.png"/><Relationship Id="rId10" Type="http://schemas.openxmlformats.org/officeDocument/2006/relationships/image" Target="../media/image424.png"/><Relationship Id="rId19" Type="http://schemas.openxmlformats.org/officeDocument/2006/relationships/image" Target="../media/image433.png"/><Relationship Id="rId31" Type="http://schemas.openxmlformats.org/officeDocument/2006/relationships/image" Target="../media/image445.png"/><Relationship Id="rId4" Type="http://schemas.openxmlformats.org/officeDocument/2006/relationships/image" Target="../media/image418.png"/><Relationship Id="rId9" Type="http://schemas.openxmlformats.org/officeDocument/2006/relationships/image" Target="../media/image423.png"/><Relationship Id="rId14" Type="http://schemas.openxmlformats.org/officeDocument/2006/relationships/image" Target="../media/image428.png"/><Relationship Id="rId22" Type="http://schemas.openxmlformats.org/officeDocument/2006/relationships/image" Target="../media/image436.png"/><Relationship Id="rId27" Type="http://schemas.openxmlformats.org/officeDocument/2006/relationships/image" Target="../media/image441.png"/><Relationship Id="rId30" Type="http://schemas.openxmlformats.org/officeDocument/2006/relationships/image" Target="../media/image444.png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6.png"/><Relationship Id="rId2" Type="http://schemas.openxmlformats.org/officeDocument/2006/relationships/image" Target="../media/image455.png"/><Relationship Id="rId1" Type="http://schemas.openxmlformats.org/officeDocument/2006/relationships/image" Target="../media/image131.png"/><Relationship Id="rId6" Type="http://schemas.openxmlformats.org/officeDocument/2006/relationships/image" Target="../media/image118.png"/><Relationship Id="rId5" Type="http://schemas.openxmlformats.org/officeDocument/2006/relationships/image" Target="../media/image314.png"/><Relationship Id="rId4" Type="http://schemas.openxmlformats.org/officeDocument/2006/relationships/image" Target="../media/image125.png"/></Relationships>
</file>

<file path=ppt/charts/_rels/chart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7.png"/><Relationship Id="rId3" Type="http://schemas.openxmlformats.org/officeDocument/2006/relationships/image" Target="../media/image127.png"/><Relationship Id="rId7" Type="http://schemas.openxmlformats.org/officeDocument/2006/relationships/image" Target="../media/image204.png"/><Relationship Id="rId2" Type="http://schemas.openxmlformats.org/officeDocument/2006/relationships/image" Target="../media/image123.png"/><Relationship Id="rId1" Type="http://schemas.openxmlformats.org/officeDocument/2006/relationships/image" Target="../media/image151.png"/><Relationship Id="rId6" Type="http://schemas.openxmlformats.org/officeDocument/2006/relationships/image" Target="../media/image128.png"/><Relationship Id="rId5" Type="http://schemas.openxmlformats.org/officeDocument/2006/relationships/image" Target="../media/image130.png"/><Relationship Id="rId4" Type="http://schemas.openxmlformats.org/officeDocument/2006/relationships/image" Target="../media/image313.png"/><Relationship Id="rId9" Type="http://schemas.openxmlformats.org/officeDocument/2006/relationships/image" Target="../media/image122.png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png"/><Relationship Id="rId1" Type="http://schemas.openxmlformats.org/officeDocument/2006/relationships/image" Target="../media/image466.png"/><Relationship Id="rId6" Type="http://schemas.openxmlformats.org/officeDocument/2006/relationships/image" Target="../media/image470.png"/><Relationship Id="rId5" Type="http://schemas.openxmlformats.org/officeDocument/2006/relationships/image" Target="../media/image159.png"/><Relationship Id="rId4" Type="http://schemas.openxmlformats.org/officeDocument/2006/relationships/image" Target="../media/image469.png"/></Relationships>
</file>

<file path=ppt/charts/_rels/chart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156.png"/><Relationship Id="rId7" Type="http://schemas.openxmlformats.org/officeDocument/2006/relationships/image" Target="../media/image474.png"/><Relationship Id="rId2" Type="http://schemas.openxmlformats.org/officeDocument/2006/relationships/image" Target="../media/image472.png"/><Relationship Id="rId1" Type="http://schemas.openxmlformats.org/officeDocument/2006/relationships/image" Target="../media/image471.png"/><Relationship Id="rId6" Type="http://schemas.openxmlformats.org/officeDocument/2006/relationships/image" Target="../media/image89.png"/><Relationship Id="rId5" Type="http://schemas.openxmlformats.org/officeDocument/2006/relationships/image" Target="../media/image162.png"/><Relationship Id="rId4" Type="http://schemas.openxmlformats.org/officeDocument/2006/relationships/image" Target="../media/image473.png"/></Relationships>
</file>

<file path=ppt/charts/_rels/chart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7.png"/><Relationship Id="rId3" Type="http://schemas.openxmlformats.org/officeDocument/2006/relationships/image" Target="../media/image492.png"/><Relationship Id="rId7" Type="http://schemas.openxmlformats.org/officeDocument/2006/relationships/image" Target="../media/image318.png"/><Relationship Id="rId12" Type="http://schemas.openxmlformats.org/officeDocument/2006/relationships/image" Target="../media/image139.png"/><Relationship Id="rId2" Type="http://schemas.openxmlformats.org/officeDocument/2006/relationships/image" Target="../media/image491.png"/><Relationship Id="rId1" Type="http://schemas.openxmlformats.org/officeDocument/2006/relationships/image" Target="../media/image490.png"/><Relationship Id="rId6" Type="http://schemas.openxmlformats.org/officeDocument/2006/relationships/image" Target="../media/image336.png"/><Relationship Id="rId11" Type="http://schemas.openxmlformats.org/officeDocument/2006/relationships/image" Target="../media/image330.png"/><Relationship Id="rId5" Type="http://schemas.openxmlformats.org/officeDocument/2006/relationships/image" Target="../media/image200.png"/><Relationship Id="rId10" Type="http://schemas.openxmlformats.org/officeDocument/2006/relationships/image" Target="../media/image493.png"/><Relationship Id="rId4" Type="http://schemas.openxmlformats.org/officeDocument/2006/relationships/image" Target="../media/image254.png"/><Relationship Id="rId9" Type="http://schemas.openxmlformats.org/officeDocument/2006/relationships/image" Target="../media/image90.png"/></Relationships>
</file>

<file path=ppt/charts/_rels/chart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5.png"/><Relationship Id="rId13" Type="http://schemas.openxmlformats.org/officeDocument/2006/relationships/image" Target="../media/image102.png"/><Relationship Id="rId18" Type="http://schemas.openxmlformats.org/officeDocument/2006/relationships/image" Target="../media/image201.png"/><Relationship Id="rId3" Type="http://schemas.openxmlformats.org/officeDocument/2006/relationships/image" Target="../media/image205.png"/><Relationship Id="rId7" Type="http://schemas.openxmlformats.org/officeDocument/2006/relationships/image" Target="../media/image494.png"/><Relationship Id="rId12" Type="http://schemas.openxmlformats.org/officeDocument/2006/relationships/image" Target="../media/image196.png"/><Relationship Id="rId17" Type="http://schemas.openxmlformats.org/officeDocument/2006/relationships/image" Target="../media/image497.png"/><Relationship Id="rId2" Type="http://schemas.openxmlformats.org/officeDocument/2006/relationships/image" Target="../media/image98.png"/><Relationship Id="rId16" Type="http://schemas.openxmlformats.org/officeDocument/2006/relationships/image" Target="../media/image53.png"/><Relationship Id="rId1" Type="http://schemas.openxmlformats.org/officeDocument/2006/relationships/image" Target="../media/image135.png"/><Relationship Id="rId6" Type="http://schemas.openxmlformats.org/officeDocument/2006/relationships/image" Target="../media/image212.png"/><Relationship Id="rId11" Type="http://schemas.openxmlformats.org/officeDocument/2006/relationships/image" Target="../media/image496.png"/><Relationship Id="rId5" Type="http://schemas.openxmlformats.org/officeDocument/2006/relationships/image" Target="../media/image216.png"/><Relationship Id="rId15" Type="http://schemas.openxmlformats.org/officeDocument/2006/relationships/image" Target="../media/image209.png"/><Relationship Id="rId10" Type="http://schemas.openxmlformats.org/officeDocument/2006/relationships/image" Target="../media/image326.png"/><Relationship Id="rId4" Type="http://schemas.openxmlformats.org/officeDocument/2006/relationships/image" Target="../media/image81.png"/><Relationship Id="rId9" Type="http://schemas.openxmlformats.org/officeDocument/2006/relationships/image" Target="../media/image190.png"/><Relationship Id="rId14" Type="http://schemas.openxmlformats.org/officeDocument/2006/relationships/image" Target="../media/image99.png"/></Relationships>
</file>

<file path=ppt/charts/_rels/chart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png"/><Relationship Id="rId13" Type="http://schemas.openxmlformats.org/officeDocument/2006/relationships/image" Target="../media/image287.png"/><Relationship Id="rId18" Type="http://schemas.openxmlformats.org/officeDocument/2006/relationships/image" Target="../media/image221.png"/><Relationship Id="rId3" Type="http://schemas.openxmlformats.org/officeDocument/2006/relationships/image" Target="../media/image101.png"/><Relationship Id="rId7" Type="http://schemas.openxmlformats.org/officeDocument/2006/relationships/image" Target="../media/image466.png"/><Relationship Id="rId12" Type="http://schemas.openxmlformats.org/officeDocument/2006/relationships/image" Target="../media/image526.png"/><Relationship Id="rId17" Type="http://schemas.openxmlformats.org/officeDocument/2006/relationships/image" Target="../media/image528.png"/><Relationship Id="rId2" Type="http://schemas.openxmlformats.org/officeDocument/2006/relationships/image" Target="../media/image249.png"/><Relationship Id="rId16" Type="http://schemas.openxmlformats.org/officeDocument/2006/relationships/image" Target="../media/image279.png"/><Relationship Id="rId1" Type="http://schemas.openxmlformats.org/officeDocument/2006/relationships/image" Target="../media/image522.png"/><Relationship Id="rId6" Type="http://schemas.openxmlformats.org/officeDocument/2006/relationships/image" Target="../media/image493.png"/><Relationship Id="rId11" Type="http://schemas.openxmlformats.org/officeDocument/2006/relationships/image" Target="../media/image269.png"/><Relationship Id="rId5" Type="http://schemas.openxmlformats.org/officeDocument/2006/relationships/image" Target="../media/image220.png"/><Relationship Id="rId15" Type="http://schemas.openxmlformats.org/officeDocument/2006/relationships/image" Target="../media/image50.png"/><Relationship Id="rId10" Type="http://schemas.openxmlformats.org/officeDocument/2006/relationships/image" Target="../media/image525.png"/><Relationship Id="rId4" Type="http://schemas.openxmlformats.org/officeDocument/2006/relationships/image" Target="../media/image523.png"/><Relationship Id="rId9" Type="http://schemas.openxmlformats.org/officeDocument/2006/relationships/image" Target="../media/image524.png"/><Relationship Id="rId14" Type="http://schemas.openxmlformats.org/officeDocument/2006/relationships/image" Target="../media/image527.png"/></Relationships>
</file>

<file path=ppt/charts/_rels/chart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3.png"/><Relationship Id="rId13" Type="http://schemas.openxmlformats.org/officeDocument/2006/relationships/image" Target="../media/image531.png"/><Relationship Id="rId18" Type="http://schemas.openxmlformats.org/officeDocument/2006/relationships/image" Target="../media/image260.png"/><Relationship Id="rId26" Type="http://schemas.openxmlformats.org/officeDocument/2006/relationships/image" Target="../media/image534.png"/><Relationship Id="rId3" Type="http://schemas.openxmlformats.org/officeDocument/2006/relationships/image" Target="../media/image268.png"/><Relationship Id="rId21" Type="http://schemas.openxmlformats.org/officeDocument/2006/relationships/image" Target="../media/image91.png"/><Relationship Id="rId7" Type="http://schemas.openxmlformats.org/officeDocument/2006/relationships/image" Target="../media/image273.png"/><Relationship Id="rId12" Type="http://schemas.openxmlformats.org/officeDocument/2006/relationships/image" Target="../media/image100.png"/><Relationship Id="rId17" Type="http://schemas.openxmlformats.org/officeDocument/2006/relationships/image" Target="../media/image290.png"/><Relationship Id="rId25" Type="http://schemas.openxmlformats.org/officeDocument/2006/relationships/image" Target="../media/image51.png"/><Relationship Id="rId2" Type="http://schemas.openxmlformats.org/officeDocument/2006/relationships/image" Target="../media/image529.png"/><Relationship Id="rId16" Type="http://schemas.openxmlformats.org/officeDocument/2006/relationships/image" Target="../media/image324.png"/><Relationship Id="rId20" Type="http://schemas.openxmlformats.org/officeDocument/2006/relationships/image" Target="../media/image150.png"/><Relationship Id="rId1" Type="http://schemas.openxmlformats.org/officeDocument/2006/relationships/image" Target="../media/image86.png"/><Relationship Id="rId6" Type="http://schemas.openxmlformats.org/officeDocument/2006/relationships/image" Target="../media/image275.png"/><Relationship Id="rId11" Type="http://schemas.openxmlformats.org/officeDocument/2006/relationships/image" Target="../media/image209.png"/><Relationship Id="rId24" Type="http://schemas.openxmlformats.org/officeDocument/2006/relationships/image" Target="../media/image249.png"/><Relationship Id="rId5" Type="http://schemas.openxmlformats.org/officeDocument/2006/relationships/image" Target="../media/image271.png"/><Relationship Id="rId15" Type="http://schemas.openxmlformats.org/officeDocument/2006/relationships/image" Target="../media/image283.png"/><Relationship Id="rId23" Type="http://schemas.openxmlformats.org/officeDocument/2006/relationships/image" Target="../media/image278.png"/><Relationship Id="rId10" Type="http://schemas.openxmlformats.org/officeDocument/2006/relationships/image" Target="../media/image530.png"/><Relationship Id="rId19" Type="http://schemas.openxmlformats.org/officeDocument/2006/relationships/image" Target="../media/image169.png"/><Relationship Id="rId4" Type="http://schemas.openxmlformats.org/officeDocument/2006/relationships/image" Target="../media/image270.png"/><Relationship Id="rId9" Type="http://schemas.openxmlformats.org/officeDocument/2006/relationships/image" Target="../media/image255.png"/><Relationship Id="rId14" Type="http://schemas.openxmlformats.org/officeDocument/2006/relationships/image" Target="../media/image532.png"/><Relationship Id="rId22" Type="http://schemas.openxmlformats.org/officeDocument/2006/relationships/image" Target="../media/image533.png"/><Relationship Id="rId27" Type="http://schemas.openxmlformats.org/officeDocument/2006/relationships/image" Target="../media/image279.png"/></Relationships>
</file>

<file path=ppt/charts/_rels/chart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3.png"/><Relationship Id="rId3" Type="http://schemas.openxmlformats.org/officeDocument/2006/relationships/image" Target="../media/image548.png"/><Relationship Id="rId7" Type="http://schemas.openxmlformats.org/officeDocument/2006/relationships/image" Target="../media/image552.png"/><Relationship Id="rId2" Type="http://schemas.openxmlformats.org/officeDocument/2006/relationships/image" Target="../media/image547.png"/><Relationship Id="rId1" Type="http://schemas.openxmlformats.org/officeDocument/2006/relationships/image" Target="../media/image546.png"/><Relationship Id="rId6" Type="http://schemas.openxmlformats.org/officeDocument/2006/relationships/image" Target="../media/image551.png"/><Relationship Id="rId5" Type="http://schemas.openxmlformats.org/officeDocument/2006/relationships/image" Target="../media/image550.png"/><Relationship Id="rId4" Type="http://schemas.openxmlformats.org/officeDocument/2006/relationships/image" Target="../media/image549.png"/><Relationship Id="rId9" Type="http://schemas.openxmlformats.org/officeDocument/2006/relationships/image" Target="../media/image101.png"/></Relationships>
</file>

<file path=ppt/charts/_rels/chart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4.png"/><Relationship Id="rId13" Type="http://schemas.openxmlformats.org/officeDocument/2006/relationships/image" Target="../media/image307.png"/><Relationship Id="rId3" Type="http://schemas.openxmlformats.org/officeDocument/2006/relationships/image" Target="../media/image135.png"/><Relationship Id="rId7" Type="http://schemas.openxmlformats.org/officeDocument/2006/relationships/image" Target="../media/image139.png"/><Relationship Id="rId12" Type="http://schemas.openxmlformats.org/officeDocument/2006/relationships/image" Target="../media/image198.png"/><Relationship Id="rId2" Type="http://schemas.openxmlformats.org/officeDocument/2006/relationships/image" Target="../media/image554.png"/><Relationship Id="rId1" Type="http://schemas.openxmlformats.org/officeDocument/2006/relationships/image" Target="../media/image553.png"/><Relationship Id="rId6" Type="http://schemas.openxmlformats.org/officeDocument/2006/relationships/image" Target="../media/image318.png"/><Relationship Id="rId11" Type="http://schemas.openxmlformats.org/officeDocument/2006/relationships/image" Target="../media/image252.png"/><Relationship Id="rId5" Type="http://schemas.openxmlformats.org/officeDocument/2006/relationships/image" Target="../media/image556.png"/><Relationship Id="rId10" Type="http://schemas.openxmlformats.org/officeDocument/2006/relationships/image" Target="../media/image193.png"/><Relationship Id="rId4" Type="http://schemas.openxmlformats.org/officeDocument/2006/relationships/image" Target="../media/image555.png"/><Relationship Id="rId9" Type="http://schemas.openxmlformats.org/officeDocument/2006/relationships/image" Target="../media/image253.png"/><Relationship Id="rId14" Type="http://schemas.openxmlformats.org/officeDocument/2006/relationships/image" Target="../media/image310.png"/></Relationships>
</file>

<file path=ppt/charts/_rels/chart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6.png"/><Relationship Id="rId3" Type="http://schemas.openxmlformats.org/officeDocument/2006/relationships/image" Target="../media/image57.png"/><Relationship Id="rId7" Type="http://schemas.openxmlformats.org/officeDocument/2006/relationships/image" Target="../media/image51.png"/><Relationship Id="rId2" Type="http://schemas.openxmlformats.org/officeDocument/2006/relationships/image" Target="../media/image252.png"/><Relationship Id="rId1" Type="http://schemas.openxmlformats.org/officeDocument/2006/relationships/image" Target="../media/image195.png"/><Relationship Id="rId6" Type="http://schemas.openxmlformats.org/officeDocument/2006/relationships/image" Target="../media/image310.png"/><Relationship Id="rId5" Type="http://schemas.openxmlformats.org/officeDocument/2006/relationships/image" Target="../media/image263.png"/><Relationship Id="rId10" Type="http://schemas.openxmlformats.org/officeDocument/2006/relationships/image" Target="../media/image557.png"/><Relationship Id="rId4" Type="http://schemas.openxmlformats.org/officeDocument/2006/relationships/image" Target="../media/image261.png"/><Relationship Id="rId9" Type="http://schemas.openxmlformats.org/officeDocument/2006/relationships/image" Target="../media/image277.png"/></Relationships>
</file>

<file path=ppt/charts/_rels/chart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2.png"/><Relationship Id="rId3" Type="http://schemas.openxmlformats.org/officeDocument/2006/relationships/image" Target="../media/image290.png"/><Relationship Id="rId7" Type="http://schemas.openxmlformats.org/officeDocument/2006/relationships/image" Target="../media/image53.png"/><Relationship Id="rId2" Type="http://schemas.openxmlformats.org/officeDocument/2006/relationships/image" Target="../media/image209.png"/><Relationship Id="rId1" Type="http://schemas.openxmlformats.org/officeDocument/2006/relationships/image" Target="../media/image259.png"/><Relationship Id="rId6" Type="http://schemas.openxmlformats.org/officeDocument/2006/relationships/image" Target="../media/image307.png"/><Relationship Id="rId11" Type="http://schemas.openxmlformats.org/officeDocument/2006/relationships/image" Target="../media/image560.png"/><Relationship Id="rId5" Type="http://schemas.openxmlformats.org/officeDocument/2006/relationships/image" Target="../media/image559.png"/><Relationship Id="rId10" Type="http://schemas.openxmlformats.org/officeDocument/2006/relationships/image" Target="../media/image534.png"/><Relationship Id="rId4" Type="http://schemas.openxmlformats.org/officeDocument/2006/relationships/image" Target="../media/image558.png"/><Relationship Id="rId9" Type="http://schemas.openxmlformats.org/officeDocument/2006/relationships/image" Target="../media/image52.png"/></Relationships>
</file>

<file path=ppt/charts/_rels/chart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562.png"/><Relationship Id="rId7" Type="http://schemas.openxmlformats.org/officeDocument/2006/relationships/image" Target="../media/image497.png"/><Relationship Id="rId2" Type="http://schemas.openxmlformats.org/officeDocument/2006/relationships/image" Target="../media/image252.png"/><Relationship Id="rId1" Type="http://schemas.openxmlformats.org/officeDocument/2006/relationships/image" Target="../media/image561.png"/><Relationship Id="rId6" Type="http://schemas.openxmlformats.org/officeDocument/2006/relationships/image" Target="../media/image309.png"/><Relationship Id="rId5" Type="http://schemas.openxmlformats.org/officeDocument/2006/relationships/image" Target="../media/image467.png"/><Relationship Id="rId10" Type="http://schemas.openxmlformats.org/officeDocument/2006/relationships/image" Target="../media/image549.png"/><Relationship Id="rId4" Type="http://schemas.openxmlformats.org/officeDocument/2006/relationships/image" Target="../media/image563.png"/><Relationship Id="rId9" Type="http://schemas.openxmlformats.org/officeDocument/2006/relationships/image" Target="../media/image292.png"/></Relationships>
</file>

<file path=ppt/charts/_rels/chart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7.png"/><Relationship Id="rId3" Type="http://schemas.openxmlformats.org/officeDocument/2006/relationships/image" Target="../media/image526.png"/><Relationship Id="rId7" Type="http://schemas.openxmlformats.org/officeDocument/2006/relationships/image" Target="../media/image198.png"/><Relationship Id="rId2" Type="http://schemas.openxmlformats.org/officeDocument/2006/relationships/image" Target="../media/image289.png"/><Relationship Id="rId1" Type="http://schemas.openxmlformats.org/officeDocument/2006/relationships/image" Target="../media/image267.png"/><Relationship Id="rId6" Type="http://schemas.openxmlformats.org/officeDocument/2006/relationships/image" Target="../media/image224.png"/><Relationship Id="rId11" Type="http://schemas.openxmlformats.org/officeDocument/2006/relationships/image" Target="../media/image565.png"/><Relationship Id="rId5" Type="http://schemas.openxmlformats.org/officeDocument/2006/relationships/image" Target="../media/image201.png"/><Relationship Id="rId10" Type="http://schemas.openxmlformats.org/officeDocument/2006/relationships/image" Target="../media/image564.png"/><Relationship Id="rId4" Type="http://schemas.openxmlformats.org/officeDocument/2006/relationships/image" Target="../media/image103.png"/><Relationship Id="rId9" Type="http://schemas.openxmlformats.org/officeDocument/2006/relationships/image" Target="../media/image522.png"/></Relationships>
</file>

<file path=ppt/charts/_rels/chart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7.png"/><Relationship Id="rId3" Type="http://schemas.openxmlformats.org/officeDocument/2006/relationships/image" Target="../media/image89.png"/><Relationship Id="rId7" Type="http://schemas.openxmlformats.org/officeDocument/2006/relationships/image" Target="../media/image566.png"/><Relationship Id="rId2" Type="http://schemas.openxmlformats.org/officeDocument/2006/relationships/image" Target="../media/image254.png"/><Relationship Id="rId1" Type="http://schemas.openxmlformats.org/officeDocument/2006/relationships/image" Target="../media/image271.png"/><Relationship Id="rId6" Type="http://schemas.openxmlformats.org/officeDocument/2006/relationships/image" Target="../media/image467.png"/><Relationship Id="rId5" Type="http://schemas.openxmlformats.org/officeDocument/2006/relationships/image" Target="../media/image103.png"/><Relationship Id="rId10" Type="http://schemas.openxmlformats.org/officeDocument/2006/relationships/image" Target="../media/image568.png"/><Relationship Id="rId4" Type="http://schemas.openxmlformats.org/officeDocument/2006/relationships/image" Target="../media/image91.png"/><Relationship Id="rId9" Type="http://schemas.openxmlformats.org/officeDocument/2006/relationships/image" Target="../media/image292.png"/></Relationships>
</file>

<file path=ppt/charts/_rels/chart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4.png"/><Relationship Id="rId3" Type="http://schemas.openxmlformats.org/officeDocument/2006/relationships/image" Target="../media/image558.png"/><Relationship Id="rId7" Type="http://schemas.openxmlformats.org/officeDocument/2006/relationships/image" Target="../media/image248.png"/><Relationship Id="rId2" Type="http://schemas.openxmlformats.org/officeDocument/2006/relationships/image" Target="../media/image569.png"/><Relationship Id="rId1" Type="http://schemas.openxmlformats.org/officeDocument/2006/relationships/image" Target="../media/image275.png"/><Relationship Id="rId6" Type="http://schemas.openxmlformats.org/officeDocument/2006/relationships/image" Target="../media/image250.png"/><Relationship Id="rId5" Type="http://schemas.openxmlformats.org/officeDocument/2006/relationships/image" Target="../media/image336.png"/><Relationship Id="rId4" Type="http://schemas.openxmlformats.org/officeDocument/2006/relationships/image" Target="../media/image570.png"/><Relationship Id="rId9" Type="http://schemas.openxmlformats.org/officeDocument/2006/relationships/image" Target="../media/image571.png"/></Relationships>
</file>

<file path=ppt/charts/_rels/chart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7.png"/><Relationship Id="rId3" Type="http://schemas.openxmlformats.org/officeDocument/2006/relationships/image" Target="../media/image217.png"/><Relationship Id="rId7" Type="http://schemas.openxmlformats.org/officeDocument/2006/relationships/image" Target="../media/image199.png"/><Relationship Id="rId2" Type="http://schemas.openxmlformats.org/officeDocument/2006/relationships/image" Target="../media/image281.png"/><Relationship Id="rId1" Type="http://schemas.openxmlformats.org/officeDocument/2006/relationships/image" Target="../media/image220.png"/><Relationship Id="rId6" Type="http://schemas.openxmlformats.org/officeDocument/2006/relationships/image" Target="../media/image573.png"/><Relationship Id="rId11" Type="http://schemas.openxmlformats.org/officeDocument/2006/relationships/image" Target="../media/image574.png"/><Relationship Id="rId5" Type="http://schemas.openxmlformats.org/officeDocument/2006/relationships/image" Target="../media/image572.png"/><Relationship Id="rId10" Type="http://schemas.openxmlformats.org/officeDocument/2006/relationships/image" Target="../media/image277.png"/><Relationship Id="rId4" Type="http://schemas.openxmlformats.org/officeDocument/2006/relationships/image" Target="../media/image260.png"/><Relationship Id="rId9" Type="http://schemas.openxmlformats.org/officeDocument/2006/relationships/image" Target="../media/image293.png"/></Relationships>
</file>

<file path=ppt/charts/_rels/chart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576.png"/><Relationship Id="rId1" Type="http://schemas.openxmlformats.org/officeDocument/2006/relationships/image" Target="../media/image575.png"/><Relationship Id="rId4" Type="http://schemas.openxmlformats.org/officeDocument/2006/relationships/image" Target="../media/image578.png"/></Relationships>
</file>

<file path=ppt/charts/_rels/char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580.png"/><Relationship Id="rId1" Type="http://schemas.openxmlformats.org/officeDocument/2006/relationships/image" Target="../media/image579.png"/><Relationship Id="rId5" Type="http://schemas.openxmlformats.org/officeDocument/2006/relationships/image" Target="../media/image583.png"/><Relationship Id="rId4" Type="http://schemas.openxmlformats.org/officeDocument/2006/relationships/image" Target="../media/image582.png"/></Relationships>
</file>

<file path=ppt/charts/_rels/chart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6.png"/><Relationship Id="rId2" Type="http://schemas.openxmlformats.org/officeDocument/2006/relationships/image" Target="../media/image585.png"/><Relationship Id="rId1" Type="http://schemas.openxmlformats.org/officeDocument/2006/relationships/image" Target="../media/image584.png"/></Relationships>
</file>

<file path=ppt/charts/_rels/chart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1.png"/><Relationship Id="rId3" Type="http://schemas.openxmlformats.org/officeDocument/2006/relationships/image" Target="../media/image589.png"/><Relationship Id="rId7" Type="http://schemas.openxmlformats.org/officeDocument/2006/relationships/image" Target="../media/image580.png"/><Relationship Id="rId2" Type="http://schemas.openxmlformats.org/officeDocument/2006/relationships/image" Target="../media/image588.png"/><Relationship Id="rId1" Type="http://schemas.openxmlformats.org/officeDocument/2006/relationships/image" Target="../media/image587.png"/><Relationship Id="rId6" Type="http://schemas.openxmlformats.org/officeDocument/2006/relationships/image" Target="../media/image579.png"/><Relationship Id="rId5" Type="http://schemas.openxmlformats.org/officeDocument/2006/relationships/image" Target="../media/image591.png"/><Relationship Id="rId10" Type="http://schemas.openxmlformats.org/officeDocument/2006/relationships/image" Target="../media/image583.png"/><Relationship Id="rId4" Type="http://schemas.openxmlformats.org/officeDocument/2006/relationships/image" Target="../media/image590.png"/><Relationship Id="rId9" Type="http://schemas.openxmlformats.org/officeDocument/2006/relationships/image" Target="../media/image582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03E58"/>
            </a:solidFill>
            <a:ln>
              <a:noFill/>
            </a:ln>
          </c:spPr>
          <c:invertIfNegative val="1"/>
          <c:dLbls>
            <c:dLbl>
              <c:idx val="0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BD6-4BC5-8161-404388A4D102}"/>
                </c:ext>
              </c:extLst>
            </c:dLbl>
            <c:dLbl>
              <c:idx val="1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BD6-4BC5-8161-404388A4D102}"/>
                </c:ext>
              </c:extLst>
            </c:dLbl>
            <c:dLbl>
              <c:idx val="2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BD6-4BC5-8161-404388A4D102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2021–2026</c:v>
              </c:pt>
              <c:pt idx="1">
                <c:v>2026–2036</c:v>
              </c:pt>
              <c:pt idx="2">
                <c:v>2021–2036</c:v>
              </c:pt>
            </c:strLit>
          </c:cat>
          <c:val>
            <c:numLit>
              <c:formatCode>General</c:formatCode>
              <c:ptCount val="3"/>
              <c:pt idx="0">
                <c:v>3.4408508064836862</c:v>
              </c:pt>
              <c:pt idx="1">
                <c:v>4.3669242710394629</c:v>
              </c:pt>
              <c:pt idx="2">
                <c:v>4.0573155576060227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FBD6-4BC5-8161-404388A4D10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5.764340037772091"/>
          <c:min val="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2244823.61</c:v>
              </c:pt>
              <c:pt idx="2">
                <c:v>0</c:v>
              </c:pt>
              <c:pt idx="3">
                <c:v>2658536.5860000001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CA6-4C1D-A1CD-CDC8AF6584F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CA6-4C1D-A1CD-CDC8AF6584F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CA6-4C1D-A1CD-CDC8AF6584FE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6CA6-4C1D-A1CD-CDC8AF6584F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CA6-4C1D-A1CD-CDC8AF6584FE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6CA6-4C1D-A1CD-CDC8AF6584F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CA6-4C1D-A1CD-CDC8AF6584F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CA6-4C1D-A1CD-CDC8AF6584F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CA6-4C1D-A1CD-CDC8AF6584F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CA6-4C1D-A1CD-CDC8AF6584F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CA6-4C1D-A1CD-CDC8AF6584FE}"/>
                </c:ext>
              </c:extLst>
            </c:dLbl>
            <c:numFmt formatCode="#,##0.0,,&quot;M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2244823.61</c:v>
              </c:pt>
              <c:pt idx="1">
                <c:v>413712.97600000026</c:v>
              </c:pt>
              <c:pt idx="2">
                <c:v>2658536.5860000001</c:v>
              </c:pt>
              <c:pt idx="3">
                <c:v>1417813.6379999998</c:v>
              </c:pt>
              <c:pt idx="4">
                <c:v>4076350.2239999999</c:v>
              </c:pt>
            </c:numLit>
          </c:val>
          <c:extLst>
            <c:ext xmlns:c16="http://schemas.microsoft.com/office/drawing/2014/chart" uri="{C3380CC4-5D6E-409C-BE32-E72D297353CC}">
              <c16:uniqueId val="{0000000B-6CA6-4C1D-A1CD-CDC8AF6584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03E58"/>
            </a:solidFill>
            <a:ln>
              <a:noFill/>
            </a:ln>
          </c:spPr>
          <c:invertIfNegative val="1"/>
          <c:dLbls>
            <c:dLbl>
              <c:idx val="0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BEC-437B-A3D2-15842D329BCB}"/>
                </c:ext>
              </c:extLst>
            </c:dLbl>
            <c:dLbl>
              <c:idx val="1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BEC-437B-A3D2-15842D329BCB}"/>
                </c:ext>
              </c:extLst>
            </c:dLbl>
            <c:dLbl>
              <c:idx val="2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BEC-437B-A3D2-15842D329BC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2021–2026</c:v>
              </c:pt>
              <c:pt idx="1">
                <c:v>2026–2036</c:v>
              </c:pt>
              <c:pt idx="2">
                <c:v>2021–2036</c:v>
              </c:pt>
            </c:strLit>
          </c:cat>
          <c:val>
            <c:numLit>
              <c:formatCode>General</c:formatCode>
              <c:ptCount val="3"/>
              <c:pt idx="0">
                <c:v>4.0768238245934008</c:v>
              </c:pt>
              <c:pt idx="1">
                <c:v>4.9547997144695932</c:v>
              </c:pt>
              <c:pt idx="2">
                <c:v>4.6613212139486659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CBEC-437B-A3D2-15842D329BCB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6.540335623099863"/>
          <c:min val="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8925.9890000000014</c:v>
              </c:pt>
              <c:pt idx="2">
                <c:v>0</c:v>
              </c:pt>
              <c:pt idx="3">
                <c:v>10900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A97-4B94-8539-E220E2137A3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A97-4B94-8539-E220E2137A3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A97-4B94-8539-E220E2137A3E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8A97-4B94-8539-E220E2137A3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A97-4B94-8539-E220E2137A3E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8A97-4B94-8539-E220E2137A3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A97-4B94-8539-E220E2137A3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A97-4B94-8539-E220E2137A3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A97-4B94-8539-E220E2137A3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A97-4B94-8539-E220E2137A3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A97-4B94-8539-E220E2137A3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8925.9890000000014</c:v>
              </c:pt>
              <c:pt idx="1">
                <c:v>1974.0109999999986</c:v>
              </c:pt>
              <c:pt idx="2">
                <c:v>10900</c:v>
              </c:pt>
              <c:pt idx="3">
                <c:v>6778.6679999999978</c:v>
              </c:pt>
              <c:pt idx="4">
                <c:v>17678.667999999998</c:v>
              </c:pt>
            </c:numLit>
          </c:val>
          <c:extLst>
            <c:ext xmlns:c16="http://schemas.microsoft.com/office/drawing/2014/chart" uri="{C3380CC4-5D6E-409C-BE32-E72D297353CC}">
              <c16:uniqueId val="{0000000B-8A97-4B94-8539-E220E2137A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F5E-422F-B49F-35E408429F8E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F5E-422F-B49F-35E408429F8E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F5E-422F-B49F-35E408429F8E}"/>
                </c:ext>
              </c:extLst>
            </c:dLbl>
            <c:dLbl>
              <c:idx val="3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F5E-422F-B49F-35E408429F8E}"/>
                </c:ext>
              </c:extLst>
            </c:dLbl>
            <c:dLbl>
              <c:idx val="4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F5E-422F-B49F-35E408429F8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</c:strLit>
          </c:cat>
          <c:val>
            <c:numLit>
              <c:formatCode>General</c:formatCode>
              <c:ptCount val="5"/>
              <c:pt idx="0">
                <c:v>8925.9890000000014</c:v>
              </c:pt>
              <c:pt idx="1">
                <c:v>9288.0610000000015</c:v>
              </c:pt>
              <c:pt idx="2">
                <c:v>9665.7639999999992</c:v>
              </c:pt>
              <c:pt idx="3">
                <c:v>10059.814999999999</c:v>
              </c:pt>
              <c:pt idx="4">
                <c:v>10470.963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CF5E-422F-B49F-35E408429F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v>Volume (Units)</c:v>
          </c:tx>
          <c:spPr>
            <a:solidFill>
              <a:srgbClr val="C55A11"/>
            </a:solidFill>
            <a:ln>
              <a:noFill/>
            </a:ln>
          </c:spPr>
          <c:invertIfNegative val="1"/>
          <c:dLbls>
            <c:dLbl>
              <c:idx val="0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F5E-422F-B49F-35E408429F8E}"/>
                </c:ext>
              </c:extLst>
            </c:dLbl>
            <c:dLbl>
              <c:idx val="1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F5E-422F-B49F-35E408429F8E}"/>
                </c:ext>
              </c:extLst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F5E-422F-B49F-35E408429F8E}"/>
                </c:ext>
              </c:extLst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F5E-422F-B49F-35E408429F8E}"/>
                </c:ext>
              </c:extLst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F5E-422F-B49F-35E408429F8E}"/>
                </c:ext>
              </c:extLst>
            </c:dLbl>
            <c:numFmt formatCode="#,##0.0,,&quot;M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</c:strLit>
          </c:cat>
          <c:val>
            <c:numLit>
              <c:formatCode>General</c:formatCode>
              <c:ptCount val="5"/>
              <c:pt idx="0">
                <c:v>2244823.61</c:v>
              </c:pt>
              <c:pt idx="1">
                <c:v>2321277.5619999999</c:v>
              </c:pt>
              <c:pt idx="2">
                <c:v>2400741.88</c:v>
              </c:pt>
              <c:pt idx="3">
                <c:v>2483347.4550000001</c:v>
              </c:pt>
              <c:pt idx="4">
                <c:v>2569231.2379999999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CF5E-422F-B49F-35E408429F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  <c:max val="12356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  <c:catAx>
        <c:axId val="90210001"/>
        <c:scaling>
          <c:orientation val="minMax"/>
        </c:scaling>
        <c:delete val="1"/>
        <c:axPos val="b"/>
        <c:numFmt formatCode="General" sourceLinked="1"/>
        <c:majorTickMark val="cross"/>
        <c:minorTickMark val="cross"/>
        <c:tickLblPos val="nextTo"/>
        <c:crossAx val="90210002"/>
        <c:crosses val="autoZero"/>
        <c:auto val="1"/>
        <c:lblAlgn val="ctr"/>
        <c:lblOffset val="100"/>
        <c:noMultiLvlLbl val="1"/>
      </c:catAx>
      <c:valAx>
        <c:axId val="90210002"/>
        <c:scaling>
          <c:orientation val="minMax"/>
          <c:max val="3531115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149-4BC3-AA63-D4E3CA016CC9}"/>
                </c:ext>
              </c:extLst>
            </c:dLbl>
            <c:dLbl>
              <c:idx val="1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149-4BC3-AA63-D4E3CA016CC9}"/>
                </c:ext>
              </c:extLst>
            </c:dLbl>
            <c:dLbl>
              <c:idx val="2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149-4BC3-AA63-D4E3CA016CC9}"/>
                </c:ext>
              </c:extLst>
            </c:dLbl>
            <c:dLbl>
              <c:idx val="3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149-4BC3-AA63-D4E3CA016CC9}"/>
                </c:ext>
              </c:extLst>
            </c:dLbl>
            <c:dLbl>
              <c:idx val="4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149-4BC3-AA63-D4E3CA016CC9}"/>
                </c:ext>
              </c:extLst>
            </c:dLbl>
            <c:dLbl>
              <c:idx val="5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149-4BC3-AA63-D4E3CA016CC9}"/>
                </c:ext>
              </c:extLst>
            </c:dLbl>
            <c:dLbl>
              <c:idx val="6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149-4BC3-AA63-D4E3CA016CC9}"/>
                </c:ext>
              </c:extLst>
            </c:dLbl>
            <c:dLbl>
              <c:idx val="7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149-4BC3-AA63-D4E3CA016CC9}"/>
                </c:ext>
              </c:extLst>
            </c:dLbl>
            <c:dLbl>
              <c:idx val="8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149-4BC3-AA63-D4E3CA016CC9}"/>
                </c:ext>
              </c:extLst>
            </c:dLbl>
            <c:dLbl>
              <c:idx val="9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149-4BC3-AA63-D4E3CA016CC9}"/>
                </c:ext>
              </c:extLst>
            </c:dLbl>
            <c:dLbl>
              <c:idx val="10"/>
              <c:numFmt formatCode="&quot;MMMMMMMM&quot;;&quot;MMMMMMMM&quot;;&quot;MMMM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149-4BC3-AA63-D4E3CA016CC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10900</c:v>
              </c:pt>
              <c:pt idx="1">
                <c:v>11434.946</c:v>
              </c:pt>
              <c:pt idx="2">
                <c:v>11997.321</c:v>
              </c:pt>
              <c:pt idx="3">
                <c:v>12588.602999999999</c:v>
              </c:pt>
              <c:pt idx="4">
                <c:v>13210.339</c:v>
              </c:pt>
              <c:pt idx="5">
                <c:v>13864.172999999999</c:v>
              </c:pt>
              <c:pt idx="6">
                <c:v>14551.817999999999</c:v>
              </c:pt>
              <c:pt idx="7">
                <c:v>15275.111000000001</c:v>
              </c:pt>
              <c:pt idx="8">
                <c:v>16035.971000000001</c:v>
              </c:pt>
              <c:pt idx="9">
                <c:v>16836.444</c:v>
              </c:pt>
              <c:pt idx="10">
                <c:v>17678.667999999998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4149-4BC3-AA63-D4E3CA016C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v>Volume (Units)</c:v>
          </c:tx>
          <c:spPr>
            <a:solidFill>
              <a:srgbClr val="C55A11"/>
            </a:solidFill>
            <a:ln>
              <a:noFill/>
            </a:ln>
          </c:spPr>
          <c:invertIfNegative val="1"/>
          <c:dLbls>
            <c:dLbl>
              <c:idx val="0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149-4BC3-AA63-D4E3CA016CC9}"/>
                </c:ext>
              </c:extLst>
            </c:dLbl>
            <c:dLbl>
              <c:idx val="1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149-4BC3-AA63-D4E3CA016CC9}"/>
                </c:ext>
              </c:extLst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149-4BC3-AA63-D4E3CA016CC9}"/>
                </c:ext>
              </c:extLst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149-4BC3-AA63-D4E3CA016CC9}"/>
                </c:ext>
              </c:extLst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4149-4BC3-AA63-D4E3CA016CC9}"/>
                </c:ext>
              </c:extLst>
            </c:dLbl>
            <c:dLbl>
              <c:idx val="5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149-4BC3-AA63-D4E3CA016CC9}"/>
                </c:ext>
              </c:extLst>
            </c:dLbl>
            <c:dLbl>
              <c:idx val="6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4149-4BC3-AA63-D4E3CA016CC9}"/>
                </c:ext>
              </c:extLst>
            </c:dLbl>
            <c:dLbl>
              <c:idx val="7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4149-4BC3-AA63-D4E3CA016CC9}"/>
                </c:ext>
              </c:extLst>
            </c:dLbl>
            <c:dLbl>
              <c:idx val="8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4149-4BC3-AA63-D4E3CA016CC9}"/>
                </c:ext>
              </c:extLst>
            </c:dLbl>
            <c:dLbl>
              <c:idx val="9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4149-4BC3-AA63-D4E3CA016CC9}"/>
                </c:ext>
              </c:extLst>
            </c:dLbl>
            <c:dLbl>
              <c:idx val="10"/>
              <c:numFmt formatCode="&quot;MMMMMMMMMMM&quot;;&quot;MMMMMMMMMMM&quot;;&quot;MMMMMMM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4149-4BC3-AA63-D4E3CA016CC9}"/>
                </c:ext>
              </c:extLst>
            </c:dLbl>
            <c:numFmt formatCode="#,##0.0,,&quot;M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2658536.5860000001</c:v>
              </c:pt>
              <c:pt idx="1">
                <c:v>2772534.523</c:v>
              </c:pt>
              <c:pt idx="2">
                <c:v>2891907.0320000001</c:v>
              </c:pt>
              <c:pt idx="3">
                <c:v>3016926.62</c:v>
              </c:pt>
              <c:pt idx="4">
                <c:v>3147880.3830000004</c:v>
              </c:pt>
              <c:pt idx="5">
                <c:v>3285070.7960000001</c:v>
              </c:pt>
              <c:pt idx="6">
                <c:v>3428816.6129999999</c:v>
              </c:pt>
              <c:pt idx="7">
                <c:v>3579453.74</c:v>
              </c:pt>
              <c:pt idx="8">
                <c:v>3737336.2209999999</c:v>
              </c:pt>
              <c:pt idx="9">
                <c:v>3902837.2439999999</c:v>
              </c:pt>
              <c:pt idx="10">
                <c:v>4076350.2239999999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4149-4BC3-AA63-D4E3CA016C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  <c:max val="2086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  <c:catAx>
        <c:axId val="90210001"/>
        <c:scaling>
          <c:orientation val="minMax"/>
        </c:scaling>
        <c:delete val="1"/>
        <c:axPos val="b"/>
        <c:numFmt formatCode="General" sourceLinked="1"/>
        <c:majorTickMark val="cross"/>
        <c:minorTickMark val="cross"/>
        <c:tickLblPos val="nextTo"/>
        <c:crossAx val="90210002"/>
        <c:crosses val="autoZero"/>
        <c:auto val="1"/>
        <c:lblAlgn val="ctr"/>
        <c:lblOffset val="100"/>
        <c:noMultiLvlLbl val="1"/>
      </c:catAx>
      <c:valAx>
        <c:axId val="90210002"/>
        <c:scaling>
          <c:orientation val="minMax"/>
          <c:max val="5781826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Index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007-4A80-B656-192B073B450D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007-4A80-B656-192B073B450D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007-4A80-B656-192B073B450D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007-4A80-B656-192B073B450D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007-4A80-B656-192B073B450D}"/>
                </c:ext>
              </c:extLst>
            </c:dLbl>
            <c:dLbl>
              <c:idx val="5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007-4A80-B656-192B073B450D}"/>
                </c:ext>
              </c:extLst>
            </c:dLbl>
            <c:dLbl>
              <c:idx val="6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007-4A80-B656-192B073B450D}"/>
                </c:ext>
              </c:extLst>
            </c:dLbl>
            <c:dLbl>
              <c:idx val="7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007-4A80-B656-192B073B450D}"/>
                </c:ext>
              </c:extLst>
            </c:dLbl>
            <c:dLbl>
              <c:idx val="8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007-4A80-B656-192B073B450D}"/>
                </c:ext>
              </c:extLst>
            </c:dLbl>
            <c:dLbl>
              <c:idx val="9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007-4A80-B656-192B073B450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0"/>
              <c:pt idx="0">
                <c:v>Mexico</c:v>
              </c:pt>
              <c:pt idx="1">
                <c:v>China</c:v>
              </c:pt>
              <c:pt idx="2">
                <c:v>Malaysia</c:v>
              </c:pt>
              <c:pt idx="3">
                <c:v>Spain</c:v>
              </c:pt>
              <c:pt idx="4">
                <c:v>Thailand</c:v>
              </c:pt>
              <c:pt idx="5">
                <c:v>Brazil</c:v>
              </c:pt>
              <c:pt idx="6">
                <c:v>France</c:v>
              </c:pt>
              <c:pt idx="7">
                <c:v>Netherlands</c:v>
              </c:pt>
              <c:pt idx="8">
                <c:v>Germany</c:v>
              </c:pt>
              <c:pt idx="9">
                <c:v>India</c:v>
              </c:pt>
            </c:strLit>
          </c:cat>
          <c:val>
            <c:numLit>
              <c:formatCode>General</c:formatCode>
              <c:ptCount val="10"/>
              <c:pt idx="0">
                <c:v>101.97343041989571</c:v>
              </c:pt>
              <c:pt idx="1">
                <c:v>102.41086651835624</c:v>
              </c:pt>
              <c:pt idx="2">
                <c:v>106.79454675324622</c:v>
              </c:pt>
              <c:pt idx="3">
                <c:v>115.31364539897757</c:v>
              </c:pt>
              <c:pt idx="4">
                <c:v>118.979067299599</c:v>
              </c:pt>
              <c:pt idx="5">
                <c:v>119.50997291143359</c:v>
              </c:pt>
              <c:pt idx="6">
                <c:v>123.9570828111529</c:v>
              </c:pt>
              <c:pt idx="7">
                <c:v>128.71216982901316</c:v>
              </c:pt>
              <c:pt idx="8">
                <c:v>132.09010598245834</c:v>
              </c:pt>
              <c:pt idx="9">
                <c:v>136.50014497830028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A-B007-4A80-B656-192B073B450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Index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745-4CBF-8CD9-8E3E63A177E9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745-4CBF-8CD9-8E3E63A177E9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745-4CBF-8CD9-8E3E63A177E9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745-4CBF-8CD9-8E3E63A177E9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745-4CBF-8CD9-8E3E63A177E9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745-4CBF-8CD9-8E3E63A177E9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745-4CBF-8CD9-8E3E63A177E9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745-4CBF-8CD9-8E3E63A177E9}"/>
                </c:ext>
              </c:extLst>
            </c:dLbl>
            <c:dLbl>
              <c:idx val="8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745-4CBF-8CD9-8E3E63A177E9}"/>
                </c:ext>
              </c:extLst>
            </c:dLbl>
            <c:dLbl>
              <c:idx val="9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745-4CBF-8CD9-8E3E63A177E9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0"/>
              <c:pt idx="0">
                <c:v>Thailand</c:v>
              </c:pt>
              <c:pt idx="1">
                <c:v>Japan</c:v>
              </c:pt>
              <c:pt idx="2">
                <c:v>U.K.</c:v>
              </c:pt>
              <c:pt idx="3">
                <c:v>France</c:v>
              </c:pt>
              <c:pt idx="4">
                <c:v>Brazil</c:v>
              </c:pt>
              <c:pt idx="5">
                <c:v>India</c:v>
              </c:pt>
              <c:pt idx="6">
                <c:v>China</c:v>
              </c:pt>
              <c:pt idx="7">
                <c:v>Canada</c:v>
              </c:pt>
              <c:pt idx="8">
                <c:v>Germany</c:v>
              </c:pt>
              <c:pt idx="9">
                <c:v>U.S.</c:v>
              </c:pt>
            </c:strLit>
          </c:cat>
          <c:val>
            <c:numLit>
              <c:formatCode>General</c:formatCode>
              <c:ptCount val="10"/>
              <c:pt idx="0">
                <c:v>2.7356701936132595</c:v>
              </c:pt>
              <c:pt idx="1">
                <c:v>3.0795283085113501</c:v>
              </c:pt>
              <c:pt idx="2">
                <c:v>3.4046806835797256</c:v>
              </c:pt>
              <c:pt idx="3">
                <c:v>3.7616534693836621</c:v>
              </c:pt>
              <c:pt idx="4">
                <c:v>5.4337371294773549</c:v>
              </c:pt>
              <c:pt idx="5">
                <c:v>7.2552306736367704</c:v>
              </c:pt>
              <c:pt idx="6">
                <c:v>7.7407980446896039</c:v>
              </c:pt>
              <c:pt idx="7">
                <c:v>9.2613032530874815</c:v>
              </c:pt>
              <c:pt idx="8">
                <c:v>14.451142908901868</c:v>
              </c:pt>
              <c:pt idx="9">
                <c:v>16.703827359593365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A-7745-4CBF-8CD9-8E3E63A177E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F88D-49B4-852D-9639E009AE4C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F88D-49B4-852D-9639E009AE4C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F88D-49B4-852D-9639E009AE4C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88D-49B4-852D-9639E009AE4C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88D-49B4-852D-9639E009AE4C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88D-49B4-852D-9639E009AE4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3"/>
              <c:pt idx="0">
                <c:v>Corrugated Board Production Equipment</c:v>
              </c:pt>
              <c:pt idx="1">
                <c:v>Printing and Converting Equipment</c:v>
              </c:pt>
              <c:pt idx="2">
                <c:v>Finishing and Box Assembly Equipment</c:v>
              </c:pt>
            </c:strLit>
          </c:cat>
          <c:val>
            <c:numLit>
              <c:formatCode>General</c:formatCode>
              <c:ptCount val="3"/>
              <c:pt idx="0">
                <c:v>4470.7839999999997</c:v>
              </c:pt>
              <c:pt idx="1">
                <c:v>8757.18</c:v>
              </c:pt>
              <c:pt idx="2">
                <c:v>4450.7039999999997</c:v>
              </c:pt>
            </c:numLit>
          </c:val>
          <c:extLst>
            <c:ext xmlns:c16="http://schemas.microsoft.com/office/drawing/2014/chart" uri="{C3380CC4-5D6E-409C-BE32-E72D297353CC}">
              <c16:uniqueId val="{00000006-F88D-49B4-852D-9639E009AE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lineChart>
        <c:grouping val="standard"/>
        <c:varyColors val="0"/>
        <c:ser>
          <c:idx val="0"/>
          <c:order val="0"/>
          <c:tx>
            <c:v>Optimistic Scenario</c:v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5.6107793184455725E-2</c:v>
              </c:pt>
              <c:pt idx="1">
                <c:v>5.9866629952050443E-2</c:v>
              </c:pt>
              <c:pt idx="2">
                <c:v>6.3219923944397419E-2</c:v>
              </c:pt>
              <c:pt idx="3">
                <c:v>6.6210045302194195E-2</c:v>
              </c:pt>
              <c:pt idx="4">
                <c:v>6.6536900673289393E-2</c:v>
              </c:pt>
              <c:pt idx="5">
                <c:v>6.4581821323960731E-2</c:v>
              </c:pt>
              <c:pt idx="6">
                <c:v>6.2663059238087099E-2</c:v>
              </c:pt>
              <c:pt idx="7">
                <c:v>5.9933211601717988E-2</c:v>
              </c:pt>
              <c:pt idx="8">
                <c:v>5.853499695869966E-2</c:v>
              </c:pt>
              <c:pt idx="9">
                <c:v>5.7445479055049015E-2</c:v>
              </c:pt>
              <c:pt idx="10">
                <c:v>5.549039970572036E-2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0-C4EF-41EF-B860-5C76CFFEEF22}"/>
            </c:ext>
          </c:extLst>
        </c:ser>
        <c:ser>
          <c:idx val="1"/>
          <c:order val="1"/>
          <c:tx>
            <c:v>Likely Scenario</c:v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4.3194592358181398E-2</c:v>
              </c:pt>
              <c:pt idx="1">
                <c:v>4.493714452492667E-2</c:v>
              </c:pt>
              <c:pt idx="2">
                <c:v>4.6784119293424471E-2</c:v>
              </c:pt>
              <c:pt idx="3">
                <c:v>4.8311299844055161E-2</c:v>
              </c:pt>
              <c:pt idx="4">
                <c:v>4.9505633351599673E-2</c:v>
              </c:pt>
              <c:pt idx="5">
                <c:v>5.0256170801695955E-2</c:v>
              </c:pt>
              <c:pt idx="6">
                <c:v>5.0830495111334847E-2</c:v>
              </c:pt>
              <c:pt idx="7">
                <c:v>5.1000181839182701E-2</c:v>
              </c:pt>
              <c:pt idx="8">
                <c:v>5.0915338475258774E-2</c:v>
              </c:pt>
              <c:pt idx="9">
                <c:v>5.056943860695353E-2</c:v>
              </c:pt>
              <c:pt idx="10">
                <c:v>5.0151748199943426E-2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1-C4EF-41EF-B860-5C76CFFEEF22}"/>
            </c:ext>
          </c:extLst>
        </c:ser>
        <c:ser>
          <c:idx val="2"/>
          <c:order val="2"/>
          <c:tx>
            <c:v>Conservative Scenario</c:v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3.5076374850720786E-2</c:v>
              </c:pt>
              <c:pt idx="1">
                <c:v>3.2905909489072599E-2</c:v>
              </c:pt>
              <c:pt idx="2">
                <c:v>3.100675229763044E-2</c:v>
              </c:pt>
              <c:pt idx="3">
                <c:v>3.1549368638042488E-2</c:v>
              </c:pt>
              <c:pt idx="4">
                <c:v>3.5347683020926807E-2</c:v>
              </c:pt>
              <c:pt idx="5">
                <c:v>3.8603381063399084E-2</c:v>
              </c:pt>
              <c:pt idx="6">
                <c:v>4.1316462765459319E-2</c:v>
              </c:pt>
              <c:pt idx="7">
                <c:v>4.1859079105871361E-2</c:v>
              </c:pt>
              <c:pt idx="8">
                <c:v>3.9688613744223174E-2</c:v>
              </c:pt>
              <c:pt idx="9">
                <c:v>3.8060764722987042E-2</c:v>
              </c:pt>
              <c:pt idx="10">
                <c:v>3.6975532042162945E-2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2-C4EF-41EF-B860-5C76CFFEEF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2140495176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2140495176"/>
        <c:scaling>
          <c:orientation val="minMax"/>
          <c:min val="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2118791784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South Asia &amp; Pacific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02A-4D7F-9ADE-117560E5DE6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02A-4D7F-9ADE-117560E5DE6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19.479065728381141</c:v>
              </c:pt>
              <c:pt idx="1">
                <c:v>22.450268247608747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F02A-4D7F-9ADE-117560E5DE6D}"/>
            </c:ext>
          </c:extLst>
        </c:ser>
        <c:ser>
          <c:idx val="1"/>
          <c:order val="1"/>
          <c:tx>
            <c:v>Europe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02A-4D7F-9ADE-117560E5DE6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02A-4D7F-9ADE-117560E5DE6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22.214587909380008</c:v>
              </c:pt>
              <c:pt idx="1">
                <c:v>22.024862945142274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F02A-4D7F-9ADE-117560E5DE6D}"/>
            </c:ext>
          </c:extLst>
        </c:ser>
        <c:ser>
          <c:idx val="2"/>
          <c:order val="2"/>
          <c:tx>
            <c:v>North America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02A-4D7F-9ADE-117560E5DE6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02A-4D7F-9ADE-117560E5DE6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24.188525686890809</c:v>
              </c:pt>
              <c:pt idx="1">
                <c:v>20.363582945173359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F02A-4D7F-9ADE-117560E5DE6D}"/>
            </c:ext>
          </c:extLst>
        </c:ser>
        <c:ser>
          <c:idx val="3"/>
          <c:order val="3"/>
          <c:tx>
            <c:v>East Asia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02A-4D7F-9ADE-117560E5DE6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02A-4D7F-9ADE-117560E5DE6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18.343032161679641</c:v>
              </c:pt>
              <c:pt idx="1">
                <c:v>19.097489843159266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F02A-4D7F-9ADE-117560E5DE6D}"/>
            </c:ext>
          </c:extLst>
        </c:ser>
        <c:ser>
          <c:idx val="4"/>
          <c:order val="4"/>
          <c:tx>
            <c:v>Latin America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02A-4D7F-9ADE-117560E5DE6D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02A-4D7F-9ADE-117560E5DE6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8.4052063145088489</c:v>
              </c:pt>
              <c:pt idx="1">
                <c:v>8.6828638500223239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F02A-4D7F-9ADE-117560E5DE6D}"/>
            </c:ext>
          </c:extLst>
        </c:ser>
        <c:ser>
          <c:idx val="5"/>
          <c:order val="5"/>
          <c:tx>
            <c:v>Middle East and Africa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F02A-4D7F-9ADE-117560E5DE6D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F02A-4D7F-9ADE-117560E5DE6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7.3695821991595478</c:v>
              </c:pt>
              <c:pt idx="1">
                <c:v>7.3809321688940344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1-F02A-4D7F-9ADE-117560E5DE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North America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1AF-44FD-9071-27F8F417D04E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1AF-44FD-9071-27F8F417D04E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33.072458715596333</c:v>
              </c:pt>
              <c:pt idx="1">
                <c:v>30.347241093050677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E1AF-44FD-9071-27F8F417D04E}"/>
            </c:ext>
          </c:extLst>
        </c:ser>
        <c:ser>
          <c:idx val="1"/>
          <c:order val="1"/>
          <c:tx>
            <c:v>Europe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1AF-44FD-9071-27F8F417D04E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1AF-44FD-9071-27F8F417D04E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27.059293577981652</c:v>
              </c:pt>
              <c:pt idx="1">
                <c:v>28.649239863546278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E1AF-44FD-9071-27F8F417D04E}"/>
            </c:ext>
          </c:extLst>
        </c:ser>
        <c:ser>
          <c:idx val="2"/>
          <c:order val="2"/>
          <c:tx>
            <c:v>South Asia &amp; Pacific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1AF-44FD-9071-27F8F417D04E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E1AF-44FD-9071-27F8F417D04E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12.026339449541286</c:v>
              </c:pt>
              <c:pt idx="1">
                <c:v>13.102644384746634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E1AF-44FD-9071-27F8F417D04E}"/>
            </c:ext>
          </c:extLst>
        </c:ser>
        <c:ser>
          <c:idx val="3"/>
          <c:order val="3"/>
          <c:tx>
            <c:v>East Asia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1AF-44FD-9071-27F8F417D04E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1AF-44FD-9071-27F8F417D04E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13.028541284403673</c:v>
              </c:pt>
              <c:pt idx="1">
                <c:v>12.831809500580018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E1AF-44FD-9071-27F8F417D04E}"/>
            </c:ext>
          </c:extLst>
        </c:ser>
        <c:ser>
          <c:idx val="4"/>
          <c:order val="4"/>
          <c:tx>
            <c:v>Latin America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1AF-44FD-9071-27F8F417D04E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E1AF-44FD-9071-27F8F417D04E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8.0175596330275223</c:v>
              </c:pt>
              <c:pt idx="1">
                <c:v>8.335854262323382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E1AF-44FD-9071-27F8F417D04E}"/>
            </c:ext>
          </c:extLst>
        </c:ser>
        <c:ser>
          <c:idx val="5"/>
          <c:order val="5"/>
          <c:tx>
            <c:v>Middle East and Africa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E1AF-44FD-9071-27F8F417D04E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E1AF-44FD-9071-27F8F417D04E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6.7958073394495413</c:v>
              </c:pt>
              <c:pt idx="1">
                <c:v>6.7332108957530057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1-E1AF-44FD-9071-27F8F417D04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North America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395-43CB-9E16-51339E23CC6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395-43CB-9E16-51339E23CC6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395-43CB-9E16-51339E23CC6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395-43CB-9E16-51339E23CC6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395-43CB-9E16-51339E23CC6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395-43CB-9E16-51339E23CC6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395-43CB-9E16-51339E23CC6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395-43CB-9E16-51339E23CC6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395-43CB-9E16-51339E23CC6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395-43CB-9E16-51339E23CC6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395-43CB-9E16-51339E23CC6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395-43CB-9E16-51339E23CC6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395-43CB-9E16-51339E23CC6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8395-43CB-9E16-51339E23CC6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395-43CB-9E16-51339E23CC6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8395-43CB-9E16-51339E23CC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588404.30599999998</c:v>
              </c:pt>
              <c:pt idx="1">
                <c:v>598943.38300000003</c:v>
              </c:pt>
              <c:pt idx="2">
                <c:v>609674.94700000004</c:v>
              </c:pt>
              <c:pt idx="3">
                <c:v>620602.58900000004</c:v>
              </c:pt>
              <c:pt idx="4">
                <c:v>631729.96499999997</c:v>
              </c:pt>
              <c:pt idx="5">
                <c:v>643060.80500000005</c:v>
              </c:pt>
              <c:pt idx="6">
                <c:v>659671.19799999997</c:v>
              </c:pt>
              <c:pt idx="7">
                <c:v>676714.73199999996</c:v>
              </c:pt>
              <c:pt idx="8">
                <c:v>694202.81499999994</c:v>
              </c:pt>
              <c:pt idx="9">
                <c:v>712147.16</c:v>
              </c:pt>
              <c:pt idx="10">
                <c:v>730559.79</c:v>
              </c:pt>
              <c:pt idx="11">
                <c:v>749453.05</c:v>
              </c:pt>
              <c:pt idx="12">
                <c:v>768839.61199999996</c:v>
              </c:pt>
              <c:pt idx="13">
                <c:v>788732.48699999996</c:v>
              </c:pt>
              <c:pt idx="14">
                <c:v>809145.03099999996</c:v>
              </c:pt>
              <c:pt idx="15">
                <c:v>830090.95900000003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8395-43CB-9E16-51339E23CC6E}"/>
            </c:ext>
          </c:extLst>
        </c:ser>
        <c:ser>
          <c:idx val="1"/>
          <c:order val="1"/>
          <c:tx>
            <c:v>Europe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395-43CB-9E16-51339E23CC6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8395-43CB-9E16-51339E23CC6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395-43CB-9E16-51339E23CC6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8395-43CB-9E16-51339E23CC6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8395-43CB-9E16-51339E23CC6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8395-43CB-9E16-51339E23CC6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8395-43CB-9E16-51339E23CC6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8395-43CB-9E16-51339E23CC6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8395-43CB-9E16-51339E23CC6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8395-43CB-9E16-51339E23CC6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8395-43CB-9E16-51339E23CC6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8395-43CB-9E16-51339E23CC6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8395-43CB-9E16-51339E23CC6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8395-43CB-9E16-51339E23CC6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8395-43CB-9E16-51339E23CC6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8395-43CB-9E16-51339E23CC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499636.00199999998</c:v>
              </c:pt>
              <c:pt idx="1">
                <c:v>516510.89399999997</c:v>
              </c:pt>
              <c:pt idx="2">
                <c:v>534017.37600000005</c:v>
              </c:pt>
              <c:pt idx="3">
                <c:v>552180.58799999999</c:v>
              </c:pt>
              <c:pt idx="4">
                <c:v>571026.69299999997</c:v>
              </c:pt>
              <c:pt idx="5">
                <c:v>590582.94700000004</c:v>
              </c:pt>
              <c:pt idx="6">
                <c:v>615545.72</c:v>
              </c:pt>
              <c:pt idx="7">
                <c:v>641634.228</c:v>
              </c:pt>
              <c:pt idx="8">
                <c:v>668901.54099999997</c:v>
              </c:pt>
              <c:pt idx="9">
                <c:v>697403.299</c:v>
              </c:pt>
              <c:pt idx="10">
                <c:v>727197.83700000006</c:v>
              </c:pt>
              <c:pt idx="11">
                <c:v>758346.32799999998</c:v>
              </c:pt>
              <c:pt idx="12">
                <c:v>790912.924</c:v>
              </c:pt>
              <c:pt idx="13">
                <c:v>824964.89300000004</c:v>
              </c:pt>
              <c:pt idx="14">
                <c:v>860572.772</c:v>
              </c:pt>
              <c:pt idx="15">
                <c:v>897810.55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1-8395-43CB-9E16-51339E23CC6E}"/>
            </c:ext>
          </c:extLst>
        </c:ser>
        <c:ser>
          <c:idx val="2"/>
          <c:order val="2"/>
          <c:tx>
            <c:v>South Asia &amp; Pacific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8395-43CB-9E16-51339E23CC6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8395-43CB-9E16-51339E23CC6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8395-43CB-9E16-51339E23CC6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8395-43CB-9E16-51339E23CC6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8395-43CB-9E16-51339E23CC6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8395-43CB-9E16-51339E23CC6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8395-43CB-9E16-51339E23CC6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8395-43CB-9E16-51339E23CC6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8395-43CB-9E16-51339E23CC6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8395-43CB-9E16-51339E23CC6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8395-43CB-9E16-51339E23CC6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8395-43CB-9E16-51339E23CC6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8395-43CB-9E16-51339E23CC6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8395-43CB-9E16-51339E23CC6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8395-43CB-9E16-51339E23CC6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8395-43CB-9E16-51339E23CC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406033.19199999998</c:v>
              </c:pt>
              <c:pt idx="1">
                <c:v>426193.95500000002</c:v>
              </c:pt>
              <c:pt idx="2">
                <c:v>447399.38400000002</c:v>
              </c:pt>
              <c:pt idx="3">
                <c:v>469705.37199999997</c:v>
              </c:pt>
              <c:pt idx="4">
                <c:v>493170.87599999999</c:v>
              </c:pt>
              <c:pt idx="5">
                <c:v>517858.08899999998</c:v>
              </c:pt>
              <c:pt idx="6">
                <c:v>547976.23100000003</c:v>
              </c:pt>
              <c:pt idx="7">
                <c:v>579899.69700000004</c:v>
              </c:pt>
              <c:pt idx="8">
                <c:v>613739.31599999999</c:v>
              </c:pt>
              <c:pt idx="9">
                <c:v>649612.853</c:v>
              </c:pt>
              <c:pt idx="10">
                <c:v>687645.44099999999</c:v>
              </c:pt>
              <c:pt idx="11">
                <c:v>727970.05900000001</c:v>
              </c:pt>
              <c:pt idx="12">
                <c:v>770728.01599999995</c:v>
              </c:pt>
              <c:pt idx="13">
                <c:v>816069.5</c:v>
              </c:pt>
              <c:pt idx="14">
                <c:v>864154.13100000005</c:v>
              </c:pt>
              <c:pt idx="15">
                <c:v>915151.56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2-8395-43CB-9E16-51339E23CC6E}"/>
            </c:ext>
          </c:extLst>
        </c:ser>
        <c:ser>
          <c:idx val="3"/>
          <c:order val="3"/>
          <c:tx>
            <c:v>East Asia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8395-43CB-9E16-51339E23CC6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8395-43CB-9E16-51339E23CC6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8395-43CB-9E16-51339E23CC6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8395-43CB-9E16-51339E23CC6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8395-43CB-9E16-51339E23CC6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8395-43CB-9E16-51339E23CC6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8395-43CB-9E16-51339E23CC6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8395-43CB-9E16-51339E23CC6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8395-43CB-9E16-51339E23CC6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8395-43CB-9E16-51339E23CC6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8395-43CB-9E16-51339E23CC6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8395-43CB-9E16-51339E23CC6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8395-43CB-9E16-51339E23CC6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8395-43CB-9E16-51339E23CC6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8395-43CB-9E16-51339E23CC6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8395-43CB-9E16-51339E23CC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401340.23700000002</c:v>
              </c:pt>
              <c:pt idx="1">
                <c:v>417267.84600000002</c:v>
              </c:pt>
              <c:pt idx="2">
                <c:v>433836.587</c:v>
              </c:pt>
              <c:pt idx="3">
                <c:v>451072.57799999998</c:v>
              </c:pt>
              <c:pt idx="4">
                <c:v>469003.01799999998</c:v>
              </c:pt>
              <c:pt idx="5">
                <c:v>487656.22100000002</c:v>
              </c:pt>
              <c:pt idx="6">
                <c:v>510961.65600000002</c:v>
              </c:pt>
              <c:pt idx="7">
                <c:v>535391.64500000002</c:v>
              </c:pt>
              <c:pt idx="8">
                <c:v>561000.91500000004</c:v>
              </c:pt>
              <c:pt idx="9">
                <c:v>587846.87300000002</c:v>
              </c:pt>
              <c:pt idx="10">
                <c:v>615989.73800000001</c:v>
              </c:pt>
              <c:pt idx="11">
                <c:v>645492.68599999999</c:v>
              </c:pt>
              <c:pt idx="12">
                <c:v>676421.99300000002</c:v>
              </c:pt>
              <c:pt idx="13">
                <c:v>708847.18500000006</c:v>
              </c:pt>
              <c:pt idx="14">
                <c:v>742841.20299999998</c:v>
              </c:pt>
              <c:pt idx="15">
                <c:v>778480.57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3-8395-43CB-9E16-51339E23CC6E}"/>
            </c:ext>
          </c:extLst>
        </c:ser>
        <c:ser>
          <c:idx val="4"/>
          <c:order val="4"/>
          <c:tx>
            <c:v>Latin America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8395-43CB-9E16-51339E23CC6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8395-43CB-9E16-51339E23CC6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8395-43CB-9E16-51339E23CC6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8395-43CB-9E16-51339E23CC6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8395-43CB-9E16-51339E23CC6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8395-43CB-9E16-51339E23CC6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8395-43CB-9E16-51339E23CC6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8395-43CB-9E16-51339E23CC6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8395-43CB-9E16-51339E23CC6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8395-43CB-9E16-51339E23CC6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8395-43CB-9E16-51339E23CC6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8395-43CB-9E16-51339E23CC6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8395-43CB-9E16-51339E23CC6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8395-43CB-9E16-51339E23CC6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8395-43CB-9E16-51339E23CC6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8395-43CB-9E16-51339E23CC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184714.36499999999</c:v>
              </c:pt>
              <c:pt idx="1">
                <c:v>191868.87299999999</c:v>
              </c:pt>
              <c:pt idx="2">
                <c:v>199308.36900000001</c:v>
              </c:pt>
              <c:pt idx="3">
                <c:v>207044.481</c:v>
              </c:pt>
              <c:pt idx="4">
                <c:v>215089.31599999999</c:v>
              </c:pt>
              <c:pt idx="5">
                <c:v>223455.48499999999</c:v>
              </c:pt>
              <c:pt idx="6">
                <c:v>233932.87599999999</c:v>
              </c:pt>
              <c:pt idx="7">
                <c:v>244910.90599999999</c:v>
              </c:pt>
              <c:pt idx="8">
                <c:v>256413.891</c:v>
              </c:pt>
              <c:pt idx="9">
                <c:v>268467.35499999998</c:v>
              </c:pt>
              <c:pt idx="10">
                <c:v>281098.07199999999</c:v>
              </c:pt>
              <c:pt idx="11">
                <c:v>294334.14299999998</c:v>
              </c:pt>
              <c:pt idx="12">
                <c:v>308205.05099999998</c:v>
              </c:pt>
              <c:pt idx="13">
                <c:v>322741.74</c:v>
              </c:pt>
              <c:pt idx="14">
                <c:v>337976.67700000003</c:v>
              </c:pt>
              <c:pt idx="15">
                <c:v>353943.94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54-8395-43CB-9E16-51339E23CC6E}"/>
            </c:ext>
          </c:extLst>
        </c:ser>
        <c:ser>
          <c:idx val="5"/>
          <c:order val="5"/>
          <c:tx>
            <c:v>Middle East and Africa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8395-43CB-9E16-51339E23CC6E}"/>
                </c:ext>
              </c:extLst>
            </c:dLbl>
            <c:dLbl>
              <c:idx val="1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8395-43CB-9E16-51339E23CC6E}"/>
                </c:ext>
              </c:extLst>
            </c:dLbl>
            <c:dLbl>
              <c:idx val="2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8395-43CB-9E16-51339E23CC6E}"/>
                </c:ext>
              </c:extLst>
            </c:dLbl>
            <c:dLbl>
              <c:idx val="3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8395-43CB-9E16-51339E23CC6E}"/>
                </c:ext>
              </c:extLst>
            </c:dLbl>
            <c:dLbl>
              <c:idx val="4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8395-43CB-9E16-51339E23CC6E}"/>
                </c:ext>
              </c:extLst>
            </c:dLbl>
            <c:dLbl>
              <c:idx val="5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8395-43CB-9E16-51339E23CC6E}"/>
                </c:ext>
              </c:extLst>
            </c:dLbl>
            <c:dLbl>
              <c:idx val="6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8395-43CB-9E16-51339E23CC6E}"/>
                </c:ext>
              </c:extLst>
            </c:dLbl>
            <c:dLbl>
              <c:idx val="7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8395-43CB-9E16-51339E23CC6E}"/>
                </c:ext>
              </c:extLst>
            </c:dLbl>
            <c:dLbl>
              <c:idx val="8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8395-43CB-9E16-51339E23CC6E}"/>
                </c:ext>
              </c:extLst>
            </c:dLbl>
            <c:dLbl>
              <c:idx val="9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8395-43CB-9E16-51339E23CC6E}"/>
                </c:ext>
              </c:extLst>
            </c:dLbl>
            <c:dLbl>
              <c:idx val="10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8395-43CB-9E16-51339E23CC6E}"/>
                </c:ext>
              </c:extLst>
            </c:dLbl>
            <c:dLbl>
              <c:idx val="11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8395-43CB-9E16-51339E23CC6E}"/>
                </c:ext>
              </c:extLst>
            </c:dLbl>
            <c:dLbl>
              <c:idx val="12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8395-43CB-9E16-51339E23CC6E}"/>
                </c:ext>
              </c:extLst>
            </c:dLbl>
            <c:dLbl>
              <c:idx val="13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8395-43CB-9E16-51339E23CC6E}"/>
                </c:ext>
              </c:extLst>
            </c:dLbl>
            <c:dLbl>
              <c:idx val="14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8395-43CB-9E16-51339E23CC6E}"/>
                </c:ext>
              </c:extLst>
            </c:dLbl>
            <c:dLbl>
              <c:idx val="15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8395-43CB-9E16-51339E23CC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164695.508</c:v>
              </c:pt>
              <c:pt idx="1">
                <c:v>170492.611</c:v>
              </c:pt>
              <c:pt idx="2">
                <c:v>176505.217</c:v>
              </c:pt>
              <c:pt idx="3">
                <c:v>182741.84700000001</c:v>
              </c:pt>
              <c:pt idx="4">
                <c:v>189211.37</c:v>
              </c:pt>
              <c:pt idx="5">
                <c:v>195923.03899999999</c:v>
              </c:pt>
              <c:pt idx="6">
                <c:v>204446.842</c:v>
              </c:pt>
              <c:pt idx="7">
                <c:v>213355.82399999999</c:v>
              </c:pt>
              <c:pt idx="8">
                <c:v>222668.14199999999</c:v>
              </c:pt>
              <c:pt idx="9">
                <c:v>232402.84299999999</c:v>
              </c:pt>
              <c:pt idx="10">
                <c:v>242579.91800000001</c:v>
              </c:pt>
              <c:pt idx="11">
                <c:v>253220.34700000001</c:v>
              </c:pt>
              <c:pt idx="12">
                <c:v>264346.14399999997</c:v>
              </c:pt>
              <c:pt idx="13">
                <c:v>275980.41600000003</c:v>
              </c:pt>
              <c:pt idx="14">
                <c:v>288147.43</c:v>
              </c:pt>
              <c:pt idx="15">
                <c:v>300872.64500000002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5-8395-43CB-9E16-51339E23CC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North America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0F5-4D9B-9E57-3F803F5F957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0F5-4D9B-9E57-3F803F5F957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0F5-4D9B-9E57-3F803F5F957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0F5-4D9B-9E57-3F803F5F957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0F5-4D9B-9E57-3F803F5F957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0F5-4D9B-9E57-3F803F5F957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0F5-4D9B-9E57-3F803F5F957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0F5-4D9B-9E57-3F803F5F957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0F5-4D9B-9E57-3F803F5F957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0F5-4D9B-9E57-3F803F5F957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0F5-4D9B-9E57-3F803F5F957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0F5-4D9B-9E57-3F803F5F957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0F5-4D9B-9E57-3F803F5F957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0F5-4D9B-9E57-3F803F5F957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0F5-4D9B-9E57-3F803F5F9579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C0F5-4D9B-9E57-3F803F5F957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3072.4580000000001</c:v>
              </c:pt>
              <c:pt idx="1">
                <c:v>3172.183</c:v>
              </c:pt>
              <c:pt idx="2">
                <c:v>3275.1790000000001</c:v>
              </c:pt>
              <c:pt idx="3">
                <c:v>3381.5549999999998</c:v>
              </c:pt>
              <c:pt idx="4">
                <c:v>3491.422</c:v>
              </c:pt>
              <c:pt idx="5">
                <c:v>3604.8980000000001</c:v>
              </c:pt>
              <c:pt idx="6">
                <c:v>3750.9389999999999</c:v>
              </c:pt>
              <c:pt idx="7">
                <c:v>3902.9380000000001</c:v>
              </c:pt>
              <c:pt idx="8">
                <c:v>4061.1390000000001</c:v>
              </c:pt>
              <c:pt idx="9">
                <c:v>4225.7960000000003</c:v>
              </c:pt>
              <c:pt idx="10">
                <c:v>4397.1760000000004</c:v>
              </c:pt>
              <c:pt idx="11">
                <c:v>4575.5529999999999</c:v>
              </c:pt>
              <c:pt idx="12">
                <c:v>4761.2169999999996</c:v>
              </c:pt>
              <c:pt idx="13">
                <c:v>4954.4669999999996</c:v>
              </c:pt>
              <c:pt idx="14">
                <c:v>5155.616</c:v>
              </c:pt>
              <c:pt idx="15">
                <c:v>5364.9880000000003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C0F5-4D9B-9E57-3F803F5F9579}"/>
            </c:ext>
          </c:extLst>
        </c:ser>
        <c:ser>
          <c:idx val="1"/>
          <c:order val="1"/>
          <c:tx>
            <c:v>Europe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C0F5-4D9B-9E57-3F803F5F957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C0F5-4D9B-9E57-3F803F5F957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C0F5-4D9B-9E57-3F803F5F957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C0F5-4D9B-9E57-3F803F5F957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C0F5-4D9B-9E57-3F803F5F957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C0F5-4D9B-9E57-3F803F5F957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C0F5-4D9B-9E57-3F803F5F957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C0F5-4D9B-9E57-3F803F5F957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C0F5-4D9B-9E57-3F803F5F957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C0F5-4D9B-9E57-3F803F5F957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C0F5-4D9B-9E57-3F803F5F957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C0F5-4D9B-9E57-3F803F5F957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C0F5-4D9B-9E57-3F803F5F957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C0F5-4D9B-9E57-3F803F5F957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C0F5-4D9B-9E57-3F803F5F9579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C0F5-4D9B-9E57-3F803F5F957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2348.63</c:v>
              </c:pt>
              <c:pt idx="1">
                <c:v>2457.4920000000002</c:v>
              </c:pt>
              <c:pt idx="2">
                <c:v>2571.7199999999998</c:v>
              </c:pt>
              <c:pt idx="3">
                <c:v>2691.5940000000001</c:v>
              </c:pt>
              <c:pt idx="4">
                <c:v>2817.404</c:v>
              </c:pt>
              <c:pt idx="5">
                <c:v>2949.4630000000002</c:v>
              </c:pt>
              <c:pt idx="6">
                <c:v>3111.6819999999998</c:v>
              </c:pt>
              <c:pt idx="7">
                <c:v>3283.2139999999999</c:v>
              </c:pt>
              <c:pt idx="8">
                <c:v>3464.616</c:v>
              </c:pt>
              <c:pt idx="9">
                <c:v>3656.4720000000002</c:v>
              </c:pt>
              <c:pt idx="10">
                <c:v>3859.4059999999999</c:v>
              </c:pt>
              <c:pt idx="11">
                <c:v>4074.0770000000002</c:v>
              </c:pt>
              <c:pt idx="12">
                <c:v>4301.1859999999997</c:v>
              </c:pt>
              <c:pt idx="13">
                <c:v>4541.4750000000004</c:v>
              </c:pt>
              <c:pt idx="14">
                <c:v>4795.7370000000001</c:v>
              </c:pt>
              <c:pt idx="15">
                <c:v>5064.8040000000001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1-C0F5-4D9B-9E57-3F803F5F9579}"/>
            </c:ext>
          </c:extLst>
        </c:ser>
        <c:ser>
          <c:idx val="2"/>
          <c:order val="2"/>
          <c:tx>
            <c:v>East Asia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C0F5-4D9B-9E57-3F803F5F957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C0F5-4D9B-9E57-3F803F5F957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C0F5-4D9B-9E57-3F803F5F957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C0F5-4D9B-9E57-3F803F5F957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C0F5-4D9B-9E57-3F803F5F957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C0F5-4D9B-9E57-3F803F5F957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C0F5-4D9B-9E57-3F803F5F957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C0F5-4D9B-9E57-3F803F5F957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C0F5-4D9B-9E57-3F803F5F957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C0F5-4D9B-9E57-3F803F5F957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C0F5-4D9B-9E57-3F803F5F957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C0F5-4D9B-9E57-3F803F5F957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C0F5-4D9B-9E57-3F803F5F957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C0F5-4D9B-9E57-3F803F5F957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C0F5-4D9B-9E57-3F803F5F9579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C0F5-4D9B-9E57-3F803F5F957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1168.0309999999999</c:v>
              </c:pt>
              <c:pt idx="1">
                <c:v>1214.5540000000001</c:v>
              </c:pt>
              <c:pt idx="2">
                <c:v>1262.9469999999999</c:v>
              </c:pt>
              <c:pt idx="3">
                <c:v>1313.2850000000001</c:v>
              </c:pt>
              <c:pt idx="4">
                <c:v>1365.646</c:v>
              </c:pt>
              <c:pt idx="5">
                <c:v>1420.1110000000001</c:v>
              </c:pt>
              <c:pt idx="6">
                <c:v>1488.1289999999999</c:v>
              </c:pt>
              <c:pt idx="7">
                <c:v>1559.423</c:v>
              </c:pt>
              <c:pt idx="8">
                <c:v>1634.1510000000001</c:v>
              </c:pt>
              <c:pt idx="9">
                <c:v>1712.482</c:v>
              </c:pt>
              <c:pt idx="10">
                <c:v>1794.5889999999999</c:v>
              </c:pt>
              <c:pt idx="11">
                <c:v>1880.655</c:v>
              </c:pt>
              <c:pt idx="12">
                <c:v>1970.8720000000001</c:v>
              </c:pt>
              <c:pt idx="13">
                <c:v>2065.4409999999998</c:v>
              </c:pt>
              <c:pt idx="14">
                <c:v>2164.5749999999998</c:v>
              </c:pt>
              <c:pt idx="15">
                <c:v>2268.4929999999999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2-C0F5-4D9B-9E57-3F803F5F9579}"/>
            </c:ext>
          </c:extLst>
        </c:ser>
        <c:ser>
          <c:idx val="3"/>
          <c:order val="3"/>
          <c:tx>
            <c:v>South Asia &amp; Pacific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C0F5-4D9B-9E57-3F803F5F957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C0F5-4D9B-9E57-3F803F5F957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C0F5-4D9B-9E57-3F803F5F957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C0F5-4D9B-9E57-3F803F5F957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C0F5-4D9B-9E57-3F803F5F957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C0F5-4D9B-9E57-3F803F5F957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C0F5-4D9B-9E57-3F803F5F957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C0F5-4D9B-9E57-3F803F5F957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C0F5-4D9B-9E57-3F803F5F957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C0F5-4D9B-9E57-3F803F5F957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C0F5-4D9B-9E57-3F803F5F957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C0F5-4D9B-9E57-3F803F5F957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C0F5-4D9B-9E57-3F803F5F957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C0F5-4D9B-9E57-3F803F5F957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C0F5-4D9B-9E57-3F803F5F9579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C0F5-4D9B-9E57-3F803F5F957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1027.9490000000001</c:v>
              </c:pt>
              <c:pt idx="1">
                <c:v>1078.9490000000001</c:v>
              </c:pt>
              <c:pt idx="2">
                <c:v>1132.5989999999999</c:v>
              </c:pt>
              <c:pt idx="3">
                <c:v>1189.0329999999999</c:v>
              </c:pt>
              <c:pt idx="4">
                <c:v>1248.4069999999999</c:v>
              </c:pt>
              <c:pt idx="5">
                <c:v>1310.8710000000001</c:v>
              </c:pt>
              <c:pt idx="6">
                <c:v>1387.086</c:v>
              </c:pt>
              <c:pt idx="7">
                <c:v>1467.8679999999999</c:v>
              </c:pt>
              <c:pt idx="8">
                <c:v>1553.5039999999999</c:v>
              </c:pt>
              <c:pt idx="9">
                <c:v>1644.289</c:v>
              </c:pt>
              <c:pt idx="10">
                <c:v>1740.5429999999999</c:v>
              </c:pt>
              <c:pt idx="11">
                <c:v>1842.5989999999999</c:v>
              </c:pt>
              <c:pt idx="12">
                <c:v>1950.82</c:v>
              </c:pt>
              <c:pt idx="13">
                <c:v>2065.5790000000002</c:v>
              </c:pt>
              <c:pt idx="14">
                <c:v>2187.288</c:v>
              </c:pt>
              <c:pt idx="15">
                <c:v>2316.373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3-C0F5-4D9B-9E57-3F803F5F9579}"/>
            </c:ext>
          </c:extLst>
        </c:ser>
        <c:ser>
          <c:idx val="4"/>
          <c:order val="4"/>
          <c:tx>
            <c:v>Latin America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C0F5-4D9B-9E57-3F803F5F957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C0F5-4D9B-9E57-3F803F5F957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C0F5-4D9B-9E57-3F803F5F957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C0F5-4D9B-9E57-3F803F5F957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C0F5-4D9B-9E57-3F803F5F957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C0F5-4D9B-9E57-3F803F5F957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C0F5-4D9B-9E57-3F803F5F957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C0F5-4D9B-9E57-3F803F5F957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C0F5-4D9B-9E57-3F803F5F957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C0F5-4D9B-9E57-3F803F5F957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C0F5-4D9B-9E57-3F803F5F957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C0F5-4D9B-9E57-3F803F5F957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C0F5-4D9B-9E57-3F803F5F957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C0F5-4D9B-9E57-3F803F5F957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C0F5-4D9B-9E57-3F803F5F9579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C0F5-4D9B-9E57-3F803F5F957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700.255</c:v>
              </c:pt>
              <c:pt idx="1">
                <c:v>731.91499999999996</c:v>
              </c:pt>
              <c:pt idx="2">
                <c:v>765.03899999999999</c:v>
              </c:pt>
              <c:pt idx="3">
                <c:v>799.69899999999996</c:v>
              </c:pt>
              <c:pt idx="4">
                <c:v>835.96500000000003</c:v>
              </c:pt>
              <c:pt idx="5">
                <c:v>873.91399999999999</c:v>
              </c:pt>
              <c:pt idx="6">
                <c:v>920.61800000000005</c:v>
              </c:pt>
              <c:pt idx="7">
                <c:v>969.85900000000004</c:v>
              </c:pt>
              <c:pt idx="8">
                <c:v>1021.776</c:v>
              </c:pt>
              <c:pt idx="9">
                <c:v>1076.519</c:v>
              </c:pt>
              <c:pt idx="10">
                <c:v>1134.2439999999999</c:v>
              </c:pt>
              <c:pt idx="11">
                <c:v>1195.1130000000001</c:v>
              </c:pt>
              <c:pt idx="12">
                <c:v>1259.3009999999999</c:v>
              </c:pt>
              <c:pt idx="13">
                <c:v>1326.992</c:v>
              </c:pt>
              <c:pt idx="14">
                <c:v>1398.38</c:v>
              </c:pt>
              <c:pt idx="15">
                <c:v>1473.6679999999999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54-C0F5-4D9B-9E57-3F803F5F9579}"/>
            </c:ext>
          </c:extLst>
        </c:ser>
        <c:ser>
          <c:idx val="5"/>
          <c:order val="5"/>
          <c:tx>
            <c:v>Middle East and Africa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C0F5-4D9B-9E57-3F803F5F9579}"/>
                </c:ext>
              </c:extLst>
            </c:dLbl>
            <c:dLbl>
              <c:idx val="1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C0F5-4D9B-9E57-3F803F5F9579}"/>
                </c:ext>
              </c:extLst>
            </c:dLbl>
            <c:dLbl>
              <c:idx val="2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C0F5-4D9B-9E57-3F803F5F9579}"/>
                </c:ext>
              </c:extLst>
            </c:dLbl>
            <c:dLbl>
              <c:idx val="3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C0F5-4D9B-9E57-3F803F5F9579}"/>
                </c:ext>
              </c:extLst>
            </c:dLbl>
            <c:dLbl>
              <c:idx val="4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C0F5-4D9B-9E57-3F803F5F9579}"/>
                </c:ext>
              </c:extLst>
            </c:dLbl>
            <c:dLbl>
              <c:idx val="5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C0F5-4D9B-9E57-3F803F5F9579}"/>
                </c:ext>
              </c:extLst>
            </c:dLbl>
            <c:dLbl>
              <c:idx val="6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C0F5-4D9B-9E57-3F803F5F9579}"/>
                </c:ext>
              </c:extLst>
            </c:dLbl>
            <c:dLbl>
              <c:idx val="7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C0F5-4D9B-9E57-3F803F5F9579}"/>
                </c:ext>
              </c:extLst>
            </c:dLbl>
            <c:dLbl>
              <c:idx val="8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C0F5-4D9B-9E57-3F803F5F9579}"/>
                </c:ext>
              </c:extLst>
            </c:dLbl>
            <c:dLbl>
              <c:idx val="9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C0F5-4D9B-9E57-3F803F5F9579}"/>
                </c:ext>
              </c:extLst>
            </c:dLbl>
            <c:dLbl>
              <c:idx val="10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C0F5-4D9B-9E57-3F803F5F9579}"/>
                </c:ext>
              </c:extLst>
            </c:dLbl>
            <c:dLbl>
              <c:idx val="11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C0F5-4D9B-9E57-3F803F5F9579}"/>
                </c:ext>
              </c:extLst>
            </c:dLbl>
            <c:dLbl>
              <c:idx val="12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C0F5-4D9B-9E57-3F803F5F9579}"/>
                </c:ext>
              </c:extLst>
            </c:dLbl>
            <c:dLbl>
              <c:idx val="13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C0F5-4D9B-9E57-3F803F5F9579}"/>
                </c:ext>
              </c:extLst>
            </c:dLbl>
            <c:dLbl>
              <c:idx val="14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C0F5-4D9B-9E57-3F803F5F9579}"/>
                </c:ext>
              </c:extLst>
            </c:dLbl>
            <c:dLbl>
              <c:idx val="15"/>
              <c:layout>
                <c:manualLayout>
                  <c:x val="0"/>
                  <c:y val="-8.3000000000000004E-2"/>
                </c:manualLayout>
              </c:layout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C0F5-4D9B-9E57-3F803F5F957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608.66600000000005</c:v>
              </c:pt>
              <c:pt idx="1">
                <c:v>632.96799999999996</c:v>
              </c:pt>
              <c:pt idx="2">
                <c:v>658.28</c:v>
              </c:pt>
              <c:pt idx="3">
                <c:v>684.649</c:v>
              </c:pt>
              <c:pt idx="4">
                <c:v>712.11900000000003</c:v>
              </c:pt>
              <c:pt idx="5">
                <c:v>740.74300000000005</c:v>
              </c:pt>
              <c:pt idx="6">
                <c:v>776.49199999999996</c:v>
              </c:pt>
              <c:pt idx="7">
                <c:v>814.01900000000001</c:v>
              </c:pt>
              <c:pt idx="8">
                <c:v>853.41700000000003</c:v>
              </c:pt>
              <c:pt idx="9">
                <c:v>894.78099999999995</c:v>
              </c:pt>
              <c:pt idx="10">
                <c:v>938.21500000000003</c:v>
              </c:pt>
              <c:pt idx="11">
                <c:v>983.82100000000003</c:v>
              </c:pt>
              <c:pt idx="12">
                <c:v>1031.7149999999999</c:v>
              </c:pt>
              <c:pt idx="13">
                <c:v>1082.0170000000001</c:v>
              </c:pt>
              <c:pt idx="14">
                <c:v>1134.848</c:v>
              </c:pt>
              <c:pt idx="15">
                <c:v>1190.3420000000001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5-C0F5-4D9B-9E57-3F803F5F95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Corrugated Board Production Equipment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E28-40EC-8B4C-AD8337D1C48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E28-40EC-8B4C-AD8337D1C48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E28-40EC-8B4C-AD8337D1C488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E28-40EC-8B4C-AD8337D1C488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E28-40EC-8B4C-AD8337D1C488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E28-40EC-8B4C-AD8337D1C48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26.238425595333105</c:v>
              </c:pt>
              <c:pt idx="1">
                <c:v>24.103393708759366</c:v>
              </c:pt>
              <c:pt idx="2">
                <c:v>25.190556021111814</c:v>
              </c:pt>
              <c:pt idx="3">
                <c:v>25.423496129509367</c:v>
              </c:pt>
              <c:pt idx="4">
                <c:v>27.141840039614561</c:v>
              </c:pt>
              <c:pt idx="5">
                <c:v>23.638878595814194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BE28-40EC-8B4C-AD8337D1C488}"/>
            </c:ext>
          </c:extLst>
        </c:ser>
        <c:ser>
          <c:idx val="1"/>
          <c:order val="1"/>
          <c:tx>
            <c:v>Printing and Converting Equipment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E28-40EC-8B4C-AD8337D1C48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E28-40EC-8B4C-AD8337D1C48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E28-40EC-8B4C-AD8337D1C488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E28-40EC-8B4C-AD8337D1C488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E28-40EC-8B4C-AD8337D1C488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E28-40EC-8B4C-AD8337D1C48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47.962602344536272</c:v>
              </c:pt>
              <c:pt idx="1">
                <c:v>51.418229886243026</c:v>
              </c:pt>
              <c:pt idx="2">
                <c:v>50.680870516241406</c:v>
              </c:pt>
              <c:pt idx="3">
                <c:v>48.952306040521108</c:v>
              </c:pt>
              <c:pt idx="4">
                <c:v>48.040437497680067</c:v>
              </c:pt>
              <c:pt idx="5">
                <c:v>50.545555740292436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BE28-40EC-8B4C-AD8337D1C488}"/>
            </c:ext>
          </c:extLst>
        </c:ser>
        <c:ser>
          <c:idx val="2"/>
          <c:order val="2"/>
          <c:tx>
            <c:v>Finishing and Box Assembly Equipment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E28-40EC-8B4C-AD8337D1C48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BE28-40EC-8B4C-AD8337D1C48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E28-40EC-8B4C-AD8337D1C488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BE28-40EC-8B4C-AD8337D1C488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BE28-40EC-8B4C-AD8337D1C488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BE28-40EC-8B4C-AD8337D1C48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25.798972060130616</c:v>
              </c:pt>
              <c:pt idx="1">
                <c:v>24.478376404997597</c:v>
              </c:pt>
              <c:pt idx="2">
                <c:v>24.128573462646791</c:v>
              </c:pt>
              <c:pt idx="3">
                <c:v>25.624197829969525</c:v>
              </c:pt>
              <c:pt idx="4">
                <c:v>24.817722462705369</c:v>
              </c:pt>
              <c:pt idx="5">
                <c:v>25.815565663893381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BE28-40EC-8B4C-AD8337D1C4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Corrugated Board Production Equipment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77.668653201477227</c:v>
              </c:pt>
            </c:numLit>
          </c:xVal>
          <c:yVal>
            <c:numLit>
              <c:formatCode>General</c:formatCode>
              <c:ptCount val="1"/>
              <c:pt idx="0">
                <c:v>84.349678899082576</c:v>
              </c:pt>
            </c:numLit>
          </c:yVal>
          <c:bubbleSize>
            <c:numLit>
              <c:formatCode>General</c:formatCode>
              <c:ptCount val="1"/>
              <c:pt idx="0">
                <c:v>4470.7839999999997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DE74-45AD-91D0-BD398BDF1BF2}"/>
            </c:ext>
          </c:extLst>
        </c:ser>
        <c:ser>
          <c:idx val="1"/>
          <c:order val="1"/>
          <c:tx>
            <c:v>Printing and Converting Equipment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111.62363297120292</c:v>
              </c:pt>
            </c:numLit>
          </c:xVal>
          <c:yVal>
            <c:numLit>
              <c:formatCode>General</c:formatCode>
              <c:ptCount val="1"/>
              <c:pt idx="0">
                <c:v>140.69210091743122</c:v>
              </c:pt>
            </c:numLit>
          </c:yVal>
          <c:bubbleSize>
            <c:numLit>
              <c:formatCode>General</c:formatCode>
              <c:ptCount val="1"/>
              <c:pt idx="0">
                <c:v>8757.18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DE74-45AD-91D0-BD398BDF1BF2}"/>
            </c:ext>
          </c:extLst>
        </c:ser>
        <c:ser>
          <c:idx val="2"/>
          <c:order val="2"/>
          <c:tx>
            <c:v>Finishing and Box Assembly Equipment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101.60097092257672</c:v>
              </c:pt>
            </c:numLit>
          </c:xVal>
          <c:yVal>
            <c:numLit>
              <c:formatCode>General</c:formatCode>
              <c:ptCount val="1"/>
              <c:pt idx="0">
                <c:v>74.958220183486233</c:v>
              </c:pt>
            </c:numLit>
          </c:yVal>
          <c:bubbleSize>
            <c:numLit>
              <c:formatCode>General</c:formatCode>
              <c:ptCount val="1"/>
              <c:pt idx="0">
                <c:v>4450.7039999999997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DE74-45AD-91D0-BD398BDF1B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"/>
          <c:min val="65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"/>
          <c:min val="25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3064.7049999999999</c:v>
              </c:pt>
              <c:pt idx="2">
                <c:v>3304.6040000000003</c:v>
              </c:pt>
              <c:pt idx="3">
                <c:v>3563.6</c:v>
              </c:pt>
              <c:pt idx="4">
                <c:v>3843.203</c:v>
              </c:pt>
              <c:pt idx="5">
                <c:v>4145.0230000000001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A5B-446B-A1F8-B15A01DBF76F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A5B-446B-A1F8-B15A01DBF76F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A5B-446B-A1F8-B15A01DBF76F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A5B-446B-A1F8-B15A01DBF76F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A5B-446B-A1F8-B15A01DBF76F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A5B-446B-A1F8-B15A01DBF76F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A5B-446B-A1F8-B15A01DBF76F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A5B-446B-A1F8-B15A01DBF76F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A5B-446B-A1F8-B15A01DBF76F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A5B-446B-A1F8-B15A01DBF76F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A5B-446B-A1F8-B15A01DBF76F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A5B-446B-A1F8-B15A01DBF76F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A5B-446B-A1F8-B15A01DBF76F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A5B-446B-A1F8-B15A01DBF76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A5B-446B-A1F8-B15A01DBF76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3064.7049999999999</c:v>
              </c:pt>
              <c:pt idx="1">
                <c:v>239.89900000000034</c:v>
              </c:pt>
              <c:pt idx="2">
                <c:v>258.99599999999964</c:v>
              </c:pt>
              <c:pt idx="3">
                <c:v>279.60300000000007</c:v>
              </c:pt>
              <c:pt idx="4">
                <c:v>301.82000000000016</c:v>
              </c:pt>
              <c:pt idx="5">
                <c:v>325.76099999999951</c:v>
              </c:pt>
              <c:pt idx="6">
                <c:v>4470.7839999999997</c:v>
              </c:pt>
            </c:numLit>
          </c:val>
          <c:extLst>
            <c:ext xmlns:c16="http://schemas.microsoft.com/office/drawing/2014/chart" uri="{C3380CC4-5D6E-409C-BE32-E72D297353CC}">
              <c16:uniqueId val="{0000000F-8A5B-446B-A1F8-B15A01DBF7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5111.8130000000001</c:v>
              </c:pt>
              <c:pt idx="2">
                <c:v>5690.63</c:v>
              </c:pt>
              <c:pt idx="3">
                <c:v>6336.1900000000005</c:v>
              </c:pt>
              <c:pt idx="4">
                <c:v>7056.366</c:v>
              </c:pt>
              <c:pt idx="5">
                <c:v>7860.0490000000009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90C-48BE-A959-470B86A8DE4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90C-48BE-A959-470B86A8DE4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90C-48BE-A959-470B86A8DE4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90C-48BE-A959-470B86A8DE4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90C-48BE-A959-470B86A8DE4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90C-48BE-A959-470B86A8DE4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90C-48BE-A959-470B86A8DE4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90C-48BE-A959-470B86A8DE4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90C-48BE-A959-470B86A8DE4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90C-48BE-A959-470B86A8DE4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90C-48BE-A959-470B86A8DE4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90C-48BE-A959-470B86A8DE4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90C-48BE-A959-470B86A8DE4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90C-48BE-A959-470B86A8DE4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90C-48BE-A959-470B86A8DE4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5111.8130000000001</c:v>
              </c:pt>
              <c:pt idx="1">
                <c:v>578.81700000000001</c:v>
              </c:pt>
              <c:pt idx="2">
                <c:v>645.5600000000004</c:v>
              </c:pt>
              <c:pt idx="3">
                <c:v>720.17599999999948</c:v>
              </c:pt>
              <c:pt idx="4">
                <c:v>803.6830000000009</c:v>
              </c:pt>
              <c:pt idx="5">
                <c:v>897.1309999999994</c:v>
              </c:pt>
              <c:pt idx="6">
                <c:v>8757.18</c:v>
              </c:pt>
            </c:numLit>
          </c:val>
          <c:extLst>
            <c:ext xmlns:c16="http://schemas.microsoft.com/office/drawing/2014/chart" uri="{C3380CC4-5D6E-409C-BE32-E72D297353CC}">
              <c16:uniqueId val="{0000000F-590C-48BE-A959-470B86A8DE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2723.482</c:v>
              </c:pt>
              <c:pt idx="2">
                <c:v>3002.087</c:v>
              </c:pt>
              <c:pt idx="3">
                <c:v>3310.549</c:v>
              </c:pt>
              <c:pt idx="4">
                <c:v>3652.2490000000003</c:v>
              </c:pt>
              <c:pt idx="5">
                <c:v>4030.8990000000003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DC6-4388-A8C4-612738B5D60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DC6-4388-A8C4-612738B5D60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DC6-4388-A8C4-612738B5D60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DC6-4388-A8C4-612738B5D60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DC6-4388-A8C4-612738B5D60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6DC6-4388-A8C4-612738B5D60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6DC6-4388-A8C4-612738B5D60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6DC6-4388-A8C4-612738B5D60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DC6-4388-A8C4-612738B5D60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DC6-4388-A8C4-612738B5D60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DC6-4388-A8C4-612738B5D60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DC6-4388-A8C4-612738B5D60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DC6-4388-A8C4-612738B5D60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DC6-4388-A8C4-612738B5D60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DC6-4388-A8C4-612738B5D60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2723.482</c:v>
              </c:pt>
              <c:pt idx="1">
                <c:v>278.60500000000002</c:v>
              </c:pt>
              <c:pt idx="2">
                <c:v>308.46199999999999</c:v>
              </c:pt>
              <c:pt idx="3">
                <c:v>341.70000000000027</c:v>
              </c:pt>
              <c:pt idx="4">
                <c:v>378.65000000000009</c:v>
              </c:pt>
              <c:pt idx="5">
                <c:v>419.80499999999938</c:v>
              </c:pt>
              <c:pt idx="6">
                <c:v>4450.7039999999997</c:v>
              </c:pt>
            </c:numLit>
          </c:val>
          <c:extLst>
            <c:ext xmlns:c16="http://schemas.microsoft.com/office/drawing/2014/chart" uri="{C3380CC4-5D6E-409C-BE32-E72D297353CC}">
              <c16:uniqueId val="{0000000F-6DC6-4388-A8C4-612738B5D60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Printing and Converting Equipment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83C-44A8-8122-8FF0B61300A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83C-44A8-8122-8FF0B61300A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83C-44A8-8122-8FF0B61300A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45.542684401694878</c:v>
              </c:pt>
              <c:pt idx="1">
                <c:v>46.897366972477066</c:v>
              </c:pt>
              <c:pt idx="2">
                <c:v>49.535293043570938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783C-44A8-8122-8FF0B61300A9}"/>
            </c:ext>
          </c:extLst>
        </c:ser>
        <c:ser>
          <c:idx val="1"/>
          <c:order val="1"/>
          <c:tx>
            <c:v>Corrugated Board Production Equipment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83C-44A8-8122-8FF0B61300A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83C-44A8-8122-8FF0B61300A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83C-44A8-8122-8FF0B61300A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29.561374095352349</c:v>
              </c:pt>
              <c:pt idx="1">
                <c:v>28.116559633027521</c:v>
              </c:pt>
              <c:pt idx="2">
                <c:v>25.289145087175118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783C-44A8-8122-8FF0B61300A9}"/>
            </c:ext>
          </c:extLst>
        </c:ser>
        <c:ser>
          <c:idx val="2"/>
          <c:order val="2"/>
          <c:tx>
            <c:v>Finishing and Box Assembly Equipment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83C-44A8-8122-8FF0B61300A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83C-44A8-8122-8FF0B61300A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83C-44A8-8122-8FF0B61300A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24.89594150295278</c:v>
              </c:pt>
              <c:pt idx="1">
                <c:v>24.986073394495413</c:v>
              </c:pt>
              <c:pt idx="2">
                <c:v>25.175561869253954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783C-44A8-8122-8FF0B61300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Manual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C47-4E20-A765-2C3F123F1898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C47-4E20-A765-2C3F123F1898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C47-4E20-A765-2C3F123F1898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C47-4E20-A765-2C3F123F1898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C47-4E20-A765-2C3F123F1898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C47-4E20-A765-2C3F123F189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8.2709843053508987</c:v>
              </c:pt>
              <c:pt idx="1">
                <c:v>8.873844040855877</c:v>
              </c:pt>
              <c:pt idx="2">
                <c:v>7.4271774257183081</c:v>
              </c:pt>
              <c:pt idx="3">
                <c:v>8.4601227867877924</c:v>
              </c:pt>
              <c:pt idx="4">
                <c:v>8.952429353633427</c:v>
              </c:pt>
              <c:pt idx="5">
                <c:v>6.7010960695531852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2C47-4E20-A765-2C3F123F1898}"/>
            </c:ext>
          </c:extLst>
        </c:ser>
        <c:ser>
          <c:idx val="1"/>
          <c:order val="1"/>
          <c:tx>
            <c:v>Semi-automatic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C47-4E20-A765-2C3F123F189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C47-4E20-A765-2C3F123F189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C47-4E20-A765-2C3F123F1898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C47-4E20-A765-2C3F123F1898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C47-4E20-A765-2C3F123F1898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C47-4E20-A765-2C3F123F189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46.830994789732685</c:v>
              </c:pt>
              <c:pt idx="1">
                <c:v>51.876406354755623</c:v>
              </c:pt>
              <c:pt idx="2">
                <c:v>48.685492968239267</c:v>
              </c:pt>
              <c:pt idx="3">
                <c:v>49.942431551395224</c:v>
              </c:pt>
              <c:pt idx="4">
                <c:v>52.191832102486103</c:v>
              </c:pt>
              <c:pt idx="5">
                <c:v>48.648552429194631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2C47-4E20-A765-2C3F123F1898}"/>
            </c:ext>
          </c:extLst>
        </c:ser>
        <c:ser>
          <c:idx val="2"/>
          <c:order val="2"/>
          <c:tx>
            <c:v>Fully automatic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C47-4E20-A765-2C3F123F189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2C47-4E20-A765-2C3F123F189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2C47-4E20-A765-2C3F123F1898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2C47-4E20-A765-2C3F123F1898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2C47-4E20-A765-2C3F123F1898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2C47-4E20-A765-2C3F123F189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44.8980209049164</c:v>
              </c:pt>
              <c:pt idx="1">
                <c:v>39.249749604388505</c:v>
              </c:pt>
              <c:pt idx="2">
                <c:v>43.887329606042428</c:v>
              </c:pt>
              <c:pt idx="3">
                <c:v>41.597445661816991</c:v>
              </c:pt>
              <c:pt idx="4">
                <c:v>38.855738543880477</c:v>
              </c:pt>
              <c:pt idx="5">
                <c:v>44.650351501252196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2C47-4E20-A765-2C3F123F1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Manual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70.805693887717027</c:v>
              </c:pt>
            </c:numLit>
          </c:xVal>
          <c:yVal>
            <c:numLit>
              <c:formatCode>General</c:formatCode>
              <c:ptCount val="1"/>
              <c:pt idx="0">
                <c:v>27.42322018348624</c:v>
              </c:pt>
            </c:numLit>
          </c:yVal>
          <c:bubbleSize>
            <c:numLit>
              <c:formatCode>General</c:formatCode>
              <c:ptCount val="1"/>
              <c:pt idx="0">
                <c:v>1406.6130000000001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52A2-4BAC-8422-FB5B8F6F09CD}"/>
            </c:ext>
          </c:extLst>
        </c:ser>
        <c:ser>
          <c:idx val="1"/>
          <c:order val="1"/>
          <c:tx>
            <c:v>Semi-automatic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109.471298849142</c:v>
              </c:pt>
            </c:numLit>
          </c:xVal>
          <c:yVal>
            <c:numLit>
              <c:formatCode>General</c:formatCode>
              <c:ptCount val="1"/>
              <c:pt idx="0">
                <c:v>143.41100917431194</c:v>
              </c:pt>
            </c:numLit>
          </c:yVal>
          <c:bubbleSize>
            <c:numLit>
              <c:formatCode>General</c:formatCode>
              <c:ptCount val="1"/>
              <c:pt idx="0">
                <c:v>8836.6180000000004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52A2-4BAC-8422-FB5B8F6F09CD}"/>
            </c:ext>
          </c:extLst>
        </c:ser>
        <c:ser>
          <c:idx val="2"/>
          <c:order val="2"/>
          <c:tx>
            <c:v>Fully automatic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95.045823835726765</c:v>
              </c:pt>
            </c:numLit>
          </c:xVal>
          <c:yVal>
            <c:numLit>
              <c:formatCode>General</c:formatCode>
              <c:ptCount val="1"/>
              <c:pt idx="0">
                <c:v>129.16577064220184</c:v>
              </c:pt>
            </c:numLit>
          </c:yVal>
          <c:bubbleSize>
            <c:numLit>
              <c:formatCode>General</c:formatCode>
              <c:ptCount val="1"/>
              <c:pt idx="0">
                <c:v>7435.4369999999999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52A2-4BAC-8422-FB5B8F6F09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0"/>
          <c:min val="6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996.37699999999995</c:v>
              </c:pt>
              <c:pt idx="2">
                <c:v>1066.6030000000001</c:v>
              </c:pt>
              <c:pt idx="3">
                <c:v>1142.2760000000001</c:v>
              </c:pt>
              <c:pt idx="4">
                <c:v>1223.845</c:v>
              </c:pt>
              <c:pt idx="5">
                <c:v>1311.7840000000001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13C-49ED-9EA2-C1E808B4E1E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13C-49ED-9EA2-C1E808B4E1E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13C-49ED-9EA2-C1E808B4E1E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113C-49ED-9EA2-C1E808B4E1E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13C-49ED-9EA2-C1E808B4E1E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113C-49ED-9EA2-C1E808B4E1E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113C-49ED-9EA2-C1E808B4E1E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113C-49ED-9EA2-C1E808B4E1E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13C-49ED-9EA2-C1E808B4E1E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13C-49ED-9EA2-C1E808B4E1E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13C-49ED-9EA2-C1E808B4E1E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13C-49ED-9EA2-C1E808B4E1E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13C-49ED-9EA2-C1E808B4E1E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13C-49ED-9EA2-C1E808B4E1E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13C-49ED-9EA2-C1E808B4E1E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996.37699999999995</c:v>
              </c:pt>
              <c:pt idx="1">
                <c:v>70.226000000000113</c:v>
              </c:pt>
              <c:pt idx="2">
                <c:v>75.673000000000002</c:v>
              </c:pt>
              <c:pt idx="3">
                <c:v>81.56899999999996</c:v>
              </c:pt>
              <c:pt idx="4">
                <c:v>87.939000000000078</c:v>
              </c:pt>
              <c:pt idx="5">
                <c:v>94.828999999999951</c:v>
              </c:pt>
              <c:pt idx="6">
                <c:v>1406.6130000000001</c:v>
              </c:pt>
            </c:numLit>
          </c:val>
          <c:extLst>
            <c:ext xmlns:c16="http://schemas.microsoft.com/office/drawing/2014/chart" uri="{C3380CC4-5D6E-409C-BE32-E72D297353CC}">
              <c16:uniqueId val="{0000000F-113C-49ED-9EA2-C1E808B4E1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5210.6000000000004</c:v>
              </c:pt>
              <c:pt idx="2">
                <c:v>5790.1980000000003</c:v>
              </c:pt>
              <c:pt idx="3">
                <c:v>6434.6790000000001</c:v>
              </c:pt>
              <c:pt idx="4">
                <c:v>7151.5029999999997</c:v>
              </c:pt>
              <c:pt idx="5">
                <c:v>7949.0320000000002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0A4-4808-8106-CEE23DAD5FC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0A4-4808-8106-CEE23DAD5FC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0A4-4808-8106-CEE23DAD5FC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0A4-4808-8106-CEE23DAD5FC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0A4-4808-8106-CEE23DAD5FC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0A4-4808-8106-CEE23DAD5FC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0A4-4808-8106-CEE23DAD5FC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0A4-4808-8106-CEE23DAD5FC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0A4-4808-8106-CEE23DAD5FC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0A4-4808-8106-CEE23DAD5FC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0A4-4808-8106-CEE23DAD5FC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0A4-4808-8106-CEE23DAD5FC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0A4-4808-8106-CEE23DAD5FC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0A4-4808-8106-CEE23DAD5FC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0A4-4808-8106-CEE23DAD5FC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5210.6000000000004</c:v>
              </c:pt>
              <c:pt idx="1">
                <c:v>579.59799999999996</c:v>
              </c:pt>
              <c:pt idx="2">
                <c:v>644.48099999999977</c:v>
              </c:pt>
              <c:pt idx="3">
                <c:v>716.82399999999961</c:v>
              </c:pt>
              <c:pt idx="4">
                <c:v>797.52900000000045</c:v>
              </c:pt>
              <c:pt idx="5">
                <c:v>887.58600000000024</c:v>
              </c:pt>
              <c:pt idx="6">
                <c:v>8836.6180000000004</c:v>
              </c:pt>
            </c:numLit>
          </c:val>
          <c:extLst>
            <c:ext xmlns:c16="http://schemas.microsoft.com/office/drawing/2014/chart" uri="{C3380CC4-5D6E-409C-BE32-E72D297353CC}">
              <c16:uniqueId val="{0000000F-50A4-4808-8106-CEE23DAD5F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4693.0230000000001</c:v>
              </c:pt>
              <c:pt idx="2">
                <c:v>5140.5200000000004</c:v>
              </c:pt>
              <c:pt idx="3">
                <c:v>5633.384</c:v>
              </c:pt>
              <c:pt idx="4">
                <c:v>6176.47</c:v>
              </c:pt>
              <c:pt idx="5">
                <c:v>6775.1549999999997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22F-419A-8B71-79E9A5E72D8B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22F-419A-8B71-79E9A5E72D8B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22F-419A-8B71-79E9A5E72D8B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22F-419A-8B71-79E9A5E72D8B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22F-419A-8B71-79E9A5E72D8B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22F-419A-8B71-79E9A5E72D8B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22F-419A-8B71-79E9A5E72D8B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22F-419A-8B71-79E9A5E72D8B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22F-419A-8B71-79E9A5E72D8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22F-419A-8B71-79E9A5E72D8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22F-419A-8B71-79E9A5E72D8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22F-419A-8B71-79E9A5E72D8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22F-419A-8B71-79E9A5E72D8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22F-419A-8B71-79E9A5E72D8B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22F-419A-8B71-79E9A5E72D8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4693.0230000000001</c:v>
              </c:pt>
              <c:pt idx="1">
                <c:v>447.4970000000003</c:v>
              </c:pt>
              <c:pt idx="2">
                <c:v>492.86399999999958</c:v>
              </c:pt>
              <c:pt idx="3">
                <c:v>543.08600000000024</c:v>
              </c:pt>
              <c:pt idx="4">
                <c:v>598.68499999999949</c:v>
              </c:pt>
              <c:pt idx="5">
                <c:v>660.28200000000015</c:v>
              </c:pt>
              <c:pt idx="6">
                <c:v>7435.4369999999999</c:v>
              </c:pt>
            </c:numLit>
          </c:val>
          <c:extLst>
            <c:ext xmlns:c16="http://schemas.microsoft.com/office/drawing/2014/chart" uri="{C3380CC4-5D6E-409C-BE32-E72D297353CC}">
              <c16:uniqueId val="{0000000F-522F-419A-8B71-79E9A5E72D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Semi-automatic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E7F-4A77-BDCA-CA7A299ED07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E7F-4A77-BDCA-CA7A299ED07C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E7F-4A77-BDCA-CA7A299ED07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46.600796841672114</c:v>
              </c:pt>
              <c:pt idx="1">
                <c:v>47.80366972477065</c:v>
              </c:pt>
              <c:pt idx="2">
                <c:v>49.984636851599909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4E7F-4A77-BDCA-CA7A299ED07C}"/>
            </c:ext>
          </c:extLst>
        </c:ser>
        <c:ser>
          <c:idx val="1"/>
          <c:order val="1"/>
          <c:tx>
            <c:v>Fully automatic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E7F-4A77-BDCA-CA7A299ED07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E7F-4A77-BDCA-CA7A299ED07C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E7F-4A77-BDCA-CA7A299ED07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43.597611424347491</c:v>
              </c:pt>
              <c:pt idx="1">
                <c:v>43.055256880733943</c:v>
              </c:pt>
              <c:pt idx="2">
                <c:v>42.058807824209374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4E7F-4A77-BDCA-CA7A299ED07C}"/>
            </c:ext>
          </c:extLst>
        </c:ser>
        <c:ser>
          <c:idx val="2"/>
          <c:order val="2"/>
          <c:tx>
            <c:v>Manual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E7F-4A77-BDCA-CA7A299ED07C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E7F-4A77-BDCA-CA7A299ED07C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E7F-4A77-BDCA-CA7A299ED07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9.801591733980402</c:v>
              </c:pt>
              <c:pt idx="1">
                <c:v>9.1410733944954128</c:v>
              </c:pt>
              <c:pt idx="2">
                <c:v>7.9565553241907132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4E7F-4A77-BDCA-CA7A299ED07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Slotted Shipping Boxes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9B8-47EF-BF2C-5807A857448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9B8-47EF-BF2C-5807A8574487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9B8-47EF-BF2C-5807A8574487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9B8-47EF-BF2C-5807A8574487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9B8-47EF-BF2C-5807A8574487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9B8-47EF-BF2C-5807A857448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21.980237612383668</c:v>
              </c:pt>
              <c:pt idx="1">
                <c:v>21.707263779901574</c:v>
              </c:pt>
              <c:pt idx="2">
                <c:v>20.986796080040804</c:v>
              </c:pt>
              <c:pt idx="3">
                <c:v>22.260922571623826</c:v>
              </c:pt>
              <c:pt idx="4">
                <c:v>20.454118264003899</c:v>
              </c:pt>
              <c:pt idx="5">
                <c:v>19.8465867957207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49B8-47EF-BF2C-5807A8574487}"/>
            </c:ext>
          </c:extLst>
        </c:ser>
        <c:ser>
          <c:idx val="1"/>
          <c:order val="1"/>
          <c:tx>
            <c:v>Die-cut Boxes and Mailers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9B8-47EF-BF2C-5807A857448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9B8-47EF-BF2C-5807A8574487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9B8-47EF-BF2C-5807A8574487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9B8-47EF-BF2C-5807A8574487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49B8-47EF-BF2C-5807A8574487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9B8-47EF-BF2C-5807A857448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14.862871342857769</c:v>
              </c:pt>
              <c:pt idx="1">
                <c:v>15.265921496565033</c:v>
              </c:pt>
              <c:pt idx="2">
                <c:v>14.430857842629447</c:v>
              </c:pt>
              <c:pt idx="3">
                <c:v>16.441307164260678</c:v>
              </c:pt>
              <c:pt idx="4">
                <c:v>15.382688056635557</c:v>
              </c:pt>
              <c:pt idx="5">
                <c:v>14.053283996161781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49B8-47EF-BF2C-5807A8574487}"/>
            </c:ext>
          </c:extLst>
        </c:ser>
        <c:ser>
          <c:idx val="2"/>
          <c:order val="2"/>
          <c:tx>
            <c:v>Trays and Retail-ready Boxes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9B8-47EF-BF2C-5807A857448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9B8-47EF-BF2C-5807A8574487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49B8-47EF-BF2C-5807A8574487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9B8-47EF-BF2C-5807A8574487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49B8-47EF-BF2C-5807A8574487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49B8-47EF-BF2C-5807A857448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6.0524622335429656</c:v>
              </c:pt>
              <c:pt idx="1">
                <c:v>5.9273866298243556</c:v>
              </c:pt>
              <c:pt idx="2">
                <c:v>5.0818318593004257</c:v>
              </c:pt>
              <c:pt idx="3">
                <c:v>5.5115044079688378</c:v>
              </c:pt>
              <c:pt idx="4">
                <c:v>5.4098638367842078</c:v>
              </c:pt>
              <c:pt idx="5">
                <c:v>5.8183354743757114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49B8-47EF-BF2C-5807A8574487}"/>
            </c:ext>
          </c:extLst>
        </c:ser>
        <c:ser>
          <c:idx val="3"/>
          <c:order val="3"/>
          <c:tx>
            <c:v>Folders and Telescopic Boxes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49B8-47EF-BF2C-5807A857448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49B8-47EF-BF2C-5807A8574487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49B8-47EF-BF2C-5807A8574487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49B8-47EF-BF2C-5807A8574487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49B8-47EF-BF2C-5807A8574487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49B8-47EF-BF2C-5807A857448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28.546081714330839</c:v>
              </c:pt>
              <c:pt idx="1">
                <c:v>26.996921966141628</c:v>
              </c:pt>
              <c:pt idx="2">
                <c:v>28.064710801399873</c:v>
              </c:pt>
              <c:pt idx="3">
                <c:v>25.042296728549328</c:v>
              </c:pt>
              <c:pt idx="4">
                <c:v>27.728950616845189</c:v>
              </c:pt>
              <c:pt idx="5">
                <c:v>26.408614520666212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49B8-47EF-BF2C-5807A8574487}"/>
            </c:ext>
          </c:extLst>
        </c:ser>
        <c:ser>
          <c:idx val="4"/>
          <c:order val="4"/>
          <c:tx>
            <c:v>Protective and Internal Packaging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49B8-47EF-BF2C-5807A857448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49B8-47EF-BF2C-5807A8574487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49B8-47EF-BF2C-5807A8574487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49B8-47EF-BF2C-5807A8574487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49B8-47EF-BF2C-5807A8574487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49B8-47EF-BF2C-5807A857448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9.3660477409013545</c:v>
              </c:pt>
              <c:pt idx="1">
                <c:v>8.1010105396873637</c:v>
              </c:pt>
              <c:pt idx="2">
                <c:v>8.773092974058109</c:v>
              </c:pt>
              <c:pt idx="3">
                <c:v>9.0441824352122921</c:v>
              </c:pt>
              <c:pt idx="4">
                <c:v>9.3210912011600069</c:v>
              </c:pt>
              <c:pt idx="5">
                <c:v>10.02526007513903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2-49B8-47EF-BF2C-5807A8574487}"/>
            </c:ext>
          </c:extLst>
        </c:ser>
        <c:ser>
          <c:idx val="5"/>
          <c:order val="5"/>
          <c:tx>
            <c:v>Wraparound Cases and Sleeves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49B8-47EF-BF2C-5807A857448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49B8-47EF-BF2C-5807A8574487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49B8-47EF-BF2C-5807A8574487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49B8-47EF-BF2C-5807A8574487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49B8-47EF-BF2C-5807A8574487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49B8-47EF-BF2C-5807A857448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19.192299355983408</c:v>
              </c:pt>
              <c:pt idx="1">
                <c:v>22.001495587880036</c:v>
              </c:pt>
              <c:pt idx="2">
                <c:v>22.662710442571345</c:v>
              </c:pt>
              <c:pt idx="3">
                <c:v>21.699786692385032</c:v>
              </c:pt>
              <c:pt idx="4">
                <c:v>21.703288024571137</c:v>
              </c:pt>
              <c:pt idx="5">
                <c:v>23.847919137936564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9-49B8-47EF-BF2C-5807A85744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Slotted Shipping Boxes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89.300625098137871</c:v>
              </c:pt>
            </c:numLit>
          </c:xVal>
          <c:yVal>
            <c:numLit>
              <c:formatCode>General</c:formatCode>
              <c:ptCount val="1"/>
              <c:pt idx="0">
                <c:v>131.16919266055046</c:v>
              </c:pt>
            </c:numLit>
          </c:yVal>
          <c:bubbleSize>
            <c:numLit>
              <c:formatCode>General</c:formatCode>
              <c:ptCount val="1"/>
              <c:pt idx="0">
                <c:v>3673.991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D6F9-4363-9941-3124D3BCBBBF}"/>
            </c:ext>
          </c:extLst>
        </c:ser>
        <c:ser>
          <c:idx val="1"/>
          <c:order val="1"/>
          <c:tx>
            <c:v>Die-cut Boxes and Mailers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113.44343612818186</c:v>
              </c:pt>
            </c:numLit>
          </c:xVal>
          <c:yVal>
            <c:numLit>
              <c:formatCode>General</c:formatCode>
              <c:ptCount val="1"/>
              <c:pt idx="0">
                <c:v>84.207082568807351</c:v>
              </c:pt>
            </c:numLit>
          </c:yVal>
          <c:bubbleSize>
            <c:numLit>
              <c:formatCode>General</c:formatCode>
              <c:ptCount val="1"/>
              <c:pt idx="0">
                <c:v>2643.1529999999998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D6F9-4363-9941-3124D3BCBBBF}"/>
            </c:ext>
          </c:extLst>
        </c:ser>
        <c:ser>
          <c:idx val="2"/>
          <c:order val="2"/>
          <c:tx>
            <c:v>Trays and Retail-ready Boxes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159.95973444558388</c:v>
              </c:pt>
            </c:numLit>
          </c:xVal>
          <c:yVal>
            <c:numLit>
              <c:formatCode>General</c:formatCode>
              <c:ptCount val="1"/>
              <c:pt idx="0">
                <c:v>25.377633027522933</c:v>
              </c:pt>
            </c:numLit>
          </c:yVal>
          <c:bubbleSize>
            <c:numLit>
              <c:formatCode>General</c:formatCode>
              <c:ptCount val="1"/>
              <c:pt idx="0">
                <c:v>988.495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D6F9-4363-9941-3124D3BCBBBF}"/>
            </c:ext>
          </c:extLst>
        </c:ser>
        <c:ser>
          <c:idx val="3"/>
          <c:order val="3"/>
          <c:tx>
            <c:v>Folders and Telescopic Boxes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82.912338657628808</c:v>
              </c:pt>
            </c:numLit>
          </c:xVal>
          <c:yVal>
            <c:numLit>
              <c:formatCode>General</c:formatCode>
              <c:ptCount val="1"/>
              <c:pt idx="0">
                <c:v>175.75409174311926</c:v>
              </c:pt>
            </c:numLit>
          </c:yVal>
          <c:bubbleSize>
            <c:numLit>
              <c:formatCode>General</c:formatCode>
              <c:ptCount val="1"/>
              <c:pt idx="0">
                <c:v>4775.5959999999995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D6F9-4363-9941-3124D3BCBBBF}"/>
            </c:ext>
          </c:extLst>
        </c:ser>
        <c:ser>
          <c:idx val="4"/>
          <c:order val="4"/>
          <c:tx>
            <c:v>Protective and Internal Packaging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63.272252186323541</c:v>
              </c:pt>
            </c:numLit>
          </c:xVal>
          <c:yVal>
            <c:numLit>
              <c:formatCode>General</c:formatCode>
              <c:ptCount val="1"/>
              <c:pt idx="0">
                <c:v>66.676348623853215</c:v>
              </c:pt>
            </c:numLit>
          </c:yVal>
          <c:bubbleSize>
            <c:numLit>
              <c:formatCode>General</c:formatCode>
              <c:ptCount val="1"/>
              <c:pt idx="0">
                <c:v>1649.3330000000001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D6F9-4363-9941-3124D3BCBBBF}"/>
            </c:ext>
          </c:extLst>
        </c:ser>
        <c:ser>
          <c:idx val="5"/>
          <c:order val="5"/>
          <c:tx>
            <c:v>Wraparound Cases and Sleeves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129.26439293866642</c:v>
              </c:pt>
            </c:numLit>
          </c:xVal>
          <c:yVal>
            <c:numLit>
              <c:formatCode>General</c:formatCode>
              <c:ptCount val="1"/>
              <c:pt idx="0">
                <c:v>116.81565137614677</c:v>
              </c:pt>
            </c:numLit>
          </c:yVal>
          <c:bubbleSize>
            <c:numLit>
              <c:formatCode>General</c:formatCode>
              <c:ptCount val="1"/>
              <c:pt idx="0">
                <c:v>3948.1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D6F9-4363-9941-3124D3BCBBB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90"/>
          <c:min val="3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2382.9070000000002</c:v>
              </c:pt>
              <c:pt idx="2">
                <c:v>2598.942</c:v>
              </c:pt>
              <c:pt idx="3">
                <c:v>2834.3829999999998</c:v>
              </c:pt>
              <c:pt idx="4">
                <c:v>3090.8609999999999</c:v>
              </c:pt>
              <c:pt idx="5">
                <c:v>3370.1190000000001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0CB-4945-8655-746D96CA6AF3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0CB-4945-8655-746D96CA6AF3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0CB-4945-8655-746D96CA6AF3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0CB-4945-8655-746D96CA6AF3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0CB-4945-8655-746D96CA6AF3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0CB-4945-8655-746D96CA6AF3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0CB-4945-8655-746D96CA6AF3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0CB-4945-8655-746D96CA6AF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0CB-4945-8655-746D96CA6AF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0CB-4945-8655-746D96CA6AF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0CB-4945-8655-746D96CA6AF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0CB-4945-8655-746D96CA6AF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0CB-4945-8655-746D96CA6AF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0CB-4945-8655-746D96CA6AF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0CB-4945-8655-746D96CA6AF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2382.9070000000002</c:v>
              </c:pt>
              <c:pt idx="1">
                <c:v>216.03499999999985</c:v>
              </c:pt>
              <c:pt idx="2">
                <c:v>235.4409999999998</c:v>
              </c:pt>
              <c:pt idx="3">
                <c:v>256.47800000000007</c:v>
              </c:pt>
              <c:pt idx="4">
                <c:v>279.25800000000027</c:v>
              </c:pt>
              <c:pt idx="5">
                <c:v>303.87199999999984</c:v>
              </c:pt>
              <c:pt idx="6">
                <c:v>3673.991</c:v>
              </c:pt>
            </c:numLit>
          </c:val>
          <c:extLst>
            <c:ext xmlns:c16="http://schemas.microsoft.com/office/drawing/2014/chart" uri="{C3380CC4-5D6E-409C-BE32-E72D297353CC}">
              <c16:uniqueId val="{0000000F-D0CB-4945-8655-746D96CA6A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1529.7619999999999</c:v>
              </c:pt>
              <c:pt idx="2">
                <c:v>1704.173</c:v>
              </c:pt>
              <c:pt idx="3">
                <c:v>1899.7729999999999</c:v>
              </c:pt>
              <c:pt idx="4">
                <c:v>2119.3110000000001</c:v>
              </c:pt>
              <c:pt idx="5">
                <c:v>2365.9119999999998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93B-4FAB-8F0B-14E83207FFE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93B-4FAB-8F0B-14E83207FFE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93B-4FAB-8F0B-14E83207FFE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93B-4FAB-8F0B-14E83207FFE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93B-4FAB-8F0B-14E83207FFE1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93B-4FAB-8F0B-14E83207FFE1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93B-4FAB-8F0B-14E83207FFE1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993B-4FAB-8F0B-14E83207FFE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93B-4FAB-8F0B-14E83207FFE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93B-4FAB-8F0B-14E83207FFE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93B-4FAB-8F0B-14E83207FFE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93B-4FAB-8F0B-14E83207FFE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93B-4FAB-8F0B-14E83207FFE1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93B-4FAB-8F0B-14E83207FFE1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93B-4FAB-8F0B-14E83207FFE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1529.7619999999999</c:v>
              </c:pt>
              <c:pt idx="1">
                <c:v>174.41100000000006</c:v>
              </c:pt>
              <c:pt idx="2">
                <c:v>195.59999999999991</c:v>
              </c:pt>
              <c:pt idx="3">
                <c:v>219.53800000000024</c:v>
              </c:pt>
              <c:pt idx="4">
                <c:v>246.60099999999966</c:v>
              </c:pt>
              <c:pt idx="5">
                <c:v>277.24099999999999</c:v>
              </c:pt>
              <c:pt idx="6">
                <c:v>2643.1529999999998</c:v>
              </c:pt>
            </c:numLit>
          </c:val>
          <c:extLst>
            <c:ext xmlns:c16="http://schemas.microsoft.com/office/drawing/2014/chart" uri="{C3380CC4-5D6E-409C-BE32-E72D297353CC}">
              <c16:uniqueId val="{0000000F-993B-4FAB-8F0B-14E83207FF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461.02699999999999</c:v>
              </c:pt>
              <c:pt idx="2">
                <c:v>537.69200000000001</c:v>
              </c:pt>
              <c:pt idx="3">
                <c:v>626.62800000000004</c:v>
              </c:pt>
              <c:pt idx="4">
                <c:v>729.80799999999999</c:v>
              </c:pt>
              <c:pt idx="5">
                <c:v>849.53499999999997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25F-49F1-8DCA-BAE5631EB92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25F-49F1-8DCA-BAE5631EB92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25F-49F1-8DCA-BAE5631EB92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25F-49F1-8DCA-BAE5631EB92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25F-49F1-8DCA-BAE5631EB92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25F-49F1-8DCA-BAE5631EB92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25F-49F1-8DCA-BAE5631EB92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25F-49F1-8DCA-BAE5631EB92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25F-49F1-8DCA-BAE5631EB92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25F-49F1-8DCA-BAE5631EB92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25F-49F1-8DCA-BAE5631EB92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25F-49F1-8DCA-BAE5631EB92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25F-49F1-8DCA-BAE5631EB92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25F-49F1-8DCA-BAE5631EB92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25F-49F1-8DCA-BAE5631EB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461.02699999999999</c:v>
              </c:pt>
              <c:pt idx="1">
                <c:v>76.66500000000002</c:v>
              </c:pt>
              <c:pt idx="2">
                <c:v>88.936000000000035</c:v>
              </c:pt>
              <c:pt idx="3">
                <c:v>103.17999999999995</c:v>
              </c:pt>
              <c:pt idx="4">
                <c:v>119.72699999999998</c:v>
              </c:pt>
              <c:pt idx="5">
                <c:v>138.96000000000004</c:v>
              </c:pt>
              <c:pt idx="6">
                <c:v>988.495</c:v>
              </c:pt>
            </c:numLit>
          </c:val>
          <c:extLst>
            <c:ext xmlns:c16="http://schemas.microsoft.com/office/drawing/2014/chart" uri="{C3380CC4-5D6E-409C-BE32-E72D297353CC}">
              <c16:uniqueId val="{0000000F-525F-49F1-8DCA-BAE5631EB9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3192.866</c:v>
              </c:pt>
              <c:pt idx="2">
                <c:v>3463.665</c:v>
              </c:pt>
              <c:pt idx="3">
                <c:v>3756.0059999999999</c:v>
              </c:pt>
              <c:pt idx="4">
                <c:v>4071.248</c:v>
              </c:pt>
              <c:pt idx="5">
                <c:v>4410.6790000000001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CBE-4DBA-B27E-B65F207EE3C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CBE-4DBA-B27E-B65F207EE3C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CBE-4DBA-B27E-B65F207EE3C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CBE-4DBA-B27E-B65F207EE3C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CBE-4DBA-B27E-B65F207EE3C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CBE-4DBA-B27E-B65F207EE3C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CBE-4DBA-B27E-B65F207EE3C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CBE-4DBA-B27E-B65F207EE3C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CBE-4DBA-B27E-B65F207EE3C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CBE-4DBA-B27E-B65F207EE3C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CBE-4DBA-B27E-B65F207EE3C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CBE-4DBA-B27E-B65F207EE3C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CBE-4DBA-B27E-B65F207EE3C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CBE-4DBA-B27E-B65F207EE3C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CBE-4DBA-B27E-B65F207EE3C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3192.866</c:v>
              </c:pt>
              <c:pt idx="1">
                <c:v>270.79899999999998</c:v>
              </c:pt>
              <c:pt idx="2">
                <c:v>292.34099999999989</c:v>
              </c:pt>
              <c:pt idx="3">
                <c:v>315.24200000000019</c:v>
              </c:pt>
              <c:pt idx="4">
                <c:v>339.43100000000004</c:v>
              </c:pt>
              <c:pt idx="5">
                <c:v>364.91699999999946</c:v>
              </c:pt>
              <c:pt idx="6">
                <c:v>4775.5959999999995</c:v>
              </c:pt>
            </c:numLit>
          </c:val>
          <c:extLst>
            <c:ext xmlns:c16="http://schemas.microsoft.com/office/drawing/2014/chart" uri="{C3380CC4-5D6E-409C-BE32-E72D297353CC}">
              <c16:uniqueId val="{0000000F-5CBE-4DBA-B27E-B65F207EE3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1211.287</c:v>
              </c:pt>
              <c:pt idx="2">
                <c:v>1293.5530000000001</c:v>
              </c:pt>
              <c:pt idx="3">
                <c:v>1379.039</c:v>
              </c:pt>
              <c:pt idx="4">
                <c:v>1467.2909999999999</c:v>
              </c:pt>
              <c:pt idx="5">
                <c:v>1557.6790000000001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0B7E-417D-B0E2-728C30121DF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0B7E-417D-B0E2-728C30121DF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0B7E-417D-B0E2-728C30121DF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0B7E-417D-B0E2-728C30121DF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0B7E-417D-B0E2-728C30121DF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0B7E-417D-B0E2-728C30121DF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0B7E-417D-B0E2-728C30121DF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0B7E-417D-B0E2-728C30121DF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B7E-417D-B0E2-728C30121DF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B7E-417D-B0E2-728C30121DF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B7E-417D-B0E2-728C30121DF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B7E-417D-B0E2-728C30121DF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B7E-417D-B0E2-728C30121DF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B7E-417D-B0E2-728C30121DF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B7E-417D-B0E2-728C30121DF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1211.287</c:v>
              </c:pt>
              <c:pt idx="1">
                <c:v>82.266000000000076</c:v>
              </c:pt>
              <c:pt idx="2">
                <c:v>85.485999999999876</c:v>
              </c:pt>
              <c:pt idx="3">
                <c:v>88.251999999999953</c:v>
              </c:pt>
              <c:pt idx="4">
                <c:v>90.388000000000147</c:v>
              </c:pt>
              <c:pt idx="5">
                <c:v>91.653999999999996</c:v>
              </c:pt>
              <c:pt idx="6">
                <c:v>1649.3330000000001</c:v>
              </c:pt>
            </c:numLit>
          </c:val>
          <c:extLst>
            <c:ext xmlns:c16="http://schemas.microsoft.com/office/drawing/2014/chart" uri="{C3380CC4-5D6E-409C-BE32-E72D297353CC}">
              <c16:uniqueId val="{0000000F-0B7E-417D-B0E2-728C30121D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2122.1509999999998</c:v>
              </c:pt>
              <c:pt idx="2">
                <c:v>2399.2959999999998</c:v>
              </c:pt>
              <c:pt idx="3">
                <c:v>2714.51</c:v>
              </c:pt>
              <c:pt idx="4">
                <c:v>3073.299</c:v>
              </c:pt>
              <c:pt idx="5">
                <c:v>3482.047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464-4820-8A64-695109AD2D4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464-4820-8A64-695109AD2D4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464-4820-8A64-695109AD2D4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464-4820-8A64-695109AD2D4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464-4820-8A64-695109AD2D4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464-4820-8A64-695109AD2D4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464-4820-8A64-695109AD2D4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464-4820-8A64-695109AD2D4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464-4820-8A64-695109AD2D4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464-4820-8A64-695109AD2D4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464-4820-8A64-695109AD2D4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464-4820-8A64-695109AD2D4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464-4820-8A64-695109AD2D4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464-4820-8A64-695109AD2D4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464-4820-8A64-695109AD2D4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2122.1509999999998</c:v>
              </c:pt>
              <c:pt idx="1">
                <c:v>277.14499999999998</c:v>
              </c:pt>
              <c:pt idx="2">
                <c:v>315.2140000000004</c:v>
              </c:pt>
              <c:pt idx="3">
                <c:v>358.78899999999976</c:v>
              </c:pt>
              <c:pt idx="4">
                <c:v>408.74800000000005</c:v>
              </c:pt>
              <c:pt idx="5">
                <c:v>466.05299999999988</c:v>
              </c:pt>
              <c:pt idx="6">
                <c:v>3948.1</c:v>
              </c:pt>
            </c:numLit>
          </c:val>
          <c:extLst>
            <c:ext xmlns:c16="http://schemas.microsoft.com/office/drawing/2014/chart" uri="{C3380CC4-5D6E-409C-BE32-E72D297353CC}">
              <c16:uniqueId val="{0000000F-A464-4820-8A64-695109AD2D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Folders and Telescopic Boxes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1AD-456D-A114-47E32D06E30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1AD-456D-A114-47E32D06E30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1AD-456D-A114-47E32D06E30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30.283445341463</c:v>
              </c:pt>
              <c:pt idx="1">
                <c:v>29.292348623853208</c:v>
              </c:pt>
              <c:pt idx="2">
                <c:v>27.013324759535053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91AD-456D-A114-47E32D06E30B}"/>
            </c:ext>
          </c:extLst>
        </c:ser>
        <c:ser>
          <c:idx val="1"/>
          <c:order val="1"/>
          <c:tx>
            <c:v>Wraparound Cases and Sleeves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1AD-456D-A114-47E32D06E30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1AD-456D-A114-47E32D06E30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1AD-456D-A114-47E32D06E30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18.228086545927848</c:v>
              </c:pt>
              <c:pt idx="1">
                <c:v>19.469275229357798</c:v>
              </c:pt>
              <c:pt idx="2">
                <c:v>22.33256487423148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91AD-456D-A114-47E32D06E30B}"/>
            </c:ext>
          </c:extLst>
        </c:ser>
        <c:ser>
          <c:idx val="2"/>
          <c:order val="2"/>
          <c:tx>
            <c:v>Slotted Shipping Boxes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1AD-456D-A114-47E32D06E30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1AD-456D-A114-47E32D06E30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1AD-456D-A114-47E32D06E30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22.326388706058228</c:v>
              </c:pt>
              <c:pt idx="1">
                <c:v>21.861532110091744</c:v>
              </c:pt>
              <c:pt idx="2">
                <c:v>20.782057788516646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91AD-456D-A114-47E32D06E30B}"/>
            </c:ext>
          </c:extLst>
        </c:ser>
        <c:ser>
          <c:idx val="3"/>
          <c:order val="3"/>
          <c:tx>
            <c:v>Die-cut Boxes and Mailers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1AD-456D-A114-47E32D06E30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91AD-456D-A114-47E32D06E30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1AD-456D-A114-47E32D06E30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13.6341082203888</c:v>
              </c:pt>
              <c:pt idx="1">
                <c:v>14.03451376146789</c:v>
              </c:pt>
              <c:pt idx="2">
                <c:v>14.95108681264901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91AD-456D-A114-47E32D06E30B}"/>
            </c:ext>
          </c:extLst>
        </c:ser>
        <c:ser>
          <c:idx val="4"/>
          <c:order val="4"/>
          <c:tx>
            <c:v>Protective and Internal Packaging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91AD-456D-A114-47E32D06E30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91AD-456D-A114-47E32D06E30B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91AD-456D-A114-47E32D06E30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11.890570333438681</c:v>
              </c:pt>
              <c:pt idx="1">
                <c:v>11.112724770642203</c:v>
              </c:pt>
              <c:pt idx="2">
                <c:v>9.3295094404171195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91AD-456D-A114-47E32D06E30B}"/>
            </c:ext>
          </c:extLst>
        </c:ser>
        <c:ser>
          <c:idx val="5"/>
          <c:order val="5"/>
          <c:tx>
            <c:v>Trays and Retail-ready Boxes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91AD-456D-A114-47E32D06E30B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91AD-456D-A114-47E32D06E30B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91AD-456D-A114-47E32D06E30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3.6374008527234341</c:v>
              </c:pt>
              <c:pt idx="1">
                <c:v>4.2296055045871555</c:v>
              </c:pt>
              <c:pt idx="2">
                <c:v>5.5914563246507036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91AD-456D-A114-47E32D06E3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Agriculture and fresh produce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4F1-463A-8440-C503F7AFBAE6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4F1-463A-8440-C503F7AFBAE6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4F1-463A-8440-C503F7AFBAE6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4F1-463A-8440-C503F7AFBAE6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F1-463A-8440-C503F7AFBAE6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3.8954350934437332</c:v>
              </c:pt>
              <c:pt idx="1">
                <c:v>3.2698002535170736</c:v>
              </c:pt>
              <c:pt idx="2">
                <c:v>4.0865014791758227</c:v>
              </c:pt>
              <c:pt idx="3">
                <c:v>3.6985839499942363</c:v>
              </c:pt>
              <c:pt idx="4">
                <c:v>3.4179012652809466</c:v>
              </c:pt>
              <c:pt idx="5">
                <c:v>3.284928130314551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D4F1-463A-8440-C503F7AFBAE6}"/>
            </c:ext>
          </c:extLst>
        </c:ser>
        <c:ser>
          <c:idx val="1"/>
          <c:order val="1"/>
          <c:tx>
            <c:v>Processed food and beverages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F1-463A-8440-C503F7AFBAE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F1-463A-8440-C503F7AFBAE6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F1-463A-8440-C503F7AFBAE6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4F1-463A-8440-C503F7AFBAE6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F1-463A-8440-C503F7AFBAE6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13.516199546012828</c:v>
              </c:pt>
              <c:pt idx="1">
                <c:v>13.072890230363962</c:v>
              </c:pt>
              <c:pt idx="2">
                <c:v>14.817017288569989</c:v>
              </c:pt>
              <c:pt idx="3">
                <c:v>12.589595889781135</c:v>
              </c:pt>
              <c:pt idx="4">
                <c:v>13.644792572427283</c:v>
              </c:pt>
              <c:pt idx="5">
                <c:v>15.220201797282678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D4F1-463A-8440-C503F7AFBAE6}"/>
            </c:ext>
          </c:extLst>
        </c:ser>
        <c:ser>
          <c:idx val="2"/>
          <c:order val="2"/>
          <c:tx>
            <c:v>E-commerce shipping and fulfillment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F1-463A-8440-C503F7AFBAE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4F1-463A-8440-C503F7AFBAE6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D4F1-463A-8440-C503F7AFBAE6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D4F1-463A-8440-C503F7AFBAE6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D4F1-463A-8440-C503F7AFBAE6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11.23038588909742</c:v>
              </c:pt>
              <c:pt idx="1">
                <c:v>10.901844920294124</c:v>
              </c:pt>
              <c:pt idx="2">
                <c:v>11.12192102863002</c:v>
              </c:pt>
              <c:pt idx="3">
                <c:v>11.778716122144404</c:v>
              </c:pt>
              <c:pt idx="4">
                <c:v>11.715359567714764</c:v>
              </c:pt>
              <c:pt idx="5">
                <c:v>11.03044405691122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D4F1-463A-8440-C503F7AFBAE6}"/>
            </c:ext>
          </c:extLst>
        </c:ser>
        <c:ser>
          <c:idx val="3"/>
          <c:order val="3"/>
          <c:tx>
            <c:v>Retail-ready and point-of-sale packaging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D4F1-463A-8440-C503F7AFBAE6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D4F1-463A-8440-C503F7AFBAE6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D4F1-463A-8440-C503F7AFBAE6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D4F1-463A-8440-C503F7AFBAE6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D4F1-463A-8440-C503F7AFBAE6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6.6793408953057201</c:v>
              </c:pt>
              <c:pt idx="1">
                <c:v>8.3639598607013248</c:v>
              </c:pt>
              <c:pt idx="2">
                <c:v>6.5469895653193557</c:v>
              </c:pt>
              <c:pt idx="3">
                <c:v>7.4547579340632968</c:v>
              </c:pt>
              <c:pt idx="4">
                <c:v>6.4076319636455823</c:v>
              </c:pt>
              <c:pt idx="5">
                <c:v>7.4286652644889433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D4F1-463A-8440-C503F7AFBAE6}"/>
            </c:ext>
          </c:extLst>
        </c:ser>
        <c:ser>
          <c:idx val="4"/>
          <c:order val="4"/>
          <c:tx>
            <c:v>Personal care and household products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D4F1-463A-8440-C503F7AFBAE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D4F1-463A-8440-C503F7AFBAE6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D4F1-463A-8440-C503F7AFBAE6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D4F1-463A-8440-C503F7AFBAE6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D4F1-463A-8440-C503F7AFBAE6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17.972145820276864</c:v>
              </c:pt>
              <c:pt idx="1">
                <c:v>18.261168729998882</c:v>
              </c:pt>
              <c:pt idx="2">
                <c:v>16.895842305883246</c:v>
              </c:pt>
              <c:pt idx="3">
                <c:v>18.591349493367431</c:v>
              </c:pt>
              <c:pt idx="4">
                <c:v>16.58851951625374</c:v>
              </c:pt>
              <c:pt idx="5">
                <c:v>19.282578078459824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2-D4F1-463A-8440-C503F7AFBAE6}"/>
            </c:ext>
          </c:extLst>
        </c:ser>
        <c:ser>
          <c:idx val="5"/>
          <c:order val="5"/>
          <c:tx>
            <c:v>Electrical and electronics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D4F1-463A-8440-C503F7AFBAE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D4F1-463A-8440-C503F7AFBAE6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D4F1-463A-8440-C503F7AFBAE6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D4F1-463A-8440-C503F7AFBAE6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D4F1-463A-8440-C503F7AFBAE6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15.087596673897083</c:v>
              </c:pt>
              <c:pt idx="1">
                <c:v>17.848321331534645</c:v>
              </c:pt>
              <c:pt idx="2">
                <c:v>15.037119356330392</c:v>
              </c:pt>
              <c:pt idx="3">
                <c:v>16.933542223122096</c:v>
              </c:pt>
              <c:pt idx="4">
                <c:v>17.063523089935959</c:v>
              </c:pt>
              <c:pt idx="5">
                <c:v>13.111194284125146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9-D4F1-463A-8440-C503F7AFBAE6}"/>
            </c:ext>
          </c:extLst>
        </c:ser>
        <c:ser>
          <c:idx val="6"/>
          <c:order val="6"/>
          <c:tx>
            <c:v>Pharmaceuticals and healthcare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D4F1-463A-8440-C503F7AFBAE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D4F1-463A-8440-C503F7AFBAE6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D4F1-463A-8440-C503F7AFBAE6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D4F1-463A-8440-C503F7AFBAE6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D4F1-463A-8440-C503F7AFBAE6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16.158465382217884</c:v>
              </c:pt>
              <c:pt idx="1">
                <c:v>13.575920763699829</c:v>
              </c:pt>
              <c:pt idx="2">
                <c:v>16.825399064489069</c:v>
              </c:pt>
              <c:pt idx="3">
                <c:v>12.974292136888144</c:v>
              </c:pt>
              <c:pt idx="4">
                <c:v>14.637111327506455</c:v>
              </c:pt>
              <c:pt idx="5">
                <c:v>15.62961557416345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0-D4F1-463A-8440-C503F7AFBAE6}"/>
            </c:ext>
          </c:extLst>
        </c:ser>
        <c:ser>
          <c:idx val="7"/>
          <c:order val="7"/>
          <c:tx>
            <c:v>Industrial machinery, automotive and components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D4F1-463A-8440-C503F7AFBAE6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D4F1-463A-8440-C503F7AFBAE6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D4F1-463A-8440-C503F7AFBAE6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D4F1-463A-8440-C503F7AFBAE6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D4F1-463A-8440-C503F7AFBAE6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2.1819779525548122</c:v>
              </c:pt>
              <c:pt idx="1">
                <c:v>2.1464807541454385</c:v>
              </c:pt>
              <c:pt idx="2">
                <c:v>2.2029162091309078</c:v>
              </c:pt>
              <c:pt idx="3">
                <c:v>2.0975032950220021</c:v>
              </c:pt>
              <c:pt idx="4">
                <c:v>2.4267474121407262</c:v>
              </c:pt>
              <c:pt idx="5">
                <c:v>2.7536874267006755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7-D4F1-463A-8440-C503F7AFBAE6}"/>
            </c:ext>
          </c:extLst>
        </c:ser>
        <c:ser>
          <c:idx val="8"/>
          <c:order val="8"/>
          <c:tx>
            <c:v>Other end uses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D4F1-463A-8440-C503F7AFBAE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D4F1-463A-8440-C503F7AFBAE6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D4F1-463A-8440-C503F7AFBAE6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D4F1-463A-8440-C503F7AFBAE6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D4F1-463A-8440-C503F7AFBAE6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D4F1-463A-8440-C503F7AFBAE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13.278452747193665</c:v>
              </c:pt>
              <c:pt idx="1">
                <c:v>12.559613155744712</c:v>
              </c:pt>
              <c:pt idx="2">
                <c:v>12.466293702471201</c:v>
              </c:pt>
              <c:pt idx="3">
                <c:v>13.881658955617251</c:v>
              </c:pt>
              <c:pt idx="4">
                <c:v>14.098413285094546</c:v>
              </c:pt>
              <c:pt idx="5">
                <c:v>12.258685387553525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E-D4F1-463A-8440-C503F7AFBA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Agriculture and fresh produce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166.29609387195288</c:v>
              </c:pt>
            </c:numLit>
          </c:xVal>
          <c:yVal>
            <c:numLit>
              <c:formatCode>General</c:formatCode>
              <c:ptCount val="1"/>
              <c:pt idx="0">
                <c:v>23.277467889908255</c:v>
              </c:pt>
            </c:numLit>
          </c:yVal>
          <c:bubbleSize>
            <c:numLit>
              <c:formatCode>General</c:formatCode>
              <c:ptCount val="1"/>
              <c:pt idx="0">
                <c:v>622.27599999999995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20B2-4B87-8509-E8CCF17A484B}"/>
            </c:ext>
          </c:extLst>
        </c:ser>
        <c:ser>
          <c:idx val="1"/>
          <c:order val="1"/>
          <c:tx>
            <c:v>Processed food and beverages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82.806697070329378</c:v>
              </c:pt>
            </c:numLit>
          </c:xVal>
          <c:yVal>
            <c:numLit>
              <c:formatCode>General</c:formatCode>
              <c:ptCount val="1"/>
              <c:pt idx="0">
                <c:v>137.46748623853208</c:v>
              </c:pt>
            </c:numLit>
          </c:yVal>
          <c:bubbleSize>
            <c:numLit>
              <c:formatCode>General</c:formatCode>
              <c:ptCount val="1"/>
              <c:pt idx="0">
                <c:v>2488.9290000000001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20B2-4B87-8509-E8CCF17A484B}"/>
            </c:ext>
          </c:extLst>
        </c:ser>
        <c:ser>
          <c:idx val="2"/>
          <c:order val="2"/>
          <c:tx>
            <c:v>E-commerce shipping and fulfillment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93.954127513041712</c:v>
              </c:pt>
            </c:numLit>
          </c:xVal>
          <c:yVal>
            <c:numLit>
              <c:formatCode>General</c:formatCode>
              <c:ptCount val="1"/>
              <c:pt idx="0">
                <c:v>105.01175229357796</c:v>
              </c:pt>
            </c:numLit>
          </c:yVal>
          <c:bubbleSize>
            <c:numLit>
              <c:formatCode>General</c:formatCode>
              <c:ptCount val="1"/>
              <c:pt idx="0">
                <c:v>2004.6179999999999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20B2-4B87-8509-E8CCF17A484B}"/>
            </c:ext>
          </c:extLst>
        </c:ser>
        <c:ser>
          <c:idx val="3"/>
          <c:order val="3"/>
          <c:tx>
            <c:v>Retail-ready and point-of-sale packaging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56.808637013049037</c:v>
              </c:pt>
            </c:numLit>
          </c:xVal>
          <c:yVal>
            <c:numLit>
              <c:formatCode>General</c:formatCode>
              <c:ptCount val="1"/>
              <c:pt idx="0">
                <c:v>78.008697247706422</c:v>
              </c:pt>
            </c:numLit>
          </c:yVal>
          <c:bubbleSize>
            <c:numLit>
              <c:formatCode>General</c:formatCode>
              <c:ptCount val="1"/>
              <c:pt idx="0">
                <c:v>1247.0429999999999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20B2-4B87-8509-E8CCF17A484B}"/>
            </c:ext>
          </c:extLst>
        </c:ser>
        <c:ser>
          <c:idx val="4"/>
          <c:order val="4"/>
          <c:tx>
            <c:v>Personal care and household products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89.06532698265184</c:v>
              </c:pt>
            </c:numLit>
          </c:xVal>
          <c:yVal>
            <c:numLit>
              <c:formatCode>General</c:formatCode>
              <c:ptCount val="1"/>
              <c:pt idx="0">
                <c:v>170.04154128440365</c:v>
              </c:pt>
            </c:numLit>
          </c:yVal>
          <c:bubbleSize>
            <c:numLit>
              <c:formatCode>General</c:formatCode>
              <c:ptCount val="1"/>
              <c:pt idx="0">
                <c:v>3171.6489999999999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20B2-4B87-8509-E8CCF17A484B}"/>
            </c:ext>
          </c:extLst>
        </c:ser>
        <c:ser>
          <c:idx val="5"/>
          <c:order val="5"/>
          <c:tx>
            <c:v>Electrical and electronics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157.30526338872491</c:v>
              </c:pt>
            </c:numLit>
          </c:xVal>
          <c:yVal>
            <c:numLit>
              <c:formatCode>General</c:formatCode>
              <c:ptCount val="1"/>
              <c:pt idx="0">
                <c:v>106.95195412844036</c:v>
              </c:pt>
            </c:numLit>
          </c:yVal>
          <c:bubbleSize>
            <c:numLit>
              <c:formatCode>General</c:formatCode>
              <c:ptCount val="1"/>
              <c:pt idx="0">
                <c:v>2743.627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20B2-4B87-8509-E8CCF17A484B}"/>
            </c:ext>
          </c:extLst>
        </c:ser>
        <c:ser>
          <c:idx val="6"/>
          <c:order val="6"/>
          <c:tx>
            <c:v>Pharmaceuticals and healthcare</c:v>
          </c:tx>
          <c:spPr>
            <a:solidFill>
              <a:srgbClr val="0E72AE"/>
            </a:solidFill>
          </c:spPr>
          <c:invertIfNegative val="0"/>
          <c:xVal>
            <c:numLit>
              <c:formatCode>General</c:formatCode>
              <c:ptCount val="1"/>
              <c:pt idx="0">
                <c:v>78.187896596841213</c:v>
              </c:pt>
            </c:numLit>
          </c:xVal>
          <c:yVal>
            <c:numLit>
              <c:formatCode>General</c:formatCode>
              <c:ptCount val="1"/>
              <c:pt idx="0">
                <c:v>149.87394495412843</c:v>
              </c:pt>
            </c:numLit>
          </c:yVal>
          <c:bubbleSize>
            <c:numLit>
              <c:formatCode>General</c:formatCode>
              <c:ptCount val="1"/>
              <c:pt idx="0">
                <c:v>2654.489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6-20B2-4B87-8509-E8CCF17A484B}"/>
            </c:ext>
          </c:extLst>
        </c:ser>
        <c:ser>
          <c:idx val="7"/>
          <c:order val="7"/>
          <c:tx>
            <c:v>Industrial machinery, automotive and components</c:v>
          </c:tx>
          <c:spPr>
            <a:solidFill>
              <a:srgbClr val="A86F00"/>
            </a:solidFill>
          </c:spPr>
          <c:invertIfNegative val="0"/>
          <c:xVal>
            <c:numLit>
              <c:formatCode>General</c:formatCode>
              <c:ptCount val="1"/>
              <c:pt idx="0">
                <c:v>78.813906804393781</c:v>
              </c:pt>
            </c:numLit>
          </c:xVal>
          <c:yVal>
            <c:numLit>
              <c:formatCode>General</c:formatCode>
              <c:ptCount val="1"/>
              <c:pt idx="0">
                <c:v>24.026036697247704</c:v>
              </c:pt>
            </c:numLit>
          </c:yVal>
          <c:bubbleSize>
            <c:numLit>
              <c:formatCode>General</c:formatCode>
              <c:ptCount val="1"/>
              <c:pt idx="0">
                <c:v>426.80900000000003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7-20B2-4B87-8509-E8CCF17A484B}"/>
            </c:ext>
          </c:extLst>
        </c:ser>
        <c:ser>
          <c:idx val="8"/>
          <c:order val="8"/>
          <c:tx>
            <c:v>Other end uses</c:v>
          </c:tx>
          <c:spPr>
            <a:solidFill>
              <a:srgbClr val="0B2E4A"/>
            </a:solidFill>
          </c:spPr>
          <c:invertIfNegative val="0"/>
          <c:xVal>
            <c:numLit>
              <c:formatCode>General</c:formatCode>
              <c:ptCount val="1"/>
              <c:pt idx="0">
                <c:v>124.3004268556857</c:v>
              </c:pt>
            </c:numLit>
          </c:xVal>
          <c:yVal>
            <c:numLit>
              <c:formatCode>General</c:formatCode>
              <c:ptCount val="1"/>
              <c:pt idx="0">
                <c:v>105.34111926605503</c:v>
              </c:pt>
            </c:numLit>
          </c:yVal>
          <c:bubbleSize>
            <c:numLit>
              <c:formatCode>General</c:formatCode>
              <c:ptCount val="1"/>
              <c:pt idx="0">
                <c:v>2319.2280000000001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8-20B2-4B87-8509-E8CCF17A484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00"/>
          <c:min val="2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281.916</c:v>
              </c:pt>
              <c:pt idx="2">
                <c:v>331.46600000000001</c:v>
              </c:pt>
              <c:pt idx="3">
                <c:v>388.94900000000001</c:v>
              </c:pt>
              <c:pt idx="4">
                <c:v>455.58300000000003</c:v>
              </c:pt>
              <c:pt idx="5">
                <c:v>532.80799999999999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99C-454C-9DAE-75E0A5EF576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99C-454C-9DAE-75E0A5EF576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99C-454C-9DAE-75E0A5EF576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99C-454C-9DAE-75E0A5EF576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99C-454C-9DAE-75E0A5EF576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99C-454C-9DAE-75E0A5EF576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99C-454C-9DAE-75E0A5EF576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99C-454C-9DAE-75E0A5EF576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99C-454C-9DAE-75E0A5EF576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99C-454C-9DAE-75E0A5EF576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99C-454C-9DAE-75E0A5EF576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99C-454C-9DAE-75E0A5EF576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99C-454C-9DAE-75E0A5EF576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99C-454C-9DAE-75E0A5EF576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99C-454C-9DAE-75E0A5EF576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281.916</c:v>
              </c:pt>
              <c:pt idx="1">
                <c:v>49.550000000000011</c:v>
              </c:pt>
              <c:pt idx="2">
                <c:v>57.483000000000004</c:v>
              </c:pt>
              <c:pt idx="3">
                <c:v>66.634000000000015</c:v>
              </c:pt>
              <c:pt idx="4">
                <c:v>77.224999999999966</c:v>
              </c:pt>
              <c:pt idx="5">
                <c:v>89.467999999999961</c:v>
              </c:pt>
              <c:pt idx="6">
                <c:v>622.27599999999995</c:v>
              </c:pt>
            </c:numLit>
          </c:val>
          <c:extLst>
            <c:ext xmlns:c16="http://schemas.microsoft.com/office/drawing/2014/chart" uri="{C3380CC4-5D6E-409C-BE32-E72D297353CC}">
              <c16:uniqueId val="{0000000F-C99C-454C-9DAE-75E0A5EF57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1664.884</c:v>
              </c:pt>
              <c:pt idx="2">
                <c:v>1805.376</c:v>
              </c:pt>
              <c:pt idx="3">
                <c:v>1957.2239999999999</c:v>
              </c:pt>
              <c:pt idx="4">
                <c:v>2121.2190000000001</c:v>
              </c:pt>
              <c:pt idx="5">
                <c:v>2298.1779999999999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9A8-4CC8-AD4B-6E207481866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9A8-4CC8-AD4B-6E207481866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9A8-4CC8-AD4B-6E207481866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79A8-4CC8-AD4B-6E207481866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9A8-4CC8-AD4B-6E207481866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79A8-4CC8-AD4B-6E207481866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79A8-4CC8-AD4B-6E207481866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79A8-4CC8-AD4B-6E207481866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9A8-4CC8-AD4B-6E207481866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9A8-4CC8-AD4B-6E207481866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9A8-4CC8-AD4B-6E207481866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9A8-4CC8-AD4B-6E207481866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9A8-4CC8-AD4B-6E207481866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9A8-4CC8-AD4B-6E207481866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9A8-4CC8-AD4B-6E207481866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1664.884</c:v>
              </c:pt>
              <c:pt idx="1">
                <c:v>140.49199999999996</c:v>
              </c:pt>
              <c:pt idx="2">
                <c:v>151.84799999999996</c:v>
              </c:pt>
              <c:pt idx="3">
                <c:v>163.99500000000012</c:v>
              </c:pt>
              <c:pt idx="4">
                <c:v>176.95899999999983</c:v>
              </c:pt>
              <c:pt idx="5">
                <c:v>190.7510000000002</c:v>
              </c:pt>
              <c:pt idx="6">
                <c:v>2488.9290000000001</c:v>
              </c:pt>
            </c:numLit>
          </c:val>
          <c:extLst>
            <c:ext xmlns:c16="http://schemas.microsoft.com/office/drawing/2014/chart" uri="{C3380CC4-5D6E-409C-BE32-E72D297353CC}">
              <c16:uniqueId val="{0000000F-79A8-4CC8-AD4B-6E20748186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1271.809</c:v>
              </c:pt>
              <c:pt idx="2">
                <c:v>1392.5909999999999</c:v>
              </c:pt>
              <c:pt idx="3">
                <c:v>1525.068</c:v>
              </c:pt>
              <c:pt idx="4">
                <c:v>1670.3789999999999</c:v>
              </c:pt>
              <c:pt idx="5">
                <c:v>1829.7760000000001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6B2-4540-9D4C-490F654C3C55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6B2-4540-9D4C-490F654C3C55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6B2-4540-9D4C-490F654C3C55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6B2-4540-9D4C-490F654C3C55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6B2-4540-9D4C-490F654C3C55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6B2-4540-9D4C-490F654C3C55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6B2-4540-9D4C-490F654C3C55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6B2-4540-9D4C-490F654C3C55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6B2-4540-9D4C-490F654C3C55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6B2-4540-9D4C-490F654C3C55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6B2-4540-9D4C-490F654C3C55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6B2-4540-9D4C-490F654C3C55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6B2-4540-9D4C-490F654C3C55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6B2-4540-9D4C-490F654C3C55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6B2-4540-9D4C-490F654C3C55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1271.809</c:v>
              </c:pt>
              <c:pt idx="1">
                <c:v>120.78199999999993</c:v>
              </c:pt>
              <c:pt idx="2">
                <c:v>132.47700000000009</c:v>
              </c:pt>
              <c:pt idx="3">
                <c:v>145.31099999999992</c:v>
              </c:pt>
              <c:pt idx="4">
                <c:v>159.39700000000016</c:v>
              </c:pt>
              <c:pt idx="5">
                <c:v>174.84199999999987</c:v>
              </c:pt>
              <c:pt idx="6">
                <c:v>2004.6179999999999</c:v>
              </c:pt>
            </c:numLit>
          </c:val>
          <c:extLst>
            <c:ext xmlns:c16="http://schemas.microsoft.com/office/drawing/2014/chart" uri="{C3380CC4-5D6E-409C-BE32-E72D297353CC}">
              <c16:uniqueId val="{0000000F-C6B2-4540-9D4C-490F654C3C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944.77200000000005</c:v>
              </c:pt>
              <c:pt idx="2">
                <c:v>1003.294</c:v>
              </c:pt>
              <c:pt idx="3">
                <c:v>1063.319</c:v>
              </c:pt>
              <c:pt idx="4">
                <c:v>1124.384</c:v>
              </c:pt>
              <c:pt idx="5">
                <c:v>1185.883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B90B-40EC-90A3-33B3A23B873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B90B-40EC-90A3-33B3A23B873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B90B-40EC-90A3-33B3A23B873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B90B-40EC-90A3-33B3A23B873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B90B-40EC-90A3-33B3A23B873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B90B-40EC-90A3-33B3A23B873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B90B-40EC-90A3-33B3A23B873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B90B-40EC-90A3-33B3A23B873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90B-40EC-90A3-33B3A23B873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90B-40EC-90A3-33B3A23B873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90B-40EC-90A3-33B3A23B873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90B-40EC-90A3-33B3A23B873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90B-40EC-90A3-33B3A23B873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90B-40EC-90A3-33B3A23B873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90B-40EC-90A3-33B3A23B873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944.77200000000005</c:v>
              </c:pt>
              <c:pt idx="1">
                <c:v>58.521999999999935</c:v>
              </c:pt>
              <c:pt idx="2">
                <c:v>60.024999999999977</c:v>
              </c:pt>
              <c:pt idx="3">
                <c:v>61.065000000000055</c:v>
              </c:pt>
              <c:pt idx="4">
                <c:v>61.499000000000024</c:v>
              </c:pt>
              <c:pt idx="5">
                <c:v>61.159999999999854</c:v>
              </c:pt>
              <c:pt idx="6">
                <c:v>1247.0429999999999</c:v>
              </c:pt>
            </c:numLit>
          </c:val>
          <c:extLst>
            <c:ext xmlns:c16="http://schemas.microsoft.com/office/drawing/2014/chart" uri="{C3380CC4-5D6E-409C-BE32-E72D297353CC}">
              <c16:uniqueId val="{0000000F-B90B-40EC-90A3-33B3A23B87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2059.3919999999998</c:v>
              </c:pt>
              <c:pt idx="2">
                <c:v>2245.098</c:v>
              </c:pt>
              <c:pt idx="3">
                <c:v>2447.6509999999998</c:v>
              </c:pt>
              <c:pt idx="4">
                <c:v>2668.5010000000002</c:v>
              </c:pt>
              <c:pt idx="5">
                <c:v>2909.261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D25-43A3-A266-D166BC8907F2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D25-43A3-A266-D166BC8907F2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D25-43A3-A266-D166BC8907F2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D25-43A3-A266-D166BC8907F2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D25-43A3-A266-D166BC8907F2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D25-43A3-A266-D166BC8907F2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D25-43A3-A266-D166BC8907F2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D25-43A3-A266-D166BC8907F2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D25-43A3-A266-D166BC8907F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D25-43A3-A266-D166BC8907F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D25-43A3-A266-D166BC8907F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D25-43A3-A266-D166BC8907F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D25-43A3-A266-D166BC8907F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D25-43A3-A266-D166BC8907F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D25-43A3-A266-D166BC8907F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2059.3919999999998</c:v>
              </c:pt>
              <c:pt idx="1">
                <c:v>185.70600000000013</c:v>
              </c:pt>
              <c:pt idx="2">
                <c:v>202.55299999999988</c:v>
              </c:pt>
              <c:pt idx="3">
                <c:v>220.85000000000036</c:v>
              </c:pt>
              <c:pt idx="4">
                <c:v>240.75999999999976</c:v>
              </c:pt>
              <c:pt idx="5">
                <c:v>262.38799999999992</c:v>
              </c:pt>
              <c:pt idx="6">
                <c:v>3171.6489999999999</c:v>
              </c:pt>
            </c:numLit>
          </c:val>
          <c:extLst>
            <c:ext xmlns:c16="http://schemas.microsoft.com/office/drawing/2014/chart" uri="{C3380CC4-5D6E-409C-BE32-E72D297353CC}">
              <c16:uniqueId val="{0000000F-8D25-43A3-A266-D166BC890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1295.307</c:v>
              </c:pt>
              <c:pt idx="2">
                <c:v>1507.778</c:v>
              </c:pt>
              <c:pt idx="3">
                <c:v>1753.325</c:v>
              </c:pt>
              <c:pt idx="4">
                <c:v>2037.0740000000001</c:v>
              </c:pt>
              <c:pt idx="5">
                <c:v>2364.895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6E4-4EB1-8188-3A36AD24909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6E4-4EB1-8188-3A36AD24909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6E4-4EB1-8188-3A36AD24909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6E4-4EB1-8188-3A36AD24909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6E4-4EB1-8188-3A36AD24909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6E4-4EB1-8188-3A36AD24909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6E4-4EB1-8188-3A36AD24909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6E4-4EB1-8188-3A36AD24909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6E4-4EB1-8188-3A36AD24909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6E4-4EB1-8188-3A36AD24909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6E4-4EB1-8188-3A36AD24909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6E4-4EB1-8188-3A36AD24909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6E4-4EB1-8188-3A36AD24909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6E4-4EB1-8188-3A36AD24909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6E4-4EB1-8188-3A36AD24909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1295.307</c:v>
              </c:pt>
              <c:pt idx="1">
                <c:v>212.471</c:v>
              </c:pt>
              <c:pt idx="2">
                <c:v>245.54700000000003</c:v>
              </c:pt>
              <c:pt idx="3">
                <c:v>283.74900000000002</c:v>
              </c:pt>
              <c:pt idx="4">
                <c:v>327.82099999999991</c:v>
              </c:pt>
              <c:pt idx="5">
                <c:v>378.73199999999997</c:v>
              </c:pt>
              <c:pt idx="6">
                <c:v>2743.627</c:v>
              </c:pt>
            </c:numLit>
          </c:val>
          <c:extLst>
            <c:ext xmlns:c16="http://schemas.microsoft.com/office/drawing/2014/chart" uri="{C3380CC4-5D6E-409C-BE32-E72D297353CC}">
              <c16:uniqueId val="{0000000F-A6E4-4EB1-8188-3A36AD2490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1815.14</c:v>
              </c:pt>
              <c:pt idx="2">
                <c:v>1960.8979999999999</c:v>
              </c:pt>
              <c:pt idx="3">
                <c:v>2117.2060000000001</c:v>
              </c:pt>
              <c:pt idx="4">
                <c:v>2284.5990000000002</c:v>
              </c:pt>
              <c:pt idx="5">
                <c:v>2463.5450000000001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148-469B-BFFF-61398556D78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148-469B-BFFF-61398556D78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148-469B-BFFF-61398556D78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148-469B-BFFF-61398556D78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148-469B-BFFF-61398556D78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148-469B-BFFF-61398556D78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148-469B-BFFF-61398556D78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9148-469B-BFFF-61398556D78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148-469B-BFFF-61398556D78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148-469B-BFFF-61398556D78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148-469B-BFFF-61398556D78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148-469B-BFFF-61398556D78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148-469B-BFFF-61398556D78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148-469B-BFFF-61398556D78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148-469B-BFFF-61398556D78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1815.14</c:v>
              </c:pt>
              <c:pt idx="1">
                <c:v>145.75799999999981</c:v>
              </c:pt>
              <c:pt idx="2">
                <c:v>156.30800000000022</c:v>
              </c:pt>
              <c:pt idx="3">
                <c:v>167.39300000000003</c:v>
              </c:pt>
              <c:pt idx="4">
                <c:v>178.94599999999991</c:v>
              </c:pt>
              <c:pt idx="5">
                <c:v>190.94399999999996</c:v>
              </c:pt>
              <c:pt idx="6">
                <c:v>2654.489</c:v>
              </c:pt>
            </c:numLit>
          </c:val>
          <c:extLst>
            <c:ext xmlns:c16="http://schemas.microsoft.com/office/drawing/2014/chart" uri="{C3380CC4-5D6E-409C-BE32-E72D297353CC}">
              <c16:uniqueId val="{0000000F-9148-469B-BFFF-61398556D7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290.98200000000003</c:v>
              </c:pt>
              <c:pt idx="2">
                <c:v>314.488</c:v>
              </c:pt>
              <c:pt idx="3">
                <c:v>339.73</c:v>
              </c:pt>
              <c:pt idx="4">
                <c:v>366.80399999999997</c:v>
              </c:pt>
              <c:pt idx="5">
                <c:v>395.80399999999997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3991-4C46-B93A-E3148F01407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3991-4C46-B93A-E3148F01407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3991-4C46-B93A-E3148F01407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3991-4C46-B93A-E3148F01407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3991-4C46-B93A-E3148F01407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3991-4C46-B93A-E3148F01407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3991-4C46-B93A-E3148F01407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3991-4C46-B93A-E3148F01407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991-4C46-B93A-E3148F01407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991-4C46-B93A-E3148F01407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991-4C46-B93A-E3148F01407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991-4C46-B93A-E3148F01407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991-4C46-B93A-E3148F01407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991-4C46-B93A-E3148F01407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991-4C46-B93A-E3148F01407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290.98200000000003</c:v>
              </c:pt>
              <c:pt idx="1">
                <c:v>23.505999999999972</c:v>
              </c:pt>
              <c:pt idx="2">
                <c:v>25.242000000000019</c:v>
              </c:pt>
              <c:pt idx="3">
                <c:v>27.073999999999955</c:v>
              </c:pt>
              <c:pt idx="4">
                <c:v>29</c:v>
              </c:pt>
              <c:pt idx="5">
                <c:v>31.005000000000052</c:v>
              </c:pt>
              <c:pt idx="6">
                <c:v>426.80900000000003</c:v>
              </c:pt>
            </c:numLit>
          </c:val>
          <c:extLst>
            <c:ext xmlns:c16="http://schemas.microsoft.com/office/drawing/2014/chart" uri="{C3380CC4-5D6E-409C-BE32-E72D297353CC}">
              <c16:uniqueId val="{0000000F-3991-4C46-B93A-E3148F0140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1275.798</c:v>
              </c:pt>
              <c:pt idx="2">
                <c:v>1436.3320000000001</c:v>
              </c:pt>
              <c:pt idx="3">
                <c:v>1617.867</c:v>
              </c:pt>
              <c:pt idx="4">
                <c:v>1823.2750000000001</c:v>
              </c:pt>
              <c:pt idx="5">
                <c:v>2055.8209999999999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450-4073-B8EB-1D721F8A2F6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450-4073-B8EB-1D721F8A2F6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450-4073-B8EB-1D721F8A2F6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450-4073-B8EB-1D721F8A2F6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450-4073-B8EB-1D721F8A2F61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6450-4073-B8EB-1D721F8A2F61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6450-4073-B8EB-1D721F8A2F61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6450-4073-B8EB-1D721F8A2F6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450-4073-B8EB-1D721F8A2F6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450-4073-B8EB-1D721F8A2F6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450-4073-B8EB-1D721F8A2F6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450-4073-B8EB-1D721F8A2F6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450-4073-B8EB-1D721F8A2F61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450-4073-B8EB-1D721F8A2F61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450-4073-B8EB-1D721F8A2F6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1275.798</c:v>
              </c:pt>
              <c:pt idx="1">
                <c:v>160.53400000000011</c:v>
              </c:pt>
              <c:pt idx="2">
                <c:v>181.53499999999985</c:v>
              </c:pt>
              <c:pt idx="3">
                <c:v>205.40800000000013</c:v>
              </c:pt>
              <c:pt idx="4">
                <c:v>232.54599999999982</c:v>
              </c:pt>
              <c:pt idx="5">
                <c:v>263.40700000000015</c:v>
              </c:pt>
              <c:pt idx="6">
                <c:v>2319.2280000000001</c:v>
              </c:pt>
            </c:numLit>
          </c:val>
          <c:extLst>
            <c:ext xmlns:c16="http://schemas.microsoft.com/office/drawing/2014/chart" uri="{C3380CC4-5D6E-409C-BE32-E72D297353CC}">
              <c16:uniqueId val="{0000000F-6450-4073-B8EB-1D721F8A2F6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Personal care and household products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79D-4CF2-97E4-B9CC0F741E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79D-4CF2-97E4-B9CC0F741E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19.322777565600855</c:v>
              </c:pt>
              <c:pt idx="1">
                <c:v>18.893504587155963</c:v>
              </c:pt>
              <c:pt idx="2">
                <c:v>17.940542805600508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079D-4CF2-97E4-B9CC0F741E3F}"/>
            </c:ext>
          </c:extLst>
        </c:ser>
        <c:ser>
          <c:idx val="1"/>
          <c:order val="1"/>
          <c:tx>
            <c:v>Electrical and electronics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79D-4CF2-97E4-B9CC0F741E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79D-4CF2-97E4-B9CC0F741E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10.258930410960623</c:v>
              </c:pt>
              <c:pt idx="1">
                <c:v>11.883550458715597</c:v>
              </c:pt>
              <c:pt idx="2">
                <c:v>15.519421485826873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079D-4CF2-97E4-B9CC0F741E3F}"/>
            </c:ext>
          </c:extLst>
        </c:ser>
        <c:ser>
          <c:idx val="2"/>
          <c:order val="2"/>
          <c:tx>
            <c:v>Pharmaceuticals and healthcare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79D-4CF2-97E4-B9CC0F741E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79D-4CF2-97E4-B9CC0F741E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17.384919475029605</c:v>
              </c:pt>
              <c:pt idx="1">
                <c:v>16.652660550458716</c:v>
              </c:pt>
              <c:pt idx="2">
                <c:v>15.015209290654703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079D-4CF2-97E4-B9CC0F741E3F}"/>
            </c:ext>
          </c:extLst>
        </c:ser>
        <c:ser>
          <c:idx val="3"/>
          <c:order val="3"/>
          <c:tx>
            <c:v>Processed food and beverages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79D-4CF2-97E4-B9CC0F741E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79D-4CF2-97E4-B9CC0F741E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15.8132953110294</c:v>
              </c:pt>
              <c:pt idx="1">
                <c:v>15.274165137614679</c:v>
              </c:pt>
              <c:pt idx="2">
                <c:v>14.07871339628076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079D-4CF2-97E4-B9CC0F741E3F}"/>
            </c:ext>
          </c:extLst>
        </c:ser>
        <c:ser>
          <c:idx val="4"/>
          <c:order val="4"/>
          <c:tx>
            <c:v>Other end uses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079D-4CF2-97E4-B9CC0F741E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79D-4CF2-97E4-B9CC0F741E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11.06603425121855</c:v>
              </c:pt>
              <c:pt idx="1">
                <c:v>11.704568807339449</c:v>
              </c:pt>
              <c:pt idx="2">
                <c:v>13.118793791477954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079D-4CF2-97E4-B9CC0F741E3F}"/>
            </c:ext>
          </c:extLst>
        </c:ser>
        <c:ser>
          <c:idx val="5"/>
          <c:order val="5"/>
          <c:tx>
            <c:v>E-commerce shipping and fulfillment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079D-4CF2-97E4-B9CC0F741E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79D-4CF2-97E4-B9CC0F741E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11.808764272508068</c:v>
              </c:pt>
              <c:pt idx="1">
                <c:v>11.66797247706422</c:v>
              </c:pt>
              <c:pt idx="2">
                <c:v>11.33919139156864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079D-4CF2-97E4-B9CC0F741E3F}"/>
            </c:ext>
          </c:extLst>
        </c:ser>
        <c:ser>
          <c:idx val="6"/>
          <c:order val="6"/>
          <c:tx>
            <c:v>Retail-ready and point-of-sale packaging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079D-4CF2-97E4-B9CC0F741E3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079D-4CF2-97E4-B9CC0F741E3F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9.3949141097978064</c:v>
              </c:pt>
              <c:pt idx="1">
                <c:v>8.6676330275229354</c:v>
              </c:pt>
              <c:pt idx="2">
                <c:v>7.053942073011382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079D-4CF2-97E4-B9CC0F741E3F}"/>
            </c:ext>
          </c:extLst>
        </c:ser>
        <c:ser>
          <c:idx val="7"/>
          <c:order val="7"/>
          <c:tx>
            <c:v>Agriculture and fresh produce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079D-4CF2-97E4-B9CC0F741E3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079D-4CF2-97E4-B9CC0F741E3F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2.1655863568731717</c:v>
              </c:pt>
              <c:pt idx="1">
                <c:v>2.5863853211009173</c:v>
              </c:pt>
              <c:pt idx="2">
                <c:v>3.5199258224658094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079D-4CF2-97E4-B9CC0F741E3F}"/>
            </c:ext>
          </c:extLst>
        </c:ser>
        <c:ser>
          <c:idx val="8"/>
          <c:order val="8"/>
          <c:tx>
            <c:v>Industrial machinery, automotive and components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079D-4CF2-97E4-B9CC0F741E3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079D-4CF2-97E4-B9CC0F741E3F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079D-4CF2-97E4-B9CC0F741E3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2.7847782469819311</c:v>
              </c:pt>
              <c:pt idx="1">
                <c:v>2.6695596330275233</c:v>
              </c:pt>
              <c:pt idx="2">
                <c:v>2.4142599431133611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3-079D-4CF2-97E4-B9CC0F741E3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Integrated Board and Box Manufacturers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69B-462B-B705-AEE8DBF1077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69B-462B-B705-AEE8DBF1077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69B-462B-B705-AEE8DBF10772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69B-462B-B705-AEE8DBF10772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69B-462B-B705-AEE8DBF10772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69B-462B-B705-AEE8DBF107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5.6692110334676924</c:v>
              </c:pt>
              <c:pt idx="1">
                <c:v>5.7777599839312526</c:v>
              </c:pt>
              <c:pt idx="2">
                <c:v>5.0098016612790959</c:v>
              </c:pt>
              <c:pt idx="3">
                <c:v>4.5297108885313371</c:v>
              </c:pt>
              <c:pt idx="4">
                <c:v>5.557450989218931</c:v>
              </c:pt>
              <c:pt idx="5">
                <c:v>5.209853218683806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C69B-462B-B705-AEE8DBF10772}"/>
            </c:ext>
          </c:extLst>
        </c:ser>
        <c:ser>
          <c:idx val="1"/>
          <c:order val="1"/>
          <c:tx>
            <c:v>Independent Corrugated Sheet Feeders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69B-462B-B705-AEE8DBF1077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69B-462B-B705-AEE8DBF1077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69B-462B-B705-AEE8DBF10772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69B-462B-B705-AEE8DBF10772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69B-462B-B705-AEE8DBF10772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69B-462B-B705-AEE8DBF107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25.897263139501085</c:v>
              </c:pt>
              <c:pt idx="1">
                <c:v>24.137254795517034</c:v>
              </c:pt>
              <c:pt idx="2">
                <c:v>24.719538477747122</c:v>
              </c:pt>
              <c:pt idx="3">
                <c:v>25.532977633567651</c:v>
              </c:pt>
              <c:pt idx="4">
                <c:v>22.185399474491017</c:v>
              </c:pt>
              <c:pt idx="5">
                <c:v>25.050028070892239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C69B-462B-B705-AEE8DBF10772}"/>
            </c:ext>
          </c:extLst>
        </c:ser>
        <c:ser>
          <c:idx val="2"/>
          <c:order val="2"/>
          <c:tx>
            <c:v>Independent Sheet Plants and Box Converters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69B-462B-B705-AEE8DBF1077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C69B-462B-B705-AEE8DBF1077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C69B-462B-B705-AEE8DBF10772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C69B-462B-B705-AEE8DBF10772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C69B-462B-B705-AEE8DBF10772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C69B-462B-B705-AEE8DBF107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30.198715999267435</c:v>
              </c:pt>
              <c:pt idx="1">
                <c:v>26.429765727423003</c:v>
              </c:pt>
              <c:pt idx="2">
                <c:v>31.418479140116368</c:v>
              </c:pt>
              <c:pt idx="3">
                <c:v>28.089431192644703</c:v>
              </c:pt>
              <c:pt idx="4">
                <c:v>28.701229109754294</c:v>
              </c:pt>
              <c:pt idx="5">
                <c:v>26.635194710593947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C69B-462B-B705-AEE8DBF10772}"/>
            </c:ext>
          </c:extLst>
        </c:ser>
        <c:ser>
          <c:idx val="3"/>
          <c:order val="3"/>
          <c:tx>
            <c:v>Captive / In-house Box Manufacturing Units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C69B-462B-B705-AEE8DBF1077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C69B-462B-B705-AEE8DBF1077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C69B-462B-B705-AEE8DBF10772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C69B-462B-B705-AEE8DBF10772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C69B-462B-B705-AEE8DBF10772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C69B-462B-B705-AEE8DBF107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24.929978107132232</c:v>
              </c:pt>
              <c:pt idx="1">
                <c:v>31.263215323939995</c:v>
              </c:pt>
              <c:pt idx="2">
                <c:v>27.451440229262335</c:v>
              </c:pt>
              <c:pt idx="3">
                <c:v>29.109171968417868</c:v>
              </c:pt>
              <c:pt idx="4">
                <c:v>30.678699511372997</c:v>
              </c:pt>
              <c:pt idx="5">
                <c:v>29.607428758461339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C69B-462B-B705-AEE8DBF10772}"/>
            </c:ext>
          </c:extLst>
        </c:ser>
        <c:ser>
          <c:idx val="4"/>
          <c:order val="4"/>
          <c:tx>
            <c:v>Contract and Third-party Packaging Manufacturers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C69B-462B-B705-AEE8DBF1077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C69B-462B-B705-AEE8DBF1077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C69B-462B-B705-AEE8DBF10772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C69B-462B-B705-AEE8DBF10772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C69B-462B-B705-AEE8DBF10772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C69B-462B-B705-AEE8DBF107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Middle East and Africa</c:v>
              </c:pt>
              <c:pt idx="1">
                <c:v>Latin America</c:v>
              </c:pt>
              <c:pt idx="2">
                <c:v>East Asia</c:v>
              </c:pt>
              <c:pt idx="3">
                <c:v>South Asia &amp; Pacific</c:v>
              </c:pt>
              <c:pt idx="4">
                <c:v>Europe</c:v>
              </c:pt>
              <c:pt idx="5">
                <c:v>North America</c:v>
              </c:pt>
            </c:strLit>
          </c:cat>
          <c:val>
            <c:numLit>
              <c:formatCode>General</c:formatCode>
              <c:ptCount val="6"/>
              <c:pt idx="0">
                <c:v>13.304831720631546</c:v>
              </c:pt>
              <c:pt idx="1">
                <c:v>12.392004169188718</c:v>
              </c:pt>
              <c:pt idx="2">
                <c:v>11.40074049159508</c:v>
              </c:pt>
              <c:pt idx="3">
                <c:v>12.738708316838437</c:v>
              </c:pt>
              <c:pt idx="4">
                <c:v>12.877220915162759</c:v>
              </c:pt>
              <c:pt idx="5">
                <c:v>13.497495241368664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2-C69B-462B-B705-AEE8DBF107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Integrated Board and Box Manufacturers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81.065987290341837</c:v>
              </c:pt>
            </c:numLit>
          </c:xVal>
          <c:yVal>
            <c:numLit>
              <c:formatCode>General</c:formatCode>
              <c:ptCount val="1"/>
              <c:pt idx="0">
                <c:v>28.841330275229353</c:v>
              </c:pt>
            </c:numLit>
          </c:yVal>
          <c:bubbleSize>
            <c:numLit>
              <c:formatCode>General</c:formatCode>
              <c:ptCount val="1"/>
              <c:pt idx="0">
                <c:v>932.18200000000002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9ABD-45A5-B22E-B52BBCCA2FF5}"/>
            </c:ext>
          </c:extLst>
        </c:ser>
        <c:ser>
          <c:idx val="1"/>
          <c:order val="1"/>
          <c:tx>
            <c:v>Independent Corrugated Sheet Feeders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98.183390285871468</c:v>
              </c:pt>
            </c:numLit>
          </c:xVal>
          <c:yVal>
            <c:numLit>
              <c:formatCode>General</c:formatCode>
              <c:ptCount val="1"/>
              <c:pt idx="0">
                <c:v>122.19977064220183</c:v>
              </c:pt>
            </c:numLit>
          </c:yVal>
          <c:bubbleSize>
            <c:numLit>
              <c:formatCode>General</c:formatCode>
              <c:ptCount val="1"/>
              <c:pt idx="0">
                <c:v>4283.7470000000003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9ABD-45A5-B22E-B52BBCCA2FF5}"/>
            </c:ext>
          </c:extLst>
        </c:ser>
        <c:ser>
          <c:idx val="2"/>
          <c:order val="2"/>
          <c:tx>
            <c:v>Independent Sheet Plants and Box Converters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137.30716820682616</c:v>
              </c:pt>
            </c:numLit>
          </c:xVal>
          <c:yVal>
            <c:numLit>
              <c:formatCode>General</c:formatCode>
              <c:ptCount val="1"/>
              <c:pt idx="0">
                <c:v>118.6397247706422</c:v>
              </c:pt>
            </c:numLit>
          </c:yVal>
          <c:bubbleSize>
            <c:numLit>
              <c:formatCode>General</c:formatCode>
              <c:ptCount val="1"/>
              <c:pt idx="0">
                <c:v>4994.973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9ABD-45A5-B22E-B52BBCCA2FF5}"/>
            </c:ext>
          </c:extLst>
        </c:ser>
        <c:ser>
          <c:idx val="3"/>
          <c:order val="3"/>
          <c:tx>
            <c:v>Captive / In-house Box Manufacturing Units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80.245873314945769</c:v>
              </c:pt>
            </c:numLit>
          </c:xVal>
          <c:yVal>
            <c:numLit>
              <c:formatCode>General</c:formatCode>
              <c:ptCount val="1"/>
              <c:pt idx="0">
                <c:v>161.41417431192662</c:v>
              </c:pt>
            </c:numLit>
          </c:yVal>
          <c:bubbleSize>
            <c:numLit>
              <c:formatCode>General</c:formatCode>
              <c:ptCount val="1"/>
              <c:pt idx="0">
                <c:v>5196.7299999999996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9ABD-45A5-B22E-B52BBCCA2FF5}"/>
            </c:ext>
          </c:extLst>
        </c:ser>
        <c:ser>
          <c:idx val="4"/>
          <c:order val="4"/>
          <c:tx>
            <c:v>Contract and Third-party Packaging Manufacturers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85.172895374838092</c:v>
              </c:pt>
            </c:numLit>
          </c:xVal>
          <c:yVal>
            <c:numLit>
              <c:formatCode>General</c:formatCode>
              <c:ptCount val="1"/>
              <c:pt idx="0">
                <c:v>68.905000000000001</c:v>
              </c:pt>
            </c:numLit>
          </c:yVal>
          <c:bubbleSize>
            <c:numLit>
              <c:formatCode>General</c:formatCode>
              <c:ptCount val="1"/>
              <c:pt idx="0">
                <c:v>2271.0360000000001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9ABD-45A5-B22E-B52BBCCA2F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5"/>
          <c:min val="65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628.74099999999999</c:v>
              </c:pt>
              <c:pt idx="2">
                <c:v>680.33299999999997</c:v>
              </c:pt>
              <c:pt idx="3">
                <c:v>736.13</c:v>
              </c:pt>
              <c:pt idx="4">
                <c:v>796.46400000000006</c:v>
              </c:pt>
              <c:pt idx="5">
                <c:v>861.69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579-44FB-A588-6F59D1344B3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E579-44FB-A588-6F59D1344B3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579-44FB-A588-6F59D1344B3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579-44FB-A588-6F59D1344B3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579-44FB-A588-6F59D1344B31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E579-44FB-A588-6F59D1344B31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E579-44FB-A588-6F59D1344B31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E579-44FB-A588-6F59D1344B3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579-44FB-A588-6F59D1344B3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579-44FB-A588-6F59D1344B3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579-44FB-A588-6F59D1344B3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579-44FB-A588-6F59D1344B3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579-44FB-A588-6F59D1344B31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579-44FB-A588-6F59D1344B31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579-44FB-A588-6F59D1344B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628.74099999999999</c:v>
              </c:pt>
              <c:pt idx="1">
                <c:v>51.591999999999985</c:v>
              </c:pt>
              <c:pt idx="2">
                <c:v>55.797000000000025</c:v>
              </c:pt>
              <c:pt idx="3">
                <c:v>60.33400000000006</c:v>
              </c:pt>
              <c:pt idx="4">
                <c:v>65.225999999999999</c:v>
              </c:pt>
              <c:pt idx="5">
                <c:v>70.491999999999962</c:v>
              </c:pt>
              <c:pt idx="6">
                <c:v>932.18200000000002</c:v>
              </c:pt>
            </c:numLit>
          </c:val>
          <c:extLst>
            <c:ext xmlns:c16="http://schemas.microsoft.com/office/drawing/2014/chart" uri="{C3380CC4-5D6E-409C-BE32-E72D297353CC}">
              <c16:uniqueId val="{0000000F-E579-44FB-A588-6F59D1344B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2663.9549999999999</c:v>
              </c:pt>
              <c:pt idx="2">
                <c:v>2927.2359999999999</c:v>
              </c:pt>
              <c:pt idx="3">
                <c:v>3217.7449999999999</c:v>
              </c:pt>
              <c:pt idx="4">
                <c:v>3538.422</c:v>
              </c:pt>
              <c:pt idx="5">
                <c:v>3892.5410000000002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227-4726-9DA4-57D6EAD10BD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227-4726-9DA4-57D6EAD10BD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227-4726-9DA4-57D6EAD10BD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227-4726-9DA4-57D6EAD10BD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227-4726-9DA4-57D6EAD10BDC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227-4726-9DA4-57D6EAD10BDC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227-4726-9DA4-57D6EAD10BDC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9227-4726-9DA4-57D6EAD10BD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227-4726-9DA4-57D6EAD10BD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227-4726-9DA4-57D6EAD10BD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227-4726-9DA4-57D6EAD10BD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227-4726-9DA4-57D6EAD10BD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227-4726-9DA4-57D6EAD10BDC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227-4726-9DA4-57D6EAD10BDC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227-4726-9DA4-57D6EAD10BD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2663.9549999999999</c:v>
              </c:pt>
              <c:pt idx="1">
                <c:v>263.28099999999995</c:v>
              </c:pt>
              <c:pt idx="2">
                <c:v>290.50900000000001</c:v>
              </c:pt>
              <c:pt idx="3">
                <c:v>320.67700000000013</c:v>
              </c:pt>
              <c:pt idx="4">
                <c:v>354.11900000000014</c:v>
              </c:pt>
              <c:pt idx="5">
                <c:v>391.20600000000013</c:v>
              </c:pt>
              <c:pt idx="6">
                <c:v>4283.7470000000003</c:v>
              </c:pt>
            </c:numLit>
          </c:val>
          <c:extLst>
            <c:ext xmlns:c16="http://schemas.microsoft.com/office/drawing/2014/chart" uri="{C3380CC4-5D6E-409C-BE32-E72D297353CC}">
              <c16:uniqueId val="{0000000F-9227-4726-9DA4-57D6EAD10B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2586.346</c:v>
              </c:pt>
              <c:pt idx="2">
                <c:v>2953.953</c:v>
              </c:pt>
              <c:pt idx="3">
                <c:v>3371.4470000000001</c:v>
              </c:pt>
              <c:pt idx="4">
                <c:v>3845.5369999999998</c:v>
              </c:pt>
              <c:pt idx="5">
                <c:v>4383.8280000000004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BC3-4356-82E9-E4E4C13AA862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BC3-4356-82E9-E4E4C13AA862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BC3-4356-82E9-E4E4C13AA862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BC3-4356-82E9-E4E4C13AA862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BC3-4356-82E9-E4E4C13AA862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BC3-4356-82E9-E4E4C13AA862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BC3-4356-82E9-E4E4C13AA862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BC3-4356-82E9-E4E4C13AA862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BC3-4356-82E9-E4E4C13AA86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BC3-4356-82E9-E4E4C13AA86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BC3-4356-82E9-E4E4C13AA86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BC3-4356-82E9-E4E4C13AA86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BC3-4356-82E9-E4E4C13AA86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BC3-4356-82E9-E4E4C13AA86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BC3-4356-82E9-E4E4C13AA86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2586.346</c:v>
              </c:pt>
              <c:pt idx="1">
                <c:v>367.60699999999997</c:v>
              </c:pt>
              <c:pt idx="2">
                <c:v>417.49400000000014</c:v>
              </c:pt>
              <c:pt idx="3">
                <c:v>474.08999999999969</c:v>
              </c:pt>
              <c:pt idx="4">
                <c:v>538.29100000000062</c:v>
              </c:pt>
              <c:pt idx="5">
                <c:v>611.14499999999953</c:v>
              </c:pt>
              <c:pt idx="6">
                <c:v>4994.973</c:v>
              </c:pt>
            </c:numLit>
          </c:val>
          <c:extLst>
            <c:ext xmlns:c16="http://schemas.microsoft.com/office/drawing/2014/chart" uri="{C3380CC4-5D6E-409C-BE32-E72D297353CC}">
              <c16:uniqueId val="{0000000F-CBC3-4356-82E9-E4E4C13AA8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3518.8290000000002</c:v>
              </c:pt>
              <c:pt idx="2">
                <c:v>3804.6019999999999</c:v>
              </c:pt>
              <c:pt idx="3">
                <c:v>4113.4369999999999</c:v>
              </c:pt>
              <c:pt idx="4">
                <c:v>4447.125</c:v>
              </c:pt>
              <c:pt idx="5">
                <c:v>4807.5479999999998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71E-4F0D-ACF3-2AFE231086B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71E-4F0D-ACF3-2AFE231086B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71E-4F0D-ACF3-2AFE231086B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71E-4F0D-ACF3-2AFE231086B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71E-4F0D-ACF3-2AFE231086B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71E-4F0D-ACF3-2AFE231086B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71E-4F0D-ACF3-2AFE231086B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71E-4F0D-ACF3-2AFE231086B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71E-4F0D-ACF3-2AFE231086B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71E-4F0D-ACF3-2AFE231086B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71E-4F0D-ACF3-2AFE231086B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71E-4F0D-ACF3-2AFE231086B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71E-4F0D-ACF3-2AFE231086B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71E-4F0D-ACF3-2AFE231086B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71E-4F0D-ACF3-2AFE231086B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3518.8290000000002</c:v>
              </c:pt>
              <c:pt idx="1">
                <c:v>285.77299999999968</c:v>
              </c:pt>
              <c:pt idx="2">
                <c:v>308.83500000000004</c:v>
              </c:pt>
              <c:pt idx="3">
                <c:v>333.6880000000001</c:v>
              </c:pt>
              <c:pt idx="4">
                <c:v>360.42299999999977</c:v>
              </c:pt>
              <c:pt idx="5">
                <c:v>389.18199999999979</c:v>
              </c:pt>
              <c:pt idx="6">
                <c:v>5196.7299999999996</c:v>
              </c:pt>
            </c:numLit>
          </c:val>
          <c:extLst>
            <c:ext xmlns:c16="http://schemas.microsoft.com/office/drawing/2014/chart" uri="{C3380CC4-5D6E-409C-BE32-E72D297353CC}">
              <c16:uniqueId val="{0000000F-D71E-4F0D-ACF3-2AFE231086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1502.1289999999999</c:v>
              </c:pt>
              <c:pt idx="2">
                <c:v>1631.1969999999999</c:v>
              </c:pt>
              <c:pt idx="3">
                <c:v>1771.58</c:v>
              </c:pt>
              <c:pt idx="4">
                <c:v>1924.27</c:v>
              </c:pt>
              <c:pt idx="5">
                <c:v>2090.364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462-4587-9C33-9A75E79D360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462-4587-9C33-9A75E79D360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462-4587-9C33-9A75E79D360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462-4587-9C33-9A75E79D360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462-4587-9C33-9A75E79D360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462-4587-9C33-9A75E79D360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462-4587-9C33-9A75E79D360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462-4587-9C33-9A75E79D360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462-4587-9C33-9A75E79D360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462-4587-9C33-9A75E79D360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462-4587-9C33-9A75E79D360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462-4587-9C33-9A75E79D360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462-4587-9C33-9A75E79D360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462-4587-9C33-9A75E79D360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462-4587-9C33-9A75E79D360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1502.1289999999999</c:v>
              </c:pt>
              <c:pt idx="1">
                <c:v>129.06799999999998</c:v>
              </c:pt>
              <c:pt idx="2">
                <c:v>140.38300000000004</c:v>
              </c:pt>
              <c:pt idx="3">
                <c:v>152.69000000000005</c:v>
              </c:pt>
              <c:pt idx="4">
                <c:v>166.09400000000005</c:v>
              </c:pt>
              <c:pt idx="5">
                <c:v>180.67200000000003</c:v>
              </c:pt>
              <c:pt idx="6">
                <c:v>2271.0360000000001</c:v>
              </c:pt>
            </c:numLit>
          </c:val>
          <c:extLst>
            <c:ext xmlns:c16="http://schemas.microsoft.com/office/drawing/2014/chart" uri="{C3380CC4-5D6E-409C-BE32-E72D297353CC}">
              <c16:uniqueId val="{0000000F-C462-4587-9C33-9A75E79D36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Captive / In-house Box Manufacturing Units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022-4E35-8E5A-170E9011065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022-4E35-8E5A-170E9011065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022-4E35-8E5A-170E9011065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33.695481811595329</c:v>
              </c:pt>
              <c:pt idx="1">
                <c:v>32.282834862385322</c:v>
              </c:pt>
              <c:pt idx="2">
                <c:v>29.395483867902261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A022-4E35-8E5A-170E9011065B}"/>
            </c:ext>
          </c:extLst>
        </c:ser>
        <c:ser>
          <c:idx val="1"/>
          <c:order val="1"/>
          <c:tx>
            <c:v>Sheet Plants and Box Converters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022-4E35-8E5A-170E9011065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022-4E35-8E5A-170E9011065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022-4E35-8E5A-170E9011065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21.517514753827278</c:v>
              </c:pt>
              <c:pt idx="1">
                <c:v>23.727944954128439</c:v>
              </c:pt>
              <c:pt idx="2">
                <c:v>28.254238384928094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A022-4E35-8E5A-170E9011065B}"/>
            </c:ext>
          </c:extLst>
        </c:ser>
        <c:ser>
          <c:idx val="2"/>
          <c:order val="2"/>
          <c:tx>
            <c:v>Corrugated Sheet Feeders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022-4E35-8E5A-170E9011065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022-4E35-8E5A-170E9011065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022-4E35-8E5A-170E9011065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24.540305841739215</c:v>
              </c:pt>
              <c:pt idx="1">
                <c:v>24.439954128440366</c:v>
              </c:pt>
              <c:pt idx="2">
                <c:v>24.231163795824436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A022-4E35-8E5A-170E9011065B}"/>
            </c:ext>
          </c:extLst>
        </c:ser>
        <c:ser>
          <c:idx val="3"/>
          <c:order val="3"/>
          <c:tx>
            <c:v>Contract and Third-party Packaging Manufacturers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022-4E35-8E5A-170E9011065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022-4E35-8E5A-170E9011065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022-4E35-8E5A-170E9011065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14.237794825873076</c:v>
              </c:pt>
              <c:pt idx="1">
                <c:v>13.780999999999999</c:v>
              </c:pt>
              <c:pt idx="2">
                <c:v>12.846194068467149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A022-4E35-8E5A-170E9011065B}"/>
            </c:ext>
          </c:extLst>
        </c:ser>
        <c:ser>
          <c:idx val="4"/>
          <c:order val="4"/>
          <c:tx>
            <c:v>Integrated Board and Box Manufacturers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022-4E35-8E5A-170E9011065B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A022-4E35-8E5A-170E9011065B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A022-4E35-8E5A-170E9011065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6.0089027669650941</c:v>
              </c:pt>
              <c:pt idx="1">
                <c:v>5.7682660550458715</c:v>
              </c:pt>
              <c:pt idx="2">
                <c:v>5.2729198828780532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A022-4E35-8E5A-170E901106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Captive / In-house Box Manufacturing Units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AEF-4C0B-A9C7-4A5377E8994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AEF-4C0B-A9C7-4A5377E8994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AEF-4C0B-A9C7-4A5377E8994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AEF-4C0B-A9C7-4A5377E8994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AEF-4C0B-A9C7-4A5377E8994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AEF-4C0B-A9C7-4A5377E8994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AEF-4C0B-A9C7-4A5377E8994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AEF-4C0B-A9C7-4A5377E8994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AEF-4C0B-A9C7-4A5377E8994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AEF-4C0B-A9C7-4A5377E8994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AEF-4C0B-A9C7-4A5377E8994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AEF-4C0B-A9C7-4A5377E8994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AEF-4C0B-A9C7-4A5377E8994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AEF-4C0B-A9C7-4A5377E8994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AEF-4C0B-A9C7-4A5377E8994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30.338983367455207</c:v>
              </c:pt>
              <c:pt idx="1">
                <c:v>30.827750685089484</c:v>
              </c:pt>
              <c:pt idx="2">
                <c:v>35.668774332197607</c:v>
              </c:pt>
              <c:pt idx="3">
                <c:v>35.81709851455247</c:v>
              </c:pt>
              <c:pt idx="4">
                <c:v>35.134611826564374</c:v>
              </c:pt>
              <c:pt idx="5">
                <c:v>33.419113060767287</c:v>
              </c:pt>
              <c:pt idx="6">
                <c:v>33.112663538846292</c:v>
              </c:pt>
              <c:pt idx="7">
                <c:v>32.157075547079288</c:v>
              </c:pt>
              <c:pt idx="8">
                <c:v>37.32884173831431</c:v>
              </c:pt>
              <c:pt idx="9">
                <c:v>30.015728289367789</c:v>
              </c:pt>
              <c:pt idx="10">
                <c:v>31.337705177505747</c:v>
              </c:pt>
              <c:pt idx="11">
                <c:v>31.967284299667476</c:v>
              </c:pt>
              <c:pt idx="12">
                <c:v>32.454860327197238</c:v>
              </c:pt>
              <c:pt idx="13">
                <c:v>32.033496046957353</c:v>
              </c:pt>
              <c:pt idx="14">
                <c:v>34.326499550307865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BAEF-4C0B-A9C7-4A5377E89944}"/>
            </c:ext>
          </c:extLst>
        </c:ser>
        <c:ser>
          <c:idx val="1"/>
          <c:order val="1"/>
          <c:tx>
            <c:v>Independent Sheet Plants and Box Converters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AEF-4C0B-A9C7-4A5377E8994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BAEF-4C0B-A9C7-4A5377E8994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BAEF-4C0B-A9C7-4A5377E8994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BAEF-4C0B-A9C7-4A5377E8994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BAEF-4C0B-A9C7-4A5377E8994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BAEF-4C0B-A9C7-4A5377E8994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BAEF-4C0B-A9C7-4A5377E8994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BAEF-4C0B-A9C7-4A5377E8994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BAEF-4C0B-A9C7-4A5377E8994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BAEF-4C0B-A9C7-4A5377E8994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BAEF-4C0B-A9C7-4A5377E8994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BAEF-4C0B-A9C7-4A5377E8994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BAEF-4C0B-A9C7-4A5377E8994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BAEF-4C0B-A9C7-4A5377E8994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BAEF-4C0B-A9C7-4A5377E8994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26.484114649491158</c:v>
              </c:pt>
              <c:pt idx="1">
                <c:v>21.696942312582294</c:v>
              </c:pt>
              <c:pt idx="2">
                <c:v>22.810574685335077</c:v>
              </c:pt>
              <c:pt idx="3">
                <c:v>22.06723927887716</c:v>
              </c:pt>
              <c:pt idx="4">
                <c:v>22.659621615341919</c:v>
              </c:pt>
              <c:pt idx="5">
                <c:v>21.88514776104623</c:v>
              </c:pt>
              <c:pt idx="6">
                <c:v>25.307029328483143</c:v>
              </c:pt>
              <c:pt idx="7">
                <c:v>21.354136483133221</c:v>
              </c:pt>
              <c:pt idx="8">
                <c:v>23.416070301283231</c:v>
              </c:pt>
              <c:pt idx="9">
                <c:v>25.205981933611071</c:v>
              </c:pt>
              <c:pt idx="10">
                <c:v>24.209776575500648</c:v>
              </c:pt>
              <c:pt idx="11">
                <c:v>25.472777765983928</c:v>
              </c:pt>
              <c:pt idx="12">
                <c:v>23.196753357598716</c:v>
              </c:pt>
              <c:pt idx="13">
                <c:v>24.410412673694299</c:v>
              </c:pt>
              <c:pt idx="14">
                <c:v>23.776510696523147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BAEF-4C0B-A9C7-4A5377E89944}"/>
            </c:ext>
          </c:extLst>
        </c:ser>
        <c:ser>
          <c:idx val="2"/>
          <c:order val="2"/>
          <c:tx>
            <c:v>Independent Corrugated Sheet Feeders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BAEF-4C0B-A9C7-4A5377E8994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BAEF-4C0B-A9C7-4A5377E8994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BAEF-4C0B-A9C7-4A5377E8994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BAEF-4C0B-A9C7-4A5377E8994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BAEF-4C0B-A9C7-4A5377E8994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BAEF-4C0B-A9C7-4A5377E8994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BAEF-4C0B-A9C7-4A5377E8994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BAEF-4C0B-A9C7-4A5377E8994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BAEF-4C0B-A9C7-4A5377E8994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BAEF-4C0B-A9C7-4A5377E8994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BAEF-4C0B-A9C7-4A5377E8994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BAEF-4C0B-A9C7-4A5377E8994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BAEF-4C0B-A9C7-4A5377E8994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BAEF-4C0B-A9C7-4A5377E8994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BAEF-4C0B-A9C7-4A5377E8994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22.694438632933338</c:v>
              </c:pt>
              <c:pt idx="1">
                <c:v>26.098435472085495</c:v>
              </c:pt>
              <c:pt idx="2">
                <c:v>22.675043332235401</c:v>
              </c:pt>
              <c:pt idx="3">
                <c:v>22.699399064301144</c:v>
              </c:pt>
              <c:pt idx="4">
                <c:v>22.410922124358351</c:v>
              </c:pt>
              <c:pt idx="5">
                <c:v>23.610773522228783</c:v>
              </c:pt>
              <c:pt idx="6">
                <c:v>24.797759543641362</c:v>
              </c:pt>
              <c:pt idx="7">
                <c:v>26.486698171690087</c:v>
              </c:pt>
              <c:pt idx="8">
                <c:v>21.755185725219413</c:v>
              </c:pt>
              <c:pt idx="9">
                <c:v>25.726597860516133</c:v>
              </c:pt>
              <c:pt idx="10">
                <c:v>24.567342108197749</c:v>
              </c:pt>
              <c:pt idx="11">
                <c:v>24.052176833069254</c:v>
              </c:pt>
              <c:pt idx="12">
                <c:v>25.10613811445846</c:v>
              </c:pt>
              <c:pt idx="13">
                <c:v>23.96756708193579</c:v>
              </c:pt>
              <c:pt idx="14">
                <c:v>23.671102091644951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F-BAEF-4C0B-A9C7-4A5377E89944}"/>
            </c:ext>
          </c:extLst>
        </c:ser>
        <c:ser>
          <c:idx val="3"/>
          <c:order val="3"/>
          <c:tx>
            <c:v>Contract and Third-party Packaging Manufacturers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BAEF-4C0B-A9C7-4A5377E8994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BAEF-4C0B-A9C7-4A5377E8994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BAEF-4C0B-A9C7-4A5377E8994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BAEF-4C0B-A9C7-4A5377E8994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BAEF-4C0B-A9C7-4A5377E8994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BAEF-4C0B-A9C7-4A5377E8994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BAEF-4C0B-A9C7-4A5377E8994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BAEF-4C0B-A9C7-4A5377E8994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BAEF-4C0B-A9C7-4A5377E8994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BAEF-4C0B-A9C7-4A5377E8994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BAEF-4C0B-A9C7-4A5377E8994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BAEF-4C0B-A9C7-4A5377E8994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BAEF-4C0B-A9C7-4A5377E8994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BAEF-4C0B-A9C7-4A5377E8994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BAEF-4C0B-A9C7-4A5377E8994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14.755686148512337</c:v>
              </c:pt>
              <c:pt idx="1">
                <c:v>14.924789037812022</c:v>
              </c:pt>
              <c:pt idx="2">
                <c:v>13.283017543480726</c:v>
              </c:pt>
              <c:pt idx="3">
                <c:v>13.28559289933559</c:v>
              </c:pt>
              <c:pt idx="4">
                <c:v>14.658210310271977</c:v>
              </c:pt>
              <c:pt idx="5">
                <c:v>15.545292853532725</c:v>
              </c:pt>
              <c:pt idx="6">
                <c:v>11.771076617820309</c:v>
              </c:pt>
              <c:pt idx="7">
                <c:v>14.374210837798302</c:v>
              </c:pt>
              <c:pt idx="8">
                <c:v>12.35523823889252</c:v>
              </c:pt>
              <c:pt idx="9">
                <c:v>12.523087710108394</c:v>
              </c:pt>
              <c:pt idx="10">
                <c:v>14.402984269274906</c:v>
              </c:pt>
              <c:pt idx="11">
                <c:v>12.746810354310725</c:v>
              </c:pt>
              <c:pt idx="12">
                <c:v>13.964527017725478</c:v>
              </c:pt>
              <c:pt idx="13">
                <c:v>13.933477080338605</c:v>
              </c:pt>
              <c:pt idx="14">
                <c:v>12.686506929871088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F-BAEF-4C0B-A9C7-4A5377E89944}"/>
            </c:ext>
          </c:extLst>
        </c:ser>
        <c:ser>
          <c:idx val="4"/>
          <c:order val="4"/>
          <c:tx>
            <c:v>Integrated Board and Box Manufacturers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BAEF-4C0B-A9C7-4A5377E8994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BAEF-4C0B-A9C7-4A5377E8994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BAEF-4C0B-A9C7-4A5377E8994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BAEF-4C0B-A9C7-4A5377E8994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BAEF-4C0B-A9C7-4A5377E8994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BAEF-4C0B-A9C7-4A5377E8994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BAEF-4C0B-A9C7-4A5377E8994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BAEF-4C0B-A9C7-4A5377E8994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BAEF-4C0B-A9C7-4A5377E8994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BAEF-4C0B-A9C7-4A5377E8994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BAEF-4C0B-A9C7-4A5377E8994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BAEF-4C0B-A9C7-4A5377E8994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BAEF-4C0B-A9C7-4A5377E8994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BAEF-4C0B-A9C7-4A5377E8994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BAEF-4C0B-A9C7-4A5377E8994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5.7267772016079617</c:v>
              </c:pt>
              <c:pt idx="1">
                <c:v>6.4520824924306943</c:v>
              </c:pt>
              <c:pt idx="2">
                <c:v>5.5625901067511894</c:v>
              </c:pt>
              <c:pt idx="3">
                <c:v>6.1306702429336317</c:v>
              </c:pt>
              <c:pt idx="4">
                <c:v>5.1366341234633772</c:v>
              </c:pt>
              <c:pt idx="5">
                <c:v>5.5396728024249819</c:v>
              </c:pt>
              <c:pt idx="6">
                <c:v>5.0114709712088956</c:v>
              </c:pt>
              <c:pt idx="7">
                <c:v>5.6278789602991042</c:v>
              </c:pt>
              <c:pt idx="8">
                <c:v>5.1446639962905234</c:v>
              </c:pt>
              <c:pt idx="9">
                <c:v>6.5286042063966248</c:v>
              </c:pt>
              <c:pt idx="10">
                <c:v>5.4821918695209559</c:v>
              </c:pt>
              <c:pt idx="11">
                <c:v>5.7609507469686054</c:v>
              </c:pt>
              <c:pt idx="12">
                <c:v>5.2777211830201045</c:v>
              </c:pt>
              <c:pt idx="13">
                <c:v>5.6550471170739494</c:v>
              </c:pt>
              <c:pt idx="14">
                <c:v>5.5393807316529449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F-BAEF-4C0B-A9C7-4A5377E899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Industrial machinery, automotive and components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10.811994709864459</c:v>
              </c:pt>
              <c:pt idx="1">
                <c:v>10.19843310444962</c:v>
              </c:pt>
              <c:pt idx="2">
                <c:v>11.079523211706421</c:v>
              </c:pt>
              <c:pt idx="3">
                <c:v>11.175663639807127</c:v>
              </c:pt>
              <c:pt idx="4">
                <c:v>10.919112426799305</c:v>
              </c:pt>
              <c:pt idx="5">
                <c:v>12.103125610872764</c:v>
              </c:pt>
              <c:pt idx="6">
                <c:v>10.324515479642601</c:v>
              </c:pt>
              <c:pt idx="7">
                <c:v>11.044973486900625</c:v>
              </c:pt>
              <c:pt idx="8">
                <c:v>10.823584621057218</c:v>
              </c:pt>
              <c:pt idx="9">
                <c:v>11.504636639684398</c:v>
              </c:pt>
              <c:pt idx="10">
                <c:v>11.311637187295034</c:v>
              </c:pt>
              <c:pt idx="11">
                <c:v>11.936182366972618</c:v>
              </c:pt>
              <c:pt idx="12">
                <c:v>11.073636100824602</c:v>
              </c:pt>
              <c:pt idx="13">
                <c:v>9.6740985864877818</c:v>
              </c:pt>
              <c:pt idx="14">
                <c:v>12.140208531315729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8842-41D9-A561-C527C48A6757}"/>
            </c:ext>
          </c:extLst>
        </c:ser>
        <c:ser>
          <c:idx val="1"/>
          <c:order val="1"/>
          <c:tx>
            <c:v>Retail-ready and point-of-sale packaging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10.674697759911531</c:v>
              </c:pt>
              <c:pt idx="1">
                <c:v>11.878478629117639</c:v>
              </c:pt>
              <c:pt idx="2">
                <c:v>10.416447306254135</c:v>
              </c:pt>
              <c:pt idx="3">
                <c:v>10.68017321689991</c:v>
              </c:pt>
              <c:pt idx="4">
                <c:v>10.820579237464987</c:v>
              </c:pt>
              <c:pt idx="5">
                <c:v>10.606808852125067</c:v>
              </c:pt>
              <c:pt idx="6">
                <c:v>11.101236180551393</c:v>
              </c:pt>
              <c:pt idx="7">
                <c:v>10.892102793029238</c:v>
              </c:pt>
              <c:pt idx="8">
                <c:v>12.128068470038771</c:v>
              </c:pt>
              <c:pt idx="9">
                <c:v>11.236041654730625</c:v>
              </c:pt>
              <c:pt idx="10">
                <c:v>10.449379056636127</c:v>
              </c:pt>
              <c:pt idx="11">
                <c:v>11.512378320377332</c:v>
              </c:pt>
              <c:pt idx="12">
                <c:v>11.481394804586941</c:v>
              </c:pt>
              <c:pt idx="13">
                <c:v>10.909050071873502</c:v>
              </c:pt>
              <c:pt idx="14">
                <c:v>12.047002662613011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8842-41D9-A561-C527C48A6757}"/>
            </c:ext>
          </c:extLst>
        </c:ser>
        <c:ser>
          <c:idx val="2"/>
          <c:order val="2"/>
          <c:tx>
            <c:v>Agriculture and fresh produce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10.714392456326493</c:v>
              </c:pt>
              <c:pt idx="1">
                <c:v>11.7433981669137</c:v>
              </c:pt>
              <c:pt idx="2">
                <c:v>11.630286585942036</c:v>
              </c:pt>
              <c:pt idx="3">
                <c:v>11.520664202864426</c:v>
              </c:pt>
              <c:pt idx="4">
                <c:v>11.241389102831647</c:v>
              </c:pt>
              <c:pt idx="5">
                <c:v>10.406056771299527</c:v>
              </c:pt>
              <c:pt idx="6">
                <c:v>11.46252084930833</c:v>
              </c:pt>
              <c:pt idx="7">
                <c:v>11.560659635726962</c:v>
              </c:pt>
              <c:pt idx="8">
                <c:v>12.199577648912278</c:v>
              </c:pt>
              <c:pt idx="9">
                <c:v>11.19395859081075</c:v>
              </c:pt>
              <c:pt idx="10">
                <c:v>10.589791276216378</c:v>
              </c:pt>
              <c:pt idx="11">
                <c:v>11.053450258991363</c:v>
              </c:pt>
              <c:pt idx="12">
                <c:v>10.432675761622225</c:v>
              </c:pt>
              <c:pt idx="13">
                <c:v>10.320336208273439</c:v>
              </c:pt>
              <c:pt idx="14">
                <c:v>11.259941558959438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F-8842-41D9-A561-C527C48A6757}"/>
            </c:ext>
          </c:extLst>
        </c:ser>
        <c:ser>
          <c:idx val="3"/>
          <c:order val="3"/>
          <c:tx>
            <c:v>Pharmaceuticals and healthcare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11.416848483942795</c:v>
              </c:pt>
              <c:pt idx="1">
                <c:v>10.709073172207267</c:v>
              </c:pt>
              <c:pt idx="2">
                <c:v>11.481121505419891</c:v>
              </c:pt>
              <c:pt idx="3">
                <c:v>9.4757424678289546</c:v>
              </c:pt>
              <c:pt idx="4">
                <c:v>11.171684401206495</c:v>
              </c:pt>
              <c:pt idx="5">
                <c:v>12.298862104797474</c:v>
              </c:pt>
              <c:pt idx="6">
                <c:v>11.20953890734123</c:v>
              </c:pt>
              <c:pt idx="7">
                <c:v>10.855048552469949</c:v>
              </c:pt>
              <c:pt idx="8">
                <c:v>11.279455636375827</c:v>
              </c:pt>
              <c:pt idx="9">
                <c:v>10.75437131858448</c:v>
              </c:pt>
              <c:pt idx="10">
                <c:v>10.455014730692721</c:v>
              </c:pt>
              <c:pt idx="11">
                <c:v>10.766282489713682</c:v>
              </c:pt>
              <c:pt idx="12">
                <c:v>12.105835547418124</c:v>
              </c:pt>
              <c:pt idx="13">
                <c:v>11.377600423255069</c:v>
              </c:pt>
              <c:pt idx="14">
                <c:v>11.201327559053603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F-8842-41D9-A561-C527C48A6757}"/>
            </c:ext>
          </c:extLst>
        </c:ser>
        <c:ser>
          <c:idx val="4"/>
          <c:order val="4"/>
          <c:tx>
            <c:v>Processed food and beverages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10.507606437825963</c:v>
              </c:pt>
              <c:pt idx="1">
                <c:v>11.406122387247045</c:v>
              </c:pt>
              <c:pt idx="2">
                <c:v>10.173733446725793</c:v>
              </c:pt>
              <c:pt idx="3">
                <c:v>11.922994236340742</c:v>
              </c:pt>
              <c:pt idx="4">
                <c:v>11.198361509235873</c:v>
              </c:pt>
              <c:pt idx="5">
                <c:v>10.591504881837917</c:v>
              </c:pt>
              <c:pt idx="6">
                <c:v>10.70853545364168</c:v>
              </c:pt>
              <c:pt idx="7">
                <c:v>12.050794163693695</c:v>
              </c:pt>
              <c:pt idx="8">
                <c:v>10.34592565280059</c:v>
              </c:pt>
              <c:pt idx="9">
                <c:v>11.697045591577385</c:v>
              </c:pt>
              <c:pt idx="10">
                <c:v>10.666892093628931</c:v>
              </c:pt>
              <c:pt idx="11">
                <c:v>11.342547919191608</c:v>
              </c:pt>
              <c:pt idx="12">
                <c:v>9.9569113861317984</c:v>
              </c:pt>
              <c:pt idx="13">
                <c:v>11.585484547196932</c:v>
              </c:pt>
              <c:pt idx="14">
                <c:v>11.059116542888631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F-8842-41D9-A561-C527C48A6757}"/>
            </c:ext>
          </c:extLst>
        </c:ser>
        <c:ser>
          <c:idx val="5"/>
          <c:order val="5"/>
          <c:tx>
            <c:v>Personal care and household products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12.006291375883556</c:v>
              </c:pt>
              <c:pt idx="1">
                <c:v>10.342399195377961</c:v>
              </c:pt>
              <c:pt idx="2">
                <c:v>10.423466839455175</c:v>
              </c:pt>
              <c:pt idx="3">
                <c:v>11.431086905334713</c:v>
              </c:pt>
              <c:pt idx="4">
                <c:v>12.027503237826419</c:v>
              </c:pt>
              <c:pt idx="5">
                <c:v>9.9123429735485651</c:v>
              </c:pt>
              <c:pt idx="6">
                <c:v>10.777154738554325</c:v>
              </c:pt>
              <c:pt idx="7">
                <c:v>11.790360804691664</c:v>
              </c:pt>
              <c:pt idx="8">
                <c:v>10.429166806333031</c:v>
              </c:pt>
              <c:pt idx="9">
                <c:v>10.494506693730782</c:v>
              </c:pt>
              <c:pt idx="10">
                <c:v>12.739980790745026</c:v>
              </c:pt>
              <c:pt idx="11">
                <c:v>11.185261809002556</c:v>
              </c:pt>
              <c:pt idx="12">
                <c:v>11.278203769221237</c:v>
              </c:pt>
              <c:pt idx="13">
                <c:v>11.317705837725601</c:v>
              </c:pt>
              <c:pt idx="14">
                <c:v>10.930646185717977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5F-8842-41D9-A561-C527C48A6757}"/>
            </c:ext>
          </c:extLst>
        </c:ser>
        <c:ser>
          <c:idx val="6"/>
          <c:order val="6"/>
          <c:tx>
            <c:v>Other end uses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11.189514622592165</c:v>
              </c:pt>
              <c:pt idx="1">
                <c:v>10.84727305726126</c:v>
              </c:pt>
              <c:pt idx="2">
                <c:v>11.218158992427004</c:v>
              </c:pt>
              <c:pt idx="3">
                <c:v>11.137273369437249</c:v>
              </c:pt>
              <c:pt idx="4">
                <c:v>10.780133299484959</c:v>
              </c:pt>
              <c:pt idx="5">
                <c:v>11.027346523040833</c:v>
              </c:pt>
              <c:pt idx="6">
                <c:v>11.118597686372665</c:v>
              </c:pt>
              <c:pt idx="7">
                <c:v>11.0757934831952</c:v>
              </c:pt>
              <c:pt idx="8">
                <c:v>10.463804064849887</c:v>
              </c:pt>
              <c:pt idx="9">
                <c:v>11.332075615831416</c:v>
              </c:pt>
              <c:pt idx="10">
                <c:v>11.680833791981277</c:v>
              </c:pt>
              <c:pt idx="11">
                <c:v>10.014396986282335</c:v>
              </c:pt>
              <c:pt idx="12">
                <c:v>12.062058617034456</c:v>
              </c:pt>
              <c:pt idx="13">
                <c:v>11.408795519885002</c:v>
              </c:pt>
              <c:pt idx="14">
                <c:v>10.717714015568262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F-8842-41D9-A561-C527C48A6757}"/>
            </c:ext>
          </c:extLst>
        </c:ser>
        <c:ser>
          <c:idx val="7"/>
          <c:order val="7"/>
          <c:tx>
            <c:v>Electrical and electronics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11.032417024074599</c:v>
              </c:pt>
              <c:pt idx="1">
                <c:v>11.254499531141295</c:v>
              </c:pt>
              <c:pt idx="2">
                <c:v>11.820623928508756</c:v>
              </c:pt>
              <c:pt idx="3">
                <c:v>11.022102558327617</c:v>
              </c:pt>
              <c:pt idx="4">
                <c:v>11.151031156280524</c:v>
              </c:pt>
              <c:pt idx="5">
                <c:v>11.568129674784199</c:v>
              </c:pt>
              <c:pt idx="6">
                <c:v>10.893724849068576</c:v>
              </c:pt>
              <c:pt idx="7">
                <c:v>10.30731311974754</c:v>
              </c:pt>
              <c:pt idx="8">
                <c:v>11.265488999877093</c:v>
              </c:pt>
              <c:pt idx="9">
                <c:v>11.044314762220456</c:v>
              </c:pt>
              <c:pt idx="10">
                <c:v>10.991722753614328</c:v>
              </c:pt>
              <c:pt idx="11">
                <c:v>10.501115476953242</c:v>
              </c:pt>
              <c:pt idx="12">
                <c:v>10.662022824575653</c:v>
              </c:pt>
              <c:pt idx="13">
                <c:v>12.857121466219454</c:v>
              </c:pt>
              <c:pt idx="14">
                <c:v>10.467403409413023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7F-8842-41D9-A561-C527C48A6757}"/>
            </c:ext>
          </c:extLst>
        </c:ser>
        <c:ser>
          <c:idx val="8"/>
          <c:order val="8"/>
          <c:tx>
            <c:v>E-commerce shipping and fulfillment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8842-41D9-A561-C527C48A67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1-8842-41D9-A561-C527C48A67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8842-41D9-A561-C527C48A67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8842-41D9-A561-C527C48A67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8842-41D9-A561-C527C48A67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8842-41D9-A561-C527C48A67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8842-41D9-A561-C527C48A675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7-8842-41D9-A561-C527C48A675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8842-41D9-A561-C527C48A675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8842-41D9-A561-C527C48A675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8842-41D9-A561-C527C48A675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8842-41D9-A561-C527C48A675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8842-41D9-A561-C527C48A675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8842-41D9-A561-C527C48A675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8842-41D9-A561-C527C48A675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11.646237129578433</c:v>
              </c:pt>
              <c:pt idx="1">
                <c:v>11.620322756284221</c:v>
              </c:pt>
              <c:pt idx="2">
                <c:v>11.756638183560794</c:v>
              </c:pt>
              <c:pt idx="3">
                <c:v>11.634299403159263</c:v>
              </c:pt>
              <c:pt idx="4">
                <c:v>10.690205628869794</c:v>
              </c:pt>
              <c:pt idx="5">
                <c:v>11.485822607693654</c:v>
              </c:pt>
              <c:pt idx="6">
                <c:v>12.404175855519203</c:v>
              </c:pt>
              <c:pt idx="7">
                <c:v>10.422953960545136</c:v>
              </c:pt>
              <c:pt idx="8">
                <c:v>11.064928099755306</c:v>
              </c:pt>
              <c:pt idx="9">
                <c:v>10.743049132829698</c:v>
              </c:pt>
              <c:pt idx="10">
                <c:v>11.114748319190189</c:v>
              </c:pt>
              <c:pt idx="11">
                <c:v>11.688384372515264</c:v>
              </c:pt>
              <c:pt idx="12">
                <c:v>10.947261188584958</c:v>
              </c:pt>
              <c:pt idx="13">
                <c:v>10.549807339083213</c:v>
              </c:pt>
              <c:pt idx="14">
                <c:v>10.176639534470317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F-8842-41D9-A561-C527C48A67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03E58"/>
            </a:solidFill>
            <a:ln>
              <a:noFill/>
            </a:ln>
          </c:spPr>
          <c:invertIfNegative val="1"/>
          <c:dLbls>
            <c:dLbl>
              <c:idx val="0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2CA-42A4-9AFF-2F266B63A722}"/>
                </c:ext>
              </c:extLst>
            </c:dLbl>
            <c:dLbl>
              <c:idx val="1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2CA-42A4-9AFF-2F266B63A722}"/>
                </c:ext>
              </c:extLst>
            </c:dLbl>
            <c:dLbl>
              <c:idx val="2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2CA-42A4-9AFF-2F266B63A722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2021–2026</c:v>
              </c:pt>
              <c:pt idx="1">
                <c:v>2026–2036</c:v>
              </c:pt>
              <c:pt idx="2">
                <c:v>2021–2036</c:v>
              </c:pt>
            </c:strLit>
          </c:cat>
          <c:val>
            <c:numLit>
              <c:formatCode>General</c:formatCode>
              <c:ptCount val="3"/>
              <c:pt idx="0">
                <c:v>1.7923731612645488</c:v>
              </c:pt>
              <c:pt idx="1">
                <c:v>2.5858271188418103</c:v>
              </c:pt>
              <c:pt idx="2">
                <c:v>2.320657632221157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B2CA-42A4-9AFF-2F266B63A7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.4132917968711896"/>
          <c:min val="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588404.30599999998</c:v>
              </c:pt>
              <c:pt idx="2">
                <c:v>0</c:v>
              </c:pt>
              <c:pt idx="3">
                <c:v>643060.80499999993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1DC-48F9-99D5-1CA0D85E7FE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1DC-48F9-99D5-1CA0D85E7FE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1DC-48F9-99D5-1CA0D85E7FEC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11DC-48F9-99D5-1CA0D85E7FE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1DC-48F9-99D5-1CA0D85E7FEC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11DC-48F9-99D5-1CA0D85E7FE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1DC-48F9-99D5-1CA0D85E7FE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1DC-48F9-99D5-1CA0D85E7FE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1DC-48F9-99D5-1CA0D85E7FE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1DC-48F9-99D5-1CA0D85E7FE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1DC-48F9-99D5-1CA0D85E7FE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588404.30599999998</c:v>
              </c:pt>
              <c:pt idx="1">
                <c:v>54656.498999999953</c:v>
              </c:pt>
              <c:pt idx="2">
                <c:v>643060.80499999993</c:v>
              </c:pt>
              <c:pt idx="3">
                <c:v>187030.1540000001</c:v>
              </c:pt>
              <c:pt idx="4">
                <c:v>830090.95900000003</c:v>
              </c:pt>
            </c:numLit>
          </c:val>
          <c:extLst>
            <c:ext xmlns:c16="http://schemas.microsoft.com/office/drawing/2014/chart" uri="{C3380CC4-5D6E-409C-BE32-E72D297353CC}">
              <c16:uniqueId val="{0000000B-11DC-48F9-99D5-1CA0D85E7F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03E58"/>
            </a:solidFill>
            <a:ln>
              <a:noFill/>
            </a:ln>
          </c:spPr>
          <c:invertIfNegative val="1"/>
          <c:dLbls>
            <c:dLbl>
              <c:idx val="0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992-4E45-A6A8-8C0A39B285EC}"/>
                </c:ext>
              </c:extLst>
            </c:dLbl>
            <c:dLbl>
              <c:idx val="1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992-4E45-A6A8-8C0A39B285EC}"/>
                </c:ext>
              </c:extLst>
            </c:dLbl>
            <c:dLbl>
              <c:idx val="2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992-4E45-A6A8-8C0A39B285EC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2021–2026</c:v>
              </c:pt>
              <c:pt idx="1">
                <c:v>2026–2036</c:v>
              </c:pt>
              <c:pt idx="2">
                <c:v>2021–2036</c:v>
              </c:pt>
            </c:strLit>
          </c:cat>
          <c:val>
            <c:numLit>
              <c:formatCode>General</c:formatCode>
              <c:ptCount val="3"/>
              <c:pt idx="0">
                <c:v>3.2479423372285821</c:v>
              </c:pt>
              <c:pt idx="1">
                <c:v>4.0561078574987031</c:v>
              </c:pt>
              <c:pt idx="2">
                <c:v>3.7860189120546783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1992-4E45-A6A8-8C0A39B285E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5.354062371898288"/>
          <c:min val="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3072.4580000000001</c:v>
              </c:pt>
              <c:pt idx="2">
                <c:v>0</c:v>
              </c:pt>
              <c:pt idx="3">
                <c:v>3604.8980000000001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12F-419E-9395-8DE5D14DA2F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12F-419E-9395-8DE5D14DA2F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12F-419E-9395-8DE5D14DA2F0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612F-419E-9395-8DE5D14DA2F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12F-419E-9395-8DE5D14DA2F0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612F-419E-9395-8DE5D14DA2F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12F-419E-9395-8DE5D14DA2F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12F-419E-9395-8DE5D14DA2F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12F-419E-9395-8DE5D14DA2F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12F-419E-9395-8DE5D14DA2F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12F-419E-9395-8DE5D14DA2F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3072.4580000000001</c:v>
              </c:pt>
              <c:pt idx="1">
                <c:v>532.44000000000005</c:v>
              </c:pt>
              <c:pt idx="2">
                <c:v>3604.8980000000001</c:v>
              </c:pt>
              <c:pt idx="3">
                <c:v>1760.0899999999992</c:v>
              </c:pt>
              <c:pt idx="4">
                <c:v>5364.9879999999994</c:v>
              </c:pt>
            </c:numLit>
          </c:val>
          <c:extLst>
            <c:ext xmlns:c16="http://schemas.microsoft.com/office/drawing/2014/chart" uri="{C3380CC4-5D6E-409C-BE32-E72D297353CC}">
              <c16:uniqueId val="{0000000B-612F-419E-9395-8DE5D14DA2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336-4B25-A07F-C5553171208A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336-4B25-A07F-C5553171208A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336-4B25-A07F-C5553171208A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336-4B25-A07F-C5553171208A}"/>
                </c:ext>
              </c:extLst>
            </c:dLbl>
            <c:dLbl>
              <c:idx val="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336-4B25-A07F-C5553171208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</c:strLit>
          </c:cat>
          <c:val>
            <c:numLit>
              <c:formatCode>General</c:formatCode>
              <c:ptCount val="5"/>
              <c:pt idx="0">
                <c:v>3072.4580000000001</c:v>
              </c:pt>
              <c:pt idx="1">
                <c:v>3172.183</c:v>
              </c:pt>
              <c:pt idx="2">
                <c:v>3275.1790000000001</c:v>
              </c:pt>
              <c:pt idx="3">
                <c:v>3381.5550000000003</c:v>
              </c:pt>
              <c:pt idx="4">
                <c:v>3491.4220000000005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B336-4B25-A07F-C555317120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v>Volume (Units)</c:v>
          </c:tx>
          <c:spPr>
            <a:solidFill>
              <a:srgbClr val="C55A11"/>
            </a:solidFill>
            <a:ln>
              <a:noFill/>
            </a:ln>
          </c:spPr>
          <c:invertIfNegative val="1"/>
          <c:dLbls>
            <c:dLbl>
              <c:idx val="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336-4B25-A07F-C5553171208A}"/>
                </c:ext>
              </c:extLst>
            </c:dLbl>
            <c:dLbl>
              <c:idx val="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336-4B25-A07F-C5553171208A}"/>
                </c:ext>
              </c:extLst>
            </c:dLbl>
            <c:dLbl>
              <c:idx val="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336-4B25-A07F-C5553171208A}"/>
                </c:ext>
              </c:extLst>
            </c:dLbl>
            <c:dLbl>
              <c:idx val="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336-4B25-A07F-C5553171208A}"/>
                </c:ext>
              </c:extLst>
            </c:dLbl>
            <c:dLbl>
              <c:idx val="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336-4B25-A07F-C5553171208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</c:strLit>
          </c:cat>
          <c:val>
            <c:numLit>
              <c:formatCode>General</c:formatCode>
              <c:ptCount val="5"/>
              <c:pt idx="0">
                <c:v>588404.30599999998</c:v>
              </c:pt>
              <c:pt idx="1">
                <c:v>598943.38300000003</c:v>
              </c:pt>
              <c:pt idx="2">
                <c:v>609674.94699999993</c:v>
              </c:pt>
              <c:pt idx="3">
                <c:v>620602.58899999992</c:v>
              </c:pt>
              <c:pt idx="4">
                <c:v>631729.96499999997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B336-4B25-A07F-C555317120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  <c:max val="4120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  <c:catAx>
        <c:axId val="90210001"/>
        <c:scaling>
          <c:orientation val="minMax"/>
        </c:scaling>
        <c:delete val="1"/>
        <c:axPos val="b"/>
        <c:numFmt formatCode="General" sourceLinked="1"/>
        <c:majorTickMark val="cross"/>
        <c:minorTickMark val="cross"/>
        <c:tickLblPos val="nextTo"/>
        <c:crossAx val="90210002"/>
        <c:crosses val="autoZero"/>
        <c:auto val="1"/>
        <c:lblAlgn val="ctr"/>
        <c:lblOffset val="100"/>
        <c:noMultiLvlLbl val="1"/>
      </c:catAx>
      <c:valAx>
        <c:axId val="90210002"/>
        <c:scaling>
          <c:orientation val="minMax"/>
          <c:max val="896585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FFA-4A39-AF50-D661CF16437D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FFA-4A39-AF50-D661CF16437D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FFA-4A39-AF50-D661CF16437D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FFA-4A39-AF50-D661CF16437D}"/>
                </c:ext>
              </c:extLst>
            </c:dLbl>
            <c:dLbl>
              <c:idx val="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FFA-4A39-AF50-D661CF16437D}"/>
                </c:ext>
              </c:extLst>
            </c:dLbl>
            <c:dLbl>
              <c:idx val="5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FFA-4A39-AF50-D661CF16437D}"/>
                </c:ext>
              </c:extLst>
            </c:dLbl>
            <c:dLbl>
              <c:idx val="6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FFA-4A39-AF50-D661CF16437D}"/>
                </c:ext>
              </c:extLst>
            </c:dLbl>
            <c:dLbl>
              <c:idx val="7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FFA-4A39-AF50-D661CF16437D}"/>
                </c:ext>
              </c:extLst>
            </c:dLbl>
            <c:dLbl>
              <c:idx val="8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FFA-4A39-AF50-D661CF16437D}"/>
                </c:ext>
              </c:extLst>
            </c:dLbl>
            <c:dLbl>
              <c:idx val="9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FFA-4A39-AF50-D661CF16437D}"/>
                </c:ext>
              </c:extLst>
            </c:dLbl>
            <c:dLbl>
              <c:idx val="1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FFA-4A39-AF50-D661CF16437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3604.8980000000001</c:v>
              </c:pt>
              <c:pt idx="1">
                <c:v>3750.9389999999994</c:v>
              </c:pt>
              <c:pt idx="2">
                <c:v>3902.9379999999996</c:v>
              </c:pt>
              <c:pt idx="3">
                <c:v>4061.1389999999997</c:v>
              </c:pt>
              <c:pt idx="4">
                <c:v>4225.7959999999994</c:v>
              </c:pt>
              <c:pt idx="5">
                <c:v>4397.1759999999995</c:v>
              </c:pt>
              <c:pt idx="6">
                <c:v>4575.5529999999999</c:v>
              </c:pt>
              <c:pt idx="7">
                <c:v>4761.2169999999996</c:v>
              </c:pt>
              <c:pt idx="8">
                <c:v>4954.4669999999996</c:v>
              </c:pt>
              <c:pt idx="9">
                <c:v>5155.616</c:v>
              </c:pt>
              <c:pt idx="10">
                <c:v>5364.9879999999994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8FFA-4A39-AF50-D661CF1643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v>Volume (Units)</c:v>
          </c:tx>
          <c:spPr>
            <a:solidFill>
              <a:srgbClr val="C55A11"/>
            </a:solidFill>
            <a:ln>
              <a:noFill/>
            </a:ln>
          </c:spPr>
          <c:invertIfNegative val="1"/>
          <c:dLbls>
            <c:dLbl>
              <c:idx val="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FFA-4A39-AF50-D661CF16437D}"/>
                </c:ext>
              </c:extLst>
            </c:dLbl>
            <c:dLbl>
              <c:idx val="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8FFA-4A39-AF50-D661CF16437D}"/>
                </c:ext>
              </c:extLst>
            </c:dLbl>
            <c:dLbl>
              <c:idx val="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FFA-4A39-AF50-D661CF16437D}"/>
                </c:ext>
              </c:extLst>
            </c:dLbl>
            <c:dLbl>
              <c:idx val="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8FFA-4A39-AF50-D661CF16437D}"/>
                </c:ext>
              </c:extLst>
            </c:dLbl>
            <c:dLbl>
              <c:idx val="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8FFA-4A39-AF50-D661CF16437D}"/>
                </c:ext>
              </c:extLst>
            </c:dLbl>
            <c:dLbl>
              <c:idx val="5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FFA-4A39-AF50-D661CF16437D}"/>
                </c:ext>
              </c:extLst>
            </c:dLbl>
            <c:dLbl>
              <c:idx val="6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8FFA-4A39-AF50-D661CF16437D}"/>
                </c:ext>
              </c:extLst>
            </c:dLbl>
            <c:dLbl>
              <c:idx val="7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FFA-4A39-AF50-D661CF16437D}"/>
                </c:ext>
              </c:extLst>
            </c:dLbl>
            <c:dLbl>
              <c:idx val="8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8FFA-4A39-AF50-D661CF16437D}"/>
                </c:ext>
              </c:extLst>
            </c:dLbl>
            <c:dLbl>
              <c:idx val="9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8FFA-4A39-AF50-D661CF16437D}"/>
                </c:ext>
              </c:extLst>
            </c:dLbl>
            <c:dLbl>
              <c:idx val="1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8FFA-4A39-AF50-D661CF16437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643060.80499999993</c:v>
              </c:pt>
              <c:pt idx="1">
                <c:v>659671.19800000009</c:v>
              </c:pt>
              <c:pt idx="2">
                <c:v>676714.73199999996</c:v>
              </c:pt>
              <c:pt idx="3">
                <c:v>694202.81499999994</c:v>
              </c:pt>
              <c:pt idx="4">
                <c:v>712147.16</c:v>
              </c:pt>
              <c:pt idx="5">
                <c:v>730559.79</c:v>
              </c:pt>
              <c:pt idx="6">
                <c:v>749453.05</c:v>
              </c:pt>
              <c:pt idx="7">
                <c:v>768839.61199999996</c:v>
              </c:pt>
              <c:pt idx="8">
                <c:v>788732.48699999996</c:v>
              </c:pt>
              <c:pt idx="9">
                <c:v>809145.03100000008</c:v>
              </c:pt>
              <c:pt idx="10">
                <c:v>830090.95900000003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8FFA-4A39-AF50-D661CF1643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  <c:max val="633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  <c:catAx>
        <c:axId val="90210001"/>
        <c:scaling>
          <c:orientation val="minMax"/>
        </c:scaling>
        <c:delete val="1"/>
        <c:axPos val="b"/>
        <c:numFmt formatCode="General" sourceLinked="1"/>
        <c:majorTickMark val="cross"/>
        <c:minorTickMark val="cross"/>
        <c:tickLblPos val="nextTo"/>
        <c:crossAx val="90210002"/>
        <c:crosses val="autoZero"/>
        <c:auto val="1"/>
        <c:lblAlgn val="ctr"/>
        <c:lblOffset val="100"/>
        <c:noMultiLvlLbl val="1"/>
      </c:catAx>
      <c:valAx>
        <c:axId val="90210002"/>
        <c:scaling>
          <c:orientation val="minMax"/>
          <c:max val="1283297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Index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79C-45F7-8E46-D110E3AAF154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79C-45F7-8E46-D110E3AAF15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U.S.</c:v>
              </c:pt>
              <c:pt idx="1">
                <c:v>Canada</c:v>
              </c:pt>
            </c:strLit>
          </c:cat>
          <c:val>
            <c:numLit>
              <c:formatCode>General</c:formatCode>
              <c:ptCount val="2"/>
              <c:pt idx="0">
                <c:v>94.32274981527992</c:v>
              </c:pt>
              <c:pt idx="1">
                <c:v>112.20906702696266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379C-45F7-8E46-D110E3AAF15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Index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815-42C8-8CDD-DE763A6B9F14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815-42C8-8CDD-DE763A6B9F14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35.668232874455292</c:v>
              </c:pt>
              <c:pt idx="1">
                <c:v>64.331767125544744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B815-42C8-8CDD-DE763A6B9F1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2F4A-42B5-AE72-088DAD2E6340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2F4A-42B5-AE72-088DAD2E6340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2F4A-42B5-AE72-088DAD2E6340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F4A-42B5-AE72-088DAD2E6340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F4A-42B5-AE72-088DAD2E6340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F4A-42B5-AE72-088DAD2E634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3"/>
              <c:pt idx="0">
                <c:v>Corrugated Board Production Equipment</c:v>
              </c:pt>
              <c:pt idx="1">
                <c:v>Printing and Converting Equipment</c:v>
              </c:pt>
              <c:pt idx="2">
                <c:v>Finishing and Box Assembly Equipment</c:v>
              </c:pt>
            </c:strLit>
          </c:cat>
          <c:val>
            <c:numLit>
              <c:formatCode>General</c:formatCode>
              <c:ptCount val="3"/>
              <c:pt idx="0">
                <c:v>1268.223</c:v>
              </c:pt>
              <c:pt idx="1">
                <c:v>2711.7629999999999</c:v>
              </c:pt>
              <c:pt idx="2">
                <c:v>1385.002</c:v>
              </c:pt>
            </c:numLit>
          </c:val>
          <c:extLst>
            <c:ext xmlns:c16="http://schemas.microsoft.com/office/drawing/2014/chart" uri="{C3380CC4-5D6E-409C-BE32-E72D297353CC}">
              <c16:uniqueId val="{00000006-2F4A-42B5-AE72-088DAD2E63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lineChart>
        <c:grouping val="standard"/>
        <c:varyColors val="0"/>
        <c:ser>
          <c:idx val="0"/>
          <c:order val="0"/>
          <c:tx>
            <c:v>Optimistic Scenario</c:v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5.1958023948602342E-2</c:v>
              </c:pt>
              <c:pt idx="1">
                <c:v>5.3248023948602348E-2</c:v>
              </c:pt>
              <c:pt idx="2">
                <c:v>5.404802394860235E-2</c:v>
              </c:pt>
              <c:pt idx="3">
                <c:v>5.3558023948602346E-2</c:v>
              </c:pt>
              <c:pt idx="4">
                <c:v>5.1928023948602346E-2</c:v>
              </c:pt>
              <c:pt idx="5">
                <c:v>4.9848023948602348E-2</c:v>
              </c:pt>
              <c:pt idx="6">
                <c:v>4.8338023948602343E-2</c:v>
              </c:pt>
              <c:pt idx="7">
                <c:v>4.7088023948602349E-2</c:v>
              </c:pt>
              <c:pt idx="8">
                <c:v>4.6508023948602345E-2</c:v>
              </c:pt>
              <c:pt idx="9">
                <c:v>4.5888023948602349E-2</c:v>
              </c:pt>
              <c:pt idx="10">
                <c:v>4.5238023948602345E-2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0-6F54-4F2B-904A-7693EE8FF9D4}"/>
            </c:ext>
          </c:extLst>
        </c:ser>
        <c:ser>
          <c:idx val="1"/>
          <c:order val="1"/>
          <c:tx>
            <c:v>Likely Scenario</c:v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3.7924982283563821E-2</c:v>
              </c:pt>
              <c:pt idx="1">
                <c:v>3.9704781403704315E-2</c:v>
              </c:pt>
              <c:pt idx="2">
                <c:v>4.1257939437384969E-2</c:v>
              </c:pt>
              <c:pt idx="3">
                <c:v>4.2591122298913431E-2</c:v>
              </c:pt>
              <c:pt idx="4">
                <c:v>4.2817763385373263E-2</c:v>
              </c:pt>
              <c:pt idx="5">
                <c:v>4.2371147126761238E-2</c:v>
              </c:pt>
              <c:pt idx="6">
                <c:v>4.1037964265232776E-2</c:v>
              </c:pt>
              <c:pt idx="7">
                <c:v>3.9484806231552122E-2</c:v>
              </c:pt>
              <c:pt idx="8">
                <c:v>3.8438257685252282E-2</c:v>
              </c:pt>
              <c:pt idx="9">
                <c:v>3.721839536695374E-2</c:v>
              </c:pt>
              <c:pt idx="10">
                <c:v>3.5265282474814551E-2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1-6F54-4F2B-904A-7693EE8FF9D4}"/>
            </c:ext>
          </c:extLst>
        </c:ser>
        <c:ser>
          <c:idx val="2"/>
          <c:order val="2"/>
          <c:tx>
            <c:v>Conservative Scenario</c:v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2.8826382869998623E-2</c:v>
              </c:pt>
              <c:pt idx="1">
                <c:v>2.8296382869998624E-2</c:v>
              </c:pt>
              <c:pt idx="2">
                <c:v>2.8396382869998623E-2</c:v>
              </c:pt>
              <c:pt idx="3">
                <c:v>2.9836382869998623E-2</c:v>
              </c:pt>
              <c:pt idx="4">
                <c:v>3.1356382869998624E-2</c:v>
              </c:pt>
              <c:pt idx="5">
                <c:v>3.2536382869998624E-2</c:v>
              </c:pt>
              <c:pt idx="6">
                <c:v>3.2146382869998623E-2</c:v>
              </c:pt>
              <c:pt idx="7">
                <c:v>3.0566382869998621E-2</c:v>
              </c:pt>
              <c:pt idx="8">
                <c:v>2.9766382869998623E-2</c:v>
              </c:pt>
              <c:pt idx="9">
                <c:v>2.8866382869998625E-2</c:v>
              </c:pt>
              <c:pt idx="10">
                <c:v>2.7986382869998622E-2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2-6F54-4F2B-904A-7693EE8FF9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2140495176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2140495176"/>
        <c:scaling>
          <c:orientation val="minMax"/>
          <c:min val="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2118791784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U.S.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9F7-4503-A32E-F97D6FFA619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9F7-4503-A32E-F97D6FFA619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70.023055440301647</c:v>
              </c:pt>
              <c:pt idx="1">
                <c:v>68.88583338973578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E9F7-4503-A32E-F97D6FFA619D}"/>
            </c:ext>
          </c:extLst>
        </c:ser>
        <c:ser>
          <c:idx val="1"/>
          <c:order val="1"/>
          <c:tx>
            <c:v>Canada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9F7-4503-A32E-F97D6FFA619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9F7-4503-A32E-F97D6FFA619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29.97694455969836</c:v>
              </c:pt>
              <c:pt idx="1">
                <c:v>31.114166610264217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E9F7-4503-A32E-F97D6FFA61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U.S.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B73-4166-80B6-D87ADEFA28DA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B73-4166-80B6-D87ADEFA28D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68.935792358063935</c:v>
              </c:pt>
              <c:pt idx="1">
                <c:v>67.42535118438289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DB73-4166-80B6-D87ADEFA28DA}"/>
            </c:ext>
          </c:extLst>
        </c:ser>
        <c:ser>
          <c:idx val="1"/>
          <c:order val="1"/>
          <c:tx>
            <c:v>Canada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B73-4166-80B6-D87ADEFA28DA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B73-4166-80B6-D87ADEFA28D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31.064207641936054</c:v>
              </c:pt>
              <c:pt idx="1">
                <c:v>32.57464881561711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DB73-4166-80B6-D87ADEFA28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U.S.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786-46C1-B18A-3BDB4BB0E37C}"/>
                </c:ext>
              </c:extLst>
            </c:dLbl>
            <c:dLbl>
              <c:idx val="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786-46C1-B18A-3BDB4BB0E37C}"/>
                </c:ext>
              </c:extLst>
            </c:dLbl>
            <c:dLbl>
              <c:idx val="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786-46C1-B18A-3BDB4BB0E37C}"/>
                </c:ext>
              </c:extLst>
            </c:dLbl>
            <c:dLbl>
              <c:idx val="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786-46C1-B18A-3BDB4BB0E37C}"/>
                </c:ext>
              </c:extLst>
            </c:dLbl>
            <c:dLbl>
              <c:idx val="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786-46C1-B18A-3BDB4BB0E37C}"/>
                </c:ext>
              </c:extLst>
            </c:dLbl>
            <c:dLbl>
              <c:idx val="5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786-46C1-B18A-3BDB4BB0E37C}"/>
                </c:ext>
              </c:extLst>
            </c:dLbl>
            <c:dLbl>
              <c:idx val="6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786-46C1-B18A-3BDB4BB0E37C}"/>
                </c:ext>
              </c:extLst>
            </c:dLbl>
            <c:dLbl>
              <c:idx val="7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786-46C1-B18A-3BDB4BB0E37C}"/>
                </c:ext>
              </c:extLst>
            </c:dLbl>
            <c:dLbl>
              <c:idx val="8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786-46C1-B18A-3BDB4BB0E37C}"/>
                </c:ext>
              </c:extLst>
            </c:dLbl>
            <c:dLbl>
              <c:idx val="9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786-46C1-B18A-3BDB4BB0E37C}"/>
                </c:ext>
              </c:extLst>
            </c:dLbl>
            <c:dLbl>
              <c:idx val="1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786-46C1-B18A-3BDB4BB0E37C}"/>
                </c:ext>
              </c:extLst>
            </c:dLbl>
            <c:dLbl>
              <c:idx val="1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786-46C1-B18A-3BDB4BB0E37C}"/>
                </c:ext>
              </c:extLst>
            </c:dLbl>
            <c:dLbl>
              <c:idx val="1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786-46C1-B18A-3BDB4BB0E37C}"/>
                </c:ext>
              </c:extLst>
            </c:dLbl>
            <c:dLbl>
              <c:idx val="1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786-46C1-B18A-3BDB4BB0E37C}"/>
                </c:ext>
              </c:extLst>
            </c:dLbl>
            <c:dLbl>
              <c:idx val="1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786-46C1-B18A-3BDB4BB0E37C}"/>
                </c:ext>
              </c:extLst>
            </c:dLbl>
            <c:dLbl>
              <c:idx val="15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786-46C1-B18A-3BDB4BB0E37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415344.33600000001</c:v>
              </c:pt>
              <c:pt idx="1">
                <c:v>422109.62299999996</c:v>
              </c:pt>
              <c:pt idx="2">
                <c:v>428985.10600000003</c:v>
              </c:pt>
              <c:pt idx="3">
                <c:v>435972.57900000003</c:v>
              </c:pt>
              <c:pt idx="4">
                <c:v>443073.86700000003</c:v>
              </c:pt>
              <c:pt idx="5">
                <c:v>450290.82400000002</c:v>
              </c:pt>
              <c:pt idx="6">
                <c:v>461178.81299999997</c:v>
              </c:pt>
              <c:pt idx="7">
                <c:v>472330.07300000003</c:v>
              </c:pt>
              <c:pt idx="8">
                <c:v>483750.96900000004</c:v>
              </c:pt>
              <c:pt idx="9">
                <c:v>495448.02100000001</c:v>
              </c:pt>
              <c:pt idx="10">
                <c:v>507427.90700000001</c:v>
              </c:pt>
              <c:pt idx="11">
                <c:v>519697.46600000001</c:v>
              </c:pt>
              <c:pt idx="12">
                <c:v>532263.701</c:v>
              </c:pt>
              <c:pt idx="13">
                <c:v>545133.78700000001</c:v>
              </c:pt>
              <c:pt idx="14">
                <c:v>558315.06999999995</c:v>
              </c:pt>
              <c:pt idx="15">
                <c:v>571815.07499999995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D786-46C1-B18A-3BDB4BB0E37C}"/>
            </c:ext>
          </c:extLst>
        </c:ser>
        <c:ser>
          <c:idx val="1"/>
          <c:order val="1"/>
          <c:tx>
            <c:v>Canada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D786-46C1-B18A-3BDB4BB0E37C}"/>
                </c:ext>
              </c:extLst>
            </c:dLbl>
            <c:dLbl>
              <c:idx val="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D786-46C1-B18A-3BDB4BB0E37C}"/>
                </c:ext>
              </c:extLst>
            </c:dLbl>
            <c:dLbl>
              <c:idx val="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D786-46C1-B18A-3BDB4BB0E37C}"/>
                </c:ext>
              </c:extLst>
            </c:dLbl>
            <c:dLbl>
              <c:idx val="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D786-46C1-B18A-3BDB4BB0E37C}"/>
                </c:ext>
              </c:extLst>
            </c:dLbl>
            <c:dLbl>
              <c:idx val="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D786-46C1-B18A-3BDB4BB0E37C}"/>
                </c:ext>
              </c:extLst>
            </c:dLbl>
            <c:dLbl>
              <c:idx val="5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D786-46C1-B18A-3BDB4BB0E37C}"/>
                </c:ext>
              </c:extLst>
            </c:dLbl>
            <c:dLbl>
              <c:idx val="6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D786-46C1-B18A-3BDB4BB0E37C}"/>
                </c:ext>
              </c:extLst>
            </c:dLbl>
            <c:dLbl>
              <c:idx val="7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D786-46C1-B18A-3BDB4BB0E37C}"/>
                </c:ext>
              </c:extLst>
            </c:dLbl>
            <c:dLbl>
              <c:idx val="8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D786-46C1-B18A-3BDB4BB0E37C}"/>
                </c:ext>
              </c:extLst>
            </c:dLbl>
            <c:dLbl>
              <c:idx val="9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D786-46C1-B18A-3BDB4BB0E37C}"/>
                </c:ext>
              </c:extLst>
            </c:dLbl>
            <c:dLbl>
              <c:idx val="1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D786-46C1-B18A-3BDB4BB0E37C}"/>
                </c:ext>
              </c:extLst>
            </c:dLbl>
            <c:dLbl>
              <c:idx val="1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D786-46C1-B18A-3BDB4BB0E37C}"/>
                </c:ext>
              </c:extLst>
            </c:dLbl>
            <c:dLbl>
              <c:idx val="1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D786-46C1-B18A-3BDB4BB0E37C}"/>
                </c:ext>
              </c:extLst>
            </c:dLbl>
            <c:dLbl>
              <c:idx val="1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D786-46C1-B18A-3BDB4BB0E37C}"/>
                </c:ext>
              </c:extLst>
            </c:dLbl>
            <c:dLbl>
              <c:idx val="1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D786-46C1-B18A-3BDB4BB0E37C}"/>
                </c:ext>
              </c:extLst>
            </c:dLbl>
            <c:dLbl>
              <c:idx val="15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D786-46C1-B18A-3BDB4BB0E37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173059.97</c:v>
              </c:pt>
              <c:pt idx="1">
                <c:v>176833.76</c:v>
              </c:pt>
              <c:pt idx="2">
                <c:v>180689.84100000001</c:v>
              </c:pt>
              <c:pt idx="3">
                <c:v>184630.01</c:v>
              </c:pt>
              <c:pt idx="4">
                <c:v>188656.098</c:v>
              </c:pt>
              <c:pt idx="5">
                <c:v>192769.98099999997</c:v>
              </c:pt>
              <c:pt idx="6">
                <c:v>198492.38500000001</c:v>
              </c:pt>
              <c:pt idx="7">
                <c:v>204384.65899999999</c:v>
              </c:pt>
              <c:pt idx="8">
                <c:v>210451.84600000002</c:v>
              </c:pt>
              <c:pt idx="9">
                <c:v>216699.13899999997</c:v>
              </c:pt>
              <c:pt idx="10">
                <c:v>223131.88300000003</c:v>
              </c:pt>
              <c:pt idx="11">
                <c:v>229755.584</c:v>
              </c:pt>
              <c:pt idx="12">
                <c:v>236575.91099999999</c:v>
              </c:pt>
              <c:pt idx="13">
                <c:v>243598.7</c:v>
              </c:pt>
              <c:pt idx="14">
                <c:v>250829.96100000001</c:v>
              </c:pt>
              <c:pt idx="15">
                <c:v>258275.88399999999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1-D786-46C1-B18A-3BDB4BB0E37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U.S.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455-4C0D-959C-CD92E3ED4D03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455-4C0D-959C-CD92E3ED4D03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455-4C0D-959C-CD92E3ED4D03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455-4C0D-959C-CD92E3ED4D03}"/>
                </c:ext>
              </c:extLst>
            </c:dLbl>
            <c:dLbl>
              <c:idx val="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455-4C0D-959C-CD92E3ED4D03}"/>
                </c:ext>
              </c:extLst>
            </c:dLbl>
            <c:dLbl>
              <c:idx val="5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455-4C0D-959C-CD92E3ED4D03}"/>
                </c:ext>
              </c:extLst>
            </c:dLbl>
            <c:dLbl>
              <c:idx val="6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455-4C0D-959C-CD92E3ED4D03}"/>
                </c:ext>
              </c:extLst>
            </c:dLbl>
            <c:dLbl>
              <c:idx val="7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455-4C0D-959C-CD92E3ED4D03}"/>
                </c:ext>
              </c:extLst>
            </c:dLbl>
            <c:dLbl>
              <c:idx val="8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455-4C0D-959C-CD92E3ED4D03}"/>
                </c:ext>
              </c:extLst>
            </c:dLbl>
            <c:dLbl>
              <c:idx val="9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455-4C0D-959C-CD92E3ED4D03}"/>
                </c:ext>
              </c:extLst>
            </c:dLbl>
            <c:dLbl>
              <c:idx val="1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455-4C0D-959C-CD92E3ED4D03}"/>
                </c:ext>
              </c:extLst>
            </c:dLbl>
            <c:dLbl>
              <c:idx val="1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455-4C0D-959C-CD92E3ED4D03}"/>
                </c:ext>
              </c:extLst>
            </c:dLbl>
            <c:dLbl>
              <c:idx val="1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455-4C0D-959C-CD92E3ED4D03}"/>
                </c:ext>
              </c:extLst>
            </c:dLbl>
            <c:dLbl>
              <c:idx val="1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455-4C0D-959C-CD92E3ED4D03}"/>
                </c:ext>
              </c:extLst>
            </c:dLbl>
            <c:dLbl>
              <c:idx val="1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455-4C0D-959C-CD92E3ED4D03}"/>
                </c:ext>
              </c:extLst>
            </c:dLbl>
            <c:dLbl>
              <c:idx val="15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455-4C0D-959C-CD92E3ED4D0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2140.953</c:v>
              </c:pt>
              <c:pt idx="1">
                <c:v>2205.7339999999999</c:v>
              </c:pt>
              <c:pt idx="2">
                <c:v>2272.4759999999997</c:v>
              </c:pt>
              <c:pt idx="3">
                <c:v>2341.2370000000001</c:v>
              </c:pt>
              <c:pt idx="4">
                <c:v>2412.0789999999997</c:v>
              </c:pt>
              <c:pt idx="5">
                <c:v>2485.0650000000001</c:v>
              </c:pt>
              <c:pt idx="6">
                <c:v>2580.1390000000001</c:v>
              </c:pt>
              <c:pt idx="7">
                <c:v>2678.8510000000001</c:v>
              </c:pt>
              <c:pt idx="8">
                <c:v>2781.3399999999997</c:v>
              </c:pt>
              <c:pt idx="9">
                <c:v>2887.7489999999998</c:v>
              </c:pt>
              <c:pt idx="10">
                <c:v>2998.23</c:v>
              </c:pt>
              <c:pt idx="11">
                <c:v>3112.9369999999999</c:v>
              </c:pt>
              <c:pt idx="12">
                <c:v>3232.0329999999999</c:v>
              </c:pt>
              <c:pt idx="13">
                <c:v>3355.6849999999995</c:v>
              </c:pt>
              <c:pt idx="14">
                <c:v>3484.0679999999998</c:v>
              </c:pt>
              <c:pt idx="15">
                <c:v>3617.3620000000001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5455-4C0D-959C-CD92E3ED4D03}"/>
            </c:ext>
          </c:extLst>
        </c:ser>
        <c:ser>
          <c:idx val="1"/>
          <c:order val="1"/>
          <c:tx>
            <c:v>Canada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455-4C0D-959C-CD92E3ED4D03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5455-4C0D-959C-CD92E3ED4D03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455-4C0D-959C-CD92E3ED4D03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5455-4C0D-959C-CD92E3ED4D03}"/>
                </c:ext>
              </c:extLst>
            </c:dLbl>
            <c:dLbl>
              <c:idx val="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5455-4C0D-959C-CD92E3ED4D03}"/>
                </c:ext>
              </c:extLst>
            </c:dLbl>
            <c:dLbl>
              <c:idx val="5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5455-4C0D-959C-CD92E3ED4D03}"/>
                </c:ext>
              </c:extLst>
            </c:dLbl>
            <c:dLbl>
              <c:idx val="6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5455-4C0D-959C-CD92E3ED4D03}"/>
                </c:ext>
              </c:extLst>
            </c:dLbl>
            <c:dLbl>
              <c:idx val="7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5455-4C0D-959C-CD92E3ED4D03}"/>
                </c:ext>
              </c:extLst>
            </c:dLbl>
            <c:dLbl>
              <c:idx val="8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5455-4C0D-959C-CD92E3ED4D03}"/>
                </c:ext>
              </c:extLst>
            </c:dLbl>
            <c:dLbl>
              <c:idx val="9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5455-4C0D-959C-CD92E3ED4D03}"/>
                </c:ext>
              </c:extLst>
            </c:dLbl>
            <c:dLbl>
              <c:idx val="1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5455-4C0D-959C-CD92E3ED4D03}"/>
                </c:ext>
              </c:extLst>
            </c:dLbl>
            <c:dLbl>
              <c:idx val="1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5455-4C0D-959C-CD92E3ED4D03}"/>
                </c:ext>
              </c:extLst>
            </c:dLbl>
            <c:dLbl>
              <c:idx val="1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5455-4C0D-959C-CD92E3ED4D03}"/>
                </c:ext>
              </c:extLst>
            </c:dLbl>
            <c:dLbl>
              <c:idx val="1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5455-4C0D-959C-CD92E3ED4D03}"/>
                </c:ext>
              </c:extLst>
            </c:dLbl>
            <c:dLbl>
              <c:idx val="1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455-4C0D-959C-CD92E3ED4D03}"/>
                </c:ext>
              </c:extLst>
            </c:dLbl>
            <c:dLbl>
              <c:idx val="15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455-4C0D-959C-CD92E3ED4D0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931.505</c:v>
              </c:pt>
              <c:pt idx="1">
                <c:v>966.44900000000007</c:v>
              </c:pt>
              <c:pt idx="2">
                <c:v>1002.7030000000001</c:v>
              </c:pt>
              <c:pt idx="3">
                <c:v>1040.318</c:v>
              </c:pt>
              <c:pt idx="4">
                <c:v>1079.3429999999998</c:v>
              </c:pt>
              <c:pt idx="5">
                <c:v>1119.8330000000001</c:v>
              </c:pt>
              <c:pt idx="6">
                <c:v>1170.8</c:v>
              </c:pt>
              <c:pt idx="7">
                <c:v>1224.087</c:v>
              </c:pt>
              <c:pt idx="8">
                <c:v>1279.799</c:v>
              </c:pt>
              <c:pt idx="9">
                <c:v>1338.047</c:v>
              </c:pt>
              <c:pt idx="10">
                <c:v>1398.9460000000001</c:v>
              </c:pt>
              <c:pt idx="11">
                <c:v>1462.616</c:v>
              </c:pt>
              <c:pt idx="12">
                <c:v>1529.1840000000002</c:v>
              </c:pt>
              <c:pt idx="13">
                <c:v>1598.7819999999999</c:v>
              </c:pt>
              <c:pt idx="14">
                <c:v>1671.5479999999998</c:v>
              </c:pt>
              <c:pt idx="15">
                <c:v>1747.626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1-5455-4C0D-959C-CD92E3ED4D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Corrugated Board Production Equipment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D2A-473F-AB20-AA455C1C0D2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2A-473F-AB20-AA455C1C0D2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24.755811598133697</c:v>
              </c:pt>
              <c:pt idx="1">
                <c:v>23.09926404932655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DD2A-473F-AB20-AA455C1C0D21}"/>
            </c:ext>
          </c:extLst>
        </c:ser>
        <c:ser>
          <c:idx val="1"/>
          <c:order val="1"/>
          <c:tx>
            <c:v>Printing and Converting Equipment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2A-473F-AB20-AA455C1C0D2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D2A-473F-AB20-AA455C1C0D2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50.128803302308391</c:v>
              </c:pt>
              <c:pt idx="1">
                <c:v>50.746897877514051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DD2A-473F-AB20-AA455C1C0D21}"/>
            </c:ext>
          </c:extLst>
        </c:ser>
        <c:ser>
          <c:idx val="2"/>
          <c:order val="2"/>
          <c:tx>
            <c:v>Finishing and Box Assembly Equipment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D2A-473F-AB20-AA455C1C0D2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D2A-473F-AB20-AA455C1C0D2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25.115385099557912</c:v>
              </c:pt>
              <c:pt idx="1">
                <c:v>26.153838073159392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DD2A-473F-AB20-AA455C1C0D2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Corrugated Board Production Equipment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72.446603517638152</c:v>
              </c:pt>
            </c:numLit>
          </c:xVal>
          <c:yVal>
            <c:numLit>
              <c:formatCode>General</c:formatCode>
              <c:ptCount val="1"/>
              <c:pt idx="0">
                <c:v>79.003261673423225</c:v>
              </c:pt>
            </c:numLit>
          </c:yVal>
          <c:bubbleSize>
            <c:numLit>
              <c:formatCode>General</c:formatCode>
              <c:ptCount val="1"/>
              <c:pt idx="0">
                <c:v>1268.223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D37E-4EE6-8CA6-BEB0A7386EA4}"/>
            </c:ext>
          </c:extLst>
        </c:ser>
        <c:ser>
          <c:idx val="1"/>
          <c:order val="1"/>
          <c:tx>
            <c:v>Printing and Converting Equipment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113.06772069006018</c:v>
              </c:pt>
            </c:numLit>
          </c:xVal>
          <c:yVal>
            <c:numLit>
              <c:formatCode>General</c:formatCode>
              <c:ptCount val="1"/>
              <c:pt idx="0">
                <c:v>144.12466039261028</c:v>
              </c:pt>
            </c:numLit>
          </c:yVal>
          <c:bubbleSize>
            <c:numLit>
              <c:formatCode>General</c:formatCode>
              <c:ptCount val="1"/>
              <c:pt idx="0">
                <c:v>2711.7629999999999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D37E-4EE6-8CA6-BEB0A7386EA4}"/>
            </c:ext>
          </c:extLst>
        </c:ser>
        <c:ser>
          <c:idx val="2"/>
          <c:order val="2"/>
          <c:tx>
            <c:v>Finishing and Box Assembly Equipment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101.91123050249971</c:v>
              </c:pt>
            </c:numLit>
          </c:xVal>
          <c:yVal>
            <c:numLit>
              <c:formatCode>General</c:formatCode>
              <c:ptCount val="1"/>
              <c:pt idx="0">
                <c:v>76.872077933966509</c:v>
              </c:pt>
            </c:numLit>
          </c:yVal>
          <c:bubbleSize>
            <c:numLit>
              <c:formatCode>General</c:formatCode>
              <c:ptCount val="1"/>
              <c:pt idx="0">
                <c:v>1385.002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D37E-4EE6-8CA6-BEB0A7386E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"/>
          <c:min val="6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"/>
          <c:min val="5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949.32900000000006</c:v>
              </c:pt>
              <c:pt idx="2">
                <c:v>1006.5</c:v>
              </c:pt>
              <c:pt idx="3">
                <c:v>1066.8309999999999</c:v>
              </c:pt>
              <c:pt idx="4">
                <c:v>1130.4639999999999</c:v>
              </c:pt>
              <c:pt idx="5">
                <c:v>1197.547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282-4B7C-9A66-313647191EF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282-4B7C-9A66-313647191EF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282-4B7C-9A66-313647191EF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282-4B7C-9A66-313647191EF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282-4B7C-9A66-313647191EF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282-4B7C-9A66-313647191EF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282-4B7C-9A66-313647191EF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282-4B7C-9A66-313647191EF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282-4B7C-9A66-313647191EF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282-4B7C-9A66-313647191EF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282-4B7C-9A66-313647191EF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282-4B7C-9A66-313647191EF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282-4B7C-9A66-313647191EF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282-4B7C-9A66-313647191EF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282-4B7C-9A66-313647191EF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949.32900000000006</c:v>
              </c:pt>
              <c:pt idx="1">
                <c:v>57.170999999999935</c:v>
              </c:pt>
              <c:pt idx="2">
                <c:v>60.330999999999904</c:v>
              </c:pt>
              <c:pt idx="3">
                <c:v>63.633000000000038</c:v>
              </c:pt>
              <c:pt idx="4">
                <c:v>67.083000000000084</c:v>
              </c:pt>
              <c:pt idx="5">
                <c:v>70.675999999999931</c:v>
              </c:pt>
              <c:pt idx="6">
                <c:v>1268.223</c:v>
              </c:pt>
            </c:numLit>
          </c:val>
          <c:extLst>
            <c:ext xmlns:c16="http://schemas.microsoft.com/office/drawing/2014/chart" uri="{C3380CC4-5D6E-409C-BE32-E72D297353CC}">
              <c16:uniqueId val="{0000000F-A282-4B7C-9A66-313647191E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1731.8490000000002</c:v>
              </c:pt>
              <c:pt idx="2">
                <c:v>1894.856</c:v>
              </c:pt>
              <c:pt idx="3">
                <c:v>2072.913</c:v>
              </c:pt>
              <c:pt idx="4">
                <c:v>2267.3969999999999</c:v>
              </c:pt>
              <c:pt idx="5">
                <c:v>2479.8009999999999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5E8-45C2-9D9D-8642A16EA17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5E8-45C2-9D9D-8642A16EA17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5E8-45C2-9D9D-8642A16EA17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5E8-45C2-9D9D-8642A16EA176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5E8-45C2-9D9D-8642A16EA176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5E8-45C2-9D9D-8642A16EA176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5E8-45C2-9D9D-8642A16EA176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95E8-45C2-9D9D-8642A16EA17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5E8-45C2-9D9D-8642A16EA17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5E8-45C2-9D9D-8642A16EA17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5E8-45C2-9D9D-8642A16EA17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5E8-45C2-9D9D-8642A16EA176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5E8-45C2-9D9D-8642A16EA176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5E8-45C2-9D9D-8642A16EA176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5E8-45C2-9D9D-8642A16EA17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1731.8490000000002</c:v>
              </c:pt>
              <c:pt idx="1">
                <c:v>163.00699999999983</c:v>
              </c:pt>
              <c:pt idx="2">
                <c:v>178.05700000000002</c:v>
              </c:pt>
              <c:pt idx="3">
                <c:v>194.48399999999992</c:v>
              </c:pt>
              <c:pt idx="4">
                <c:v>212.404</c:v>
              </c:pt>
              <c:pt idx="5">
                <c:v>231.96199999999999</c:v>
              </c:pt>
              <c:pt idx="6">
                <c:v>2711.7629999999999</c:v>
              </c:pt>
            </c:numLit>
          </c:val>
          <c:extLst>
            <c:ext xmlns:c16="http://schemas.microsoft.com/office/drawing/2014/chart" uri="{C3380CC4-5D6E-409C-BE32-E72D297353CC}">
              <c16:uniqueId val="{0000000F-95E8-45C2-9D9D-8642A16EA1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923.72</c:v>
              </c:pt>
              <c:pt idx="2">
                <c:v>1001.582</c:v>
              </c:pt>
              <c:pt idx="3">
                <c:v>1086.0519999999999</c:v>
              </c:pt>
              <c:pt idx="4">
                <c:v>1177.692</c:v>
              </c:pt>
              <c:pt idx="5">
                <c:v>1277.1189999999999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2F9-4CF0-97EA-A7F335C9FF2B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2F9-4CF0-97EA-A7F335C9FF2B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2F9-4CF0-97EA-A7F335C9FF2B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2F9-4CF0-97EA-A7F335C9FF2B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2F9-4CF0-97EA-A7F335C9FF2B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2F9-4CF0-97EA-A7F335C9FF2B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2F9-4CF0-97EA-A7F335C9FF2B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2F9-4CF0-97EA-A7F335C9FF2B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2F9-4CF0-97EA-A7F335C9FF2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2F9-4CF0-97EA-A7F335C9FF2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2F9-4CF0-97EA-A7F335C9FF2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2F9-4CF0-97EA-A7F335C9FF2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2F9-4CF0-97EA-A7F335C9FF2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2F9-4CF0-97EA-A7F335C9FF2B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2F9-4CF0-97EA-A7F335C9FF2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923.72</c:v>
              </c:pt>
              <c:pt idx="1">
                <c:v>77.861999999999966</c:v>
              </c:pt>
              <c:pt idx="2">
                <c:v>84.469999999999914</c:v>
              </c:pt>
              <c:pt idx="3">
                <c:v>91.6400000000001</c:v>
              </c:pt>
              <c:pt idx="4">
                <c:v>99.426999999999907</c:v>
              </c:pt>
              <c:pt idx="5">
                <c:v>107.88300000000004</c:v>
              </c:pt>
              <c:pt idx="6">
                <c:v>1385.002</c:v>
              </c:pt>
            </c:numLit>
          </c:val>
          <c:extLst>
            <c:ext xmlns:c16="http://schemas.microsoft.com/office/drawing/2014/chart" uri="{C3380CC4-5D6E-409C-BE32-E72D297353CC}">
              <c16:uniqueId val="{0000000F-D2F9-4CF0-97EA-A7F335C9FF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Printing and Converting Equipment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C75-4262-BA73-52BFB621EFA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C75-4262-BA73-52BFB621EFA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C75-4262-BA73-52BFB621EFA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46.755268908476538</c:v>
              </c:pt>
              <c:pt idx="1">
                <c:v>48.041553464203432</c:v>
              </c:pt>
              <c:pt idx="2">
                <c:v>50.545555740292436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1C75-4262-BA73-52BFB621EFAF}"/>
            </c:ext>
          </c:extLst>
        </c:ser>
        <c:ser>
          <c:idx val="1"/>
          <c:order val="1"/>
          <c:tx>
            <c:v>Finishing and Box Assembly Equipment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C75-4262-BA73-52BFB621EFA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C75-4262-BA73-52BFB621EFA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C75-4262-BA73-52BFB621EFA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25.52874603981568</c:v>
              </c:pt>
              <c:pt idx="1">
                <c:v>25.624025977988836</c:v>
              </c:pt>
              <c:pt idx="2">
                <c:v>25.815565663893381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1C75-4262-BA73-52BFB621EFAF}"/>
            </c:ext>
          </c:extLst>
        </c:ser>
        <c:ser>
          <c:idx val="2"/>
          <c:order val="2"/>
          <c:tx>
            <c:v>Corrugated Board Production Equipment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C75-4262-BA73-52BFB621EFA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C75-4262-BA73-52BFB621EFA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C75-4262-BA73-52BFB621EFA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27.715985051707786</c:v>
              </c:pt>
              <c:pt idx="1">
                <c:v>26.334420557807743</c:v>
              </c:pt>
              <c:pt idx="2">
                <c:v>23.638878595814194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1C75-4262-BA73-52BFB621EF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Manual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F44-43F3-BCE2-0236AD1803A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F44-43F3-BCE2-0236AD1803A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6.3428902980385962</c:v>
              </c:pt>
              <c:pt idx="1">
                <c:v>6.8741530430186426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3F44-43F3-BCE2-0236AD1803A2}"/>
            </c:ext>
          </c:extLst>
        </c:ser>
        <c:ser>
          <c:idx val="1"/>
          <c:order val="1"/>
          <c:tx>
            <c:v>Semi-automatic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F44-43F3-BCE2-0236AD1803A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F44-43F3-BCE2-0236AD1803A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49.789028087245214</c:v>
              </c:pt>
              <c:pt idx="1">
                <c:v>48.097563915361526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3F44-43F3-BCE2-0236AD1803A2}"/>
            </c:ext>
          </c:extLst>
        </c:ser>
        <c:ser>
          <c:idx val="2"/>
          <c:order val="2"/>
          <c:tx>
            <c:v>Fully automatic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F44-43F3-BCE2-0236AD1803A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F44-43F3-BCE2-0236AD1803A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43.868081614716189</c:v>
              </c:pt>
              <c:pt idx="1">
                <c:v>45.028283041619829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3F44-43F3-BCE2-0236AD1803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Manual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62.609252596773466</c:v>
              </c:pt>
            </c:numLit>
          </c:xVal>
          <c:yVal>
            <c:numLit>
              <c:formatCode>General</c:formatCode>
              <c:ptCount val="1"/>
              <c:pt idx="0">
                <c:v>23.282572766275219</c:v>
              </c:pt>
            </c:numLit>
          </c:yVal>
          <c:bubbleSize>
            <c:numLit>
              <c:formatCode>General</c:formatCode>
              <c:ptCount val="1"/>
              <c:pt idx="0">
                <c:v>359.51299999999998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468B-43B5-9473-06E0249FA4F0}"/>
            </c:ext>
          </c:extLst>
        </c:ser>
        <c:ser>
          <c:idx val="1"/>
          <c:order val="1"/>
          <c:tx>
            <c:v>Semi-automatic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110.58997439632306</c:v>
              </c:pt>
            </c:numLit>
          </c:xVal>
          <c:yVal>
            <c:numLit>
              <c:formatCode>General</c:formatCode>
              <c:ptCount val="1"/>
              <c:pt idx="0">
                <c:v>140.055613224008</c:v>
              </c:pt>
            </c:numLit>
          </c:yVal>
          <c:bubbleSize>
            <c:numLit>
              <c:formatCode>General</c:formatCode>
              <c:ptCount val="1"/>
              <c:pt idx="0">
                <c:v>2609.989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468B-43B5-9473-06E0249FA4F0}"/>
            </c:ext>
          </c:extLst>
        </c:ser>
        <c:ser>
          <c:idx val="2"/>
          <c:order val="2"/>
          <c:tx>
            <c:v>Fully automatic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94.865357989647293</c:v>
              </c:pt>
            </c:numLit>
          </c:xVal>
          <c:yVal>
            <c:numLit>
              <c:formatCode>General</c:formatCode>
              <c:ptCount val="1"/>
              <c:pt idx="0">
                <c:v>136.66181400971678</c:v>
              </c:pt>
            </c:numLit>
          </c:yVal>
          <c:bubbleSize>
            <c:numLit>
              <c:formatCode>General</c:formatCode>
              <c:ptCount val="1"/>
              <c:pt idx="0">
                <c:v>2395.4859999999999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468B-43B5-9473-06E0249FA4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"/>
          <c:min val="5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279.77100000000002</c:v>
              </c:pt>
              <c:pt idx="2">
                <c:v>294.12599999999998</c:v>
              </c:pt>
              <c:pt idx="3">
                <c:v>309.23899999999998</c:v>
              </c:pt>
              <c:pt idx="4">
                <c:v>325.14800000000002</c:v>
              </c:pt>
              <c:pt idx="5">
                <c:v>341.89299999999997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FB2F-4EF9-A0A5-4B2EBFF4BE9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FB2F-4EF9-A0A5-4B2EBFF4BE9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FB2F-4EF9-A0A5-4B2EBFF4BE9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FB2F-4EF9-A0A5-4B2EBFF4BE9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FB2F-4EF9-A0A5-4B2EBFF4BE9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FB2F-4EF9-A0A5-4B2EBFF4BE9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FB2F-4EF9-A0A5-4B2EBFF4BE9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FB2F-4EF9-A0A5-4B2EBFF4BE9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B2F-4EF9-A0A5-4B2EBFF4BE9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B2F-4EF9-A0A5-4B2EBFF4BE9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B2F-4EF9-A0A5-4B2EBFF4BE9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B2F-4EF9-A0A5-4B2EBFF4BE9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B2F-4EF9-A0A5-4B2EBFF4BE9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B2F-4EF9-A0A5-4B2EBFF4BE9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B2F-4EF9-A0A5-4B2EBFF4BE9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279.77100000000002</c:v>
              </c:pt>
              <c:pt idx="1">
                <c:v>14.354999999999961</c:v>
              </c:pt>
              <c:pt idx="2">
                <c:v>15.113</c:v>
              </c:pt>
              <c:pt idx="3">
                <c:v>15.909000000000049</c:v>
              </c:pt>
              <c:pt idx="4">
                <c:v>16.744999999999948</c:v>
              </c:pt>
              <c:pt idx="5">
                <c:v>17.620000000000005</c:v>
              </c:pt>
              <c:pt idx="6">
                <c:v>359.51299999999998</c:v>
              </c:pt>
            </c:numLit>
          </c:val>
          <c:extLst>
            <c:ext xmlns:c16="http://schemas.microsoft.com/office/drawing/2014/chart" uri="{C3380CC4-5D6E-409C-BE32-E72D297353CC}">
              <c16:uniqueId val="{0000000F-FB2F-4EF9-A0A5-4B2EBFF4BE9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1682.954</c:v>
              </c:pt>
              <c:pt idx="2">
                <c:v>1838.336</c:v>
              </c:pt>
              <c:pt idx="3">
                <c:v>2007.4749999999999</c:v>
              </c:pt>
              <c:pt idx="4">
                <c:v>2191.5720000000001</c:v>
              </c:pt>
              <c:pt idx="5">
                <c:v>2391.9349999999999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3A4D-4F8E-AEBC-A21EBCB5EBD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3A4D-4F8E-AEBC-A21EBCB5EBD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3A4D-4F8E-AEBC-A21EBCB5EBD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3A4D-4F8E-AEBC-A21EBCB5EBD6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3A4D-4F8E-AEBC-A21EBCB5EBD6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3A4D-4F8E-AEBC-A21EBCB5EBD6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3A4D-4F8E-AEBC-A21EBCB5EBD6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3A4D-4F8E-AEBC-A21EBCB5EBD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A4D-4F8E-AEBC-A21EBCB5EBD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A4D-4F8E-AEBC-A21EBCB5EBD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A4D-4F8E-AEBC-A21EBCB5EBD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A4D-4F8E-AEBC-A21EBCB5EBD6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A4D-4F8E-AEBC-A21EBCB5EBD6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A4D-4F8E-AEBC-A21EBCB5EBD6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A4D-4F8E-AEBC-A21EBCB5EBD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1682.954</c:v>
              </c:pt>
              <c:pt idx="1">
                <c:v>155.38200000000006</c:v>
              </c:pt>
              <c:pt idx="2">
                <c:v>169.1389999999999</c:v>
              </c:pt>
              <c:pt idx="3">
                <c:v>184.09700000000021</c:v>
              </c:pt>
              <c:pt idx="4">
                <c:v>200.36299999999983</c:v>
              </c:pt>
              <c:pt idx="5">
                <c:v>218.05400000000009</c:v>
              </c:pt>
              <c:pt idx="6">
                <c:v>2609.989</c:v>
              </c:pt>
            </c:numLit>
          </c:val>
          <c:extLst>
            <c:ext xmlns:c16="http://schemas.microsoft.com/office/drawing/2014/chart" uri="{C3380CC4-5D6E-409C-BE32-E72D297353CC}">
              <c16:uniqueId val="{0000000F-3A4D-4F8E-AEBC-A21EBCB5EB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1642.173</c:v>
              </c:pt>
              <c:pt idx="2">
                <c:v>1770.4760000000001</c:v>
              </c:pt>
              <c:pt idx="3">
                <c:v>1909.0820000000001</c:v>
              </c:pt>
              <c:pt idx="4">
                <c:v>2058.8330000000001</c:v>
              </c:pt>
              <c:pt idx="5">
                <c:v>2220.6390000000001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FAC6-41EC-A833-21C360EEF55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FAC6-41EC-A833-21C360EEF55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FAC6-41EC-A833-21C360EEF55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FAC6-41EC-A833-21C360EEF55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FAC6-41EC-A833-21C360EEF55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FAC6-41EC-A833-21C360EEF55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FAC6-41EC-A833-21C360EEF55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FAC6-41EC-A833-21C360EEF55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AC6-41EC-A833-21C360EEF55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AC6-41EC-A833-21C360EEF55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AC6-41EC-A833-21C360EEF55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AC6-41EC-A833-21C360EEF55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AC6-41EC-A833-21C360EEF55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AC6-41EC-A833-21C360EEF55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AC6-41EC-A833-21C360EEF55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1642.173</c:v>
              </c:pt>
              <c:pt idx="1">
                <c:v>128.30300000000011</c:v>
              </c:pt>
              <c:pt idx="2">
                <c:v>138.60599999999999</c:v>
              </c:pt>
              <c:pt idx="3">
                <c:v>149.75099999999998</c:v>
              </c:pt>
              <c:pt idx="4">
                <c:v>161.80600000000004</c:v>
              </c:pt>
              <c:pt idx="5">
                <c:v>174.84699999999975</c:v>
              </c:pt>
              <c:pt idx="6">
                <c:v>2395.4859999999999</c:v>
              </c:pt>
            </c:numLit>
          </c:val>
          <c:extLst>
            <c:ext xmlns:c16="http://schemas.microsoft.com/office/drawing/2014/chart" uri="{C3380CC4-5D6E-409C-BE32-E72D297353CC}">
              <c16:uniqueId val="{0000000F-FAC6-41EC-A833-21C360EEF5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Semi-automatic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300-4F35-87C4-C911B4E5F624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300-4F35-87C4-C911B4E5F624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300-4F35-87C4-C911B4E5F62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45.587148790968016</c:v>
              </c:pt>
              <c:pt idx="1">
                <c:v>46.685204408002662</c:v>
              </c:pt>
              <c:pt idx="2">
                <c:v>48.648552429194616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F300-4F35-87C4-C911B4E5F624}"/>
            </c:ext>
          </c:extLst>
        </c:ser>
        <c:ser>
          <c:idx val="1"/>
          <c:order val="1"/>
          <c:tx>
            <c:v>Fully automatic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300-4F35-87C4-C911B4E5F624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300-4F35-87C4-C911B4E5F624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300-4F35-87C4-C911B4E5F62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46.058204863988379</c:v>
              </c:pt>
              <c:pt idx="1">
                <c:v>45.553938003238926</c:v>
              </c:pt>
              <c:pt idx="2">
                <c:v>44.650351501252189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F300-4F35-87C4-C911B4E5F624}"/>
            </c:ext>
          </c:extLst>
        </c:ser>
        <c:ser>
          <c:idx val="2"/>
          <c:order val="2"/>
          <c:tx>
            <c:v>Manual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300-4F35-87C4-C911B4E5F624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300-4F35-87C4-C911B4E5F624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300-4F35-87C4-C911B4E5F624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8.3546463450436104</c:v>
              </c:pt>
              <c:pt idx="1">
                <c:v>7.7608575887584061</c:v>
              </c:pt>
              <c:pt idx="2">
                <c:v>6.7010960695531834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F300-4F35-87C4-C911B4E5F6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Slotted Shipping Boxes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E5-4142-8D92-55AA1091BCD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E5-4142-8D92-55AA1091BCD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20.7472880353119</c:v>
              </c:pt>
              <c:pt idx="1">
                <c:v>19.411438501316706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7BE5-4142-8D92-55AA1091BCD6}"/>
            </c:ext>
          </c:extLst>
        </c:ser>
        <c:ser>
          <c:idx val="1"/>
          <c:order val="1"/>
          <c:tx>
            <c:v>Die-cut Boxes and Mailers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E5-4142-8D92-55AA1091BCD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E5-4142-8D92-55AA1091BCD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16.993281171143021</c:v>
              </c:pt>
              <c:pt idx="1">
                <c:v>12.632907627160344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7BE5-4142-8D92-55AA1091BCD6}"/>
            </c:ext>
          </c:extLst>
        </c:ser>
        <c:ser>
          <c:idx val="2"/>
          <c:order val="2"/>
          <c:tx>
            <c:v>Trays and Retail-ready Boxes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BE5-4142-8D92-55AA1091BCD6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BE5-4142-8D92-55AA1091BCD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5.4963705049020772</c:v>
              </c:pt>
              <c:pt idx="1">
                <c:v>5.9738837307408001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7BE5-4142-8D92-55AA1091BCD6}"/>
            </c:ext>
          </c:extLst>
        </c:ser>
        <c:ser>
          <c:idx val="3"/>
          <c:order val="3"/>
          <c:tx>
            <c:v>Folders and Telescopic Boxes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BE5-4142-8D92-55AA1091BCD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BE5-4142-8D92-55AA1091BCD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26.556482908814584</c:v>
              </c:pt>
              <c:pt idx="1">
                <c:v>26.337176096835208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7BE5-4142-8D92-55AA1091BCD6}"/>
            </c:ext>
          </c:extLst>
        </c:ser>
        <c:ser>
          <c:idx val="4"/>
          <c:order val="4"/>
          <c:tx>
            <c:v>Protective and Internal Packaging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BE5-4142-8D92-55AA1091BCD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BE5-4142-8D92-55AA1091BCD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8.73487805743334</c:v>
              </c:pt>
              <c:pt idx="1">
                <c:v>10.648671601017536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7BE5-4142-8D92-55AA1091BCD6}"/>
            </c:ext>
          </c:extLst>
        </c:ser>
        <c:ser>
          <c:idx val="5"/>
          <c:order val="5"/>
          <c:tx>
            <c:v>Wraparound Cases and Sleeves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BE5-4142-8D92-55AA1091BCD6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BE5-4142-8D92-55AA1091BCD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21.471699322395065</c:v>
              </c:pt>
              <c:pt idx="1">
                <c:v>24.995922442929405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1-7BE5-4142-8D92-55AA1091BC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Slotted Shipping Boxes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86.65952219719891</c:v>
              </c:pt>
            </c:numLit>
          </c:xVal>
          <c:yVal>
            <c:numLit>
              <c:formatCode>General</c:formatCode>
              <c:ptCount val="1"/>
              <c:pt idx="0">
                <c:v>125.4526480360887</c:v>
              </c:pt>
            </c:numLit>
          </c:yVal>
          <c:bubbleSize>
            <c:numLit>
              <c:formatCode>General</c:formatCode>
              <c:ptCount val="1"/>
              <c:pt idx="0">
                <c:v>1064.7670000000001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8C0B-4862-BC19-CF1AC40B1E9A}"/>
            </c:ext>
          </c:extLst>
        </c:ser>
        <c:ser>
          <c:idx val="1"/>
          <c:order val="1"/>
          <c:tx>
            <c:v>Die-cut Boxes and Mailers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115.36634686157386</c:v>
              </c:pt>
            </c:numLit>
          </c:xVal>
          <c:yVal>
            <c:numLit>
              <c:formatCode>General</c:formatCode>
              <c:ptCount val="1"/>
              <c:pt idx="0">
                <c:v>79.431595568029948</c:v>
              </c:pt>
            </c:numLit>
          </c:yVal>
          <c:bubbleSize>
            <c:numLit>
              <c:formatCode>General</c:formatCode>
              <c:ptCount val="1"/>
              <c:pt idx="0">
                <c:v>753.95699999999999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8C0B-4862-BC19-CF1AC40B1E9A}"/>
            </c:ext>
          </c:extLst>
        </c:ser>
        <c:ser>
          <c:idx val="2"/>
          <c:order val="2"/>
          <c:tx>
            <c:v>Trays and Retail-ready Boxes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172.62871066928332</c:v>
              </c:pt>
            </c:numLit>
          </c:xVal>
          <c:yVal>
            <c:numLit>
              <c:formatCode>General</c:formatCode>
              <c:ptCount val="1"/>
              <c:pt idx="0">
                <c:v>26.406239510798923</c:v>
              </c:pt>
            </c:numLit>
          </c:yVal>
          <c:bubbleSize>
            <c:numLit>
              <c:formatCode>General</c:formatCode>
              <c:ptCount val="1"/>
              <c:pt idx="0">
                <c:v>312.15300000000002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8C0B-4862-BC19-CF1AC40B1E9A}"/>
            </c:ext>
          </c:extLst>
        </c:ser>
        <c:ser>
          <c:idx val="3"/>
          <c:order val="3"/>
          <c:tx>
            <c:v>Folders and Telescopic Boxes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79.238491628185599</c:v>
              </c:pt>
            </c:numLit>
          </c:xVal>
          <c:yVal>
            <c:numLit>
              <c:formatCode>General</c:formatCode>
              <c:ptCount val="1"/>
              <c:pt idx="0">
                <c:v>171.86466857037286</c:v>
              </c:pt>
            </c:numLit>
          </c:yVal>
          <c:bubbleSize>
            <c:numLit>
              <c:formatCode>General</c:formatCode>
              <c:ptCount val="1"/>
              <c:pt idx="0">
                <c:v>1416.819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8C0B-4862-BC19-CF1AC40B1E9A}"/>
            </c:ext>
          </c:extLst>
        </c:ser>
        <c:ser>
          <c:idx val="4"/>
          <c:order val="4"/>
          <c:tx>
            <c:v>Protective and Internal Packaging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54.926034363864439</c:v>
              </c:pt>
            </c:numLit>
          </c:xVal>
          <c:yVal>
            <c:numLit>
              <c:formatCode>General</c:formatCode>
              <c:ptCount val="1"/>
              <c:pt idx="0">
                <c:v>71.81745502924079</c:v>
              </c:pt>
            </c:numLit>
          </c:yVal>
          <c:bubbleSize>
            <c:numLit>
              <c:formatCode>General</c:formatCode>
              <c:ptCount val="1"/>
              <c:pt idx="0">
                <c:v>537.85400000000004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8C0B-4862-BC19-CF1AC40B1E9A}"/>
            </c:ext>
          </c:extLst>
        </c:ser>
        <c:ser>
          <c:idx val="5"/>
          <c:order val="5"/>
          <c:tx>
            <c:v>Wraparound Cases and Sleeves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134.8480952970763</c:v>
              </c:pt>
            </c:numLit>
          </c:xVal>
          <c:yVal>
            <c:numLit>
              <c:formatCode>General</c:formatCode>
              <c:ptCount val="1"/>
              <c:pt idx="0">
                <c:v>125.02739328546883</c:v>
              </c:pt>
            </c:numLit>
          </c:yVal>
          <c:bubbleSize>
            <c:numLit>
              <c:formatCode>General</c:formatCode>
              <c:ptCount val="1"/>
              <c:pt idx="0">
                <c:v>1279.4380000000001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8C0B-4862-BC19-CF1AC40B1E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10"/>
          <c:min val="2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753.74</c:v>
              </c:pt>
              <c:pt idx="2">
                <c:v>808.4</c:v>
              </c:pt>
              <c:pt idx="3">
                <c:v>866.65800000000002</c:v>
              </c:pt>
              <c:pt idx="4">
                <c:v>928.69100000000003</c:v>
              </c:pt>
              <c:pt idx="5">
                <c:v>994.67200000000003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E83-4FD7-9391-0DC9FA7B855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E83-4FD7-9391-0DC9FA7B855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E83-4FD7-9391-0DC9FA7B855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1E83-4FD7-9391-0DC9FA7B855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E83-4FD7-9391-0DC9FA7B855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1E83-4FD7-9391-0DC9FA7B855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1E83-4FD7-9391-0DC9FA7B855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1E83-4FD7-9391-0DC9FA7B855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E83-4FD7-9391-0DC9FA7B855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E83-4FD7-9391-0DC9FA7B855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E83-4FD7-9391-0DC9FA7B855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E83-4FD7-9391-0DC9FA7B855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E83-4FD7-9391-0DC9FA7B855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E83-4FD7-9391-0DC9FA7B855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E83-4FD7-9391-0DC9FA7B855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753.74</c:v>
              </c:pt>
              <c:pt idx="1">
                <c:v>54.659999999999968</c:v>
              </c:pt>
              <c:pt idx="2">
                <c:v>58.258000000000038</c:v>
              </c:pt>
              <c:pt idx="3">
                <c:v>62.033000000000015</c:v>
              </c:pt>
              <c:pt idx="4">
                <c:v>65.980999999999995</c:v>
              </c:pt>
              <c:pt idx="5">
                <c:v>70.095000000000027</c:v>
              </c:pt>
              <c:pt idx="6">
                <c:v>1064.7670000000001</c:v>
              </c:pt>
            </c:numLit>
          </c:val>
          <c:extLst>
            <c:ext xmlns:c16="http://schemas.microsoft.com/office/drawing/2014/chart" uri="{C3380CC4-5D6E-409C-BE32-E72D297353CC}">
              <c16:uniqueId val="{0000000F-1E83-4FD7-9391-0DC9FA7B85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477.238</c:v>
              </c:pt>
              <c:pt idx="2">
                <c:v>522.59</c:v>
              </c:pt>
              <c:pt idx="3">
                <c:v>572.43899999999996</c:v>
              </c:pt>
              <c:pt idx="4">
                <c:v>627.25699999999995</c:v>
              </c:pt>
              <c:pt idx="5">
                <c:v>687.56799999999998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3EBB-43D0-92AB-708A084ED02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3EBB-43D0-92AB-708A084ED02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3EBB-43D0-92AB-708A084ED02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3EBB-43D0-92AB-708A084ED02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3EBB-43D0-92AB-708A084ED02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3EBB-43D0-92AB-708A084ED02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3EBB-43D0-92AB-708A084ED024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3EBB-43D0-92AB-708A084ED02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EBB-43D0-92AB-708A084ED02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EBB-43D0-92AB-708A084ED02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EBB-43D0-92AB-708A084ED02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EBB-43D0-92AB-708A084ED02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EBB-43D0-92AB-708A084ED02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EBB-43D0-92AB-708A084ED02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EBB-43D0-92AB-708A084ED02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477.238</c:v>
              </c:pt>
              <c:pt idx="1">
                <c:v>45.352000000000032</c:v>
              </c:pt>
              <c:pt idx="2">
                <c:v>49.848999999999933</c:v>
              </c:pt>
              <c:pt idx="3">
                <c:v>54.817999999999984</c:v>
              </c:pt>
              <c:pt idx="4">
                <c:v>60.311000000000035</c:v>
              </c:pt>
              <c:pt idx="5">
                <c:v>66.38900000000001</c:v>
              </c:pt>
              <c:pt idx="6">
                <c:v>753.95699999999999</c:v>
              </c:pt>
            </c:numLit>
          </c:val>
          <c:extLst>
            <c:ext xmlns:c16="http://schemas.microsoft.com/office/drawing/2014/chart" uri="{C3380CC4-5D6E-409C-BE32-E72D297353CC}">
              <c16:uniqueId val="{0000000F-3EBB-43D0-92AB-708A084ED0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158.65299999999999</c:v>
              </c:pt>
              <c:pt idx="2">
                <c:v>182.01400000000001</c:v>
              </c:pt>
              <c:pt idx="3">
                <c:v>208.58099999999999</c:v>
              </c:pt>
              <c:pt idx="4">
                <c:v>238.786</c:v>
              </c:pt>
              <c:pt idx="5">
                <c:v>273.12299999999999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2788-4FF1-B7AF-C0400903287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2788-4FF1-B7AF-C0400903287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2788-4FF1-B7AF-C0400903287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2788-4FF1-B7AF-C0400903287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2788-4FF1-B7AF-C04009032870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2788-4FF1-B7AF-C04009032870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2788-4FF1-B7AF-C04009032870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2788-4FF1-B7AF-C0400903287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788-4FF1-B7AF-C0400903287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788-4FF1-B7AF-C0400903287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788-4FF1-B7AF-C0400903287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788-4FF1-B7AF-C0400903287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788-4FF1-B7AF-C0400903287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788-4FF1-B7AF-C0400903287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788-4FF1-B7AF-C0400903287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158.65299999999999</c:v>
              </c:pt>
              <c:pt idx="1">
                <c:v>23.361000000000018</c:v>
              </c:pt>
              <c:pt idx="2">
                <c:v>26.566999999999979</c:v>
              </c:pt>
              <c:pt idx="3">
                <c:v>30.205000000000013</c:v>
              </c:pt>
              <c:pt idx="4">
                <c:v>34.336999999999989</c:v>
              </c:pt>
              <c:pt idx="5">
                <c:v>39.03000000000003</c:v>
              </c:pt>
              <c:pt idx="6">
                <c:v>312.15300000000002</c:v>
              </c:pt>
            </c:numLit>
          </c:val>
          <c:extLst>
            <c:ext xmlns:c16="http://schemas.microsoft.com/office/drawing/2014/chart" uri="{C3380CC4-5D6E-409C-BE32-E72D297353CC}">
              <c16:uniqueId val="{0000000F-2788-4FF1-B7AF-C040090328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1032.5909999999999</c:v>
              </c:pt>
              <c:pt idx="2">
                <c:v>1101.8150000000001</c:v>
              </c:pt>
              <c:pt idx="3">
                <c:v>1174.8119999999999</c:v>
              </c:pt>
              <c:pt idx="4">
                <c:v>1251.635</c:v>
              </c:pt>
              <c:pt idx="5">
                <c:v>1332.31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567-47E1-ADBC-6F6D5F67A55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567-47E1-ADBC-6F6D5F67A55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567-47E1-ADBC-6F6D5F67A55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567-47E1-ADBC-6F6D5F67A55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567-47E1-ADBC-6F6D5F67A55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567-47E1-ADBC-6F6D5F67A55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567-47E1-ADBC-6F6D5F67A55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567-47E1-ADBC-6F6D5F67A55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567-47E1-ADBC-6F6D5F67A55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567-47E1-ADBC-6F6D5F67A55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567-47E1-ADBC-6F6D5F67A55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567-47E1-ADBC-6F6D5F67A55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567-47E1-ADBC-6F6D5F67A55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567-47E1-ADBC-6F6D5F67A55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567-47E1-ADBC-6F6D5F67A55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1032.5909999999999</c:v>
              </c:pt>
              <c:pt idx="1">
                <c:v>69.22400000000016</c:v>
              </c:pt>
              <c:pt idx="2">
                <c:v>72.996999999999844</c:v>
              </c:pt>
              <c:pt idx="3">
                <c:v>76.823000000000093</c:v>
              </c:pt>
              <c:pt idx="4">
                <c:v>80.674999999999955</c:v>
              </c:pt>
              <c:pt idx="5">
                <c:v>84.509000000000015</c:v>
              </c:pt>
              <c:pt idx="6">
                <c:v>1416.819</c:v>
              </c:pt>
            </c:numLit>
          </c:val>
          <c:extLst>
            <c:ext xmlns:c16="http://schemas.microsoft.com/office/drawing/2014/chart" uri="{C3380CC4-5D6E-409C-BE32-E72D297353CC}">
              <c16:uniqueId val="{0000000F-8567-47E1-ADBC-6F6D5F67A5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431.49099999999999</c:v>
              </c:pt>
              <c:pt idx="2">
                <c:v>453.07100000000003</c:v>
              </c:pt>
              <c:pt idx="3">
                <c:v>474.73599999999999</c:v>
              </c:pt>
              <c:pt idx="4">
                <c:v>496.274</c:v>
              </c:pt>
              <c:pt idx="5">
                <c:v>517.41899999999998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4E8F-4FE5-9404-848A0A18CB5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4E8F-4FE5-9404-848A0A18CB5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4E8F-4FE5-9404-848A0A18CB5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4E8F-4FE5-9404-848A0A18CB5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4E8F-4FE5-9404-848A0A18CB5C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4E8F-4FE5-9404-848A0A18CB5C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4E8F-4FE5-9404-848A0A18CB5C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4E8F-4FE5-9404-848A0A18CB5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E8F-4FE5-9404-848A0A18CB5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E8F-4FE5-9404-848A0A18CB5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E8F-4FE5-9404-848A0A18CB5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E8F-4FE5-9404-848A0A18CB5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E8F-4FE5-9404-848A0A18CB5C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E8F-4FE5-9404-848A0A18CB5C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E8F-4FE5-9404-848A0A18CB5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431.49099999999999</c:v>
              </c:pt>
              <c:pt idx="1">
                <c:v>21.580000000000041</c:v>
              </c:pt>
              <c:pt idx="2">
                <c:v>21.664999999999964</c:v>
              </c:pt>
              <c:pt idx="3">
                <c:v>21.538000000000011</c:v>
              </c:pt>
              <c:pt idx="4">
                <c:v>21.144999999999982</c:v>
              </c:pt>
              <c:pt idx="5">
                <c:v>20.435000000000059</c:v>
              </c:pt>
              <c:pt idx="6">
                <c:v>537.85400000000004</c:v>
              </c:pt>
            </c:numLit>
          </c:val>
          <c:extLst>
            <c:ext xmlns:c16="http://schemas.microsoft.com/office/drawing/2014/chart" uri="{C3380CC4-5D6E-409C-BE32-E72D297353CC}">
              <c16:uniqueId val="{0000000F-4E8F-4FE5-9404-848A0A18CB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751.18499999999995</c:v>
              </c:pt>
              <c:pt idx="2">
                <c:v>835.048</c:v>
              </c:pt>
              <c:pt idx="3">
                <c:v>928.57</c:v>
              </c:pt>
              <c:pt idx="4">
                <c:v>1032.9100000000001</c:v>
              </c:pt>
              <c:pt idx="5">
                <c:v>1149.375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270-4040-81FD-B17467582EA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270-4040-81FD-B17467582EA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270-4040-81FD-B17467582EA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7270-4040-81FD-B17467582EA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270-4040-81FD-B17467582EA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7270-4040-81FD-B17467582EA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7270-4040-81FD-B17467582EA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7270-4040-81FD-B17467582EA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270-4040-81FD-B17467582EA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270-4040-81FD-B17467582EA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270-4040-81FD-B17467582EA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270-4040-81FD-B17467582EA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270-4040-81FD-B17467582EA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270-4040-81FD-B17467582EA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270-4040-81FD-B17467582EA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751.18499999999995</c:v>
              </c:pt>
              <c:pt idx="1">
                <c:v>83.863000000000056</c:v>
              </c:pt>
              <c:pt idx="2">
                <c:v>93.522000000000048</c:v>
              </c:pt>
              <c:pt idx="3">
                <c:v>104.34000000000003</c:v>
              </c:pt>
              <c:pt idx="4">
                <c:v>116.46499999999992</c:v>
              </c:pt>
              <c:pt idx="5">
                <c:v>130.0630000000001</c:v>
              </c:pt>
              <c:pt idx="6">
                <c:v>1279.4380000000001</c:v>
              </c:pt>
            </c:numLit>
          </c:val>
          <c:extLst>
            <c:ext xmlns:c16="http://schemas.microsoft.com/office/drawing/2014/chart" uri="{C3380CC4-5D6E-409C-BE32-E72D297353CC}">
              <c16:uniqueId val="{0000000F-7270-4040-81FD-B17467582EA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Folders and Telescopic Boxes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79D-4C10-9816-C5BA29143B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79D-4C10-9816-C5BA29143B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79D-4C10-9816-C5BA29143B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29.6148555977006</c:v>
              </c:pt>
              <c:pt idx="1">
                <c:v>28.644111428395476</c:v>
              </c:pt>
              <c:pt idx="2">
                <c:v>26.408614520666212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779D-4C10-9816-C5BA29143B82}"/>
            </c:ext>
          </c:extLst>
        </c:ser>
        <c:ser>
          <c:idx val="1"/>
          <c:order val="1"/>
          <c:tx>
            <c:v>Wraparound Cases and Sleeves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79D-4C10-9816-C5BA29143B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79D-4C10-9816-C5BA29143B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79D-4C10-9816-C5BA29143B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19.528989493102916</c:v>
              </c:pt>
              <c:pt idx="1">
                <c:v>20.837898880911471</c:v>
              </c:pt>
              <c:pt idx="2">
                <c:v>23.847919137936564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779D-4C10-9816-C5BA29143B82}"/>
            </c:ext>
          </c:extLst>
        </c:ser>
        <c:ser>
          <c:idx val="2"/>
          <c:order val="2"/>
          <c:tx>
            <c:v>Slotted Shipping Boxes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79D-4C10-9816-C5BA29143B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79D-4C10-9816-C5BA29143B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79D-4C10-9816-C5BA29143B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21.368233512061025</c:v>
              </c:pt>
              <c:pt idx="1">
                <c:v>20.908774672681449</c:v>
              </c:pt>
              <c:pt idx="2">
                <c:v>19.8465867957207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779D-4C10-9816-C5BA29143B82}"/>
            </c:ext>
          </c:extLst>
        </c:ser>
        <c:ser>
          <c:idx val="3"/>
          <c:order val="3"/>
          <c:tx>
            <c:v>Die-cut Boxes and Mailers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79D-4C10-9816-C5BA29143B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79D-4C10-9816-C5BA29143B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79D-4C10-9816-C5BA29143B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12.883463337822681</c:v>
              </c:pt>
              <c:pt idx="1">
                <c:v>13.238599261338324</c:v>
              </c:pt>
              <c:pt idx="2">
                <c:v>14.053283996161781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779D-4C10-9816-C5BA29143B82}"/>
            </c:ext>
          </c:extLst>
        </c:ser>
        <c:ser>
          <c:idx val="4"/>
          <c:order val="4"/>
          <c:tx>
            <c:v>Protective and Internal Packaging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79D-4C10-9816-C5BA29143B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79D-4C10-9816-C5BA29143B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779D-4C10-9816-C5BA29143B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12.819800954154619</c:v>
              </c:pt>
              <c:pt idx="1">
                <c:v>11.969575838206795</c:v>
              </c:pt>
              <c:pt idx="2">
                <c:v>10.02526007513903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779D-4C10-9816-C5BA29143B82}"/>
            </c:ext>
          </c:extLst>
        </c:ser>
        <c:ser>
          <c:idx val="5"/>
          <c:order val="5"/>
          <c:tx>
            <c:v>Trays and Retail-ready Boxes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779D-4C10-9816-C5BA29143B8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779D-4C10-9816-C5BA29143B8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779D-4C10-9816-C5BA29143B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3.7846571051581499</c:v>
              </c:pt>
              <c:pt idx="1">
                <c:v>4.4010399184664868</c:v>
              </c:pt>
              <c:pt idx="2">
                <c:v>5.8183354743757114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779D-4C10-9816-C5BA29143B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Agriculture and fresh produce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E05-4820-A3C2-A0B0D13AA2B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3.1835186704706842</c:v>
              </c:pt>
              <c:pt idx="1">
                <c:v>3.3339212387369579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BE05-4820-A3C2-A0B0D13AA2B2}"/>
            </c:ext>
          </c:extLst>
        </c:ser>
        <c:ser>
          <c:idx val="1"/>
          <c:order val="1"/>
          <c:tx>
            <c:v>Processed food and beverages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E05-4820-A3C2-A0B0D13AA2B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12.990594097364081</c:v>
              </c:pt>
              <c:pt idx="1">
                <c:v>16.29737361093526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BE05-4820-A3C2-A0B0D13AA2B2}"/>
            </c:ext>
          </c:extLst>
        </c:ser>
        <c:ser>
          <c:idx val="2"/>
          <c:order val="2"/>
          <c:tx>
            <c:v>E-commerce shipping and fulfillment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E05-4820-A3C2-A0B0D13AA2B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11.853737584586174</c:v>
              </c:pt>
              <c:pt idx="1">
                <c:v>10.63269310619175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BE05-4820-A3C2-A0B0D13AA2B2}"/>
            </c:ext>
          </c:extLst>
        </c:ser>
        <c:ser>
          <c:idx val="3"/>
          <c:order val="3"/>
          <c:tx>
            <c:v>Retail-ready and point-of-sale packaging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E05-4820-A3C2-A0B0D13AA2B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6.3241792008129876</c:v>
              </c:pt>
              <c:pt idx="1">
                <c:v>7.9622664250909914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BE05-4820-A3C2-A0B0D13AA2B2}"/>
            </c:ext>
          </c:extLst>
        </c:ser>
        <c:ser>
          <c:idx val="4"/>
          <c:order val="4"/>
          <c:tx>
            <c:v>Personal care and household products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E05-4820-A3C2-A0B0D13AA2B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17.59529784976877</c:v>
              </c:pt>
              <c:pt idx="1">
                <c:v>20.097739734093519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BE05-4820-A3C2-A0B0D13AA2B2}"/>
            </c:ext>
          </c:extLst>
        </c:ser>
        <c:ser>
          <c:idx val="5"/>
          <c:order val="5"/>
          <c:tx>
            <c:v>Electrical and electronics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BE05-4820-A3C2-A0B0D13AA2B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15.088468585383827</c:v>
              </c:pt>
              <c:pt idx="1">
                <c:v>12.15593020549229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1-BE05-4820-A3C2-A0B0D13AA2B2}"/>
            </c:ext>
          </c:extLst>
        </c:ser>
        <c:ser>
          <c:idx val="6"/>
          <c:order val="6"/>
          <c:tx>
            <c:v>Pharmaceuticals and healthcare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BE05-4820-A3C2-A0B0D13AA2B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15.495134542516533</c:v>
              </c:pt>
              <c:pt idx="1">
                <c:v>15.694586275855169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BE05-4820-A3C2-A0B0D13AA2B2}"/>
            </c:ext>
          </c:extLst>
        </c:ser>
        <c:ser>
          <c:idx val="7"/>
          <c:order val="7"/>
          <c:tx>
            <c:v>Industrial machinery, automotive and components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BE05-4820-A3C2-A0B0D13AA2B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2.7212916264692786</c:v>
              </c:pt>
              <c:pt idx="1">
                <c:v>2.769338540074231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BE05-4820-A3C2-A0B0D13AA2B2}"/>
            </c:ext>
          </c:extLst>
        </c:ser>
        <c:ser>
          <c:idx val="8"/>
          <c:order val="8"/>
          <c:tx>
            <c:v>Other end uses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BE05-4820-A3C2-A0B0D13AA2B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BE05-4820-A3C2-A0B0D13AA2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14.747777842627654</c:v>
              </c:pt>
              <c:pt idx="1">
                <c:v>11.056150863529831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A-BE05-4820-A3C2-A0B0D13AA2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Agriculture and fresh produce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182.63472811931078</c:v>
              </c:pt>
            </c:numLit>
          </c:xVal>
          <c:yVal>
            <c:numLit>
              <c:formatCode>General</c:formatCode>
              <c:ptCount val="1"/>
              <c:pt idx="0">
                <c:v>21.531954579574794</c:v>
              </c:pt>
            </c:numLit>
          </c:yVal>
          <c:bubbleSize>
            <c:numLit>
              <c:formatCode>General</c:formatCode>
              <c:ptCount val="1"/>
              <c:pt idx="0">
                <c:v>176.23599999999999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FF9B-4D82-814E-B355343C5B34}"/>
            </c:ext>
          </c:extLst>
        </c:ser>
        <c:ser>
          <c:idx val="1"/>
          <c:order val="1"/>
          <c:tx>
            <c:v>Processed food and beverages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82.356882906982648</c:v>
              </c:pt>
            </c:numLit>
          </c:xVal>
          <c:yVal>
            <c:numLit>
              <c:formatCode>General</c:formatCode>
              <c:ptCount val="1"/>
              <c:pt idx="0">
                <c:v>146.76881287625895</c:v>
              </c:pt>
            </c:numLit>
          </c:yVal>
          <c:bubbleSize>
            <c:numLit>
              <c:formatCode>General</c:formatCode>
              <c:ptCount val="1"/>
              <c:pt idx="0">
                <c:v>816.56200000000001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FF9B-4D82-814E-B355343C5B34}"/>
            </c:ext>
          </c:extLst>
        </c:ser>
        <c:ser>
          <c:idx val="2"/>
          <c:order val="2"/>
          <c:tx>
            <c:v>E-commerce shipping and fulfillment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94.666770196972166</c:v>
              </c:pt>
            </c:numLit>
          </c:xVal>
          <c:yVal>
            <c:numLit>
              <c:formatCode>General</c:formatCode>
              <c:ptCount val="1"/>
              <c:pt idx="0">
                <c:v>101.36159192298923</c:v>
              </c:pt>
            </c:numLit>
          </c:yVal>
          <c:bubbleSize>
            <c:numLit>
              <c:formatCode>General</c:formatCode>
              <c:ptCount val="1"/>
              <c:pt idx="0">
                <c:v>591.78200000000004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FF9B-4D82-814E-B355343C5B34}"/>
            </c:ext>
          </c:extLst>
        </c:ser>
        <c:ser>
          <c:idx val="3"/>
          <c:order val="3"/>
          <c:tx>
            <c:v>Retail-ready and point-of-sale packaging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50.217261481418632</c:v>
              </c:pt>
            </c:numLit>
          </c:xVal>
          <c:yVal>
            <c:numLit>
              <c:formatCode>General</c:formatCode>
              <c:ptCount val="1"/>
              <c:pt idx="0">
                <c:v>81.331344187824456</c:v>
              </c:pt>
            </c:numLit>
          </c:yVal>
          <c:bubbleSize>
            <c:numLit>
              <c:formatCode>General</c:formatCode>
              <c:ptCount val="1"/>
              <c:pt idx="0">
                <c:v>398.54700000000003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FF9B-4D82-814E-B355343C5B34}"/>
            </c:ext>
          </c:extLst>
        </c:ser>
        <c:ser>
          <c:idx val="4"/>
          <c:order val="4"/>
          <c:tx>
            <c:v>Personal care and household products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90.355591541015031</c:v>
              </c:pt>
            </c:numLit>
          </c:xVal>
          <c:yVal>
            <c:numLit>
              <c:formatCode>General</c:formatCode>
              <c:ptCount val="1"/>
              <c:pt idx="0">
                <c:v>180.20432200855618</c:v>
              </c:pt>
            </c:numLit>
          </c:yVal>
          <c:bubbleSize>
            <c:numLit>
              <c:formatCode>General</c:formatCode>
              <c:ptCount val="1"/>
              <c:pt idx="0">
                <c:v>1034.508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FF9B-4D82-814E-B355343C5B34}"/>
            </c:ext>
          </c:extLst>
        </c:ser>
        <c:ser>
          <c:idx val="5"/>
          <c:order val="5"/>
          <c:tx>
            <c:v>Electrical and electronics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170.40835389957775</c:v>
              </c:pt>
            </c:numLit>
          </c:xVal>
          <c:yVal>
            <c:numLit>
              <c:formatCode>General</c:formatCode>
              <c:ptCount val="1"/>
              <c:pt idx="0">
                <c:v>90.011534306934621</c:v>
              </c:pt>
            </c:numLit>
          </c:yVal>
          <c:bubbleSize>
            <c:numLit>
              <c:formatCode>General</c:formatCode>
              <c:ptCount val="1"/>
              <c:pt idx="0">
                <c:v>703.41399999999999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FF9B-4D82-814E-B355343C5B34}"/>
            </c:ext>
          </c:extLst>
        </c:ser>
        <c:ser>
          <c:idx val="6"/>
          <c:order val="6"/>
          <c:tx>
            <c:v>Pharmaceuticals and healthcare</c:v>
          </c:tx>
          <c:spPr>
            <a:solidFill>
              <a:srgbClr val="0E72AE"/>
            </a:solidFill>
          </c:spPr>
          <c:invertIfNegative val="0"/>
          <c:xVal>
            <c:numLit>
              <c:formatCode>General</c:formatCode>
              <c:ptCount val="1"/>
              <c:pt idx="0">
                <c:v>76.615340326843324</c:v>
              </c:pt>
            </c:numLit>
          </c:xVal>
          <c:yVal>
            <c:numLit>
              <c:formatCode>General</c:formatCode>
              <c:ptCount val="1"/>
              <c:pt idx="0">
                <c:v>154.15576252088132</c:v>
              </c:pt>
            </c:numLit>
          </c:yVal>
          <c:bubbleSize>
            <c:numLit>
              <c:formatCode>General</c:formatCode>
              <c:ptCount val="1"/>
              <c:pt idx="0">
                <c:v>838.52700000000004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6-FF9B-4D82-814E-B355343C5B34}"/>
            </c:ext>
          </c:extLst>
        </c:ser>
        <c:ser>
          <c:idx val="7"/>
          <c:order val="7"/>
          <c:tx>
            <c:v>Industrial machinery, automotive and components</c:v>
          </c:tx>
          <c:spPr>
            <a:solidFill>
              <a:srgbClr val="A86F00"/>
            </a:solidFill>
          </c:spPr>
          <c:invertIfNegative val="0"/>
          <c:xVal>
            <c:numLit>
              <c:formatCode>General</c:formatCode>
              <c:ptCount val="1"/>
              <c:pt idx="0">
                <c:v>77.997879427845078</c:v>
              </c:pt>
            </c:numLit>
          </c:xVal>
          <c:yVal>
            <c:numLit>
              <c:formatCode>General</c:formatCode>
              <c:ptCount val="1"/>
              <c:pt idx="0">
                <c:v>27.012497995782407</c:v>
              </c:pt>
            </c:numLit>
          </c:yVal>
          <c:bubbleSize>
            <c:numLit>
              <c:formatCode>General</c:formatCode>
              <c:ptCount val="1"/>
              <c:pt idx="0">
                <c:v>147.73500000000001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7-FF9B-4D82-814E-B355343C5B34}"/>
            </c:ext>
          </c:extLst>
        </c:ser>
        <c:ser>
          <c:idx val="8"/>
          <c:order val="8"/>
          <c:tx>
            <c:v>Other end uses</c:v>
          </c:tx>
          <c:spPr>
            <a:solidFill>
              <a:srgbClr val="0B2E4A"/>
            </a:solidFill>
          </c:spPr>
          <c:invertIfNegative val="0"/>
          <c:xVal>
            <c:numLit>
              <c:formatCode>General</c:formatCode>
              <c:ptCount val="1"/>
              <c:pt idx="0">
                <c:v>131.58186951240057</c:v>
              </c:pt>
            </c:numLit>
          </c:xVal>
          <c:yVal>
            <c:numLit>
              <c:formatCode>General</c:formatCode>
              <c:ptCount val="1"/>
              <c:pt idx="0">
                <c:v>97.622179601198155</c:v>
              </c:pt>
            </c:numLit>
          </c:yVal>
          <c:bubbleSize>
            <c:numLit>
              <c:formatCode>General</c:formatCode>
              <c:ptCount val="1"/>
              <c:pt idx="0">
                <c:v>657.67700000000002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8-FF9B-4D82-814E-B355343C5B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20"/>
          <c:min val="1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86.245000000000005</c:v>
              </c:pt>
              <c:pt idx="2">
                <c:v>99.903999999999996</c:v>
              </c:pt>
              <c:pt idx="3">
                <c:v>115.464</c:v>
              </c:pt>
              <c:pt idx="4">
                <c:v>133.17500000000001</c:v>
              </c:pt>
              <c:pt idx="5">
                <c:v>153.32499999999999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5F2-484A-9FEA-E3B34785A0E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5F2-484A-9FEA-E3B34785A0E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5F2-484A-9FEA-E3B34785A0E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5F2-484A-9FEA-E3B34785A0E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5F2-484A-9FEA-E3B34785A0E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5F2-484A-9FEA-E3B34785A0E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5F2-484A-9FEA-E3B34785A0E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5F2-484A-9FEA-E3B34785A0E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5F2-484A-9FEA-E3B34785A0E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5F2-484A-9FEA-E3B34785A0E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5F2-484A-9FEA-E3B34785A0E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5F2-484A-9FEA-E3B34785A0E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5F2-484A-9FEA-E3B34785A0E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5F2-484A-9FEA-E3B34785A0E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5F2-484A-9FEA-E3B34785A0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86.245000000000005</c:v>
              </c:pt>
              <c:pt idx="1">
                <c:v>13.658999999999992</c:v>
              </c:pt>
              <c:pt idx="2">
                <c:v>15.560000000000002</c:v>
              </c:pt>
              <c:pt idx="3">
                <c:v>17.711000000000013</c:v>
              </c:pt>
              <c:pt idx="4">
                <c:v>20.149999999999977</c:v>
              </c:pt>
              <c:pt idx="5">
                <c:v>22.911000000000001</c:v>
              </c:pt>
              <c:pt idx="6">
                <c:v>176.23599999999999</c:v>
              </c:pt>
            </c:numLit>
          </c:val>
          <c:extLst>
            <c:ext xmlns:c16="http://schemas.microsoft.com/office/drawing/2014/chart" uri="{C3380CC4-5D6E-409C-BE32-E72D297353CC}">
              <c16:uniqueId val="{0000000F-D5F2-484A-9FEA-E3B34785A0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587.87400000000002</c:v>
              </c:pt>
              <c:pt idx="2">
                <c:v>628.50900000000001</c:v>
              </c:pt>
              <c:pt idx="3">
                <c:v>671.60500000000002</c:v>
              </c:pt>
              <c:pt idx="4">
                <c:v>717.255</c:v>
              </c:pt>
              <c:pt idx="5">
                <c:v>765.548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7B4-41B2-A20D-9AF67AE68A6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7B4-41B2-A20D-9AF67AE68A6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7B4-41B2-A20D-9AF67AE68A6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17B4-41B2-A20D-9AF67AE68A6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7B4-41B2-A20D-9AF67AE68A60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17B4-41B2-A20D-9AF67AE68A60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17B4-41B2-A20D-9AF67AE68A60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17B4-41B2-A20D-9AF67AE68A6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7B4-41B2-A20D-9AF67AE68A6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7B4-41B2-A20D-9AF67AE68A6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7B4-41B2-A20D-9AF67AE68A6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7B4-41B2-A20D-9AF67AE68A6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7B4-41B2-A20D-9AF67AE68A6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7B4-41B2-A20D-9AF67AE68A6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7B4-41B2-A20D-9AF67AE68A6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587.87400000000002</c:v>
              </c:pt>
              <c:pt idx="1">
                <c:v>40.634999999999991</c:v>
              </c:pt>
              <c:pt idx="2">
                <c:v>43.096000000000004</c:v>
              </c:pt>
              <c:pt idx="3">
                <c:v>45.649999999999977</c:v>
              </c:pt>
              <c:pt idx="4">
                <c:v>48.293000000000006</c:v>
              </c:pt>
              <c:pt idx="5">
                <c:v>51.01400000000001</c:v>
              </c:pt>
              <c:pt idx="6">
                <c:v>816.56200000000001</c:v>
              </c:pt>
            </c:numLit>
          </c:val>
          <c:extLst>
            <c:ext xmlns:c16="http://schemas.microsoft.com/office/drawing/2014/chart" uri="{C3380CC4-5D6E-409C-BE32-E72D297353CC}">
              <c16:uniqueId val="{0000000F-17B4-41B2-A20D-9AF67AE68A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405.99799999999999</c:v>
              </c:pt>
              <c:pt idx="2">
                <c:v>437.89299999999997</c:v>
              </c:pt>
              <c:pt idx="3">
                <c:v>472.23500000000001</c:v>
              </c:pt>
              <c:pt idx="4">
                <c:v>509.202</c:v>
              </c:pt>
              <c:pt idx="5">
                <c:v>548.98299999999995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E97-4CD0-86D9-822F722A0D0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EE97-4CD0-86D9-822F722A0D0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E97-4CD0-86D9-822F722A0D0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E97-4CD0-86D9-822F722A0D0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E97-4CD0-86D9-822F722A0D0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EE97-4CD0-86D9-822F722A0D0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EE97-4CD0-86D9-822F722A0D0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EE97-4CD0-86D9-822F722A0D0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E97-4CD0-86D9-822F722A0D0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E97-4CD0-86D9-822F722A0D0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E97-4CD0-86D9-822F722A0D0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E97-4CD0-86D9-822F722A0D0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E97-4CD0-86D9-822F722A0D0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E97-4CD0-86D9-822F722A0D0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E97-4CD0-86D9-822F722A0D0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405.99799999999999</c:v>
              </c:pt>
              <c:pt idx="1">
                <c:v>31.894999999999982</c:v>
              </c:pt>
              <c:pt idx="2">
                <c:v>34.342000000000041</c:v>
              </c:pt>
              <c:pt idx="3">
                <c:v>36.966999999999985</c:v>
              </c:pt>
              <c:pt idx="4">
                <c:v>39.780999999999949</c:v>
              </c:pt>
              <c:pt idx="5">
                <c:v>42.799000000000092</c:v>
              </c:pt>
              <c:pt idx="6">
                <c:v>591.78200000000004</c:v>
              </c:pt>
            </c:numLit>
          </c:val>
          <c:extLst>
            <c:ext xmlns:c16="http://schemas.microsoft.com/office/drawing/2014/chart" uri="{C3380CC4-5D6E-409C-BE32-E72D297353CC}">
              <c16:uniqueId val="{0000000F-EE97-4CD0-86D9-822F722A0D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325.76799999999997</c:v>
              </c:pt>
              <c:pt idx="2">
                <c:v>340.92099999999999</c:v>
              </c:pt>
              <c:pt idx="3">
                <c:v>355.96800000000002</c:v>
              </c:pt>
              <c:pt idx="4">
                <c:v>370.73700000000002</c:v>
              </c:pt>
              <c:pt idx="5">
                <c:v>385.01400000000001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44EF-4A69-B8EA-86646516611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44EF-4A69-B8EA-86646516611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44EF-4A69-B8EA-86646516611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44EF-4A69-B8EA-86646516611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44EF-4A69-B8EA-866465166111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44EF-4A69-B8EA-866465166111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44EF-4A69-B8EA-866465166111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44EF-4A69-B8EA-86646516611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4EF-4A69-B8EA-86646516611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4EF-4A69-B8EA-86646516611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4EF-4A69-B8EA-86646516611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4EF-4A69-B8EA-86646516611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4EF-4A69-B8EA-866465166111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4EF-4A69-B8EA-866465166111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4EF-4A69-B8EA-86646516611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325.76799999999997</c:v>
              </c:pt>
              <c:pt idx="1">
                <c:v>15.15300000000002</c:v>
              </c:pt>
              <c:pt idx="2">
                <c:v>15.047000000000025</c:v>
              </c:pt>
              <c:pt idx="3">
                <c:v>14.769000000000005</c:v>
              </c:pt>
              <c:pt idx="4">
                <c:v>14.276999999999987</c:v>
              </c:pt>
              <c:pt idx="5">
                <c:v>13.533000000000015</c:v>
              </c:pt>
              <c:pt idx="6">
                <c:v>398.54700000000003</c:v>
              </c:pt>
            </c:numLit>
          </c:val>
          <c:extLst>
            <c:ext xmlns:c16="http://schemas.microsoft.com/office/drawing/2014/chart" uri="{C3380CC4-5D6E-409C-BE32-E72D297353CC}">
              <c16:uniqueId val="{0000000F-44EF-4A69-B8EA-8664651661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721.798</c:v>
              </c:pt>
              <c:pt idx="2">
                <c:v>776.06500000000005</c:v>
              </c:pt>
              <c:pt idx="3">
                <c:v>834.21699999999998</c:v>
              </c:pt>
              <c:pt idx="4">
                <c:v>896.49800000000005</c:v>
              </c:pt>
              <c:pt idx="5">
                <c:v>963.173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1CA-4D49-8450-5CA7A2A5186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1CA-4D49-8450-5CA7A2A5186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1CA-4D49-8450-5CA7A2A5186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1CA-4D49-8450-5CA7A2A5186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1CA-4D49-8450-5CA7A2A5186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1CA-4D49-8450-5CA7A2A5186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1CA-4D49-8450-5CA7A2A5186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1CA-4D49-8450-5CA7A2A5186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1CA-4D49-8450-5CA7A2A5186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1CA-4D49-8450-5CA7A2A5186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1CA-4D49-8450-5CA7A2A5186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1CA-4D49-8450-5CA7A2A5186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1CA-4D49-8450-5CA7A2A5186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1CA-4D49-8450-5CA7A2A5186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1CA-4D49-8450-5CA7A2A5186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721.798</c:v>
              </c:pt>
              <c:pt idx="1">
                <c:v>54.267000000000053</c:v>
              </c:pt>
              <c:pt idx="2">
                <c:v>58.15199999999993</c:v>
              </c:pt>
              <c:pt idx="3">
                <c:v>62.281000000000063</c:v>
              </c:pt>
              <c:pt idx="4">
                <c:v>66.674999999999955</c:v>
              </c:pt>
              <c:pt idx="5">
                <c:v>71.335000000000036</c:v>
              </c:pt>
              <c:pt idx="6">
                <c:v>1034.508</c:v>
              </c:pt>
            </c:numLit>
          </c:val>
          <c:extLst>
            <c:ext xmlns:c16="http://schemas.microsoft.com/office/drawing/2014/chart" uri="{C3380CC4-5D6E-409C-BE32-E72D297353CC}">
              <c16:uniqueId val="{0000000F-A1CA-4D49-8450-5CA7A2A518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360.536</c:v>
              </c:pt>
              <c:pt idx="2">
                <c:v>413.06</c:v>
              </c:pt>
              <c:pt idx="3">
                <c:v>472.62799999999999</c:v>
              </c:pt>
              <c:pt idx="4">
                <c:v>540.16200000000003</c:v>
              </c:pt>
              <c:pt idx="5">
                <c:v>616.69799999999998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3D5-490E-A768-B4A641CBE67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3D5-490E-A768-B4A641CBE67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3D5-490E-A768-B4A641CBE67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3D5-490E-A768-B4A641CBE67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3D5-490E-A768-B4A641CBE67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3D5-490E-A768-B4A641CBE67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3D5-490E-A768-B4A641CBE67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93D5-490E-A768-B4A641CBE67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3D5-490E-A768-B4A641CBE67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3D5-490E-A768-B4A641CBE67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3D5-490E-A768-B4A641CBE67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3D5-490E-A768-B4A641CBE67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3D5-490E-A768-B4A641CBE67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3D5-490E-A768-B4A641CBE67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3D5-490E-A768-B4A641CBE67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360.536</c:v>
              </c:pt>
              <c:pt idx="1">
                <c:v>52.524000000000001</c:v>
              </c:pt>
              <c:pt idx="2">
                <c:v>59.567999999999984</c:v>
              </c:pt>
              <c:pt idx="3">
                <c:v>67.534000000000049</c:v>
              </c:pt>
              <c:pt idx="4">
                <c:v>76.535999999999945</c:v>
              </c:pt>
              <c:pt idx="5">
                <c:v>86.716000000000008</c:v>
              </c:pt>
              <c:pt idx="6">
                <c:v>703.41399999999999</c:v>
              </c:pt>
            </c:numLit>
          </c:val>
          <c:extLst>
            <c:ext xmlns:c16="http://schemas.microsoft.com/office/drawing/2014/chart" uri="{C3380CC4-5D6E-409C-BE32-E72D297353CC}">
              <c16:uniqueId val="{0000000F-93D5-490E-A768-B4A641CBE6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617.46199999999999</c:v>
              </c:pt>
              <c:pt idx="2">
                <c:v>657.57500000000005</c:v>
              </c:pt>
              <c:pt idx="3">
                <c:v>699.73500000000001</c:v>
              </c:pt>
              <c:pt idx="4">
                <c:v>743.95600000000002</c:v>
              </c:pt>
              <c:pt idx="5">
                <c:v>790.23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0479-4814-96AA-8E934B4FA1F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0479-4814-96AA-8E934B4FA1F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0479-4814-96AA-8E934B4FA1F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0479-4814-96AA-8E934B4FA1F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0479-4814-96AA-8E934B4FA1F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0479-4814-96AA-8E934B4FA1F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0479-4814-96AA-8E934B4FA1F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0479-4814-96AA-8E934B4FA1F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479-4814-96AA-8E934B4FA1F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479-4814-96AA-8E934B4FA1F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479-4814-96AA-8E934B4FA1F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479-4814-96AA-8E934B4FA1F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479-4814-96AA-8E934B4FA1F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479-4814-96AA-8E934B4FA1F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479-4814-96AA-8E934B4FA1F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617.46199999999999</c:v>
              </c:pt>
              <c:pt idx="1">
                <c:v>40.113000000000056</c:v>
              </c:pt>
              <c:pt idx="2">
                <c:v>42.159999999999968</c:v>
              </c:pt>
              <c:pt idx="3">
                <c:v>44.221000000000004</c:v>
              </c:pt>
              <c:pt idx="4">
                <c:v>46.274000000000001</c:v>
              </c:pt>
              <c:pt idx="5">
                <c:v>48.297000000000025</c:v>
              </c:pt>
              <c:pt idx="6">
                <c:v>838.52700000000004</c:v>
              </c:pt>
            </c:numLit>
          </c:val>
          <c:extLst>
            <c:ext xmlns:c16="http://schemas.microsoft.com/office/drawing/2014/chart" uri="{C3380CC4-5D6E-409C-BE32-E72D297353CC}">
              <c16:uniqueId val="{0000000F-0479-4814-96AA-8E934B4FA1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108.197</c:v>
              </c:pt>
              <c:pt idx="2">
                <c:v>115.33499999999999</c:v>
              </c:pt>
              <c:pt idx="3">
                <c:v>122.85299999999999</c:v>
              </c:pt>
              <c:pt idx="4">
                <c:v>130.75800000000001</c:v>
              </c:pt>
              <c:pt idx="5">
                <c:v>139.053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C83-45FA-B4A2-A3D68B00C7C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C83-45FA-B4A2-A3D68B00C7C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C83-45FA-B4A2-A3D68B00C7C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C83-45FA-B4A2-A3D68B00C7C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C83-45FA-B4A2-A3D68B00C7C0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C83-45FA-B4A2-A3D68B00C7C0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C83-45FA-B4A2-A3D68B00C7C0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C83-45FA-B4A2-A3D68B00C7C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C83-45FA-B4A2-A3D68B00C7C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C83-45FA-B4A2-A3D68B00C7C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C83-45FA-B4A2-A3D68B00C7C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C83-45FA-B4A2-A3D68B00C7C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C83-45FA-B4A2-A3D68B00C7C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C83-45FA-B4A2-A3D68B00C7C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C83-45FA-B4A2-A3D68B00C7C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108.197</c:v>
              </c:pt>
              <c:pt idx="1">
                <c:v>7.137999999999991</c:v>
              </c:pt>
              <c:pt idx="2">
                <c:v>7.5180000000000007</c:v>
              </c:pt>
              <c:pt idx="3">
                <c:v>7.9050000000000153</c:v>
              </c:pt>
              <c:pt idx="4">
                <c:v>8.2949999999999875</c:v>
              </c:pt>
              <c:pt idx="5">
                <c:v>8.6820000000000164</c:v>
              </c:pt>
              <c:pt idx="6">
                <c:v>147.73500000000001</c:v>
              </c:pt>
            </c:numLit>
          </c:val>
          <c:extLst>
            <c:ext xmlns:c16="http://schemas.microsoft.com/office/drawing/2014/chart" uri="{C3380CC4-5D6E-409C-BE32-E72D297353CC}">
              <c16:uniqueId val="{0000000F-8C83-45FA-B4A2-A3D68B00C7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391.02</c:v>
              </c:pt>
              <c:pt idx="2">
                <c:v>433.67599999999999</c:v>
              </c:pt>
              <c:pt idx="3">
                <c:v>481.09100000000001</c:v>
              </c:pt>
              <c:pt idx="4">
                <c:v>533.80999999999995</c:v>
              </c:pt>
              <c:pt idx="5">
                <c:v>592.44299999999998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801-401E-815D-19C030DBBD33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801-401E-815D-19C030DBBD33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801-401E-815D-19C030DBBD33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7801-401E-815D-19C030DBBD33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801-401E-815D-19C030DBBD33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7801-401E-815D-19C030DBBD33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7801-401E-815D-19C030DBBD33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7801-401E-815D-19C030DBBD3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801-401E-815D-19C030DBBD3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801-401E-815D-19C030DBBD3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801-401E-815D-19C030DBBD3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801-401E-815D-19C030DBBD3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801-401E-815D-19C030DBBD3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801-401E-815D-19C030DBBD3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801-401E-815D-19C030DBBD3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391.02</c:v>
              </c:pt>
              <c:pt idx="1">
                <c:v>42.656000000000006</c:v>
              </c:pt>
              <c:pt idx="2">
                <c:v>47.41500000000002</c:v>
              </c:pt>
              <c:pt idx="3">
                <c:v>52.718999999999937</c:v>
              </c:pt>
              <c:pt idx="4">
                <c:v>58.633000000000038</c:v>
              </c:pt>
              <c:pt idx="5">
                <c:v>65.234000000000037</c:v>
              </c:pt>
              <c:pt idx="6">
                <c:v>657.67700000000002</c:v>
              </c:pt>
            </c:numLit>
          </c:val>
          <c:extLst>
            <c:ext xmlns:c16="http://schemas.microsoft.com/office/drawing/2014/chart" uri="{C3380CC4-5D6E-409C-BE32-E72D297353CC}">
              <c16:uniqueId val="{0000000F-7801-401E-815D-19C030DBBD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Personal care and household products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6D-4B3E-ACEE-3A46DF20B9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6D-4B3E-ACEE-3A46DF20B9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20.350872168146807</c:v>
              </c:pt>
              <c:pt idx="1">
                <c:v>20.022702445395126</c:v>
              </c:pt>
              <c:pt idx="2">
                <c:v>19.282578078459821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056D-4B3E-ACEE-3A46DF20B982}"/>
            </c:ext>
          </c:extLst>
        </c:ser>
        <c:ser>
          <c:idx val="1"/>
          <c:order val="1"/>
          <c:tx>
            <c:v>Pharmaceuticals and healthcare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56D-4B3E-ACEE-3A46DF20B9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56D-4B3E-ACEE-3A46DF20B9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17.790934815056868</c:v>
              </c:pt>
              <c:pt idx="1">
                <c:v>17.128418057875699</c:v>
              </c:pt>
              <c:pt idx="2">
                <c:v>15.629615574163447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056D-4B3E-ACEE-3A46DF20B982}"/>
            </c:ext>
          </c:extLst>
        </c:ser>
        <c:ser>
          <c:idx val="2"/>
          <c:order val="2"/>
          <c:tx>
            <c:v>Processed food and beverages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6D-4B3E-ACEE-3A46DF20B9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56D-4B3E-ACEE-3A46DF20B9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16.792125392763708</c:v>
              </c:pt>
              <c:pt idx="1">
                <c:v>16.30764587513988</c:v>
              </c:pt>
              <c:pt idx="2">
                <c:v>15.220201797282678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056D-4B3E-ACEE-3A46DF20B982}"/>
            </c:ext>
          </c:extLst>
        </c:ser>
        <c:ser>
          <c:idx val="3"/>
          <c:order val="3"/>
          <c:tx>
            <c:v>Electrical and electronics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56D-4B3E-ACEE-3A46DF20B9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56D-4B3E-ACEE-3A46DF20B9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8.6240723225508695</c:v>
              </c:pt>
              <c:pt idx="1">
                <c:v>10.001281589659403</c:v>
              </c:pt>
              <c:pt idx="2">
                <c:v>13.111194284125146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056D-4B3E-ACEE-3A46DF20B982}"/>
            </c:ext>
          </c:extLst>
        </c:ser>
        <c:ser>
          <c:idx val="4"/>
          <c:order val="4"/>
          <c:tx>
            <c:v>Other end uses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056D-4B3E-ACEE-3A46DF20B9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56D-4B3E-ACEE-3A46DF20B9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10.219700318116635</c:v>
              </c:pt>
              <c:pt idx="1">
                <c:v>10.846908844577571</c:v>
              </c:pt>
              <c:pt idx="2">
                <c:v>12.258685387553522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056D-4B3E-ACEE-3A46DF20B982}"/>
            </c:ext>
          </c:extLst>
        </c:ser>
        <c:ser>
          <c:idx val="5"/>
          <c:order val="5"/>
          <c:tx>
            <c:v>E-commerce shipping and fulfillment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056D-4B3E-ACEE-3A46DF20B98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56D-4B3E-ACEE-3A46DF20B98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11.362401048281214</c:v>
              </c:pt>
              <c:pt idx="1">
                <c:v>11.262399102554358</c:v>
              </c:pt>
              <c:pt idx="2">
                <c:v>11.030444056911218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056D-4B3E-ACEE-3A46DF20B982}"/>
            </c:ext>
          </c:extLst>
        </c:ser>
        <c:ser>
          <c:idx val="6"/>
          <c:order val="6"/>
          <c:tx>
            <c:v>Retail-ready and point-of-sale packaging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056D-4B3E-ACEE-3A46DF20B98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056D-4B3E-ACEE-3A46DF20B98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9.7530055740387667</c:v>
              </c:pt>
              <c:pt idx="1">
                <c:v>9.0368160208693826</c:v>
              </c:pt>
              <c:pt idx="2">
                <c:v>7.4286652644889415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056D-4B3E-ACEE-3A46DF20B982}"/>
            </c:ext>
          </c:extLst>
        </c:ser>
        <c:ser>
          <c:idx val="7"/>
          <c:order val="7"/>
          <c:tx>
            <c:v>Agriculture and fresh produce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056D-4B3E-ACEE-3A46DF20B98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056D-4B3E-ACEE-3A46DF20B98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1.9960240302715284</c:v>
              </c:pt>
              <c:pt idx="1">
                <c:v>2.392439397730532</c:v>
              </c:pt>
              <c:pt idx="2">
                <c:v>3.2849281303145501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056D-4B3E-ACEE-3A46DF20B982}"/>
            </c:ext>
          </c:extLst>
        </c:ser>
        <c:ser>
          <c:idx val="8"/>
          <c:order val="8"/>
          <c:tx>
            <c:v>Industrial machinery, automotive and components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056D-4B3E-ACEE-3A46DF20B98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056D-4B3E-ACEE-3A46DF20B98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056D-4B3E-ACEE-3A46DF20B98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3.1108643307736017</c:v>
              </c:pt>
              <c:pt idx="1">
                <c:v>3.0013886661980451</c:v>
              </c:pt>
              <c:pt idx="2">
                <c:v>2.753687426700675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3-056D-4B3E-ACEE-3A46DF20B9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Integrated Board and Box Manufacturers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924-47FC-A06F-24478DBDFD51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924-47FC-A06F-24478DBDFD5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6.1604141847283111</c:v>
              </c:pt>
              <c:pt idx="1">
                <c:v>4.7506166095624387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F924-47FC-A06F-24478DBDFD51}"/>
            </c:ext>
          </c:extLst>
        </c:ser>
        <c:ser>
          <c:idx val="1"/>
          <c:order val="1"/>
          <c:tx>
            <c:v>Independent Corrugated Sheet Feeders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924-47FC-A06F-24478DBDFD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924-47FC-A06F-24478DBDFD5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28.381701805763932</c:v>
              </c:pt>
              <c:pt idx="1">
                <c:v>23.44042426497542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F924-47FC-A06F-24478DBDFD51}"/>
            </c:ext>
          </c:extLst>
        </c:ser>
        <c:ser>
          <c:idx val="2"/>
          <c:order val="2"/>
          <c:tx>
            <c:v>Independent Sheet Plants and Box Converters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924-47FC-A06F-24478DBDFD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924-47FC-A06F-24478DBDFD5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22.97625464487253</c:v>
              </c:pt>
              <c:pt idx="1">
                <c:v>28.402907975480474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F924-47FC-A06F-24478DBDFD51}"/>
            </c:ext>
          </c:extLst>
        </c:ser>
        <c:ser>
          <c:idx val="3"/>
          <c:order val="3"/>
          <c:tx>
            <c:v>Captive / In-house Box Manufacturing Units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924-47FC-A06F-24478DBDFD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924-47FC-A06F-24478DBDFD5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28.043986528009995</c:v>
              </c:pt>
              <c:pt idx="1">
                <c:v>30.362761592563864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F924-47FC-A06F-24478DBDFD51}"/>
            </c:ext>
          </c:extLst>
        </c:ser>
        <c:ser>
          <c:idx val="4"/>
          <c:order val="4"/>
          <c:tx>
            <c:v>Contract and Third-party Packaging Manufacturers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924-47FC-A06F-24478DBDFD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924-47FC-A06F-24478DBDFD5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Canada</c:v>
              </c:pt>
              <c:pt idx="1">
                <c:v>U.S.</c:v>
              </c:pt>
            </c:strLit>
          </c:cat>
          <c:val>
            <c:numLit>
              <c:formatCode>General</c:formatCode>
              <c:ptCount val="2"/>
              <c:pt idx="0">
                <c:v>14.437642836625228</c:v>
              </c:pt>
              <c:pt idx="1">
                <c:v>13.043289557417809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F924-47FC-A06F-24478DBDFD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Integrated Board and Box Manufacturers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78.506460347528034</c:v>
              </c:pt>
            </c:numLit>
          </c:xVal>
          <c:yVal>
            <c:numLit>
              <c:formatCode>General</c:formatCode>
              <c:ptCount val="1"/>
              <c:pt idx="0">
                <c:v>28.335753189133229</c:v>
              </c:pt>
            </c:numLit>
          </c:yVal>
          <c:bubbleSize>
            <c:numLit>
              <c:formatCode>General</c:formatCode>
              <c:ptCount val="1"/>
              <c:pt idx="0">
                <c:v>279.50799999999998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37DA-4FBC-8413-F18339CD0B11}"/>
            </c:ext>
          </c:extLst>
        </c:ser>
        <c:ser>
          <c:idx val="1"/>
          <c:order val="1"/>
          <c:tx>
            <c:v>Independent Corrugated Sheet Feeders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100.33943998068888</c:v>
              </c:pt>
            </c:numLit>
          </c:xVal>
          <c:yVal>
            <c:numLit>
              <c:formatCode>General</c:formatCode>
              <c:ptCount val="1"/>
              <c:pt idx="0">
                <c:v>125.08453775945949</c:v>
              </c:pt>
            </c:numLit>
          </c:yVal>
          <c:bubbleSize>
            <c:numLit>
              <c:formatCode>General</c:formatCode>
              <c:ptCount val="1"/>
              <c:pt idx="0">
                <c:v>1343.931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37DA-4FBC-8413-F18339CD0B11}"/>
            </c:ext>
          </c:extLst>
        </c:ser>
        <c:ser>
          <c:idx val="2"/>
          <c:order val="2"/>
          <c:tx>
            <c:v>Independent Sheet Plants and Box Converters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144.72340097517699</c:v>
              </c:pt>
            </c:numLit>
          </c:xVal>
          <c:yVal>
            <c:numLit>
              <c:formatCode>General</c:formatCode>
              <c:ptCount val="1"/>
              <c:pt idx="0">
                <c:v>112.03839886731886</c:v>
              </c:pt>
            </c:numLit>
          </c:yVal>
          <c:bubbleSize>
            <c:numLit>
              <c:formatCode>General</c:formatCode>
              <c:ptCount val="1"/>
              <c:pt idx="0">
                <c:v>1428.9749999999999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37DA-4FBC-8413-F18339CD0B11}"/>
            </c:ext>
          </c:extLst>
        </c:ser>
        <c:ser>
          <c:idx val="3"/>
          <c:order val="3"/>
          <c:tx>
            <c:v>Captive / In-house Box Manufacturing Units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76.1752466239315</c:v>
              </c:pt>
            </c:numLit>
          </c:xVal>
          <c:yVal>
            <c:numLit>
              <c:formatCode>General</c:formatCode>
              <c:ptCount val="1"/>
              <c:pt idx="0">
                <c:v>162.51430692352457</c:v>
              </c:pt>
            </c:numLit>
          </c:yVal>
          <c:bubbleSize>
            <c:numLit>
              <c:formatCode>General</c:formatCode>
              <c:ptCount val="1"/>
              <c:pt idx="0">
                <c:v>1588.4349999999999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37DA-4FBC-8413-F18339CD0B11}"/>
            </c:ext>
          </c:extLst>
        </c:ser>
        <c:ser>
          <c:idx val="4"/>
          <c:order val="4"/>
          <c:tx>
            <c:v>Contract and Third-party Packaging Manufacturers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83.353616375836268</c:v>
              </c:pt>
            </c:numLit>
          </c:xVal>
          <c:yVal>
            <c:numLit>
              <c:formatCode>General</c:formatCode>
              <c:ptCount val="1"/>
              <c:pt idx="0">
                <c:v>72.027003260563802</c:v>
              </c:pt>
            </c:numLit>
          </c:yVal>
          <c:bubbleSize>
            <c:numLit>
              <c:formatCode>General</c:formatCode>
              <c:ptCount val="1"/>
              <c:pt idx="0">
                <c:v>724.13900000000001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37DA-4FBC-8413-F18339CD0B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70"/>
          <c:min val="5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204.29499999999999</c:v>
              </c:pt>
              <c:pt idx="2">
                <c:v>217.67500000000001</c:v>
              </c:pt>
              <c:pt idx="3">
                <c:v>231.84899999999999</c:v>
              </c:pt>
              <c:pt idx="4">
                <c:v>246.85400000000001</c:v>
              </c:pt>
              <c:pt idx="5">
                <c:v>262.72800000000001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365-419F-B7B2-EF28E73D078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365-419F-B7B2-EF28E73D078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365-419F-B7B2-EF28E73D078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365-419F-B7B2-EF28E73D078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365-419F-B7B2-EF28E73D078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365-419F-B7B2-EF28E73D078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365-419F-B7B2-EF28E73D078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365-419F-B7B2-EF28E73D078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365-419F-B7B2-EF28E73D078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365-419F-B7B2-EF28E73D078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365-419F-B7B2-EF28E73D078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365-419F-B7B2-EF28E73D078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365-419F-B7B2-EF28E73D078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365-419F-B7B2-EF28E73D078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365-419F-B7B2-EF28E73D078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204.29499999999999</c:v>
              </c:pt>
              <c:pt idx="1">
                <c:v>13.380000000000024</c:v>
              </c:pt>
              <c:pt idx="2">
                <c:v>14.173999999999978</c:v>
              </c:pt>
              <c:pt idx="3">
                <c:v>15.005000000000024</c:v>
              </c:pt>
              <c:pt idx="4">
                <c:v>15.873999999999995</c:v>
              </c:pt>
              <c:pt idx="5">
                <c:v>16.779999999999973</c:v>
              </c:pt>
              <c:pt idx="6">
                <c:v>279.50799999999998</c:v>
              </c:pt>
            </c:numLit>
          </c:val>
          <c:extLst>
            <c:ext xmlns:c16="http://schemas.microsoft.com/office/drawing/2014/chart" uri="{C3380CC4-5D6E-409C-BE32-E72D297353CC}">
              <c16:uniqueId val="{0000000F-8365-419F-B7B2-EF28E73D07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901.83399999999995</c:v>
              </c:pt>
              <c:pt idx="2">
                <c:v>976.62800000000004</c:v>
              </c:pt>
              <c:pt idx="3">
                <c:v>1057.682</c:v>
              </c:pt>
              <c:pt idx="4">
                <c:v>1145.5260000000001</c:v>
              </c:pt>
              <c:pt idx="5">
                <c:v>1240.7349999999999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168-4C82-B937-F5289F74B643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168-4C82-B937-F5289F74B643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168-4C82-B937-F5289F74B643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168-4C82-B937-F5289F74B643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168-4C82-B937-F5289F74B643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6168-4C82-B937-F5289F74B643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6168-4C82-B937-F5289F74B643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6168-4C82-B937-F5289F74B64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168-4C82-B937-F5289F74B64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168-4C82-B937-F5289F74B64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168-4C82-B937-F5289F74B64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168-4C82-B937-F5289F74B64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168-4C82-B937-F5289F74B64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168-4C82-B937-F5289F74B64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168-4C82-B937-F5289F74B64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901.83399999999995</c:v>
              </c:pt>
              <c:pt idx="1">
                <c:v>74.794000000000096</c:v>
              </c:pt>
              <c:pt idx="2">
                <c:v>81.053999999999974</c:v>
              </c:pt>
              <c:pt idx="3">
                <c:v>87.844000000000051</c:v>
              </c:pt>
              <c:pt idx="4">
                <c:v>95.208999999999833</c:v>
              </c:pt>
              <c:pt idx="5">
                <c:v>103.19600000000014</c:v>
              </c:pt>
              <c:pt idx="6">
                <c:v>1343.931</c:v>
              </c:pt>
            </c:numLit>
          </c:val>
          <c:extLst>
            <c:ext xmlns:c16="http://schemas.microsoft.com/office/drawing/2014/chart" uri="{C3380CC4-5D6E-409C-BE32-E72D297353CC}">
              <c16:uniqueId val="{0000000F-6168-4C82-B937-F5289F74B6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807.774</c:v>
              </c:pt>
              <c:pt idx="2">
                <c:v>907.16300000000001</c:v>
              </c:pt>
              <c:pt idx="3">
                <c:v>1017.717</c:v>
              </c:pt>
              <c:pt idx="4">
                <c:v>1140.634</c:v>
              </c:pt>
              <c:pt idx="5">
                <c:v>1277.2329999999999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926-4624-B7AA-895FC96CEF7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926-4624-B7AA-895FC96CEF7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926-4624-B7AA-895FC96CEF7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926-4624-B7AA-895FC96CEF7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926-4624-B7AA-895FC96CEF7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926-4624-B7AA-895FC96CEF7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926-4624-B7AA-895FC96CEF7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926-4624-B7AA-895FC96CEF7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926-4624-B7AA-895FC96CEF7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926-4624-B7AA-895FC96CEF7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926-4624-B7AA-895FC96CEF7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926-4624-B7AA-895FC96CEF7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926-4624-B7AA-895FC96CEF7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926-4624-B7AA-895FC96CEF7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926-4624-B7AA-895FC96CEF7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807.774</c:v>
              </c:pt>
              <c:pt idx="1">
                <c:v>99.38900000000001</c:v>
              </c:pt>
              <c:pt idx="2">
                <c:v>110.55399999999997</c:v>
              </c:pt>
              <c:pt idx="3">
                <c:v>122.91700000000003</c:v>
              </c:pt>
              <c:pt idx="4">
                <c:v>136.59899999999993</c:v>
              </c:pt>
              <c:pt idx="5">
                <c:v>151.74199999999996</c:v>
              </c:pt>
              <c:pt idx="6">
                <c:v>1428.9749999999999</c:v>
              </c:pt>
            </c:numLit>
          </c:val>
          <c:extLst>
            <c:ext xmlns:c16="http://schemas.microsoft.com/office/drawing/2014/chart" uri="{C3380CC4-5D6E-409C-BE32-E72D297353CC}">
              <c16:uniqueId val="{0000000F-A926-4624-B7AA-895FC96CEF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1171.6949999999999</c:v>
              </c:pt>
              <c:pt idx="2">
                <c:v>1246.229</c:v>
              </c:pt>
              <c:pt idx="3">
                <c:v>1324.9939999999999</c:v>
              </c:pt>
              <c:pt idx="4">
                <c:v>1408.1659999999999</c:v>
              </c:pt>
              <c:pt idx="5">
                <c:v>1495.92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BBF9-4CE7-9134-CB06D8B6E07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BBF9-4CE7-9134-CB06D8B6E07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BBF9-4CE7-9134-CB06D8B6E07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BBF9-4CE7-9134-CB06D8B6E07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BBF9-4CE7-9134-CB06D8B6E07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BBF9-4CE7-9134-CB06D8B6E07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BBF9-4CE7-9134-CB06D8B6E07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BBF9-4CE7-9134-CB06D8B6E07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BF9-4CE7-9134-CB06D8B6E07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BF9-4CE7-9134-CB06D8B6E07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BF9-4CE7-9134-CB06D8B6E07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BF9-4CE7-9134-CB06D8B6E07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BF9-4CE7-9134-CB06D8B6E07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BF9-4CE7-9134-CB06D8B6E07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BF9-4CE7-9134-CB06D8B6E07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1171.6949999999999</c:v>
              </c:pt>
              <c:pt idx="1">
                <c:v>74.534000000000106</c:v>
              </c:pt>
              <c:pt idx="2">
                <c:v>78.764999999999873</c:v>
              </c:pt>
              <c:pt idx="3">
                <c:v>83.172000000000025</c:v>
              </c:pt>
              <c:pt idx="4">
                <c:v>87.754000000000133</c:v>
              </c:pt>
              <c:pt idx="5">
                <c:v>92.514999999999873</c:v>
              </c:pt>
              <c:pt idx="6">
                <c:v>1588.4349999999999</c:v>
              </c:pt>
            </c:numLit>
          </c:val>
          <c:extLst>
            <c:ext xmlns:c16="http://schemas.microsoft.com/office/drawing/2014/chart" uri="{C3380CC4-5D6E-409C-BE32-E72D297353CC}">
              <c16:uniqueId val="{0000000F-BBF9-4CE7-9134-CB06D8B6E0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519.29999999999995</c:v>
              </c:pt>
              <c:pt idx="2">
                <c:v>555.24300000000005</c:v>
              </c:pt>
              <c:pt idx="3">
                <c:v>593.55399999999997</c:v>
              </c:pt>
              <c:pt idx="4">
                <c:v>634.37300000000005</c:v>
              </c:pt>
              <c:pt idx="5">
                <c:v>677.851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335B-41F6-B626-BD8C303AE07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335B-41F6-B626-BD8C303AE07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335B-41F6-B626-BD8C303AE07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335B-41F6-B626-BD8C303AE07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335B-41F6-B626-BD8C303AE07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335B-41F6-B626-BD8C303AE07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335B-41F6-B626-BD8C303AE07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335B-41F6-B626-BD8C303AE07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35B-41F6-B626-BD8C303AE0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35B-41F6-B626-BD8C303AE0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35B-41F6-B626-BD8C303AE0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35B-41F6-B626-BD8C303AE0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35B-41F6-B626-BD8C303AE0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35B-41F6-B626-BD8C303AE0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35B-41F6-B626-BD8C303AE07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519.29999999999995</c:v>
              </c:pt>
              <c:pt idx="1">
                <c:v>35.943000000000097</c:v>
              </c:pt>
              <c:pt idx="2">
                <c:v>38.310999999999922</c:v>
              </c:pt>
              <c:pt idx="3">
                <c:v>40.819000000000074</c:v>
              </c:pt>
              <c:pt idx="4">
                <c:v>43.477999999999952</c:v>
              </c:pt>
              <c:pt idx="5">
                <c:v>46.288000000000011</c:v>
              </c:pt>
              <c:pt idx="6">
                <c:v>724.13900000000001</c:v>
              </c:pt>
            </c:numLit>
          </c:val>
          <c:extLst>
            <c:ext xmlns:c16="http://schemas.microsoft.com/office/drawing/2014/chart" uri="{C3380CC4-5D6E-409C-BE32-E72D297353CC}">
              <c16:uniqueId val="{0000000F-335B-41F6-B626-BD8C303AE0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Captive / In-house Box Manufacturing Units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62D-4BCF-85DA-7EC35AC3A73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62D-4BCF-85DA-7EC35AC3A73C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62D-4BCF-85DA-7EC35AC3A73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33.919519811173984</c:v>
              </c:pt>
              <c:pt idx="1">
                <c:v>32.502861384704921</c:v>
              </c:pt>
              <c:pt idx="2">
                <c:v>29.607428758461339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062D-4BCF-85DA-7EC35AC3A73C}"/>
            </c:ext>
          </c:extLst>
        </c:ser>
        <c:ser>
          <c:idx val="1"/>
          <c:order val="1"/>
          <c:tx>
            <c:v>Sheet Plants and Box Converters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62D-4BCF-85DA-7EC35AC3A73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62D-4BCF-85DA-7EC35AC3A73C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62D-4BCF-85DA-7EC35AC3A73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20.340749979332511</c:v>
              </c:pt>
              <c:pt idx="1">
                <c:v>22.407679773463773</c:v>
              </c:pt>
              <c:pt idx="2">
                <c:v>26.635194710593947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062D-4BCF-85DA-7EC35AC3A73C}"/>
            </c:ext>
          </c:extLst>
        </c:ser>
        <c:ser>
          <c:idx val="2"/>
          <c:order val="2"/>
          <c:tx>
            <c:v>Corrugated Sheet Feeders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62D-4BCF-85DA-7EC35AC3A73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62D-4BCF-85DA-7EC35AC3A73C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62D-4BCF-85DA-7EC35AC3A73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25.003075713321383</c:v>
              </c:pt>
              <c:pt idx="1">
                <c:v>25.016907551891897</c:v>
              </c:pt>
              <c:pt idx="2">
                <c:v>25.050028070892239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062D-4BCF-85DA-7EC35AC3A73C}"/>
            </c:ext>
          </c:extLst>
        </c:ser>
        <c:ser>
          <c:idx val="3"/>
          <c:order val="3"/>
          <c:tx>
            <c:v>Contract and Third-party Packaging Manufacturers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62D-4BCF-85DA-7EC35AC3A73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62D-4BCF-85DA-7EC35AC3A73C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62D-4BCF-85DA-7EC35AC3A73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14.847851459645664</c:v>
              </c:pt>
              <c:pt idx="1">
                <c:v>14.405400652112766</c:v>
              </c:pt>
              <c:pt idx="2">
                <c:v>13.497495241368664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062D-4BCF-85DA-7EC35AC3A73C}"/>
            </c:ext>
          </c:extLst>
        </c:ser>
        <c:ser>
          <c:idx val="4"/>
          <c:order val="4"/>
          <c:tx>
            <c:v>Integrated Board and Box Manufacturers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062D-4BCF-85DA-7EC35AC3A73C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62D-4BCF-85DA-7EC35AC3A73C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062D-4BCF-85DA-7EC35AC3A73C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5.8888030365264559</c:v>
              </c:pt>
              <c:pt idx="1">
                <c:v>5.6671506378266461</c:v>
              </c:pt>
              <c:pt idx="2">
                <c:v>5.209853218683806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062D-4BCF-85DA-7EC35AC3A73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Captive / In-house Box Manufacturing Units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C4E-471C-9DC9-CC5611D3E14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C4E-471C-9DC9-CC5611D3E14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C4E-471C-9DC9-CC5611D3E14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C4E-471C-9DC9-CC5611D3E14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C4E-471C-9DC9-CC5611D3E14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C4E-471C-9DC9-CC5611D3E14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C4E-471C-9DC9-CC5611D3E14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C4E-471C-9DC9-CC5611D3E14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C4E-471C-9DC9-CC5611D3E14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C4E-471C-9DC9-CC5611D3E14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C4E-471C-9DC9-CC5611D3E14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C4E-471C-9DC9-CC5611D3E14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C4E-471C-9DC9-CC5611D3E14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C4E-471C-9DC9-CC5611D3E14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C4E-471C-9DC9-CC5611D3E14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31.046216083928456</c:v>
              </c:pt>
              <c:pt idx="1">
                <c:v>33.520859798761919</c:v>
              </c:pt>
              <c:pt idx="2">
                <c:v>35.451945710217885</c:v>
              </c:pt>
              <c:pt idx="3">
                <c:v>37.529444880664904</c:v>
              </c:pt>
              <c:pt idx="4">
                <c:v>39.483092507075824</c:v>
              </c:pt>
              <c:pt idx="5">
                <c:v>36.798916398052263</c:v>
              </c:pt>
              <c:pt idx="6">
                <c:v>38.784537389100123</c:v>
              </c:pt>
              <c:pt idx="7">
                <c:v>32.088788898906266</c:v>
              </c:pt>
              <c:pt idx="8">
                <c:v>37.515314873805437</c:v>
              </c:pt>
              <c:pt idx="9">
                <c:v>27.873162410315587</c:v>
              </c:pt>
              <c:pt idx="10">
                <c:v>28.669349723001453</c:v>
              </c:pt>
              <c:pt idx="11">
                <c:v>29.047477646903562</c:v>
              </c:pt>
              <c:pt idx="12">
                <c:v>35.153075493115303</c:v>
              </c:pt>
              <c:pt idx="13">
                <c:v>31.993735304792416</c:v>
              </c:pt>
              <c:pt idx="14">
                <c:v>32.546277364303045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7C4E-471C-9DC9-CC5611D3E149}"/>
            </c:ext>
          </c:extLst>
        </c:ser>
        <c:ser>
          <c:idx val="1"/>
          <c:order val="1"/>
          <c:tx>
            <c:v>Independent Corrugated Sheet Feeders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C4E-471C-9DC9-CC5611D3E14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C4E-471C-9DC9-CC5611D3E14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7C4E-471C-9DC9-CC5611D3E14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7C4E-471C-9DC9-CC5611D3E14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7C4E-471C-9DC9-CC5611D3E14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7C4E-471C-9DC9-CC5611D3E14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7C4E-471C-9DC9-CC5611D3E14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7C4E-471C-9DC9-CC5611D3E14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7C4E-471C-9DC9-CC5611D3E14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7C4E-471C-9DC9-CC5611D3E14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7C4E-471C-9DC9-CC5611D3E14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7C4E-471C-9DC9-CC5611D3E14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7C4E-471C-9DC9-CC5611D3E14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7C4E-471C-9DC9-CC5611D3E14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7C4E-471C-9DC9-CC5611D3E14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24.192825508777933</c:v>
              </c:pt>
              <c:pt idx="1">
                <c:v>27.442044912252406</c:v>
              </c:pt>
              <c:pt idx="2">
                <c:v>20.142455605007974</c:v>
              </c:pt>
              <c:pt idx="3">
                <c:v>21.915880235262744</c:v>
              </c:pt>
              <c:pt idx="4">
                <c:v>19.993544863200757</c:v>
              </c:pt>
              <c:pt idx="5">
                <c:v>23.402372951100745</c:v>
              </c:pt>
              <c:pt idx="6">
                <c:v>24.591254752851711</c:v>
              </c:pt>
              <c:pt idx="7">
                <c:v>25.855865542882196</c:v>
              </c:pt>
              <c:pt idx="8">
                <c:v>23.124584310568139</c:v>
              </c:pt>
              <c:pt idx="9">
                <c:v>26.832773067081433</c:v>
              </c:pt>
              <c:pt idx="10">
                <c:v>23.74469614739424</c:v>
              </c:pt>
              <c:pt idx="11">
                <c:v>27.040922938181179</c:v>
              </c:pt>
              <c:pt idx="12">
                <c:v>23.801964235774097</c:v>
              </c:pt>
              <c:pt idx="13">
                <c:v>26.248994019346387</c:v>
              </c:pt>
              <c:pt idx="14">
                <c:v>26.740274256427032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7C4E-471C-9DC9-CC5611D3E149}"/>
            </c:ext>
          </c:extLst>
        </c:ser>
        <c:ser>
          <c:idx val="2"/>
          <c:order val="2"/>
          <c:tx>
            <c:v>Independent Sheet Plants and Box Converters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7C4E-471C-9DC9-CC5611D3E14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7C4E-471C-9DC9-CC5611D3E14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7C4E-471C-9DC9-CC5611D3E14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7C4E-471C-9DC9-CC5611D3E14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7C4E-471C-9DC9-CC5611D3E14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7C4E-471C-9DC9-CC5611D3E14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7C4E-471C-9DC9-CC5611D3E14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7C4E-471C-9DC9-CC5611D3E14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7C4E-471C-9DC9-CC5611D3E14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7C4E-471C-9DC9-CC5611D3E14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7C4E-471C-9DC9-CC5611D3E14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7C4E-471C-9DC9-CC5611D3E14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7C4E-471C-9DC9-CC5611D3E14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7C4E-471C-9DC9-CC5611D3E14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7C4E-471C-9DC9-CC5611D3E14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23.014866753551566</c:v>
              </c:pt>
              <c:pt idx="1">
                <c:v>17.703103260540804</c:v>
              </c:pt>
              <c:pt idx="2">
                <c:v>25.54287742372383</c:v>
              </c:pt>
              <c:pt idx="3">
                <c:v>20.591416169128433</c:v>
              </c:pt>
              <c:pt idx="4">
                <c:v>19.636029594319478</c:v>
              </c:pt>
              <c:pt idx="5">
                <c:v>19.627597558466498</c:v>
              </c:pt>
              <c:pt idx="6">
                <c:v>22.432192648922687</c:v>
              </c:pt>
              <c:pt idx="7">
                <c:v>20.43545269821314</c:v>
              </c:pt>
              <c:pt idx="8">
                <c:v>22.391220639199076</c:v>
              </c:pt>
              <c:pt idx="9">
                <c:v>25.17284631980332</c:v>
              </c:pt>
              <c:pt idx="10">
                <c:v>24.41393309744992</c:v>
              </c:pt>
              <c:pt idx="11">
                <c:v>23.958780120316302</c:v>
              </c:pt>
              <c:pt idx="12">
                <c:v>20.396630858571736</c:v>
              </c:pt>
              <c:pt idx="13">
                <c:v>21.501948840952483</c:v>
              </c:pt>
              <c:pt idx="14">
                <c:v>23.878574738965678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F-7C4E-471C-9DC9-CC5611D3E149}"/>
            </c:ext>
          </c:extLst>
        </c:ser>
        <c:ser>
          <c:idx val="3"/>
          <c:order val="3"/>
          <c:tx>
            <c:v>Contract and Third-party Packaging Manufacturers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7C4E-471C-9DC9-CC5611D3E14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7C4E-471C-9DC9-CC5611D3E14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7C4E-471C-9DC9-CC5611D3E14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7C4E-471C-9DC9-CC5611D3E14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7C4E-471C-9DC9-CC5611D3E14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7C4E-471C-9DC9-CC5611D3E14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7C4E-471C-9DC9-CC5611D3E14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7C4E-471C-9DC9-CC5611D3E14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7C4E-471C-9DC9-CC5611D3E14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7C4E-471C-9DC9-CC5611D3E14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7C4E-471C-9DC9-CC5611D3E14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7C4E-471C-9DC9-CC5611D3E14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7C4E-471C-9DC9-CC5611D3E14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7C4E-471C-9DC9-CC5611D3E14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7C4E-471C-9DC9-CC5611D3E14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16.536830745460655</c:v>
              </c:pt>
              <c:pt idx="1">
                <c:v>15.88093749789957</c:v>
              </c:pt>
              <c:pt idx="2">
                <c:v>13.354193098327819</c:v>
              </c:pt>
              <c:pt idx="3">
                <c:v>12.813523163306122</c:v>
              </c:pt>
              <c:pt idx="4">
                <c:v>16.435771388847513</c:v>
              </c:pt>
              <c:pt idx="5">
                <c:v>16.02702146629175</c:v>
              </c:pt>
              <c:pt idx="6">
                <c:v>10.164765525982254</c:v>
              </c:pt>
              <c:pt idx="7">
                <c:v>15.830031733953124</c:v>
              </c:pt>
              <c:pt idx="8">
                <c:v>11.599047852417124</c:v>
              </c:pt>
              <c:pt idx="9">
                <c:v>13.026541568411018</c:v>
              </c:pt>
              <c:pt idx="10">
                <c:v>17.511171569940373</c:v>
              </c:pt>
              <c:pt idx="11">
                <c:v>13.982095527181146</c:v>
              </c:pt>
              <c:pt idx="12">
                <c:v>15.138105186964317</c:v>
              </c:pt>
              <c:pt idx="13">
                <c:v>13.855312366855502</c:v>
              </c:pt>
              <c:pt idx="14">
                <c:v>11.168452332270112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F-7C4E-471C-9DC9-CC5611D3E149}"/>
            </c:ext>
          </c:extLst>
        </c:ser>
        <c:ser>
          <c:idx val="4"/>
          <c:order val="4"/>
          <c:tx>
            <c:v>Integrated Board and Box Manufacturers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7C4E-471C-9DC9-CC5611D3E14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7C4E-471C-9DC9-CC5611D3E14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7C4E-471C-9DC9-CC5611D3E14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7C4E-471C-9DC9-CC5611D3E14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7C4E-471C-9DC9-CC5611D3E14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7C4E-471C-9DC9-CC5611D3E14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7C4E-471C-9DC9-CC5611D3E14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7C4E-471C-9DC9-CC5611D3E14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7C4E-471C-9DC9-CC5611D3E149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7C4E-471C-9DC9-CC5611D3E149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7C4E-471C-9DC9-CC5611D3E149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7C4E-471C-9DC9-CC5611D3E149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7C4E-471C-9DC9-CC5611D3E149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7C4E-471C-9DC9-CC5611D3E149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7C4E-471C-9DC9-CC5611D3E14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5.2092609082813892</c:v>
              </c:pt>
              <c:pt idx="1">
                <c:v>5.4530545305453053</c:v>
              </c:pt>
              <c:pt idx="2">
                <c:v>5.5085281627224845</c:v>
              </c:pt>
              <c:pt idx="3">
                <c:v>7.1497355516378018</c:v>
              </c:pt>
              <c:pt idx="4">
                <c:v>4.4515616465564323</c:v>
              </c:pt>
              <c:pt idx="5">
                <c:v>4.1440916260887457</c:v>
              </c:pt>
              <c:pt idx="6">
                <c:v>4.0272496831432196</c:v>
              </c:pt>
              <c:pt idx="7">
                <c:v>5.7898611260452775</c:v>
              </c:pt>
              <c:pt idx="8">
                <c:v>5.3698323240102219</c:v>
              </c:pt>
              <c:pt idx="9">
                <c:v>7.0946766343886409</c:v>
              </c:pt>
              <c:pt idx="10">
                <c:v>5.6608494622140144</c:v>
              </c:pt>
              <c:pt idx="11">
                <c:v>5.9707237674178195</c:v>
              </c:pt>
              <c:pt idx="12">
                <c:v>5.5102242255745466</c:v>
              </c:pt>
              <c:pt idx="13">
                <c:v>6.4000094680532094</c:v>
              </c:pt>
              <c:pt idx="14">
                <c:v>5.6664213080341321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F-7C4E-471C-9DC9-CC5611D3E14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Agriculture and fresh produce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10.947465258427762</c:v>
              </c:pt>
              <c:pt idx="1">
                <c:v>10.667907889607335</c:v>
              </c:pt>
              <c:pt idx="2">
                <c:v>13.52145197018713</c:v>
              </c:pt>
              <c:pt idx="3">
                <c:v>9.0268003970429191</c:v>
              </c:pt>
              <c:pt idx="4">
                <c:v>10.346839465713293</c:v>
              </c:pt>
              <c:pt idx="5">
                <c:v>9.5291491353503357</c:v>
              </c:pt>
              <c:pt idx="6">
                <c:v>12.104639446384322</c:v>
              </c:pt>
              <c:pt idx="7">
                <c:v>12.273954171870651</c:v>
              </c:pt>
              <c:pt idx="8">
                <c:v>11.485280218433857</c:v>
              </c:pt>
              <c:pt idx="9">
                <c:v>11.453870036144554</c:v>
              </c:pt>
              <c:pt idx="10">
                <c:v>8.9298552277308669</c:v>
              </c:pt>
              <c:pt idx="11">
                <c:v>10.398394325149157</c:v>
              </c:pt>
              <c:pt idx="12">
                <c:v>12.135918337130775</c:v>
              </c:pt>
              <c:pt idx="13">
                <c:v>10.143915544299004</c:v>
              </c:pt>
              <c:pt idx="14">
                <c:v>12.088786868441787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FE39-4772-9A86-8E4793BB147D}"/>
            </c:ext>
          </c:extLst>
        </c:ser>
        <c:ser>
          <c:idx val="1"/>
          <c:order val="1"/>
          <c:tx>
            <c:v>Retail-ready and point-of-sale packaging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9.4867417373587273</c:v>
              </c:pt>
              <c:pt idx="1">
                <c:v>11.941281641102851</c:v>
              </c:pt>
              <c:pt idx="2">
                <c:v>10.799619792027872</c:v>
              </c:pt>
              <c:pt idx="3">
                <c:v>12.206106757137144</c:v>
              </c:pt>
              <c:pt idx="4">
                <c:v>9.8838075376135848</c:v>
              </c:pt>
              <c:pt idx="5">
                <c:v>9.2483051632084123</c:v>
              </c:pt>
              <c:pt idx="6">
                <c:v>12.555846361510529</c:v>
              </c:pt>
              <c:pt idx="7">
                <c:v>12.029952881558742</c:v>
              </c:pt>
              <c:pt idx="8">
                <c:v>13.169041201386214</c:v>
              </c:pt>
              <c:pt idx="9">
                <c:v>11.220465724887964</c:v>
              </c:pt>
              <c:pt idx="10">
                <c:v>9.8877204358674344</c:v>
              </c:pt>
              <c:pt idx="11">
                <c:v>13.040609276621485</c:v>
              </c:pt>
              <c:pt idx="12">
                <c:v>12.251898036570619</c:v>
              </c:pt>
              <c:pt idx="13">
                <c:v>10.245303414049122</c:v>
              </c:pt>
              <c:pt idx="14">
                <c:v>11.907221975349703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FE39-4772-9A86-8E4793BB147D}"/>
            </c:ext>
          </c:extLst>
        </c:ser>
        <c:ser>
          <c:idx val="2"/>
          <c:order val="2"/>
          <c:tx>
            <c:v>E-commerce shipping and fulfillment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12.095345086348988</c:v>
              </c:pt>
              <c:pt idx="1">
                <c:v>12.462528061944642</c:v>
              </c:pt>
              <c:pt idx="2">
                <c:v>11.634690305920556</c:v>
              </c:pt>
              <c:pt idx="3">
                <c:v>12.118698054785998</c:v>
              </c:pt>
              <c:pt idx="4">
                <c:v>9.9856000794478383</c:v>
              </c:pt>
              <c:pt idx="5">
                <c:v>11.232730153178268</c:v>
              </c:pt>
              <c:pt idx="6">
                <c:v>12.598305439197965</c:v>
              </c:pt>
              <c:pt idx="7">
                <c:v>11.193455802681534</c:v>
              </c:pt>
              <c:pt idx="8">
                <c:v>10.881436622676514</c:v>
              </c:pt>
              <c:pt idx="9">
                <c:v>9.458995699179372</c:v>
              </c:pt>
              <c:pt idx="10">
                <c:v>11.858075247748065</c:v>
              </c:pt>
              <c:pt idx="11">
                <c:v>10.280168265926152</c:v>
              </c:pt>
              <c:pt idx="12">
                <c:v>11.043570529640627</c:v>
              </c:pt>
              <c:pt idx="13">
                <c:v>8.7793216086349339</c:v>
              </c:pt>
              <c:pt idx="14">
                <c:v>11.746376199187047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F-FE39-4772-9A86-8E4793BB147D}"/>
            </c:ext>
          </c:extLst>
        </c:ser>
        <c:ser>
          <c:idx val="3"/>
          <c:order val="3"/>
          <c:tx>
            <c:v>Pharmaceuticals and healthcare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11.727952775640063</c:v>
              </c:pt>
              <c:pt idx="1">
                <c:v>11.738294640336608</c:v>
              </c:pt>
              <c:pt idx="2">
                <c:v>10.507936637443958</c:v>
              </c:pt>
              <c:pt idx="3">
                <c:v>10.449043689536142</c:v>
              </c:pt>
              <c:pt idx="4">
                <c:v>11.341178807289339</c:v>
              </c:pt>
              <c:pt idx="5">
                <c:v>13.478110286982076</c:v>
              </c:pt>
              <c:pt idx="6">
                <c:v>9.0235045849466733</c:v>
              </c:pt>
              <c:pt idx="7">
                <c:v>12.168082425565823</c:v>
              </c:pt>
              <c:pt idx="8">
                <c:v>9.0559036650680866</c:v>
              </c:pt>
              <c:pt idx="9">
                <c:v>9.9639357224997358</c:v>
              </c:pt>
              <c:pt idx="10">
                <c:v>9.7587363791426416</c:v>
              </c:pt>
              <c:pt idx="11">
                <c:v>11.055511258970059</c:v>
              </c:pt>
              <c:pt idx="12">
                <c:v>13.617332795933306</c:v>
              </c:pt>
              <c:pt idx="13">
                <c:v>10.400738513977323</c:v>
              </c:pt>
              <c:pt idx="14">
                <c:v>11.09017995643533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F-FE39-4772-9A86-8E4793BB147D}"/>
            </c:ext>
          </c:extLst>
        </c:ser>
        <c:ser>
          <c:idx val="4"/>
          <c:order val="4"/>
          <c:tx>
            <c:v>Industrial machinery, automotive and components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11.174210593046672</c:v>
              </c:pt>
              <c:pt idx="1">
                <c:v>9.4462891018833446</c:v>
              </c:pt>
              <c:pt idx="2">
                <c:v>10.594829661117208</c:v>
              </c:pt>
              <c:pt idx="3">
                <c:v>11.692025067038031</c:v>
              </c:pt>
              <c:pt idx="4">
                <c:v>9.8093251899299876</c:v>
              </c:pt>
              <c:pt idx="5">
                <c:v>12.981918311781387</c:v>
              </c:pt>
              <c:pt idx="6">
                <c:v>11.458247517411388</c:v>
              </c:pt>
              <c:pt idx="7">
                <c:v>10.604544213860928</c:v>
              </c:pt>
              <c:pt idx="8">
                <c:v>12.619456015682431</c:v>
              </c:pt>
              <c:pt idx="9">
                <c:v>12.073003570303264</c:v>
              </c:pt>
              <c:pt idx="10">
                <c:v>11.747416794710949</c:v>
              </c:pt>
              <c:pt idx="11">
                <c:v>12.719474306452943</c:v>
              </c:pt>
              <c:pt idx="12">
                <c:v>9.4091615737046865</c:v>
              </c:pt>
              <c:pt idx="13">
                <c:v>8.9004347448734027</c:v>
              </c:pt>
              <c:pt idx="14">
                <c:v>11.052013162091647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F-FE39-4772-9A86-8E4793BB147D}"/>
            </c:ext>
          </c:extLst>
        </c:ser>
        <c:ser>
          <c:idx val="5"/>
          <c:order val="5"/>
          <c:tx>
            <c:v>Other end uses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11.6701607267645</c:v>
              </c:pt>
              <c:pt idx="1">
                <c:v>9.1861699982524296</c:v>
              </c:pt>
              <c:pt idx="2">
                <c:v>11.430716071945792</c:v>
              </c:pt>
              <c:pt idx="3">
                <c:v>9.2697669595105108</c:v>
              </c:pt>
              <c:pt idx="4">
                <c:v>11.382144098515319</c:v>
              </c:pt>
              <c:pt idx="5">
                <c:v>12.392454590032957</c:v>
              </c:pt>
              <c:pt idx="6">
                <c:v>12.458887572164588</c:v>
              </c:pt>
              <c:pt idx="7">
                <c:v>8.6974742420106814</c:v>
              </c:pt>
              <c:pt idx="8">
                <c:v>11.669058704099134</c:v>
              </c:pt>
              <c:pt idx="9">
                <c:v>12.032664562080932</c:v>
              </c:pt>
              <c:pt idx="10">
                <c:v>11.620899646174882</c:v>
              </c:pt>
              <c:pt idx="11">
                <c:v>9.4333397487008899</c:v>
              </c:pt>
              <c:pt idx="12">
                <c:v>11.492683408322572</c:v>
              </c:pt>
              <c:pt idx="13">
                <c:v>12.538168390654958</c:v>
              </c:pt>
              <c:pt idx="14">
                <c:v>10.995580830454919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5F-FE39-4772-9A86-8E4793BB147D}"/>
            </c:ext>
          </c:extLst>
        </c:ser>
        <c:ser>
          <c:idx val="6"/>
          <c:order val="6"/>
          <c:tx>
            <c:v>Processed food and beverages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8.8017880152264354</c:v>
              </c:pt>
              <c:pt idx="1">
                <c:v>12.612751885359398</c:v>
              </c:pt>
              <c:pt idx="2">
                <c:v>9.5680233672882444</c:v>
              </c:pt>
              <c:pt idx="3">
                <c:v>11.927584112357222</c:v>
              </c:pt>
              <c:pt idx="4">
                <c:v>13.936888624062766</c:v>
              </c:pt>
              <c:pt idx="5">
                <c:v>9.9907071164285171</c:v>
              </c:pt>
              <c:pt idx="6">
                <c:v>10.144550979410514</c:v>
              </c:pt>
              <c:pt idx="7">
                <c:v>11.926286796635264</c:v>
              </c:pt>
              <c:pt idx="8">
                <c:v>10.681905695382783</c:v>
              </c:pt>
              <c:pt idx="9">
                <c:v>11.576492593477122</c:v>
              </c:pt>
              <c:pt idx="10">
                <c:v>11.964504715318796</c:v>
              </c:pt>
              <c:pt idx="11">
                <c:v>11.842951802260043</c:v>
              </c:pt>
              <c:pt idx="12">
                <c:v>8.6754460283122068</c:v>
              </c:pt>
              <c:pt idx="13">
                <c:v>12.781578179121201</c:v>
              </c:pt>
              <c:pt idx="14">
                <c:v>10.853818451464106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F-FE39-4772-9A86-8E4793BB147D}"/>
            </c:ext>
          </c:extLst>
        </c:ser>
        <c:ser>
          <c:idx val="7"/>
          <c:order val="7"/>
          <c:tx>
            <c:v>Electrical and electronics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10.740180511695518</c:v>
              </c:pt>
              <c:pt idx="1">
                <c:v>11.174031106749656</c:v>
              </c:pt>
              <c:pt idx="2">
                <c:v>13.085763006417029</c:v>
              </c:pt>
              <c:pt idx="3">
                <c:v>11.337945747344405</c:v>
              </c:pt>
              <c:pt idx="4">
                <c:v>9.6479467699488559</c:v>
              </c:pt>
              <c:pt idx="5">
                <c:v>11.876716697357187</c:v>
              </c:pt>
              <c:pt idx="6">
                <c:v>9.5488564566315368</c:v>
              </c:pt>
              <c:pt idx="7">
                <c:v>8.4758052731849478</c:v>
              </c:pt>
              <c:pt idx="8">
                <c:v>10.496376938425456</c:v>
              </c:pt>
              <c:pt idx="9">
                <c:v>12.669258263977667</c:v>
              </c:pt>
              <c:pt idx="10">
                <c:v>11.075008105555476</c:v>
              </c:pt>
              <c:pt idx="11">
                <c:v>8.1575980863875071</c:v>
              </c:pt>
              <c:pt idx="12">
                <c:v>10.618311631694537</c:v>
              </c:pt>
              <c:pt idx="13">
                <c:v>14.373801690060834</c:v>
              </c:pt>
              <c:pt idx="14">
                <c:v>10.412174116915795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7F-FE39-4772-9A86-8E4793BB147D}"/>
            </c:ext>
          </c:extLst>
        </c:ser>
        <c:ser>
          <c:idx val="8"/>
          <c:order val="8"/>
          <c:tx>
            <c:v>Personal care and household products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FE39-4772-9A86-8E4793BB147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1-FE39-4772-9A86-8E4793BB147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FE39-4772-9A86-8E4793BB147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FE39-4772-9A86-8E4793BB147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FE39-4772-9A86-8E4793BB147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FE39-4772-9A86-8E4793BB147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FE39-4772-9A86-8E4793BB147D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7-FE39-4772-9A86-8E4793BB147D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FE39-4772-9A86-8E4793BB147D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FE39-4772-9A86-8E4793BB147D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FE39-4772-9A86-8E4793BB147D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FE39-4772-9A86-8E4793BB147D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FE39-4772-9A86-8E4793BB147D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FE39-4772-9A86-8E4793BB147D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FE39-4772-9A86-8E4793BB147D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5"/>
              <c:pt idx="0">
                <c:v>Single facers</c:v>
              </c:pt>
              <c:pt idx="1">
                <c:v>Double facers and gluing systems</c:v>
              </c:pt>
              <c:pt idx="2">
                <c:v>Slitter-scorers, cut-off machines and corrugator stackers</c:v>
              </c:pt>
              <c:pt idx="3">
                <c:v>Reel stands, splicers, preheaters and other corrugator auxiliaries</c:v>
              </c:pt>
              <c:pt idx="4">
                <c:v>Integrated flexo printer-slotter-die-cutter lines</c:v>
              </c:pt>
              <c:pt idx="5">
                <c:v>Standalone flexo printing and printer-slotter machines</c:v>
              </c:pt>
              <c:pt idx="6">
                <c:v>Digital corrugated printing machines</c:v>
              </c:pt>
              <c:pt idx="7">
                <c:v>Corrugated liner pre-printing machines</c:v>
              </c:pt>
              <c:pt idx="8">
                <c:v>Standalone flatbed die-cutters</c:v>
              </c:pt>
              <c:pt idx="9">
                <c:v>Standalone rotary die-cutters</c:v>
              </c:pt>
              <c:pt idx="10">
                <c:v>Standalone slotting, scoring and creasing machines</c:v>
              </c:pt>
              <c:pt idx="11">
                <c:v>Standalone folder-gluers</c:v>
              </c:pt>
              <c:pt idx="12">
                <c:v>Stitching and box-joint taping machines</c:v>
              </c:pt>
              <c:pt idx="13">
                <c:v>Flute laminating and sheet-mounting machines</c:v>
              </c:pt>
              <c:pt idx="14">
                <c:v>Specialty box-forming and assembly machines</c:v>
              </c:pt>
            </c:strLit>
          </c:cat>
          <c:val>
            <c:numLit>
              <c:formatCode>General</c:formatCode>
              <c:ptCount val="15"/>
              <c:pt idx="0">
                <c:v>13.356155295491334</c:v>
              </c:pt>
              <c:pt idx="1">
                <c:v>10.770745674763742</c:v>
              </c:pt>
              <c:pt idx="2">
                <c:v>8.856969187652215</c:v>
              </c:pt>
              <c:pt idx="3">
                <c:v>11.972029215247632</c:v>
              </c:pt>
              <c:pt idx="4">
                <c:v>13.666269427479023</c:v>
              </c:pt>
              <c:pt idx="5">
                <c:v>9.2699085456808668</c:v>
              </c:pt>
              <c:pt idx="6">
                <c:v>10.107161642342472</c:v>
              </c:pt>
              <c:pt idx="7">
                <c:v>12.630444192631437</c:v>
              </c:pt>
              <c:pt idx="8">
                <c:v>9.9415409388455203</c:v>
              </c:pt>
              <c:pt idx="9">
                <c:v>9.5513138274493912</c:v>
              </c:pt>
              <c:pt idx="10">
                <c:v>13.157783447750882</c:v>
              </c:pt>
              <c:pt idx="11">
                <c:v>13.071952929531768</c:v>
              </c:pt>
              <c:pt idx="12">
                <c:v>10.755677658690663</c:v>
              </c:pt>
              <c:pt idx="13">
                <c:v>11.836737914329223</c:v>
              </c:pt>
              <c:pt idx="14">
                <c:v>9.8538484396596608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F-FE39-4772-9A86-8E4793BB14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Volume (Units)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C7A-457B-8712-649D6BDB429D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C7A-457B-8712-649D6BDB429D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C7A-457B-8712-649D6BDB429D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C7A-457B-8712-649D6BDB429D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C7A-457B-8712-649D6BDB429D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C7A-457B-8712-649D6BDB429D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C7A-457B-8712-649D6BDB429D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C7A-457B-8712-649D6BDB429D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C7A-457B-8712-649D6BDB429D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C7A-457B-8712-649D6BDB429D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C7A-457B-8712-649D6BDB429D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C7A-457B-8712-649D6BDB429D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C7A-457B-8712-649D6BDB429D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C7A-457B-8712-649D6BDB429D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C7A-457B-8712-649D6BDB429D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1C7A-457B-8712-649D6BDB429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415344.33600000001</c:v>
              </c:pt>
              <c:pt idx="1">
                <c:v>422109.62299999996</c:v>
              </c:pt>
              <c:pt idx="2">
                <c:v>428985.10600000003</c:v>
              </c:pt>
              <c:pt idx="3">
                <c:v>435972.57900000003</c:v>
              </c:pt>
              <c:pt idx="4">
                <c:v>443073.86700000003</c:v>
              </c:pt>
              <c:pt idx="5">
                <c:v>450290.82400000002</c:v>
              </c:pt>
              <c:pt idx="6">
                <c:v>461178.81299999997</c:v>
              </c:pt>
              <c:pt idx="7">
                <c:v>472330.07300000003</c:v>
              </c:pt>
              <c:pt idx="8">
                <c:v>483750.96900000004</c:v>
              </c:pt>
              <c:pt idx="9">
                <c:v>495448.02100000001</c:v>
              </c:pt>
              <c:pt idx="10">
                <c:v>507427.90700000001</c:v>
              </c:pt>
              <c:pt idx="11">
                <c:v>519697.46600000001</c:v>
              </c:pt>
              <c:pt idx="12">
                <c:v>532263.701</c:v>
              </c:pt>
              <c:pt idx="13">
                <c:v>545133.78700000001</c:v>
              </c:pt>
              <c:pt idx="14">
                <c:v>558315.06999999995</c:v>
              </c:pt>
              <c:pt idx="15">
                <c:v>571815.07499999995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1C7A-457B-8712-649D6BDB42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CAGR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1-DD63-47A4-8534-D6D3CFABC380}"/>
              </c:ext>
            </c:extLst>
          </c:dPt>
          <c:dPt>
            <c:idx val="1"/>
            <c:invertIfNegative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DD63-47A4-8534-D6D3CFABC380}"/>
              </c:ext>
            </c:extLst>
          </c:dPt>
          <c:dPt>
            <c:idx val="2"/>
            <c:invertIfNegative val="1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5-DD63-47A4-8534-D6D3CFABC38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63-47A4-8534-D6D3CFABC38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63-47A4-8534-D6D3CFABC38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D63-47A4-8534-D6D3CFABC380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Global</c:v>
              </c:pt>
              <c:pt idx="1">
                <c:v>North America</c:v>
              </c:pt>
              <c:pt idx="2">
                <c:v>U.S.</c:v>
              </c:pt>
            </c:strLit>
          </c:cat>
          <c:val>
            <c:numLit>
              <c:formatCode>General</c:formatCode>
              <c:ptCount val="3"/>
              <c:pt idx="0">
                <c:v>4.3669242710394629E-2</c:v>
              </c:pt>
              <c:pt idx="1">
                <c:v>2.5858271188418103E-2</c:v>
              </c:pt>
              <c:pt idx="2">
                <c:v>2.4179904739402236E-2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DD63-47A4-8534-D6D3CFABC3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5.8953477659032756E-2"/>
          <c:min val="0"/>
        </c:scaling>
        <c:delete val="1"/>
        <c:axPos val="b"/>
        <c:numFmt formatCode="General" sourceLinked="1"/>
        <c:majorTickMark val="out"/>
        <c:minorTickMark val="none"/>
        <c:tickLblPos val="none"/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0</c:v>
              </c:pt>
              <c:pt idx="1">
                <c:v>450290.82400000002</c:v>
              </c:pt>
              <c:pt idx="2">
                <c:v>461178.81299999997</c:v>
              </c:pt>
              <c:pt idx="3">
                <c:v>472330.07300000003</c:v>
              </c:pt>
              <c:pt idx="4">
                <c:v>483750.96900000004</c:v>
              </c:pt>
              <c:pt idx="5">
                <c:v>495448.02100000001</c:v>
              </c:pt>
              <c:pt idx="6">
                <c:v>507427.90700000001</c:v>
              </c:pt>
              <c:pt idx="7">
                <c:v>519697.46600000001</c:v>
              </c:pt>
              <c:pt idx="8">
                <c:v>532263.701</c:v>
              </c:pt>
              <c:pt idx="9">
                <c:v>545133.78700000001</c:v>
              </c:pt>
              <c:pt idx="10">
                <c:v>558315.06999999995</c:v>
              </c:pt>
              <c:pt idx="11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F5E2-4E36-9FD2-8C7646B77C6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F5E2-4E36-9FD2-8C7646B77C6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F5E2-4E36-9FD2-8C7646B77C6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F5E2-4E36-9FD2-8C7646B77C6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F5E2-4E36-9FD2-8C7646B77C6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F5E2-4E36-9FD2-8C7646B77C6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F5E2-4E36-9FD2-8C7646B77C64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F5E2-4E36-9FD2-8C7646B77C64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F5E2-4E36-9FD2-8C7646B77C64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F5E2-4E36-9FD2-8C7646B77C64}"/>
              </c:ext>
            </c:extLst>
          </c:dPt>
          <c:dPt>
            <c:idx val="9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4-F5E2-4E36-9FD2-8C7646B77C64}"/>
              </c:ext>
            </c:extLst>
          </c:dPt>
          <c:dPt>
            <c:idx val="1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6-F5E2-4E36-9FD2-8C7646B77C64}"/>
              </c:ext>
            </c:extLst>
          </c:dPt>
          <c:dPt>
            <c:idx val="11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8-F5E2-4E36-9FD2-8C7646B77C6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5E2-4E36-9FD2-8C7646B77C6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5E2-4E36-9FD2-8C7646B77C6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5E2-4E36-9FD2-8C7646B77C6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5E2-4E36-9FD2-8C7646B77C6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5E2-4E36-9FD2-8C7646B77C6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5E2-4E36-9FD2-8C7646B77C6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5E2-4E36-9FD2-8C7646B77C6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F5E2-4E36-9FD2-8C7646B77C6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F5E2-4E36-9FD2-8C7646B77C6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F5E2-4E36-9FD2-8C7646B77C6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F5E2-4E36-9FD2-8C7646B77C6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F5E2-4E36-9FD2-8C7646B77C6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450290.82400000002</c:v>
              </c:pt>
              <c:pt idx="1">
                <c:v>10887.988999999943</c:v>
              </c:pt>
              <c:pt idx="2">
                <c:v>11151.260000000068</c:v>
              </c:pt>
              <c:pt idx="3">
                <c:v>11420.896000000008</c:v>
              </c:pt>
              <c:pt idx="4">
                <c:v>11697.051999999967</c:v>
              </c:pt>
              <c:pt idx="5">
                <c:v>11979.885999999999</c:v>
              </c:pt>
              <c:pt idx="6">
                <c:v>12269.559000000008</c:v>
              </c:pt>
              <c:pt idx="7">
                <c:v>12566.234999999986</c:v>
              </c:pt>
              <c:pt idx="8">
                <c:v>12870.08600000001</c:v>
              </c:pt>
              <c:pt idx="9">
                <c:v>13181.282999999938</c:v>
              </c:pt>
              <c:pt idx="10">
                <c:v>13500.005000000005</c:v>
              </c:pt>
              <c:pt idx="11">
                <c:v>571815.07499999995</c:v>
              </c:pt>
            </c:numLit>
          </c:val>
          <c:extLst>
            <c:ext xmlns:c16="http://schemas.microsoft.com/office/drawing/2014/chart" uri="{C3380CC4-5D6E-409C-BE32-E72D297353CC}">
              <c16:uniqueId val="{00000019-F5E2-4E36-9FD2-8C7646B77C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U.S.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0EB-481F-85B8-DB9A47766E4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0EB-481F-85B8-DB9A47766E4A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Share of North America</c:v>
              </c:pt>
              <c:pt idx="1">
                <c:v>Share of Global</c:v>
              </c:pt>
            </c:strLit>
          </c:cat>
          <c:val>
            <c:numLit>
              <c:formatCode>General</c:formatCode>
              <c:ptCount val="2"/>
              <c:pt idx="0">
                <c:v>70.023055440301647</c:v>
              </c:pt>
              <c:pt idx="1">
                <c:v>16.937544751923152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40EB-481F-85B8-DB9A47766E4A}"/>
            </c:ext>
          </c:extLst>
        </c:ser>
        <c:ser>
          <c:idx val="1"/>
          <c:order val="1"/>
          <c:tx>
            <c:v>Rest of the market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0EB-481F-85B8-DB9A47766E4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0EB-481F-85B8-DB9A47766E4A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Share of North America</c:v>
              </c:pt>
              <c:pt idx="1">
                <c:v>Share of Global</c:v>
              </c:pt>
            </c:strLit>
          </c:cat>
          <c:val>
            <c:numLit>
              <c:formatCode>General</c:formatCode>
              <c:ptCount val="2"/>
              <c:pt idx="0">
                <c:v>29.976944559698353</c:v>
              </c:pt>
              <c:pt idx="1">
                <c:v>83.062455248076844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40EB-481F-85B8-DB9A47766E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4FE-4335-AADC-E7290C6E5D26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4FE-4335-AADC-E7290C6E5D26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4FE-4335-AADC-E7290C6E5D26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4FE-4335-AADC-E7290C6E5D26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4FE-4335-AADC-E7290C6E5D26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4FE-4335-AADC-E7290C6E5D26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4FE-4335-AADC-E7290C6E5D26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4FE-4335-AADC-E7290C6E5D26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4FE-4335-AADC-E7290C6E5D26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4FE-4335-AADC-E7290C6E5D26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4FE-4335-AADC-E7290C6E5D26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44FE-4335-AADC-E7290C6E5D26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4FE-4335-AADC-E7290C6E5D26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4FE-4335-AADC-E7290C6E5D26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4FE-4335-AADC-E7290C6E5D26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4FE-4335-AADC-E7290C6E5D2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2140.953</c:v>
              </c:pt>
              <c:pt idx="1">
                <c:v>2205.7339999999999</c:v>
              </c:pt>
              <c:pt idx="2">
                <c:v>2272.4759999999997</c:v>
              </c:pt>
              <c:pt idx="3">
                <c:v>2341.2370000000001</c:v>
              </c:pt>
              <c:pt idx="4">
                <c:v>2412.0789999999997</c:v>
              </c:pt>
              <c:pt idx="5">
                <c:v>2485.0650000000001</c:v>
              </c:pt>
              <c:pt idx="6">
                <c:v>2580.1390000000001</c:v>
              </c:pt>
              <c:pt idx="7">
                <c:v>2678.8510000000001</c:v>
              </c:pt>
              <c:pt idx="8">
                <c:v>2781.3399999999997</c:v>
              </c:pt>
              <c:pt idx="9">
                <c:v>2887.7489999999998</c:v>
              </c:pt>
              <c:pt idx="10">
                <c:v>2998.23</c:v>
              </c:pt>
              <c:pt idx="11">
                <c:v>3112.9369999999999</c:v>
              </c:pt>
              <c:pt idx="12">
                <c:v>3232.0329999999999</c:v>
              </c:pt>
              <c:pt idx="13">
                <c:v>3355.6849999999995</c:v>
              </c:pt>
              <c:pt idx="14">
                <c:v>3484.0679999999998</c:v>
              </c:pt>
              <c:pt idx="15">
                <c:v>3617.3620000000001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44FE-4335-AADC-E7290C6E5D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CAGR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1-E5BD-47EA-AEAC-3D44984B90B8}"/>
              </c:ext>
            </c:extLst>
          </c:dPt>
          <c:dPt>
            <c:idx val="1"/>
            <c:invertIfNegative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E5BD-47EA-AEAC-3D44984B90B8}"/>
              </c:ext>
            </c:extLst>
          </c:dPt>
          <c:dPt>
            <c:idx val="2"/>
            <c:invertIfNegative val="1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5-E5BD-47EA-AEAC-3D44984B90B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5BD-47EA-AEAC-3D44984B90B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5BD-47EA-AEAC-3D44984B90B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5BD-47EA-AEAC-3D44984B90B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Global</c:v>
              </c:pt>
              <c:pt idx="1">
                <c:v>North America</c:v>
              </c:pt>
              <c:pt idx="2">
                <c:v>U.S.</c:v>
              </c:pt>
            </c:strLit>
          </c:cat>
          <c:val>
            <c:numLit>
              <c:formatCode>General</c:formatCode>
              <c:ptCount val="3"/>
              <c:pt idx="0">
                <c:v>4.9547997144695932E-2</c:v>
              </c:pt>
              <c:pt idx="1">
                <c:v>4.0561078574987031E-2</c:v>
              </c:pt>
              <c:pt idx="2">
                <c:v>3.8258324666664123E-2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E5BD-47EA-AEAC-3D44984B90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6.688979614533952E-2"/>
          <c:min val="0"/>
        </c:scaling>
        <c:delete val="1"/>
        <c:axPos val="b"/>
        <c:numFmt formatCode="General" sourceLinked="1"/>
        <c:majorTickMark val="out"/>
        <c:minorTickMark val="none"/>
        <c:tickLblPos val="none"/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0</c:v>
              </c:pt>
              <c:pt idx="1">
                <c:v>2485.0650000000001</c:v>
              </c:pt>
              <c:pt idx="2">
                <c:v>2580.1390000000001</c:v>
              </c:pt>
              <c:pt idx="3">
                <c:v>2678.8510000000001</c:v>
              </c:pt>
              <c:pt idx="4">
                <c:v>2781.3399999999997</c:v>
              </c:pt>
              <c:pt idx="5">
                <c:v>2887.7489999999998</c:v>
              </c:pt>
              <c:pt idx="6">
                <c:v>2998.23</c:v>
              </c:pt>
              <c:pt idx="7">
                <c:v>3112.9369999999999</c:v>
              </c:pt>
              <c:pt idx="8">
                <c:v>3232.0329999999999</c:v>
              </c:pt>
              <c:pt idx="9">
                <c:v>3355.6849999999995</c:v>
              </c:pt>
              <c:pt idx="10">
                <c:v>3484.0679999999998</c:v>
              </c:pt>
              <c:pt idx="11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C45-48C0-8650-FCFA51CBEF2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C45-48C0-8650-FCFA51CBEF2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C45-48C0-8650-FCFA51CBEF2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C45-48C0-8650-FCFA51CBEF2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C45-48C0-8650-FCFA51CBEF2C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C45-48C0-8650-FCFA51CBEF2C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C45-48C0-8650-FCFA51CBEF2C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DC45-48C0-8650-FCFA51CBEF2C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DC45-48C0-8650-FCFA51CBEF2C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DC45-48C0-8650-FCFA51CBEF2C}"/>
              </c:ext>
            </c:extLst>
          </c:dPt>
          <c:dPt>
            <c:idx val="9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4-DC45-48C0-8650-FCFA51CBEF2C}"/>
              </c:ext>
            </c:extLst>
          </c:dPt>
          <c:dPt>
            <c:idx val="1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6-DC45-48C0-8650-FCFA51CBEF2C}"/>
              </c:ext>
            </c:extLst>
          </c:dPt>
          <c:dPt>
            <c:idx val="11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8-DC45-48C0-8650-FCFA51CBEF2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C45-48C0-8650-FCFA51CBEF2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C45-48C0-8650-FCFA51CBEF2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C45-48C0-8650-FCFA51CBEF2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C45-48C0-8650-FCFA51CBEF2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C45-48C0-8650-FCFA51CBEF2C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C45-48C0-8650-FCFA51CBEF2C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C45-48C0-8650-FCFA51CBEF2C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DC45-48C0-8650-FCFA51CBEF2C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DC45-48C0-8650-FCFA51CBEF2C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DC45-48C0-8650-FCFA51CBEF2C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DC45-48C0-8650-FCFA51CBEF2C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DC45-48C0-8650-FCFA51CBEF2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2485.0650000000001</c:v>
              </c:pt>
              <c:pt idx="1">
                <c:v>95.074000000000069</c:v>
              </c:pt>
              <c:pt idx="2">
                <c:v>98.711999999999989</c:v>
              </c:pt>
              <c:pt idx="3">
                <c:v>102.48899999999958</c:v>
              </c:pt>
              <c:pt idx="4">
                <c:v>106.40900000000011</c:v>
              </c:pt>
              <c:pt idx="5">
                <c:v>110.48100000000022</c:v>
              </c:pt>
              <c:pt idx="6">
                <c:v>114.70699999999988</c:v>
              </c:pt>
              <c:pt idx="7">
                <c:v>119.096</c:v>
              </c:pt>
              <c:pt idx="8">
                <c:v>123.65199999999959</c:v>
              </c:pt>
              <c:pt idx="9">
                <c:v>128.38300000000027</c:v>
              </c:pt>
              <c:pt idx="10">
                <c:v>133.29400000000032</c:v>
              </c:pt>
              <c:pt idx="11">
                <c:v>3617.3620000000001</c:v>
              </c:pt>
            </c:numLit>
          </c:val>
          <c:extLst>
            <c:ext xmlns:c16="http://schemas.microsoft.com/office/drawing/2014/chart" uri="{C3380CC4-5D6E-409C-BE32-E72D297353CC}">
              <c16:uniqueId val="{00000019-DC45-48C0-8650-FCFA51CBEF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U.S.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117-47DD-882F-50EA9D84A6A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117-47DD-882F-50EA9D84A6AD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Share of North America</c:v>
              </c:pt>
              <c:pt idx="1">
                <c:v>Share of Global</c:v>
              </c:pt>
            </c:strLit>
          </c:cat>
          <c:val>
            <c:numLit>
              <c:formatCode>General</c:formatCode>
              <c:ptCount val="2"/>
              <c:pt idx="0">
                <c:v>68.935792358063935</c:v>
              </c:pt>
              <c:pt idx="1">
                <c:v>22.798761467889904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0117-47DD-882F-50EA9D84A6AD}"/>
            </c:ext>
          </c:extLst>
        </c:ser>
        <c:ser>
          <c:idx val="1"/>
          <c:order val="1"/>
          <c:tx>
            <c:v>Rest of the market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117-47DD-882F-50EA9D84A6A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117-47DD-882F-50EA9D84A6AD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Share of North America</c:v>
              </c:pt>
              <c:pt idx="1">
                <c:v>Share of Global</c:v>
              </c:pt>
            </c:strLit>
          </c:cat>
          <c:val>
            <c:numLit>
              <c:formatCode>General</c:formatCode>
              <c:ptCount val="2"/>
              <c:pt idx="0">
                <c:v>31.064207641936065</c:v>
              </c:pt>
              <c:pt idx="1">
                <c:v>77.201238532110096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0117-47DD-882F-50EA9D84A6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D397-4671-AA9E-6DCC4318498C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D397-4671-AA9E-6DCC4318498C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D397-4671-AA9E-6DCC4318498C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D397-4671-AA9E-6DCC4318498C}"/>
              </c:ext>
            </c:extLst>
          </c:dPt>
          <c:dPt>
            <c:idx val="4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9-D397-4671-AA9E-6DCC4318498C}"/>
              </c:ext>
            </c:extLst>
          </c:dPt>
          <c:dPt>
            <c:idx val="5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B-D397-4671-AA9E-6DCC4318498C}"/>
              </c:ext>
            </c:extLst>
          </c:dPt>
          <c:dPt>
            <c:idx val="6"/>
            <c:invertIfNegative val="1"/>
            <c:bubble3D val="0"/>
            <c:spPr>
              <a:solidFill>
                <a:srgbClr val="9EC6DE"/>
              </a:solidFill>
            </c:spPr>
            <c:extLst>
              <c:ext xmlns:c16="http://schemas.microsoft.com/office/drawing/2014/chart" uri="{C3380CC4-5D6E-409C-BE32-E72D297353CC}">
                <c16:uniqueId val="{0000000D-D397-4671-AA9E-6DCC4318498C}"/>
              </c:ext>
            </c:extLst>
          </c:dPt>
          <c:dPt>
            <c:idx val="7"/>
            <c:invertIfNegative val="1"/>
            <c:bubble3D val="0"/>
            <c:spPr>
              <a:solidFill>
                <a:srgbClr val="569CC6"/>
              </a:solidFill>
            </c:spPr>
            <c:extLst>
              <c:ext xmlns:c16="http://schemas.microsoft.com/office/drawing/2014/chart" uri="{C3380CC4-5D6E-409C-BE32-E72D297353CC}">
                <c16:uniqueId val="{0000000F-D397-4671-AA9E-6DCC4318498C}"/>
              </c:ext>
            </c:extLst>
          </c:dPt>
          <c:dPt>
            <c:idx val="8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1-D397-4671-AA9E-6DCC4318498C}"/>
              </c:ext>
            </c:extLst>
          </c:dPt>
          <c:dLbls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397-4671-AA9E-6DCC4318498C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397-4671-AA9E-6DCC4318498C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D397-4671-AA9E-6DCC4318498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     </c:v>
              </c:pt>
              <c:pt idx="5">
                <c:v>      </c:v>
              </c:pt>
              <c:pt idx="6">
                <c:v>Corrugated Board Prod…</c:v>
              </c:pt>
              <c:pt idx="7">
                <c:v>Finishing and Box Ass…</c:v>
              </c:pt>
              <c:pt idx="8">
                <c:v>Printing and Converti…</c:v>
              </c:pt>
            </c:strLit>
          </c:cat>
          <c:val>
            <c:numLit>
              <c:formatCode>General</c:formatCode>
              <c:ptCount val="9"/>
              <c:pt idx="6">
                <c:v>638.17899999999997</c:v>
              </c:pt>
              <c:pt idx="7">
                <c:v>646.98900000000003</c:v>
              </c:pt>
              <c:pt idx="8">
                <c:v>1199.8969999999999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2-D397-4671-AA9E-6DCC4318498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607.8619799999999"/>
          <c:min val="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413E-4292-A4F3-4B55781A722E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413E-4292-A4F3-4B55781A722E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413E-4292-A4F3-4B55781A722E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413E-4292-A4F3-4B55781A722E}"/>
              </c:ext>
            </c:extLst>
          </c:dPt>
          <c:dPt>
            <c:idx val="4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9-413E-4292-A4F3-4B55781A722E}"/>
              </c:ext>
            </c:extLst>
          </c:dPt>
          <c:dPt>
            <c:idx val="5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B-413E-4292-A4F3-4B55781A722E}"/>
              </c:ext>
            </c:extLst>
          </c:dPt>
          <c:dPt>
            <c:idx val="6"/>
            <c:invertIfNegative val="1"/>
            <c:bubble3D val="0"/>
            <c:spPr>
              <a:solidFill>
                <a:srgbClr val="9DABB6"/>
              </a:solidFill>
            </c:spPr>
            <c:extLst>
              <c:ext xmlns:c16="http://schemas.microsoft.com/office/drawing/2014/chart" uri="{C3380CC4-5D6E-409C-BE32-E72D297353CC}">
                <c16:uniqueId val="{0000000D-413E-4292-A4F3-4B55781A722E}"/>
              </c:ext>
            </c:extLst>
          </c:dPt>
          <c:dPt>
            <c:idx val="7"/>
            <c:invertIfNegative val="1"/>
            <c:bubble3D val="0"/>
            <c:spPr>
              <a:solidFill>
                <a:srgbClr val="546C80"/>
              </a:solidFill>
            </c:spPr>
            <c:extLst>
              <c:ext xmlns:c16="http://schemas.microsoft.com/office/drawing/2014/chart" uri="{C3380CC4-5D6E-409C-BE32-E72D297353CC}">
                <c16:uniqueId val="{0000000F-413E-4292-A4F3-4B55781A722E}"/>
              </c:ext>
            </c:extLst>
          </c:dPt>
          <c:dPt>
            <c:idx val="8"/>
            <c:invertIfNegative val="1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413E-4292-A4F3-4B55781A722E}"/>
              </c:ext>
            </c:extLst>
          </c:dPt>
          <c:dLbls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13E-4292-A4F3-4B55781A722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13E-4292-A4F3-4B55781A722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13E-4292-A4F3-4B55781A722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     </c:v>
              </c:pt>
              <c:pt idx="5">
                <c:v>      </c:v>
              </c:pt>
              <c:pt idx="6">
                <c:v>Manual</c:v>
              </c:pt>
              <c:pt idx="7">
                <c:v>Fully automatic</c:v>
              </c:pt>
              <c:pt idx="8">
                <c:v>Semi-automatic</c:v>
              </c:pt>
            </c:strLit>
          </c:cat>
          <c:val>
            <c:numLit>
              <c:formatCode>General</c:formatCode>
              <c:ptCount val="9"/>
              <c:pt idx="6">
                <c:v>197.505</c:v>
              </c:pt>
              <c:pt idx="7">
                <c:v>1140.5740000000001</c:v>
              </c:pt>
              <c:pt idx="8">
                <c:v>1146.9860000000001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2-413E-4292-A4F3-4B55781A722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536.9612400000003"/>
          <c:min val="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7FD7-4971-81E7-CFAE640727CF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7FD7-4971-81E7-CFAE640727CF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7FD7-4971-81E7-CFAE640727CF}"/>
              </c:ext>
            </c:extLst>
          </c:dPt>
          <c:dPt>
            <c:idx val="3"/>
            <c:invertIfNegative val="1"/>
            <c:bubble3D val="0"/>
            <c:spPr>
              <a:solidFill>
                <a:srgbClr val="C5B1E6"/>
              </a:solidFill>
            </c:spPr>
            <c:extLst>
              <c:ext xmlns:c16="http://schemas.microsoft.com/office/drawing/2014/chart" uri="{C3380CC4-5D6E-409C-BE32-E72D297353CC}">
                <c16:uniqueId val="{00000007-7FD7-4971-81E7-CFAE640727CF}"/>
              </c:ext>
            </c:extLst>
          </c:dPt>
          <c:dPt>
            <c:idx val="4"/>
            <c:invertIfNegative val="1"/>
            <c:bubble3D val="0"/>
            <c:spPr>
              <a:solidFill>
                <a:srgbClr val="B499DF"/>
              </a:solidFill>
            </c:spPr>
            <c:extLst>
              <c:ext xmlns:c16="http://schemas.microsoft.com/office/drawing/2014/chart" uri="{C3380CC4-5D6E-409C-BE32-E72D297353CC}">
                <c16:uniqueId val="{00000009-7FD7-4971-81E7-CFAE640727CF}"/>
              </c:ext>
            </c:extLst>
          </c:dPt>
          <c:dPt>
            <c:idx val="5"/>
            <c:invertIfNegative val="1"/>
            <c:bubble3D val="0"/>
            <c:spPr>
              <a:solidFill>
                <a:srgbClr val="A282D7"/>
              </a:solidFill>
            </c:spPr>
            <c:extLst>
              <c:ext xmlns:c16="http://schemas.microsoft.com/office/drawing/2014/chart" uri="{C3380CC4-5D6E-409C-BE32-E72D297353CC}">
                <c16:uniqueId val="{0000000B-7FD7-4971-81E7-CFAE640727CF}"/>
              </c:ext>
            </c:extLst>
          </c:dPt>
          <c:dPt>
            <c:idx val="6"/>
            <c:invertIfNegative val="1"/>
            <c:bubble3D val="0"/>
            <c:spPr>
              <a:solidFill>
                <a:srgbClr val="916AD0"/>
              </a:solidFill>
            </c:spPr>
            <c:extLst>
              <c:ext xmlns:c16="http://schemas.microsoft.com/office/drawing/2014/chart" uri="{C3380CC4-5D6E-409C-BE32-E72D297353CC}">
                <c16:uniqueId val="{0000000D-7FD7-4971-81E7-CFAE640727CF}"/>
              </c:ext>
            </c:extLst>
          </c:dPt>
          <c:dPt>
            <c:idx val="7"/>
            <c:invertIfNegative val="1"/>
            <c:bubble3D val="0"/>
            <c:spPr>
              <a:solidFill>
                <a:srgbClr val="8053C9"/>
              </a:solidFill>
            </c:spPr>
            <c:extLst>
              <c:ext xmlns:c16="http://schemas.microsoft.com/office/drawing/2014/chart" uri="{C3380CC4-5D6E-409C-BE32-E72D297353CC}">
                <c16:uniqueId val="{0000000F-7FD7-4971-81E7-CFAE640727CF}"/>
              </c:ext>
            </c:extLst>
          </c:dPt>
          <c:dPt>
            <c:idx val="8"/>
            <c:invertIfNegative val="1"/>
            <c:bubble3D val="0"/>
            <c:spPr>
              <a:solidFill>
                <a:srgbClr val="6F3CC2"/>
              </a:solidFill>
            </c:spPr>
            <c:extLst>
              <c:ext xmlns:c16="http://schemas.microsoft.com/office/drawing/2014/chart" uri="{C3380CC4-5D6E-409C-BE32-E72D297353CC}">
                <c16:uniqueId val="{00000011-7FD7-4971-81E7-CFAE640727CF}"/>
              </c:ext>
            </c:extLst>
          </c:dPt>
          <c:dLbls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FD7-4971-81E7-CFAE640727CF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FD7-4971-81E7-CFAE640727CF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FD7-4971-81E7-CFAE640727C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FD7-4971-81E7-CFAE640727CF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FD7-4971-81E7-CFAE640727CF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FD7-4971-81E7-CFAE640727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Trays and Retail-read…</c:v>
              </c:pt>
              <c:pt idx="4">
                <c:v>Die-cut Boxes and Mai…</c:v>
              </c:pt>
              <c:pt idx="5">
                <c:v>Protective and Intern…</c:v>
              </c:pt>
              <c:pt idx="6">
                <c:v>Slotted Shipping Boxes</c:v>
              </c:pt>
              <c:pt idx="7">
                <c:v>Wraparound Cases and…</c:v>
              </c:pt>
              <c:pt idx="8">
                <c:v>Folders and Telescopi…</c:v>
              </c:pt>
            </c:strLit>
          </c:cat>
          <c:val>
            <c:numLit>
              <c:formatCode>General</c:formatCode>
              <c:ptCount val="9"/>
              <c:pt idx="3">
                <c:v>112.17400000000001</c:v>
              </c:pt>
              <c:pt idx="4">
                <c:v>297.19900000000001</c:v>
              </c:pt>
              <c:pt idx="5">
                <c:v>315.09300000000002</c:v>
              </c:pt>
              <c:pt idx="6">
                <c:v>508.82400000000001</c:v>
              </c:pt>
              <c:pt idx="7">
                <c:v>541.64800000000002</c:v>
              </c:pt>
              <c:pt idx="8">
                <c:v>710.12699999999995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2-7FD7-4971-81E7-CFAE640727C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951.57017999999994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DABAA0"/>
              </a:solidFill>
            </c:spPr>
            <c:extLst>
              <c:ext xmlns:c16="http://schemas.microsoft.com/office/drawing/2014/chart" uri="{C3380CC4-5D6E-409C-BE32-E72D297353CC}">
                <c16:uniqueId val="{00000001-9766-4CC5-AD59-F45BB6018803}"/>
              </c:ext>
            </c:extLst>
          </c:dPt>
          <c:dPt>
            <c:idx val="1"/>
            <c:invertIfNegative val="1"/>
            <c:bubble3D val="0"/>
            <c:spPr>
              <a:solidFill>
                <a:srgbClr val="D3AD8E"/>
              </a:solidFill>
            </c:spPr>
            <c:extLst>
              <c:ext xmlns:c16="http://schemas.microsoft.com/office/drawing/2014/chart" uri="{C3380CC4-5D6E-409C-BE32-E72D297353CC}">
                <c16:uniqueId val="{00000003-9766-4CC5-AD59-F45BB6018803}"/>
              </c:ext>
            </c:extLst>
          </c:dPt>
          <c:dPt>
            <c:idx val="2"/>
            <c:invertIfNegative val="1"/>
            <c:bubble3D val="0"/>
            <c:spPr>
              <a:solidFill>
                <a:srgbClr val="CCA07D"/>
              </a:solidFill>
            </c:spPr>
            <c:extLst>
              <c:ext xmlns:c16="http://schemas.microsoft.com/office/drawing/2014/chart" uri="{C3380CC4-5D6E-409C-BE32-E72D297353CC}">
                <c16:uniqueId val="{00000005-9766-4CC5-AD59-F45BB6018803}"/>
              </c:ext>
            </c:extLst>
          </c:dPt>
          <c:dPt>
            <c:idx val="3"/>
            <c:invertIfNegative val="1"/>
            <c:bubble3D val="0"/>
            <c:spPr>
              <a:solidFill>
                <a:srgbClr val="C5936B"/>
              </a:solidFill>
            </c:spPr>
            <c:extLst>
              <c:ext xmlns:c16="http://schemas.microsoft.com/office/drawing/2014/chart" uri="{C3380CC4-5D6E-409C-BE32-E72D297353CC}">
                <c16:uniqueId val="{00000007-9766-4CC5-AD59-F45BB6018803}"/>
              </c:ext>
            </c:extLst>
          </c:dPt>
          <c:dPt>
            <c:idx val="4"/>
            <c:invertIfNegative val="1"/>
            <c:bubble3D val="0"/>
            <c:spPr>
              <a:solidFill>
                <a:srgbClr val="BE8659"/>
              </a:solidFill>
            </c:spPr>
            <c:extLst>
              <c:ext xmlns:c16="http://schemas.microsoft.com/office/drawing/2014/chart" uri="{C3380CC4-5D6E-409C-BE32-E72D297353CC}">
                <c16:uniqueId val="{00000009-9766-4CC5-AD59-F45BB6018803}"/>
              </c:ext>
            </c:extLst>
          </c:dPt>
          <c:dPt>
            <c:idx val="5"/>
            <c:invertIfNegative val="1"/>
            <c:bubble3D val="0"/>
            <c:spPr>
              <a:solidFill>
                <a:srgbClr val="B77948"/>
              </a:solidFill>
            </c:spPr>
            <c:extLst>
              <c:ext xmlns:c16="http://schemas.microsoft.com/office/drawing/2014/chart" uri="{C3380CC4-5D6E-409C-BE32-E72D297353CC}">
                <c16:uniqueId val="{0000000B-9766-4CC5-AD59-F45BB6018803}"/>
              </c:ext>
            </c:extLst>
          </c:dPt>
          <c:dPt>
            <c:idx val="6"/>
            <c:invertIfNegative val="1"/>
            <c:bubble3D val="0"/>
            <c:spPr>
              <a:solidFill>
                <a:srgbClr val="B06C36"/>
              </a:solidFill>
            </c:spPr>
            <c:extLst>
              <c:ext xmlns:c16="http://schemas.microsoft.com/office/drawing/2014/chart" uri="{C3380CC4-5D6E-409C-BE32-E72D297353CC}">
                <c16:uniqueId val="{0000000D-9766-4CC5-AD59-F45BB6018803}"/>
              </c:ext>
            </c:extLst>
          </c:dPt>
          <c:dPt>
            <c:idx val="7"/>
            <c:invertIfNegative val="1"/>
            <c:bubble3D val="0"/>
            <c:spPr>
              <a:solidFill>
                <a:srgbClr val="A95F24"/>
              </a:solidFill>
            </c:spPr>
            <c:extLst>
              <c:ext xmlns:c16="http://schemas.microsoft.com/office/drawing/2014/chart" uri="{C3380CC4-5D6E-409C-BE32-E72D297353CC}">
                <c16:uniqueId val="{0000000F-9766-4CC5-AD59-F45BB6018803}"/>
              </c:ext>
            </c:extLst>
          </c:dPt>
          <c:dPt>
            <c:idx val="8"/>
            <c:invertIfNegative val="1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11-9766-4CC5-AD59-F45BB601880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766-4CC5-AD59-F45BB601880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66-4CC5-AD59-F45BB601880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766-4CC5-AD59-F45BB601880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9766-4CC5-AD59-F45BB601880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766-4CC5-AD59-F45BB601880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9766-4CC5-AD59-F45BB601880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9766-4CC5-AD59-F45BB601880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9766-4CC5-AD59-F45BB601880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9766-4CC5-AD59-F45BB601880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Agriculture and fresh…</c:v>
              </c:pt>
              <c:pt idx="1">
                <c:v>Industrial machinery,…</c:v>
              </c:pt>
              <c:pt idx="2">
                <c:v>Electrical and electr…</c:v>
              </c:pt>
              <c:pt idx="3">
                <c:v>Retail-ready and poin…</c:v>
              </c:pt>
              <c:pt idx="4">
                <c:v>Other end uses</c:v>
              </c:pt>
              <c:pt idx="5">
                <c:v>E-commerce shipping a…</c:v>
              </c:pt>
              <c:pt idx="6">
                <c:v>Pharmaceuticals and h…</c:v>
              </c:pt>
              <c:pt idx="7">
                <c:v>Processed food and be…</c:v>
              </c:pt>
              <c:pt idx="8">
                <c:v>Personal care and hou…</c:v>
              </c:pt>
            </c:strLit>
          </c:cat>
          <c:val>
            <c:numLit>
              <c:formatCode>General</c:formatCode>
              <c:ptCount val="9"/>
              <c:pt idx="0">
                <c:v>59.982999999999997</c:v>
              </c:pt>
              <c:pt idx="1">
                <c:v>74.59</c:v>
              </c:pt>
              <c:pt idx="2">
                <c:v>229.77</c:v>
              </c:pt>
              <c:pt idx="3">
                <c:v>238.80199999999999</c:v>
              </c:pt>
              <c:pt idx="4">
                <c:v>242.62799999999999</c:v>
              </c:pt>
              <c:pt idx="5">
                <c:v>268.666</c:v>
              </c:pt>
              <c:pt idx="6">
                <c:v>425.05</c:v>
              </c:pt>
              <c:pt idx="7">
                <c:v>430.52699999999999</c:v>
              </c:pt>
              <c:pt idx="8">
                <c:v>515.04899999999998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2-9766-4CC5-AD59-F45BB6018803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690.16566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4516-408C-A5C9-35F923B1FF87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4516-408C-A5C9-35F923B1FF87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4516-408C-A5C9-35F923B1FF87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4516-408C-A5C9-35F923B1FF87}"/>
              </c:ext>
            </c:extLst>
          </c:dPt>
          <c:dPt>
            <c:idx val="4"/>
            <c:invertIfNegative val="1"/>
            <c:bubble3D val="0"/>
            <c:spPr>
              <a:solidFill>
                <a:srgbClr val="DCC599"/>
              </a:solidFill>
            </c:spPr>
            <c:extLst>
              <c:ext xmlns:c16="http://schemas.microsoft.com/office/drawing/2014/chart" uri="{C3380CC4-5D6E-409C-BE32-E72D297353CC}">
                <c16:uniqueId val="{00000009-4516-408C-A5C9-35F923B1FF87}"/>
              </c:ext>
            </c:extLst>
          </c:dPt>
          <c:dPt>
            <c:idx val="5"/>
            <c:invertIfNegative val="1"/>
            <c:bubble3D val="0"/>
            <c:spPr>
              <a:solidFill>
                <a:srgbClr val="CFAF72"/>
              </a:solidFill>
            </c:spPr>
            <c:extLst>
              <c:ext xmlns:c16="http://schemas.microsoft.com/office/drawing/2014/chart" uri="{C3380CC4-5D6E-409C-BE32-E72D297353CC}">
                <c16:uniqueId val="{0000000B-4516-408C-A5C9-35F923B1FF87}"/>
              </c:ext>
            </c:extLst>
          </c:dPt>
          <c:dPt>
            <c:idx val="6"/>
            <c:invertIfNegative val="1"/>
            <c:bubble3D val="0"/>
            <c:spPr>
              <a:solidFill>
                <a:srgbClr val="C29A4C"/>
              </a:solidFill>
            </c:spPr>
            <c:extLst>
              <c:ext xmlns:c16="http://schemas.microsoft.com/office/drawing/2014/chart" uri="{C3380CC4-5D6E-409C-BE32-E72D297353CC}">
                <c16:uniqueId val="{0000000D-4516-408C-A5C9-35F923B1FF87}"/>
              </c:ext>
            </c:extLst>
          </c:dPt>
          <c:dPt>
            <c:idx val="7"/>
            <c:invertIfNegative val="1"/>
            <c:bubble3D val="0"/>
            <c:spPr>
              <a:solidFill>
                <a:srgbClr val="B58426"/>
              </a:solidFill>
            </c:spPr>
            <c:extLst>
              <c:ext xmlns:c16="http://schemas.microsoft.com/office/drawing/2014/chart" uri="{C3380CC4-5D6E-409C-BE32-E72D297353CC}">
                <c16:uniqueId val="{0000000F-4516-408C-A5C9-35F923B1FF87}"/>
              </c:ext>
            </c:extLst>
          </c:dPt>
          <c:dPt>
            <c:idx val="8"/>
            <c:invertIfNegative val="1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11-4516-408C-A5C9-35F923B1FF87}"/>
              </c:ext>
            </c:extLst>
          </c:dPt>
          <c:dLbls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516-408C-A5C9-35F923B1FF8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4516-408C-A5C9-35F923B1FF8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516-408C-A5C9-35F923B1FF8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516-408C-A5C9-35F923B1FF8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516-408C-A5C9-35F923B1FF8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Integrated Board and…</c:v>
              </c:pt>
              <c:pt idx="5">
                <c:v>Contract and Third-pa…</c:v>
              </c:pt>
              <c:pt idx="6">
                <c:v>Corrugated Sheet Feed…</c:v>
              </c:pt>
              <c:pt idx="7">
                <c:v>Sheet Plants and Box…</c:v>
              </c:pt>
              <c:pt idx="8">
                <c:v>Captive / In-house Bo…</c:v>
              </c:pt>
            </c:strLit>
          </c:cat>
          <c:val>
            <c:numLit>
              <c:formatCode>General</c:formatCode>
              <c:ptCount val="9"/>
              <c:pt idx="4">
                <c:v>129.36799999999999</c:v>
              </c:pt>
              <c:pt idx="5">
                <c:v>347.50200000000001</c:v>
              </c:pt>
              <c:pt idx="6">
                <c:v>585.30700000000002</c:v>
              </c:pt>
              <c:pt idx="7">
                <c:v>593.38400000000001</c:v>
              </c:pt>
              <c:pt idx="8">
                <c:v>829.50400000000002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2-4516-408C-A5C9-35F923B1FF87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111.5353600000001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2026</c:v>
              </c:pt>
              <c:pt idx="1">
                <c:v>Corrugated Board Production Equipment</c:v>
              </c:pt>
              <c:pt idx="2">
                <c:v>Printing and Converting Equipment</c:v>
              </c:pt>
              <c:pt idx="3">
                <c:v>Finishing and Box Assembly Equipment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2485.0650000000001</c:v>
              </c:pt>
              <c:pt idx="2">
                <c:v>2682.4700000000003</c:v>
              </c:pt>
              <c:pt idx="3">
                <c:v>3318.2720000000004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0E1-4601-9D61-05470D413C9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0E1-4601-9D61-05470D413C9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0E1-4601-9D61-05470D413C9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0E1-4601-9D61-05470D413C9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0E1-4601-9D61-05470D413C91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A0E1-4601-9D61-05470D413C9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0E1-4601-9D61-05470D413C9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0E1-4601-9D61-05470D413C9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0E1-4601-9D61-05470D413C9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0E1-4601-9D61-05470D413C9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0E1-4601-9D61-05470D413C9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2026</c:v>
              </c:pt>
              <c:pt idx="1">
                <c:v>Corrugated Board Production Equipment</c:v>
              </c:pt>
              <c:pt idx="2">
                <c:v>Printing and Converting Equipment</c:v>
              </c:pt>
              <c:pt idx="3">
                <c:v>Finishing and Box Assembly Equipment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2485.0650000000001</c:v>
              </c:pt>
              <c:pt idx="1">
                <c:v>197.40499999999997</c:v>
              </c:pt>
              <c:pt idx="2">
                <c:v>635.80200000000013</c:v>
              </c:pt>
              <c:pt idx="3">
                <c:v>299.08999999999992</c:v>
              </c:pt>
              <c:pt idx="4">
                <c:v>3617.3620000000001</c:v>
              </c:pt>
            </c:numLit>
          </c:val>
          <c:extLst>
            <c:ext xmlns:c16="http://schemas.microsoft.com/office/drawing/2014/chart" uri="{C3380CC4-5D6E-409C-BE32-E72D297353CC}">
              <c16:uniqueId val="{0000000B-A0E1-4601-9D61-05470D413C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4"/>
              <c:pt idx="0">
                <c:v>Corrugated Board Production Equipment</c:v>
              </c:pt>
              <c:pt idx="1">
                <c:v>Printing and Converting Equipment</c:v>
              </c:pt>
              <c:pt idx="2">
                <c:v>Finishing and Box Assembly Equipment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0</c:v>
              </c:pt>
              <c:pt idx="1">
                <c:v>197.40499999999997</c:v>
              </c:pt>
              <c:pt idx="2">
                <c:v>833.20700000000011</c:v>
              </c:pt>
              <c:pt idx="3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52D-4D8C-A7EA-C4DADE177822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852D-4D8C-A7EA-C4DADE177822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52D-4D8C-A7EA-C4DADE177822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52D-4D8C-A7EA-C4DADE177822}"/>
              </c:ext>
            </c:extLst>
          </c:dPt>
          <c:dPt>
            <c:idx val="3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8-852D-4D8C-A7EA-C4DADE177822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52D-4D8C-A7EA-C4DADE17782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52D-4D8C-A7EA-C4DADE17782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52D-4D8C-A7EA-C4DADE17782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52D-4D8C-A7EA-C4DADE17782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Corrugated Board Production Equipment</c:v>
              </c:pt>
              <c:pt idx="1">
                <c:v>Printing and Converting Equipment</c:v>
              </c:pt>
              <c:pt idx="2">
                <c:v>Finishing and Box Assembly Equipment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197.40499999999997</c:v>
              </c:pt>
              <c:pt idx="1">
                <c:v>635.80200000000013</c:v>
              </c:pt>
              <c:pt idx="2">
                <c:v>299.08999999999992</c:v>
              </c:pt>
              <c:pt idx="3">
                <c:v>1132.297</c:v>
              </c:pt>
            </c:numLit>
          </c:val>
          <c:extLst>
            <c:ext xmlns:c16="http://schemas.microsoft.com/office/drawing/2014/chart" uri="{C3380CC4-5D6E-409C-BE32-E72D297353CC}">
              <c16:uniqueId val="{00000009-852D-4D8C-A7EA-C4DADE1778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2026</c:v>
              </c:pt>
              <c:pt idx="1">
                <c:v>Manual</c:v>
              </c:pt>
              <c:pt idx="2">
                <c:v>Semi-automatic</c:v>
              </c:pt>
              <c:pt idx="3">
                <c:v>Fully automatic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2485.0650000000001</c:v>
              </c:pt>
              <c:pt idx="2">
                <c:v>2536.223</c:v>
              </c:pt>
              <c:pt idx="3">
                <c:v>3129.1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29CE-4154-81DC-18E55250399B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29CE-4154-81DC-18E55250399B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29CE-4154-81DC-18E55250399B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29CE-4154-81DC-18E55250399B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29CE-4154-81DC-18E55250399B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29CE-4154-81DC-18E55250399B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9CE-4154-81DC-18E55250399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9CE-4154-81DC-18E55250399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9CE-4154-81DC-18E55250399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9CE-4154-81DC-18E55250399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9CE-4154-81DC-18E55250399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2026</c:v>
              </c:pt>
              <c:pt idx="1">
                <c:v>Manual</c:v>
              </c:pt>
              <c:pt idx="2">
                <c:v>Semi-automatic</c:v>
              </c:pt>
              <c:pt idx="3">
                <c:v>Fully automatic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2485.0650000000001</c:v>
              </c:pt>
              <c:pt idx="1">
                <c:v>51.158000000000015</c:v>
              </c:pt>
              <c:pt idx="2">
                <c:v>592.87699999999995</c:v>
              </c:pt>
              <c:pt idx="3">
                <c:v>488.26199999999994</c:v>
              </c:pt>
              <c:pt idx="4">
                <c:v>3617.3620000000001</c:v>
              </c:pt>
            </c:numLit>
          </c:val>
          <c:extLst>
            <c:ext xmlns:c16="http://schemas.microsoft.com/office/drawing/2014/chart" uri="{C3380CC4-5D6E-409C-BE32-E72D297353CC}">
              <c16:uniqueId val="{0000000B-29CE-4154-81DC-18E5525039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4"/>
              <c:pt idx="0">
                <c:v>Manual</c:v>
              </c:pt>
              <c:pt idx="1">
                <c:v>Semi-automatic</c:v>
              </c:pt>
              <c:pt idx="2">
                <c:v>Fully automatic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0</c:v>
              </c:pt>
              <c:pt idx="1">
                <c:v>51.158000000000015</c:v>
              </c:pt>
              <c:pt idx="2">
                <c:v>644.03499999999997</c:v>
              </c:pt>
              <c:pt idx="3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403D-4AA7-9D5A-132A10F8E39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403D-4AA7-9D5A-132A10F8E39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403D-4AA7-9D5A-132A10F8E39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403D-4AA7-9D5A-132A10F8E396}"/>
              </c:ext>
            </c:extLst>
          </c:dPt>
          <c:dPt>
            <c:idx val="3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8-403D-4AA7-9D5A-132A10F8E39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03D-4AA7-9D5A-132A10F8E39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03D-4AA7-9D5A-132A10F8E39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03D-4AA7-9D5A-132A10F8E39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03D-4AA7-9D5A-132A10F8E39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Manual</c:v>
              </c:pt>
              <c:pt idx="1">
                <c:v>Semi-automatic</c:v>
              </c:pt>
              <c:pt idx="2">
                <c:v>Fully automatic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51.158000000000015</c:v>
              </c:pt>
              <c:pt idx="1">
                <c:v>592.87699999999995</c:v>
              </c:pt>
              <c:pt idx="2">
                <c:v>488.26199999999994</c:v>
              </c:pt>
              <c:pt idx="3">
                <c:v>1132.297</c:v>
              </c:pt>
            </c:numLit>
          </c:val>
          <c:extLst>
            <c:ext xmlns:c16="http://schemas.microsoft.com/office/drawing/2014/chart" uri="{C3380CC4-5D6E-409C-BE32-E72D297353CC}">
              <c16:uniqueId val="{00000009-403D-4AA7-9D5A-132A10F8E3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8"/>
              <c:pt idx="0">
                <c:v>2026</c:v>
              </c:pt>
              <c:pt idx="1">
                <c:v>Slotted Shipping Boxes</c:v>
              </c:pt>
              <c:pt idx="2">
                <c:v>Die-cut Boxes and Mailers</c:v>
              </c:pt>
              <c:pt idx="3">
                <c:v>Trays and Retail-ready Boxes</c:v>
              </c:pt>
              <c:pt idx="4">
                <c:v>Folders and Telescopic Boxes</c:v>
              </c:pt>
              <c:pt idx="5">
                <c:v>Protective and Internal Packaging</c:v>
              </c:pt>
              <c:pt idx="6">
                <c:v>Wraparound Cases and Sleeves</c:v>
              </c:pt>
              <c:pt idx="7">
                <c:v>2036 Total</c:v>
              </c:pt>
            </c:strLit>
          </c:cat>
          <c:val>
            <c:numLit>
              <c:formatCode>General</c:formatCode>
              <c:ptCount val="8"/>
              <c:pt idx="0">
                <c:v>0</c:v>
              </c:pt>
              <c:pt idx="1">
                <c:v>2485.0650000000001</c:v>
              </c:pt>
              <c:pt idx="2">
                <c:v>2678.4230000000002</c:v>
              </c:pt>
              <c:pt idx="3">
                <c:v>2838.2020000000002</c:v>
              </c:pt>
              <c:pt idx="4">
                <c:v>2942.125</c:v>
              </c:pt>
              <c:pt idx="5">
                <c:v>3184.7089999999998</c:v>
              </c:pt>
              <c:pt idx="6">
                <c:v>3254.817</c:v>
              </c:pt>
              <c:pt idx="7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A82-48B7-A0FF-909CB3BAC23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A82-48B7-A0FF-909CB3BAC23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A82-48B7-A0FF-909CB3BAC23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A82-48B7-A0FF-909CB3BAC23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A82-48B7-A0FF-909CB3BAC23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A82-48B7-A0FF-909CB3BAC23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A82-48B7-A0FF-909CB3BAC237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AA82-48B7-A0FF-909CB3BAC237}"/>
              </c:ext>
            </c:extLst>
          </c:dPt>
          <c:dPt>
            <c:idx val="7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0-AA82-48B7-A0FF-909CB3BAC23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A82-48B7-A0FF-909CB3BAC23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A82-48B7-A0FF-909CB3BAC23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A82-48B7-A0FF-909CB3BAC23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A82-48B7-A0FF-909CB3BAC23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A82-48B7-A0FF-909CB3BAC23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A82-48B7-A0FF-909CB3BAC23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A82-48B7-A0FF-909CB3BAC23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A82-48B7-A0FF-909CB3BAC23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2026</c:v>
              </c:pt>
              <c:pt idx="1">
                <c:v>Slotted Shipping Boxes</c:v>
              </c:pt>
              <c:pt idx="2">
                <c:v>Die-cut Boxes and Mailers</c:v>
              </c:pt>
              <c:pt idx="3">
                <c:v>Trays and Retail-ready Boxes</c:v>
              </c:pt>
              <c:pt idx="4">
                <c:v>Folders and Telescopic Boxes</c:v>
              </c:pt>
              <c:pt idx="5">
                <c:v>Protective and Internal Packaging</c:v>
              </c:pt>
              <c:pt idx="6">
                <c:v>Wraparound Cases and Sleeves</c:v>
              </c:pt>
              <c:pt idx="7">
                <c:v>2036 Total</c:v>
              </c:pt>
            </c:strLit>
          </c:cat>
          <c:val>
            <c:numLit>
              <c:formatCode>General</c:formatCode>
              <c:ptCount val="8"/>
              <c:pt idx="0">
                <c:v>2485.0650000000001</c:v>
              </c:pt>
              <c:pt idx="1">
                <c:v>193.358</c:v>
              </c:pt>
              <c:pt idx="2">
                <c:v>159.779</c:v>
              </c:pt>
              <c:pt idx="3">
                <c:v>103.923</c:v>
              </c:pt>
              <c:pt idx="4">
                <c:v>242.58400000000006</c:v>
              </c:pt>
              <c:pt idx="5">
                <c:v>70.108000000000004</c:v>
              </c:pt>
              <c:pt idx="6">
                <c:v>362.54499999999996</c:v>
              </c:pt>
              <c:pt idx="7">
                <c:v>3617.3620000000001</c:v>
              </c:pt>
            </c:numLit>
          </c:val>
          <c:extLst>
            <c:ext xmlns:c16="http://schemas.microsoft.com/office/drawing/2014/chart" uri="{C3380CC4-5D6E-409C-BE32-E72D297353CC}">
              <c16:uniqueId val="{00000011-AA82-48B7-A0FF-909CB3BAC2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Slotted Shipping Boxes</c:v>
              </c:pt>
              <c:pt idx="1">
                <c:v>Die-cut Boxes and Mailers</c:v>
              </c:pt>
              <c:pt idx="2">
                <c:v>Trays and Retail-ready Boxes</c:v>
              </c:pt>
              <c:pt idx="3">
                <c:v>Folders and Telescopic Boxes</c:v>
              </c:pt>
              <c:pt idx="4">
                <c:v>Protective and Internal Packaging</c:v>
              </c:pt>
              <c:pt idx="5">
                <c:v>Wraparound Cases and Sleeves</c:v>
              </c:pt>
              <c:pt idx="6">
                <c:v>Total Absolute $ Opportunity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193.358</c:v>
              </c:pt>
              <c:pt idx="2">
                <c:v>353.137</c:v>
              </c:pt>
              <c:pt idx="3">
                <c:v>457.06</c:v>
              </c:pt>
              <c:pt idx="4">
                <c:v>699.64400000000001</c:v>
              </c:pt>
              <c:pt idx="5">
                <c:v>769.75199999999995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2805-45DC-9ADC-DCE972DA1F0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2805-45DC-9ADC-DCE972DA1F0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2805-45DC-9ADC-DCE972DA1F0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2805-45DC-9ADC-DCE972DA1F0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2805-45DC-9ADC-DCE972DA1F01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2805-45DC-9ADC-DCE972DA1F01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2805-45DC-9ADC-DCE972DA1F01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2805-45DC-9ADC-DCE972DA1F0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805-45DC-9ADC-DCE972DA1F0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805-45DC-9ADC-DCE972DA1F0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805-45DC-9ADC-DCE972DA1F0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805-45DC-9ADC-DCE972DA1F0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805-45DC-9ADC-DCE972DA1F01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805-45DC-9ADC-DCE972DA1F01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805-45DC-9ADC-DCE972DA1F0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Slotted Shipping Boxes</c:v>
              </c:pt>
              <c:pt idx="1">
                <c:v>Die-cut Boxes and Mailers</c:v>
              </c:pt>
              <c:pt idx="2">
                <c:v>Trays and Retail-ready Boxes</c:v>
              </c:pt>
              <c:pt idx="3">
                <c:v>Folders and Telescopic Boxes</c:v>
              </c:pt>
              <c:pt idx="4">
                <c:v>Protective and Internal Packaging</c:v>
              </c:pt>
              <c:pt idx="5">
                <c:v>Wraparound Cases and Sleeves</c:v>
              </c:pt>
              <c:pt idx="6">
                <c:v>Total Absolute $ Opportunity</c:v>
              </c:pt>
            </c:strLit>
          </c:cat>
          <c:val>
            <c:numLit>
              <c:formatCode>General</c:formatCode>
              <c:ptCount val="7"/>
              <c:pt idx="0">
                <c:v>193.358</c:v>
              </c:pt>
              <c:pt idx="1">
                <c:v>159.779</c:v>
              </c:pt>
              <c:pt idx="2">
                <c:v>103.923</c:v>
              </c:pt>
              <c:pt idx="3">
                <c:v>242.58400000000006</c:v>
              </c:pt>
              <c:pt idx="4">
                <c:v>70.108000000000004</c:v>
              </c:pt>
              <c:pt idx="5">
                <c:v>362.54499999999996</c:v>
              </c:pt>
              <c:pt idx="6">
                <c:v>1132.297</c:v>
              </c:pt>
            </c:numLit>
          </c:val>
          <c:extLst>
            <c:ext xmlns:c16="http://schemas.microsoft.com/office/drawing/2014/chart" uri="{C3380CC4-5D6E-409C-BE32-E72D297353CC}">
              <c16:uniqueId val="{0000000F-2805-45DC-9ADC-DCE972DA1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1"/>
              <c:pt idx="0">
                <c:v>2026</c:v>
              </c:pt>
              <c:pt idx="1">
                <c:v>Agriculture and fresh produce</c:v>
              </c:pt>
              <c:pt idx="2">
                <c:v>Processed food and beverages</c:v>
              </c:pt>
              <c:pt idx="3">
                <c:v>E-commerce shipping and fulfillment</c:v>
              </c:pt>
              <c:pt idx="4">
                <c:v>Retail-ready and point-of-sale packaging</c:v>
              </c:pt>
              <c:pt idx="5">
                <c:v>Personal care and household products</c:v>
              </c:pt>
              <c:pt idx="6">
                <c:v>Electrical and electronics</c:v>
              </c:pt>
              <c:pt idx="7">
                <c:v>Pharmaceuticals and healthcare</c:v>
              </c:pt>
              <c:pt idx="8">
                <c:v>Industrial machinery, automotive and components</c:v>
              </c:pt>
              <c:pt idx="9">
                <c:v>Other end uses</c:v>
              </c:pt>
              <c:pt idx="10">
                <c:v>2036 Total</c:v>
              </c:pt>
            </c:strLit>
          </c:cat>
          <c:val>
            <c:numLit>
              <c:formatCode>General</c:formatCode>
              <c:ptCount val="11"/>
              <c:pt idx="0">
                <c:v>0</c:v>
              </c:pt>
              <c:pt idx="1">
                <c:v>2485.0650000000001</c:v>
              </c:pt>
              <c:pt idx="2">
                <c:v>2545.6820000000002</c:v>
              </c:pt>
              <c:pt idx="3">
                <c:v>2704.69</c:v>
              </c:pt>
              <c:pt idx="4">
                <c:v>2820.6469999999999</c:v>
              </c:pt>
              <c:pt idx="5">
                <c:v>2869.8690000000001</c:v>
              </c:pt>
              <c:pt idx="6">
                <c:v>3081.8280000000004</c:v>
              </c:pt>
              <c:pt idx="7">
                <c:v>3291.7820000000006</c:v>
              </c:pt>
              <c:pt idx="8">
                <c:v>3434.4620000000004</c:v>
              </c:pt>
              <c:pt idx="9">
                <c:v>3460.0490000000004</c:v>
              </c:pt>
              <c:pt idx="10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2CFE-4B49-A769-E474AD3E6A42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2CFE-4B49-A769-E474AD3E6A42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2CFE-4B49-A769-E474AD3E6A42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2CFE-4B49-A769-E474AD3E6A42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2CFE-4B49-A769-E474AD3E6A42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2CFE-4B49-A769-E474AD3E6A42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2CFE-4B49-A769-E474AD3E6A42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2CFE-4B49-A769-E474AD3E6A42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2CFE-4B49-A769-E474AD3E6A42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2CFE-4B49-A769-E474AD3E6A42}"/>
              </c:ext>
            </c:extLst>
          </c:dPt>
          <c:dPt>
            <c:idx val="9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4-2CFE-4B49-A769-E474AD3E6A42}"/>
              </c:ext>
            </c:extLst>
          </c:dPt>
          <c:dPt>
            <c:idx val="1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6-2CFE-4B49-A769-E474AD3E6A42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CFE-4B49-A769-E474AD3E6A4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CFE-4B49-A769-E474AD3E6A4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CFE-4B49-A769-E474AD3E6A4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CFE-4B49-A769-E474AD3E6A4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CFE-4B49-A769-E474AD3E6A4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CFE-4B49-A769-E474AD3E6A4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CFE-4B49-A769-E474AD3E6A4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2CFE-4B49-A769-E474AD3E6A4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2CFE-4B49-A769-E474AD3E6A4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2CFE-4B49-A769-E474AD3E6A4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2CFE-4B49-A769-E474AD3E6A4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Agriculture and fresh produce</c:v>
              </c:pt>
              <c:pt idx="2">
                <c:v>Processed food and beverages</c:v>
              </c:pt>
              <c:pt idx="3">
                <c:v>E-commerce shipping and fulfillment</c:v>
              </c:pt>
              <c:pt idx="4">
                <c:v>Retail-ready and point-of-sale packaging</c:v>
              </c:pt>
              <c:pt idx="5">
                <c:v>Personal care and household products</c:v>
              </c:pt>
              <c:pt idx="6">
                <c:v>Electrical and electronics</c:v>
              </c:pt>
              <c:pt idx="7">
                <c:v>Pharmaceuticals and healthcare</c:v>
              </c:pt>
              <c:pt idx="8">
                <c:v>Industrial machinery, automotive and components</c:v>
              </c:pt>
              <c:pt idx="9">
                <c:v>Other end uses</c:v>
              </c:pt>
              <c:pt idx="10">
                <c:v>2036 Total</c:v>
              </c:pt>
            </c:strLit>
          </c:cat>
          <c:val>
            <c:numLit>
              <c:formatCode>General</c:formatCode>
              <c:ptCount val="11"/>
              <c:pt idx="0">
                <c:v>2485.0650000000001</c:v>
              </c:pt>
              <c:pt idx="1">
                <c:v>60.616999999999997</c:v>
              </c:pt>
              <c:pt idx="2">
                <c:v>159.00799999999998</c:v>
              </c:pt>
              <c:pt idx="3">
                <c:v>115.95699999999999</c:v>
              </c:pt>
              <c:pt idx="4">
                <c:v>49.222000000000008</c:v>
              </c:pt>
              <c:pt idx="5">
                <c:v>211.95900000000006</c:v>
              </c:pt>
              <c:pt idx="6">
                <c:v>209.95399999999998</c:v>
              </c:pt>
              <c:pt idx="7">
                <c:v>142.68</c:v>
              </c:pt>
              <c:pt idx="8">
                <c:v>25.587000000000003</c:v>
              </c:pt>
              <c:pt idx="9">
                <c:v>157.31299999999999</c:v>
              </c:pt>
              <c:pt idx="10">
                <c:v>3617.3620000000001</c:v>
              </c:pt>
            </c:numLit>
          </c:val>
          <c:extLst>
            <c:ext xmlns:c16="http://schemas.microsoft.com/office/drawing/2014/chart" uri="{C3380CC4-5D6E-409C-BE32-E72D297353CC}">
              <c16:uniqueId val="{00000017-2CFE-4B49-A769-E474AD3E6A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0"/>
              <c:pt idx="0">
                <c:v>Agriculture and fresh produce</c:v>
              </c:pt>
              <c:pt idx="1">
                <c:v>Processed food and beverages</c:v>
              </c:pt>
              <c:pt idx="2">
                <c:v>E-commerce shipping and fulfillment</c:v>
              </c:pt>
              <c:pt idx="3">
                <c:v>Retail-ready and point-of-sale packaging</c:v>
              </c:pt>
              <c:pt idx="4">
                <c:v>Personal care and household products</c:v>
              </c:pt>
              <c:pt idx="5">
                <c:v>Electrical and electronics</c:v>
              </c:pt>
              <c:pt idx="6">
                <c:v>Pharmaceuticals and healthcare</c:v>
              </c:pt>
              <c:pt idx="7">
                <c:v>Industrial machinery, automotive and components</c:v>
              </c:pt>
              <c:pt idx="8">
                <c:v>Other end uses</c:v>
              </c:pt>
              <c:pt idx="9">
                <c:v>Total Absolute $ Opportunity</c:v>
              </c:pt>
            </c:strLit>
          </c:cat>
          <c:val>
            <c:numLit>
              <c:formatCode>General</c:formatCode>
              <c:ptCount val="10"/>
              <c:pt idx="0">
                <c:v>0</c:v>
              </c:pt>
              <c:pt idx="1">
                <c:v>60.616999999999997</c:v>
              </c:pt>
              <c:pt idx="2">
                <c:v>219.62499999999997</c:v>
              </c:pt>
              <c:pt idx="3">
                <c:v>335.58199999999999</c:v>
              </c:pt>
              <c:pt idx="4">
                <c:v>384.80399999999997</c:v>
              </c:pt>
              <c:pt idx="5">
                <c:v>596.76300000000003</c:v>
              </c:pt>
              <c:pt idx="6">
                <c:v>806.71699999999998</c:v>
              </c:pt>
              <c:pt idx="7">
                <c:v>949.39699999999993</c:v>
              </c:pt>
              <c:pt idx="8">
                <c:v>974.98399999999992</c:v>
              </c:pt>
              <c:pt idx="9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08D-4AF8-99B3-E815EF7BFA6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908D-4AF8-99B3-E815EF7BFA6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08D-4AF8-99B3-E815EF7BFA6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08D-4AF8-99B3-E815EF7BFA6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08D-4AF8-99B3-E815EF7BFA6C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08D-4AF8-99B3-E815EF7BFA6C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08D-4AF8-99B3-E815EF7BFA6C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908D-4AF8-99B3-E815EF7BFA6C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908D-4AF8-99B3-E815EF7BFA6C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908D-4AF8-99B3-E815EF7BFA6C}"/>
              </c:ext>
            </c:extLst>
          </c:dPt>
          <c:dPt>
            <c:idx val="9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4-908D-4AF8-99B3-E815EF7BFA6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08D-4AF8-99B3-E815EF7BFA6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08D-4AF8-99B3-E815EF7BFA6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08D-4AF8-99B3-E815EF7BFA6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08D-4AF8-99B3-E815EF7BFA6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08D-4AF8-99B3-E815EF7BFA6C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08D-4AF8-99B3-E815EF7BFA6C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08D-4AF8-99B3-E815EF7BFA6C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908D-4AF8-99B3-E815EF7BFA6C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908D-4AF8-99B3-E815EF7BFA6C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908D-4AF8-99B3-E815EF7BFA6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0"/>
              <c:pt idx="0">
                <c:v>Agriculture and fresh produce</c:v>
              </c:pt>
              <c:pt idx="1">
                <c:v>Processed food and beverages</c:v>
              </c:pt>
              <c:pt idx="2">
                <c:v>E-commerce shipping and fulfillment</c:v>
              </c:pt>
              <c:pt idx="3">
                <c:v>Retail-ready and point-of-sale packaging</c:v>
              </c:pt>
              <c:pt idx="4">
                <c:v>Personal care and household products</c:v>
              </c:pt>
              <c:pt idx="5">
                <c:v>Electrical and electronics</c:v>
              </c:pt>
              <c:pt idx="6">
                <c:v>Pharmaceuticals and healthcare</c:v>
              </c:pt>
              <c:pt idx="7">
                <c:v>Industrial machinery, automotive and components</c:v>
              </c:pt>
              <c:pt idx="8">
                <c:v>Other end uses</c:v>
              </c:pt>
              <c:pt idx="9">
                <c:v>Total Absolute $ Opportunity</c:v>
              </c:pt>
            </c:strLit>
          </c:cat>
          <c:val>
            <c:numLit>
              <c:formatCode>General</c:formatCode>
              <c:ptCount val="10"/>
              <c:pt idx="0">
                <c:v>60.616999999999997</c:v>
              </c:pt>
              <c:pt idx="1">
                <c:v>159.00799999999998</c:v>
              </c:pt>
              <c:pt idx="2">
                <c:v>115.95699999999999</c:v>
              </c:pt>
              <c:pt idx="3">
                <c:v>49.222000000000008</c:v>
              </c:pt>
              <c:pt idx="4">
                <c:v>211.95900000000006</c:v>
              </c:pt>
              <c:pt idx="5">
                <c:v>209.95399999999998</c:v>
              </c:pt>
              <c:pt idx="6">
                <c:v>142.68</c:v>
              </c:pt>
              <c:pt idx="7">
                <c:v>25.587000000000003</c:v>
              </c:pt>
              <c:pt idx="8">
                <c:v>157.31299999999999</c:v>
              </c:pt>
              <c:pt idx="9">
                <c:v>1132.297</c:v>
              </c:pt>
            </c:numLit>
          </c:val>
          <c:extLst>
            <c:ext xmlns:c16="http://schemas.microsoft.com/office/drawing/2014/chart" uri="{C3380CC4-5D6E-409C-BE32-E72D297353CC}">
              <c16:uniqueId val="{00000015-908D-4AF8-99B3-E815EF7BF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Integrated Board and Box Manufacturers</c:v>
              </c:pt>
              <c:pt idx="2">
                <c:v>Independent Corrugated Sheet Feeders</c:v>
              </c:pt>
              <c:pt idx="3">
                <c:v>Independent Sheet Plants and Box Converters</c:v>
              </c:pt>
              <c:pt idx="4">
                <c:v>Captive / In-house Box Manufacturing Units</c:v>
              </c:pt>
              <c:pt idx="5">
                <c:v>Contract and Third-party Packaging Manufacturers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2485.0650000000001</c:v>
              </c:pt>
              <c:pt idx="2">
                <c:v>2527.5439999999999</c:v>
              </c:pt>
              <c:pt idx="3">
                <c:v>2790.1619999999998</c:v>
              </c:pt>
              <c:pt idx="4">
                <c:v>3224.2139999999999</c:v>
              </c:pt>
              <c:pt idx="5">
                <c:v>3493.0409999999997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65B-4CB4-ACDC-EBEBB56AA33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65B-4CB4-ACDC-EBEBB56AA33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65B-4CB4-ACDC-EBEBB56AA33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65B-4CB4-ACDC-EBEBB56AA33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65B-4CB4-ACDC-EBEBB56AA33C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65B-4CB4-ACDC-EBEBB56AA33C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65B-4CB4-ACDC-EBEBB56AA33C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65B-4CB4-ACDC-EBEBB56AA33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65B-4CB4-ACDC-EBEBB56AA33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65B-4CB4-ACDC-EBEBB56AA33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65B-4CB4-ACDC-EBEBB56AA33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65B-4CB4-ACDC-EBEBB56AA33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65B-4CB4-ACDC-EBEBB56AA33C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65B-4CB4-ACDC-EBEBB56AA33C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65B-4CB4-ACDC-EBEBB56AA33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Integrated Board and Box Manufacturers</c:v>
              </c:pt>
              <c:pt idx="2">
                <c:v>Independent Corrugated Sheet Feeders</c:v>
              </c:pt>
              <c:pt idx="3">
                <c:v>Independent Sheet Plants and Box Converters</c:v>
              </c:pt>
              <c:pt idx="4">
                <c:v>Captive / In-house Box Manufacturing Units</c:v>
              </c:pt>
              <c:pt idx="5">
                <c:v>Contract and Third-party Packaging Manufacturers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2485.0650000000001</c:v>
              </c:pt>
              <c:pt idx="1">
                <c:v>42.479000000000013</c:v>
              </c:pt>
              <c:pt idx="2">
                <c:v>262.61799999999994</c:v>
              </c:pt>
              <c:pt idx="3">
                <c:v>434.05199999999991</c:v>
              </c:pt>
              <c:pt idx="4">
                <c:v>268.82699999999988</c:v>
              </c:pt>
              <c:pt idx="5">
                <c:v>124.32099999999997</c:v>
              </c:pt>
              <c:pt idx="6">
                <c:v>3617.3619999999996</c:v>
              </c:pt>
            </c:numLit>
          </c:val>
          <c:extLst>
            <c:ext xmlns:c16="http://schemas.microsoft.com/office/drawing/2014/chart" uri="{C3380CC4-5D6E-409C-BE32-E72D297353CC}">
              <c16:uniqueId val="{0000000F-A65B-4CB4-ACDC-EBEBB56AA33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6"/>
              <c:pt idx="0">
                <c:v>Integrated Board and Box Manufacturers</c:v>
              </c:pt>
              <c:pt idx="1">
                <c:v>Independent Corrugated Sheet Feeders</c:v>
              </c:pt>
              <c:pt idx="2">
                <c:v>Independent Sheet Plants and Box Converters</c:v>
              </c:pt>
              <c:pt idx="3">
                <c:v>Captive / In-house Box Manufacturing Units</c:v>
              </c:pt>
              <c:pt idx="4">
                <c:v>Contract and Third-party Packaging Manufacturers</c:v>
              </c:pt>
              <c:pt idx="5">
                <c:v>Total Absolute $ Opportunity</c:v>
              </c:pt>
            </c:strLit>
          </c:cat>
          <c:val>
            <c:numLit>
              <c:formatCode>General</c:formatCode>
              <c:ptCount val="6"/>
              <c:pt idx="0">
                <c:v>0</c:v>
              </c:pt>
              <c:pt idx="1">
                <c:v>42.479000000000013</c:v>
              </c:pt>
              <c:pt idx="2">
                <c:v>305.09699999999998</c:v>
              </c:pt>
              <c:pt idx="3">
                <c:v>739.14899999999989</c:v>
              </c:pt>
              <c:pt idx="4">
                <c:v>1007.9759999999998</c:v>
              </c:pt>
              <c:pt idx="5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8BB-4A5C-A369-2B87973FD4C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A8BB-4A5C-A369-2B87973FD4C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8BB-4A5C-A369-2B87973FD4C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8BB-4A5C-A369-2B87973FD4C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8BB-4A5C-A369-2B87973FD4C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8BB-4A5C-A369-2B87973FD4C9}"/>
              </c:ext>
            </c:extLst>
          </c:dPt>
          <c:dPt>
            <c:idx val="5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C-A8BB-4A5C-A369-2B87973FD4C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8BB-4A5C-A369-2B87973FD4C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8BB-4A5C-A369-2B87973FD4C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8BB-4A5C-A369-2B87973FD4C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8BB-4A5C-A369-2B87973FD4C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8BB-4A5C-A369-2B87973FD4C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8BB-4A5C-A369-2B87973FD4C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Integrated Board and Box Manufacturers</c:v>
              </c:pt>
              <c:pt idx="1">
                <c:v>Independent Corrugated Sheet Feeders</c:v>
              </c:pt>
              <c:pt idx="2">
                <c:v>Independent Sheet Plants and Box Converters</c:v>
              </c:pt>
              <c:pt idx="3">
                <c:v>Captive / In-house Box Manufacturing Units</c:v>
              </c:pt>
              <c:pt idx="4">
                <c:v>Contract and Third-party Packaging Manufacturers</c:v>
              </c:pt>
              <c:pt idx="5">
                <c:v>Total Absolute $ Opportunity</c:v>
              </c:pt>
            </c:strLit>
          </c:cat>
          <c:val>
            <c:numLit>
              <c:formatCode>General</c:formatCode>
              <c:ptCount val="6"/>
              <c:pt idx="0">
                <c:v>42.479000000000013</c:v>
              </c:pt>
              <c:pt idx="1">
                <c:v>262.61799999999994</c:v>
              </c:pt>
              <c:pt idx="2">
                <c:v>434.05199999999991</c:v>
              </c:pt>
              <c:pt idx="3">
                <c:v>268.82699999999988</c:v>
              </c:pt>
              <c:pt idx="4">
                <c:v>124.32099999999997</c:v>
              </c:pt>
              <c:pt idx="5">
                <c:v>1132.2969999999998</c:v>
              </c:pt>
            </c:numLit>
          </c:val>
          <c:extLst>
            <c:ext xmlns:c16="http://schemas.microsoft.com/office/drawing/2014/chart" uri="{C3380CC4-5D6E-409C-BE32-E72D297353CC}">
              <c16:uniqueId val="{0000000D-A8BB-4A5C-A369-2B87973FD4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0"/>
    <c:plotArea>
      <c:layout/>
      <c:lineChart>
        <c:grouping val="standard"/>
        <c:varyColors val="0"/>
        <c:ser>
          <c:idx val="0"/>
          <c:order val="0"/>
          <c:tx>
            <c:v>Printing and Converting Equipment</c:v>
          </c:tx>
          <c:spPr>
            <a:ln w="25400">
              <a:solidFill>
                <a:srgbClr val="C55A11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4456</c:v>
              </c:pt>
              <c:pt idx="1">
                <c:v>4505</c:v>
              </c:pt>
              <c:pt idx="2">
                <c:v>4543</c:v>
              </c:pt>
              <c:pt idx="3">
                <c:v>4572</c:v>
              </c:pt>
              <c:pt idx="4">
                <c:v>4594</c:v>
              </c:pt>
              <c:pt idx="5">
                <c:v>4609</c:v>
              </c:pt>
              <c:pt idx="6">
                <c:v>4610</c:v>
              </c:pt>
              <c:pt idx="7">
                <c:v>4620</c:v>
              </c:pt>
              <c:pt idx="8">
                <c:v>4637</c:v>
              </c:pt>
              <c:pt idx="9">
                <c:v>4660</c:v>
              </c:pt>
              <c:pt idx="10">
                <c:v>4690</c:v>
              </c:pt>
              <c:pt idx="11">
                <c:v>4728</c:v>
              </c:pt>
              <c:pt idx="12">
                <c:v>4772</c:v>
              </c:pt>
              <c:pt idx="13">
                <c:v>4818</c:v>
              </c:pt>
              <c:pt idx="14">
                <c:v>4859</c:v>
              </c:pt>
              <c:pt idx="15">
                <c:v>4895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0-482C-44CC-8618-2D438EB9C013}"/>
            </c:ext>
          </c:extLst>
        </c:ser>
        <c:ser>
          <c:idx val="1"/>
          <c:order val="1"/>
          <c:tx>
            <c:v>Corrugated Board Production Equipment</c:v>
          </c:tx>
          <c:spPr>
            <a:ln w="25400">
              <a:solidFill>
                <a:srgbClr val="0B2E4A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3912</c:v>
              </c:pt>
              <c:pt idx="1">
                <c:v>3913</c:v>
              </c:pt>
              <c:pt idx="2">
                <c:v>3925</c:v>
              </c:pt>
              <c:pt idx="3">
                <c:v>3941</c:v>
              </c:pt>
              <c:pt idx="4">
                <c:v>3967</c:v>
              </c:pt>
              <c:pt idx="5">
                <c:v>4004</c:v>
              </c:pt>
              <c:pt idx="6">
                <c:v>4015</c:v>
              </c:pt>
              <c:pt idx="7">
                <c:v>4032</c:v>
              </c:pt>
              <c:pt idx="8">
                <c:v>4055</c:v>
              </c:pt>
              <c:pt idx="9">
                <c:v>4080</c:v>
              </c:pt>
              <c:pt idx="10">
                <c:v>4105</c:v>
              </c:pt>
              <c:pt idx="11">
                <c:v>4126</c:v>
              </c:pt>
              <c:pt idx="12">
                <c:v>4143</c:v>
              </c:pt>
              <c:pt idx="13">
                <c:v>4159</c:v>
              </c:pt>
              <c:pt idx="14">
                <c:v>4172</c:v>
              </c:pt>
              <c:pt idx="15">
                <c:v>4181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1-482C-44CC-8618-2D438EB9C013}"/>
            </c:ext>
          </c:extLst>
        </c:ser>
        <c:ser>
          <c:idx val="2"/>
          <c:order val="2"/>
          <c:tx>
            <c:v>Finishing and Box Assembly Equipment</c:v>
          </c:tx>
          <c:spPr>
            <a:ln w="25400">
              <a:solidFill>
                <a:srgbClr val="7030A0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3377</c:v>
              </c:pt>
              <c:pt idx="1">
                <c:v>3394</c:v>
              </c:pt>
              <c:pt idx="2">
                <c:v>3411</c:v>
              </c:pt>
              <c:pt idx="3">
                <c:v>3430</c:v>
              </c:pt>
              <c:pt idx="4">
                <c:v>3451</c:v>
              </c:pt>
              <c:pt idx="5">
                <c:v>3473</c:v>
              </c:pt>
              <c:pt idx="6">
                <c:v>3483</c:v>
              </c:pt>
              <c:pt idx="7">
                <c:v>3494</c:v>
              </c:pt>
              <c:pt idx="8">
                <c:v>3508</c:v>
              </c:pt>
              <c:pt idx="9">
                <c:v>3525</c:v>
              </c:pt>
              <c:pt idx="10">
                <c:v>3544</c:v>
              </c:pt>
              <c:pt idx="11">
                <c:v>3566</c:v>
              </c:pt>
              <c:pt idx="12">
                <c:v>3588</c:v>
              </c:pt>
              <c:pt idx="13">
                <c:v>3611</c:v>
              </c:pt>
              <c:pt idx="14">
                <c:v>3633</c:v>
              </c:pt>
              <c:pt idx="15">
                <c:v>3653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2-482C-44CC-8618-2D438EB9C0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low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2140495176"/>
        <c:crosses val="autoZero"/>
        <c:auto val="1"/>
        <c:lblAlgn val="ctr"/>
        <c:lblOffset val="100"/>
        <c:noMultiLvlLbl val="0"/>
      </c:catAx>
      <c:valAx>
        <c:axId val="2140495176"/>
        <c:scaling>
          <c:orientation val="minMax"/>
          <c:max val="5000"/>
          <c:min val="300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2118791784"/>
        <c:crosses val="autoZero"/>
        <c:crossBetween val="between"/>
        <c:majorUnit val="500"/>
      </c:valAx>
    </c:plotArea>
    <c:legend>
      <c:legendPos val="b"/>
      <c:overlay val="0"/>
      <c:txPr>
        <a:bodyPr/>
        <a:lstStyle/>
        <a:p>
          <a:pPr>
            <a:defRPr sz="900">
              <a:latin typeface="Calibri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1"/>
        <c:ser>
          <c:idx val="0"/>
          <c:order val="0"/>
          <c:tx>
            <c:v>Index</c:v>
          </c:tx>
          <c:invertIfNegative val="1"/>
          <c:dPt>
            <c:idx val="0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1-3AF4-4259-8710-E4F9E7406236}"/>
              </c:ext>
            </c:extLst>
          </c:dPt>
          <c:dPt>
            <c:idx val="1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3-3AF4-4259-8710-E4F9E7406236}"/>
              </c:ext>
            </c:extLst>
          </c:dPt>
          <c:dPt>
            <c:idx val="2"/>
            <c:invertIfNegative val="1"/>
            <c:bubble3D val="0"/>
            <c:spPr>
              <a:solidFill>
                <a:srgbClr val="C55A11"/>
              </a:solidFill>
            </c:spPr>
            <c:extLst>
              <c:ext xmlns:c16="http://schemas.microsoft.com/office/drawing/2014/chart" uri="{C3380CC4-5D6E-409C-BE32-E72D297353CC}">
                <c16:uniqueId val="{00000005-3AF4-4259-8710-E4F9E7406236}"/>
              </c:ext>
            </c:extLst>
          </c:dPt>
          <c:cat>
            <c:strLit>
              <c:ptCount val="3"/>
              <c:pt idx="0">
                <c:v>Finishing and Box Assembly Equipment</c:v>
              </c:pt>
              <c:pt idx="1">
                <c:v>Corrugated Board Production Equipment</c:v>
              </c:pt>
              <c:pt idx="2">
                <c:v>Printing and Converting Equipment</c:v>
              </c:pt>
            </c:strLit>
          </c:cat>
          <c:val>
            <c:numLit>
              <c:formatCode>General</c:formatCode>
              <c:ptCount val="3"/>
              <c:pt idx="0">
                <c:v>84.7</c:v>
              </c:pt>
              <c:pt idx="1">
                <c:v>97.7</c:v>
              </c:pt>
              <c:pt idx="2">
                <c:v>112.4</c:v>
              </c:pt>
            </c:numLit>
          </c:val>
          <c:extLst>
            <c:ext xmlns:c16="http://schemas.microsoft.com/office/drawing/2014/chart" uri="{C3380CC4-5D6E-409C-BE32-E72D297353CC}">
              <c16:uniqueId val="{00000006-3AF4-4259-8710-E4F9E74062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5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14"/>
          <c:min val="82"/>
        </c:scaling>
        <c:delete val="1"/>
        <c:axPos val="b"/>
        <c:numFmt formatCode="General" sourceLinked="1"/>
        <c:majorTickMark val="out"/>
        <c:minorTickMark val="none"/>
        <c:tickLblPos val="none"/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800"/>
      </a:pPr>
      <a:endParaRPr lang="en-US"/>
    </a:p>
  </c:txPr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0"/>
    <c:plotArea>
      <c:layout/>
      <c:barChart>
        <c:barDir val="bar"/>
        <c:grouping val="stacked"/>
        <c:varyColors val="1"/>
        <c:ser>
          <c:idx val="0"/>
          <c:order val="0"/>
          <c:tx>
            <c:v>Base</c:v>
          </c:tx>
          <c:spPr>
            <a:noFill/>
          </c:spPr>
          <c:invertIfNegative val="1"/>
          <c:cat>
            <c:strLit>
              <c:ptCount val="15"/>
              <c:pt idx="0">
                <c:v>Double facers and gluing systems</c:v>
              </c:pt>
              <c:pt idx="1">
                <c:v>Flute laminating and sheet-mounting machines</c:v>
              </c:pt>
              <c:pt idx="2">
                <c:v>Specialty box-forming and assembly machines</c:v>
              </c:pt>
              <c:pt idx="3">
                <c:v>Standalone flexo printing and printer-slotter machines</c:v>
              </c:pt>
              <c:pt idx="4">
                <c:v>Digital corrugated printing machines</c:v>
              </c:pt>
              <c:pt idx="5">
                <c:v>Stitching and box-joint taping machines</c:v>
              </c:pt>
              <c:pt idx="6">
                <c:v>Standalone slotting, scoring and creasing machines</c:v>
              </c:pt>
              <c:pt idx="7">
                <c:v>Reel stands, splicers, preheaters and other corrugator auxiliaries</c:v>
              </c:pt>
              <c:pt idx="8">
                <c:v>Standalone folder-gluers</c:v>
              </c:pt>
              <c:pt idx="9">
                <c:v>Integrated flexo printer-slotter-die-cutter lines</c:v>
              </c:pt>
              <c:pt idx="10">
                <c:v>Single facers</c:v>
              </c:pt>
              <c:pt idx="11">
                <c:v>Slitter-scorers, cut-off machines and corrugator stackers</c:v>
              </c:pt>
              <c:pt idx="12">
                <c:v>Standalone flatbed die-cutters</c:v>
              </c:pt>
              <c:pt idx="13">
                <c:v>Standalone rotary die-cutters</c:v>
              </c:pt>
              <c:pt idx="14">
                <c:v>Corrugated liner pre-printing machines</c:v>
              </c:pt>
            </c:strLit>
          </c:cat>
          <c:val>
            <c:numLit>
              <c:formatCode>General</c:formatCode>
              <c:ptCount val="15"/>
              <c:pt idx="0">
                <c:v>2659</c:v>
              </c:pt>
              <c:pt idx="1">
                <c:v>2709</c:v>
              </c:pt>
              <c:pt idx="2">
                <c:v>2791</c:v>
              </c:pt>
              <c:pt idx="3">
                <c:v>3025</c:v>
              </c:pt>
              <c:pt idx="4">
                <c:v>3356</c:v>
              </c:pt>
              <c:pt idx="5">
                <c:v>3352</c:v>
              </c:pt>
              <c:pt idx="6">
                <c:v>3486</c:v>
              </c:pt>
              <c:pt idx="7">
                <c:v>3860</c:v>
              </c:pt>
              <c:pt idx="8">
                <c:v>3828</c:v>
              </c:pt>
              <c:pt idx="9">
                <c:v>4026</c:v>
              </c:pt>
              <c:pt idx="10">
                <c:v>4056</c:v>
              </c:pt>
              <c:pt idx="11">
                <c:v>4275</c:v>
              </c:pt>
              <c:pt idx="12">
                <c:v>4368</c:v>
              </c:pt>
              <c:pt idx="13">
                <c:v>4581</c:v>
              </c:pt>
              <c:pt idx="14">
                <c:v>5077</c:v>
              </c:pt>
            </c:numLit>
          </c:val>
          <c:extLst>
            <c:ext xmlns:c16="http://schemas.microsoft.com/office/drawing/2014/chart" uri="{C3380CC4-5D6E-409C-BE32-E72D297353CC}">
              <c16:uniqueId val="{00000000-911C-4445-BCDE-9FD6319C8E6A}"/>
            </c:ext>
          </c:extLst>
        </c:ser>
        <c:ser>
          <c:idx val="1"/>
          <c:order val="1"/>
          <c:tx>
            <c:v>Range</c:v>
          </c:tx>
          <c:spPr>
            <a:solidFill>
              <a:srgbClr val="008189"/>
            </a:solidFill>
          </c:spPr>
          <c:invertIfNegative val="1"/>
          <c:cat>
            <c:strLit>
              <c:ptCount val="15"/>
              <c:pt idx="0">
                <c:v>Double facers and gluing systems</c:v>
              </c:pt>
              <c:pt idx="1">
                <c:v>Flute laminating and sheet-mounting machines</c:v>
              </c:pt>
              <c:pt idx="2">
                <c:v>Specialty box-forming and assembly machines</c:v>
              </c:pt>
              <c:pt idx="3">
                <c:v>Standalone flexo printing and printer-slotter machines</c:v>
              </c:pt>
              <c:pt idx="4">
                <c:v>Digital corrugated printing machines</c:v>
              </c:pt>
              <c:pt idx="5">
                <c:v>Stitching and box-joint taping machines</c:v>
              </c:pt>
              <c:pt idx="6">
                <c:v>Standalone slotting, scoring and creasing machines</c:v>
              </c:pt>
              <c:pt idx="7">
                <c:v>Reel stands, splicers, preheaters and other corrugator auxiliaries</c:v>
              </c:pt>
              <c:pt idx="8">
                <c:v>Standalone folder-gluers</c:v>
              </c:pt>
              <c:pt idx="9">
                <c:v>Integrated flexo printer-slotter-die-cutter lines</c:v>
              </c:pt>
              <c:pt idx="10">
                <c:v>Single facers</c:v>
              </c:pt>
              <c:pt idx="11">
                <c:v>Slitter-scorers, cut-off machines and corrugator stackers</c:v>
              </c:pt>
              <c:pt idx="12">
                <c:v>Standalone flatbed die-cutters</c:v>
              </c:pt>
              <c:pt idx="13">
                <c:v>Standalone rotary die-cutters</c:v>
              </c:pt>
              <c:pt idx="14">
                <c:v>Corrugated liner pre-printing machines</c:v>
              </c:pt>
            </c:strLit>
          </c:cat>
          <c:val>
            <c:numLit>
              <c:formatCode>General</c:formatCode>
              <c:ptCount val="15"/>
              <c:pt idx="0">
                <c:v>1845</c:v>
              </c:pt>
              <c:pt idx="1">
                <c:v>1722</c:v>
              </c:pt>
              <c:pt idx="2">
                <c:v>2106</c:v>
              </c:pt>
              <c:pt idx="3">
                <c:v>2282</c:v>
              </c:pt>
              <c:pt idx="4">
                <c:v>2392</c:v>
              </c:pt>
              <c:pt idx="5">
                <c:v>2487</c:v>
              </c:pt>
              <c:pt idx="6">
                <c:v>2426</c:v>
              </c:pt>
              <c:pt idx="7">
                <c:v>2727</c:v>
              </c:pt>
              <c:pt idx="8">
                <c:v>2799</c:v>
              </c:pt>
              <c:pt idx="9">
                <c:v>2483</c:v>
              </c:pt>
              <c:pt idx="10">
                <c:v>2978</c:v>
              </c:pt>
              <c:pt idx="11">
                <c:v>3144</c:v>
              </c:pt>
              <c:pt idx="12">
                <c:v>3217</c:v>
              </c:pt>
              <c:pt idx="13">
                <c:v>3404</c:v>
              </c:pt>
              <c:pt idx="14">
                <c:v>3445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</c14:spPr>
              </c14:invertSolidFillFmt>
            </c:ext>
            <c:ext xmlns:c16="http://schemas.microsoft.com/office/drawing/2014/chart" uri="{C3380CC4-5D6E-409C-BE32-E72D297353CC}">
              <c16:uniqueId val="{00000001-911C-4445-BCDE-9FD6319C8E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5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00"/>
          <c:min val="2000"/>
        </c:scaling>
        <c:delete val="0"/>
        <c:axPos val="b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0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-2068027336"/>
        <c:crosses val="autoZero"/>
        <c:crossBetween val="between"/>
        <c:majorUnit val="2000"/>
      </c:valAx>
    </c:plotArea>
    <c:plotVisOnly val="1"/>
    <c:dispBlanksAs val="gap"/>
    <c:showDLblsOverMax val="1"/>
  </c:chart>
  <c:txPr>
    <a:bodyPr/>
    <a:lstStyle/>
    <a:p>
      <a:pPr>
        <a:defRPr sz="1800"/>
      </a:pPr>
      <a:endParaRPr lang="en-US"/>
    </a:p>
  </c:txPr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0"/>
    <c:plotArea>
      <c:layout/>
      <c:barChart>
        <c:barDir val="col"/>
        <c:grouping val="stacked"/>
        <c:varyColors val="1"/>
        <c:ser>
          <c:idx val="0"/>
          <c:order val="0"/>
          <c:tx>
            <c:v>Base</c:v>
          </c:tx>
          <c:spPr>
            <a:noFill/>
          </c:spPr>
          <c:invertIfNegative val="1"/>
          <c:cat>
            <c:strLit>
              <c:ptCount val="6"/>
              <c:pt idx="0">
                <c:v>North America</c:v>
              </c:pt>
              <c:pt idx="1">
                <c:v>Europe</c:v>
              </c:pt>
              <c:pt idx="2">
                <c:v>Latin America</c:v>
              </c:pt>
              <c:pt idx="3">
                <c:v>Middle East and Africa</c:v>
              </c:pt>
              <c:pt idx="4">
                <c:v>East Asia</c:v>
              </c:pt>
              <c:pt idx="5">
                <c:v>South Asia &amp; Pacific</c:v>
              </c:pt>
            </c:strLit>
          </c:cat>
          <c:val>
            <c:numLit>
              <c:formatCode>General</c:formatCode>
              <c:ptCount val="6"/>
              <c:pt idx="0">
                <c:v>115.4</c:v>
              </c:pt>
              <c:pt idx="1">
                <c:v>103.1</c:v>
              </c:pt>
              <c:pt idx="2">
                <c:v>79.3</c:v>
              </c:pt>
              <c:pt idx="3">
                <c:v>77.8</c:v>
              </c:pt>
              <c:pt idx="4">
                <c:v>60</c:v>
              </c:pt>
              <c:pt idx="5">
                <c:v>52.5</c:v>
              </c:pt>
            </c:numLit>
          </c:val>
          <c:extLst>
            <c:ext xmlns:c16="http://schemas.microsoft.com/office/drawing/2014/chart" uri="{C3380CC4-5D6E-409C-BE32-E72D297353CC}">
              <c16:uniqueId val="{00000000-FEDA-4B35-813C-76829FE3B191}"/>
            </c:ext>
          </c:extLst>
        </c:ser>
        <c:ser>
          <c:idx val="1"/>
          <c:order val="1"/>
          <c:tx>
            <c:v>Range</c:v>
          </c:tx>
          <c:spPr>
            <a:solidFill>
              <a:srgbClr val="008189"/>
            </a:solidFill>
          </c:spPr>
          <c:invertIfNegative val="1"/>
          <c:dPt>
            <c:idx val="2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2-FEDA-4B35-813C-76829FE3B191}"/>
              </c:ext>
            </c:extLst>
          </c:dPt>
          <c:dPt>
            <c:idx val="3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4-FEDA-4B35-813C-76829FE3B191}"/>
              </c:ext>
            </c:extLst>
          </c:dPt>
          <c:dPt>
            <c:idx val="4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6-FEDA-4B35-813C-76829FE3B191}"/>
              </c:ext>
            </c:extLst>
          </c:dPt>
          <c:dPt>
            <c:idx val="5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8-FEDA-4B35-813C-76829FE3B191}"/>
              </c:ext>
            </c:extLst>
          </c:dPt>
          <c:cat>
            <c:strLit>
              <c:ptCount val="6"/>
              <c:pt idx="0">
                <c:v>North America</c:v>
              </c:pt>
              <c:pt idx="1">
                <c:v>Europe</c:v>
              </c:pt>
              <c:pt idx="2">
                <c:v>Latin America</c:v>
              </c:pt>
              <c:pt idx="3">
                <c:v>Middle East and Africa</c:v>
              </c:pt>
              <c:pt idx="4">
                <c:v>East Asia</c:v>
              </c:pt>
              <c:pt idx="5">
                <c:v>South Asia &amp; Pacific</c:v>
              </c:pt>
            </c:strLit>
          </c:cat>
          <c:val>
            <c:numLit>
              <c:formatCode>General</c:formatCode>
              <c:ptCount val="6"/>
              <c:pt idx="0">
                <c:v>36.700000000000003</c:v>
              </c:pt>
              <c:pt idx="1">
                <c:v>34.1</c:v>
              </c:pt>
              <c:pt idx="2">
                <c:v>28.2</c:v>
              </c:pt>
              <c:pt idx="3">
                <c:v>27</c:v>
              </c:pt>
              <c:pt idx="4">
                <c:v>20.6</c:v>
              </c:pt>
              <c:pt idx="5">
                <c:v>16.600000000000001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</c14:spPr>
              </c14:invertSolidFillFmt>
            </c:ext>
            <c:ext xmlns:c16="http://schemas.microsoft.com/office/drawing/2014/chart" uri="{C3380CC4-5D6E-409C-BE32-E72D297353CC}">
              <c16:uniqueId val="{00000009-FEDA-4B35-813C-76829FE3B1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55"/>
          <c:min val="5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5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-2068027336"/>
        <c:crosses val="autoZero"/>
        <c:crossBetween val="between"/>
        <c:majorUnit val="10"/>
      </c:valAx>
    </c:plotArea>
    <c:plotVisOnly val="1"/>
    <c:dispBlanksAs val="gap"/>
    <c:showDLblsOverMax val="1"/>
  </c:chart>
  <c:txPr>
    <a:bodyPr/>
    <a:lstStyle/>
    <a:p>
      <a:pPr>
        <a:defRPr sz="1800"/>
      </a:pPr>
      <a:endParaRPr lang="en-US"/>
    </a:p>
  </c:txPr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8732-4852-99F1-DE9443BB0F35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8732-4852-99F1-DE9443BB0F35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8732-4852-99F1-DE9443BB0F35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8732-4852-99F1-DE9443BB0F35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8732-4852-99F1-DE9443BB0F35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8732-4852-99F1-DE9443BB0F35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8732-4852-99F1-DE9443BB0F35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8732-4852-99F1-DE9443BB0F35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8732-4852-99F1-DE9443BB0F35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8732-4852-99F1-DE9443BB0F35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8732-4852-99F1-DE9443BB0F35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732-4852-99F1-DE9443BB0F35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732-4852-99F1-DE9443BB0F35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732-4852-99F1-DE9443BB0F35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732-4852-99F1-DE9443BB0F35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732-4852-99F1-DE9443BB0F35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732-4852-99F1-DE9443BB0F35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8732-4852-99F1-DE9443BB0F35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8732-4852-99F1-DE9443BB0F35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732-4852-99F1-DE9443BB0F35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732-4852-99F1-DE9443BB0F35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8732-4852-99F1-DE9443BB0F35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15.401240790072531</c:v>
              </c:pt>
              <c:pt idx="1">
                <c:v>13.483170759180721</c:v>
              </c:pt>
              <c:pt idx="2">
                <c:v>9.2993528836453887</c:v>
              </c:pt>
              <c:pt idx="3">
                <c:v>6.532876475193234</c:v>
              </c:pt>
              <c:pt idx="4">
                <c:v>6.4733198297118948</c:v>
              </c:pt>
              <c:pt idx="5">
                <c:v>6.4332446808721819</c:v>
              </c:pt>
              <c:pt idx="6">
                <c:v>5.1503700280767655</c:v>
              </c:pt>
              <c:pt idx="7">
                <c:v>3.1015192989370006</c:v>
              </c:pt>
              <c:pt idx="8">
                <c:v>2.1645981368190892</c:v>
              </c:pt>
              <c:pt idx="9">
                <c:v>2.136096181068746</c:v>
              </c:pt>
              <c:pt idx="10">
                <c:v>29.824210936422443</c:v>
              </c:pt>
            </c:numLit>
          </c:val>
          <c:extLst>
            <c:ext xmlns:c16="http://schemas.microsoft.com/office/drawing/2014/chart" uri="{C3380CC4-5D6E-409C-BE32-E72D297353CC}">
              <c16:uniqueId val="{00000016-8732-4852-99F1-DE9443BB0F3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D3A9-4D64-A99C-9811D0B415B8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D3A9-4D64-A99C-9811D0B415B8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D3A9-4D64-A99C-9811D0B415B8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D3A9-4D64-A99C-9811D0B415B8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D3A9-4D64-A99C-9811D0B415B8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D3A9-4D64-A99C-9811D0B415B8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D3A9-4D64-A99C-9811D0B415B8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D3A9-4D64-A99C-9811D0B415B8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D3A9-4D64-A99C-9811D0B415B8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D3A9-4D64-A99C-9811D0B415B8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D3A9-4D64-A99C-9811D0B415B8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3A9-4D64-A99C-9811D0B415B8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3A9-4D64-A99C-9811D0B415B8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3A9-4D64-A99C-9811D0B415B8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3A9-4D64-A99C-9811D0B415B8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3A9-4D64-A99C-9811D0B415B8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3A9-4D64-A99C-9811D0B415B8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3A9-4D64-A99C-9811D0B415B8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3A9-4D64-A99C-9811D0B415B8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D3A9-4D64-A99C-9811D0B415B8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D3A9-4D64-A99C-9811D0B415B8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D3A9-4D64-A99C-9811D0B415B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11.693602256562977</c:v>
              </c:pt>
              <c:pt idx="1">
                <c:v>9.9890701454987205</c:v>
              </c:pt>
              <c:pt idx="2">
                <c:v>11.264513875278551</c:v>
              </c:pt>
              <c:pt idx="3">
                <c:v>11.542462021743303</c:v>
              </c:pt>
              <c:pt idx="4">
                <c:v>9.1707126254733691</c:v>
              </c:pt>
              <c:pt idx="5">
                <c:v>5.6937156548427303</c:v>
              </c:pt>
              <c:pt idx="6">
                <c:v>3.7515880157620747</c:v>
              </c:pt>
              <c:pt idx="7">
                <c:v>3.2400766712412858</c:v>
              </c:pt>
              <c:pt idx="8">
                <c:v>3.3901784262482124</c:v>
              </c:pt>
              <c:pt idx="9">
                <c:v>3.0300946920704144</c:v>
              </c:pt>
              <c:pt idx="10">
                <c:v>27.23398561527836</c:v>
              </c:pt>
            </c:numLit>
          </c:val>
          <c:extLst>
            <c:ext xmlns:c16="http://schemas.microsoft.com/office/drawing/2014/chart" uri="{C3380CC4-5D6E-409C-BE32-E72D297353CC}">
              <c16:uniqueId val="{00000016-D3A9-4D64-A99C-9811D0B415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0D59-447E-9C00-1D212FEE9556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0D59-447E-9C00-1D212FEE9556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0D59-447E-9C00-1D212FEE9556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0D59-447E-9C00-1D212FEE9556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0D59-447E-9C00-1D212FEE9556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0D59-447E-9C00-1D212FEE9556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0D59-447E-9C00-1D212FEE9556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0D59-447E-9C00-1D212FEE9556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0D59-447E-9C00-1D212FEE9556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0D59-447E-9C00-1D212FEE9556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0D59-447E-9C00-1D212FEE9556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D59-447E-9C00-1D212FEE9556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D59-447E-9C00-1D212FEE9556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D59-447E-9C00-1D212FEE9556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D59-447E-9C00-1D212FEE9556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D59-447E-9C00-1D212FEE9556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D59-447E-9C00-1D212FEE9556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D59-447E-9C00-1D212FEE9556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D59-447E-9C00-1D212FEE9556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D59-447E-9C00-1D212FEE9556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0D59-447E-9C00-1D212FEE9556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D59-447E-9C00-1D212FEE955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12.127056022733685</c:v>
              </c:pt>
              <c:pt idx="1">
                <c:v>13.515963661294228</c:v>
              </c:pt>
              <c:pt idx="2">
                <c:v>13.672509787055716</c:v>
              </c:pt>
              <c:pt idx="3">
                <c:v>10.747277583816313</c:v>
              </c:pt>
              <c:pt idx="4">
                <c:v>6.8538199238753492</c:v>
              </c:pt>
              <c:pt idx="5">
                <c:v>4.5275404515176012</c:v>
              </c:pt>
              <c:pt idx="6">
                <c:v>4.3515045192946022</c:v>
              </c:pt>
              <c:pt idx="7">
                <c:v>4.386878793633664</c:v>
              </c:pt>
              <c:pt idx="8">
                <c:v>3.8343075690671227</c:v>
              </c:pt>
              <c:pt idx="9">
                <c:v>2.614124464284719</c:v>
              </c:pt>
              <c:pt idx="10">
                <c:v>23.369017223427004</c:v>
              </c:pt>
            </c:numLit>
          </c:val>
          <c:extLst>
            <c:ext xmlns:c16="http://schemas.microsoft.com/office/drawing/2014/chart" uri="{C3380CC4-5D6E-409C-BE32-E72D297353CC}">
              <c16:uniqueId val="{00000016-0D59-447E-9C00-1D212FEE95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3AAB-4118-8B62-EB5670AFBBDF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3AAB-4118-8B62-EB5670AFBBDF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3AAB-4118-8B62-EB5670AFBBDF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3AAB-4118-8B62-EB5670AFBBDF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3AAB-4118-8B62-EB5670AFBBDF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3AAB-4118-8B62-EB5670AFBBDF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3AAB-4118-8B62-EB5670AFBBDF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3AAB-4118-8B62-EB5670AFBBDF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3AAB-4118-8B62-EB5670AFBBDF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3AAB-4118-8B62-EB5670AFBBDF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3AAB-4118-8B62-EB5670AFBBDF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AAB-4118-8B62-EB5670AFBBDF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AAB-4118-8B62-EB5670AFBBDF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AAB-4118-8B62-EB5670AFBBDF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AAB-4118-8B62-EB5670AFBBDF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AAB-4118-8B62-EB5670AFBBDF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AAB-4118-8B62-EB5670AFBBDF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AAB-4118-8B62-EB5670AFBBDF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AAB-4118-8B62-EB5670AFBBDF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3AAB-4118-8B62-EB5670AFBBDF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3AAB-4118-8B62-EB5670AFBBDF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3AAB-4118-8B62-EB5670AFBBD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16.616982878130067</c:v>
              </c:pt>
              <c:pt idx="1">
                <c:v>15.838373751146182</c:v>
              </c:pt>
              <c:pt idx="2">
                <c:v>12.226323321243273</c:v>
              </c:pt>
              <c:pt idx="3">
                <c:v>7.9560187929511281</c:v>
              </c:pt>
              <c:pt idx="4">
                <c:v>5.814138033935409</c:v>
              </c:pt>
              <c:pt idx="5">
                <c:v>5.6187624351137169</c:v>
              </c:pt>
              <c:pt idx="6">
                <c:v>5.8512590381909524</c:v>
              </c:pt>
              <c:pt idx="7">
                <c:v>4.7673503513720474</c:v>
              </c:pt>
              <c:pt idx="8">
                <c:v>3.1905899020099833</c:v>
              </c:pt>
              <c:pt idx="9">
                <c:v>1.9266097914653117</c:v>
              </c:pt>
              <c:pt idx="10">
                <c:v>20.193591704441936</c:v>
              </c:pt>
            </c:numLit>
          </c:val>
          <c:extLst>
            <c:ext xmlns:c16="http://schemas.microsoft.com/office/drawing/2014/chart" uri="{C3380CC4-5D6E-409C-BE32-E72D297353CC}">
              <c16:uniqueId val="{00000016-3AAB-4118-8B62-EB5670AFBB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2C2A-45EA-A893-BE32B65AE36B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2C2A-45EA-A893-BE32B65AE36B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2C2A-45EA-A893-BE32B65AE36B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2C2A-45EA-A893-BE32B65AE36B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2C2A-45EA-A893-BE32B65AE36B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2C2A-45EA-A893-BE32B65AE36B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2C2A-45EA-A893-BE32B65AE36B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2C2A-45EA-A893-BE32B65AE36B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2C2A-45EA-A893-BE32B65AE36B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2C2A-45EA-A893-BE32B65AE36B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2C2A-45EA-A893-BE32B65AE36B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C2A-45EA-A893-BE32B65AE36B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C2A-45EA-A893-BE32B65AE36B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C2A-45EA-A893-BE32B65AE36B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C2A-45EA-A893-BE32B65AE36B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C2A-45EA-A893-BE32B65AE36B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C2A-45EA-A893-BE32B65AE36B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C2A-45EA-A893-BE32B65AE36B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2C2A-45EA-A893-BE32B65AE36B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2C2A-45EA-A893-BE32B65AE36B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2C2A-45EA-A893-BE32B65AE36B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2C2A-45EA-A893-BE32B65AE36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17.074931814674855</c:v>
              </c:pt>
              <c:pt idx="1">
                <c:v>12.550885260107192</c:v>
              </c:pt>
              <c:pt idx="2">
                <c:v>8.3800435626977183</c:v>
              </c:pt>
              <c:pt idx="3">
                <c:v>7.4449520148603341</c:v>
              </c:pt>
              <c:pt idx="4">
                <c:v>8.0466070830549192</c:v>
              </c:pt>
              <c:pt idx="5">
                <c:v>6.9192142292565153</c:v>
              </c:pt>
              <c:pt idx="6">
                <c:v>4.6910711746823317</c:v>
              </c:pt>
              <c:pt idx="7">
                <c:v>2.8651087985998398</c:v>
              </c:pt>
              <c:pt idx="8">
                <c:v>2.5603699333355889</c:v>
              </c:pt>
              <c:pt idx="9">
                <c:v>2.6169804142295043</c:v>
              </c:pt>
              <c:pt idx="10">
                <c:v>26.849835714501204</c:v>
              </c:pt>
            </c:numLit>
          </c:val>
          <c:extLst>
            <c:ext xmlns:c16="http://schemas.microsoft.com/office/drawing/2014/chart" uri="{C3380CC4-5D6E-409C-BE32-E72D297353CC}">
              <c16:uniqueId val="{00000016-2C2A-45EA-A893-BE32B65AE3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86D0-4FE5-858F-91D3E0B6E8FC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86D0-4FE5-858F-91D3E0B6E8FC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86D0-4FE5-858F-91D3E0B6E8FC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86D0-4FE5-858F-91D3E0B6E8FC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86D0-4FE5-858F-91D3E0B6E8FC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86D0-4FE5-858F-91D3E0B6E8FC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86D0-4FE5-858F-91D3E0B6E8FC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86D0-4FE5-858F-91D3E0B6E8FC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86D0-4FE5-858F-91D3E0B6E8FC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86D0-4FE5-858F-91D3E0B6E8FC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86D0-4FE5-858F-91D3E0B6E8FC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6D0-4FE5-858F-91D3E0B6E8FC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6D0-4FE5-858F-91D3E0B6E8FC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6D0-4FE5-858F-91D3E0B6E8FC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6D0-4FE5-858F-91D3E0B6E8FC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6D0-4FE5-858F-91D3E0B6E8FC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6D0-4FE5-858F-91D3E0B6E8FC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86D0-4FE5-858F-91D3E0B6E8FC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86D0-4FE5-858F-91D3E0B6E8FC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6D0-4FE5-858F-91D3E0B6E8FC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6D0-4FE5-858F-91D3E0B6E8FC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86D0-4FE5-858F-91D3E0B6E8F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15.570454803610694</c:v>
              </c:pt>
              <c:pt idx="1">
                <c:v>10.546713911504883</c:v>
              </c:pt>
              <c:pt idx="2">
                <c:v>10.489494550876001</c:v>
              </c:pt>
              <c:pt idx="3">
                <c:v>11.523850319189417</c:v>
              </c:pt>
              <c:pt idx="4">
                <c:v>9.7162745270376938</c:v>
              </c:pt>
              <c:pt idx="5">
                <c:v>6.0418478249623186</c:v>
              </c:pt>
              <c:pt idx="6">
                <c:v>4.100995695833606</c:v>
              </c:pt>
              <c:pt idx="7">
                <c:v>3.8524851858046234</c:v>
              </c:pt>
              <c:pt idx="8">
                <c:v>3.8897938119963751</c:v>
              </c:pt>
              <c:pt idx="9">
                <c:v>2.9792010725276863</c:v>
              </c:pt>
              <c:pt idx="10">
                <c:v>21.288888296656708</c:v>
              </c:pt>
            </c:numLit>
          </c:val>
          <c:extLst>
            <c:ext xmlns:c16="http://schemas.microsoft.com/office/drawing/2014/chart" uri="{C3380CC4-5D6E-409C-BE32-E72D297353CC}">
              <c16:uniqueId val="{00000016-86D0-4FE5-858F-91D3E0B6E8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977C-46ED-9699-FE70FE2ECC81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977C-46ED-9699-FE70FE2ECC81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977C-46ED-9699-FE70FE2ECC81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977C-46ED-9699-FE70FE2ECC81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977C-46ED-9699-FE70FE2ECC81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977C-46ED-9699-FE70FE2ECC81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977C-46ED-9699-FE70FE2ECC81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977C-46ED-9699-FE70FE2ECC81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977C-46ED-9699-FE70FE2ECC81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977C-46ED-9699-FE70FE2ECC81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977C-46ED-9699-FE70FE2ECC81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77C-46ED-9699-FE70FE2ECC81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7C-46ED-9699-FE70FE2ECC81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77C-46ED-9699-FE70FE2ECC81}"/>
                </c:ext>
              </c:extLst>
            </c:dLbl>
            <c:dLbl>
              <c:idx val="3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977C-46ED-9699-FE70FE2ECC81}"/>
                </c:ext>
              </c:extLst>
            </c:dLbl>
            <c:dLbl>
              <c:idx val="4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77C-46ED-9699-FE70FE2ECC81}"/>
                </c:ext>
              </c:extLst>
            </c:dLbl>
            <c:dLbl>
              <c:idx val="5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977C-46ED-9699-FE70FE2ECC81}"/>
                </c:ext>
              </c:extLst>
            </c:dLbl>
            <c:dLbl>
              <c:idx val="6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977C-46ED-9699-FE70FE2ECC81}"/>
                </c:ext>
              </c:extLst>
            </c:dLbl>
            <c:dLbl>
              <c:idx val="7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977C-46ED-9699-FE70FE2ECC81}"/>
                </c:ext>
              </c:extLst>
            </c:dLbl>
            <c:dLbl>
              <c:idx val="8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977C-46ED-9699-FE70FE2ECC81}"/>
                </c:ext>
              </c:extLst>
            </c:dLbl>
            <c:dLbl>
              <c:idx val="9"/>
              <c:layout>
                <c:manualLayout>
                  <c:x val="3.5000000000000003E-2"/>
                  <c:y val="0"/>
                </c:manualLayout>
              </c:layout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977C-46ED-9699-FE70FE2ECC81}"/>
                </c:ext>
              </c:extLst>
            </c:dLbl>
            <c:dLbl>
              <c:idx val="10"/>
              <c:layout>
                <c:manualLayout>
                  <c:x val="3.5000000000000003E-2"/>
                  <c:y val="0"/>
                </c:manualLayout>
              </c:layout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977C-46ED-9699-FE70FE2ECC8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BOBST Group SA</c:v>
              </c:pt>
              <c:pt idx="1">
                <c:v>Company</c:v>
              </c:pt>
              <c:pt idx="2">
                <c:v>BHS Corrugated Maschinen- und Anlagenbau GmbH</c:v>
              </c:pt>
              <c:pt idx="3">
                <c:v>BW Papersystems</c:v>
              </c:pt>
              <c:pt idx="4">
                <c:v>Fosber Group</c:v>
              </c:pt>
              <c:pt idx="5">
                <c:v>Mitsubishi Heavy Industries Machinery Systems, Ltd.</c:v>
              </c:pt>
              <c:pt idx="6">
                <c:v>EMBA Machinery AB</c:v>
              </c:pt>
              <c:pt idx="7">
                <c:v>Koenig &amp; Bauer Celmacch</c:v>
              </c:pt>
              <c:pt idx="8">
                <c:v>Göpfert Maschinen GmbH</c:v>
              </c:pt>
              <c:pt idx="9">
                <c:v>SUN Automation Group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11.931858870012501</c:v>
              </c:pt>
              <c:pt idx="1">
                <c:v>12.495250983383206</c:v>
              </c:pt>
              <c:pt idx="2">
                <c:v>13.557011133261542</c:v>
              </c:pt>
              <c:pt idx="3">
                <c:v>11.024479649083794</c:v>
              </c:pt>
              <c:pt idx="4">
                <c:v>6.9750367204591708</c:v>
              </c:pt>
              <c:pt idx="5">
                <c:v>4.9188502111278041</c:v>
              </c:pt>
              <c:pt idx="6">
                <c:v>5.1312524069432781</c:v>
              </c:pt>
              <c:pt idx="7">
                <c:v>4.8088392584615409</c:v>
              </c:pt>
              <c:pt idx="8">
                <c:v>3.5084788144252483</c:v>
              </c:pt>
              <c:pt idx="9">
                <c:v>2.1002460595454111</c:v>
              </c:pt>
              <c:pt idx="10">
                <c:v>23.5486958932965</c:v>
              </c:pt>
            </c:numLit>
          </c:val>
          <c:extLst>
            <c:ext xmlns:c16="http://schemas.microsoft.com/office/drawing/2014/chart" uri="{C3380CC4-5D6E-409C-BE32-E72D297353CC}">
              <c16:uniqueId val="{00000016-977C-46ED-9699-FE70FE2ECC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1668A8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639-4DA1-B0D1-D09DBC6AE874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639-4DA1-B0D1-D09DBC6AE874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639-4DA1-B0D1-D09DBC6AE874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639-4DA1-B0D1-D09DBC6AE87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Agriculture and fresh produce</c:v>
              </c:pt>
              <c:pt idx="1">
                <c:v>Processed food and beverages</c:v>
              </c:pt>
              <c:pt idx="2">
                <c:v>E-commerce shipping and fulfillment</c:v>
              </c:pt>
              <c:pt idx="3">
                <c:v>Retail-ready and point-of-sale packaging</c:v>
              </c:pt>
            </c:strLit>
          </c:cat>
          <c:val>
            <c:numLit>
              <c:formatCode>General</c:formatCode>
              <c:ptCount val="4"/>
              <c:pt idx="0">
                <c:v>760.6516955605224</c:v>
              </c:pt>
              <c:pt idx="1">
                <c:v>423.17749670891209</c:v>
              </c:pt>
              <c:pt idx="2">
                <c:v>532.66000161645604</c:v>
              </c:pt>
              <c:pt idx="3">
                <c:v>1006.2450332716091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4-0639-4DA1-B0D1-D09DBC6AE87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328.2434439185242"/>
          <c:min val="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E3A5F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816-4594-82D2-D1747A28B850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816-4594-82D2-D1747A28B850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816-4594-82D2-D1747A28B850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816-4594-82D2-D1747A28B850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816-4594-82D2-D1747A28B85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North America</c:v>
              </c:pt>
              <c:pt idx="1">
                <c:v>Europe</c:v>
              </c:pt>
              <c:pt idx="2">
                <c:v>South Asia &amp; Pacific</c:v>
              </c:pt>
              <c:pt idx="3">
                <c:v>East Asia</c:v>
              </c:pt>
              <c:pt idx="4">
                <c:v>Rest of the World</c:v>
              </c:pt>
            </c:strLit>
          </c:cat>
          <c:val>
            <c:numLit>
              <c:formatCode>General</c:formatCode>
              <c:ptCount val="5"/>
              <c:pt idx="0">
                <c:v>903.89687215642732</c:v>
              </c:pt>
              <c:pt idx="1">
                <c:v>550.20001357064928</c:v>
              </c:pt>
              <c:pt idx="2">
                <c:v>296.70691725628416</c:v>
              </c:pt>
              <c:pt idx="3">
                <c:v>335.2561047284525</c:v>
              </c:pt>
              <c:pt idx="4">
                <c:v>636.67431944568625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B816-4594-82D2-D1747A28B850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193.1438712464842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D92C-4749-8E14-D1EA75FAFCAF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D92C-4749-8E14-D1EA75FAFCAF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D92C-4749-8E14-D1EA75FAFCAF}"/>
              </c:ext>
            </c:extLst>
          </c:dPt>
          <c:dLbls>
            <c:dLbl>
              <c:idx val="0"/>
              <c:layout>
                <c:manualLayout>
                  <c:x val="3.5000000000000003E-2"/>
                  <c:y val="0"/>
                </c:manualLayout>
              </c:layout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92C-4749-8E14-D1EA75FAFCAF}"/>
                </c:ext>
              </c:extLst>
            </c:dLbl>
            <c:dLbl>
              <c:idx val="1"/>
              <c:layout>
                <c:manualLayout>
                  <c:x val="3.5000000000000003E-2"/>
                  <c:y val="0"/>
                </c:manualLayout>
              </c:layout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92C-4749-8E14-D1EA75FAFCAF}"/>
                </c:ext>
              </c:extLst>
            </c:dLbl>
            <c:dLbl>
              <c:idx val="2"/>
              <c:layout>
                <c:manualLayout>
                  <c:x val="3.5000000000000003E-2"/>
                  <c:y val="0"/>
                </c:manualLayout>
              </c:layout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92C-4749-8E14-D1EA75FAFCA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3"/>
              <c:pt idx="0">
                <c:v>Printing and Converting Equipment</c:v>
              </c:pt>
              <c:pt idx="1">
                <c:v>Corrugated Board Production Equipment</c:v>
              </c:pt>
              <c:pt idx="2">
                <c:v>Finishing and Box Assembly Equipment</c:v>
              </c:pt>
            </c:strLit>
          </c:cat>
          <c:val>
            <c:numLit>
              <c:formatCode>General</c:formatCode>
              <c:ptCount val="3"/>
              <c:pt idx="0">
                <c:v>546.45213887320858</c:v>
              </c:pt>
              <c:pt idx="1">
                <c:v>759.69547416158889</c:v>
              </c:pt>
              <c:pt idx="2">
                <c:v>1416.5866141227018</c:v>
              </c:pt>
            </c:numLit>
          </c:val>
          <c:extLst>
            <c:ext xmlns:c16="http://schemas.microsoft.com/office/drawing/2014/chart" uri="{C3380CC4-5D6E-409C-BE32-E72D297353CC}">
              <c16:uniqueId val="{00000006-D92C-4749-8E14-D1EA75FAFC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SAM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88B-4A48-9A51-0EBB78965A0C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88B-4A48-9A51-0EBB78965A0C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88B-4A48-9A51-0EBB78965A0C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88B-4A48-9A51-0EBB78965A0C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88B-4A48-9A51-0EBB78965A0C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North America</c:v>
              </c:pt>
              <c:pt idx="1">
                <c:v>Europe</c:v>
              </c:pt>
              <c:pt idx="2">
                <c:v>South Asia &amp; Pacific</c:v>
              </c:pt>
              <c:pt idx="3">
                <c:v>East Asia</c:v>
              </c:pt>
              <c:pt idx="4">
                <c:v>Rest of the World</c:v>
              </c:pt>
            </c:strLit>
          </c:cat>
          <c:val>
            <c:numLit>
              <c:formatCode>General</c:formatCode>
              <c:ptCount val="5"/>
              <c:pt idx="0">
                <c:v>2757.8722079999998</c:v>
              </c:pt>
              <c:pt idx="1">
                <c:v>2479.0574956118935</c:v>
              </c:pt>
              <c:pt idx="2">
                <c:v>1811.7386216527998</c:v>
              </c:pt>
              <c:pt idx="3">
                <c:v>1160.7022605183133</c:v>
              </c:pt>
              <c:pt idx="4">
                <c:v>920.85833281468638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D88B-4A48-9A51-0EBB78965A0C}"/>
            </c:ext>
          </c:extLst>
        </c:ser>
        <c:ser>
          <c:idx val="1"/>
          <c:order val="1"/>
          <c:tx>
            <c:v>SOM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88B-4A48-9A51-0EBB78965A0C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88B-4A48-9A51-0EBB78965A0C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88B-4A48-9A51-0EBB78965A0C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88B-4A48-9A51-0EBB78965A0C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88B-4A48-9A51-0EBB78965A0C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North America</c:v>
              </c:pt>
              <c:pt idx="1">
                <c:v>Europe</c:v>
              </c:pt>
              <c:pt idx="2">
                <c:v>South Asia &amp; Pacific</c:v>
              </c:pt>
              <c:pt idx="3">
                <c:v>East Asia</c:v>
              </c:pt>
              <c:pt idx="4">
                <c:v>Rest of the World</c:v>
              </c:pt>
            </c:strLit>
          </c:cat>
          <c:val>
            <c:numLit>
              <c:formatCode>General</c:formatCode>
              <c:ptCount val="5"/>
              <c:pt idx="0">
                <c:v>903.89687215642732</c:v>
              </c:pt>
              <c:pt idx="1">
                <c:v>550.20001357064928</c:v>
              </c:pt>
              <c:pt idx="2">
                <c:v>296.70691725628416</c:v>
              </c:pt>
              <c:pt idx="3">
                <c:v>335.2561047284525</c:v>
              </c:pt>
              <c:pt idx="4">
                <c:v>636.67431944568625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D88B-4A48-9A51-0EBB78965A0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530.0764262399998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7E7AD9C-74B7-455F-BC41-C0EC64ABB435}" type="datetimeFigureOut">
              <a:rPr lang="en-IN" smtClean="0"/>
              <a:t>14-10-2026</a:t>
            </a:fld>
            <a:endParaRPr lang="en-I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47686C9-06BD-4B9D-80A9-DB244F03042F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1617523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Taxonomy Market Segments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Taxonomy Market Segments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Taxonomy Market Segments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Table of Contents  (1/6)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Table of Contents  (2/6)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Table of Contents  (3/6)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Table of Contents  (4/6)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Table of Contents  (5/6)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Table of Contents  (6/6)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Global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Global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Global Corrugated Box Packaging Equipment – Regional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Volume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Value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By Equipment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Market Value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Market Value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By Automation Level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By Box Style Produced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By End-use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By End-use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Absolute $ Analysis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Absolute $ Analysis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Absolute $ Analysis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By Customer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Snapshot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Snapshot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Share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Share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Absolute $ Opportunity &amp; Attractiveness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Absolute $ Opportunity &amp; Attractiveness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Snapshot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Snapshot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Snapshot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Share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Share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Absolute $ Opportunity &amp; Attractiveness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Absolute $ Opportunity &amp; Attractiveness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North America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Country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North America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North America Corrugated Box Packaging Equipment – Country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Market Analysis By Country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Market Analysis By Country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Volume Share Analysis By Country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Value Share Analysis By Country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Market Trends By Country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By Country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By Equipment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Market Value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Market Value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By Automation Level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Automation Level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By Box Style Produced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Box Style Produced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By End-use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By End-use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Absolute $ Analysis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Absolute $ Analysis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Absolute $ Analysis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End-use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By Customer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Customer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Snapshot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Snapshot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Share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Market Share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Absolute $ Opportunity &amp; Attractiveness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Customer Type Absolute $ Opportunity &amp; Attractiveness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Snapshot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Snapshot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Snapshot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Share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Market Share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Absolute $ Opportunity &amp; Attractiveness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Equipment Type × End Use Absolute $ Opportunity &amp; Attractiveness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Overview Key Segments (Value)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Equipment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Equipment Type Table (Volume &amp; Value)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Equipment Type Table (Volume &amp; Value)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Equipment Type Table (Volume &amp; Value)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Automation Level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Automation Level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Box Style Produced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Box Style Produced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End-use Segmental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End-use Segmental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End-use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Customer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Country Customer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Global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Price Forecast &amp; Dynamics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Market Dynamics by Geography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Company Profiles &amp; Strategic Benchmarking BOBST Group SA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Company Profiles &amp; Strategic Benchmarking BOBST Group SA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Company Profiles &amp; Strategic Benchmarking BOBST Group SA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Company Profiles &amp; Strategic Benchmarking BOBST Group SA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Company Profiles &amp; Strategic Benchmarking BOBST Group SA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Corrugated Box Packaging Equipment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10/14/2026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8.xml"/><Relationship Id="rId13" Type="http://schemas.openxmlformats.org/officeDocument/2006/relationships/slide" Target="slide101.xml"/><Relationship Id="rId18" Type="http://schemas.openxmlformats.org/officeDocument/2006/relationships/slide" Target="slide173.xml"/><Relationship Id="rId26" Type="http://schemas.openxmlformats.org/officeDocument/2006/relationships/slide" Target="slide224.xml"/><Relationship Id="rId3" Type="http://schemas.openxmlformats.org/officeDocument/2006/relationships/slide" Target="slide3.xml"/><Relationship Id="rId21" Type="http://schemas.openxmlformats.org/officeDocument/2006/relationships/slide" Target="slide197.xml"/><Relationship Id="rId7" Type="http://schemas.openxmlformats.org/officeDocument/2006/relationships/slide" Target="slide19.xml"/><Relationship Id="rId12" Type="http://schemas.openxmlformats.org/officeDocument/2006/relationships/slide" Target="slide85.xml"/><Relationship Id="rId17" Type="http://schemas.openxmlformats.org/officeDocument/2006/relationships/slide" Target="slide157.xml"/><Relationship Id="rId25" Type="http://schemas.openxmlformats.org/officeDocument/2006/relationships/slide" Target="slide216.xml"/><Relationship Id="rId2" Type="http://schemas.openxmlformats.org/officeDocument/2006/relationships/image" Target="../media/image5.png"/><Relationship Id="rId16" Type="http://schemas.openxmlformats.org/officeDocument/2006/relationships/slide" Target="slide120.xml"/><Relationship Id="rId20" Type="http://schemas.openxmlformats.org/officeDocument/2006/relationships/slide" Target="slide178.xml"/><Relationship Id="rId29" Type="http://schemas.openxmlformats.org/officeDocument/2006/relationships/slide" Target="slide231.xml"/><Relationship Id="rId1" Type="http://schemas.openxmlformats.org/officeDocument/2006/relationships/slideLayout" Target="../slideLayouts/slideLayout7.xml"/><Relationship Id="rId6" Type="http://schemas.openxmlformats.org/officeDocument/2006/relationships/slide" Target="slide12.xml"/><Relationship Id="rId11" Type="http://schemas.openxmlformats.org/officeDocument/2006/relationships/slide" Target="slide48.xml"/><Relationship Id="rId24" Type="http://schemas.openxmlformats.org/officeDocument/2006/relationships/slide" Target="slide215.xml"/><Relationship Id="rId5" Type="http://schemas.openxmlformats.org/officeDocument/2006/relationships/slide" Target="slide6.xml"/><Relationship Id="rId15" Type="http://schemas.openxmlformats.org/officeDocument/2006/relationships/slide" Target="slide112.xml"/><Relationship Id="rId23" Type="http://schemas.openxmlformats.org/officeDocument/2006/relationships/slide" Target="slide211.xml"/><Relationship Id="rId28" Type="http://schemas.openxmlformats.org/officeDocument/2006/relationships/slide" Target="slide225.xml"/><Relationship Id="rId10" Type="http://schemas.openxmlformats.org/officeDocument/2006/relationships/slide" Target="slide40.xml"/><Relationship Id="rId19" Type="http://schemas.openxmlformats.org/officeDocument/2006/relationships/slide" Target="slide174.xml"/><Relationship Id="rId4" Type="http://schemas.openxmlformats.org/officeDocument/2006/relationships/slide" Target="slide5.xml"/><Relationship Id="rId9" Type="http://schemas.openxmlformats.org/officeDocument/2006/relationships/slide" Target="slide29.xml"/><Relationship Id="rId14" Type="http://schemas.openxmlformats.org/officeDocument/2006/relationships/slide" Target="slide102.xml"/><Relationship Id="rId22" Type="http://schemas.openxmlformats.org/officeDocument/2006/relationships/slide" Target="slide198.xml"/><Relationship Id="rId27" Type="http://schemas.openxmlformats.org/officeDocument/2006/relationships/slide" Target="slide23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6.xml"/><Relationship Id="rId4" Type="http://schemas.openxmlformats.org/officeDocument/2006/relationships/chart" Target="../charts/chart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9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0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png"/><Relationship Id="rId13" Type="http://schemas.openxmlformats.org/officeDocument/2006/relationships/image" Target="../media/image72.png"/><Relationship Id="rId18" Type="http://schemas.openxmlformats.org/officeDocument/2006/relationships/image" Target="../media/image77.png"/><Relationship Id="rId3" Type="http://schemas.openxmlformats.org/officeDocument/2006/relationships/image" Target="../media/image5.png"/><Relationship Id="rId21" Type="http://schemas.openxmlformats.org/officeDocument/2006/relationships/image" Target="../media/image80.png"/><Relationship Id="rId7" Type="http://schemas.openxmlformats.org/officeDocument/2006/relationships/image" Target="../media/image66.png"/><Relationship Id="rId12" Type="http://schemas.openxmlformats.org/officeDocument/2006/relationships/image" Target="../media/image71.png"/><Relationship Id="rId17" Type="http://schemas.openxmlformats.org/officeDocument/2006/relationships/image" Target="../media/image76.pn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75.png"/><Relationship Id="rId20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5.png"/><Relationship Id="rId11" Type="http://schemas.openxmlformats.org/officeDocument/2006/relationships/image" Target="../media/image70.png"/><Relationship Id="rId5" Type="http://schemas.openxmlformats.org/officeDocument/2006/relationships/image" Target="../media/image64.png"/><Relationship Id="rId15" Type="http://schemas.openxmlformats.org/officeDocument/2006/relationships/image" Target="../media/image74.png"/><Relationship Id="rId10" Type="http://schemas.openxmlformats.org/officeDocument/2006/relationships/image" Target="../media/image69.png"/><Relationship Id="rId19" Type="http://schemas.openxmlformats.org/officeDocument/2006/relationships/image" Target="../media/image78.png"/><Relationship Id="rId4" Type="http://schemas.openxmlformats.org/officeDocument/2006/relationships/image" Target="../media/image63.png"/><Relationship Id="rId9" Type="http://schemas.openxmlformats.org/officeDocument/2006/relationships/image" Target="../media/image68.png"/><Relationship Id="rId14" Type="http://schemas.openxmlformats.org/officeDocument/2006/relationships/image" Target="../media/image73.png"/><Relationship Id="rId22" Type="http://schemas.openxmlformats.org/officeDocument/2006/relationships/image" Target="../media/image6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.png"/><Relationship Id="rId3" Type="http://schemas.openxmlformats.org/officeDocument/2006/relationships/image" Target="../media/image5.png"/><Relationship Id="rId7" Type="http://schemas.openxmlformats.org/officeDocument/2006/relationships/image" Target="../media/image9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2.png"/><Relationship Id="rId5" Type="http://schemas.openxmlformats.org/officeDocument/2006/relationships/image" Target="../media/image6.png"/><Relationship Id="rId4" Type="http://schemas.openxmlformats.org/officeDocument/2006/relationships/chart" Target="../charts/chart11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openxmlformats.org/officeDocument/2006/relationships/image" Target="../media/image5.png"/><Relationship Id="rId7" Type="http://schemas.openxmlformats.org/officeDocument/2006/relationships/image" Target="../media/image108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7.png"/><Relationship Id="rId5" Type="http://schemas.openxmlformats.org/officeDocument/2006/relationships/image" Target="../media/image6.png"/><Relationship Id="rId4" Type="http://schemas.openxmlformats.org/officeDocument/2006/relationships/chart" Target="../charts/chart1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14.xml"/><Relationship Id="rId4" Type="http://schemas.openxmlformats.org/officeDocument/2006/relationships/chart" Target="../charts/chart1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png"/><Relationship Id="rId13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image" Target="../media/image113.pn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2.png"/><Relationship Id="rId11" Type="http://schemas.openxmlformats.org/officeDocument/2006/relationships/image" Target="../media/image117.png"/><Relationship Id="rId5" Type="http://schemas.openxmlformats.org/officeDocument/2006/relationships/image" Target="../media/image111.png"/><Relationship Id="rId10" Type="http://schemas.openxmlformats.org/officeDocument/2006/relationships/image" Target="../media/image116.png"/><Relationship Id="rId4" Type="http://schemas.openxmlformats.org/officeDocument/2006/relationships/image" Target="../media/image110.png"/><Relationship Id="rId9" Type="http://schemas.openxmlformats.org/officeDocument/2006/relationships/image" Target="../media/image115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6.xml"/><Relationship Id="rId4" Type="http://schemas.openxmlformats.org/officeDocument/2006/relationships/chart" Target="../charts/chart1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9.xml"/><Relationship Id="rId5" Type="http://schemas.openxmlformats.org/officeDocument/2006/relationships/chart" Target="../charts/chart18.xml"/><Relationship Id="rId4" Type="http://schemas.openxmlformats.org/officeDocument/2006/relationships/chart" Target="../charts/chart1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20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3.png"/><Relationship Id="rId13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image" Target="../media/image142.png"/><Relationship Id="rId12" Type="http://schemas.openxmlformats.org/officeDocument/2006/relationships/image" Target="../media/image147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7.png"/><Relationship Id="rId11" Type="http://schemas.openxmlformats.org/officeDocument/2006/relationships/image" Target="../media/image146.png"/><Relationship Id="rId5" Type="http://schemas.openxmlformats.org/officeDocument/2006/relationships/image" Target="../media/image141.png"/><Relationship Id="rId10" Type="http://schemas.openxmlformats.org/officeDocument/2006/relationships/image" Target="../media/image145.png"/><Relationship Id="rId4" Type="http://schemas.openxmlformats.org/officeDocument/2006/relationships/image" Target="../media/image140.png"/><Relationship Id="rId9" Type="http://schemas.openxmlformats.org/officeDocument/2006/relationships/image" Target="../media/image144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22.xml"/><Relationship Id="rId4" Type="http://schemas.openxmlformats.org/officeDocument/2006/relationships/chart" Target="../charts/chart2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25.xml"/><Relationship Id="rId5" Type="http://schemas.openxmlformats.org/officeDocument/2006/relationships/chart" Target="../charts/chart24.xml"/><Relationship Id="rId4" Type="http://schemas.openxmlformats.org/officeDocument/2006/relationships/chart" Target="../charts/chart2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2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.png"/><Relationship Id="rId13" Type="http://schemas.openxmlformats.org/officeDocument/2006/relationships/image" Target="../media/image178.png"/><Relationship Id="rId18" Type="http://schemas.openxmlformats.org/officeDocument/2006/relationships/image" Target="../media/image182.png"/><Relationship Id="rId3" Type="http://schemas.openxmlformats.org/officeDocument/2006/relationships/image" Target="../media/image5.png"/><Relationship Id="rId21" Type="http://schemas.openxmlformats.org/officeDocument/2006/relationships/image" Target="../media/image185.png"/><Relationship Id="rId7" Type="http://schemas.openxmlformats.org/officeDocument/2006/relationships/image" Target="../media/image173.png"/><Relationship Id="rId12" Type="http://schemas.openxmlformats.org/officeDocument/2006/relationships/image" Target="../media/image177.png"/><Relationship Id="rId17" Type="http://schemas.openxmlformats.org/officeDocument/2006/relationships/image" Target="../media/image181.png"/><Relationship Id="rId2" Type="http://schemas.openxmlformats.org/officeDocument/2006/relationships/notesSlide" Target="../notesSlides/notesSlide51.xml"/><Relationship Id="rId16" Type="http://schemas.openxmlformats.org/officeDocument/2006/relationships/image" Target="../media/image180.png"/><Relationship Id="rId20" Type="http://schemas.openxmlformats.org/officeDocument/2006/relationships/image" Target="../media/image18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5.png"/><Relationship Id="rId11" Type="http://schemas.openxmlformats.org/officeDocument/2006/relationships/image" Target="../media/image176.png"/><Relationship Id="rId5" Type="http://schemas.openxmlformats.org/officeDocument/2006/relationships/image" Target="../media/image172.png"/><Relationship Id="rId15" Type="http://schemas.openxmlformats.org/officeDocument/2006/relationships/image" Target="../media/image68.png"/><Relationship Id="rId10" Type="http://schemas.openxmlformats.org/officeDocument/2006/relationships/image" Target="../media/image175.png"/><Relationship Id="rId19" Type="http://schemas.openxmlformats.org/officeDocument/2006/relationships/image" Target="../media/image183.png"/><Relationship Id="rId4" Type="http://schemas.openxmlformats.org/officeDocument/2006/relationships/image" Target="../media/image171.png"/><Relationship Id="rId9" Type="http://schemas.openxmlformats.org/officeDocument/2006/relationships/image" Target="../media/image94.png"/><Relationship Id="rId14" Type="http://schemas.openxmlformats.org/officeDocument/2006/relationships/image" Target="../media/image179.png"/><Relationship Id="rId22" Type="http://schemas.openxmlformats.org/officeDocument/2006/relationships/image" Target="../media/image6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28.xml"/><Relationship Id="rId4" Type="http://schemas.openxmlformats.org/officeDocument/2006/relationships/chart" Target="../charts/chart27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32.xm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1.xml"/><Relationship Id="rId5" Type="http://schemas.openxmlformats.org/officeDocument/2006/relationships/chart" Target="../charts/chart30.xml"/><Relationship Id="rId4" Type="http://schemas.openxmlformats.org/officeDocument/2006/relationships/chart" Target="../charts/chart29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34.xml"/><Relationship Id="rId4" Type="http://schemas.openxmlformats.org/officeDocument/2006/relationships/chart" Target="../charts/chart3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35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png"/><Relationship Id="rId13" Type="http://schemas.openxmlformats.org/officeDocument/2006/relationships/image" Target="../media/image232.png"/><Relationship Id="rId18" Type="http://schemas.openxmlformats.org/officeDocument/2006/relationships/image" Target="../media/image237.png"/><Relationship Id="rId3" Type="http://schemas.openxmlformats.org/officeDocument/2006/relationships/image" Target="../media/image5.png"/><Relationship Id="rId7" Type="http://schemas.openxmlformats.org/officeDocument/2006/relationships/image" Target="../media/image227.png"/><Relationship Id="rId12" Type="http://schemas.openxmlformats.org/officeDocument/2006/relationships/image" Target="../media/image65.png"/><Relationship Id="rId17" Type="http://schemas.openxmlformats.org/officeDocument/2006/relationships/image" Target="../media/image236.pn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4.png"/><Relationship Id="rId11" Type="http://schemas.openxmlformats.org/officeDocument/2006/relationships/image" Target="../media/image231.png"/><Relationship Id="rId5" Type="http://schemas.openxmlformats.org/officeDocument/2006/relationships/image" Target="../media/image226.png"/><Relationship Id="rId15" Type="http://schemas.openxmlformats.org/officeDocument/2006/relationships/image" Target="../media/image234.png"/><Relationship Id="rId10" Type="http://schemas.openxmlformats.org/officeDocument/2006/relationships/image" Target="../media/image230.png"/><Relationship Id="rId19" Type="http://schemas.openxmlformats.org/officeDocument/2006/relationships/image" Target="../media/image6.png"/><Relationship Id="rId4" Type="http://schemas.openxmlformats.org/officeDocument/2006/relationships/image" Target="../media/image225.png"/><Relationship Id="rId9" Type="http://schemas.openxmlformats.org/officeDocument/2006/relationships/image" Target="../media/image229.png"/><Relationship Id="rId14" Type="http://schemas.openxmlformats.org/officeDocument/2006/relationships/image" Target="../media/image233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1.png"/><Relationship Id="rId13" Type="http://schemas.openxmlformats.org/officeDocument/2006/relationships/image" Target="../media/image245.png"/><Relationship Id="rId3" Type="http://schemas.openxmlformats.org/officeDocument/2006/relationships/image" Target="../media/image5.png"/><Relationship Id="rId7" Type="http://schemas.openxmlformats.org/officeDocument/2006/relationships/image" Target="../media/image240.png"/><Relationship Id="rId12" Type="http://schemas.openxmlformats.org/officeDocument/2006/relationships/image" Target="../media/image229.png"/><Relationship Id="rId2" Type="http://schemas.openxmlformats.org/officeDocument/2006/relationships/notesSlide" Target="../notesSlides/notesSlide58.xml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4.png"/><Relationship Id="rId11" Type="http://schemas.openxmlformats.org/officeDocument/2006/relationships/image" Target="../media/image244.png"/><Relationship Id="rId5" Type="http://schemas.openxmlformats.org/officeDocument/2006/relationships/image" Target="../media/image239.png"/><Relationship Id="rId15" Type="http://schemas.openxmlformats.org/officeDocument/2006/relationships/image" Target="../media/image247.png"/><Relationship Id="rId10" Type="http://schemas.openxmlformats.org/officeDocument/2006/relationships/image" Target="../media/image243.png"/><Relationship Id="rId4" Type="http://schemas.openxmlformats.org/officeDocument/2006/relationships/image" Target="../media/image238.png"/><Relationship Id="rId9" Type="http://schemas.openxmlformats.org/officeDocument/2006/relationships/image" Target="../media/image242.png"/><Relationship Id="rId14" Type="http://schemas.openxmlformats.org/officeDocument/2006/relationships/image" Target="../media/image246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37.xml"/><Relationship Id="rId4" Type="http://schemas.openxmlformats.org/officeDocument/2006/relationships/chart" Target="../charts/chart36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41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40.xml"/><Relationship Id="rId5" Type="http://schemas.openxmlformats.org/officeDocument/2006/relationships/chart" Target="../charts/chart39.xml"/><Relationship Id="rId4" Type="http://schemas.openxmlformats.org/officeDocument/2006/relationships/chart" Target="../charts/chart3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45.xm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44.xml"/><Relationship Id="rId5" Type="http://schemas.openxmlformats.org/officeDocument/2006/relationships/chart" Target="../charts/chart43.xml"/><Relationship Id="rId4" Type="http://schemas.openxmlformats.org/officeDocument/2006/relationships/chart" Target="../charts/chart4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46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4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8.png"/><Relationship Id="rId13" Type="http://schemas.openxmlformats.org/officeDocument/2006/relationships/image" Target="../media/image302.png"/><Relationship Id="rId1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image" Target="../media/image297.png"/><Relationship Id="rId12" Type="http://schemas.openxmlformats.org/officeDocument/2006/relationships/image" Target="../media/image301.png"/><Relationship Id="rId17" Type="http://schemas.openxmlformats.org/officeDocument/2006/relationships/image" Target="../media/image306.png"/><Relationship Id="rId2" Type="http://schemas.openxmlformats.org/officeDocument/2006/relationships/notesSlide" Target="../notesSlides/notesSlide65.xml"/><Relationship Id="rId16" Type="http://schemas.openxmlformats.org/officeDocument/2006/relationships/image" Target="../media/image30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6.png"/><Relationship Id="rId11" Type="http://schemas.openxmlformats.org/officeDocument/2006/relationships/image" Target="../media/image300.png"/><Relationship Id="rId5" Type="http://schemas.openxmlformats.org/officeDocument/2006/relationships/image" Target="../media/image295.png"/><Relationship Id="rId15" Type="http://schemas.openxmlformats.org/officeDocument/2006/relationships/image" Target="../media/image304.png"/><Relationship Id="rId10" Type="http://schemas.openxmlformats.org/officeDocument/2006/relationships/image" Target="../media/image299.png"/><Relationship Id="rId4" Type="http://schemas.openxmlformats.org/officeDocument/2006/relationships/image" Target="../media/image294.png"/><Relationship Id="rId9" Type="http://schemas.openxmlformats.org/officeDocument/2006/relationships/image" Target="../media/image80.png"/><Relationship Id="rId14" Type="http://schemas.openxmlformats.org/officeDocument/2006/relationships/image" Target="../media/image303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49.xml"/><Relationship Id="rId4" Type="http://schemas.openxmlformats.org/officeDocument/2006/relationships/chart" Target="../charts/chart48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53.xml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5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5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55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56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5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59.xml"/><Relationship Id="rId4" Type="http://schemas.openxmlformats.org/officeDocument/2006/relationships/chart" Target="../charts/chart58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61.xml"/><Relationship Id="rId4" Type="http://schemas.openxmlformats.org/officeDocument/2006/relationships/chart" Target="../charts/chart60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63.xml"/><Relationship Id="rId4" Type="http://schemas.openxmlformats.org/officeDocument/2006/relationships/chart" Target="../charts/chart6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65.xml"/><Relationship Id="rId4" Type="http://schemas.openxmlformats.org/officeDocument/2006/relationships/chart" Target="../charts/chart64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66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6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68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69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71.xml"/><Relationship Id="rId4" Type="http://schemas.openxmlformats.org/officeDocument/2006/relationships/chart" Target="../charts/chart70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1.png"/><Relationship Id="rId13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image" Target="../media/image450.png"/><Relationship Id="rId12" Type="http://schemas.openxmlformats.org/officeDocument/2006/relationships/image" Target="../media/image65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9.png"/><Relationship Id="rId11" Type="http://schemas.openxmlformats.org/officeDocument/2006/relationships/image" Target="../media/image454.png"/><Relationship Id="rId5" Type="http://schemas.openxmlformats.org/officeDocument/2006/relationships/image" Target="../media/image448.png"/><Relationship Id="rId10" Type="http://schemas.openxmlformats.org/officeDocument/2006/relationships/image" Target="../media/image453.png"/><Relationship Id="rId4" Type="http://schemas.openxmlformats.org/officeDocument/2006/relationships/image" Target="../media/image447.png"/><Relationship Id="rId9" Type="http://schemas.openxmlformats.org/officeDocument/2006/relationships/image" Target="../media/image452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73.xml"/><Relationship Id="rId4" Type="http://schemas.openxmlformats.org/officeDocument/2006/relationships/chart" Target="../charts/chart72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76.xml"/><Relationship Id="rId5" Type="http://schemas.openxmlformats.org/officeDocument/2006/relationships/chart" Target="../charts/chart75.xml"/><Relationship Id="rId4" Type="http://schemas.openxmlformats.org/officeDocument/2006/relationships/chart" Target="../charts/chart74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7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2.png"/><Relationship Id="rId13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image" Target="../media/image461.png"/><Relationship Id="rId12" Type="http://schemas.openxmlformats.org/officeDocument/2006/relationships/image" Target="../media/image465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0.png"/><Relationship Id="rId11" Type="http://schemas.openxmlformats.org/officeDocument/2006/relationships/image" Target="../media/image464.png"/><Relationship Id="rId5" Type="http://schemas.openxmlformats.org/officeDocument/2006/relationships/image" Target="../media/image459.png"/><Relationship Id="rId10" Type="http://schemas.openxmlformats.org/officeDocument/2006/relationships/image" Target="../media/image463.png"/><Relationship Id="rId4" Type="http://schemas.openxmlformats.org/officeDocument/2006/relationships/image" Target="../media/image458.png"/><Relationship Id="rId9" Type="http://schemas.openxmlformats.org/officeDocument/2006/relationships/image" Target="../media/image115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79.xml"/><Relationship Id="rId4" Type="http://schemas.openxmlformats.org/officeDocument/2006/relationships/chart" Target="../charts/chart78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82.xml"/><Relationship Id="rId5" Type="http://schemas.openxmlformats.org/officeDocument/2006/relationships/chart" Target="../charts/chart81.xml"/><Relationship Id="rId4" Type="http://schemas.openxmlformats.org/officeDocument/2006/relationships/chart" Target="../charts/chart80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83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9.png"/><Relationship Id="rId13" Type="http://schemas.openxmlformats.org/officeDocument/2006/relationships/image" Target="../media/image482.png"/><Relationship Id="rId18" Type="http://schemas.openxmlformats.org/officeDocument/2006/relationships/image" Target="../media/image486.png"/><Relationship Id="rId3" Type="http://schemas.openxmlformats.org/officeDocument/2006/relationships/image" Target="../media/image5.png"/><Relationship Id="rId21" Type="http://schemas.openxmlformats.org/officeDocument/2006/relationships/image" Target="../media/image489.png"/><Relationship Id="rId7" Type="http://schemas.openxmlformats.org/officeDocument/2006/relationships/image" Target="../media/image478.png"/><Relationship Id="rId12" Type="http://schemas.openxmlformats.org/officeDocument/2006/relationships/image" Target="../media/image112.png"/><Relationship Id="rId17" Type="http://schemas.openxmlformats.org/officeDocument/2006/relationships/image" Target="../media/image485.png"/><Relationship Id="rId2" Type="http://schemas.openxmlformats.org/officeDocument/2006/relationships/notesSlide" Target="../notesSlides/notesSlide112.xml"/><Relationship Id="rId16" Type="http://schemas.openxmlformats.org/officeDocument/2006/relationships/image" Target="../media/image484.png"/><Relationship Id="rId20" Type="http://schemas.openxmlformats.org/officeDocument/2006/relationships/image" Target="../media/image48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77.png"/><Relationship Id="rId11" Type="http://schemas.openxmlformats.org/officeDocument/2006/relationships/image" Target="../media/image481.png"/><Relationship Id="rId5" Type="http://schemas.openxmlformats.org/officeDocument/2006/relationships/image" Target="../media/image476.png"/><Relationship Id="rId15" Type="http://schemas.openxmlformats.org/officeDocument/2006/relationships/image" Target="../media/image144.png"/><Relationship Id="rId10" Type="http://schemas.openxmlformats.org/officeDocument/2006/relationships/image" Target="../media/image480.png"/><Relationship Id="rId19" Type="http://schemas.openxmlformats.org/officeDocument/2006/relationships/image" Target="../media/image487.png"/><Relationship Id="rId4" Type="http://schemas.openxmlformats.org/officeDocument/2006/relationships/image" Target="../media/image475.png"/><Relationship Id="rId9" Type="http://schemas.openxmlformats.org/officeDocument/2006/relationships/image" Target="../media/image147.png"/><Relationship Id="rId14" Type="http://schemas.openxmlformats.org/officeDocument/2006/relationships/image" Target="../media/image483.png"/><Relationship Id="rId22" Type="http://schemas.openxmlformats.org/officeDocument/2006/relationships/image" Target="../media/image6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85.xml"/><Relationship Id="rId4" Type="http://schemas.openxmlformats.org/officeDocument/2006/relationships/chart" Target="../charts/chart84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89.xml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88.xml"/><Relationship Id="rId5" Type="http://schemas.openxmlformats.org/officeDocument/2006/relationships/chart" Target="../charts/chart87.xml"/><Relationship Id="rId4" Type="http://schemas.openxmlformats.org/officeDocument/2006/relationships/chart" Target="../charts/chart86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91.xml"/><Relationship Id="rId4" Type="http://schemas.openxmlformats.org/officeDocument/2006/relationships/chart" Target="../charts/chart90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9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2.png"/><Relationship Id="rId13" Type="http://schemas.openxmlformats.org/officeDocument/2006/relationships/image" Target="../media/image506.png"/><Relationship Id="rId18" Type="http://schemas.openxmlformats.org/officeDocument/2006/relationships/image" Target="../media/image510.png"/><Relationship Id="rId3" Type="http://schemas.openxmlformats.org/officeDocument/2006/relationships/image" Target="../media/image5.png"/><Relationship Id="rId7" Type="http://schemas.openxmlformats.org/officeDocument/2006/relationships/image" Target="../media/image501.png"/><Relationship Id="rId12" Type="http://schemas.openxmlformats.org/officeDocument/2006/relationships/image" Target="../media/image505.png"/><Relationship Id="rId17" Type="http://schemas.openxmlformats.org/officeDocument/2006/relationships/image" Target="../media/image509.png"/><Relationship Id="rId2" Type="http://schemas.openxmlformats.org/officeDocument/2006/relationships/notesSlide" Target="../notesSlides/notesSlide118.xml"/><Relationship Id="rId16" Type="http://schemas.openxmlformats.org/officeDocument/2006/relationships/image" Target="../media/image50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00.png"/><Relationship Id="rId11" Type="http://schemas.openxmlformats.org/officeDocument/2006/relationships/image" Target="../media/image504.png"/><Relationship Id="rId5" Type="http://schemas.openxmlformats.org/officeDocument/2006/relationships/image" Target="../media/image499.png"/><Relationship Id="rId15" Type="http://schemas.openxmlformats.org/officeDocument/2006/relationships/image" Target="../media/image115.png"/><Relationship Id="rId10" Type="http://schemas.openxmlformats.org/officeDocument/2006/relationships/image" Target="../media/image503.png"/><Relationship Id="rId19" Type="http://schemas.openxmlformats.org/officeDocument/2006/relationships/image" Target="../media/image6.png"/><Relationship Id="rId4" Type="http://schemas.openxmlformats.org/officeDocument/2006/relationships/image" Target="../media/image498.png"/><Relationship Id="rId9" Type="http://schemas.openxmlformats.org/officeDocument/2006/relationships/image" Target="../media/image182.png"/><Relationship Id="rId14" Type="http://schemas.openxmlformats.org/officeDocument/2006/relationships/image" Target="../media/image507.pn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5.png"/><Relationship Id="rId13" Type="http://schemas.openxmlformats.org/officeDocument/2006/relationships/image" Target="../media/image519.png"/><Relationship Id="rId3" Type="http://schemas.openxmlformats.org/officeDocument/2006/relationships/image" Target="../media/image5.png"/><Relationship Id="rId7" Type="http://schemas.openxmlformats.org/officeDocument/2006/relationships/image" Target="../media/image514.png"/><Relationship Id="rId12" Type="http://schemas.openxmlformats.org/officeDocument/2006/relationships/image" Target="../media/image477.png"/><Relationship Id="rId2" Type="http://schemas.openxmlformats.org/officeDocument/2006/relationships/notesSlide" Target="../notesSlides/notesSlide119.xml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13.png"/><Relationship Id="rId11" Type="http://schemas.openxmlformats.org/officeDocument/2006/relationships/image" Target="../media/image518.png"/><Relationship Id="rId5" Type="http://schemas.openxmlformats.org/officeDocument/2006/relationships/image" Target="../media/image512.png"/><Relationship Id="rId15" Type="http://schemas.openxmlformats.org/officeDocument/2006/relationships/image" Target="../media/image521.png"/><Relationship Id="rId10" Type="http://schemas.openxmlformats.org/officeDocument/2006/relationships/image" Target="../media/image517.png"/><Relationship Id="rId4" Type="http://schemas.openxmlformats.org/officeDocument/2006/relationships/image" Target="../media/image511.png"/><Relationship Id="rId9" Type="http://schemas.openxmlformats.org/officeDocument/2006/relationships/image" Target="../media/image516.png"/><Relationship Id="rId14" Type="http://schemas.openxmlformats.org/officeDocument/2006/relationships/image" Target="../media/image520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94.xml"/><Relationship Id="rId4" Type="http://schemas.openxmlformats.org/officeDocument/2006/relationships/chart" Target="../charts/chart93.xm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98.xml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97.xml"/><Relationship Id="rId5" Type="http://schemas.openxmlformats.org/officeDocument/2006/relationships/chart" Target="../charts/chart96.xml"/><Relationship Id="rId4" Type="http://schemas.openxmlformats.org/officeDocument/2006/relationships/chart" Target="../charts/chart95.xm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102.xml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01.xml"/><Relationship Id="rId5" Type="http://schemas.openxmlformats.org/officeDocument/2006/relationships/chart" Target="../charts/chart100.xml"/><Relationship Id="rId4" Type="http://schemas.openxmlformats.org/officeDocument/2006/relationships/chart" Target="../charts/chart99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03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04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8.png"/><Relationship Id="rId13" Type="http://schemas.openxmlformats.org/officeDocument/2006/relationships/image" Target="../media/image541.png"/><Relationship Id="rId18" Type="http://schemas.openxmlformats.org/officeDocument/2006/relationships/image" Target="../media/image477.png"/><Relationship Id="rId3" Type="http://schemas.openxmlformats.org/officeDocument/2006/relationships/image" Target="../media/image5.png"/><Relationship Id="rId7" Type="http://schemas.openxmlformats.org/officeDocument/2006/relationships/image" Target="../media/image537.png"/><Relationship Id="rId12" Type="http://schemas.openxmlformats.org/officeDocument/2006/relationships/image" Target="../media/image74.png"/><Relationship Id="rId17" Type="http://schemas.openxmlformats.org/officeDocument/2006/relationships/image" Target="../media/image545.png"/><Relationship Id="rId2" Type="http://schemas.openxmlformats.org/officeDocument/2006/relationships/notesSlide" Target="../notesSlides/notesSlide126.xml"/><Relationship Id="rId16" Type="http://schemas.openxmlformats.org/officeDocument/2006/relationships/image" Target="../media/image54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2.png"/><Relationship Id="rId11" Type="http://schemas.openxmlformats.org/officeDocument/2006/relationships/image" Target="../media/image540.png"/><Relationship Id="rId5" Type="http://schemas.openxmlformats.org/officeDocument/2006/relationships/image" Target="../media/image536.png"/><Relationship Id="rId15" Type="http://schemas.openxmlformats.org/officeDocument/2006/relationships/image" Target="../media/image543.png"/><Relationship Id="rId10" Type="http://schemas.openxmlformats.org/officeDocument/2006/relationships/image" Target="../media/image539.png"/><Relationship Id="rId19" Type="http://schemas.openxmlformats.org/officeDocument/2006/relationships/image" Target="../media/image6.png"/><Relationship Id="rId4" Type="http://schemas.openxmlformats.org/officeDocument/2006/relationships/image" Target="../media/image535.png"/><Relationship Id="rId9" Type="http://schemas.openxmlformats.org/officeDocument/2006/relationships/image" Target="../media/image65.png"/><Relationship Id="rId14" Type="http://schemas.openxmlformats.org/officeDocument/2006/relationships/image" Target="../media/image542.pn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06.xml"/><Relationship Id="rId4" Type="http://schemas.openxmlformats.org/officeDocument/2006/relationships/chart" Target="../charts/chart105.xml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110.xml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09.xml"/><Relationship Id="rId5" Type="http://schemas.openxmlformats.org/officeDocument/2006/relationships/chart" Target="../charts/chart108.xml"/><Relationship Id="rId4" Type="http://schemas.openxmlformats.org/officeDocument/2006/relationships/chart" Target="../charts/chart10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11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12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13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14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118.xml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17.xml"/><Relationship Id="rId5" Type="http://schemas.openxmlformats.org/officeDocument/2006/relationships/chart" Target="../charts/chart116.xml"/><Relationship Id="rId4" Type="http://schemas.openxmlformats.org/officeDocument/2006/relationships/chart" Target="../charts/chart115.xml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png"/><Relationship Id="rId7" Type="http://schemas.openxmlformats.org/officeDocument/2006/relationships/chart" Target="../charts/chart122.xml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21.xml"/><Relationship Id="rId5" Type="http://schemas.openxmlformats.org/officeDocument/2006/relationships/chart" Target="../charts/chart120.xml"/><Relationship Id="rId4" Type="http://schemas.openxmlformats.org/officeDocument/2006/relationships/chart" Target="../charts/chart119.xml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27.xml"/><Relationship Id="rId3" Type="http://schemas.openxmlformats.org/officeDocument/2006/relationships/image" Target="../media/image5.png"/><Relationship Id="rId7" Type="http://schemas.openxmlformats.org/officeDocument/2006/relationships/chart" Target="../charts/chart126.xml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25.xml"/><Relationship Id="rId5" Type="http://schemas.openxmlformats.org/officeDocument/2006/relationships/chart" Target="../charts/chart124.xml"/><Relationship Id="rId4" Type="http://schemas.openxmlformats.org/officeDocument/2006/relationships/chart" Target="../charts/chart123.xml"/><Relationship Id="rId9" Type="http://schemas.openxmlformats.org/officeDocument/2006/relationships/image" Target="../media/image6.png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29.xml"/><Relationship Id="rId4" Type="http://schemas.openxmlformats.org/officeDocument/2006/relationships/chart" Target="../charts/chart128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31.xml"/><Relationship Id="rId4" Type="http://schemas.openxmlformats.org/officeDocument/2006/relationships/chart" Target="../charts/chart130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33.xml"/><Relationship Id="rId4" Type="http://schemas.openxmlformats.org/officeDocument/2006/relationships/chart" Target="../charts/chart13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34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35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37.xml"/><Relationship Id="rId4" Type="http://schemas.openxmlformats.org/officeDocument/2006/relationships/chart" Target="../charts/chart136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chart" Target="../charts/chart139.xml"/><Relationship Id="rId4" Type="http://schemas.openxmlformats.org/officeDocument/2006/relationships/chart" Target="../charts/chart138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40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41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42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45.xml"/><Relationship Id="rId5" Type="http://schemas.openxmlformats.org/officeDocument/2006/relationships/chart" Target="../charts/chart144.xml"/><Relationship Id="rId4" Type="http://schemas.openxmlformats.org/officeDocument/2006/relationships/chart" Target="../charts/chart143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48.xml"/><Relationship Id="rId5" Type="http://schemas.openxmlformats.org/officeDocument/2006/relationships/chart" Target="../charts/chart147.xml"/><Relationship Id="rId4" Type="http://schemas.openxmlformats.org/officeDocument/2006/relationships/chart" Target="../charts/chart146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51.xml"/><Relationship Id="rId5" Type="http://schemas.openxmlformats.org/officeDocument/2006/relationships/chart" Target="../charts/chart150.xml"/><Relationship Id="rId4" Type="http://schemas.openxmlformats.org/officeDocument/2006/relationships/chart" Target="../charts/chart149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chart" Target="../charts/chart152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8.png"/><Relationship Id="rId3" Type="http://schemas.openxmlformats.org/officeDocument/2006/relationships/image" Target="../media/image593.png"/><Relationship Id="rId7" Type="http://schemas.openxmlformats.org/officeDocument/2006/relationships/image" Target="../media/image597.png"/><Relationship Id="rId2" Type="http://schemas.openxmlformats.org/officeDocument/2006/relationships/image" Target="../media/image59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6.png"/><Relationship Id="rId5" Type="http://schemas.openxmlformats.org/officeDocument/2006/relationships/image" Target="../media/image595.png"/><Relationship Id="rId4" Type="http://schemas.openxmlformats.org/officeDocument/2006/relationships/image" Target="../media/image59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5"/>
          <p:cNvSpPr txBox="1"/>
          <p:nvPr userDrawn="1"/>
        </p:nvSpPr>
        <p:spPr>
          <a:xfrm>
            <a:off x="0" y="2"/>
            <a:ext cx="12192000" cy="6824625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US" sz="1902" dirty="0"/>
          </a:p>
          <a:p>
            <a:endParaRPr lang="en-IN" sz="1902" dirty="0"/>
          </a:p>
        </p:txBody>
      </p:sp>
      <p:pic>
        <p:nvPicPr>
          <p:cNvPr id="4" name="Picture 7"/>
          <p:cNvPicPr>
            <a:picLocks noChangeAspect="1"/>
          </p:cNvPicPr>
          <p:nvPr userDrawn="1"/>
        </p:nvPicPr>
        <p:blipFill>
          <a:blip r:embed="rId2" cstate="print">
            <a:duotone>
              <a:srgbClr val="F8F8F8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056"/>
            <a:ext cx="12192000" cy="6847944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" name="Rectangle 34"/>
          <p:cNvSpPr/>
          <p:nvPr userDrawn="1"/>
        </p:nvSpPr>
        <p:spPr>
          <a:xfrm>
            <a:off x="743259" y="10058"/>
            <a:ext cx="5906925" cy="6858001"/>
          </a:xfrm>
          <a:prstGeom prst="rect">
            <a:avLst/>
          </a:prstGeom>
          <a:solidFill>
            <a:srgbClr val="0070C0">
              <a:alpha val="81000"/>
            </a:srgb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rgbClr val="2A5F8F">
              <a:shade val="50000"/>
            </a:srgbClr>
          </a:lnRef>
          <a:fillRef idx="1">
            <a:srgbClr val="2A5F8F"/>
          </a:fillRef>
          <a:effectRef idx="0">
            <a:srgbClr val="2A5F8F"/>
          </a:effectRef>
          <a:fontRef idx="minor">
            <a:srgbClr val="FFFFFF"/>
          </a:fontRef>
        </p:style>
        <p:txBody>
          <a:bodyPr rtlCol="0" anchor="ctr"/>
          <a:lstStyle/>
          <a:p>
            <a:pPr algn="ctr"/>
            <a:endParaRPr lang="en-IN" sz="1902"/>
          </a:p>
        </p:txBody>
      </p:sp>
      <p:sp>
        <p:nvSpPr>
          <p:cNvPr id="6" name="TextBox 9"/>
          <p:cNvSpPr txBox="1"/>
          <p:nvPr userDrawn="1"/>
        </p:nvSpPr>
        <p:spPr>
          <a:xfrm>
            <a:off x="829068" y="6616282"/>
            <a:ext cx="19848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900" dirty="0">
                <a:solidFill>
                  <a:srgbClr val="FFFFFF"/>
                </a:solidFill>
              </a:rPr>
              <a:t>Source@ Future Market Insights, 2026</a:t>
            </a:r>
            <a:endParaRPr lang="en-IN" sz="900" dirty="0">
              <a:solidFill>
                <a:srgbClr val="FFFFFF"/>
              </a:solidFill>
            </a:endParaRPr>
          </a:p>
        </p:txBody>
      </p:sp>
      <p:sp>
        <p:nvSpPr>
          <p:cNvPr id="7" name="Rectangle 11"/>
          <p:cNvSpPr/>
          <p:nvPr userDrawn="1"/>
        </p:nvSpPr>
        <p:spPr>
          <a:xfrm>
            <a:off x="371630" y="5918917"/>
            <a:ext cx="11448743" cy="584895"/>
          </a:xfrm>
          <a:prstGeom prst="rect">
            <a:avLst/>
          </a:prstGeom>
          <a:solidFill>
            <a:srgbClr val="FCD150"/>
          </a:solidFill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rgbClr val="2A5F8F">
              <a:shade val="50000"/>
            </a:srgbClr>
          </a:lnRef>
          <a:fillRef idx="1">
            <a:srgbClr val="2A5F8F"/>
          </a:fillRef>
          <a:effectRef idx="0">
            <a:srgbClr val="2A5F8F"/>
          </a:effectRef>
          <a:fontRef idx="minor">
            <a:srgbClr val="FFFFFF"/>
          </a:fontRef>
        </p:style>
        <p:txBody>
          <a:bodyPr rtlCol="0" anchor="ctr"/>
          <a:lstStyle/>
          <a:p>
            <a:pPr algn="ctr"/>
            <a:endParaRPr lang="en-IN" sz="1902"/>
          </a:p>
        </p:txBody>
      </p:sp>
      <p:sp>
        <p:nvSpPr>
          <p:cNvPr id="8" name="Rectangle 12"/>
          <p:cNvSpPr/>
          <p:nvPr userDrawn="1"/>
        </p:nvSpPr>
        <p:spPr>
          <a:xfrm>
            <a:off x="371630" y="6559883"/>
            <a:ext cx="11448743" cy="57528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rgbClr val="2A5F8F">
              <a:shade val="50000"/>
            </a:srgbClr>
          </a:lnRef>
          <a:fillRef idx="1">
            <a:srgbClr val="2A5F8F"/>
          </a:fillRef>
          <a:effectRef idx="0">
            <a:srgbClr val="2A5F8F"/>
          </a:effectRef>
          <a:fontRef idx="minor">
            <a:srgbClr val="FFFFFF"/>
          </a:fontRef>
        </p:style>
        <p:txBody>
          <a:bodyPr rtlCol="0" anchor="ctr"/>
          <a:lstStyle/>
          <a:p>
            <a:pPr algn="ctr"/>
            <a:endParaRPr lang="en-IN" sz="1902"/>
          </a:p>
        </p:txBody>
      </p:sp>
      <p:sp>
        <p:nvSpPr>
          <p:cNvPr id="9" name="Text Placeholder 4"/>
          <p:cNvSpPr txBox="1">
            <a:spLocks/>
          </p:cNvSpPr>
          <p:nvPr/>
        </p:nvSpPr>
        <p:spPr bwMode="gray">
          <a:xfrm>
            <a:off x="934546" y="262851"/>
            <a:ext cx="5623008" cy="3800000"/>
          </a:xfrm>
          <a:prstGeom prst="rect">
            <a:avLst/>
          </a:prstGeom>
        </p:spPr>
        <p:txBody>
          <a:bodyPr vert="horz" lIns="0" tIns="77372" rIns="77372" bIns="77372" rtlCol="0">
            <a:noAutofit/>
          </a:bodyPr>
          <a:lstStyle>
            <a:lvl1pPr marL="0" indent="0" algn="l" defTabSz="792505" rtl="0" eaLnBrk="1" latinLnBrk="0" hangingPunct="1">
              <a:lnSpc>
                <a:spcPct val="90000"/>
              </a:lnSpc>
              <a:spcBef>
                <a:spcPts val="867"/>
              </a:spcBef>
              <a:buFont typeface="Wingdings" panose="05000000000000000000" pitchFamily="2" charset="2"/>
              <a:buNone/>
              <a:defRPr sz="1800" kern="1200">
                <a:solidFill>
                  <a:srgbClr val="000000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457196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SzPct val="80000"/>
              <a:buFont typeface="Wingdings" panose="05000000000000000000" pitchFamily="2" charset="2"/>
              <a:buNone/>
              <a:defRPr sz="20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2pPr>
            <a:lvl3pPr marL="914391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Wingdings" panose="05000000000000000000" pitchFamily="2" charset="2"/>
              <a:buNone/>
              <a:defRPr sz="18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3pPr>
            <a:lvl4pPr marL="1371587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SzPct val="80000"/>
              <a:buFont typeface="Wingdings" panose="05000000000000000000" pitchFamily="2" charset="2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4pPr>
            <a:lvl5pPr marL="1828783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5pPr>
            <a:lvl6pPr marL="2285978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6pPr>
            <a:lvl7pPr marL="2743174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7pPr>
            <a:lvl8pPr marL="3200370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8pPr>
            <a:lvl9pPr marL="3657565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US" sz="4800" dirty="0">
                <a:solidFill>
                  <a:srgbClr val="FFFFFF"/>
                </a:solidFill>
                <a:latin typeface="Bell MT" panose="02020503060305020303" pitchFamily="18" charset="0"/>
              </a:rPr>
              <a:t>Corrugated Box Packaging Equipment Market</a:t>
            </a:r>
            <a:endParaRPr lang="en-US" sz="1600" dirty="0">
              <a:solidFill>
                <a:srgbClr val="FFFFFF"/>
              </a:solidFill>
              <a:latin typeface="Bell MT" panose="02020503060305020303" pitchFamily="18" charset="0"/>
            </a:endParaRPr>
          </a:p>
        </p:txBody>
      </p:sp>
      <p:sp>
        <p:nvSpPr>
          <p:cNvPr id="2" name="Front Page Subtitle"/>
          <p:cNvSpPr txBox="1">
            <a:spLocks/>
          </p:cNvSpPr>
          <p:nvPr/>
        </p:nvSpPr>
        <p:spPr bwMode="gray">
          <a:xfrm>
            <a:off x="934546" y="4150000"/>
            <a:ext cx="5623008" cy="1650000"/>
          </a:xfrm>
          <a:prstGeom prst="rect">
            <a:avLst/>
          </a:prstGeom>
        </p:spPr>
        <p:txBody>
          <a:bodyPr vert="horz" lIns="0" tIns="77372" rIns="77372" bIns="77372" rtlCol="0" anchor="b">
            <a:noAutofit/>
          </a:bodyPr>
          <a:lstStyle>
            <a:lvl1pPr marL="0" indent="0" algn="l" defTabSz="792505" rtl="0" eaLnBrk="1" latinLnBrk="0" hangingPunct="1">
              <a:lnSpc>
                <a:spcPct val="90000"/>
              </a:lnSpc>
              <a:spcBef>
                <a:spcPts val="867"/>
              </a:spcBef>
              <a:buFont typeface="Wingdings" panose="05000000000000000000" pitchFamily="2" charset="2"/>
              <a:buNone/>
              <a:defRPr sz="1800" kern="1200">
                <a:solidFill>
                  <a:srgbClr val="000000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457196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SzPct val="80000"/>
              <a:buFont typeface="Wingdings" panose="05000000000000000000" pitchFamily="2" charset="2"/>
              <a:buNone/>
              <a:defRPr sz="20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2pPr>
            <a:lvl3pPr marL="914391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Wingdings" panose="05000000000000000000" pitchFamily="2" charset="2"/>
              <a:buNone/>
              <a:defRPr sz="18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3pPr>
            <a:lvl4pPr marL="1371587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SzPct val="80000"/>
              <a:buFont typeface="Wingdings" panose="05000000000000000000" pitchFamily="2" charset="2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4pPr>
            <a:lvl5pPr marL="1828783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5pPr>
            <a:lvl6pPr marL="2285978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6pPr>
            <a:lvl7pPr marL="2743174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7pPr>
            <a:lvl8pPr marL="3200370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8pPr>
            <a:lvl9pPr marL="3657565" indent="0" algn="ctr" defTabSz="792505" rtl="0" eaLnBrk="1" latinLnBrk="0" hangingPunct="1">
              <a:lnSpc>
                <a:spcPct val="90000"/>
              </a:lnSpc>
              <a:spcBef>
                <a:spcPts val="433"/>
              </a:spcBef>
              <a:buFont typeface="Arial" panose="020B0604020202020204" pitchFamily="34" charset="0"/>
              <a:buNone/>
              <a:defRPr sz="1600" kern="120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US" sz="2400" dirty="0">
                <a:solidFill>
                  <a:srgbClr val="FFFFFF"/>
                </a:solidFill>
                <a:latin typeface="Bell MT" panose="02020503060305020303" pitchFamily="18" charset="0"/>
              </a:rPr>
              <a:t>Global Industry Analysis 2021 – 2025 and Opportunity Assessment 2026 – 2036</a:t>
            </a:r>
          </a:p>
        </p:txBody>
      </p:sp>
      <p:grpSp>
        <p:nvGrpSpPr>
          <p:cNvPr id="10" name="Group 8"/>
          <p:cNvGrpSpPr/>
          <p:nvPr/>
        </p:nvGrpSpPr>
        <p:grpSpPr>
          <a:xfrm>
            <a:off x="9124182" y="262851"/>
            <a:ext cx="2864618" cy="709680"/>
            <a:chOff x="201497" y="6393289"/>
            <a:chExt cx="1281818" cy="338050"/>
          </a:xfrm>
        </p:grpSpPr>
        <p:pic>
          <p:nvPicPr>
            <p:cNvPr id="11" name="Picture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01497" y="6393289"/>
              <a:ext cx="537551" cy="338050"/>
            </a:xfrm>
            <a:prstGeom prst="rect">
              <a:avLst/>
            </a:prstGeom>
          </p:spPr>
        </p:pic>
        <p:pic>
          <p:nvPicPr>
            <p:cNvPr id="12" name="Picture 7" descr="C:\Users\Nandini\Desktop\ESOMAR_corporate2020_RGB.png"/>
            <p:cNvPicPr/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199" y="6426912"/>
              <a:ext cx="722116" cy="2708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" name="Rectangle 3"/>
          <p:cNvSpPr/>
          <p:nvPr/>
        </p:nvSpPr>
        <p:spPr>
          <a:xfrm>
            <a:off x="934546" y="6015689"/>
            <a:ext cx="255172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b="1" dirty="0">
                <a:solidFill>
                  <a:srgbClr val="000000">
                    <a:lumMod val="85000"/>
                    <a:lumOff val="15000"/>
                  </a:srgbClr>
                </a:solidFill>
                <a:latin typeface="Bell MT" panose="02020503060305020303" pitchFamily="18" charset="0"/>
              </a:rPr>
              <a:t>Sample Report</a:t>
            </a:r>
            <a:r>
              <a:rPr lang="en-US" sz="1600" b="1" dirty="0">
                <a:solidFill>
                  <a:srgbClr val="000000">
                    <a:lumMod val="85000"/>
                    <a:lumOff val="15000"/>
                  </a:srgbClr>
                </a:solidFill>
                <a:latin typeface="Bell MT" panose="02020503060305020303" pitchFamily="18" charset="0"/>
              </a:rPr>
              <a:t>| </a:t>
            </a:r>
            <a:r>
              <a:rPr lang="en-US" sz="2000" b="1" dirty="0">
                <a:solidFill>
                  <a:srgbClr val="000000">
                    <a:lumMod val="85000"/>
                    <a:lumOff val="15000"/>
                  </a:srgbClr>
                </a:solidFill>
                <a:latin typeface="Bell MT" panose="02020503060305020303" pitchFamily="18" charset="0"/>
              </a:rPr>
              <a:t>2026</a:t>
            </a:r>
          </a:p>
        </p:txBody>
      </p:sp>
      <p:pic>
        <p:nvPicPr>
          <p:cNvPr id="14" name="Picture 2" descr="A logo on a black background&#10;&#10;AI-generated content may be incorrect.">
            <a:extLst>
              <a:ext uri="{FF2B5EF4-FFF2-40B4-BE49-F238E27FC236}">
                <a16:creationId xmlns:a16="http://schemas.microsoft.com/office/drawing/2014/main" id="{94959869-610E-9143-54C1-1302C085ACF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98778" y="4755786"/>
            <a:ext cx="5493222" cy="1166793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r:id="rId3" action="ppaction://hlinksldjump"/>
          </p:cNvPr>
          <p:cNvSpPr/>
          <p:nvPr/>
        </p:nvSpPr>
        <p:spPr>
          <a:xfrm>
            <a:off x="314325" y="1135037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r:id="rId4" action="ppaction://hlinksldjump"/>
          </p:cNvPr>
          <p:cNvSpPr/>
          <p:nvPr/>
        </p:nvSpPr>
        <p:spPr>
          <a:xfrm>
            <a:off x="142875" y="149402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r:id="rId5" action="ppaction://hlinksldjump"/>
          </p:cNvPr>
          <p:cNvSpPr/>
          <p:nvPr/>
        </p:nvSpPr>
        <p:spPr>
          <a:xfrm>
            <a:off x="314325" y="1868227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r:id="rId6" action="ppaction://hlinksldjump"/>
          </p:cNvPr>
          <p:cNvSpPr/>
          <p:nvPr/>
        </p:nvSpPr>
        <p:spPr>
          <a:xfrm>
            <a:off x="314325" y="2227216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r:id="rId7" action="ppaction://hlinksldjump"/>
          </p:cNvPr>
          <p:cNvSpPr/>
          <p:nvPr/>
        </p:nvSpPr>
        <p:spPr>
          <a:xfrm>
            <a:off x="314325" y="2586205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r:id="rId8" action="ppaction://hlinksldjump"/>
          </p:cNvPr>
          <p:cNvSpPr/>
          <p:nvPr/>
        </p:nvSpPr>
        <p:spPr>
          <a:xfrm>
            <a:off x="142875" y="2945194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Market Outlook</a:t>
            </a:r>
          </a:p>
        </p:txBody>
      </p:sp>
      <p:sp>
        <p:nvSpPr>
          <p:cNvPr id="16" name="Rounded Rectangle 15">
            <a:hlinkClick r:id="rId9" action="ppaction://hlinksldjump"/>
          </p:cNvPr>
          <p:cNvSpPr/>
          <p:nvPr/>
        </p:nvSpPr>
        <p:spPr>
          <a:xfrm>
            <a:off x="314325" y="3319395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Corrugated Box Packaging Equipment Market Global Overview</a:t>
            </a:r>
          </a:p>
        </p:txBody>
      </p:sp>
      <p:sp>
        <p:nvSpPr>
          <p:cNvPr id="17" name="Rounded Rectangle 16">
            <a:hlinkClick r:id="rId10" action="ppaction://hlinksldjump"/>
          </p:cNvPr>
          <p:cNvSpPr/>
          <p:nvPr/>
        </p:nvSpPr>
        <p:spPr>
          <a:xfrm>
            <a:off x="314325" y="3678384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Global Market Analysis By Region</a:t>
            </a:r>
          </a:p>
        </p:txBody>
      </p:sp>
      <p:sp>
        <p:nvSpPr>
          <p:cNvPr id="18" name="Rounded Rectangle 17">
            <a:hlinkClick r:id="rId11" action="ppaction://hlinksldjump"/>
          </p:cNvPr>
          <p:cNvSpPr/>
          <p:nvPr/>
        </p:nvSpPr>
        <p:spPr>
          <a:xfrm>
            <a:off x="314325" y="4037373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Global Market Analysis By Segments</a:t>
            </a:r>
          </a:p>
        </p:txBody>
      </p:sp>
      <p:sp>
        <p:nvSpPr>
          <p:cNvPr id="19" name="Rounded Rectangle 18">
            <a:hlinkClick r:id="rId12" action="ppaction://hlinksldjump"/>
          </p:cNvPr>
          <p:cNvSpPr/>
          <p:nvPr/>
        </p:nvSpPr>
        <p:spPr>
          <a:xfrm>
            <a:off x="314325" y="4396362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r:id="rId13" action="ppaction://hlinksldjump"/>
          </p:cNvPr>
          <p:cNvSpPr/>
          <p:nvPr/>
        </p:nvSpPr>
        <p:spPr>
          <a:xfrm>
            <a:off x="142875" y="4755351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Market Outlook</a:t>
            </a:r>
          </a:p>
        </p:txBody>
      </p:sp>
      <p:sp>
        <p:nvSpPr>
          <p:cNvPr id="21" name="Rounded Rectangle 20">
            <a:hlinkClick r:id="rId14" action="ppaction://hlinksldjump"/>
          </p:cNvPr>
          <p:cNvSpPr/>
          <p:nvPr/>
        </p:nvSpPr>
        <p:spPr>
          <a:xfrm>
            <a:off x="314325" y="5129552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North America Overview</a:t>
            </a:r>
          </a:p>
        </p:txBody>
      </p:sp>
      <p:sp>
        <p:nvSpPr>
          <p:cNvPr id="22" name="Rounded Rectangle 21">
            <a:hlinkClick r:id="rId15" action="ppaction://hlinksldjump"/>
          </p:cNvPr>
          <p:cNvSpPr/>
          <p:nvPr/>
        </p:nvSpPr>
        <p:spPr>
          <a:xfrm>
            <a:off x="314325" y="5488541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North America Market Analysis By Country</a:t>
            </a:r>
          </a:p>
        </p:txBody>
      </p:sp>
      <p:sp>
        <p:nvSpPr>
          <p:cNvPr id="23" name="Rounded Rectangle 22">
            <a:hlinkClick r:id="rId16" action="ppaction://hlinksldjump"/>
          </p:cNvPr>
          <p:cNvSpPr/>
          <p:nvPr/>
        </p:nvSpPr>
        <p:spPr>
          <a:xfrm>
            <a:off x="314325" y="5847530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North America Market Analysis By Segments</a:t>
            </a:r>
          </a:p>
        </p:txBody>
      </p:sp>
      <p:sp>
        <p:nvSpPr>
          <p:cNvPr id="24" name="Rounded Rectangle 23">
            <a:hlinkClick r:id="rId17" action="ppaction://hlinksldjump"/>
          </p:cNvPr>
          <p:cNvSpPr/>
          <p:nvPr/>
        </p:nvSpPr>
        <p:spPr>
          <a:xfrm>
            <a:off x="314325" y="6206519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Cross-sectional Assessment</a:t>
            </a:r>
          </a:p>
        </p:txBody>
      </p:sp>
      <p:sp>
        <p:nvSpPr>
          <p:cNvPr id="25" name="Rounded Rectangle 24">
            <a:hlinkClick r:id="rId18" action="ppaction://hlinksldjump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6" name="Rounded Rectangle 25">
            <a:hlinkClick r:id="rId19" action="ppaction://hlinksldjump"/>
          </p:cNvPr>
          <p:cNvSpPr/>
          <p:nvPr/>
        </p:nvSpPr>
        <p:spPr>
          <a:xfrm>
            <a:off x="6391275" y="1509238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Corrugated Box Packaging Equipment Market Overview (Volume &amp; Value)</a:t>
            </a:r>
          </a:p>
        </p:txBody>
      </p:sp>
      <p:sp>
        <p:nvSpPr>
          <p:cNvPr id="27" name="Rounded Rectangle 26">
            <a:hlinkClick r:id="rId20" action="ppaction://hlinksldjump"/>
          </p:cNvPr>
          <p:cNvSpPr/>
          <p:nvPr/>
        </p:nvSpPr>
        <p:spPr>
          <a:xfrm>
            <a:off x="6391275" y="1868227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Segment Overview (Volume &amp; Value)</a:t>
            </a:r>
          </a:p>
        </p:txBody>
      </p:sp>
      <p:sp>
        <p:nvSpPr>
          <p:cNvPr id="28" name="Rounded Rectangle 27">
            <a:hlinkClick r:id="rId21" action="ppaction://hlinksldjump"/>
          </p:cNvPr>
          <p:cNvSpPr/>
          <p:nvPr/>
        </p:nvSpPr>
        <p:spPr>
          <a:xfrm>
            <a:off x="6219825" y="222721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9" name="Rounded Rectangle 28">
            <a:hlinkClick r:id="rId22" action="ppaction://hlinksldjump"/>
          </p:cNvPr>
          <p:cNvSpPr/>
          <p:nvPr/>
        </p:nvSpPr>
        <p:spPr>
          <a:xfrm>
            <a:off x="6391275" y="2601417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Corrugated Box Packaging Equipment Market Pricing Analysis</a:t>
            </a:r>
          </a:p>
        </p:txBody>
      </p:sp>
      <p:sp>
        <p:nvSpPr>
          <p:cNvPr id="30" name="Rounded Rectangle 29">
            <a:hlinkClick r:id="rId23" action="ppaction://hlinksldjump"/>
          </p:cNvPr>
          <p:cNvSpPr/>
          <p:nvPr/>
        </p:nvSpPr>
        <p:spPr>
          <a:xfrm>
            <a:off x="6391275" y="2960406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Supply Chain Analysis</a:t>
            </a:r>
          </a:p>
        </p:txBody>
      </p:sp>
      <p:sp>
        <p:nvSpPr>
          <p:cNvPr id="31" name="Rounded Rectangle 30">
            <a:hlinkClick r:id="rId24" action="ppaction://hlinksldjump"/>
          </p:cNvPr>
          <p:cNvSpPr/>
          <p:nvPr/>
        </p:nvSpPr>
        <p:spPr>
          <a:xfrm>
            <a:off x="6219825" y="3319395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32" name="Rounded Rectangle 31">
            <a:hlinkClick r:id="rId25" action="ppaction://hlinksldjump"/>
          </p:cNvPr>
          <p:cNvSpPr/>
          <p:nvPr/>
        </p:nvSpPr>
        <p:spPr>
          <a:xfrm>
            <a:off x="6391275" y="3693596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Market Dynamics &amp; Forces</a:t>
            </a:r>
          </a:p>
        </p:txBody>
      </p:sp>
      <p:sp>
        <p:nvSpPr>
          <p:cNvPr id="33" name="Rounded Rectangle 32">
            <a:hlinkClick r:id="rId26" action="ppaction://hlinksldjump"/>
          </p:cNvPr>
          <p:cNvSpPr/>
          <p:nvPr/>
        </p:nvSpPr>
        <p:spPr>
          <a:xfrm>
            <a:off x="6219825" y="4052585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4" name="Rounded Rectangle 33">
            <a:hlinkClick r:id="rId27" action="ppaction://hlinksldjump"/>
          </p:cNvPr>
          <p:cNvSpPr/>
          <p:nvPr/>
        </p:nvSpPr>
        <p:spPr>
          <a:xfrm>
            <a:off x="6391275" y="5144764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20. Competitive Landscape</a:t>
            </a:r>
          </a:p>
        </p:txBody>
      </p:sp>
      <p:sp>
        <p:nvSpPr>
          <p:cNvPr id="35" name="Rounded Rectangle 34">
            <a:hlinkClick r:id="rId28" action="ppaction://hlinksldjump"/>
          </p:cNvPr>
          <p:cNvSpPr/>
          <p:nvPr/>
        </p:nvSpPr>
        <p:spPr>
          <a:xfrm>
            <a:off x="6391275" y="4426786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18. Market Share by Leading Players</a:t>
            </a:r>
          </a:p>
        </p:txBody>
      </p:sp>
      <p:sp>
        <p:nvSpPr>
          <p:cNvPr id="36" name="Rounded Rectangle 35">
            <a:hlinkClick r:id="rId29" action="ppaction://hlinksldjump"/>
          </p:cNvPr>
          <p:cNvSpPr/>
          <p:nvPr/>
        </p:nvSpPr>
        <p:spPr>
          <a:xfrm>
            <a:off x="6391275" y="4785775"/>
            <a:ext cx="5657850" cy="295101"/>
          </a:xfrm>
          <a:prstGeom prst="roundRect">
            <a:avLst>
              <a:gd name="adj" fmla="val 2474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19. Company Profiles &amp; Strategic Benchmarking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Corrugated Box Packaging Equipment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Corrugated Box Packaging Equipment demand, the evidence behind each and what it implies for the global…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00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33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468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Corrugated Box Packaging Equipment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equipment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Corrugated Box Packaging Equipment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6898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Global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22645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590141" y="1761432"/>
            <a:ext cx="270810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46302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35416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Printing and Converting Equipment leads Equipment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4429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441925" y="2801893"/>
            <a:ext cx="8794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21332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within a mix of 3 tracked 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01893"/>
            <a:ext cx="24775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Printing and Converting Equipment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10963" y="279211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378459" y="2801893"/>
            <a:ext cx="389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784750" y="3842354"/>
            <a:ext cx="42137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 is the fastest-growing part of End-use, at a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46522" y="383257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784750" y="4009994"/>
            <a:ext cx="25370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outpacing the wider market.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785375" y="3926174"/>
            <a:ext cx="23157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Agriculture and fresh produce ·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9132" y="3916395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11216628" y="3926174"/>
            <a:ext cx="5023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3784750" y="4882815"/>
            <a:ext cx="26734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is the largest regional market (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6275" y="487303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573771" y="4882815"/>
            <a:ext cx="20167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South Asia &amp;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784750" y="5050455"/>
            <a:ext cx="13741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Pacific grows fastest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6956" y="504067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274452" y="505045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785375" y="4882815"/>
            <a:ext cx="14641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North America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97622" y="4873036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65118" y="4882815"/>
            <a:ext cx="14139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South Asia &amp;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785375" y="5050455"/>
            <a:ext cx="5146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Pacific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8099" y="5040676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415594" y="5050455"/>
            <a:ext cx="1184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global market broken into 6 regions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682648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1085850" y="1846931"/>
            <a:ext cx="10010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1085850" y="1846931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3086100" y="1846931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5086350" y="1846931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7096125" y="1846931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9096375" y="1846931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1096625" y="1846931"/>
            <a:ext cx="0" cy="164283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152525" y="231240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152525" y="275048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3152775" y="231240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3152775" y="275048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152775" y="310643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152775" y="346238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153025" y="231240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153025" y="2750489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153025" y="309730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153025" y="3453257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5153025" y="3800077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5153025" y="4146897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153025" y="4493717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153025" y="4849664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153025" y="5196485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153025" y="5543305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153025" y="589012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153025" y="6246072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7162800" y="231240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7162800" y="275048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7162800" y="310643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9163050" y="231240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9163050" y="275048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9163050" y="310643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9163050" y="346238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9163050" y="3818331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9163050" y="4174278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9163050" y="453022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9163050" y="488617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9163050" y="524211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163300" y="231240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1163300" y="2750489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1163300" y="310643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1163300" y="346238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1163300" y="3818331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11163300" y="4174278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11163300" y="453022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ounded Rectangle 54"/>
          <p:cNvSpPr/>
          <p:nvPr/>
        </p:nvSpPr>
        <p:spPr>
          <a:xfrm>
            <a:off x="4391025" y="1080276"/>
            <a:ext cx="3400425" cy="602372"/>
          </a:xfrm>
          <a:prstGeom prst="roundRect">
            <a:avLst>
              <a:gd name="adj" fmla="val 10606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142875" y="201121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North America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276225" y="246755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276225" y="282350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Canada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2143125" y="201121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Latin America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2276475" y="246755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Brazil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2276475" y="282350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Mexico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2276475" y="3179451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Colombia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2276475" y="3535398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Latin America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4143375" y="201121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4276725" y="246755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4276725" y="281437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U.K.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4276725" y="317032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4276725" y="3517145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4276725" y="3863965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4276725" y="4210785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4276725" y="4566732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72" name="Rounded Rectangle 71"/>
          <p:cNvSpPr/>
          <p:nvPr/>
        </p:nvSpPr>
        <p:spPr>
          <a:xfrm>
            <a:off x="4276725" y="4913552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Nordic</a:t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4276725" y="5260373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74" name="Rounded Rectangle 73"/>
          <p:cNvSpPr/>
          <p:nvPr/>
        </p:nvSpPr>
        <p:spPr>
          <a:xfrm>
            <a:off x="4276725" y="5607193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Russia</a:t>
            </a:r>
          </a:p>
        </p:txBody>
      </p:sp>
      <p:sp>
        <p:nvSpPr>
          <p:cNvPr id="75" name="Rounded Rectangle 74"/>
          <p:cNvSpPr/>
          <p:nvPr/>
        </p:nvSpPr>
        <p:spPr>
          <a:xfrm>
            <a:off x="4276725" y="5963140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4276725" y="6309960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Europe</a:t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6153150" y="201121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East Asia</a:t>
            </a:r>
          </a:p>
        </p:txBody>
      </p:sp>
      <p:sp>
        <p:nvSpPr>
          <p:cNvPr id="78" name="Rounded Rectangle 77"/>
          <p:cNvSpPr/>
          <p:nvPr/>
        </p:nvSpPr>
        <p:spPr>
          <a:xfrm>
            <a:off x="6286500" y="246755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China</a:t>
            </a:r>
          </a:p>
        </p:txBody>
      </p:sp>
      <p:sp>
        <p:nvSpPr>
          <p:cNvPr id="79" name="Rounded Rectangle 78"/>
          <p:cNvSpPr/>
          <p:nvPr/>
        </p:nvSpPr>
        <p:spPr>
          <a:xfrm>
            <a:off x="6286500" y="282350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Japan</a:t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6286500" y="3179451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South Korea</a:t>
            </a:r>
          </a:p>
        </p:txBody>
      </p:sp>
      <p:sp>
        <p:nvSpPr>
          <p:cNvPr id="81" name="Rounded Rectangle 80"/>
          <p:cNvSpPr/>
          <p:nvPr/>
        </p:nvSpPr>
        <p:spPr>
          <a:xfrm>
            <a:off x="8153400" y="201121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South Asia &amp; Pacific</a:t>
            </a:r>
          </a:p>
        </p:txBody>
      </p:sp>
      <p:sp>
        <p:nvSpPr>
          <p:cNvPr id="82" name="Rounded Rectangle 81"/>
          <p:cNvSpPr/>
          <p:nvPr/>
        </p:nvSpPr>
        <p:spPr>
          <a:xfrm>
            <a:off x="8286750" y="246755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India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8286750" y="282350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Thailand</a:t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86750" y="3179451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Malaysia</a:t>
            </a:r>
          </a:p>
        </p:txBody>
      </p:sp>
      <p:sp>
        <p:nvSpPr>
          <p:cNvPr id="85" name="Rounded Rectangle 84"/>
          <p:cNvSpPr/>
          <p:nvPr/>
        </p:nvSpPr>
        <p:spPr>
          <a:xfrm>
            <a:off x="8286750" y="3535398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Indonesia</a:t>
            </a:r>
          </a:p>
        </p:txBody>
      </p:sp>
      <p:sp>
        <p:nvSpPr>
          <p:cNvPr id="86" name="Rounded Rectangle 85"/>
          <p:cNvSpPr/>
          <p:nvPr/>
        </p:nvSpPr>
        <p:spPr>
          <a:xfrm>
            <a:off x="8286750" y="3891345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Singapore</a:t>
            </a:r>
          </a:p>
        </p:txBody>
      </p:sp>
      <p:sp>
        <p:nvSpPr>
          <p:cNvPr id="87" name="Rounded Rectangle 86"/>
          <p:cNvSpPr/>
          <p:nvPr/>
        </p:nvSpPr>
        <p:spPr>
          <a:xfrm>
            <a:off x="8286750" y="4247292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Philippines</a:t>
            </a:r>
          </a:p>
        </p:txBody>
      </p:sp>
      <p:sp>
        <p:nvSpPr>
          <p:cNvPr id="88" name="Rounded Rectangle 87"/>
          <p:cNvSpPr/>
          <p:nvPr/>
        </p:nvSpPr>
        <p:spPr>
          <a:xfrm>
            <a:off x="8286750" y="4603240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Australia</a:t>
            </a:r>
          </a:p>
        </p:txBody>
      </p:sp>
      <p:sp>
        <p:nvSpPr>
          <p:cNvPr id="89" name="Rounded Rectangle 88"/>
          <p:cNvSpPr/>
          <p:nvPr/>
        </p:nvSpPr>
        <p:spPr>
          <a:xfrm>
            <a:off x="8286750" y="495918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New Zealand</a:t>
            </a:r>
          </a:p>
        </p:txBody>
      </p:sp>
      <p:sp>
        <p:nvSpPr>
          <p:cNvPr id="90" name="Rounded Rectangle 89"/>
          <p:cNvSpPr/>
          <p:nvPr/>
        </p:nvSpPr>
        <p:spPr>
          <a:xfrm>
            <a:off x="8286750" y="531513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South Asia</a:t>
            </a:r>
          </a:p>
        </p:txBody>
      </p:sp>
      <p:sp>
        <p:nvSpPr>
          <p:cNvPr id="91" name="Rounded Rectangle 90"/>
          <p:cNvSpPr/>
          <p:nvPr/>
        </p:nvSpPr>
        <p:spPr>
          <a:xfrm>
            <a:off x="10153650" y="201121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Middle East and Africa</a:t>
            </a:r>
          </a:p>
        </p:txBody>
      </p:sp>
      <p:sp>
        <p:nvSpPr>
          <p:cNvPr id="92" name="Rounded Rectangle 91"/>
          <p:cNvSpPr/>
          <p:nvPr/>
        </p:nvSpPr>
        <p:spPr>
          <a:xfrm>
            <a:off x="10287000" y="2467557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Turkey</a:t>
            </a:r>
          </a:p>
        </p:txBody>
      </p:sp>
      <p:sp>
        <p:nvSpPr>
          <p:cNvPr id="93" name="Rounded Rectangle 92"/>
          <p:cNvSpPr/>
          <p:nvPr/>
        </p:nvSpPr>
        <p:spPr>
          <a:xfrm>
            <a:off x="10287000" y="2823504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UAE</a:t>
            </a:r>
          </a:p>
        </p:txBody>
      </p:sp>
      <p:sp>
        <p:nvSpPr>
          <p:cNvPr id="94" name="Rounded Rectangle 93"/>
          <p:cNvSpPr/>
          <p:nvPr/>
        </p:nvSpPr>
        <p:spPr>
          <a:xfrm>
            <a:off x="10287000" y="3179451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Saudi Arabia</a:t>
            </a:r>
          </a:p>
        </p:txBody>
      </p:sp>
      <p:sp>
        <p:nvSpPr>
          <p:cNvPr id="95" name="Rounded Rectangle 94"/>
          <p:cNvSpPr/>
          <p:nvPr/>
        </p:nvSpPr>
        <p:spPr>
          <a:xfrm>
            <a:off x="10287000" y="3535398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Israel</a:t>
            </a:r>
          </a:p>
        </p:txBody>
      </p:sp>
      <p:sp>
        <p:nvSpPr>
          <p:cNvPr id="96" name="Rounded Rectangle 95"/>
          <p:cNvSpPr/>
          <p:nvPr/>
        </p:nvSpPr>
        <p:spPr>
          <a:xfrm>
            <a:off x="10287000" y="3891345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GCC Countries</a:t>
            </a:r>
          </a:p>
        </p:txBody>
      </p:sp>
      <p:sp>
        <p:nvSpPr>
          <p:cNvPr id="97" name="Rounded Rectangle 96"/>
          <p:cNvSpPr/>
          <p:nvPr/>
        </p:nvSpPr>
        <p:spPr>
          <a:xfrm>
            <a:off x="10287000" y="4247292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North Africa</a:t>
            </a:r>
          </a:p>
        </p:txBody>
      </p:sp>
      <p:sp>
        <p:nvSpPr>
          <p:cNvPr id="98" name="Rounded Rectangle 97"/>
          <p:cNvSpPr/>
          <p:nvPr/>
        </p:nvSpPr>
        <p:spPr>
          <a:xfrm>
            <a:off x="10287000" y="4603240"/>
            <a:ext cx="1752600" cy="282932"/>
          </a:xfrm>
          <a:prstGeom prst="roundRect">
            <a:avLst>
              <a:gd name="adj" fmla="val 22580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South Africa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6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Corrugated Board Production Equipment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 facers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Double facers and gluing systems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96596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Slitter-scorers, cut-off machines and corrugator stackers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232029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Reel stands, splicers, preheaters and other corrugator auxiliaries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0002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90525" y="267462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Printing and Converting Equipment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85178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Integrated flexo printer-slotter-die-cutter lines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61975" y="320611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Standalone flexo printing and printer-slotter machines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Corrugated liner pre-printing machines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Standalone flatbed die-cutters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426910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Standalone slotting, scoring and creasing machines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20002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90525" y="462343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Finishing and Box Assembly Equipment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97776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Stitching and box-joint taping machines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533209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Flute laminating and sheet-mounting machines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568642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Specialty box-forming and assembly machines</a:t>
            </a:r>
          </a:p>
        </p:txBody>
      </p:sp>
      <p:sp>
        <p:nvSpPr>
          <p:cNvPr id="66" name="Rectangle 65"/>
          <p:cNvSpPr/>
          <p:nvPr/>
        </p:nvSpPr>
        <p:spPr>
          <a:xfrm>
            <a:off x="3152775" y="1028700"/>
            <a:ext cx="2876550" cy="76009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Automation Level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Manual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320992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400425" y="143446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Semi-automatic</a:t>
            </a:r>
          </a:p>
        </p:txBody>
      </p:sp>
      <p:cxnSp>
        <p:nvCxnSpPr>
          <p:cNvPr id="74" name="Connector 73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TextBox 74"/>
          <p:cNvSpPr txBox="1"/>
          <p:nvPr/>
        </p:nvSpPr>
        <p:spPr>
          <a:xfrm>
            <a:off x="320992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400425" y="161163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Fully automatic</a:t>
            </a:r>
          </a:p>
        </p:txBody>
      </p:sp>
      <p:sp>
        <p:nvSpPr>
          <p:cNvPr id="77" name="Rectangle 76"/>
          <p:cNvSpPr/>
          <p:nvPr/>
        </p:nvSpPr>
        <p:spPr>
          <a:xfrm>
            <a:off x="3152775" y="1903095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3152775" y="190309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3228975" y="1903095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Customer Type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209925" y="21316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400425" y="213169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Integrated Board and Box Manufacturers</a:t>
            </a:r>
          </a:p>
        </p:txBody>
      </p:sp>
      <p:cxnSp>
        <p:nvCxnSpPr>
          <p:cNvPr id="82" name="Connector 81"/>
          <p:cNvCxnSpPr/>
          <p:nvPr/>
        </p:nvCxnSpPr>
        <p:spPr>
          <a:xfrm>
            <a:off x="3162300" y="23088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3209925" y="23088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400425" y="230886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Corrugated Sheet Feeders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31623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3209925" y="24860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400425" y="248602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Independent Sheet Plants and Box Converters</a:t>
            </a:r>
          </a:p>
        </p:txBody>
      </p:sp>
      <p:cxnSp>
        <p:nvCxnSpPr>
          <p:cNvPr id="88" name="Connector 87"/>
          <p:cNvCxnSpPr/>
          <p:nvPr/>
        </p:nvCxnSpPr>
        <p:spPr>
          <a:xfrm>
            <a:off x="31623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3209925" y="28403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400425" y="284035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Captive / In-house Box Manufacturing Units</a:t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31623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3209925" y="31946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3400425" y="319468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Contract and Third-party Packaging Manufacturers</a:t>
            </a:r>
          </a:p>
        </p:txBody>
      </p:sp>
      <p:sp>
        <p:nvSpPr>
          <p:cNvPr id="94" name="Rectangle 93"/>
          <p:cNvSpPr/>
          <p:nvPr/>
        </p:nvSpPr>
        <p:spPr>
          <a:xfrm>
            <a:off x="61626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Box Style Produced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Slotted Shipping Boxes</a:t>
            </a:r>
          </a:p>
        </p:txBody>
      </p:sp>
      <p:cxnSp>
        <p:nvCxnSpPr>
          <p:cNvPr id="99" name="Connector 98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621982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410325" y="143446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Die-cut Boxes and Mailers</a:t>
            </a:r>
          </a:p>
        </p:txBody>
      </p:sp>
      <p:cxnSp>
        <p:nvCxnSpPr>
          <p:cNvPr id="102" name="Connector 101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621982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410325" y="161163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Trays and Retail-ready Boxes</a:t>
            </a:r>
          </a:p>
        </p:txBody>
      </p:sp>
      <p:cxnSp>
        <p:nvCxnSpPr>
          <p:cNvPr id="105" name="Connector 104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621982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6410325" y="178879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Folders and Telescopic Boxes</a:t>
            </a:r>
          </a:p>
        </p:txBody>
      </p:sp>
      <p:cxnSp>
        <p:nvCxnSpPr>
          <p:cNvPr id="108" name="Connector 107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TextBox 108"/>
          <p:cNvSpPr txBox="1"/>
          <p:nvPr/>
        </p:nvSpPr>
        <p:spPr>
          <a:xfrm>
            <a:off x="621982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6410325" y="196596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Protective and Internal Packaging</a:t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621982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6410325" y="214312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Wraparound Cases and Sleeves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9172575" y="1028700"/>
            <a:ext cx="2876550" cy="20002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End-use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22" name="Connector 121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TextBox 122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TextBox 125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420225" y="178879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922972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420225" y="196596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31" name="Connector 130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2" name="TextBox 131"/>
          <p:cNvSpPr txBox="1"/>
          <p:nvPr/>
        </p:nvSpPr>
        <p:spPr>
          <a:xfrm>
            <a:off x="922972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420225" y="214312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34" name="Connector 133"/>
          <p:cNvCxnSpPr/>
          <p:nvPr/>
        </p:nvCxnSpPr>
        <p:spPr>
          <a:xfrm>
            <a:off x="91821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TextBox 134"/>
          <p:cNvSpPr txBox="1"/>
          <p:nvPr/>
        </p:nvSpPr>
        <p:spPr>
          <a:xfrm>
            <a:off x="922972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420225" y="232029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91821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TextBox 137"/>
          <p:cNvSpPr txBox="1"/>
          <p:nvPr/>
        </p:nvSpPr>
        <p:spPr>
          <a:xfrm>
            <a:off x="922972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420225" y="249745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40" name="Connector 139"/>
          <p:cNvCxnSpPr/>
          <p:nvPr/>
        </p:nvCxnSpPr>
        <p:spPr>
          <a:xfrm>
            <a:off x="91821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TextBox 140"/>
          <p:cNvSpPr txBox="1"/>
          <p:nvPr/>
        </p:nvSpPr>
        <p:spPr>
          <a:xfrm>
            <a:off x="922972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9420225" y="285178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6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36638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(1/7)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Single facers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4974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20002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0525" y="338328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Double facers and gluing systems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409194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97776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55092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550926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Slitter-scorers, cut-off machines and corrugator stackers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1527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(2/7)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400425" y="125730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Slitter-scorers, cut-off machines and corrugator stackers</a:t>
            </a:r>
          </a:p>
        </p:txBody>
      </p:sp>
      <p:cxnSp>
        <p:nvCxnSpPr>
          <p:cNvPr id="89" name="Connector 88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571875" y="161163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TextBox 95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249745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28517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302895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Reel stands, splicers, preheaters and other corrugator auxiliaries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37376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31623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33813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571875" y="391477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122" name="Connector 121"/>
          <p:cNvCxnSpPr/>
          <p:nvPr/>
        </p:nvCxnSpPr>
        <p:spPr>
          <a:xfrm>
            <a:off x="31623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TextBox 122"/>
          <p:cNvSpPr txBox="1"/>
          <p:nvPr/>
        </p:nvSpPr>
        <p:spPr>
          <a:xfrm>
            <a:off x="33813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5718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31623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TextBox 125"/>
          <p:cNvSpPr txBox="1"/>
          <p:nvPr/>
        </p:nvSpPr>
        <p:spPr>
          <a:xfrm>
            <a:off x="33813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5718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31623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33813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571875" y="462343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31" name="Connector 130"/>
          <p:cNvCxnSpPr/>
          <p:nvPr/>
        </p:nvCxnSpPr>
        <p:spPr>
          <a:xfrm>
            <a:off x="31623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2" name="TextBox 131"/>
          <p:cNvSpPr txBox="1"/>
          <p:nvPr/>
        </p:nvSpPr>
        <p:spPr>
          <a:xfrm>
            <a:off x="33813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571875" y="480060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34" name="Connector 133"/>
          <p:cNvCxnSpPr/>
          <p:nvPr/>
        </p:nvCxnSpPr>
        <p:spPr>
          <a:xfrm>
            <a:off x="31623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TextBox 134"/>
          <p:cNvSpPr txBox="1"/>
          <p:nvPr/>
        </p:nvSpPr>
        <p:spPr>
          <a:xfrm>
            <a:off x="338137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571875" y="51549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31623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TextBox 137"/>
          <p:cNvSpPr txBox="1"/>
          <p:nvPr/>
        </p:nvSpPr>
        <p:spPr>
          <a:xfrm>
            <a:off x="320992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400425" y="533209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Integrated flexo printer-slotter-die-cutter lines</a:t>
            </a:r>
          </a:p>
        </p:txBody>
      </p:sp>
      <p:cxnSp>
        <p:nvCxnSpPr>
          <p:cNvPr id="140" name="Connector 139"/>
          <p:cNvCxnSpPr/>
          <p:nvPr/>
        </p:nvCxnSpPr>
        <p:spPr>
          <a:xfrm>
            <a:off x="31623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TextBox 140"/>
          <p:cNvSpPr txBox="1"/>
          <p:nvPr/>
        </p:nvSpPr>
        <p:spPr>
          <a:xfrm>
            <a:off x="33813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571875" y="56864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31623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TextBox 143"/>
          <p:cNvSpPr txBox="1"/>
          <p:nvPr/>
        </p:nvSpPr>
        <p:spPr>
          <a:xfrm>
            <a:off x="3381375" y="58635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571875" y="58635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46" name="Connector 145"/>
          <p:cNvCxnSpPr/>
          <p:nvPr/>
        </p:nvCxnSpPr>
        <p:spPr>
          <a:xfrm>
            <a:off x="31623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7" name="TextBox 146"/>
          <p:cNvSpPr txBox="1"/>
          <p:nvPr/>
        </p:nvSpPr>
        <p:spPr>
          <a:xfrm>
            <a:off x="3381375" y="60407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571875" y="60407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49" name="Connector 148"/>
          <p:cNvCxnSpPr/>
          <p:nvPr/>
        </p:nvCxnSpPr>
        <p:spPr>
          <a:xfrm>
            <a:off x="31623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0" name="TextBox 149"/>
          <p:cNvSpPr txBox="1"/>
          <p:nvPr/>
        </p:nvSpPr>
        <p:spPr>
          <a:xfrm>
            <a:off x="3381375" y="62179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71875" y="621792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sp>
        <p:nvSpPr>
          <p:cNvPr id="152" name="Rectangle 151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(3/7)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125730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Integrated flexo printer-slotter-die-cutter lines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214312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21982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410325" y="267462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Standalone flexo printing and printer-slotter machines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356044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444627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21982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410325" y="497776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51549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208" name="Connector 207"/>
          <p:cNvCxnSpPr/>
          <p:nvPr/>
        </p:nvCxnSpPr>
        <p:spPr>
          <a:xfrm>
            <a:off x="61722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9" name="TextBox 208"/>
          <p:cNvSpPr txBox="1"/>
          <p:nvPr/>
        </p:nvSpPr>
        <p:spPr>
          <a:xfrm>
            <a:off x="63912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6581775" y="53320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211" name="Connector 210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2" name="TextBox 211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3" name="TextBox 212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214" name="Connector 213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5" name="TextBox 214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6581775" y="568642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220" name="Connector 219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1" name="TextBox 220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223" name="Connector 222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4" name="TextBox 223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91725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7" name="Rectangle 226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8" name="TextBox 227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(4/7)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cxnSp>
        <p:nvCxnSpPr>
          <p:cNvPr id="231" name="Connector 230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2" name="TextBox 231"/>
          <p:cNvSpPr txBox="1"/>
          <p:nvPr/>
        </p:nvSpPr>
        <p:spPr>
          <a:xfrm>
            <a:off x="94011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9591675" y="143446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234" name="Connector 233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5" name="TextBox 234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237" name="Connector 236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8" name="TextBox 237"/>
          <p:cNvSpPr txBox="1"/>
          <p:nvPr/>
        </p:nvSpPr>
        <p:spPr>
          <a:xfrm>
            <a:off x="922972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9420225" y="196596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Corrugated liner pre-printing machines</a:t>
            </a:r>
          </a:p>
        </p:txBody>
      </p:sp>
      <p:cxnSp>
        <p:nvCxnSpPr>
          <p:cNvPr id="240" name="Connector 239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1" name="TextBox 240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243" name="Connector 242"/>
          <p:cNvCxnSpPr/>
          <p:nvPr/>
        </p:nvCxnSpPr>
        <p:spPr>
          <a:xfrm>
            <a:off x="91821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4" name="TextBox 243"/>
          <p:cNvSpPr txBox="1"/>
          <p:nvPr/>
        </p:nvSpPr>
        <p:spPr>
          <a:xfrm>
            <a:off x="94011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95916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821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94011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9591675" y="24974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249" name="Connector 248"/>
          <p:cNvCxnSpPr/>
          <p:nvPr/>
        </p:nvCxnSpPr>
        <p:spPr>
          <a:xfrm>
            <a:off x="91821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0" name="TextBox 249"/>
          <p:cNvSpPr txBox="1"/>
          <p:nvPr/>
        </p:nvSpPr>
        <p:spPr>
          <a:xfrm>
            <a:off x="94011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9591675" y="267462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252" name="Connector 251"/>
          <p:cNvCxnSpPr/>
          <p:nvPr/>
        </p:nvCxnSpPr>
        <p:spPr>
          <a:xfrm>
            <a:off x="91821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3" name="TextBox 252"/>
          <p:cNvSpPr txBox="1"/>
          <p:nvPr/>
        </p:nvSpPr>
        <p:spPr>
          <a:xfrm>
            <a:off x="94011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9591675" y="30289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255" name="Connector 254"/>
          <p:cNvCxnSpPr/>
          <p:nvPr/>
        </p:nvCxnSpPr>
        <p:spPr>
          <a:xfrm>
            <a:off x="91821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6" name="TextBox 255"/>
          <p:cNvSpPr txBox="1"/>
          <p:nvPr/>
        </p:nvSpPr>
        <p:spPr>
          <a:xfrm>
            <a:off x="94011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9591675" y="320611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258" name="Connector 257"/>
          <p:cNvCxnSpPr/>
          <p:nvPr/>
        </p:nvCxnSpPr>
        <p:spPr>
          <a:xfrm>
            <a:off x="91821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9" name="TextBox 258"/>
          <p:cNvSpPr txBox="1"/>
          <p:nvPr/>
        </p:nvSpPr>
        <p:spPr>
          <a:xfrm>
            <a:off x="94011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0" name="TextBox 259"/>
          <p:cNvSpPr txBox="1"/>
          <p:nvPr/>
        </p:nvSpPr>
        <p:spPr>
          <a:xfrm>
            <a:off x="95916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261" name="Connector 260"/>
          <p:cNvCxnSpPr/>
          <p:nvPr/>
        </p:nvCxnSpPr>
        <p:spPr>
          <a:xfrm>
            <a:off x="91821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2" name="TextBox 261"/>
          <p:cNvSpPr txBox="1"/>
          <p:nvPr/>
        </p:nvSpPr>
        <p:spPr>
          <a:xfrm>
            <a:off x="94011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9591675" y="356044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264" name="Connector 263"/>
          <p:cNvCxnSpPr/>
          <p:nvPr/>
        </p:nvCxnSpPr>
        <p:spPr>
          <a:xfrm>
            <a:off x="91821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5" name="TextBox 264"/>
          <p:cNvSpPr txBox="1"/>
          <p:nvPr/>
        </p:nvSpPr>
        <p:spPr>
          <a:xfrm>
            <a:off x="94011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95916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267" name="Connector 266"/>
          <p:cNvCxnSpPr/>
          <p:nvPr/>
        </p:nvCxnSpPr>
        <p:spPr>
          <a:xfrm>
            <a:off x="91821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8" name="TextBox 267"/>
          <p:cNvSpPr txBox="1"/>
          <p:nvPr/>
        </p:nvSpPr>
        <p:spPr>
          <a:xfrm>
            <a:off x="922972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9420225" y="409194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Standalone flatbed die-cutters</a:t>
            </a:r>
          </a:p>
        </p:txBody>
      </p:sp>
      <p:cxnSp>
        <p:nvCxnSpPr>
          <p:cNvPr id="270" name="Connector 269"/>
          <p:cNvCxnSpPr/>
          <p:nvPr/>
        </p:nvCxnSpPr>
        <p:spPr>
          <a:xfrm>
            <a:off x="91821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1" name="TextBox 270"/>
          <p:cNvSpPr txBox="1"/>
          <p:nvPr/>
        </p:nvSpPr>
        <p:spPr>
          <a:xfrm>
            <a:off x="94011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95916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273" name="Connector 272"/>
          <p:cNvCxnSpPr/>
          <p:nvPr/>
        </p:nvCxnSpPr>
        <p:spPr>
          <a:xfrm>
            <a:off x="91821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4" name="TextBox 273"/>
          <p:cNvSpPr txBox="1"/>
          <p:nvPr/>
        </p:nvSpPr>
        <p:spPr>
          <a:xfrm>
            <a:off x="94011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95916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276" name="Connector 275"/>
          <p:cNvCxnSpPr/>
          <p:nvPr/>
        </p:nvCxnSpPr>
        <p:spPr>
          <a:xfrm>
            <a:off x="91821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7" name="TextBox 276"/>
          <p:cNvSpPr txBox="1"/>
          <p:nvPr/>
        </p:nvSpPr>
        <p:spPr>
          <a:xfrm>
            <a:off x="94011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591675" y="462343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279" name="Connector 278"/>
          <p:cNvCxnSpPr/>
          <p:nvPr/>
        </p:nvCxnSpPr>
        <p:spPr>
          <a:xfrm>
            <a:off x="91821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0" name="TextBox 279"/>
          <p:cNvSpPr txBox="1"/>
          <p:nvPr/>
        </p:nvSpPr>
        <p:spPr>
          <a:xfrm>
            <a:off x="94011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81" name="TextBox 280"/>
          <p:cNvSpPr txBox="1"/>
          <p:nvPr/>
        </p:nvSpPr>
        <p:spPr>
          <a:xfrm>
            <a:off x="9591675" y="4800600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282" name="Connector 281"/>
          <p:cNvCxnSpPr/>
          <p:nvPr/>
        </p:nvCxnSpPr>
        <p:spPr>
          <a:xfrm>
            <a:off x="91821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3" name="TextBox 282"/>
          <p:cNvSpPr txBox="1"/>
          <p:nvPr/>
        </p:nvSpPr>
        <p:spPr>
          <a:xfrm>
            <a:off x="940117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84" name="TextBox 283"/>
          <p:cNvSpPr txBox="1"/>
          <p:nvPr/>
        </p:nvSpPr>
        <p:spPr>
          <a:xfrm>
            <a:off x="9591675" y="51549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285" name="Connector 284"/>
          <p:cNvCxnSpPr/>
          <p:nvPr/>
        </p:nvCxnSpPr>
        <p:spPr>
          <a:xfrm>
            <a:off x="91821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6" name="TextBox 285"/>
          <p:cNvSpPr txBox="1"/>
          <p:nvPr/>
        </p:nvSpPr>
        <p:spPr>
          <a:xfrm>
            <a:off x="94011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87" name="TextBox 286"/>
          <p:cNvSpPr txBox="1"/>
          <p:nvPr/>
        </p:nvSpPr>
        <p:spPr>
          <a:xfrm>
            <a:off x="9591675" y="53320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288" name="Connector 287"/>
          <p:cNvCxnSpPr/>
          <p:nvPr/>
        </p:nvCxnSpPr>
        <p:spPr>
          <a:xfrm>
            <a:off x="91821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9" name="TextBox 288"/>
          <p:cNvSpPr txBox="1"/>
          <p:nvPr/>
        </p:nvSpPr>
        <p:spPr>
          <a:xfrm>
            <a:off x="9401175" y="55092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0" name="TextBox 289"/>
          <p:cNvSpPr txBox="1"/>
          <p:nvPr/>
        </p:nvSpPr>
        <p:spPr>
          <a:xfrm>
            <a:off x="9591675" y="55092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291" name="Connector 290"/>
          <p:cNvCxnSpPr/>
          <p:nvPr/>
        </p:nvCxnSpPr>
        <p:spPr>
          <a:xfrm>
            <a:off x="91821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2" name="TextBox 291"/>
          <p:cNvSpPr txBox="1"/>
          <p:nvPr/>
        </p:nvSpPr>
        <p:spPr>
          <a:xfrm>
            <a:off x="94011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3" name="TextBox 292"/>
          <p:cNvSpPr txBox="1"/>
          <p:nvPr/>
        </p:nvSpPr>
        <p:spPr>
          <a:xfrm>
            <a:off x="9591675" y="568642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294" name="Connector 293"/>
          <p:cNvCxnSpPr/>
          <p:nvPr/>
        </p:nvCxnSpPr>
        <p:spPr>
          <a:xfrm>
            <a:off x="91821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5" name="TextBox 294"/>
          <p:cNvSpPr txBox="1"/>
          <p:nvPr/>
        </p:nvSpPr>
        <p:spPr>
          <a:xfrm>
            <a:off x="9401175" y="60407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6" name="TextBox 295"/>
          <p:cNvSpPr txBox="1"/>
          <p:nvPr/>
        </p:nvSpPr>
        <p:spPr>
          <a:xfrm>
            <a:off x="9591675" y="60407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297" name="Connector 296"/>
          <p:cNvCxnSpPr/>
          <p:nvPr/>
        </p:nvCxnSpPr>
        <p:spPr>
          <a:xfrm>
            <a:off x="91821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8" name="TextBox 297"/>
          <p:cNvSpPr txBox="1"/>
          <p:nvPr/>
        </p:nvSpPr>
        <p:spPr>
          <a:xfrm>
            <a:off x="9229725" y="62179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99" name="TextBox 298"/>
          <p:cNvSpPr txBox="1"/>
          <p:nvPr/>
        </p:nvSpPr>
        <p:spPr>
          <a:xfrm>
            <a:off x="9420225" y="621792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cxnSp>
        <p:nvCxnSpPr>
          <p:cNvPr id="300" name="Connector 299"/>
          <p:cNvCxnSpPr/>
          <p:nvPr/>
        </p:nvCxnSpPr>
        <p:spPr>
          <a:xfrm>
            <a:off x="91821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1" name="TextBox 300"/>
          <p:cNvSpPr txBox="1"/>
          <p:nvPr/>
        </p:nvSpPr>
        <p:spPr>
          <a:xfrm>
            <a:off x="9401175" y="63950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02" name="TextBox 301"/>
          <p:cNvSpPr txBox="1"/>
          <p:nvPr/>
        </p:nvSpPr>
        <p:spPr>
          <a:xfrm>
            <a:off x="9591675" y="63950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6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3879850" cy="44805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38798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37274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(5/7)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3714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61975" y="249745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20002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90525" y="2851785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Standalone slotting, scoring and creasing machines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20611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09194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20002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390525" y="4623435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80060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33209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156075" y="1028700"/>
            <a:ext cx="3879850" cy="44805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156075" y="1028700"/>
            <a:ext cx="38798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4232275" y="1028700"/>
            <a:ext cx="37274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(6/7)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2132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403725" y="1257300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cxnSp>
        <p:nvCxnSpPr>
          <p:cNvPr id="89" name="Connector 88"/>
          <p:cNvCxnSpPr/>
          <p:nvPr/>
        </p:nvCxnSpPr>
        <p:spPr>
          <a:xfrm>
            <a:off x="4165600" y="143446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43846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575175" y="143446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4165600" y="161163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43846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575175" y="161163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4165600" y="178879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TextBox 95"/>
          <p:cNvSpPr txBox="1"/>
          <p:nvPr/>
        </p:nvSpPr>
        <p:spPr>
          <a:xfrm>
            <a:off x="43846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575175" y="178879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4165600" y="196596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43846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575175" y="196596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4165600" y="214312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43846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575175" y="214312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4165600" y="232029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421322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403725" y="2320290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Stitching and box-joint taping machines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4165600" y="249745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43846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575175" y="249745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4165600" y="267462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43846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575175" y="267462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4165600" y="285178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43846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575175" y="285178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4165600" y="302895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43846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575175" y="302895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4165600" y="320611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43846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575175" y="320611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22" name="Connector 121"/>
          <p:cNvCxnSpPr/>
          <p:nvPr/>
        </p:nvCxnSpPr>
        <p:spPr>
          <a:xfrm>
            <a:off x="4165600" y="338328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TextBox 122"/>
          <p:cNvSpPr txBox="1"/>
          <p:nvPr/>
        </p:nvSpPr>
        <p:spPr>
          <a:xfrm>
            <a:off x="43846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575175" y="338328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4165600" y="356044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TextBox 125"/>
          <p:cNvSpPr txBox="1"/>
          <p:nvPr/>
        </p:nvSpPr>
        <p:spPr>
          <a:xfrm>
            <a:off x="43846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575175" y="356044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4165600" y="373761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43846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4575175" y="373761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31" name="Connector 130"/>
          <p:cNvCxnSpPr/>
          <p:nvPr/>
        </p:nvCxnSpPr>
        <p:spPr>
          <a:xfrm>
            <a:off x="4165600" y="391477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2" name="TextBox 131"/>
          <p:cNvSpPr txBox="1"/>
          <p:nvPr/>
        </p:nvSpPr>
        <p:spPr>
          <a:xfrm>
            <a:off x="43846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75175" y="391477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134" name="Connector 133"/>
          <p:cNvCxnSpPr/>
          <p:nvPr/>
        </p:nvCxnSpPr>
        <p:spPr>
          <a:xfrm>
            <a:off x="4165600" y="409194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TextBox 134"/>
          <p:cNvSpPr txBox="1"/>
          <p:nvPr/>
        </p:nvSpPr>
        <p:spPr>
          <a:xfrm>
            <a:off x="421322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403725" y="4091940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Flute laminating and sheet-mounting machines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4165600" y="426910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TextBox 137"/>
          <p:cNvSpPr txBox="1"/>
          <p:nvPr/>
        </p:nvSpPr>
        <p:spPr>
          <a:xfrm>
            <a:off x="43846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4575175" y="426910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40" name="Connector 139"/>
          <p:cNvCxnSpPr/>
          <p:nvPr/>
        </p:nvCxnSpPr>
        <p:spPr>
          <a:xfrm>
            <a:off x="4165600" y="444627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TextBox 140"/>
          <p:cNvSpPr txBox="1"/>
          <p:nvPr/>
        </p:nvSpPr>
        <p:spPr>
          <a:xfrm>
            <a:off x="43846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4575175" y="444627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4165600" y="462343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TextBox 143"/>
          <p:cNvSpPr txBox="1"/>
          <p:nvPr/>
        </p:nvSpPr>
        <p:spPr>
          <a:xfrm>
            <a:off x="43846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575175" y="462343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46" name="Connector 145"/>
          <p:cNvCxnSpPr/>
          <p:nvPr/>
        </p:nvCxnSpPr>
        <p:spPr>
          <a:xfrm>
            <a:off x="4165600" y="480060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7" name="TextBox 146"/>
          <p:cNvSpPr txBox="1"/>
          <p:nvPr/>
        </p:nvSpPr>
        <p:spPr>
          <a:xfrm>
            <a:off x="43846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575175" y="480060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149" name="Connector 148"/>
          <p:cNvCxnSpPr/>
          <p:nvPr/>
        </p:nvCxnSpPr>
        <p:spPr>
          <a:xfrm>
            <a:off x="4165600" y="497776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0" name="TextBox 149"/>
          <p:cNvSpPr txBox="1"/>
          <p:nvPr/>
        </p:nvSpPr>
        <p:spPr>
          <a:xfrm>
            <a:off x="43846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4575175" y="497776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52" name="Connector 151"/>
          <p:cNvCxnSpPr/>
          <p:nvPr/>
        </p:nvCxnSpPr>
        <p:spPr>
          <a:xfrm>
            <a:off x="4165600" y="515493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TextBox 152"/>
          <p:cNvSpPr txBox="1"/>
          <p:nvPr/>
        </p:nvSpPr>
        <p:spPr>
          <a:xfrm>
            <a:off x="438467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4575175" y="515493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55" name="Connector 154"/>
          <p:cNvCxnSpPr/>
          <p:nvPr/>
        </p:nvCxnSpPr>
        <p:spPr>
          <a:xfrm>
            <a:off x="4165600" y="533209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6" name="TextBox 155"/>
          <p:cNvSpPr txBox="1"/>
          <p:nvPr/>
        </p:nvSpPr>
        <p:spPr>
          <a:xfrm>
            <a:off x="43846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575175" y="533209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158" name="Rectangle 157"/>
          <p:cNvSpPr/>
          <p:nvPr/>
        </p:nvSpPr>
        <p:spPr>
          <a:xfrm>
            <a:off x="8169275" y="1028700"/>
            <a:ext cx="3879850" cy="253174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8169275" y="1028700"/>
            <a:ext cx="38798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TextBox 159"/>
          <p:cNvSpPr txBox="1"/>
          <p:nvPr/>
        </p:nvSpPr>
        <p:spPr>
          <a:xfrm>
            <a:off x="8245475" y="1028700"/>
            <a:ext cx="37274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Equipment Type × End Use (7/7)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2264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8416925" y="1257300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Flute laminating and sheet-mounting machines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8178800" y="143446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83978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8588375" y="143446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8178800" y="161163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83978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88375" y="161163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8178800" y="178879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822642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416925" y="1788795"/>
            <a:ext cx="35941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Specialty box-forming and assembly machines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8178800" y="196596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83978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588375" y="196596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8178800" y="214312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83978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8588375" y="214312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8178800" y="232029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83978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88375" y="232029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8178800" y="249745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83978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8588375" y="249745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8178800" y="267462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83978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8588375" y="267462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8178800" y="285178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83978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8588375" y="285178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8178800" y="302895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83978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8588375" y="302895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8178800" y="3206115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83978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8588375" y="3206115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8178800" y="3383280"/>
            <a:ext cx="38608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83978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8588375" y="3383280"/>
            <a:ext cx="34226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Corrugated Box Packaging Equipment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82253"/>
            <a:ext cx="5857875" cy="459080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ectangle 11"/>
          <p:cNvSpPr/>
          <p:nvPr/>
        </p:nvSpPr>
        <p:spPr>
          <a:xfrm>
            <a:off x="142875" y="1582253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142875" y="1646141"/>
            <a:ext cx="5857875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56058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56058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BOBST Group SA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248513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24851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248513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248513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Company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64096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640967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640967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3033422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4" name="Connector 23"/>
          <p:cNvCxnSpPr/>
          <p:nvPr/>
        </p:nvCxnSpPr>
        <p:spPr>
          <a:xfrm>
            <a:off x="152400" y="303342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3033422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3033422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BW Papersystems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42587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425876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425876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Fosber Group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818331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81833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818331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818331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Mitsubishi Heavy Industries Machinery Systems, Ltd.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21078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210785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210785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EMBA Machinery AB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603240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603240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603240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603240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Koenig &amp; Bauer Celmacch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995694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995694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995694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Göpfert Maschinen GmbH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388149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38814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388149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388149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 Automation Group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78060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780603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780603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KOLBUS GmbH &amp; Co. KG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191250" y="1582253"/>
            <a:ext cx="5857875" cy="459080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6191250" y="1582253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6191250" y="1646141"/>
            <a:ext cx="5857875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381750" y="1856058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629400" y="1856058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ISOWA Corporation</a:t>
            </a:r>
          </a:p>
        </p:txBody>
      </p:sp>
      <p:sp>
        <p:nvSpPr>
          <p:cNvPr id="56" name="Rectangle 55"/>
          <p:cNvSpPr/>
          <p:nvPr/>
        </p:nvSpPr>
        <p:spPr>
          <a:xfrm>
            <a:off x="6200775" y="2248513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57" name="Connector 56"/>
          <p:cNvCxnSpPr/>
          <p:nvPr/>
        </p:nvCxnSpPr>
        <p:spPr>
          <a:xfrm>
            <a:off x="6200775" y="224851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6381750" y="2248513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2248513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Guangdong Dongfang Precision Science &amp; Technology Co., Ltd.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6200775" y="264096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6381750" y="2640967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629400" y="2640967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TCY Machinery Mfg. Co., Ltd.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200775" y="3033422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4" name="Connector 63"/>
          <p:cNvCxnSpPr/>
          <p:nvPr/>
        </p:nvCxnSpPr>
        <p:spPr>
          <a:xfrm>
            <a:off x="6200775" y="303342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3033422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3033422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BAHMÜLLER</a:t>
            </a:r>
          </a:p>
        </p:txBody>
      </p:sp>
      <p:cxnSp>
        <p:nvCxnSpPr>
          <p:cNvPr id="67" name="Connector 66"/>
          <p:cNvCxnSpPr/>
          <p:nvPr/>
        </p:nvCxnSpPr>
        <p:spPr>
          <a:xfrm>
            <a:off x="6200775" y="342587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TextBox 67"/>
          <p:cNvSpPr txBox="1"/>
          <p:nvPr/>
        </p:nvSpPr>
        <p:spPr>
          <a:xfrm>
            <a:off x="6381750" y="3425876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629400" y="3425876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Electronics For Imaging, Inc. (EFI)</a:t>
            </a:r>
          </a:p>
        </p:txBody>
      </p:sp>
      <p:sp>
        <p:nvSpPr>
          <p:cNvPr id="70" name="Rectangle 69"/>
          <p:cNvSpPr/>
          <p:nvPr/>
        </p:nvSpPr>
        <p:spPr>
          <a:xfrm>
            <a:off x="6200775" y="3818331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81833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818331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818331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Fosber America, Inc.</a:t>
            </a:r>
          </a:p>
        </p:txBody>
      </p:sp>
      <p:cxnSp>
        <p:nvCxnSpPr>
          <p:cNvPr id="74" name="Connector 73"/>
          <p:cNvCxnSpPr/>
          <p:nvPr/>
        </p:nvCxnSpPr>
        <p:spPr>
          <a:xfrm>
            <a:off x="6200775" y="421078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TextBox 74"/>
          <p:cNvSpPr txBox="1"/>
          <p:nvPr/>
        </p:nvSpPr>
        <p:spPr>
          <a:xfrm>
            <a:off x="6381750" y="4210785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629400" y="4210785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BGM Bahmüller und Göpfert Maschinen GmbH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200775" y="4603240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603240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603240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603240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Hsieh Hsu Machinery Co., Ltd.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6200775" y="4995694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6381750" y="4995694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6629400" y="4995694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Ming Wei Paperware Machinery Co., Ltd.</a:t>
            </a:r>
          </a:p>
        </p:txBody>
      </p:sp>
      <p:sp>
        <p:nvSpPr>
          <p:cNvPr id="84" name="Rectangle 83"/>
          <p:cNvSpPr/>
          <p:nvPr/>
        </p:nvSpPr>
        <p:spPr>
          <a:xfrm>
            <a:off x="6200775" y="5388149"/>
            <a:ext cx="5838825" cy="39245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85" name="Connector 84"/>
          <p:cNvCxnSpPr/>
          <p:nvPr/>
        </p:nvCxnSpPr>
        <p:spPr>
          <a:xfrm>
            <a:off x="6200775" y="538814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5388149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5388149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Guangdong Wanlian Precision Technology Co., Ltd.</a:t>
            </a:r>
          </a:p>
        </p:txBody>
      </p:sp>
      <p:cxnSp>
        <p:nvCxnSpPr>
          <p:cNvPr id="88" name="Connector 87"/>
          <p:cNvCxnSpPr/>
          <p:nvPr/>
        </p:nvCxnSpPr>
        <p:spPr>
          <a:xfrm>
            <a:off x="6200775" y="578060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6381750" y="5780603"/>
            <a:ext cx="190500" cy="39245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629400" y="5780603"/>
            <a:ext cx="5324475" cy="39245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J.S. Machine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(1/6)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Global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Global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2021-2036, By Equipment Type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0733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Automation Level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Manual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Semi-automatic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Fully automatic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Box Style Produced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Slotted Shipping Boxes (RSC, HSC, FOL and other slotted shipping containers)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Die-cut Boxes and Mailers (Die-cut e-commerce mailers and specialty die-cut shipping boxes)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Trays and Retail-ready Boxes (Produce trays, display trays, shelf-ready trays and retail-ready cases)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(2/6)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0352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Folders and Telescopic Boxes (Corrugated folders, two-piece boxes, full telescope and partial telescope containers)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Protective and Internal Packaging (Partitions, dividers, inserts, cushioning structures and internal protective fitments)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Wraparound Cases and Sleeves (Wraparound shipping cases, corrugated sleeves and wrap-style packaging)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End-Use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Customer Type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LATAM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Japan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 Korea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Malaysia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Indonesia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Philippines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Singapore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Australia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New Zealand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8.5.4.9.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South East Asia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(3/6)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Nordic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Russia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8.5.5.11.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8.5.5.12.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Europe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UAE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Saudi Arabia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Turkey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Israel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GCC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South Africa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8.5.6.7.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MEA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Unit)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Equipment Type X Customer Type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Equipment Type X End Use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 America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Equipment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Automation Level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Box Style Produced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End-Use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Customer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Latin America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Equipment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Automation Level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Box Style Produced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End-Use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Customer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Equipment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Automation Level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Box Style Produced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End-Use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Customer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East Asia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(4/6)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Equipment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Automation Level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Box Style Produced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End-Use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Customer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 Asia &amp; Pacific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Equipment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Automation Level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Box Style Produced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End-Use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Customer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Middle East &amp; Africa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Equipment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Automation Level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Box Style Produced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End-Use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114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Customer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Distributor/System Integrator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Machinery Average Selling Price by Equipment Type and Automation Level (USD/Unit), 2026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(Equipment Type)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Stakeholder Perspectives – Manufacturer, Customer &amp; Distributor Insights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Stakeholder Insights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Customers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 Level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(5/6)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9209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Macro-&amp;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PESTEL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Porter’s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Regulatory Compliance, Sustainability, and Material Compatibility Analysis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Machinery Safety and Technical Compliance Requirements by Region and Equipment Category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Production Waste and Scrap Generation by Machinery Type (% / kg per 1,000 m²)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Waste Reduction Potential from Automated Registration and Quality Inspection (%)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Recycled-content Board Processing Capability by Machinery Technology (% Recycled Fiber / Board Grade)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Compliance-driven Machinery Upgrade and Replacement Demand (Units / USD Million), 2026–2035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Production and Trade Outlook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Market- Production and Trade Analysis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Production Volume (Unit), (2021-2026) by Region/ Country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Exports: Key Countries, Share &amp; Value (US$ Mn / Unit)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Imports: Key Countries, Share &amp; Value (US$ Mn / Unit)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Global Supply-Demand Overview (Prod., Sales, Import, Export)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Equipment Supply, Installed Base, and Production Capacity Landscape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Global Corrugated Packaging Equipment Installed Base by Machinery Category (Units), 2026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and Country-wise Installed Machinery Base (Units), 2026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Installed Equipment Age Profile by Machinery Category (0–5 / 6–10 / 11–15 / 15+ Years)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Annual Replacement Equipment Demand by Region and Machinery Type (Units), 2026–2035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0352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OEM Manufacturing Footprint and Estimated Production Capacity by Country (Units/year)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Equipment Supply–Demand Balance and Import Dependency (Units / %)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Announced OEM Capacity Expansions and Machinery Production Investments (USD Million), 2026–2036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Value Chain Analysis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Industry-Wide Operating Margin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Operating margins at each node of supply chain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Operating margins Comparison to Parent/Associated Market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Margin Optimization Strategies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List of Active Market Participants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Manufacturers/ Key Brands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Distributors/System Integrator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End Users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FF0000"/>
                          </a:solidFill>
                          <a:latin typeface="Calibri"/>
                        </a:rPr>
                        <a:t>Note: The section lists 20-30 active market participants. For a comprehensive list, please contact the respective sales personnel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Region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End Use Application/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BOBST Group SA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Analysis (USD Per Unit) 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(6/6)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26.1.4.1.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Marketing Strategy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26.1.4.2.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Strategy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26.1.4.3.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Channel Strategy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26.1.4.4.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Strategy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Analyst Comment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BHS Corrugated Maschinen- und Anlagenbau GmbH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BW Papersystems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Fosber Group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Mitsubishi Heavy Industries Machinery Systems, Ltd.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EMBA Machinery AB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Koenig &amp; Bauer Celmacch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Göpfert Maschinen GmbH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SUN Automation Group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KOLBUS GmbH &amp; Co. KG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ISOWA Corporation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J.S. Machine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Guangdong Dongfang Precision Science &amp; Technology Co., Ltd.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TCY Machinery Mfg. Co., Ltd.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BAHMÜLLER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Hsieh Hsu Machinery Co., Ltd.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Ming Wei Paperware Machinery Co., Ltd.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Guangdong Wanlian Precision Technology Co., Ltd.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Electronics For Imaging, Inc. (EFI)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BGM Bahmüller und Göpfert Maschinen GmbH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Fosber America, Inc.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35433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Global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Global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Global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Global Market Share by Equipment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Global Market Share by Automation Level,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Global Market Share by Box Style Produced,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Global Market Share by End-use,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Global Market Share by Customer Type,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Global Market Share by Equipment Type × End Use,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Global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Global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Global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Global Market Volume and YoY Growth, Units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Global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Global Market Average Selling Price,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Global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Global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Global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Global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Global Market Size Evolution Index, 2025=100,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Global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Global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Global Market Value by Box Style Produced,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Global Market Value by End-use,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Global Market Value by Customer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Global Market Value by Equipment Type × End 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Global Market Share by Equipment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Global Market Share by Automation Level,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Global Market Share by Box Style Produced,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Global Market Share by End-use,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Global Market Share by Customer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Global Market Share by Equipment Type × End Use,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Global Market Absolute $ Opportunity by Equipment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Global Market Absolute $ Opportunity by Automation Level,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Global Market Absolute $ Opportunity by Box Style Produced,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Global Market Absolute $ Opportunity by End-use,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Global Market Absolute $ Opportunity by Customer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Global Market Absolute $ Opportunity by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Global Market BPS Share Change by Equipment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Global Market BPS Share Change by Automation Level,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Global Market BPS Share Change by Box Style Produced,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Global Market BPS Share Change by End-use,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Global Market BPS Share Change by Customer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Global Market BPS Share Change by Equipment Type × End Use,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Global Market YoY Growth by Equipment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Global Market YoY Growth by Automation Level,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Global Market YoY Growth by Box Style Produced,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Global Market YoY Growth by End-use,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Global Market YoY Growth by Customer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Global Market YoY Growth by Equipment Type × End 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Global Market Attractiveness by Equipment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Global Market Attractiveness by Automation Level,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Global Market Attractiveness by Box Style Produced,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Global Market Attractiveness by End-use,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Global Market Attractiveness by Customer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Global Market Attractiveness by Equipment Type × End Use,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Global Market Volume by Equipment Type,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Global Market Volume by Automation Level,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Global Market Volume by Box Style Produced,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Global Market Volume by End-use,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Global Market Volume by Customer Type,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Global Market Volume by Equipment Type × End Use,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Global Market Average Selling Price by Equipment Type,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Equipment Type × Automation Level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Equipment Type × Box Style Produced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Equipment Type × End-use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Equipment Type × Customer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Equipment Type × Equipment Type × End 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Automation Level × Box Style Produced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Automation Level × End-use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Automation Level × Customer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Automation Level × Equipment Type × End 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Box Style Produced × End-use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Box Style Produced × Customer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Box Style Produced × Equipment Type × End 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End-use × Customer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End-use × Equipment Type × End 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Customer Type × Equipment Type × End 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Region × Equipment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Region × Automation Level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Region × Box Style Produced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Region × End-use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Region × Customer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Region × Equipment Type × End Use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Global Market Value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Global Market Share by Region,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Global Market CAGR by Region,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Global Market Absolute $ Opportunity by Region,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Global Market Attractiveness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Global Market BPS Share Change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North America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Latin America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East Asia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South Asia &amp; Pacific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Middle East and Africa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North America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Latin America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Europe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East Asia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South Asia &amp; Pacific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Middle East and Africa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North America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Latin America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Europe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East Asia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South Asia &amp; Pacific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Middle East and Africa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North America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Latin America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U.S.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U.S.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U.S. Market Value by End-use,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U.S. Market Share within North America,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U.S. Market Value by Automation Level,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U.S. Market Value by Box Style Produced,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U.S. Market Value by Customer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U.S. Market Value by Equipment Type × End Use,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Germany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Germany Market Value by End-use,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Germany Market Value by Automation Level,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Germany Market Value by Box Style Produced,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Germany Market Value by Customer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Germany Market Value by Equipment Type × End Use,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Canada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Canada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Canada Market Value by End-use,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Canada Market Share within North America,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Canada Market Value by Automation Level,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Canada Market Value by Box Style Produced,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Canada Market Value by Customer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Canada Market Value by Equipment Type × End Use,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China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China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India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India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Brazil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Brazil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U.K.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U.K.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Japan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Japan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France Market Value by Equipment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Global Market Average Selling Price Trend,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Global Market Average Selling Price by Region,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Global Market Average Selling Price by Equipment Type,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Global Market Average Selling Price by Automation Level,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Global Market Average Selling Price by Box Style Produced,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Global Market Average Selling Price by End-use,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Global Market Average Selling Price by Customer Type,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Global Market Average Selling Price by Equipment Type × End Use, US$/Units,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Global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Global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Global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Global Market Pricing Pressure Assessment by Equipment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Global Market Import and Export Share by Region, %, 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Global Market Trade Balance by Leading Country, US$ Mn, 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Company Market Share in the Global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Competitive Positioning of Leading Corrugated Box Packaging Equipment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Company Revenue from the Global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Global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Global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Company Market Share in the North America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Company Market Share in the Latin America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Company Market Share in the East Asia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Market Share in the South Asia &amp; Pacific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Company Market Share in the Middle East and Africa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BOBST Group SA: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Company: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BHS Corrugated Maschinen- und Anlagenbau GmbH: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BW Papersystems: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Fosber Group: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Mitsubishi Heavy Industries Machinery Systems, Ltd.: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EMBA Machinery AB: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Koenig &amp; Bauer Celmacch: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54806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26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Göpfert Maschinen GmbH: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SUN Automation Group: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Global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Global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Global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Global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Global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Global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Global Market Opportunity Map by Region and Equipment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Global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Global Market Emerging Opportunity Pockets by Equipment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Global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Global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Global Market Investment Hotspots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Global Market Innovation Pipeline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Global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Global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Global Market Go-to-Market Priority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Global Market Unmet Needs Analysis by Equipment Type,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Global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Global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Global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Global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Global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Global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Global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Global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Global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Global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Global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Global Market Volume and YoY Growth, Units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Global Market Volume Forecast, Units,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Global Market Average Selling Price,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Global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Global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Global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Global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Global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Global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Global Market Five-Year Block Value Summary,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Global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Global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Global Market Value by Box Style Produced,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Global Market Value by End-use,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Global Market Value by Customer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Global Market Value by Equipment Type × End 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Global Market CAGR and Absolute $ Opportunity by Equipment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33328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Global Market CAGR and Absolute $ Opportunity by Automation Level,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33328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Global Market CAGR and Absolute $ Opportunity by Box Style Produced,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Global Market CAGR and Absolute $ Opportunity by End-use,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Global Market CAGR and Absolute $ Opportunity by Customer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285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Global Market CAGR and Absolute $ Opportunity by Equipment Type × End Use,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Global Market Share and BPS Change by Equipment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Global Market Share and BPS Change by Automation Level,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Global Market Share and BPS Change by Box Style Produced,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Global Market Share and BPS Change by End-use,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Global Market Share and BPS Change by Customer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Global Market Share and BPS Change by Equipment Type × End Use,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Global Market YoY Growth by Equipment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Global Market YoY Growth by Automation Level,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Global Market YoY Growth by Box Style Produced,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Global Market YoY Growth by End-use,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Global Market YoY Growth by Customer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Global Market YoY Growth by Equipment Type × End 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Global Market Volume by Equipment Type,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Global Market Volume by Automation Level,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Global Market Volume by Box Style Produced,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Global Market Volume by End-use,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Global Market Volume by Customer Type,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Global Market Volume by Equipment Type × End Use,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Global Market Average Selling Price by Equipment Type,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Global Market Average Selling Price by Automation Level,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Global Market Average Selling Price by Box Style Produced,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Global Market Average Selling Price by End-use,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Global Market Average Selling Price by Customer Type,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Global Market Average Selling Price by Equipment Type × End Use,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Global Market Attractiveness Index by Equipment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Global Market Attractiveness Index by Automation Level,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Global Market Attractiveness Index by Box Style Produced,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Global Market Attractiveness Index by End-use,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Global Market Attractiveness Index by Customer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Global Market Attractiveness Index by Equipment Type × End Use,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502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Global Market Value of Corrugated Board Production Equipment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Global Market Value of Manual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Global Market Value of Slotted Shipping Boxes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Global Market Value of Agriculture and fresh produce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502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Global Market Value of Integrated Board and Box Manufacturers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Global Market Value of Single facers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Global Market Value of Printing and Converting Equipment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Global Market Value of Semi-automatic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Global Market Value of Die-cut Boxes and Mailers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Global Market Value of Processed food and beverages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3502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Global Market Value of Independent Corrugated Sheet Feeders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Global Market Value of Double facers and gluing systems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3502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Global Market Value of Finishing and Box Assembly Equipment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Global Market Value by Equipment Type and Automation Level,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Global Market Value by Equipment Type and Box Style Produced,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Global Market Value by Equipment Type and End-use,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Global Market Value by Equipment Type and Customer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3502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Global Market Value by Equipment Type and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Global Market Value by Automation Level and Box Style Produced,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Global Market Value by Automation Level and End-use,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93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Global Market Value by Automation Level and Customer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3502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Global Market Value by Automation Level and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Global Market Value by Box Style Produced and End-use,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Global Market Value by Box Style Produced and Customer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285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Global Market Value by Box Style Produced and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Global Market Value by End-use and Customer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Global Market Value by End-use and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Global Market Value by Customer Type and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Global Market Value by Region and Equipment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Global Market Value by Region and Automation Level,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Global Market Value by Region and Box Style Produced,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Global Market Value by Region and End-use,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Global Market Value by Region and Customer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Global Market Value by Region and Equipment Type × End Use,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Global Market CAGR by Equipment Type and Automation Level,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Global Market CAGR by Equipment Type and Box Style Produced,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Global Market CAGR by Equipment Type and End-use,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Global Market CAGR by Equipment Type and Customer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Global Market CAGR by Equipment Type and Equipment Type × End 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Global Market CAGR by Automation Level and Box Style Produced,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Global Market CAGR by Automation Level and End-use,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Global Market CAGR by Automation Level and Customer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Global Market Value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Global Market CAGR and Absolute $ Opportunity by Region,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Global Market Share and BPS Change by Region,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Global Market Volume by Region, 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North America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Latin America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East Asia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South Asia &amp; Pacific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Middle East and Africa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3372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North America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Latin America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East Asia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372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South Asia &amp; Pacific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372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Middle East and Africa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North America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Latin America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Europe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East Asia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South Asia &amp; Pacific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Middle East and Africa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North America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Latin America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Europe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U.S.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U.S.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U.S. Market Value by End-use,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U.S. Market Share within North America,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U.S.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U.S. Market Value by Box Style Produced,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U.S. Market Value by Customer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U.S. Market Value by Equipment Type × End 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Germany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Germany Market Value by End-use,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Germany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Germany Market Value by Box Style Produced,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Germany Market Value by Customer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Germany Market Value by Equipment Type × End 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Canada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Canada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Canada Market Value by End-use,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Canada Market Share within North America,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Canada Market Value by Automation Level,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Canada Market Value by Box Style Produced,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Canada Market Value by Customer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Canada Market Value by Equipment Type × End 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China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China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China Market Value by End-use,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India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India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Brazil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Brazil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U.K. Market Value by Equipment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U.K.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Market Product Price Comparison by Company and Equipment Type, US$/Units,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Global Market Average Selling Price by Region,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Global Market Average Selling Price by Equipment Type,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Global Market Average Selling Price by Automation Level,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Global Market Average Selling Price by Box Style Produced,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Global Market Average Selling Price by End-use,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Global Market Average Selling Price by Customer Type,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Global Market Average Selling Price by Equipment Type × End Use, US$/Units,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Supplier-to-Customer Relationship Mapping in U.S.,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Global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Global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057775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Global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Global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Global Market Export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Global Market Trade Flow Matrix by Region, US$ Mn, 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Global Market Pricing Factors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6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Leading Corrugated Box Packaging Equipment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Company Revenue from the Global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Market Share in the Global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Global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Global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BOBST Group SA: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Company: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6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BHS Corrugated Maschinen- und Anlagenbau GmbH: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BW Papersystems: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Fosber Group: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26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Mitsubishi Heavy Industries Machinery Systems, Ltd.: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EMBA Machinery AB: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Koenig &amp; Bauer Celmacch: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Göpfert Maschinen GmbH: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SUN Automation Group: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Global Market Value by Scenario and Region,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Global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Global Market Opportunity Assessment by Equipment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Global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Global Market Client Opportunity Prioritisation by Equipment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Global Market Customer Purchase Criteria by Equipment Type,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Global Market Strategic Recommendations and Action Plan,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38960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143760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Global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848610"/>
            <a:ext cx="7124700" cy="359918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Global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Global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Global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Equipment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Automation Level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Box Style Produced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End-use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Customer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Equipment Type × Customer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Equipment Type × End Use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Summary, By Volume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global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(UNITS)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(UNITS)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(Units)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Rounded Rectangle 23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048625" y="2046987"/>
            <a:ext cx="38481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Global corrugated box packaging equipment market is projected to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8048625" y="2214627"/>
            <a:ext cx="5124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register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09166" y="2204848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676662" y="2214627"/>
            <a:ext cx="29643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increase in volume by the end of forecast period,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2382267"/>
            <a:ext cx="3838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 Global corrugated box packaging equipment market volume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2549907"/>
            <a:ext cx="5438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stood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40544" y="2540128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708039" y="2549907"/>
            <a:ext cx="22450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in 2025 and is expected to reach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901188" y="2540128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068684" y="2549907"/>
            <a:ext cx="5414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by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717547"/>
            <a:ext cx="13855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end, at a CAGR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2274" y="2707768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549770" y="271754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935479"/>
            <a:ext cx="36783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Value is projected to grow faster than volume over the forecast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103119"/>
            <a:ext cx="30497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period, owing to an increase in average selling price.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4456475"/>
            <a:ext cx="28688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leads regional growth at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66614" y="4446251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1041723" y="445647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4684312"/>
            <a:ext cx="38012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'Printing and Converting Equipment'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4859572"/>
            <a:ext cx="14907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Equipment Type.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5087410"/>
            <a:ext cx="32912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048625" y="5315248"/>
            <a:ext cx="2741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56" name="lockshield_16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lockshield_19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region,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Equipment Type  ·  range across 2021–2036 (US$/Units)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657225" y="333693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657225" y="286593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39494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192394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0" cy="188399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28650" y="333693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28659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39494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19239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FMI Scale tick"/>
          <p:cNvSpPr txBox="1"/>
          <p:nvPr/>
        </p:nvSpPr>
        <p:spPr>
          <a:xfrm>
            <a:off x="219075" y="3270260"/>
            <a:ext cx="38100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24" name="FMI Scale tick"/>
          <p:cNvSpPr txBox="1"/>
          <p:nvPr/>
        </p:nvSpPr>
        <p:spPr>
          <a:xfrm>
            <a:off x="219075" y="2328265"/>
            <a:ext cx="38100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25" name="FMI Scale tick"/>
          <p:cNvSpPr txBox="1"/>
          <p:nvPr/>
        </p:nvSpPr>
        <p:spPr>
          <a:xfrm>
            <a:off x="219075" y="1386270"/>
            <a:ext cx="38100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cxnSp>
        <p:nvCxnSpPr>
          <p:cNvPr id="26" name="Connector 25"/>
          <p:cNvCxnSpPr/>
          <p:nvPr/>
        </p:nvCxnSpPr>
        <p:spPr>
          <a:xfrm flipV="1">
            <a:off x="1825625" y="2352093"/>
            <a:ext cx="0" cy="257163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1694180" y="260925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694180" y="235209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606550" y="2414061"/>
            <a:ext cx="438150" cy="128586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0" name="Connector 29"/>
          <p:cNvCxnSpPr/>
          <p:nvPr/>
        </p:nvCxnSpPr>
        <p:spPr>
          <a:xfrm>
            <a:off x="1606550" y="2477575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657225" y="2199693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2" name="Connector 31"/>
          <p:cNvCxnSpPr/>
          <p:nvPr/>
        </p:nvCxnSpPr>
        <p:spPr>
          <a:xfrm flipV="1">
            <a:off x="4162425" y="1670329"/>
            <a:ext cx="0" cy="4194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4030980" y="208976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4030980" y="16703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3943350" y="1769710"/>
            <a:ext cx="438150" cy="209843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6" name="Connector 35"/>
          <p:cNvCxnSpPr/>
          <p:nvPr/>
        </p:nvCxnSpPr>
        <p:spPr>
          <a:xfrm>
            <a:off x="3943350" y="1872821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2994025" y="1517929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8" name="Connector 37"/>
          <p:cNvCxnSpPr/>
          <p:nvPr/>
        </p:nvCxnSpPr>
        <p:spPr>
          <a:xfrm flipV="1">
            <a:off x="6499225" y="2855923"/>
            <a:ext cx="0" cy="263629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6367780" y="3119552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6367780" y="285592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6280150" y="2918602"/>
            <a:ext cx="438150" cy="131956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2" name="Connector 41"/>
          <p:cNvCxnSpPr/>
          <p:nvPr/>
        </p:nvCxnSpPr>
        <p:spPr>
          <a:xfrm>
            <a:off x="6280150" y="2983530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5330825" y="2703523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57225" y="3365510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Corrugated Board Prod…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94025" y="3365510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Printing and Converti…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330825" y="3365510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Finishing and Box Ass…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 vs Global  ·  2026–2036</a:t>
            </a:r>
          </a:p>
        </p:txBody>
      </p:sp>
      <p:cxnSp>
        <p:nvCxnSpPr>
          <p:cNvPr id="49" name="Connector 48"/>
          <p:cNvCxnSpPr/>
          <p:nvPr/>
        </p:nvCxnSpPr>
        <p:spPr>
          <a:xfrm>
            <a:off x="619125" y="431786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619125" y="472881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619125" y="513977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619125" y="555073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619125" y="596169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619125" y="4317861"/>
            <a:ext cx="0" cy="164383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590550" y="431786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590550" y="472881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590550" y="513977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590550" y="555073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590550" y="596169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FMI Scale tick"/>
          <p:cNvSpPr txBox="1"/>
          <p:nvPr/>
        </p:nvSpPr>
        <p:spPr>
          <a:xfrm>
            <a:off x="219075" y="4251186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+49%</a:t>
            </a:r>
          </a:p>
        </p:txBody>
      </p:sp>
      <p:sp>
        <p:nvSpPr>
          <p:cNvPr id="61" name="FMI Scale tick"/>
          <p:cNvSpPr txBox="1"/>
          <p:nvPr/>
        </p:nvSpPr>
        <p:spPr>
          <a:xfrm>
            <a:off x="219075" y="4662143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+25%</a:t>
            </a:r>
          </a:p>
        </p:txBody>
      </p:sp>
      <p:sp>
        <p:nvSpPr>
          <p:cNvPr id="62" name="FMI Scale tick"/>
          <p:cNvSpPr txBox="1"/>
          <p:nvPr/>
        </p:nvSpPr>
        <p:spPr>
          <a:xfrm>
            <a:off x="107156" y="5073101"/>
            <a:ext cx="473869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Global</a:t>
            </a:r>
          </a:p>
        </p:txBody>
      </p:sp>
      <p:sp>
        <p:nvSpPr>
          <p:cNvPr id="63" name="FMI Scale tick"/>
          <p:cNvSpPr txBox="1"/>
          <p:nvPr/>
        </p:nvSpPr>
        <p:spPr>
          <a:xfrm>
            <a:off x="219075" y="5484058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-25%</a:t>
            </a:r>
          </a:p>
        </p:txBody>
      </p:sp>
      <p:sp>
        <p:nvSpPr>
          <p:cNvPr id="64" name="FMI Scale tick"/>
          <p:cNvSpPr txBox="1"/>
          <p:nvPr/>
        </p:nvSpPr>
        <p:spPr>
          <a:xfrm>
            <a:off x="219075" y="5895016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-49%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619125" y="5139776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977900" y="4423458"/>
            <a:ext cx="457200" cy="71631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MI Data Label"/>
          <p:cNvSpPr txBox="1"/>
          <p:nvPr/>
        </p:nvSpPr>
        <p:spPr>
          <a:xfrm>
            <a:off x="619125" y="4280583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8" name="Rectangle 67"/>
          <p:cNvSpPr/>
          <p:nvPr/>
        </p:nvSpPr>
        <p:spPr>
          <a:xfrm>
            <a:off x="2152650" y="5139776"/>
            <a:ext cx="457200" cy="7180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MI Data Label"/>
          <p:cNvSpPr txBox="1"/>
          <p:nvPr/>
        </p:nvSpPr>
        <p:spPr>
          <a:xfrm>
            <a:off x="1793875" y="5221109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0" name="Rectangle 69"/>
          <p:cNvSpPr/>
          <p:nvPr/>
        </p:nvSpPr>
        <p:spPr>
          <a:xfrm>
            <a:off x="3327400" y="4702735"/>
            <a:ext cx="457200" cy="43704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FMI Data Label"/>
          <p:cNvSpPr txBox="1"/>
          <p:nvPr/>
        </p:nvSpPr>
        <p:spPr>
          <a:xfrm>
            <a:off x="2968625" y="4559860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2" name="Rectangle 71"/>
          <p:cNvSpPr/>
          <p:nvPr/>
        </p:nvSpPr>
        <p:spPr>
          <a:xfrm>
            <a:off x="4502150" y="5139776"/>
            <a:ext cx="457200" cy="5188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FMI Data Label"/>
          <p:cNvSpPr txBox="1"/>
          <p:nvPr/>
        </p:nvSpPr>
        <p:spPr>
          <a:xfrm>
            <a:off x="4143375" y="5668159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5676900" y="5139776"/>
            <a:ext cx="457200" cy="66948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MI Data Label"/>
          <p:cNvSpPr txBox="1"/>
          <p:nvPr/>
        </p:nvSpPr>
        <p:spPr>
          <a:xfrm>
            <a:off x="5318125" y="5818781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6" name="Rectangle 75"/>
          <p:cNvSpPr/>
          <p:nvPr/>
        </p:nvSpPr>
        <p:spPr>
          <a:xfrm>
            <a:off x="6851650" y="5139776"/>
            <a:ext cx="457200" cy="139599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MI Data Label"/>
          <p:cNvSpPr txBox="1"/>
          <p:nvPr/>
        </p:nvSpPr>
        <p:spPr>
          <a:xfrm>
            <a:off x="6492875" y="5288900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1912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9387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96862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14337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531812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649287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Middle East and Africa</a:t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88" name="TextBox 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1275" y="2172769"/>
            <a:ext cx="128699" cy="187198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8075" y="1491005"/>
            <a:ext cx="128699" cy="187198"/>
          </a:xfrm>
          <a:prstGeom prst="rect">
            <a:avLst/>
          </a:prstGeom>
        </p:spPr>
      </p:pic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34875" y="2676599"/>
            <a:ext cx="128699" cy="187198"/>
          </a:xfrm>
          <a:prstGeom prst="rect">
            <a:avLst/>
          </a:prstGeom>
        </p:spPr>
      </p:pic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150" y="4253659"/>
            <a:ext cx="128699" cy="187198"/>
          </a:xfrm>
          <a:prstGeom prst="rect">
            <a:avLst/>
          </a:prstGeom>
        </p:spPr>
      </p:pic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5194185"/>
            <a:ext cx="128699" cy="187198"/>
          </a:xfrm>
          <a:prstGeom prst="rect">
            <a:avLst/>
          </a:prstGeom>
        </p:spPr>
      </p:pic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1650" y="4532936"/>
            <a:ext cx="128699" cy="187198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400" y="5641235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5791857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5900" y="526197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8048625" y="1471995"/>
            <a:ext cx="35582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expected to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048625" y="1647255"/>
            <a:ext cx="26272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command the highest average price of US$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25004" y="1637031"/>
            <a:ext cx="134549" cy="195707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10800113" y="1647255"/>
            <a:ext cx="7066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in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048625" y="1822515"/>
            <a:ext cx="33853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 Average selling price of corrugated box packaging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048625" y="1997775"/>
            <a:ext cx="1902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is estimated at US$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00459" y="1987551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0075568" y="1997775"/>
            <a:ext cx="14166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in 2025 and is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048625" y="2173035"/>
            <a:ext cx="1764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projected to increase to US$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62396" y="2162811"/>
            <a:ext cx="134549" cy="195707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9937506" y="2173035"/>
            <a:ext cx="110568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by 2036.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8048625" y="2400873"/>
            <a:ext cx="37830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North America is the highest-priced region, while South Asia &amp;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048625" y="2576133"/>
            <a:ext cx="38215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Pacific is the most price-competitive market. Against the global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8048625" y="2751393"/>
            <a:ext cx="5269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of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4680" y="2741169"/>
            <a:ext cx="134549" cy="195707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8699789" y="2751393"/>
            <a:ext cx="30765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US$/Units, 2 of 6 regions price above and 4 below.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048625" y="2979230"/>
            <a:ext cx="21080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'North America' is the dearest at +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05842" y="2969007"/>
            <a:ext cx="134549" cy="195707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0280951" y="2979230"/>
            <a:ext cx="15994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Global, 'South Asia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048625" y="3154490"/>
            <a:ext cx="1653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&amp; Pacific' the cheapest at -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1433" y="314426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826542" y="3154490"/>
            <a:ext cx="17021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048625" y="3329750"/>
            <a:ext cx="23656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headroom in the lower-priced regions.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global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Rounded Rectangle 23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048625" y="2046987"/>
            <a:ext cx="36561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box packaging equipment market is projected to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8048625" y="2222247"/>
            <a:ext cx="5323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register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099" y="221202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705209" y="2222247"/>
            <a:ext cx="28568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increase in its revenue by the end of forecast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2397507"/>
            <a:ext cx="35323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period, 2036. Global corrugated box packaging equipment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2572767"/>
            <a:ext cx="23955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is expected to be valued at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93378" y="256254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568487" y="2572767"/>
            <a:ext cx="10797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 end.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048625" y="2800604"/>
            <a:ext cx="38124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It is projected to create overall incremental opportunity of US$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96564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209654" y="2975864"/>
            <a:ext cx="14556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from 2025 to 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048625" y="4456475"/>
            <a:ext cx="28688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leads regional growth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66614" y="444625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1041723" y="445647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4684312"/>
            <a:ext cx="38012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'Printing and Converting Equipment'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4859572"/>
            <a:ext cx="14907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Equipment Type.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48625" y="5087410"/>
            <a:ext cx="32912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048625" y="5315248"/>
            <a:ext cx="2741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52" name="lockshield_16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lockshield_19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global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Market, 2021–2025 (Historical)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Market, 2026–2036 (Forecast)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&amp; Value Analysis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6225" y="4972050"/>
            <a:ext cx="414534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box packaging equipment market is projected to register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70725" y="4961826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545835" y="4972050"/>
            <a:ext cx="6928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increase in its revenue by the end of forecast period, 2036. Global corrugated box packaging equipment market is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47310"/>
            <a:ext cx="18128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be valued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38204" y="513708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213313" y="5147310"/>
            <a:ext cx="10797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 end.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375147"/>
            <a:ext cx="38124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It is projected to create overall incremental opportunity of US$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37834" y="536492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212943" y="5375147"/>
            <a:ext cx="59581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from 2025 to 2036. Global corrugated box packaging equipment market is projected to register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20233" y="536492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295342" y="5375147"/>
            <a:ext cx="14762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increase in volume by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5550407"/>
            <a:ext cx="20290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end of forecast period,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778245"/>
            <a:ext cx="4165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 corrugated box packaging equipment market volume stood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90408" y="576802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65517" y="5778245"/>
            <a:ext cx="23436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Units in 2025 and is expected to reach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58354" y="576802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033464" y="5778245"/>
            <a:ext cx="19645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Units by 2036 end, at a CAGR of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947181" y="5768022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122290" y="5778245"/>
            <a:ext cx="23884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 Value is projected to grow faster than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953505"/>
            <a:ext cx="47084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 over the forecast period, owing to an increase in average selling price.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lockshield_15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6" cy="21320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98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1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90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718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718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718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718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718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2374032" cy="2004399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584082" y="1293011"/>
            <a:ext cx="1369293" cy="2004399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297410"/>
            <a:ext cx="1575606" cy="1459081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56491"/>
            <a:ext cx="1575606" cy="1122118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China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5785656" y="3297410"/>
            <a:ext cx="1189588" cy="1132386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975244" y="3297410"/>
            <a:ext cx="978131" cy="1132386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Brazil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785656" y="4429795"/>
            <a:ext cx="1187161" cy="80840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U.K.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785656" y="5238198"/>
            <a:ext cx="1187161" cy="640412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Japan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6972817" y="4429795"/>
            <a:ext cx="980558" cy="761836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972817" y="5191631"/>
            <a:ext cx="980558" cy="686979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Turkey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27746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102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8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81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11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47283" y="4512977"/>
            <a:ext cx="332867" cy="48417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39440" y="2295210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11102" y="2295210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40227" y="4026950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40227" y="5317550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22824" y="3863603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06683" y="3863603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21610" y="4833996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21610" y="5558404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05470" y="4810713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05470" y="5535120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08848" y="4492667"/>
            <a:ext cx="354517" cy="515661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44519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U.S. corrugated box packaging equipment market is projected to register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57147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824642" y="6160574"/>
            <a:ext cx="42988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 Germany in 2036. India posts the highest CAGR Index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71528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239024" y="6160574"/>
            <a:ext cx="7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77055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144551" y="6160574"/>
            <a:ext cx="4827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4177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global benchmark, while U.S. offers the largest absolute opportunity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82658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550154" y="6328214"/>
            <a:ext cx="33119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incremental market between 2026 and 2036 (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810152" y="6318435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977648" y="6328214"/>
            <a:ext cx="14835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increment).</a:t>
            </a:r>
          </a:p>
        </p:txBody>
      </p:sp>
      <p:sp>
        <p:nvSpPr>
          <p:cNvPr id="62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44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75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975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75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Malaysia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34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45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45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145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Japan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6537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1039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809750"/>
          </a:xfrm>
          <a:prstGeom prst="roundRect">
            <a:avLst>
              <a:gd name="adj" fmla="val 421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323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142875" y="2924175"/>
            <a:ext cx="11906250" cy="1504950"/>
          </a:xfrm>
          <a:prstGeom prst="roundRect">
            <a:avLst>
              <a:gd name="adj" fmla="val 506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009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248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333750"/>
            <a:ext cx="11639550" cy="10191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142875" y="4562475"/>
            <a:ext cx="39433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4648200"/>
            <a:ext cx="3676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88632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972050"/>
            <a:ext cx="3676650" cy="1571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4238625" y="4562475"/>
            <a:ext cx="3819525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4371975" y="4648200"/>
            <a:ext cx="35528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88632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4371975" y="4972050"/>
            <a:ext cx="3552825" cy="1571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8210550" y="4562475"/>
            <a:ext cx="3819525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343900" y="4648200"/>
            <a:ext cx="35528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88632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8343900" y="4972050"/>
            <a:ext cx="3552825" cy="1571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'Printing and Converting Equipment'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South Asia &amp; Pacific outpacing the global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3 equipment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45130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 corrugated box packaging equipment market is expected to witness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8418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13527" y="1400175"/>
            <a:ext cx="64017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increase in revenue by 2036 end. Global corrugated box packaging equipment market accounted for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64386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1439496" y="1400175"/>
            <a:ext cx="2778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575435"/>
            <a:ext cx="27575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2025, which is expected to increase to US$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2965" y="1565211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158074" y="1575435"/>
            <a:ext cx="15275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in 2036 at a CAGR of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4782" y="156521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09892" y="1575435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03273"/>
            <a:ext cx="115171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global corrugated box packaging equipment market has been analysed on the basis of equipment type, automation level, box style produced and end-use across the globe. North America is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1978533"/>
            <a:ext cx="98680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remain the largest market for corrugated box packaging equipment, while demand in South Asia &amp; Pacific is projected to increase at the highest CAGR of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3471" y="196830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68581" y="1978533"/>
            <a:ext cx="15030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throughout the forecast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2153793"/>
            <a:ext cx="500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343275"/>
            <a:ext cx="65676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consolidated: the leading equipment type category 'Printing and Converting Equipment'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3070" y="33330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6968180" y="3343275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571112"/>
            <a:ext cx="50935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6 regions and 7 segmentation lenses (3 equipment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798950"/>
            <a:ext cx="29509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regional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6367" y="378872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351477" y="3798950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981575"/>
            <a:ext cx="36576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'Printing and Converting Equipment'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156835"/>
            <a:ext cx="1204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14661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156835"/>
            <a:ext cx="490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384672"/>
            <a:ext cx="28770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South Asia &amp; Pacific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2424" y="537444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277533" y="5384672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612510"/>
            <a:ext cx="32328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Agriculture and fresh produce within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5787770"/>
            <a:ext cx="6310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end-use (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6397" y="577754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31507" y="5787770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4981575"/>
            <a:ext cx="32579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'Corrugated Board Production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371975" y="5156835"/>
            <a:ext cx="8360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Equipment'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57214" y="514661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5332323" y="515683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384672"/>
            <a:ext cx="32641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371975" y="5559932"/>
            <a:ext cx="562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549709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5058510" y="5559932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787770"/>
            <a:ext cx="2976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'Printing and Converting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371975" y="5963030"/>
            <a:ext cx="26945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Equipment' raises barriers for new entrants.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'Printing and Converting Equipment' and South Asia &amp; Pacific.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equipment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North America and South Asia &amp; Pacific.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equipment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30417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'Printing and Converting Equipment'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95395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62891" y="1836039"/>
            <a:ext cx="5430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6862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region North America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9898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107394" y="205397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3432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'Printing and Converting Equipment'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67573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735069" y="3267075"/>
            <a:ext cx="1323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3517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South Asia &amp; Pacific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7605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43553" y="3485007"/>
            <a:ext cx="21875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region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9220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'Printing and Converting Equipment'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6289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13785" y="3702939"/>
            <a:ext cx="4669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4210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'Printing and Converting Equipment' and adjacent premium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34715"/>
            <a:ext cx="3635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tiers.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652647"/>
            <a:ext cx="4580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equipment type categories gaining share to 2036.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305550" y="3870579"/>
            <a:ext cx="15943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860800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8015443" y="3870579"/>
            <a:ext cx="9244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4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'Printing and Converting Equipment' tier and Agriculture and fresh produce within end-use.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Region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5131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'Printing and Converting Equipment' with targeted growth in 'Printing and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260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Converting Equipment',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451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560" y="1575435"/>
            <a:ext cx="15518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958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'Printing and Converting Equipment'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467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358577" y="3219450"/>
            <a:ext cx="23447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'Printing and Converting Equipment'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94710"/>
            <a:ext cx="5465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anchors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1962" y="338448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47071" y="3394710"/>
            <a:ext cx="5865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3219450"/>
            <a:ext cx="17206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North America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5392" y="3209226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150501" y="3219450"/>
            <a:ext cx="2502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South Asia &amp; Pacific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2510" y="3209226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777620" y="3219450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038725"/>
            <a:ext cx="2706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Corrugated Box Packaging Equipment adds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1874" y="502850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106983" y="5038725"/>
            <a:ext cx="18151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71245" y="5028501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046354" y="5038725"/>
            <a:ext cx="8227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266563"/>
            <a:ext cx="62656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segment/region while seeding the fastest-growing pockets early.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494400"/>
            <a:ext cx="54494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'Printing and Converting Equipment' as the value anchor of the portfolio.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Corrugated Box Packaging Equipment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470654"/>
            <a:ext cx="635826" cy="834646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ectangle 16"/>
          <p:cNvSpPr/>
          <p:nvPr/>
        </p:nvSpPr>
        <p:spPr>
          <a:xfrm>
            <a:off x="3043936" y="3066191"/>
            <a:ext cx="635826" cy="1239109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ectangle 17"/>
          <p:cNvSpPr/>
          <p:nvPr/>
        </p:nvSpPr>
        <p:spPr>
          <a:xfrm>
            <a:off x="4025725" y="2896124"/>
            <a:ext cx="635826" cy="140917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ectangle 18"/>
          <p:cNvSpPr/>
          <p:nvPr/>
        </p:nvSpPr>
        <p:spPr>
          <a:xfrm>
            <a:off x="5007515" y="2705100"/>
            <a:ext cx="635826" cy="1600200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841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8066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endParaRPr/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5666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891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endParaRPr/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8491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3716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Corrugated Box Packaging Equipment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637332" y="1028326"/>
            <a:ext cx="1030634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OPTIMISTIC (2036)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6321" y="1481625"/>
            <a:ext cx="35711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08575" y="1473019"/>
            <a:ext cx="113255" cy="164734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807156" y="1028326"/>
            <a:ext cx="75866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LIKELY (2036)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940158" y="1481625"/>
            <a:ext cx="35711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42412" y="1473019"/>
            <a:ext cx="113255" cy="164734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48094" y="1028326"/>
            <a:ext cx="1220636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CONSERVATIVE (2036)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9912083" y="1481625"/>
            <a:ext cx="35711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14337" y="1473019"/>
            <a:ext cx="113255" cy="164734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032418" y="2862432"/>
            <a:ext cx="382383" cy="159867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854217"/>
            <a:ext cx="108107" cy="157246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032418" y="2605257"/>
            <a:ext cx="382383" cy="159867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597042"/>
            <a:ext cx="108107" cy="157246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032418" y="2348082"/>
            <a:ext cx="382383" cy="159867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339867"/>
            <a:ext cx="108107" cy="15724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208649" y="5372100"/>
            <a:ext cx="12038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1612" y="536187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2536721" y="5372100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848759" y="5599938"/>
            <a:ext cx="6980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5966" y="5589714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71076" y="5599938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370103" y="5827775"/>
            <a:ext cx="6980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310" y="5817552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192420" y="582777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78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Global Corrugated Box Packaging Equipment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– Regional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6 regions,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Region view breaks the Global market down geographically. Each region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Region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North America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East Asia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South Asia &amp; Pacific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Latin America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Middle East and Africa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5" name="Rounded Rectangle 6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Region Insights</a:t>
            </a:r>
          </a:p>
        </p:txBody>
      </p:sp>
      <p:sp>
        <p:nvSpPr>
          <p:cNvPr id="67" name="Rectangle 6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9" name="Rounded Rectangle 6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Region Overview</a:t>
            </a:r>
          </a:p>
        </p:txBody>
      </p:sp>
      <p:sp>
        <p:nvSpPr>
          <p:cNvPr id="71" name="Rectangle 7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Region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73" name="Rectangle 7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TextBox 7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7" name="Picture 76" descr="3_60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5_36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4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2_94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5_06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1_42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2_26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1_31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7" name="Picture 86" descr="2_31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873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0" name="Picture 89" descr="1_47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1" name="Picture 90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740_7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19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4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85775" y="4229437"/>
            <a:ext cx="24060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corrugated box packaging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85775" y="4397077"/>
            <a:ext cx="24571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 market is projected to register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890929" y="438729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3058425" y="4397077"/>
            <a:ext cx="1487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4564717"/>
            <a:ext cx="24317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higher value than Europe in 2036. Among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732357"/>
            <a:ext cx="2794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corrugated box packaging equipment by region,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899997"/>
            <a:ext cx="27056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South Asia &amp; Pacific is expected to witness the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5775" y="5067637"/>
            <a:ext cx="9907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424607" y="5057858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1592103" y="5067637"/>
            <a:ext cx="14846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28556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terms of value share by region, North America is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5453209"/>
            <a:ext cx="23888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dominate the market, losing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822716" y="544343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2990212" y="5453209"/>
            <a:ext cx="2887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620849"/>
            <a:ext cx="11422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accounting for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576057" y="5611070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743553" y="5620849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838575" y="4229437"/>
            <a:ext cx="10633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North America: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850003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5017499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76949" y="4219658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044445" y="4229437"/>
            <a:ext cx="1419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838575" y="4447369"/>
            <a:ext cx="6366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Europe: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423263" y="4437590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4590759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450209" y="4437590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5617705" y="444736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665301"/>
            <a:ext cx="7321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East Asia: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18727" y="4655522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686223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45673" y="4655522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13169" y="4665301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883233"/>
            <a:ext cx="13501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South Asia &amp; Pacific: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36770" y="4873454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304266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63716" y="4873454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331212" y="4883233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5101165"/>
            <a:ext cx="100826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Latin America: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794887" y="5091385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962383" y="510116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21833" y="5091385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989329" y="5101165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5319097"/>
            <a:ext cx="15053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Middle East and Africa: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91988" y="5309317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5459484" y="531909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318935" y="5309317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6486430" y="5319097"/>
            <a:ext cx="9413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486737"/>
            <a:ext cx="5187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8524875" y="5842641"/>
            <a:ext cx="30816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Global market is projected to grow at a CAGR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Analysis, By Region Volume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region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Region, 2026 &amp; 2036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551045" y="1597422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>
            <a:off x="4712970" y="159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4855845" y="1516459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Middle East and Africa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305550" y="157837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551045" y="189196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>
            <a:off x="4712970" y="18871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4855845" y="1810999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305550" y="187291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551045" y="2401331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4712970" y="23965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4855845" y="2320369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305550" y="238228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551045" y="312487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 rot="10800000">
            <a:off x="4712970" y="312011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4855845" y="3043912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305550" y="310582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551045" y="390209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 rot="10800000">
            <a:off x="4712970" y="389733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4855845" y="3821131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305550" y="388304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5" name="FMI Legend Chip"/>
          <p:cNvSpPr/>
          <p:nvPr/>
        </p:nvSpPr>
        <p:spPr>
          <a:xfrm>
            <a:off x="4551045" y="4717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Isosceles Triangle 35"/>
          <p:cNvSpPr/>
          <p:nvPr/>
        </p:nvSpPr>
        <p:spPr>
          <a:xfrm>
            <a:off x="4712970" y="471281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BPS Name 6"/>
          <p:cNvSpPr txBox="1"/>
          <p:nvPr/>
        </p:nvSpPr>
        <p:spPr>
          <a:xfrm>
            <a:off x="4855845" y="4636610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8" name="BPS Value 6"/>
          <p:cNvSpPr txBox="1"/>
          <p:nvPr/>
        </p:nvSpPr>
        <p:spPr>
          <a:xfrm>
            <a:off x="6305550" y="469852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9" name="Rounded Rectangle 38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3" name="Rounded Rectangle 42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(UNITS)</a:t>
            </a:r>
          </a:p>
          <a:p>
            <a:pPr algn="ctr">
              <a:lnSpc>
                <a:spcPct val="95000"/>
              </a:lnSpc>
            </a:pPr>
            <a:endParaRPr sz="1100" b="1">
              <a:solidFill>
                <a:srgbClr val="6C7A89"/>
              </a:solidFill>
              <a:latin typeface="Calibri"/>
            </a:endParaRPr>
          </a:p>
        </p:txBody>
      </p:sp>
      <p:sp>
        <p:nvSpPr>
          <p:cNvPr id="44" name="Rounded Rectangle 43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(UNITS)</a:t>
            </a:r>
          </a:p>
          <a:p>
            <a:pPr algn="ctr">
              <a:lnSpc>
                <a:spcPct val="95000"/>
              </a:lnSpc>
            </a:pPr>
            <a:endParaRPr sz="1100" b="1">
              <a:solidFill>
                <a:srgbClr val="6C7A89"/>
              </a:solidFill>
              <a:latin typeface="Calibri"/>
            </a:endParaRPr>
          </a:p>
        </p:txBody>
      </p:sp>
      <p:sp>
        <p:nvSpPr>
          <p:cNvPr id="45" name="Rounded Rectangle 44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endParaRPr sz="1100" b="1">
              <a:solidFill>
                <a:srgbClr val="6C7A89"/>
              </a:solidFill>
              <a:latin typeface="Calibri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863" y="3121818"/>
            <a:ext cx="343793" cy="500062"/>
          </a:xfrm>
          <a:prstGeom prst="rect">
            <a:avLst/>
          </a:prstGeom>
        </p:spPr>
      </p:pic>
      <p:pic>
        <p:nvPicPr>
          <p:cNvPr id="48" name="Picture 47" descr="2_658_537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4310" y="5897562"/>
            <a:ext cx="2740473" cy="482599"/>
          </a:xfrm>
          <a:prstGeom prst="rect">
            <a:avLst/>
          </a:prstGeom>
        </p:spPr>
      </p:pic>
      <p:pic>
        <p:nvPicPr>
          <p:cNvPr id="49" name="Picture 48" descr="4_076_35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78148" y="5897562"/>
            <a:ext cx="2740473" cy="482599"/>
          </a:xfrm>
          <a:prstGeom prst="rect">
            <a:avLst/>
          </a:prstGeom>
        </p:spPr>
      </p:pic>
      <p:pic>
        <p:nvPicPr>
          <p:cNvPr id="50" name="Picture 49" descr="4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65355" y="5897562"/>
            <a:ext cx="1309912" cy="48259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14657" y="5893409"/>
            <a:ext cx="337498" cy="490906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239000" y="1400175"/>
            <a:ext cx="4648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South Asia &amp; Pacific corrugated box packaging equipment market is projected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39000" y="1575435"/>
            <a:ext cx="6914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register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79646" y="156521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8054755" y="1575435"/>
            <a:ext cx="37097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volume than Europe in 2036. Among corrugated box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239000" y="1750695"/>
            <a:ext cx="45298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equipment by region, South Asia &amp; Pacific is expected to witness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239000" y="1925955"/>
            <a:ext cx="1263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highest CAGR of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52133" y="191573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8627242" y="192595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239000" y="2153793"/>
            <a:ext cx="42526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volume share by region, South Asia &amp; Pacific is expected to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239000" y="2329053"/>
            <a:ext cx="1837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dominate the market, gaining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25226" y="2318829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200335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95478" y="231882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0770588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239000" y="2504313"/>
            <a:ext cx="20835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North America is expected to lose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71685" y="249408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9446794" y="2504313"/>
            <a:ext cx="19263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239000" y="2679573"/>
            <a:ext cx="7551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account for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43258" y="2669349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118367" y="267957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72" name="lockshield_12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Analysis, By Region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region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Region, 2026 &amp; 2036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551045" y="15855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4712970" y="158078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4855845" y="1504583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Middle East and Africa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305550" y="156649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551045" y="1861846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>
            <a:off x="4712970" y="185708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4855845" y="1780883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305550" y="184279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551045" y="2249968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 rot="10800000">
            <a:off x="4712970" y="22452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4855845" y="2169006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305550" y="223091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551045" y="2725493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>
            <a:off x="4712970" y="272073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4855845" y="2644530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305550" y="270644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551045" y="349104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>
            <a:off x="4712970" y="34862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4855845" y="3410077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305550" y="347199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5" name="FMI Legend Chip"/>
          <p:cNvSpPr/>
          <p:nvPr/>
        </p:nvSpPr>
        <p:spPr>
          <a:xfrm>
            <a:off x="4551045" y="45727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Isosceles Triangle 35"/>
          <p:cNvSpPr/>
          <p:nvPr/>
        </p:nvSpPr>
        <p:spPr>
          <a:xfrm rot="10800000">
            <a:off x="4712970" y="45680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BPS Name 6"/>
          <p:cNvSpPr txBox="1"/>
          <p:nvPr/>
        </p:nvSpPr>
        <p:spPr>
          <a:xfrm>
            <a:off x="4855845" y="4491814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38" name="BPS Value 6"/>
          <p:cNvSpPr txBox="1"/>
          <p:nvPr/>
        </p:nvSpPr>
        <p:spPr>
          <a:xfrm>
            <a:off x="6305550" y="455372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9" name="Rounded Rectangle 38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3" name="Rounded Rectangle 42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endParaRPr sz="1100" b="1">
              <a:solidFill>
                <a:srgbClr val="6C7A89"/>
              </a:solidFill>
              <a:latin typeface="Calibri"/>
            </a:endParaRPr>
          </a:p>
        </p:txBody>
      </p:sp>
      <p:sp>
        <p:nvSpPr>
          <p:cNvPr id="44" name="Rounded Rectangle 43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endParaRPr sz="1100" b="1">
              <a:solidFill>
                <a:srgbClr val="6C7A89"/>
              </a:solidFill>
              <a:latin typeface="Calibri"/>
            </a:endParaRPr>
          </a:p>
        </p:txBody>
      </p:sp>
      <p:sp>
        <p:nvSpPr>
          <p:cNvPr id="45" name="Rounded Rectangle 44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endParaRPr sz="1100" b="1">
              <a:solidFill>
                <a:srgbClr val="6C7A89"/>
              </a:solidFill>
              <a:latin typeface="Calibri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863" y="3121818"/>
            <a:ext cx="343793" cy="500062"/>
          </a:xfrm>
          <a:prstGeom prst="rect">
            <a:avLst/>
          </a:prstGeom>
        </p:spPr>
      </p:pic>
      <p:pic>
        <p:nvPicPr>
          <p:cNvPr id="48" name="Picture 47" descr="10_900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75203" y="5897562"/>
            <a:ext cx="1878689" cy="482599"/>
          </a:xfrm>
          <a:prstGeom prst="rect">
            <a:avLst/>
          </a:prstGeom>
        </p:spPr>
      </p:pic>
      <p:pic>
        <p:nvPicPr>
          <p:cNvPr id="49" name="Picture 48" descr="17_67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09041" y="5897562"/>
            <a:ext cx="1878689" cy="482599"/>
          </a:xfrm>
          <a:prstGeom prst="rect">
            <a:avLst/>
          </a:prstGeom>
        </p:spPr>
      </p:pic>
      <p:pic>
        <p:nvPicPr>
          <p:cNvPr id="50" name="Picture 49" descr="5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65355" y="5897562"/>
            <a:ext cx="1309912" cy="48259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14657" y="5893409"/>
            <a:ext cx="337498" cy="490906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239000" y="1400175"/>
            <a:ext cx="45449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North America corrugated box packaging equipment market is projected to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39000" y="1575435"/>
            <a:ext cx="5323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register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20474" y="156521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895584" y="1575435"/>
            <a:ext cx="35859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Europe in 2036. Among corrugated box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239000" y="1750695"/>
            <a:ext cx="45298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equipment by region, South Asia &amp; Pacific is expected to witness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239000" y="1925955"/>
            <a:ext cx="1263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highest CAGR of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52133" y="191573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8627242" y="192595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239000" y="2153793"/>
            <a:ext cx="4648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region, North America is expected to dominate the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239000" y="2329053"/>
            <a:ext cx="9185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losing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06708" y="2318829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8281817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76961" y="231882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852070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66" name="lockshield_12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Share Analysis, By Region Volume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region,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19425"/>
          </a:xfrm>
          <a:prstGeom prst="roundRect">
            <a:avLst>
              <a:gd name="adj" fmla="val 25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Size, By Region (Units)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97441" cy="2552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185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425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9082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8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8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8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8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9673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Pacific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9673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8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004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133850"/>
            <a:ext cx="11906250" cy="2495550"/>
          </a:xfrm>
          <a:prstGeom prst="roundRect">
            <a:avLst>
              <a:gd name="adj" fmla="val 30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2195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Share Read-out, By Region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457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543425"/>
            <a:ext cx="11639550" cy="2009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67355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552950"/>
            <a:ext cx="533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South Asia &amp; Pacific corrugated box packaging equipment market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9378" y="454272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34488" y="4552950"/>
            <a:ext cx="60257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volume than Europe in 2036. Among corrugated box packaging equipment by region, South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4728210"/>
            <a:ext cx="34347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Asia &amp; Pacific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60140" y="471798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835249" y="4728210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56047"/>
            <a:ext cx="60465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volume share by region, South Asia &amp; Pacific is expected to dominate the market, gaining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1943" y="494582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447052" y="4956047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42195" y="494582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017304" y="4956047"/>
            <a:ext cx="29866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North America is expected to lose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53104" y="494582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1128213" y="4956047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131307"/>
            <a:ext cx="23830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08427" y="512108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2783536" y="5131307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Share Analysis, By Region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region,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Size, By Region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51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0541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and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Share Read-out, By Region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6908" y="208045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971925"/>
            <a:ext cx="503419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North America corrugated box packaging equipment market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59577" y="39617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434686" y="3971925"/>
            <a:ext cx="63127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Europe in 2036. Among corrugated box packaging equipment by region, South Asia &amp;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4147185"/>
            <a:ext cx="30239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Pacific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9374" y="413696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24484" y="414718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375022"/>
            <a:ext cx="55416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region, North America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7043" y="436479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5942153" y="437502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37296" y="436479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512405" y="437502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Trends, By Region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regional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By Region (Units)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533525"/>
            <a:ext cx="2057400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500"/>
              </a:spcBef>
            </a:pPr>
            <a:r>
              <a:rPr sz="900">
                <a:solidFill>
                  <a:srgbClr val="008189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South Asia &amp; Pacific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9E7E0A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Europe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3D85C6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North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40315E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East Asia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A35313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Latin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808080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Middle East and Africa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By Region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21" name="FMI Dense Legend"/>
          <p:cNvSpPr txBox="1"/>
          <p:nvPr/>
        </p:nvSpPr>
        <p:spPr>
          <a:xfrm>
            <a:off x="9839325" y="4419600"/>
            <a:ext cx="2057400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500"/>
              </a:spcBef>
            </a:pPr>
            <a:r>
              <a:rPr sz="900">
                <a:solidFill>
                  <a:srgbClr val="3D85C6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North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9E7E0A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Europe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40315E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South Asia &amp; Pacific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008189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East Asia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A35313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Latin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808080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Middle East and Africa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930765" y="1407795"/>
            <a:ext cx="452511" cy="11231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611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30765" y="4293870"/>
            <a:ext cx="452511" cy="11231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611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5" name="lockshield_12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lockshield_18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global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by country  ·  2036 (US$ Mn)  ·  tile size = market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38125" y="1266825"/>
            <a:ext cx="3247784" cy="5305425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485909" y="1266825"/>
            <a:ext cx="3442331" cy="2887119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485909" y="4153944"/>
            <a:ext cx="3442331" cy="2418306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928240" y="1266825"/>
            <a:ext cx="2852376" cy="224448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China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9780616" y="1266825"/>
            <a:ext cx="2173259" cy="2244483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928240" y="3511308"/>
            <a:ext cx="2445628" cy="1639977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Brazil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928240" y="5151284"/>
            <a:ext cx="2445628" cy="1420966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U.K.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9373868" y="3511308"/>
            <a:ext cx="1301342" cy="2115506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Japan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0675210" y="3511308"/>
            <a:ext cx="1278665" cy="2115506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9373868" y="5626814"/>
            <a:ext cx="2580007" cy="945436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Turkey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07578" y="3919537"/>
            <a:ext cx="308877" cy="449275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52636" y="2710384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52636" y="5363097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9989" y="2389066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12807" y="238906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6615" y="433129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6615" y="586176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70100" y="4569061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60104" y="4569061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09433" y="6099532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Equipment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Automation Level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Box Style Produced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End-use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Customer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Equipment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Equipment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Equipment Type,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Equipment Type segment categorizes the market by equipment type.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Printing and Converting Equipment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Corrugated Board Production Equip…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Finishing and Box Assembly Equipm…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44" name="Rounded Rectangle 43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8" name="Rounded Rectangle 47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Equipment Type split shows how demand is distributed across equipment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2" name="Rectangle 51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6" name="Picture 55" descr="5_11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8_75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3_06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4_47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3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2_72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4_451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5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485775" y="4229437"/>
            <a:ext cx="269190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85775" y="4390371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equipment type, printing and converting equipment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551305"/>
            <a:ext cx="290484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segment is expected to witness the highest CAGR of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846" y="4702852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633642" y="4712240"/>
            <a:ext cx="270788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forecast period. In terms of value share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873174"/>
            <a:ext cx="266230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by equipment type, the printing and converting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5034109"/>
            <a:ext cx="273722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equipment segment is expected to dominate the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485775" y="5195043"/>
            <a:ext cx="92435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market, gaining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57210" y="5185655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1518006" y="5195043"/>
            <a:ext cx="133402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799111" y="5185655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85775" y="5355977"/>
            <a:ext cx="87510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85775" y="5565192"/>
            <a:ext cx="259577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Printing and converting equipment segment is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726126"/>
            <a:ext cx="119781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projected to register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630672" y="5716739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791468" y="5726126"/>
            <a:ext cx="112866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X higher value than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887061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corrugated board production equipment segment in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6047995"/>
            <a:ext cx="38240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2265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Printing and Converting Equipment: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13139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180635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040085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207581" y="4229437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11525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leads 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25542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Corrugated Board Production Equipment: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40834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508330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367780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3838575" y="478264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4434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Finishing and Box Assembly Equipment: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30056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397552" y="500058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257002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7424498" y="5000581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5168221"/>
            <a:ext cx="909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1289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Equipment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Equipment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Equipment Type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Equipment Type mix within each region (share of 2036 value) · row label = region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Equipment Type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1820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Printing and converting equipment followed by finishing and box assembly equipment are expected to be the two most attractive equipment type segments in the global corrugated box packaging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93905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 market in terms of value over the forecast period. Printing and converting equipment and finishing and box assembly equipment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574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9763239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0113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0168629" y="5861685"/>
            <a:ext cx="15130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7661" y="6019545"/>
            <a:ext cx="128699" cy="187198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565157" y="602932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051" y="6019545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70547" y="602932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24951" y="6019545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692447" y="6029325"/>
            <a:ext cx="78762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corrugated board production equipment segment is expected to be less attractive as compared to other segments over the forecast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79220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period, owing to its lower CAGR and incremental opportunity. Bubbles right of the CAGR-Index line grow faster than the 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Equipment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Equipment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Corrugated Board Production Equipment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Printing and Converting Equipment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Finishing and Box Assembly Equipment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Equipment Type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55755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printing and converting equipment segment is anticipated to witness an increase of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91470" y="445128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6466579" y="4461510"/>
            <a:ext cx="54115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 terms of value as compared to 2026. The printing and converting equipment segment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636770"/>
            <a:ext cx="34091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is expected to create an incremental opportunity of US$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63810" y="462654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38919" y="4636770"/>
            <a:ext cx="18402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4812029"/>
            <a:ext cx="32408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box packaging equipment market from 2026 to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305550" y="5039867"/>
            <a:ext cx="53531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finishing and box assembly equipment segment is expected to create an incremental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5215127"/>
            <a:ext cx="1208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 of US$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63647" y="5204904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38756" y="5215127"/>
            <a:ext cx="41824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5390387"/>
            <a:ext cx="55911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to 2036. The corrugated board production equipment segment is expected to create an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5565647"/>
            <a:ext cx="19568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incremental opportunity of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11582" y="555542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386692" y="5565647"/>
            <a:ext cx="34011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740907"/>
            <a:ext cx="16798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from 2026 to 2036.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Equipment Type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Equipment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Equipment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7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737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252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361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Single facers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Double facers and gluing systems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Slitter-scorers, cut-off machines and corrugator stackers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Reel stands, splicers, preheaters and other corrugator auxiliaries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Integrated flexo printer-slotter-die-cutter lines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flexo printing and printer-slotter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Digital corrugated 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Corrugated liner pre-printing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flatbed die-cutters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rotary die-cutters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slotting, scoring and creasing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46164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Equipment Type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Equipment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Equipment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928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1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16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863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635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Equipment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7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4074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9982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475092" y="3724275"/>
            <a:ext cx="67471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corrugated board production equipment segment in 2036. Among corrugated box packaging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899535"/>
            <a:ext cx="71442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by equipment type, printing and converting equipment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9582" y="388931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44691" y="389953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27372"/>
            <a:ext cx="81737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equipment type, the printing and converting equipment segment is expected to dominate the market, gaining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99081" y="411714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574190" y="412737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69334" y="411714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144443" y="4127372"/>
            <a:ext cx="1200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The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4302632"/>
            <a:ext cx="41727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board production equipment segment is expected to lose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8110" y="4292409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573219" y="4302632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0724" y="429240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335833" y="430263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Equipment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Equipment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Equipment Type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2246818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>
            <a:off x="5090922" y="224205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216585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Finishing and Box Assembly Equipment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222776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3400537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339577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331957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Corrugated Board Production Equipment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338148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511116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510640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503020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Printing and Converting Equipment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509211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Equipment Type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29550" y="1400175"/>
            <a:ext cx="39439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equipment type,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575435"/>
            <a:ext cx="40432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expected to witness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829550" y="1750695"/>
            <a:ext cx="1263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highest CAGR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42683" y="174047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217792" y="1750695"/>
            <a:ext cx="25815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 In terms of value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925955"/>
            <a:ext cx="39379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equipment type, the printing and converting equipment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829550" y="2101215"/>
            <a:ext cx="3245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dominate the market, gaining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24645" y="2090991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1199754" y="2101215"/>
            <a:ext cx="554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76475"/>
            <a:ext cx="9342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accounting for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12947" y="22662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888056" y="2276475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504313"/>
            <a:ext cx="39938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corrugated board production equipment segment is expected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79573"/>
            <a:ext cx="475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lose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54544" y="26693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429653" y="2679573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17158" y="266934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1192267" y="2679573"/>
            <a:ext cx="4036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54832"/>
            <a:ext cx="5856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52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Automation Level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Automation Level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Automation Level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Automation Level,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Automation Level segment categorizes the market by automation level.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Semi-automatic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Fully automatic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Manual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4" name="Rounded Rectangle 43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8" name="Rounded Rectangle 47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Automation Level split shows how demand is distributed across automation level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2" name="Rectangle 51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6" name="Picture 55" descr="5_2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8_83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4_69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7_43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4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996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1_40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3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485775" y="4229437"/>
            <a:ext cx="2800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85775" y="4397077"/>
            <a:ext cx="26363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automation level, semi-automatic segment is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564717"/>
            <a:ext cx="23812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witness the highest CAGR of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815059" y="455493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982555" y="4564717"/>
            <a:ext cx="3313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732357"/>
            <a:ext cx="26991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period. In terms of value share by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899997"/>
            <a:ext cx="2857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automation level, the semi-automatic segment is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485775" y="5067637"/>
            <a:ext cx="24666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dominate the market, gaining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900479" y="50578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067974" y="5067637"/>
            <a:ext cx="2887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235277"/>
            <a:ext cx="11422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accounting for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576057" y="5225498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743553" y="5235277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453209"/>
            <a:ext cx="28156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Semi-automatic segment is projected to register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307" y="561107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39803" y="5620849"/>
            <a:ext cx="27174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 fully automatic segment in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788489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1274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Semi-automatic: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14123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081619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41069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108565" y="422943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447369"/>
            <a:ext cx="11040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Fully automatic: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890658" y="4437590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5058154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17604" y="443759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085100" y="444736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665301"/>
            <a:ext cx="6617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Manual: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48366" y="4655522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615861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75312" y="4655522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642807" y="4665301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Automation Level segment is projected to grow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Automation Level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Automation Level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Automation Level mix within each region (share of 2036 value) · row label = region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Automation Level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4156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Semi-automatic followed by fully automatic are expected to be the two most attractive automation level segments in the global corrugated box packaging equipment market in terms of value over the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43937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period. Semi-automatic and fully automatic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99012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766508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0440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5171898" y="586168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80872" y="585190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6948367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86262" y="585190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353758" y="586168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08162" y="585190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075658" y="5861685"/>
            <a:ext cx="13332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manual segment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6029325"/>
            <a:ext cx="115397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expected to be less attractive as compared to other segments over the forecast period, owing to its lower CAGR and incremental opportunity. Bubbles right of the CAGR-Index line grow faster than the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10849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Automation Level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Automation Level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Manual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Semi-automatic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Fully automatic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40762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Automation Level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38907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05550" y="4474795"/>
            <a:ext cx="5610225" cy="206888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484320"/>
            <a:ext cx="44300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semi-automatic segment is anticipated to witness an increase of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684712" y="447409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859821" y="4484320"/>
            <a:ext cx="829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 terms of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659580"/>
            <a:ext cx="49315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value as compared to 2026. The semi-automatic segment is expected to create an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834840"/>
            <a:ext cx="19568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incremental opportunity of US$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11582" y="4824616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386692" y="4834840"/>
            <a:ext cx="34011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305550" y="5010100"/>
            <a:ext cx="16798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from 2026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5237938"/>
            <a:ext cx="51346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fully automatic segment is expected to create an incremental opportunity of US$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389311" y="5227714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11564420" y="5237938"/>
            <a:ext cx="2778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5413197"/>
            <a:ext cx="55336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 the overall corrugated box packaging equipment market from 2026 to 2036. The manual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5588457"/>
            <a:ext cx="39559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create an incremental opportunity of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10642" y="557823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385751" y="5588457"/>
            <a:ext cx="11521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763717"/>
            <a:ext cx="39288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box packaging equipment market from 2026 to 2036.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Automation Level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Automation Level,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Automation Level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161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Automation Level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Semi-automatic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Fully 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Automation Level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7386" y="1713738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238500"/>
            <a:ext cx="29401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Semi-automatic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65528" y="32282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340637" y="3238500"/>
            <a:ext cx="81246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fully automatic segment in 2036. Among corrugated box packaging equipment by automation level, semi-automatic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413760"/>
            <a:ext cx="31566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2018" y="340353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57127" y="3413760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41597"/>
            <a:ext cx="7086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automation level, the semi-automatic segment is expected to dominate the market, gaining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1408" y="363137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486517" y="3641597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81660" y="363137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056770" y="3641597"/>
            <a:ext cx="23473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The manual segment is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3816857"/>
            <a:ext cx="10549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lose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80285" y="380663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455394" y="3816857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2898" y="380663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218008" y="3816857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Automation Level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Automation Level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Automation Level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8531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184839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77219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Manual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83410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299660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299184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2915642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Fully automatic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297755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510089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50961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5019931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Semi-automatic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508184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Automation Level</a:t>
            </a:r>
          </a:p>
        </p:txBody>
      </p:sp>
      <p:sp>
        <p:nvSpPr>
          <p:cNvPr id="29" name="Rectangle 28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29550" y="1400175"/>
            <a:ext cx="40018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automation level,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575435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semi-automatic segment is expected to witness the highest CAGR of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174047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990579" y="1750695"/>
            <a:ext cx="38469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 In terms of value share by automation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25955"/>
            <a:ext cx="3830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level, the semi-automatic segment is expected to dominate the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101215"/>
            <a:ext cx="9998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gaining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78556" y="209099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953665" y="2101215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8808" y="209099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523917" y="2101215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29053"/>
            <a:ext cx="24560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manual segment is expected to lose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34777" y="2318829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409886" y="2329053"/>
            <a:ext cx="13461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504313"/>
            <a:ext cx="13353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 to account for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14014" y="249408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289123" y="250431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9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Box Style Produced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Box Style Produced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Box Style Produced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Box Style Produced,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Box Style Produced segment categorizes the market by box style produced.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Folders and Telescopic Boxes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Slotted Shipping Boxes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Wraparound Cases and Sleeves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Die-cut Boxes and Mailers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Protective and Internal Packaging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Trays and Retail-ready Boxes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65" name="Rounded Rectangle 6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7" name="Rectangle 6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69" name="Rounded Rectangle 6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1" name="Rectangle 7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Box Style Produced split shows how demand is distributed across box style produced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3" name="Rectangle 7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TextBox 7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7" name="Picture 76" descr="3_19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4_77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4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2_38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3_67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4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_12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3_94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1_53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7" name="Picture 86" descr="2_64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1_21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0" name="Picture 89" descr="1_64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1" name="Picture 90" descr="3_1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461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988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7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85775" y="4229437"/>
            <a:ext cx="2800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85775" y="4397077"/>
            <a:ext cx="28074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box style produced, trays and retail-ready boxes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564717"/>
            <a:ext cx="28748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is expected to witness the highest CAGR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4732357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6261" y="472257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93757" y="4732357"/>
            <a:ext cx="24726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 the forecast period. In terms of value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899997"/>
            <a:ext cx="2600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box style produced, the folders and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5775" y="5067637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telescopic boxes segment is expected to dominate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85775" y="5235277"/>
            <a:ext cx="11034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market, losing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537312" y="522549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1704808" y="5235277"/>
            <a:ext cx="1386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039293" y="522549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5402917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562084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Folders and telescopic boxes segment is projected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788489"/>
            <a:ext cx="6647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 register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567" y="5778710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266063" y="5788489"/>
            <a:ext cx="19026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 wraparound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956129"/>
            <a:ext cx="20819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cases and sleeves segment in 2036.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0862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Folders and Telescopic Boxes: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94282" y="4220049"/>
            <a:ext cx="123551" cy="179710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755078" y="4229437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80150" y="4220049"/>
            <a:ext cx="123551" cy="179710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40946" y="4229437"/>
            <a:ext cx="91045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90371"/>
            <a:ext cx="58173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99586"/>
            <a:ext cx="146420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Slotted Shipping Boxes: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49863" y="4590198"/>
            <a:ext cx="123551" cy="179710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5410659" y="4599586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5731" y="4590198"/>
            <a:ext cx="123551" cy="179710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6396527" y="4599586"/>
            <a:ext cx="121299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808800"/>
            <a:ext cx="192678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Wraparound Cases and Sleeves: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712444" y="4799413"/>
            <a:ext cx="123551" cy="179710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873240" y="4808800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98313" y="4799413"/>
            <a:ext cx="123551" cy="179710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6859109" y="4808800"/>
            <a:ext cx="85335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969735"/>
            <a:ext cx="40545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178949"/>
            <a:ext cx="164127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Die-cut Boxes and Mailers: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426933" y="5169562"/>
            <a:ext cx="123551" cy="179710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5587729" y="5178949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12801" y="5169562"/>
            <a:ext cx="123551" cy="179710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6573597" y="5178949"/>
            <a:ext cx="121299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838575" y="5388164"/>
            <a:ext cx="205042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Protective and Internal Packaging: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36079" y="5378776"/>
            <a:ext cx="123551" cy="179710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996875" y="5388164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821947" y="5378776"/>
            <a:ext cx="123551" cy="179710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6982743" y="5388164"/>
            <a:ext cx="85335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549099"/>
            <a:ext cx="40545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758313"/>
            <a:ext cx="179136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Trays and Retail-ready Boxes: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77023" y="5748925"/>
            <a:ext cx="123551" cy="179710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737819" y="5758313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62891" y="5748925"/>
            <a:ext cx="123551" cy="179710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723687" y="5758313"/>
            <a:ext cx="74202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919248"/>
            <a:ext cx="47670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Box Style Produced segment is projected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Box Style Produced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Box Style Produced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Box Style Produced mix within each region (share of 2036 value) · row label = region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Box Style Produced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6423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Folders and telescopic boxes followed by wraparound cases and sleeves are expected to be the two most attractive box style produced segments in the global corrugated box packaging equipment market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74884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terms of value over the forecast period. Folders and telescopic boxes and wraparound cases and sleeves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93665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861161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905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266551" y="586168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75524" y="585190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043020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80914" y="585190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448410" y="5861685"/>
            <a:ext cx="7935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7175" y="6029325"/>
            <a:ext cx="18573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segment average of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62601" y="6019545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30097" y="6029325"/>
            <a:ext cx="95531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protective and internal packaging segment is expected to be less attractive as compared to other segments over the forecast period, owing to its lower CAGR and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58382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opportunity. Bubbles right of the CAGR-Index line grow faster than the 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Box Style Produced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Box Style Produced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Slotted Shipping Boxes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Die-cut Boxes and Mailers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Trays and Retail-ready Boxes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Folders and Telescopic Boxes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Box Style Produced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Box Style Produced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Protective and Internal Packaging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Wraparound Cases and Sleeves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40762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Box Style Produced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50299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6305550" y="1588720"/>
            <a:ext cx="5610225" cy="496448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598245"/>
            <a:ext cx="53045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wraparound cases and sleeves segment is anticipated to witness an increase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59300" y="158802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734409" y="1598245"/>
            <a:ext cx="1520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773505"/>
            <a:ext cx="51554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as compared to 2026. The wraparound cases and sleeves segment is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948765"/>
            <a:ext cx="32853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create an incremental opportunity of US$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0010" y="193854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715119" y="1948765"/>
            <a:ext cx="20903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2124025"/>
            <a:ext cx="29906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equipment market from 2026 to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2351863"/>
            <a:ext cx="55911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folders and telescopic boxes segment is expected to create an incremental opportunity of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527123"/>
            <a:ext cx="311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65953" y="251689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741062" y="2527123"/>
            <a:ext cx="50379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 2026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2702383"/>
            <a:ext cx="55713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slotted shipping boxes segment is expected to create an incremental opportunity of US$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91470" y="2867419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6579" y="2877643"/>
            <a:ext cx="50379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 2026 to 2036.</a:t>
            </a:r>
          </a:p>
        </p:txBody>
      </p:sp>
      <p:sp>
        <p:nvSpPr>
          <p:cNvPr id="38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Box Style Produced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Box Style Produced,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Box Style Produced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84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Style Produced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Slotted Shipping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Die-cut Boxes and Mailers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Trays and Retail-ready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Folders and Telescopic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Protective and Internal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Wraparound Cases and Sleeves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Box Style Produced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1412" y="208045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971925"/>
            <a:ext cx="37026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Folders and telescopic boxes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7980" y="39617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103089" y="3971925"/>
            <a:ext cx="75592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wraparound cases and sleeves segment in 2036. Among corrugated box packaging equipment by box style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4147185"/>
            <a:ext cx="54831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produced, trays and retail-ready boxes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8548" y="413696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83658" y="414718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375022"/>
            <a:ext cx="78787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box style produced, the folders and telescopic boxes segment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4129" y="436479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279238" y="437502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74381" y="436479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849490" y="437502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Box Style Produced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Box Style Produced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Box Style Produced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79908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>
            <a:off x="5090922" y="179432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71812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Trays and Retail-ready Boxes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78003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21402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213544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205924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Protective and Internal Packaging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212116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269531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269054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2614348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Die-cut Boxes and Mailers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267626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928997" y="3512238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 rot="10800000">
            <a:off x="5090922" y="350747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5233797" y="343127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Slotted Shipping Boxes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896100" y="349318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928997" y="449792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>
            <a:off x="5090922" y="44931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5233797" y="4416958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Wraparound Cases and Sleeves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896100" y="447887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5" name="FMI Legend Chip"/>
          <p:cNvSpPr/>
          <p:nvPr/>
        </p:nvSpPr>
        <p:spPr>
          <a:xfrm>
            <a:off x="4928997" y="562606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Isosceles Triangle 35"/>
          <p:cNvSpPr/>
          <p:nvPr/>
        </p:nvSpPr>
        <p:spPr>
          <a:xfrm rot="10800000">
            <a:off x="5090922" y="5621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BPS Name 6"/>
          <p:cNvSpPr txBox="1"/>
          <p:nvPr/>
        </p:nvSpPr>
        <p:spPr>
          <a:xfrm>
            <a:off x="5233797" y="554509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Folders and Telescopic Boxes</a:t>
            </a:r>
          </a:p>
        </p:txBody>
      </p:sp>
      <p:sp>
        <p:nvSpPr>
          <p:cNvPr id="38" name="BPS Value 6"/>
          <p:cNvSpPr txBox="1"/>
          <p:nvPr/>
        </p:nvSpPr>
        <p:spPr>
          <a:xfrm>
            <a:off x="6896100" y="560701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9" name="Rounded Rectangle 38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Box Style Produced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29550" y="1400175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box style produced,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575435"/>
            <a:ext cx="38546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trays and retail-ready boxes segment is expected to witness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1750695"/>
            <a:ext cx="1032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11057" y="174047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986166" y="175069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978533"/>
            <a:ext cx="37477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box style produced, the folders and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153793"/>
            <a:ext cx="37941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telescopic boxes segment is expected to dominate the market,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2329053"/>
            <a:ext cx="423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losing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01772" y="2318829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376881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2025" y="231882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947134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57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End-use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End-use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End-use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9 sub-segments of End-use,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End-use segment categorizes the market by end-use.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Personal care and household produ…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Processed food and beverages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Electrical and electronics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end uses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8" name="Rounded Rectangle 5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2" name="Rounded Rectangle 6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End-use split shows how demand is distributed across end-use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0" name="Picture 69" descr="2_05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3_17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81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65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3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1_66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7" name="Picture 76" descr="2_48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8" name="Picture 77" descr="4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79" name="Picture 78" descr="1_29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0" name="Picture 79" descr="2_74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1" name="Picture 80" descr="7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2" name="Picture 81" descr="1_276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3" name="Picture 82" descr="2_31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4" name="Picture 83" descr="6_2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485775" y="4229437"/>
            <a:ext cx="2800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85775" y="4397077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end-use, agriculture and fresh produce segment is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564717"/>
            <a:ext cx="23812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witness the highest CAGR of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815059" y="455493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2982555" y="4564717"/>
            <a:ext cx="3313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732357"/>
            <a:ext cx="26991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period. In terms of value share by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899997"/>
            <a:ext cx="24639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end-use, the personal care and household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85775" y="5067637"/>
            <a:ext cx="27280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segment is expected to dominate the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485775" y="5235277"/>
            <a:ext cx="8819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market, losing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315757" y="522549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483253" y="5235277"/>
            <a:ext cx="1386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817737" y="5225498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5402917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5620849"/>
            <a:ext cx="28944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 segment is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788489"/>
            <a:ext cx="124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projected to register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678376" y="577871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1845872" y="5788489"/>
            <a:ext cx="11725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5956129"/>
            <a:ext cx="25002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electrical and electronics segment in 2036.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4229437"/>
            <a:ext cx="24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Personal care and household products: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192978" y="4219658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60474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219924" y="4219658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87420" y="4229437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4397077"/>
            <a:ext cx="11525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leads the segment.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4615009"/>
            <a:ext cx="20472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Pharmaceuticals and healthcare: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833906" y="460523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001402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860852" y="4605230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7028348" y="4615009"/>
            <a:ext cx="7872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000581"/>
            <a:ext cx="19583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Processed food and beverages: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744956" y="4990801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5912452" y="500058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771902" y="4990801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6939398" y="5000581"/>
            <a:ext cx="8857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5168221"/>
            <a:ext cx="4191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3838575" y="5386153"/>
            <a:ext cx="16412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Electrical and electronics: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427903" y="5376373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5595398" y="538615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454849" y="5376373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6622345" y="5386153"/>
            <a:ext cx="8857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5553793"/>
            <a:ext cx="4191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3838575" y="5771725"/>
            <a:ext cx="10925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end uses: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879198" y="5761945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5046694" y="577172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906144" y="5761945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6073640" y="5771725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524875" y="5842641"/>
            <a:ext cx="28822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End-use segment is projected to grow at a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End-use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9 sub-segments of End-use,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End-use segment categorizes the market by end-use.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 shipping and fulfillme…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Retail-ready and point-of-sale pa…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Industrial machinery, automotive…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Agriculture and fresh produce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_27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00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94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1_24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2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291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426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3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281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622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8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195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 shipping and fulfillment: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753382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2087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780328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947824" y="4229437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25182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Retail-ready and point-of-sale packaging: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52048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3119543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978994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146489" y="444736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31763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● Industrial machinery, automotive and components: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10166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3777661" y="4665301"/>
            <a:ext cx="9264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5211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4819614" y="4665301"/>
            <a:ext cx="12846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CAGR serves a niche.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19296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Agriculture and fresh produce: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63507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2531003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390453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3557949" y="4883233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End-use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End-use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End-use mix within each region (share of 2036 value) · row label = region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End-use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3913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Electrical and electronics followed by personal care and household products are expected to be the two most attractive end-use segments in the global corrugated box packaging equipment market in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75886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terms of value over the forecast period. Electrical and electronics and personal care and household products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9383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961327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9922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366717" y="586168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75691" y="585190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143186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81081" y="585190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548577" y="5861685"/>
            <a:ext cx="7935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7175" y="6029325"/>
            <a:ext cx="18573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segment average of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62601" y="6019545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30097" y="6029325"/>
            <a:ext cx="9573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industrial machinery, automotive and components segment is expected to be less attractive as compared to other segments over the forecast period, owing to its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67902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lower CAGR and incremental opportunity. Bubbles right of the CAGR-Index line grow faster than the 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End-use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End-use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Agriculture and fresh produce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Processed food and beverages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E-commerce shipping and fulfillment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Retail-ready and point-of-sale packaging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End-use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End-use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Personal care and household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Electrical and electronics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Pharmaceuticals and healthcare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Industrial machinery, automotive and components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End-use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End-use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end uses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End-use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49785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electrical and electronics segment is anticipated to witness an increase of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3255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11408364" y="1400175"/>
            <a:ext cx="2955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54241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terms of value as compared to 2026. The electrical and electronics segment is expected to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750695"/>
            <a:ext cx="25470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create an incremental opportunity of US$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01773" y="174047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976882" y="1750695"/>
            <a:ext cx="271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925955"/>
            <a:ext cx="23647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market from 2026 to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2153793"/>
            <a:ext cx="53539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personal care and household products segment is expected to create an incremental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329053"/>
            <a:ext cx="1208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 of US$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63647" y="231882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638756" y="2329053"/>
            <a:ext cx="41824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2504313"/>
            <a:ext cx="55582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to 2036. The other end uses segment is expected to create an incremental opportunity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679573"/>
            <a:ext cx="465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US$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20560" y="266934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895670" y="2679573"/>
            <a:ext cx="46713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 2026 to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2854832"/>
            <a:ext cx="409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36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End-use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End-use,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End-use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82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1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11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11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335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5780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End-use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End-use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00539" y="2451926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714875"/>
            <a:ext cx="42771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Personal care and household products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02513" y="47046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677622" y="4714875"/>
            <a:ext cx="667127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electrical and electronics segment in 2036. Among corrugated box packaging equipment by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4890135"/>
            <a:ext cx="54997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end-use, agriculture and fresh produce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5093" y="487991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900202" y="489013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17972"/>
            <a:ext cx="7822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end-use, the personal care and household products segment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48219" y="510774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223328" y="511797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18471" y="510774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793581" y="5117972"/>
            <a:ext cx="1200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The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5293232"/>
            <a:ext cx="36601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pharmaceuticals and healthcare segment is expected to lose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5509" y="5283009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060618" y="5293232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48122" y="528300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823232" y="529323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End-use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End-use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End-use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798123" y="1271859"/>
            <a:ext cx="2595753" cy="17792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 dirty="0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563846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155908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48288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54479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1704396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>
            <a:off x="5090922" y="169963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162343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168534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1954837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 rot="10800000">
            <a:off x="5090922" y="195007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187387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193578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928997" y="2390476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 rot="10800000">
            <a:off x="5090922" y="238571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5233797" y="230951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896100" y="237142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928997" y="296976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>
            <a:off x="5090922" y="296499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5233797" y="288879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896100" y="295071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5" name="FMI Legend Chip"/>
          <p:cNvSpPr/>
          <p:nvPr/>
        </p:nvSpPr>
        <p:spPr>
          <a:xfrm>
            <a:off x="4928997" y="361392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Isosceles Triangle 35"/>
          <p:cNvSpPr/>
          <p:nvPr/>
        </p:nvSpPr>
        <p:spPr>
          <a:xfrm rot="10800000">
            <a:off x="5090922" y="36091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BPS Name 6"/>
          <p:cNvSpPr txBox="1"/>
          <p:nvPr/>
        </p:nvSpPr>
        <p:spPr>
          <a:xfrm>
            <a:off x="5233797" y="353296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sp>
        <p:nvSpPr>
          <p:cNvPr id="38" name="BPS Value 6"/>
          <p:cNvSpPr txBox="1"/>
          <p:nvPr/>
        </p:nvSpPr>
        <p:spPr>
          <a:xfrm>
            <a:off x="6896100" y="359487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9" name="FMI Legend Chip"/>
          <p:cNvSpPr/>
          <p:nvPr/>
        </p:nvSpPr>
        <p:spPr>
          <a:xfrm>
            <a:off x="4928997" y="430301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Isosceles Triangle 39"/>
          <p:cNvSpPr/>
          <p:nvPr/>
        </p:nvSpPr>
        <p:spPr>
          <a:xfrm rot="10800000">
            <a:off x="5090922" y="429825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BPS Name 7"/>
          <p:cNvSpPr txBox="1"/>
          <p:nvPr/>
        </p:nvSpPr>
        <p:spPr>
          <a:xfrm>
            <a:off x="5233797" y="4222052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42" name="BPS Value 7"/>
          <p:cNvSpPr txBox="1"/>
          <p:nvPr/>
        </p:nvSpPr>
        <p:spPr>
          <a:xfrm>
            <a:off x="6896100" y="428396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3" name="FMI Legend Chip"/>
          <p:cNvSpPr/>
          <p:nvPr/>
        </p:nvSpPr>
        <p:spPr>
          <a:xfrm>
            <a:off x="4928997" y="502622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Isosceles Triangle 43"/>
          <p:cNvSpPr/>
          <p:nvPr/>
        </p:nvSpPr>
        <p:spPr>
          <a:xfrm>
            <a:off x="5090922" y="502146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BPS Name 8"/>
          <p:cNvSpPr txBox="1"/>
          <p:nvPr/>
        </p:nvSpPr>
        <p:spPr>
          <a:xfrm>
            <a:off x="5233797" y="4945261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sp>
        <p:nvSpPr>
          <p:cNvPr id="46" name="BPS Value 8"/>
          <p:cNvSpPr txBox="1"/>
          <p:nvPr/>
        </p:nvSpPr>
        <p:spPr>
          <a:xfrm>
            <a:off x="6896100" y="500717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7" name="FMI Legend Chip"/>
          <p:cNvSpPr/>
          <p:nvPr/>
        </p:nvSpPr>
        <p:spPr>
          <a:xfrm>
            <a:off x="4928997" y="581871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Isosceles Triangle 47"/>
          <p:cNvSpPr/>
          <p:nvPr/>
        </p:nvSpPr>
        <p:spPr>
          <a:xfrm rot="10800000">
            <a:off x="5090922" y="581395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BPS Name 9"/>
          <p:cNvSpPr txBox="1"/>
          <p:nvPr/>
        </p:nvSpPr>
        <p:spPr>
          <a:xfrm>
            <a:off x="5233797" y="573775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sp>
        <p:nvSpPr>
          <p:cNvPr id="50" name="BPS Value 9"/>
          <p:cNvSpPr txBox="1"/>
          <p:nvPr/>
        </p:nvSpPr>
        <p:spPr>
          <a:xfrm>
            <a:off x="6896100" y="579966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End-use</a:t>
            </a:r>
          </a:p>
        </p:txBody>
      </p:sp>
      <p:sp>
        <p:nvSpPr>
          <p:cNvPr id="53" name="Rectangle 52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829550" y="1400175"/>
            <a:ext cx="34718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end-use,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575435"/>
            <a:ext cx="39633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agriculture and fresh produce segment is expected to witness the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1750695"/>
            <a:ext cx="1032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11057" y="1740471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8986166" y="1750695"/>
            <a:ext cx="25815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 In terms of value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1925955"/>
            <a:ext cx="36684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end-use, the personal care and household products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101215"/>
            <a:ext cx="31646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dominate the market, losing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3347" y="2090991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1118457" y="2101215"/>
            <a:ext cx="554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29550" y="2276475"/>
            <a:ext cx="9342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accounting for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12947" y="2266251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888056" y="2276475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829550" y="2504313"/>
            <a:ext cx="39140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pharmaceuticals and healthcare segment is expected to lose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669349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7990579" y="2679573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78084" y="2669349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0753193" y="267957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74" name="lockshield_12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Customer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Customer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Customer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Customer Type,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Customer Type segment categorizes the market by customer type.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Captive / In-house Box Manufactur…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Corrugated Sheet Feeders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Sheet Plants and Box Converters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Contract and Third-party Packagin…</a:t>
            </a:r>
          </a:p>
        </p:txBody>
      </p:sp>
      <p:sp>
        <p:nvSpPr>
          <p:cNvPr id="43" name="Rectangle 42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Integrated Board and Box Manufact…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58" name="Rounded Rectangle 5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2" name="Rounded Rectangle 6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Customer Type split shows how demand is distributed across customer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0" name="Picture 69" descr="3_51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5_19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4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2_66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4_2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2_58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7" name="Picture 76" descr="4_99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8" name="Picture 77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79" name="Picture 78" descr="1_50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0" name="Picture 79" descr="2_27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1" name="Picture 80" descr="4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2" name="Picture 81" descr="628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3" name="Picture 82" descr="932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4" name="Picture 83" descr="4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485775" y="4229437"/>
            <a:ext cx="269190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85775" y="4390371"/>
            <a:ext cx="278987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customer type, independent sheet plants and box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551305"/>
            <a:ext cx="261018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converters segment is expected to witness the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4712240"/>
            <a:ext cx="95419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387054" y="4702852"/>
            <a:ext cx="123551" cy="179710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1547850" y="4712240"/>
            <a:ext cx="156295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forecast period. In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873174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terms of value share by customer type, the captive /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85775" y="5034109"/>
            <a:ext cx="252610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in-house box manufacturing units segment is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485775" y="5195043"/>
            <a:ext cx="229638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expected to dominate the market, losing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9238" y="5185655"/>
            <a:ext cx="123551" cy="179710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2890034" y="5195043"/>
            <a:ext cx="28024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485775" y="5355977"/>
            <a:ext cx="109958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and accounting for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532446" y="5346589"/>
            <a:ext cx="123551" cy="179710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1693242" y="5355977"/>
            <a:ext cx="87510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565192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Captive / in-house box manufacturing units segment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726126"/>
            <a:ext cx="131149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is projected to register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744353" y="5716739"/>
            <a:ext cx="123551" cy="179710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905149" y="5726126"/>
            <a:ext cx="112866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X higher value than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5775" y="5887061"/>
            <a:ext cx="254993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independent sheet plants and box converters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85775" y="6047995"/>
            <a:ext cx="101629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segment in 2036.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229437"/>
            <a:ext cx="27138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Captive / In-house Box Manufacturing Units: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500482" y="4219658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666797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527428" y="4219658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3838575" y="439707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4615009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Independent Corrugated Sheet Feeders: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57342" y="4605230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6424837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284288" y="4605230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3838575" y="478264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000581"/>
            <a:ext cx="28947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Independent Sheet Plants and Box Converters: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81383" y="4990801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848879" y="5000581"/>
            <a:ext cx="9264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3992603" y="5168221"/>
            <a:ext cx="12458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grows fastest.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5386153"/>
            <a:ext cx="31714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● Contract and Third-party Packaging Manufacturers: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958054" y="5376373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7125550" y="5386153"/>
            <a:ext cx="5108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of 2026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553793"/>
            <a:ext cx="4601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value ·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246728" y="5544013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414224" y="5553793"/>
            <a:ext cx="12846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CAGR 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5771725"/>
            <a:ext cx="25594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Integrated Board and Box Manufacturers: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346048" y="5761945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513544" y="577172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372994" y="5761945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3838575" y="5939365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Customer Type segment is projected to grow at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Customer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Customer Type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Customer Type mix within each region (share of 2036 value) · row label = region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Customer Type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3564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Independent sheet plants and box converters followed by captive / in-house box manufacturing units are expected to be the two most attractive customer type segments in the global corrugated box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108478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packaging equipment market in terms of value over the forecast period. Independent sheet plants and box converters and captive / in-house box manufacturing units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5304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220539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843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57175" y="602932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66148" y="601954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033644" y="602932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71538" y="601954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439034" y="602932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93438" y="601954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5160934" y="6029325"/>
            <a:ext cx="63007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integrated board and box manufacturers segment is expected to be less attractive as compared to other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6196965"/>
            <a:ext cx="95018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segments over the forecast period, owing to its lower CAGR and incremental opportunity. Bubbles right of the CAGR-Index line grow faster than the segment average.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Customer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Customer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Integrated Board and Box Manufacturers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Independent Corrugated Sheet Feeders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Independent Sheet Plants and Box Converters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Captive / In-house Box Manufacturing Units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Customer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Customer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Contract and Third-party Packaging Manufacturers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Customer Type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55116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independent sheet plants and box converters segment is anticipated to witness an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6305550" y="1575435"/>
            <a:ext cx="7265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increase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81282" y="156521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156392" y="1575435"/>
            <a:ext cx="45658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 terms of value as compared to 2026. The independent sheet plants and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750695"/>
            <a:ext cx="48744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box converters segment is expected to create an incremental opportunity of US$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29159" y="174047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04269" y="1750695"/>
            <a:ext cx="4835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925955"/>
            <a:ext cx="45974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overall corrugated box packaging equipment market from 2026 to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2153793"/>
            <a:ext cx="55911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captive / in-house box manufacturing units segment is expected to create an incremental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329053"/>
            <a:ext cx="1208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 of US$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63647" y="231882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638756" y="2329053"/>
            <a:ext cx="41824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2504313"/>
            <a:ext cx="54760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to 2036. The independent corrugated sheet feeders segment is expected to create an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679573"/>
            <a:ext cx="19568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incremental opportunity of US$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1582" y="266934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386692" y="2679573"/>
            <a:ext cx="34011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2854832"/>
            <a:ext cx="16798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from 2026 to 2036.</a:t>
            </a:r>
          </a:p>
        </p:txBody>
      </p:sp>
      <p:sp>
        <p:nvSpPr>
          <p:cNvPr id="36" name="lockshield_12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Customer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Customer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Customer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752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15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15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378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5826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Customer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Customer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96914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45672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Captive / in-house box manufacturing units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2616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967725" y="3724275"/>
            <a:ext cx="64011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independent sheet plants and box converters segment in 2036. Among corrugated box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899535"/>
            <a:ext cx="83000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equipment by customer type, independent sheet plants and box converters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5431" y="388931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700540" y="389953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27372"/>
            <a:ext cx="8478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customer type, the captive / in-house box manufacturing units segment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03732" y="411714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878842" y="412737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3985" y="411714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449094" y="412737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Customer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Customer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Customer Type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79180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178704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71084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Integrated Board and Box Manufacturers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77275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220604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220128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2125080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Contract and Third-party Packaging Manufacturers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218699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305370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 rot="10800000">
            <a:off x="5090922" y="304893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297273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Corrugated Sheet Feeders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303465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928997" y="425361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>
            <a:off x="5090922" y="424885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5233797" y="417265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Sheet Plants and Box Converters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896100" y="423456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928997" y="557160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 rot="10800000">
            <a:off x="5090922" y="55668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5233797" y="5490638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Captive / In-house Box Manufacturing Units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896100" y="555255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Customer Type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829550" y="1400175"/>
            <a:ext cx="38543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customer type,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575435"/>
            <a:ext cx="40198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independent sheet plants and box converters segment is expected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1750695"/>
            <a:ext cx="1906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witness the highest CAGR of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85645" y="174047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60754" y="175069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978533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customer type, the captive / in-house box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153793"/>
            <a:ext cx="4016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manufacturing units segment is expected to dominate the market,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2329053"/>
            <a:ext cx="423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losing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01772" y="23188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8376881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2025" y="231882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947134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53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Equipment Type × Customer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Equipment Type × End Use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 × Customer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Equipment Type × Customer Type, 2026E vs 2036F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equipment type sub-segment across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476875"/>
          </a:xfrm>
          <a:prstGeom prst="roundRect">
            <a:avLst>
              <a:gd name="adj" fmla="val 139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Equipment Type × Customer Type, 2026E and 2036F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4" cy="50101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854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01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824484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Integrated Board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Corrugated Sheet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Sheet Plants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Captive / In-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Contract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Third-party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216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2579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2056" y="401197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Equipment Type × Customer Type, 2026E vs 2036F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equipment type sub-segment across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Flow, Equipment Type → Customer Type, 2036F (US$ Mn)</a:t>
            </a:r>
          </a:p>
        </p:txBody>
      </p:sp>
      <p:sp>
        <p:nvSpPr>
          <p:cNvPr id="12" name="Freeform 11"/>
          <p:cNvSpPr/>
          <p:nvPr/>
        </p:nvSpPr>
        <p:spPr>
          <a:xfrm>
            <a:off x="2057400" y="1304925"/>
            <a:ext cx="3743325" cy="485775"/>
          </a:xfrm>
          <a:custGeom>
            <a:avLst/>
            <a:gdLst/>
            <a:ahLst/>
            <a:cxnLst/>
            <a:rect l="l" t="t" r="r" b="b"/>
            <a:pathLst>
              <a:path w="393" h="51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5"/>
                </a:lnTo>
                <a:lnTo>
                  <a:pt x="114" y="6"/>
                </a:lnTo>
                <a:lnTo>
                  <a:pt x="131" y="8"/>
                </a:lnTo>
                <a:lnTo>
                  <a:pt x="147" y="9"/>
                </a:lnTo>
                <a:lnTo>
                  <a:pt x="164" y="11"/>
                </a:lnTo>
                <a:lnTo>
                  <a:pt x="180" y="13"/>
                </a:lnTo>
                <a:lnTo>
                  <a:pt x="196" y="15"/>
                </a:lnTo>
                <a:lnTo>
                  <a:pt x="213" y="17"/>
                </a:lnTo>
                <a:lnTo>
                  <a:pt x="229" y="19"/>
                </a:lnTo>
                <a:lnTo>
                  <a:pt x="246" y="21"/>
                </a:lnTo>
                <a:lnTo>
                  <a:pt x="262" y="22"/>
                </a:lnTo>
                <a:lnTo>
                  <a:pt x="278" y="24"/>
                </a:lnTo>
                <a:lnTo>
                  <a:pt x="295" y="25"/>
                </a:lnTo>
                <a:lnTo>
                  <a:pt x="311" y="27"/>
                </a:lnTo>
                <a:lnTo>
                  <a:pt x="327" y="28"/>
                </a:lnTo>
                <a:lnTo>
                  <a:pt x="344" y="29"/>
                </a:lnTo>
                <a:lnTo>
                  <a:pt x="360" y="29"/>
                </a:lnTo>
                <a:lnTo>
                  <a:pt x="377" y="30"/>
                </a:lnTo>
                <a:lnTo>
                  <a:pt x="393" y="30"/>
                </a:lnTo>
                <a:lnTo>
                  <a:pt x="393" y="51"/>
                </a:lnTo>
                <a:lnTo>
                  <a:pt x="377" y="51"/>
                </a:lnTo>
                <a:lnTo>
                  <a:pt x="360" y="51"/>
                </a:lnTo>
                <a:lnTo>
                  <a:pt x="344" y="50"/>
                </a:lnTo>
                <a:lnTo>
                  <a:pt x="327" y="49"/>
                </a:lnTo>
                <a:lnTo>
                  <a:pt x="311" y="48"/>
                </a:lnTo>
                <a:lnTo>
                  <a:pt x="295" y="46"/>
                </a:lnTo>
                <a:lnTo>
                  <a:pt x="278" y="45"/>
                </a:lnTo>
                <a:lnTo>
                  <a:pt x="262" y="43"/>
                </a:lnTo>
                <a:lnTo>
                  <a:pt x="246" y="42"/>
                </a:lnTo>
                <a:lnTo>
                  <a:pt x="229" y="40"/>
                </a:lnTo>
                <a:lnTo>
                  <a:pt x="213" y="38"/>
                </a:lnTo>
                <a:lnTo>
                  <a:pt x="196" y="36"/>
                </a:lnTo>
                <a:lnTo>
                  <a:pt x="180" y="34"/>
                </a:lnTo>
                <a:lnTo>
                  <a:pt x="164" y="32"/>
                </a:lnTo>
                <a:lnTo>
                  <a:pt x="147" y="31"/>
                </a:lnTo>
                <a:lnTo>
                  <a:pt x="131" y="29"/>
                </a:lnTo>
                <a:lnTo>
                  <a:pt x="114" y="27"/>
                </a:lnTo>
                <a:lnTo>
                  <a:pt x="98" y="26"/>
                </a:lnTo>
                <a:lnTo>
                  <a:pt x="82" y="25"/>
                </a:lnTo>
                <a:lnTo>
                  <a:pt x="65" y="23"/>
                </a:lnTo>
                <a:lnTo>
                  <a:pt x="49" y="22"/>
                </a:lnTo>
                <a:lnTo>
                  <a:pt x="33" y="22"/>
                </a:lnTo>
                <a:lnTo>
                  <a:pt x="1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Freeform 12"/>
          <p:cNvSpPr/>
          <p:nvPr/>
        </p:nvSpPr>
        <p:spPr>
          <a:xfrm>
            <a:off x="2057400" y="1504950"/>
            <a:ext cx="3743325" cy="1666875"/>
          </a:xfrm>
          <a:custGeom>
            <a:avLst/>
            <a:gdLst/>
            <a:ahLst/>
            <a:cxnLst/>
            <a:rect l="l" t="t" r="r" b="b"/>
            <a:pathLst>
              <a:path w="393" h="175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1"/>
                </a:lnTo>
                <a:lnTo>
                  <a:pt x="82" y="17"/>
                </a:lnTo>
                <a:lnTo>
                  <a:pt x="98" y="24"/>
                </a:lnTo>
                <a:lnTo>
                  <a:pt x="114" y="31"/>
                </a:lnTo>
                <a:lnTo>
                  <a:pt x="131" y="39"/>
                </a:lnTo>
                <a:lnTo>
                  <a:pt x="147" y="48"/>
                </a:lnTo>
                <a:lnTo>
                  <a:pt x="164" y="57"/>
                </a:lnTo>
                <a:lnTo>
                  <a:pt x="180" y="66"/>
                </a:lnTo>
                <a:lnTo>
                  <a:pt x="196" y="76"/>
                </a:lnTo>
                <a:lnTo>
                  <a:pt x="213" y="85"/>
                </a:lnTo>
                <a:lnTo>
                  <a:pt x="229" y="95"/>
                </a:lnTo>
                <a:lnTo>
                  <a:pt x="246" y="104"/>
                </a:lnTo>
                <a:lnTo>
                  <a:pt x="262" y="112"/>
                </a:lnTo>
                <a:lnTo>
                  <a:pt x="278" y="121"/>
                </a:lnTo>
                <a:lnTo>
                  <a:pt x="295" y="128"/>
                </a:lnTo>
                <a:lnTo>
                  <a:pt x="311" y="135"/>
                </a:lnTo>
                <a:lnTo>
                  <a:pt x="327" y="140"/>
                </a:lnTo>
                <a:lnTo>
                  <a:pt x="344" y="145"/>
                </a:lnTo>
                <a:lnTo>
                  <a:pt x="360" y="149"/>
                </a:lnTo>
                <a:lnTo>
                  <a:pt x="377" y="151"/>
                </a:lnTo>
                <a:lnTo>
                  <a:pt x="393" y="152"/>
                </a:lnTo>
                <a:lnTo>
                  <a:pt x="393" y="175"/>
                </a:lnTo>
                <a:lnTo>
                  <a:pt x="377" y="174"/>
                </a:lnTo>
                <a:lnTo>
                  <a:pt x="360" y="172"/>
                </a:lnTo>
                <a:lnTo>
                  <a:pt x="344" y="168"/>
                </a:lnTo>
                <a:lnTo>
                  <a:pt x="327" y="164"/>
                </a:lnTo>
                <a:lnTo>
                  <a:pt x="311" y="158"/>
                </a:lnTo>
                <a:lnTo>
                  <a:pt x="295" y="151"/>
                </a:lnTo>
                <a:lnTo>
                  <a:pt x="278" y="144"/>
                </a:lnTo>
                <a:lnTo>
                  <a:pt x="262" y="135"/>
                </a:lnTo>
                <a:lnTo>
                  <a:pt x="246" y="127"/>
                </a:lnTo>
                <a:lnTo>
                  <a:pt x="229" y="118"/>
                </a:lnTo>
                <a:lnTo>
                  <a:pt x="213" y="108"/>
                </a:lnTo>
                <a:lnTo>
                  <a:pt x="196" y="99"/>
                </a:lnTo>
                <a:lnTo>
                  <a:pt x="180" y="90"/>
                </a:lnTo>
                <a:lnTo>
                  <a:pt x="164" y="80"/>
                </a:lnTo>
                <a:lnTo>
                  <a:pt x="147" y="71"/>
                </a:lnTo>
                <a:lnTo>
                  <a:pt x="131" y="63"/>
                </a:lnTo>
                <a:lnTo>
                  <a:pt x="114" y="54"/>
                </a:lnTo>
                <a:lnTo>
                  <a:pt x="98" y="47"/>
                </a:lnTo>
                <a:lnTo>
                  <a:pt x="82" y="40"/>
                </a:lnTo>
                <a:lnTo>
                  <a:pt x="65" y="34"/>
                </a:lnTo>
                <a:lnTo>
                  <a:pt x="49" y="30"/>
                </a:lnTo>
                <a:lnTo>
                  <a:pt x="33" y="26"/>
                </a:lnTo>
                <a:lnTo>
                  <a:pt x="16" y="24"/>
                </a:lnTo>
                <a:lnTo>
                  <a:pt x="0" y="23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Freeform 13"/>
          <p:cNvSpPr/>
          <p:nvPr/>
        </p:nvSpPr>
        <p:spPr>
          <a:xfrm>
            <a:off x="2057400" y="1724025"/>
            <a:ext cx="3743325" cy="2724150"/>
          </a:xfrm>
          <a:custGeom>
            <a:avLst/>
            <a:gdLst/>
            <a:ahLst/>
            <a:cxnLst/>
            <a:rect l="l" t="t" r="r" b="b"/>
            <a:pathLst>
              <a:path w="393" h="286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2"/>
                </a:lnTo>
                <a:lnTo>
                  <a:pt x="65" y="20"/>
                </a:lnTo>
                <a:lnTo>
                  <a:pt x="82" y="30"/>
                </a:lnTo>
                <a:lnTo>
                  <a:pt x="98" y="42"/>
                </a:lnTo>
                <a:lnTo>
                  <a:pt x="114" y="55"/>
                </a:lnTo>
                <a:lnTo>
                  <a:pt x="131" y="69"/>
                </a:lnTo>
                <a:lnTo>
                  <a:pt x="147" y="84"/>
                </a:lnTo>
                <a:lnTo>
                  <a:pt x="164" y="100"/>
                </a:lnTo>
                <a:lnTo>
                  <a:pt x="180" y="117"/>
                </a:lnTo>
                <a:lnTo>
                  <a:pt x="196" y="133"/>
                </a:lnTo>
                <a:lnTo>
                  <a:pt x="213" y="150"/>
                </a:lnTo>
                <a:lnTo>
                  <a:pt x="229" y="166"/>
                </a:lnTo>
                <a:lnTo>
                  <a:pt x="246" y="182"/>
                </a:lnTo>
                <a:lnTo>
                  <a:pt x="262" y="197"/>
                </a:lnTo>
                <a:lnTo>
                  <a:pt x="278" y="211"/>
                </a:lnTo>
                <a:lnTo>
                  <a:pt x="295" y="225"/>
                </a:lnTo>
                <a:lnTo>
                  <a:pt x="311" y="236"/>
                </a:lnTo>
                <a:lnTo>
                  <a:pt x="327" y="246"/>
                </a:lnTo>
                <a:lnTo>
                  <a:pt x="344" y="255"/>
                </a:lnTo>
                <a:lnTo>
                  <a:pt x="360" y="261"/>
                </a:lnTo>
                <a:lnTo>
                  <a:pt x="377" y="265"/>
                </a:lnTo>
                <a:lnTo>
                  <a:pt x="393" y="266"/>
                </a:lnTo>
                <a:lnTo>
                  <a:pt x="393" y="286"/>
                </a:lnTo>
                <a:lnTo>
                  <a:pt x="377" y="284"/>
                </a:lnTo>
                <a:lnTo>
                  <a:pt x="360" y="280"/>
                </a:lnTo>
                <a:lnTo>
                  <a:pt x="344" y="274"/>
                </a:lnTo>
                <a:lnTo>
                  <a:pt x="327" y="266"/>
                </a:lnTo>
                <a:lnTo>
                  <a:pt x="311" y="256"/>
                </a:lnTo>
                <a:lnTo>
                  <a:pt x="295" y="244"/>
                </a:lnTo>
                <a:lnTo>
                  <a:pt x="278" y="231"/>
                </a:lnTo>
                <a:lnTo>
                  <a:pt x="262" y="217"/>
                </a:lnTo>
                <a:lnTo>
                  <a:pt x="246" y="202"/>
                </a:lnTo>
                <a:lnTo>
                  <a:pt x="229" y="186"/>
                </a:lnTo>
                <a:lnTo>
                  <a:pt x="213" y="169"/>
                </a:lnTo>
                <a:lnTo>
                  <a:pt x="196" y="153"/>
                </a:lnTo>
                <a:lnTo>
                  <a:pt x="180" y="136"/>
                </a:lnTo>
                <a:lnTo>
                  <a:pt x="164" y="120"/>
                </a:lnTo>
                <a:lnTo>
                  <a:pt x="147" y="104"/>
                </a:lnTo>
                <a:lnTo>
                  <a:pt x="131" y="89"/>
                </a:lnTo>
                <a:lnTo>
                  <a:pt x="114" y="74"/>
                </a:lnTo>
                <a:lnTo>
                  <a:pt x="98" y="61"/>
                </a:lnTo>
                <a:lnTo>
                  <a:pt x="82" y="50"/>
                </a:lnTo>
                <a:lnTo>
                  <a:pt x="65" y="40"/>
                </a:lnTo>
                <a:lnTo>
                  <a:pt x="49" y="31"/>
                </a:lnTo>
                <a:lnTo>
                  <a:pt x="33" y="25"/>
                </a:lnTo>
                <a:lnTo>
                  <a:pt x="16" y="21"/>
                </a:lnTo>
                <a:lnTo>
                  <a:pt x="0" y="2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reeform 14"/>
          <p:cNvSpPr/>
          <p:nvPr/>
        </p:nvSpPr>
        <p:spPr>
          <a:xfrm>
            <a:off x="2057400" y="1914525"/>
            <a:ext cx="3743325" cy="3562350"/>
          </a:xfrm>
          <a:custGeom>
            <a:avLst/>
            <a:gdLst/>
            <a:ahLst/>
            <a:cxnLst/>
            <a:rect l="l" t="t" r="r" b="b"/>
            <a:pathLst>
              <a:path w="393" h="374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5"/>
                </a:lnTo>
                <a:lnTo>
                  <a:pt x="65" y="27"/>
                </a:lnTo>
                <a:lnTo>
                  <a:pt x="82" y="41"/>
                </a:lnTo>
                <a:lnTo>
                  <a:pt x="98" y="57"/>
                </a:lnTo>
                <a:lnTo>
                  <a:pt x="114" y="75"/>
                </a:lnTo>
                <a:lnTo>
                  <a:pt x="131" y="94"/>
                </a:lnTo>
                <a:lnTo>
                  <a:pt x="147" y="115"/>
                </a:lnTo>
                <a:lnTo>
                  <a:pt x="164" y="137"/>
                </a:lnTo>
                <a:lnTo>
                  <a:pt x="180" y="160"/>
                </a:lnTo>
                <a:lnTo>
                  <a:pt x="196" y="182"/>
                </a:lnTo>
                <a:lnTo>
                  <a:pt x="213" y="205"/>
                </a:lnTo>
                <a:lnTo>
                  <a:pt x="229" y="227"/>
                </a:lnTo>
                <a:lnTo>
                  <a:pt x="246" y="249"/>
                </a:lnTo>
                <a:lnTo>
                  <a:pt x="262" y="270"/>
                </a:lnTo>
                <a:lnTo>
                  <a:pt x="278" y="290"/>
                </a:lnTo>
                <a:lnTo>
                  <a:pt x="295" y="308"/>
                </a:lnTo>
                <a:lnTo>
                  <a:pt x="311" y="324"/>
                </a:lnTo>
                <a:lnTo>
                  <a:pt x="327" y="338"/>
                </a:lnTo>
                <a:lnTo>
                  <a:pt x="344" y="349"/>
                </a:lnTo>
                <a:lnTo>
                  <a:pt x="360" y="358"/>
                </a:lnTo>
                <a:lnTo>
                  <a:pt x="377" y="363"/>
                </a:lnTo>
                <a:lnTo>
                  <a:pt x="393" y="365"/>
                </a:lnTo>
                <a:lnTo>
                  <a:pt x="393" y="374"/>
                </a:lnTo>
                <a:lnTo>
                  <a:pt x="377" y="372"/>
                </a:lnTo>
                <a:lnTo>
                  <a:pt x="360" y="367"/>
                </a:lnTo>
                <a:lnTo>
                  <a:pt x="344" y="358"/>
                </a:lnTo>
                <a:lnTo>
                  <a:pt x="327" y="347"/>
                </a:lnTo>
                <a:lnTo>
                  <a:pt x="311" y="333"/>
                </a:lnTo>
                <a:lnTo>
                  <a:pt x="295" y="317"/>
                </a:lnTo>
                <a:lnTo>
                  <a:pt x="278" y="299"/>
                </a:lnTo>
                <a:lnTo>
                  <a:pt x="262" y="279"/>
                </a:lnTo>
                <a:lnTo>
                  <a:pt x="246" y="258"/>
                </a:lnTo>
                <a:lnTo>
                  <a:pt x="229" y="237"/>
                </a:lnTo>
                <a:lnTo>
                  <a:pt x="213" y="214"/>
                </a:lnTo>
                <a:lnTo>
                  <a:pt x="196" y="191"/>
                </a:lnTo>
                <a:lnTo>
                  <a:pt x="180" y="169"/>
                </a:lnTo>
                <a:lnTo>
                  <a:pt x="164" y="146"/>
                </a:lnTo>
                <a:lnTo>
                  <a:pt x="147" y="124"/>
                </a:lnTo>
                <a:lnTo>
                  <a:pt x="131" y="103"/>
                </a:lnTo>
                <a:lnTo>
                  <a:pt x="114" y="84"/>
                </a:lnTo>
                <a:lnTo>
                  <a:pt x="98" y="66"/>
                </a:lnTo>
                <a:lnTo>
                  <a:pt x="82" y="50"/>
                </a:lnTo>
                <a:lnTo>
                  <a:pt x="65" y="36"/>
                </a:lnTo>
                <a:lnTo>
                  <a:pt x="49" y="25"/>
                </a:lnTo>
                <a:lnTo>
                  <a:pt x="33" y="16"/>
                </a:lnTo>
                <a:lnTo>
                  <a:pt x="16" y="11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Freeform 15"/>
          <p:cNvSpPr/>
          <p:nvPr/>
        </p:nvSpPr>
        <p:spPr>
          <a:xfrm>
            <a:off x="2057400" y="2000250"/>
            <a:ext cx="3743325" cy="4057650"/>
          </a:xfrm>
          <a:custGeom>
            <a:avLst/>
            <a:gdLst/>
            <a:ahLst/>
            <a:cxnLst/>
            <a:rect l="l" t="t" r="r" b="b"/>
            <a:pathLst>
              <a:path w="393" h="426">
                <a:moveTo>
                  <a:pt x="0" y="0"/>
                </a:moveTo>
                <a:lnTo>
                  <a:pt x="16" y="2"/>
                </a:lnTo>
                <a:lnTo>
                  <a:pt x="33" y="8"/>
                </a:lnTo>
                <a:lnTo>
                  <a:pt x="49" y="18"/>
                </a:lnTo>
                <a:lnTo>
                  <a:pt x="65" y="31"/>
                </a:lnTo>
                <a:lnTo>
                  <a:pt x="82" y="47"/>
                </a:lnTo>
                <a:lnTo>
                  <a:pt x="98" y="66"/>
                </a:lnTo>
                <a:lnTo>
                  <a:pt x="114" y="87"/>
                </a:lnTo>
                <a:lnTo>
                  <a:pt x="131" y="109"/>
                </a:lnTo>
                <a:lnTo>
                  <a:pt x="147" y="133"/>
                </a:lnTo>
                <a:lnTo>
                  <a:pt x="164" y="158"/>
                </a:lnTo>
                <a:lnTo>
                  <a:pt x="180" y="184"/>
                </a:lnTo>
                <a:lnTo>
                  <a:pt x="196" y="211"/>
                </a:lnTo>
                <a:lnTo>
                  <a:pt x="213" y="237"/>
                </a:lnTo>
                <a:lnTo>
                  <a:pt x="229" y="263"/>
                </a:lnTo>
                <a:lnTo>
                  <a:pt x="246" y="288"/>
                </a:lnTo>
                <a:lnTo>
                  <a:pt x="262" y="312"/>
                </a:lnTo>
                <a:lnTo>
                  <a:pt x="278" y="335"/>
                </a:lnTo>
                <a:lnTo>
                  <a:pt x="295" y="356"/>
                </a:lnTo>
                <a:lnTo>
                  <a:pt x="311" y="374"/>
                </a:lnTo>
                <a:lnTo>
                  <a:pt x="327" y="390"/>
                </a:lnTo>
                <a:lnTo>
                  <a:pt x="344" y="403"/>
                </a:lnTo>
                <a:lnTo>
                  <a:pt x="360" y="413"/>
                </a:lnTo>
                <a:lnTo>
                  <a:pt x="377" y="419"/>
                </a:lnTo>
                <a:lnTo>
                  <a:pt x="393" y="421"/>
                </a:lnTo>
                <a:lnTo>
                  <a:pt x="393" y="426"/>
                </a:lnTo>
                <a:lnTo>
                  <a:pt x="377" y="424"/>
                </a:lnTo>
                <a:lnTo>
                  <a:pt x="360" y="418"/>
                </a:lnTo>
                <a:lnTo>
                  <a:pt x="344" y="408"/>
                </a:lnTo>
                <a:lnTo>
                  <a:pt x="327" y="395"/>
                </a:lnTo>
                <a:lnTo>
                  <a:pt x="311" y="379"/>
                </a:lnTo>
                <a:lnTo>
                  <a:pt x="295" y="360"/>
                </a:lnTo>
                <a:lnTo>
                  <a:pt x="278" y="339"/>
                </a:lnTo>
                <a:lnTo>
                  <a:pt x="262" y="317"/>
                </a:lnTo>
                <a:lnTo>
                  <a:pt x="246" y="293"/>
                </a:lnTo>
                <a:lnTo>
                  <a:pt x="229" y="267"/>
                </a:lnTo>
                <a:lnTo>
                  <a:pt x="213" y="242"/>
                </a:lnTo>
                <a:lnTo>
                  <a:pt x="196" y="215"/>
                </a:lnTo>
                <a:lnTo>
                  <a:pt x="180" y="189"/>
                </a:lnTo>
                <a:lnTo>
                  <a:pt x="164" y="163"/>
                </a:lnTo>
                <a:lnTo>
                  <a:pt x="147" y="138"/>
                </a:lnTo>
                <a:lnTo>
                  <a:pt x="131" y="114"/>
                </a:lnTo>
                <a:lnTo>
                  <a:pt x="114" y="91"/>
                </a:lnTo>
                <a:lnTo>
                  <a:pt x="98" y="70"/>
                </a:lnTo>
                <a:lnTo>
                  <a:pt x="82" y="52"/>
                </a:lnTo>
                <a:lnTo>
                  <a:pt x="65" y="36"/>
                </a:lnTo>
                <a:lnTo>
                  <a:pt x="49" y="23"/>
                </a:lnTo>
                <a:lnTo>
                  <a:pt x="33" y="13"/>
                </a:lnTo>
                <a:lnTo>
                  <a:pt x="16" y="7"/>
                </a:lnTo>
                <a:lnTo>
                  <a:pt x="0" y="4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reeform 16"/>
          <p:cNvSpPr/>
          <p:nvPr/>
        </p:nvSpPr>
        <p:spPr>
          <a:xfrm>
            <a:off x="2057400" y="1790700"/>
            <a:ext cx="3743325" cy="447675"/>
          </a:xfrm>
          <a:custGeom>
            <a:avLst/>
            <a:gdLst/>
            <a:ahLst/>
            <a:cxnLst/>
            <a:rect l="l" t="t" r="r" b="b"/>
            <a:pathLst>
              <a:path w="393" h="47">
                <a:moveTo>
                  <a:pt x="0" y="32"/>
                </a:moveTo>
                <a:lnTo>
                  <a:pt x="16" y="32"/>
                </a:lnTo>
                <a:lnTo>
                  <a:pt x="33" y="32"/>
                </a:lnTo>
                <a:lnTo>
                  <a:pt x="49" y="31"/>
                </a:lnTo>
                <a:lnTo>
                  <a:pt x="65" y="30"/>
                </a:lnTo>
                <a:lnTo>
                  <a:pt x="82" y="29"/>
                </a:lnTo>
                <a:lnTo>
                  <a:pt x="98" y="27"/>
                </a:lnTo>
                <a:lnTo>
                  <a:pt x="114" y="26"/>
                </a:lnTo>
                <a:lnTo>
                  <a:pt x="131" y="24"/>
                </a:lnTo>
                <a:lnTo>
                  <a:pt x="147" y="22"/>
                </a:lnTo>
                <a:lnTo>
                  <a:pt x="164" y="20"/>
                </a:lnTo>
                <a:lnTo>
                  <a:pt x="180" y="18"/>
                </a:lnTo>
                <a:lnTo>
                  <a:pt x="196" y="16"/>
                </a:lnTo>
                <a:lnTo>
                  <a:pt x="213" y="14"/>
                </a:lnTo>
                <a:lnTo>
                  <a:pt x="229" y="12"/>
                </a:lnTo>
                <a:lnTo>
                  <a:pt x="246" y="10"/>
                </a:lnTo>
                <a:lnTo>
                  <a:pt x="262" y="9"/>
                </a:lnTo>
                <a:lnTo>
                  <a:pt x="278" y="7"/>
                </a:lnTo>
                <a:lnTo>
                  <a:pt x="295" y="5"/>
                </a:lnTo>
                <a:lnTo>
                  <a:pt x="311" y="4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5"/>
                </a:lnTo>
                <a:lnTo>
                  <a:pt x="377" y="15"/>
                </a:lnTo>
                <a:lnTo>
                  <a:pt x="360" y="15"/>
                </a:lnTo>
                <a:lnTo>
                  <a:pt x="344" y="16"/>
                </a:lnTo>
                <a:lnTo>
                  <a:pt x="327" y="17"/>
                </a:lnTo>
                <a:lnTo>
                  <a:pt x="311" y="18"/>
                </a:lnTo>
                <a:lnTo>
                  <a:pt x="295" y="20"/>
                </a:lnTo>
                <a:lnTo>
                  <a:pt x="278" y="21"/>
                </a:lnTo>
                <a:lnTo>
                  <a:pt x="262" y="23"/>
                </a:lnTo>
                <a:lnTo>
                  <a:pt x="246" y="25"/>
                </a:lnTo>
                <a:lnTo>
                  <a:pt x="229" y="27"/>
                </a:lnTo>
                <a:lnTo>
                  <a:pt x="213" y="29"/>
                </a:lnTo>
                <a:lnTo>
                  <a:pt x="196" y="31"/>
                </a:lnTo>
                <a:lnTo>
                  <a:pt x="180" y="33"/>
                </a:lnTo>
                <a:lnTo>
                  <a:pt x="164" y="35"/>
                </a:lnTo>
                <a:lnTo>
                  <a:pt x="147" y="37"/>
                </a:lnTo>
                <a:lnTo>
                  <a:pt x="131" y="39"/>
                </a:lnTo>
                <a:lnTo>
                  <a:pt x="114" y="40"/>
                </a:lnTo>
                <a:lnTo>
                  <a:pt x="98" y="42"/>
                </a:lnTo>
                <a:lnTo>
                  <a:pt x="82" y="43"/>
                </a:lnTo>
                <a:lnTo>
                  <a:pt x="65" y="45"/>
                </a:lnTo>
                <a:lnTo>
                  <a:pt x="49" y="46"/>
                </a:lnTo>
                <a:lnTo>
                  <a:pt x="33" y="46"/>
                </a:lnTo>
                <a:lnTo>
                  <a:pt x="1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Freeform 17"/>
          <p:cNvSpPr/>
          <p:nvPr/>
        </p:nvSpPr>
        <p:spPr>
          <a:xfrm>
            <a:off x="2057400" y="2238375"/>
            <a:ext cx="3743325" cy="1057275"/>
          </a:xfrm>
          <a:custGeom>
            <a:avLst/>
            <a:gdLst/>
            <a:ahLst/>
            <a:cxnLst/>
            <a:rect l="l" t="t" r="r" b="b"/>
            <a:pathLst>
              <a:path w="393" h="111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1"/>
                </a:lnTo>
                <a:lnTo>
                  <a:pt x="164" y="37"/>
                </a:lnTo>
                <a:lnTo>
                  <a:pt x="180" y="43"/>
                </a:lnTo>
                <a:lnTo>
                  <a:pt x="196" y="49"/>
                </a:lnTo>
                <a:lnTo>
                  <a:pt x="213" y="55"/>
                </a:lnTo>
                <a:lnTo>
                  <a:pt x="229" y="61"/>
                </a:lnTo>
                <a:lnTo>
                  <a:pt x="246" y="67"/>
                </a:lnTo>
                <a:lnTo>
                  <a:pt x="262" y="72"/>
                </a:lnTo>
                <a:lnTo>
                  <a:pt x="278" y="78"/>
                </a:lnTo>
                <a:lnTo>
                  <a:pt x="295" y="82"/>
                </a:lnTo>
                <a:lnTo>
                  <a:pt x="311" y="87"/>
                </a:lnTo>
                <a:lnTo>
                  <a:pt x="327" y="91"/>
                </a:lnTo>
                <a:lnTo>
                  <a:pt x="344" y="94"/>
                </a:lnTo>
                <a:lnTo>
                  <a:pt x="360" y="96"/>
                </a:lnTo>
                <a:lnTo>
                  <a:pt x="377" y="97"/>
                </a:lnTo>
                <a:lnTo>
                  <a:pt x="393" y="98"/>
                </a:lnTo>
                <a:lnTo>
                  <a:pt x="393" y="111"/>
                </a:lnTo>
                <a:lnTo>
                  <a:pt x="377" y="110"/>
                </a:lnTo>
                <a:lnTo>
                  <a:pt x="360" y="109"/>
                </a:lnTo>
                <a:lnTo>
                  <a:pt x="344" y="106"/>
                </a:lnTo>
                <a:lnTo>
                  <a:pt x="327" y="103"/>
                </a:lnTo>
                <a:lnTo>
                  <a:pt x="311" y="100"/>
                </a:lnTo>
                <a:lnTo>
                  <a:pt x="295" y="95"/>
                </a:lnTo>
                <a:lnTo>
                  <a:pt x="278" y="90"/>
                </a:lnTo>
                <a:lnTo>
                  <a:pt x="262" y="85"/>
                </a:lnTo>
                <a:lnTo>
                  <a:pt x="246" y="80"/>
                </a:lnTo>
                <a:lnTo>
                  <a:pt x="229" y="74"/>
                </a:lnTo>
                <a:lnTo>
                  <a:pt x="213" y="68"/>
                </a:lnTo>
                <a:lnTo>
                  <a:pt x="196" y="62"/>
                </a:lnTo>
                <a:lnTo>
                  <a:pt x="180" y="56"/>
                </a:lnTo>
                <a:lnTo>
                  <a:pt x="164" y="50"/>
                </a:lnTo>
                <a:lnTo>
                  <a:pt x="147" y="44"/>
                </a:lnTo>
                <a:lnTo>
                  <a:pt x="131" y="38"/>
                </a:lnTo>
                <a:lnTo>
                  <a:pt x="114" y="33"/>
                </a:lnTo>
                <a:lnTo>
                  <a:pt x="98" y="28"/>
                </a:lnTo>
                <a:lnTo>
                  <a:pt x="82" y="24"/>
                </a:lnTo>
                <a:lnTo>
                  <a:pt x="65" y="20"/>
                </a:lnTo>
                <a:lnTo>
                  <a:pt x="49" y="17"/>
                </a:lnTo>
                <a:lnTo>
                  <a:pt x="33" y="15"/>
                </a:lnTo>
                <a:lnTo>
                  <a:pt x="1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reeform 18"/>
          <p:cNvSpPr/>
          <p:nvPr/>
        </p:nvSpPr>
        <p:spPr>
          <a:xfrm>
            <a:off x="2057400" y="2362200"/>
            <a:ext cx="3743325" cy="2209800"/>
          </a:xfrm>
          <a:custGeom>
            <a:avLst/>
            <a:gdLst/>
            <a:ahLst/>
            <a:cxnLst/>
            <a:rect l="l" t="t" r="r" b="b"/>
            <a:pathLst>
              <a:path w="393" h="232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6"/>
                </a:lnTo>
                <a:lnTo>
                  <a:pt x="82" y="24"/>
                </a:lnTo>
                <a:lnTo>
                  <a:pt x="98" y="34"/>
                </a:lnTo>
                <a:lnTo>
                  <a:pt x="114" y="45"/>
                </a:lnTo>
                <a:lnTo>
                  <a:pt x="131" y="57"/>
                </a:lnTo>
                <a:lnTo>
                  <a:pt x="147" y="69"/>
                </a:lnTo>
                <a:lnTo>
                  <a:pt x="164" y="82"/>
                </a:lnTo>
                <a:lnTo>
                  <a:pt x="180" y="96"/>
                </a:lnTo>
                <a:lnTo>
                  <a:pt x="196" y="109"/>
                </a:lnTo>
                <a:lnTo>
                  <a:pt x="213" y="123"/>
                </a:lnTo>
                <a:lnTo>
                  <a:pt x="229" y="136"/>
                </a:lnTo>
                <a:lnTo>
                  <a:pt x="246" y="149"/>
                </a:lnTo>
                <a:lnTo>
                  <a:pt x="262" y="162"/>
                </a:lnTo>
                <a:lnTo>
                  <a:pt x="278" y="174"/>
                </a:lnTo>
                <a:lnTo>
                  <a:pt x="295" y="184"/>
                </a:lnTo>
                <a:lnTo>
                  <a:pt x="311" y="194"/>
                </a:lnTo>
                <a:lnTo>
                  <a:pt x="327" y="202"/>
                </a:lnTo>
                <a:lnTo>
                  <a:pt x="344" y="209"/>
                </a:lnTo>
                <a:lnTo>
                  <a:pt x="360" y="214"/>
                </a:lnTo>
                <a:lnTo>
                  <a:pt x="377" y="218"/>
                </a:lnTo>
                <a:lnTo>
                  <a:pt x="393" y="219"/>
                </a:lnTo>
                <a:lnTo>
                  <a:pt x="393" y="232"/>
                </a:lnTo>
                <a:lnTo>
                  <a:pt x="377" y="231"/>
                </a:lnTo>
                <a:lnTo>
                  <a:pt x="360" y="228"/>
                </a:lnTo>
                <a:lnTo>
                  <a:pt x="344" y="222"/>
                </a:lnTo>
                <a:lnTo>
                  <a:pt x="327" y="216"/>
                </a:lnTo>
                <a:lnTo>
                  <a:pt x="311" y="207"/>
                </a:lnTo>
                <a:lnTo>
                  <a:pt x="295" y="198"/>
                </a:lnTo>
                <a:lnTo>
                  <a:pt x="278" y="187"/>
                </a:lnTo>
                <a:lnTo>
                  <a:pt x="262" y="175"/>
                </a:lnTo>
                <a:lnTo>
                  <a:pt x="246" y="163"/>
                </a:lnTo>
                <a:lnTo>
                  <a:pt x="229" y="150"/>
                </a:lnTo>
                <a:lnTo>
                  <a:pt x="213" y="136"/>
                </a:lnTo>
                <a:lnTo>
                  <a:pt x="196" y="122"/>
                </a:lnTo>
                <a:lnTo>
                  <a:pt x="180" y="109"/>
                </a:lnTo>
                <a:lnTo>
                  <a:pt x="164" y="95"/>
                </a:lnTo>
                <a:lnTo>
                  <a:pt x="147" y="82"/>
                </a:lnTo>
                <a:lnTo>
                  <a:pt x="131" y="70"/>
                </a:lnTo>
                <a:lnTo>
                  <a:pt x="114" y="58"/>
                </a:lnTo>
                <a:lnTo>
                  <a:pt x="98" y="47"/>
                </a:lnTo>
                <a:lnTo>
                  <a:pt x="82" y="38"/>
                </a:lnTo>
                <a:lnTo>
                  <a:pt x="65" y="29"/>
                </a:lnTo>
                <a:lnTo>
                  <a:pt x="49" y="22"/>
                </a:lnTo>
                <a:lnTo>
                  <a:pt x="33" y="17"/>
                </a:lnTo>
                <a:lnTo>
                  <a:pt x="16" y="14"/>
                </a:lnTo>
                <a:lnTo>
                  <a:pt x="0" y="13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Freeform 19"/>
          <p:cNvSpPr/>
          <p:nvPr/>
        </p:nvSpPr>
        <p:spPr>
          <a:xfrm>
            <a:off x="2057400" y="2486025"/>
            <a:ext cx="3743325" cy="3057525"/>
          </a:xfrm>
          <a:custGeom>
            <a:avLst/>
            <a:gdLst/>
            <a:ahLst/>
            <a:cxnLst/>
            <a:rect l="l" t="t" r="r" b="b"/>
            <a:pathLst>
              <a:path w="393" h="321">
                <a:moveTo>
                  <a:pt x="0" y="0"/>
                </a:moveTo>
                <a:lnTo>
                  <a:pt x="16" y="2"/>
                </a:lnTo>
                <a:lnTo>
                  <a:pt x="33" y="6"/>
                </a:lnTo>
                <a:lnTo>
                  <a:pt x="49" y="13"/>
                </a:lnTo>
                <a:lnTo>
                  <a:pt x="65" y="23"/>
                </a:lnTo>
                <a:lnTo>
                  <a:pt x="82" y="35"/>
                </a:lnTo>
                <a:lnTo>
                  <a:pt x="98" y="49"/>
                </a:lnTo>
                <a:lnTo>
                  <a:pt x="114" y="65"/>
                </a:lnTo>
                <a:lnTo>
                  <a:pt x="131" y="81"/>
                </a:lnTo>
                <a:lnTo>
                  <a:pt x="147" y="99"/>
                </a:lnTo>
                <a:lnTo>
                  <a:pt x="164" y="118"/>
                </a:lnTo>
                <a:lnTo>
                  <a:pt x="180" y="137"/>
                </a:lnTo>
                <a:lnTo>
                  <a:pt x="196" y="157"/>
                </a:lnTo>
                <a:lnTo>
                  <a:pt x="213" y="176"/>
                </a:lnTo>
                <a:lnTo>
                  <a:pt x="229" y="196"/>
                </a:lnTo>
                <a:lnTo>
                  <a:pt x="246" y="215"/>
                </a:lnTo>
                <a:lnTo>
                  <a:pt x="262" y="232"/>
                </a:lnTo>
                <a:lnTo>
                  <a:pt x="278" y="249"/>
                </a:lnTo>
                <a:lnTo>
                  <a:pt x="295" y="265"/>
                </a:lnTo>
                <a:lnTo>
                  <a:pt x="311" y="279"/>
                </a:lnTo>
                <a:lnTo>
                  <a:pt x="327" y="291"/>
                </a:lnTo>
                <a:lnTo>
                  <a:pt x="344" y="300"/>
                </a:lnTo>
                <a:lnTo>
                  <a:pt x="360" y="308"/>
                </a:lnTo>
                <a:lnTo>
                  <a:pt x="377" y="312"/>
                </a:lnTo>
                <a:lnTo>
                  <a:pt x="393" y="314"/>
                </a:lnTo>
                <a:lnTo>
                  <a:pt x="393" y="321"/>
                </a:lnTo>
                <a:lnTo>
                  <a:pt x="377" y="319"/>
                </a:lnTo>
                <a:lnTo>
                  <a:pt x="360" y="314"/>
                </a:lnTo>
                <a:lnTo>
                  <a:pt x="344" y="307"/>
                </a:lnTo>
                <a:lnTo>
                  <a:pt x="327" y="297"/>
                </a:lnTo>
                <a:lnTo>
                  <a:pt x="311" y="285"/>
                </a:lnTo>
                <a:lnTo>
                  <a:pt x="295" y="272"/>
                </a:lnTo>
                <a:lnTo>
                  <a:pt x="278" y="256"/>
                </a:lnTo>
                <a:lnTo>
                  <a:pt x="262" y="239"/>
                </a:lnTo>
                <a:lnTo>
                  <a:pt x="246" y="221"/>
                </a:lnTo>
                <a:lnTo>
                  <a:pt x="229" y="203"/>
                </a:lnTo>
                <a:lnTo>
                  <a:pt x="213" y="183"/>
                </a:lnTo>
                <a:lnTo>
                  <a:pt x="196" y="164"/>
                </a:lnTo>
                <a:lnTo>
                  <a:pt x="180" y="144"/>
                </a:lnTo>
                <a:lnTo>
                  <a:pt x="164" y="125"/>
                </a:lnTo>
                <a:lnTo>
                  <a:pt x="147" y="106"/>
                </a:lnTo>
                <a:lnTo>
                  <a:pt x="131" y="88"/>
                </a:lnTo>
                <a:lnTo>
                  <a:pt x="114" y="71"/>
                </a:lnTo>
                <a:lnTo>
                  <a:pt x="98" y="56"/>
                </a:lnTo>
                <a:lnTo>
                  <a:pt x="82" y="42"/>
                </a:lnTo>
                <a:lnTo>
                  <a:pt x="65" y="30"/>
                </a:lnTo>
                <a:lnTo>
                  <a:pt x="49" y="20"/>
                </a:lnTo>
                <a:lnTo>
                  <a:pt x="33" y="13"/>
                </a:lnTo>
                <a:lnTo>
                  <a:pt x="16" y="8"/>
                </a:lnTo>
                <a:lnTo>
                  <a:pt x="0" y="7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2057400" y="2552700"/>
            <a:ext cx="3743325" cy="3533775"/>
          </a:xfrm>
          <a:custGeom>
            <a:avLst/>
            <a:gdLst/>
            <a:ahLst/>
            <a:cxnLst/>
            <a:rect l="l" t="t" r="r" b="b"/>
            <a:pathLst>
              <a:path w="393" h="371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6"/>
                </a:lnTo>
                <a:lnTo>
                  <a:pt x="65" y="27"/>
                </a:lnTo>
                <a:lnTo>
                  <a:pt x="82" y="41"/>
                </a:lnTo>
                <a:lnTo>
                  <a:pt x="98" y="57"/>
                </a:lnTo>
                <a:lnTo>
                  <a:pt x="114" y="75"/>
                </a:lnTo>
                <a:lnTo>
                  <a:pt x="131" y="95"/>
                </a:lnTo>
                <a:lnTo>
                  <a:pt x="147" y="116"/>
                </a:lnTo>
                <a:lnTo>
                  <a:pt x="164" y="138"/>
                </a:lnTo>
                <a:lnTo>
                  <a:pt x="180" y="161"/>
                </a:lnTo>
                <a:lnTo>
                  <a:pt x="196" y="184"/>
                </a:lnTo>
                <a:lnTo>
                  <a:pt x="213" y="207"/>
                </a:lnTo>
                <a:lnTo>
                  <a:pt x="229" y="230"/>
                </a:lnTo>
                <a:lnTo>
                  <a:pt x="246" y="252"/>
                </a:lnTo>
                <a:lnTo>
                  <a:pt x="262" y="273"/>
                </a:lnTo>
                <a:lnTo>
                  <a:pt x="278" y="292"/>
                </a:lnTo>
                <a:lnTo>
                  <a:pt x="295" y="311"/>
                </a:lnTo>
                <a:lnTo>
                  <a:pt x="311" y="327"/>
                </a:lnTo>
                <a:lnTo>
                  <a:pt x="327" y="341"/>
                </a:lnTo>
                <a:lnTo>
                  <a:pt x="344" y="352"/>
                </a:lnTo>
                <a:lnTo>
                  <a:pt x="360" y="361"/>
                </a:lnTo>
                <a:lnTo>
                  <a:pt x="377" y="366"/>
                </a:lnTo>
                <a:lnTo>
                  <a:pt x="393" y="368"/>
                </a:lnTo>
                <a:lnTo>
                  <a:pt x="393" y="371"/>
                </a:lnTo>
                <a:lnTo>
                  <a:pt x="377" y="369"/>
                </a:lnTo>
                <a:lnTo>
                  <a:pt x="360" y="363"/>
                </a:lnTo>
                <a:lnTo>
                  <a:pt x="344" y="355"/>
                </a:lnTo>
                <a:lnTo>
                  <a:pt x="327" y="343"/>
                </a:lnTo>
                <a:lnTo>
                  <a:pt x="311" y="329"/>
                </a:lnTo>
                <a:lnTo>
                  <a:pt x="295" y="313"/>
                </a:lnTo>
                <a:lnTo>
                  <a:pt x="278" y="295"/>
                </a:lnTo>
                <a:lnTo>
                  <a:pt x="262" y="275"/>
                </a:lnTo>
                <a:lnTo>
                  <a:pt x="246" y="254"/>
                </a:lnTo>
                <a:lnTo>
                  <a:pt x="229" y="232"/>
                </a:lnTo>
                <a:lnTo>
                  <a:pt x="213" y="209"/>
                </a:lnTo>
                <a:lnTo>
                  <a:pt x="196" y="186"/>
                </a:lnTo>
                <a:lnTo>
                  <a:pt x="180" y="164"/>
                </a:lnTo>
                <a:lnTo>
                  <a:pt x="164" y="141"/>
                </a:lnTo>
                <a:lnTo>
                  <a:pt x="147" y="119"/>
                </a:lnTo>
                <a:lnTo>
                  <a:pt x="131" y="98"/>
                </a:lnTo>
                <a:lnTo>
                  <a:pt x="114" y="78"/>
                </a:lnTo>
                <a:lnTo>
                  <a:pt x="98" y="60"/>
                </a:lnTo>
                <a:lnTo>
                  <a:pt x="82" y="44"/>
                </a:lnTo>
                <a:lnTo>
                  <a:pt x="65" y="30"/>
                </a:lnTo>
                <a:lnTo>
                  <a:pt x="49" y="18"/>
                </a:lnTo>
                <a:lnTo>
                  <a:pt x="33" y="10"/>
                </a:lnTo>
                <a:lnTo>
                  <a:pt x="16" y="4"/>
                </a:lnTo>
                <a:lnTo>
                  <a:pt x="0" y="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2057400" y="1933575"/>
            <a:ext cx="3743325" cy="819150"/>
          </a:xfrm>
          <a:custGeom>
            <a:avLst/>
            <a:gdLst/>
            <a:ahLst/>
            <a:cxnLst/>
            <a:rect l="l" t="t" r="r" b="b"/>
            <a:pathLst>
              <a:path w="393" h="86">
                <a:moveTo>
                  <a:pt x="0" y="73"/>
                </a:moveTo>
                <a:lnTo>
                  <a:pt x="16" y="73"/>
                </a:lnTo>
                <a:lnTo>
                  <a:pt x="33" y="72"/>
                </a:lnTo>
                <a:lnTo>
                  <a:pt x="49" y="70"/>
                </a:lnTo>
                <a:lnTo>
                  <a:pt x="65" y="68"/>
                </a:lnTo>
                <a:lnTo>
                  <a:pt x="82" y="65"/>
                </a:lnTo>
                <a:lnTo>
                  <a:pt x="98" y="62"/>
                </a:lnTo>
                <a:lnTo>
                  <a:pt x="114" y="58"/>
                </a:lnTo>
                <a:lnTo>
                  <a:pt x="131" y="54"/>
                </a:lnTo>
                <a:lnTo>
                  <a:pt x="147" y="50"/>
                </a:lnTo>
                <a:lnTo>
                  <a:pt x="164" y="46"/>
                </a:lnTo>
                <a:lnTo>
                  <a:pt x="180" y="41"/>
                </a:lnTo>
                <a:lnTo>
                  <a:pt x="196" y="37"/>
                </a:lnTo>
                <a:lnTo>
                  <a:pt x="213" y="32"/>
                </a:lnTo>
                <a:lnTo>
                  <a:pt x="229" y="27"/>
                </a:lnTo>
                <a:lnTo>
                  <a:pt x="246" y="23"/>
                </a:lnTo>
                <a:lnTo>
                  <a:pt x="262" y="19"/>
                </a:lnTo>
                <a:lnTo>
                  <a:pt x="278" y="15"/>
                </a:lnTo>
                <a:lnTo>
                  <a:pt x="295" y="11"/>
                </a:lnTo>
                <a:lnTo>
                  <a:pt x="311" y="8"/>
                </a:lnTo>
                <a:lnTo>
                  <a:pt x="327" y="5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3"/>
                </a:lnTo>
                <a:lnTo>
                  <a:pt x="377" y="13"/>
                </a:lnTo>
                <a:lnTo>
                  <a:pt x="360" y="14"/>
                </a:lnTo>
                <a:lnTo>
                  <a:pt x="344" y="16"/>
                </a:lnTo>
                <a:lnTo>
                  <a:pt x="327" y="18"/>
                </a:lnTo>
                <a:lnTo>
                  <a:pt x="311" y="21"/>
                </a:lnTo>
                <a:lnTo>
                  <a:pt x="295" y="24"/>
                </a:lnTo>
                <a:lnTo>
                  <a:pt x="278" y="28"/>
                </a:lnTo>
                <a:lnTo>
                  <a:pt x="262" y="32"/>
                </a:lnTo>
                <a:lnTo>
                  <a:pt x="246" y="36"/>
                </a:lnTo>
                <a:lnTo>
                  <a:pt x="229" y="41"/>
                </a:lnTo>
                <a:lnTo>
                  <a:pt x="213" y="45"/>
                </a:lnTo>
                <a:lnTo>
                  <a:pt x="196" y="50"/>
                </a:lnTo>
                <a:lnTo>
                  <a:pt x="180" y="54"/>
                </a:lnTo>
                <a:lnTo>
                  <a:pt x="164" y="59"/>
                </a:lnTo>
                <a:lnTo>
                  <a:pt x="147" y="63"/>
                </a:lnTo>
                <a:lnTo>
                  <a:pt x="131" y="67"/>
                </a:lnTo>
                <a:lnTo>
                  <a:pt x="114" y="71"/>
                </a:lnTo>
                <a:lnTo>
                  <a:pt x="98" y="75"/>
                </a:lnTo>
                <a:lnTo>
                  <a:pt x="82" y="78"/>
                </a:lnTo>
                <a:lnTo>
                  <a:pt x="65" y="81"/>
                </a:lnTo>
                <a:lnTo>
                  <a:pt x="49" y="83"/>
                </a:lnTo>
                <a:lnTo>
                  <a:pt x="33" y="85"/>
                </a:lnTo>
                <a:lnTo>
                  <a:pt x="16" y="86"/>
                </a:lnTo>
                <a:lnTo>
                  <a:pt x="0" y="8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2057400" y="2752725"/>
            <a:ext cx="3743325" cy="647700"/>
          </a:xfrm>
          <a:custGeom>
            <a:avLst/>
            <a:gdLst/>
            <a:ahLst/>
            <a:cxnLst/>
            <a:rect l="l" t="t" r="r" b="b"/>
            <a:pathLst>
              <a:path w="393" h="68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3"/>
                </a:lnTo>
                <a:lnTo>
                  <a:pt x="65" y="5"/>
                </a:lnTo>
                <a:lnTo>
                  <a:pt x="82" y="7"/>
                </a:lnTo>
                <a:lnTo>
                  <a:pt x="98" y="9"/>
                </a:lnTo>
                <a:lnTo>
                  <a:pt x="114" y="12"/>
                </a:lnTo>
                <a:lnTo>
                  <a:pt x="131" y="15"/>
                </a:lnTo>
                <a:lnTo>
                  <a:pt x="147" y="18"/>
                </a:lnTo>
                <a:lnTo>
                  <a:pt x="164" y="22"/>
                </a:lnTo>
                <a:lnTo>
                  <a:pt x="180" y="25"/>
                </a:lnTo>
                <a:lnTo>
                  <a:pt x="196" y="28"/>
                </a:lnTo>
                <a:lnTo>
                  <a:pt x="213" y="32"/>
                </a:lnTo>
                <a:lnTo>
                  <a:pt x="229" y="35"/>
                </a:lnTo>
                <a:lnTo>
                  <a:pt x="246" y="39"/>
                </a:lnTo>
                <a:lnTo>
                  <a:pt x="262" y="42"/>
                </a:lnTo>
                <a:lnTo>
                  <a:pt x="278" y="45"/>
                </a:lnTo>
                <a:lnTo>
                  <a:pt x="295" y="48"/>
                </a:lnTo>
                <a:lnTo>
                  <a:pt x="311" y="50"/>
                </a:lnTo>
                <a:lnTo>
                  <a:pt x="327" y="52"/>
                </a:lnTo>
                <a:lnTo>
                  <a:pt x="344" y="54"/>
                </a:lnTo>
                <a:lnTo>
                  <a:pt x="360" y="55"/>
                </a:lnTo>
                <a:lnTo>
                  <a:pt x="377" y="56"/>
                </a:lnTo>
                <a:lnTo>
                  <a:pt x="393" y="57"/>
                </a:lnTo>
                <a:lnTo>
                  <a:pt x="393" y="68"/>
                </a:lnTo>
                <a:lnTo>
                  <a:pt x="377" y="68"/>
                </a:lnTo>
                <a:lnTo>
                  <a:pt x="360" y="67"/>
                </a:lnTo>
                <a:lnTo>
                  <a:pt x="344" y="66"/>
                </a:lnTo>
                <a:lnTo>
                  <a:pt x="327" y="64"/>
                </a:lnTo>
                <a:lnTo>
                  <a:pt x="311" y="62"/>
                </a:lnTo>
                <a:lnTo>
                  <a:pt x="295" y="60"/>
                </a:lnTo>
                <a:lnTo>
                  <a:pt x="278" y="57"/>
                </a:lnTo>
                <a:lnTo>
                  <a:pt x="262" y="54"/>
                </a:lnTo>
                <a:lnTo>
                  <a:pt x="246" y="51"/>
                </a:lnTo>
                <a:lnTo>
                  <a:pt x="229" y="47"/>
                </a:lnTo>
                <a:lnTo>
                  <a:pt x="213" y="44"/>
                </a:lnTo>
                <a:lnTo>
                  <a:pt x="196" y="40"/>
                </a:lnTo>
                <a:lnTo>
                  <a:pt x="180" y="37"/>
                </a:lnTo>
                <a:lnTo>
                  <a:pt x="164" y="33"/>
                </a:lnTo>
                <a:lnTo>
                  <a:pt x="147" y="30"/>
                </a:lnTo>
                <a:lnTo>
                  <a:pt x="131" y="27"/>
                </a:lnTo>
                <a:lnTo>
                  <a:pt x="114" y="24"/>
                </a:lnTo>
                <a:lnTo>
                  <a:pt x="98" y="21"/>
                </a:lnTo>
                <a:lnTo>
                  <a:pt x="82" y="18"/>
                </a:lnTo>
                <a:lnTo>
                  <a:pt x="65" y="16"/>
                </a:lnTo>
                <a:lnTo>
                  <a:pt x="49" y="15"/>
                </a:lnTo>
                <a:lnTo>
                  <a:pt x="33" y="13"/>
                </a:lnTo>
                <a:lnTo>
                  <a:pt x="1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2057400" y="2867025"/>
            <a:ext cx="3743325" cy="1790700"/>
          </a:xfrm>
          <a:custGeom>
            <a:avLst/>
            <a:gdLst/>
            <a:ahLst/>
            <a:cxnLst/>
            <a:rect l="l" t="t" r="r" b="b"/>
            <a:pathLst>
              <a:path w="393" h="188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3"/>
                </a:lnTo>
                <a:lnTo>
                  <a:pt x="82" y="20"/>
                </a:lnTo>
                <a:lnTo>
                  <a:pt x="98" y="28"/>
                </a:lnTo>
                <a:lnTo>
                  <a:pt x="114" y="37"/>
                </a:lnTo>
                <a:lnTo>
                  <a:pt x="131" y="46"/>
                </a:lnTo>
                <a:lnTo>
                  <a:pt x="147" y="57"/>
                </a:lnTo>
                <a:lnTo>
                  <a:pt x="164" y="67"/>
                </a:lnTo>
                <a:lnTo>
                  <a:pt x="180" y="78"/>
                </a:lnTo>
                <a:lnTo>
                  <a:pt x="196" y="89"/>
                </a:lnTo>
                <a:lnTo>
                  <a:pt x="213" y="101"/>
                </a:lnTo>
                <a:lnTo>
                  <a:pt x="229" y="112"/>
                </a:lnTo>
                <a:lnTo>
                  <a:pt x="246" y="122"/>
                </a:lnTo>
                <a:lnTo>
                  <a:pt x="262" y="133"/>
                </a:lnTo>
                <a:lnTo>
                  <a:pt x="278" y="142"/>
                </a:lnTo>
                <a:lnTo>
                  <a:pt x="295" y="151"/>
                </a:lnTo>
                <a:lnTo>
                  <a:pt x="311" y="159"/>
                </a:lnTo>
                <a:lnTo>
                  <a:pt x="327" y="166"/>
                </a:lnTo>
                <a:lnTo>
                  <a:pt x="344" y="171"/>
                </a:lnTo>
                <a:lnTo>
                  <a:pt x="360" y="175"/>
                </a:lnTo>
                <a:lnTo>
                  <a:pt x="377" y="178"/>
                </a:lnTo>
                <a:lnTo>
                  <a:pt x="393" y="179"/>
                </a:lnTo>
                <a:lnTo>
                  <a:pt x="393" y="188"/>
                </a:lnTo>
                <a:lnTo>
                  <a:pt x="377" y="188"/>
                </a:lnTo>
                <a:lnTo>
                  <a:pt x="360" y="185"/>
                </a:lnTo>
                <a:lnTo>
                  <a:pt x="344" y="181"/>
                </a:lnTo>
                <a:lnTo>
                  <a:pt x="327" y="175"/>
                </a:lnTo>
                <a:lnTo>
                  <a:pt x="311" y="168"/>
                </a:lnTo>
                <a:lnTo>
                  <a:pt x="295" y="161"/>
                </a:lnTo>
                <a:lnTo>
                  <a:pt x="278" y="152"/>
                </a:lnTo>
                <a:lnTo>
                  <a:pt x="262" y="142"/>
                </a:lnTo>
                <a:lnTo>
                  <a:pt x="246" y="132"/>
                </a:lnTo>
                <a:lnTo>
                  <a:pt x="229" y="121"/>
                </a:lnTo>
                <a:lnTo>
                  <a:pt x="213" y="110"/>
                </a:lnTo>
                <a:lnTo>
                  <a:pt x="196" y="99"/>
                </a:lnTo>
                <a:lnTo>
                  <a:pt x="180" y="88"/>
                </a:lnTo>
                <a:lnTo>
                  <a:pt x="164" y="77"/>
                </a:lnTo>
                <a:lnTo>
                  <a:pt x="147" y="66"/>
                </a:lnTo>
                <a:lnTo>
                  <a:pt x="131" y="56"/>
                </a:lnTo>
                <a:lnTo>
                  <a:pt x="114" y="47"/>
                </a:lnTo>
                <a:lnTo>
                  <a:pt x="98" y="38"/>
                </a:lnTo>
                <a:lnTo>
                  <a:pt x="82" y="30"/>
                </a:lnTo>
                <a:lnTo>
                  <a:pt x="65" y="23"/>
                </a:lnTo>
                <a:lnTo>
                  <a:pt x="49" y="18"/>
                </a:lnTo>
                <a:lnTo>
                  <a:pt x="33" y="13"/>
                </a:lnTo>
                <a:lnTo>
                  <a:pt x="16" y="11"/>
                </a:lnTo>
                <a:lnTo>
                  <a:pt x="0" y="1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Freeform 24"/>
          <p:cNvSpPr/>
          <p:nvPr/>
        </p:nvSpPr>
        <p:spPr>
          <a:xfrm>
            <a:off x="2057400" y="2962275"/>
            <a:ext cx="3743325" cy="2628900"/>
          </a:xfrm>
          <a:custGeom>
            <a:avLst/>
            <a:gdLst/>
            <a:ahLst/>
            <a:cxnLst/>
            <a:rect l="l" t="t" r="r" b="b"/>
            <a:pathLst>
              <a:path w="393" h="276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20"/>
                </a:lnTo>
                <a:lnTo>
                  <a:pt x="82" y="30"/>
                </a:lnTo>
                <a:lnTo>
                  <a:pt x="98" y="42"/>
                </a:lnTo>
                <a:lnTo>
                  <a:pt x="114" y="56"/>
                </a:lnTo>
                <a:lnTo>
                  <a:pt x="131" y="70"/>
                </a:lnTo>
                <a:lnTo>
                  <a:pt x="147" y="86"/>
                </a:lnTo>
                <a:lnTo>
                  <a:pt x="164" y="102"/>
                </a:lnTo>
                <a:lnTo>
                  <a:pt x="180" y="118"/>
                </a:lnTo>
                <a:lnTo>
                  <a:pt x="196" y="135"/>
                </a:lnTo>
                <a:lnTo>
                  <a:pt x="213" y="152"/>
                </a:lnTo>
                <a:lnTo>
                  <a:pt x="229" y="169"/>
                </a:lnTo>
                <a:lnTo>
                  <a:pt x="246" y="185"/>
                </a:lnTo>
                <a:lnTo>
                  <a:pt x="262" y="200"/>
                </a:lnTo>
                <a:lnTo>
                  <a:pt x="278" y="215"/>
                </a:lnTo>
                <a:lnTo>
                  <a:pt x="295" y="228"/>
                </a:lnTo>
                <a:lnTo>
                  <a:pt x="311" y="240"/>
                </a:lnTo>
                <a:lnTo>
                  <a:pt x="327" y="251"/>
                </a:lnTo>
                <a:lnTo>
                  <a:pt x="344" y="259"/>
                </a:lnTo>
                <a:lnTo>
                  <a:pt x="360" y="265"/>
                </a:lnTo>
                <a:lnTo>
                  <a:pt x="377" y="269"/>
                </a:lnTo>
                <a:lnTo>
                  <a:pt x="393" y="271"/>
                </a:lnTo>
                <a:lnTo>
                  <a:pt x="393" y="276"/>
                </a:lnTo>
                <a:lnTo>
                  <a:pt x="377" y="274"/>
                </a:lnTo>
                <a:lnTo>
                  <a:pt x="360" y="270"/>
                </a:lnTo>
                <a:lnTo>
                  <a:pt x="344" y="264"/>
                </a:lnTo>
                <a:lnTo>
                  <a:pt x="327" y="256"/>
                </a:lnTo>
                <a:lnTo>
                  <a:pt x="311" y="245"/>
                </a:lnTo>
                <a:lnTo>
                  <a:pt x="295" y="233"/>
                </a:lnTo>
                <a:lnTo>
                  <a:pt x="278" y="220"/>
                </a:lnTo>
                <a:lnTo>
                  <a:pt x="262" y="205"/>
                </a:lnTo>
                <a:lnTo>
                  <a:pt x="246" y="190"/>
                </a:lnTo>
                <a:lnTo>
                  <a:pt x="229" y="174"/>
                </a:lnTo>
                <a:lnTo>
                  <a:pt x="213" y="157"/>
                </a:lnTo>
                <a:lnTo>
                  <a:pt x="196" y="140"/>
                </a:lnTo>
                <a:lnTo>
                  <a:pt x="180" y="123"/>
                </a:lnTo>
                <a:lnTo>
                  <a:pt x="164" y="107"/>
                </a:lnTo>
                <a:lnTo>
                  <a:pt x="147" y="91"/>
                </a:lnTo>
                <a:lnTo>
                  <a:pt x="131" y="75"/>
                </a:lnTo>
                <a:lnTo>
                  <a:pt x="114" y="61"/>
                </a:lnTo>
                <a:lnTo>
                  <a:pt x="98" y="47"/>
                </a:lnTo>
                <a:lnTo>
                  <a:pt x="82" y="35"/>
                </a:lnTo>
                <a:lnTo>
                  <a:pt x="65" y="25"/>
                </a:lnTo>
                <a:lnTo>
                  <a:pt x="49" y="16"/>
                </a:lnTo>
                <a:lnTo>
                  <a:pt x="33" y="10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Freeform 25"/>
          <p:cNvSpPr/>
          <p:nvPr/>
        </p:nvSpPr>
        <p:spPr>
          <a:xfrm>
            <a:off x="2057400" y="3009900"/>
            <a:ext cx="3743325" cy="3095625"/>
          </a:xfrm>
          <a:custGeom>
            <a:avLst/>
            <a:gdLst/>
            <a:ahLst/>
            <a:cxnLst/>
            <a:rect l="l" t="t" r="r" b="b"/>
            <a:pathLst>
              <a:path w="393" h="325">
                <a:moveTo>
                  <a:pt x="0" y="0"/>
                </a:moveTo>
                <a:lnTo>
                  <a:pt x="16" y="1"/>
                </a:lnTo>
                <a:lnTo>
                  <a:pt x="33" y="6"/>
                </a:lnTo>
                <a:lnTo>
                  <a:pt x="49" y="14"/>
                </a:lnTo>
                <a:lnTo>
                  <a:pt x="65" y="24"/>
                </a:lnTo>
                <a:lnTo>
                  <a:pt x="82" y="36"/>
                </a:lnTo>
                <a:lnTo>
                  <a:pt x="98" y="50"/>
                </a:lnTo>
                <a:lnTo>
                  <a:pt x="114" y="66"/>
                </a:lnTo>
                <a:lnTo>
                  <a:pt x="131" y="84"/>
                </a:lnTo>
                <a:lnTo>
                  <a:pt x="147" y="102"/>
                </a:lnTo>
                <a:lnTo>
                  <a:pt x="164" y="121"/>
                </a:lnTo>
                <a:lnTo>
                  <a:pt x="180" y="141"/>
                </a:lnTo>
                <a:lnTo>
                  <a:pt x="196" y="161"/>
                </a:lnTo>
                <a:lnTo>
                  <a:pt x="213" y="181"/>
                </a:lnTo>
                <a:lnTo>
                  <a:pt x="229" y="201"/>
                </a:lnTo>
                <a:lnTo>
                  <a:pt x="246" y="221"/>
                </a:lnTo>
                <a:lnTo>
                  <a:pt x="262" y="239"/>
                </a:lnTo>
                <a:lnTo>
                  <a:pt x="278" y="256"/>
                </a:lnTo>
                <a:lnTo>
                  <a:pt x="295" y="272"/>
                </a:lnTo>
                <a:lnTo>
                  <a:pt x="311" y="286"/>
                </a:lnTo>
                <a:lnTo>
                  <a:pt x="327" y="299"/>
                </a:lnTo>
                <a:lnTo>
                  <a:pt x="344" y="309"/>
                </a:lnTo>
                <a:lnTo>
                  <a:pt x="360" y="316"/>
                </a:lnTo>
                <a:lnTo>
                  <a:pt x="377" y="321"/>
                </a:lnTo>
                <a:lnTo>
                  <a:pt x="393" y="323"/>
                </a:lnTo>
                <a:lnTo>
                  <a:pt x="393" y="325"/>
                </a:lnTo>
                <a:lnTo>
                  <a:pt x="377" y="323"/>
                </a:lnTo>
                <a:lnTo>
                  <a:pt x="360" y="318"/>
                </a:lnTo>
                <a:lnTo>
                  <a:pt x="344" y="311"/>
                </a:lnTo>
                <a:lnTo>
                  <a:pt x="327" y="301"/>
                </a:lnTo>
                <a:lnTo>
                  <a:pt x="311" y="289"/>
                </a:lnTo>
                <a:lnTo>
                  <a:pt x="295" y="274"/>
                </a:lnTo>
                <a:lnTo>
                  <a:pt x="278" y="258"/>
                </a:lnTo>
                <a:lnTo>
                  <a:pt x="262" y="241"/>
                </a:lnTo>
                <a:lnTo>
                  <a:pt x="246" y="223"/>
                </a:lnTo>
                <a:lnTo>
                  <a:pt x="229" y="203"/>
                </a:lnTo>
                <a:lnTo>
                  <a:pt x="213" y="183"/>
                </a:lnTo>
                <a:lnTo>
                  <a:pt x="196" y="163"/>
                </a:lnTo>
                <a:lnTo>
                  <a:pt x="180" y="143"/>
                </a:lnTo>
                <a:lnTo>
                  <a:pt x="164" y="123"/>
                </a:lnTo>
                <a:lnTo>
                  <a:pt x="147" y="104"/>
                </a:lnTo>
                <a:lnTo>
                  <a:pt x="131" y="86"/>
                </a:lnTo>
                <a:lnTo>
                  <a:pt x="114" y="68"/>
                </a:lnTo>
                <a:lnTo>
                  <a:pt x="98" y="52"/>
                </a:lnTo>
                <a:lnTo>
                  <a:pt x="82" y="38"/>
                </a:lnTo>
                <a:lnTo>
                  <a:pt x="65" y="26"/>
                </a:lnTo>
                <a:lnTo>
                  <a:pt x="49" y="16"/>
                </a:lnTo>
                <a:lnTo>
                  <a:pt x="33" y="8"/>
                </a:lnTo>
                <a:lnTo>
                  <a:pt x="16" y="4"/>
                </a:lnTo>
                <a:lnTo>
                  <a:pt x="0" y="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Freeform 26"/>
          <p:cNvSpPr/>
          <p:nvPr/>
        </p:nvSpPr>
        <p:spPr>
          <a:xfrm>
            <a:off x="2057400" y="2057400"/>
            <a:ext cx="3743325" cy="1133475"/>
          </a:xfrm>
          <a:custGeom>
            <a:avLst/>
            <a:gdLst/>
            <a:ahLst/>
            <a:cxnLst/>
            <a:rect l="l" t="t" r="r" b="b"/>
            <a:pathLst>
              <a:path w="393" h="119">
                <a:moveTo>
                  <a:pt x="0" y="108"/>
                </a:moveTo>
                <a:lnTo>
                  <a:pt x="16" y="107"/>
                </a:lnTo>
                <a:lnTo>
                  <a:pt x="33" y="106"/>
                </a:lnTo>
                <a:lnTo>
                  <a:pt x="49" y="103"/>
                </a:lnTo>
                <a:lnTo>
                  <a:pt x="65" y="100"/>
                </a:lnTo>
                <a:lnTo>
                  <a:pt x="82" y="96"/>
                </a:lnTo>
                <a:lnTo>
                  <a:pt x="98" y="91"/>
                </a:lnTo>
                <a:lnTo>
                  <a:pt x="114" y="86"/>
                </a:lnTo>
                <a:lnTo>
                  <a:pt x="131" y="80"/>
                </a:lnTo>
                <a:lnTo>
                  <a:pt x="147" y="74"/>
                </a:lnTo>
                <a:lnTo>
                  <a:pt x="164" y="67"/>
                </a:lnTo>
                <a:lnTo>
                  <a:pt x="180" y="61"/>
                </a:lnTo>
                <a:lnTo>
                  <a:pt x="196" y="54"/>
                </a:lnTo>
                <a:lnTo>
                  <a:pt x="213" y="47"/>
                </a:lnTo>
                <a:lnTo>
                  <a:pt x="229" y="41"/>
                </a:lnTo>
                <a:lnTo>
                  <a:pt x="246" y="34"/>
                </a:lnTo>
                <a:lnTo>
                  <a:pt x="262" y="28"/>
                </a:lnTo>
                <a:lnTo>
                  <a:pt x="278" y="22"/>
                </a:lnTo>
                <a:lnTo>
                  <a:pt x="295" y="17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11"/>
                </a:lnTo>
                <a:lnTo>
                  <a:pt x="377" y="12"/>
                </a:lnTo>
                <a:lnTo>
                  <a:pt x="360" y="13"/>
                </a:lnTo>
                <a:lnTo>
                  <a:pt x="344" y="16"/>
                </a:lnTo>
                <a:lnTo>
                  <a:pt x="327" y="19"/>
                </a:lnTo>
                <a:lnTo>
                  <a:pt x="311" y="23"/>
                </a:lnTo>
                <a:lnTo>
                  <a:pt x="295" y="28"/>
                </a:lnTo>
                <a:lnTo>
                  <a:pt x="278" y="33"/>
                </a:lnTo>
                <a:lnTo>
                  <a:pt x="262" y="39"/>
                </a:lnTo>
                <a:lnTo>
                  <a:pt x="246" y="45"/>
                </a:lnTo>
                <a:lnTo>
                  <a:pt x="229" y="52"/>
                </a:lnTo>
                <a:lnTo>
                  <a:pt x="213" y="58"/>
                </a:lnTo>
                <a:lnTo>
                  <a:pt x="196" y="65"/>
                </a:lnTo>
                <a:lnTo>
                  <a:pt x="180" y="72"/>
                </a:lnTo>
                <a:lnTo>
                  <a:pt x="164" y="79"/>
                </a:lnTo>
                <a:lnTo>
                  <a:pt x="147" y="85"/>
                </a:lnTo>
                <a:lnTo>
                  <a:pt x="131" y="91"/>
                </a:lnTo>
                <a:lnTo>
                  <a:pt x="114" y="97"/>
                </a:lnTo>
                <a:lnTo>
                  <a:pt x="98" y="102"/>
                </a:lnTo>
                <a:lnTo>
                  <a:pt x="82" y="107"/>
                </a:lnTo>
                <a:lnTo>
                  <a:pt x="65" y="111"/>
                </a:lnTo>
                <a:lnTo>
                  <a:pt x="49" y="115"/>
                </a:lnTo>
                <a:lnTo>
                  <a:pt x="33" y="117"/>
                </a:lnTo>
                <a:lnTo>
                  <a:pt x="16" y="119"/>
                </a:lnTo>
                <a:lnTo>
                  <a:pt x="0" y="119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Freeform 27"/>
          <p:cNvSpPr/>
          <p:nvPr/>
        </p:nvSpPr>
        <p:spPr>
          <a:xfrm>
            <a:off x="2057400" y="3190875"/>
            <a:ext cx="3743325" cy="314325"/>
          </a:xfrm>
          <a:custGeom>
            <a:avLst/>
            <a:gdLst/>
            <a:ahLst/>
            <a:cxnLst/>
            <a:rect l="l" t="t" r="r" b="b"/>
            <a:pathLst>
              <a:path w="393" h="33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4"/>
                </a:lnTo>
                <a:lnTo>
                  <a:pt x="114" y="5"/>
                </a:lnTo>
                <a:lnTo>
                  <a:pt x="131" y="6"/>
                </a:lnTo>
                <a:lnTo>
                  <a:pt x="147" y="7"/>
                </a:lnTo>
                <a:lnTo>
                  <a:pt x="164" y="9"/>
                </a:lnTo>
                <a:lnTo>
                  <a:pt x="180" y="10"/>
                </a:lnTo>
                <a:lnTo>
                  <a:pt x="196" y="11"/>
                </a:lnTo>
                <a:lnTo>
                  <a:pt x="213" y="13"/>
                </a:lnTo>
                <a:lnTo>
                  <a:pt x="229" y="14"/>
                </a:lnTo>
                <a:lnTo>
                  <a:pt x="246" y="15"/>
                </a:lnTo>
                <a:lnTo>
                  <a:pt x="262" y="17"/>
                </a:lnTo>
                <a:lnTo>
                  <a:pt x="278" y="18"/>
                </a:lnTo>
                <a:lnTo>
                  <a:pt x="295" y="19"/>
                </a:lnTo>
                <a:lnTo>
                  <a:pt x="311" y="20"/>
                </a:lnTo>
                <a:lnTo>
                  <a:pt x="327" y="21"/>
                </a:lnTo>
                <a:lnTo>
                  <a:pt x="344" y="21"/>
                </a:lnTo>
                <a:lnTo>
                  <a:pt x="360" y="22"/>
                </a:lnTo>
                <a:lnTo>
                  <a:pt x="377" y="22"/>
                </a:lnTo>
                <a:lnTo>
                  <a:pt x="393" y="22"/>
                </a:lnTo>
                <a:lnTo>
                  <a:pt x="393" y="33"/>
                </a:lnTo>
                <a:lnTo>
                  <a:pt x="377" y="33"/>
                </a:lnTo>
                <a:lnTo>
                  <a:pt x="360" y="32"/>
                </a:lnTo>
                <a:lnTo>
                  <a:pt x="344" y="32"/>
                </a:lnTo>
                <a:lnTo>
                  <a:pt x="327" y="31"/>
                </a:lnTo>
                <a:lnTo>
                  <a:pt x="311" y="30"/>
                </a:lnTo>
                <a:lnTo>
                  <a:pt x="295" y="29"/>
                </a:lnTo>
                <a:lnTo>
                  <a:pt x="278" y="28"/>
                </a:lnTo>
                <a:lnTo>
                  <a:pt x="262" y="27"/>
                </a:lnTo>
                <a:lnTo>
                  <a:pt x="246" y="26"/>
                </a:lnTo>
                <a:lnTo>
                  <a:pt x="229" y="24"/>
                </a:lnTo>
                <a:lnTo>
                  <a:pt x="213" y="23"/>
                </a:lnTo>
                <a:lnTo>
                  <a:pt x="196" y="22"/>
                </a:lnTo>
                <a:lnTo>
                  <a:pt x="180" y="20"/>
                </a:lnTo>
                <a:lnTo>
                  <a:pt x="164" y="19"/>
                </a:lnTo>
                <a:lnTo>
                  <a:pt x="147" y="18"/>
                </a:lnTo>
                <a:lnTo>
                  <a:pt x="131" y="16"/>
                </a:lnTo>
                <a:lnTo>
                  <a:pt x="114" y="15"/>
                </a:lnTo>
                <a:lnTo>
                  <a:pt x="98" y="14"/>
                </a:lnTo>
                <a:lnTo>
                  <a:pt x="82" y="13"/>
                </a:lnTo>
                <a:lnTo>
                  <a:pt x="65" y="12"/>
                </a:lnTo>
                <a:lnTo>
                  <a:pt x="49" y="12"/>
                </a:lnTo>
                <a:lnTo>
                  <a:pt x="33" y="11"/>
                </a:lnTo>
                <a:lnTo>
                  <a:pt x="1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Freeform 28"/>
          <p:cNvSpPr/>
          <p:nvPr/>
        </p:nvSpPr>
        <p:spPr>
          <a:xfrm>
            <a:off x="2057400" y="3295650"/>
            <a:ext cx="3743325" cy="1466850"/>
          </a:xfrm>
          <a:custGeom>
            <a:avLst/>
            <a:gdLst/>
            <a:ahLst/>
            <a:cxnLst/>
            <a:rect l="l" t="t" r="r" b="b"/>
            <a:pathLst>
              <a:path w="393" h="154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6"/>
                </a:lnTo>
                <a:lnTo>
                  <a:pt x="65" y="10"/>
                </a:lnTo>
                <a:lnTo>
                  <a:pt x="82" y="16"/>
                </a:lnTo>
                <a:lnTo>
                  <a:pt x="98" y="22"/>
                </a:lnTo>
                <a:lnTo>
                  <a:pt x="114" y="29"/>
                </a:lnTo>
                <a:lnTo>
                  <a:pt x="131" y="37"/>
                </a:lnTo>
                <a:lnTo>
                  <a:pt x="147" y="45"/>
                </a:lnTo>
                <a:lnTo>
                  <a:pt x="164" y="54"/>
                </a:lnTo>
                <a:lnTo>
                  <a:pt x="180" y="63"/>
                </a:lnTo>
                <a:lnTo>
                  <a:pt x="196" y="72"/>
                </a:lnTo>
                <a:lnTo>
                  <a:pt x="213" y="81"/>
                </a:lnTo>
                <a:lnTo>
                  <a:pt x="229" y="89"/>
                </a:lnTo>
                <a:lnTo>
                  <a:pt x="246" y="98"/>
                </a:lnTo>
                <a:lnTo>
                  <a:pt x="262" y="106"/>
                </a:lnTo>
                <a:lnTo>
                  <a:pt x="278" y="114"/>
                </a:lnTo>
                <a:lnTo>
                  <a:pt x="295" y="121"/>
                </a:lnTo>
                <a:lnTo>
                  <a:pt x="311" y="127"/>
                </a:lnTo>
                <a:lnTo>
                  <a:pt x="327" y="133"/>
                </a:lnTo>
                <a:lnTo>
                  <a:pt x="344" y="137"/>
                </a:lnTo>
                <a:lnTo>
                  <a:pt x="360" y="141"/>
                </a:lnTo>
                <a:lnTo>
                  <a:pt x="377" y="143"/>
                </a:lnTo>
                <a:lnTo>
                  <a:pt x="393" y="143"/>
                </a:lnTo>
                <a:lnTo>
                  <a:pt x="393" y="154"/>
                </a:lnTo>
                <a:lnTo>
                  <a:pt x="377" y="153"/>
                </a:lnTo>
                <a:lnTo>
                  <a:pt x="360" y="151"/>
                </a:lnTo>
                <a:lnTo>
                  <a:pt x="344" y="148"/>
                </a:lnTo>
                <a:lnTo>
                  <a:pt x="327" y="143"/>
                </a:lnTo>
                <a:lnTo>
                  <a:pt x="311" y="138"/>
                </a:lnTo>
                <a:lnTo>
                  <a:pt x="295" y="131"/>
                </a:lnTo>
                <a:lnTo>
                  <a:pt x="278" y="124"/>
                </a:lnTo>
                <a:lnTo>
                  <a:pt x="262" y="117"/>
                </a:lnTo>
                <a:lnTo>
                  <a:pt x="246" y="108"/>
                </a:lnTo>
                <a:lnTo>
                  <a:pt x="229" y="100"/>
                </a:lnTo>
                <a:lnTo>
                  <a:pt x="213" y="91"/>
                </a:lnTo>
                <a:lnTo>
                  <a:pt x="196" y="82"/>
                </a:lnTo>
                <a:lnTo>
                  <a:pt x="180" y="73"/>
                </a:lnTo>
                <a:lnTo>
                  <a:pt x="164" y="64"/>
                </a:lnTo>
                <a:lnTo>
                  <a:pt x="147" y="56"/>
                </a:lnTo>
                <a:lnTo>
                  <a:pt x="131" y="47"/>
                </a:lnTo>
                <a:lnTo>
                  <a:pt x="114" y="40"/>
                </a:lnTo>
                <a:lnTo>
                  <a:pt x="98" y="32"/>
                </a:lnTo>
                <a:lnTo>
                  <a:pt x="82" y="26"/>
                </a:lnTo>
                <a:lnTo>
                  <a:pt x="65" y="21"/>
                </a:lnTo>
                <a:lnTo>
                  <a:pt x="49" y="16"/>
                </a:lnTo>
                <a:lnTo>
                  <a:pt x="33" y="13"/>
                </a:lnTo>
                <a:lnTo>
                  <a:pt x="16" y="11"/>
                </a:lnTo>
                <a:lnTo>
                  <a:pt x="0" y="10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Freeform 29"/>
          <p:cNvSpPr/>
          <p:nvPr/>
        </p:nvSpPr>
        <p:spPr>
          <a:xfrm>
            <a:off x="2057400" y="3390900"/>
            <a:ext cx="3743325" cy="2247900"/>
          </a:xfrm>
          <a:custGeom>
            <a:avLst/>
            <a:gdLst/>
            <a:ahLst/>
            <a:cxnLst/>
            <a:rect l="l" t="t" r="r" b="b"/>
            <a:pathLst>
              <a:path w="393" h="236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0"/>
                </a:lnTo>
                <a:lnTo>
                  <a:pt x="65" y="17"/>
                </a:lnTo>
                <a:lnTo>
                  <a:pt x="82" y="26"/>
                </a:lnTo>
                <a:lnTo>
                  <a:pt x="98" y="36"/>
                </a:lnTo>
                <a:lnTo>
                  <a:pt x="114" y="47"/>
                </a:lnTo>
                <a:lnTo>
                  <a:pt x="131" y="60"/>
                </a:lnTo>
                <a:lnTo>
                  <a:pt x="147" y="73"/>
                </a:lnTo>
                <a:lnTo>
                  <a:pt x="164" y="87"/>
                </a:lnTo>
                <a:lnTo>
                  <a:pt x="180" y="101"/>
                </a:lnTo>
                <a:lnTo>
                  <a:pt x="196" y="115"/>
                </a:lnTo>
                <a:lnTo>
                  <a:pt x="213" y="130"/>
                </a:lnTo>
                <a:lnTo>
                  <a:pt x="229" y="144"/>
                </a:lnTo>
                <a:lnTo>
                  <a:pt x="246" y="158"/>
                </a:lnTo>
                <a:lnTo>
                  <a:pt x="262" y="171"/>
                </a:lnTo>
                <a:lnTo>
                  <a:pt x="278" y="183"/>
                </a:lnTo>
                <a:lnTo>
                  <a:pt x="295" y="195"/>
                </a:lnTo>
                <a:lnTo>
                  <a:pt x="311" y="205"/>
                </a:lnTo>
                <a:lnTo>
                  <a:pt x="327" y="213"/>
                </a:lnTo>
                <a:lnTo>
                  <a:pt x="344" y="221"/>
                </a:lnTo>
                <a:lnTo>
                  <a:pt x="360" y="226"/>
                </a:lnTo>
                <a:lnTo>
                  <a:pt x="377" y="229"/>
                </a:lnTo>
                <a:lnTo>
                  <a:pt x="393" y="231"/>
                </a:lnTo>
                <a:lnTo>
                  <a:pt x="393" y="236"/>
                </a:lnTo>
                <a:lnTo>
                  <a:pt x="377" y="235"/>
                </a:lnTo>
                <a:lnTo>
                  <a:pt x="360" y="232"/>
                </a:lnTo>
                <a:lnTo>
                  <a:pt x="344" y="226"/>
                </a:lnTo>
                <a:lnTo>
                  <a:pt x="327" y="219"/>
                </a:lnTo>
                <a:lnTo>
                  <a:pt x="311" y="210"/>
                </a:lnTo>
                <a:lnTo>
                  <a:pt x="295" y="200"/>
                </a:lnTo>
                <a:lnTo>
                  <a:pt x="278" y="189"/>
                </a:lnTo>
                <a:lnTo>
                  <a:pt x="262" y="176"/>
                </a:lnTo>
                <a:lnTo>
                  <a:pt x="246" y="163"/>
                </a:lnTo>
                <a:lnTo>
                  <a:pt x="229" y="149"/>
                </a:lnTo>
                <a:lnTo>
                  <a:pt x="213" y="135"/>
                </a:lnTo>
                <a:lnTo>
                  <a:pt x="196" y="121"/>
                </a:lnTo>
                <a:lnTo>
                  <a:pt x="180" y="107"/>
                </a:lnTo>
                <a:lnTo>
                  <a:pt x="164" y="92"/>
                </a:lnTo>
                <a:lnTo>
                  <a:pt x="147" y="79"/>
                </a:lnTo>
                <a:lnTo>
                  <a:pt x="131" y="65"/>
                </a:lnTo>
                <a:lnTo>
                  <a:pt x="114" y="53"/>
                </a:lnTo>
                <a:lnTo>
                  <a:pt x="98" y="42"/>
                </a:lnTo>
                <a:lnTo>
                  <a:pt x="82" y="31"/>
                </a:lnTo>
                <a:lnTo>
                  <a:pt x="65" y="23"/>
                </a:lnTo>
                <a:lnTo>
                  <a:pt x="49" y="16"/>
                </a:lnTo>
                <a:lnTo>
                  <a:pt x="33" y="10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Freeform 30"/>
          <p:cNvSpPr/>
          <p:nvPr/>
        </p:nvSpPr>
        <p:spPr>
          <a:xfrm>
            <a:off x="2057400" y="3448050"/>
            <a:ext cx="3743325" cy="2676525"/>
          </a:xfrm>
          <a:custGeom>
            <a:avLst/>
            <a:gdLst/>
            <a:ahLst/>
            <a:cxnLst/>
            <a:rect l="l" t="t" r="r" b="b"/>
            <a:pathLst>
              <a:path w="393" h="281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2"/>
                </a:lnTo>
                <a:lnTo>
                  <a:pt x="65" y="20"/>
                </a:lnTo>
                <a:lnTo>
                  <a:pt x="82" y="31"/>
                </a:lnTo>
                <a:lnTo>
                  <a:pt x="98" y="43"/>
                </a:lnTo>
                <a:lnTo>
                  <a:pt x="114" y="57"/>
                </a:lnTo>
                <a:lnTo>
                  <a:pt x="131" y="72"/>
                </a:lnTo>
                <a:lnTo>
                  <a:pt x="147" y="88"/>
                </a:lnTo>
                <a:lnTo>
                  <a:pt x="164" y="105"/>
                </a:lnTo>
                <a:lnTo>
                  <a:pt x="180" y="122"/>
                </a:lnTo>
                <a:lnTo>
                  <a:pt x="196" y="139"/>
                </a:lnTo>
                <a:lnTo>
                  <a:pt x="213" y="157"/>
                </a:lnTo>
                <a:lnTo>
                  <a:pt x="229" y="174"/>
                </a:lnTo>
                <a:lnTo>
                  <a:pt x="246" y="190"/>
                </a:lnTo>
                <a:lnTo>
                  <a:pt x="262" y="206"/>
                </a:lnTo>
                <a:lnTo>
                  <a:pt x="278" y="221"/>
                </a:lnTo>
                <a:lnTo>
                  <a:pt x="295" y="235"/>
                </a:lnTo>
                <a:lnTo>
                  <a:pt x="311" y="247"/>
                </a:lnTo>
                <a:lnTo>
                  <a:pt x="327" y="258"/>
                </a:lnTo>
                <a:lnTo>
                  <a:pt x="344" y="267"/>
                </a:lnTo>
                <a:lnTo>
                  <a:pt x="360" y="273"/>
                </a:lnTo>
                <a:lnTo>
                  <a:pt x="377" y="277"/>
                </a:lnTo>
                <a:lnTo>
                  <a:pt x="393" y="279"/>
                </a:lnTo>
                <a:lnTo>
                  <a:pt x="393" y="281"/>
                </a:lnTo>
                <a:lnTo>
                  <a:pt x="377" y="280"/>
                </a:lnTo>
                <a:lnTo>
                  <a:pt x="360" y="276"/>
                </a:lnTo>
                <a:lnTo>
                  <a:pt x="344" y="269"/>
                </a:lnTo>
                <a:lnTo>
                  <a:pt x="327" y="260"/>
                </a:lnTo>
                <a:lnTo>
                  <a:pt x="311" y="250"/>
                </a:lnTo>
                <a:lnTo>
                  <a:pt x="295" y="238"/>
                </a:lnTo>
                <a:lnTo>
                  <a:pt x="278" y="224"/>
                </a:lnTo>
                <a:lnTo>
                  <a:pt x="262" y="209"/>
                </a:lnTo>
                <a:lnTo>
                  <a:pt x="246" y="193"/>
                </a:lnTo>
                <a:lnTo>
                  <a:pt x="229" y="176"/>
                </a:lnTo>
                <a:lnTo>
                  <a:pt x="213" y="159"/>
                </a:lnTo>
                <a:lnTo>
                  <a:pt x="196" y="142"/>
                </a:lnTo>
                <a:lnTo>
                  <a:pt x="180" y="124"/>
                </a:lnTo>
                <a:lnTo>
                  <a:pt x="164" y="107"/>
                </a:lnTo>
                <a:lnTo>
                  <a:pt x="147" y="90"/>
                </a:lnTo>
                <a:lnTo>
                  <a:pt x="131" y="74"/>
                </a:lnTo>
                <a:lnTo>
                  <a:pt x="114" y="59"/>
                </a:lnTo>
                <a:lnTo>
                  <a:pt x="98" y="46"/>
                </a:lnTo>
                <a:lnTo>
                  <a:pt x="82" y="33"/>
                </a:lnTo>
                <a:lnTo>
                  <a:pt x="65" y="23"/>
                </a:lnTo>
                <a:lnTo>
                  <a:pt x="49" y="14"/>
                </a:lnTo>
                <a:lnTo>
                  <a:pt x="33" y="8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Freeform 31"/>
          <p:cNvSpPr/>
          <p:nvPr/>
        </p:nvSpPr>
        <p:spPr>
          <a:xfrm>
            <a:off x="2057400" y="2162175"/>
            <a:ext cx="3743325" cy="1457325"/>
          </a:xfrm>
          <a:custGeom>
            <a:avLst/>
            <a:gdLst/>
            <a:ahLst/>
            <a:cxnLst/>
            <a:rect l="l" t="t" r="r" b="b"/>
            <a:pathLst>
              <a:path w="393" h="153">
                <a:moveTo>
                  <a:pt x="0" y="143"/>
                </a:moveTo>
                <a:lnTo>
                  <a:pt x="16" y="142"/>
                </a:lnTo>
                <a:lnTo>
                  <a:pt x="33" y="140"/>
                </a:lnTo>
                <a:lnTo>
                  <a:pt x="49" y="137"/>
                </a:lnTo>
                <a:lnTo>
                  <a:pt x="65" y="132"/>
                </a:lnTo>
                <a:lnTo>
                  <a:pt x="82" y="127"/>
                </a:lnTo>
                <a:lnTo>
                  <a:pt x="98" y="121"/>
                </a:lnTo>
                <a:lnTo>
                  <a:pt x="114" y="114"/>
                </a:lnTo>
                <a:lnTo>
                  <a:pt x="131" y="106"/>
                </a:lnTo>
                <a:lnTo>
                  <a:pt x="147" y="98"/>
                </a:lnTo>
                <a:lnTo>
                  <a:pt x="164" y="89"/>
                </a:lnTo>
                <a:lnTo>
                  <a:pt x="180" y="80"/>
                </a:lnTo>
                <a:lnTo>
                  <a:pt x="196" y="72"/>
                </a:lnTo>
                <a:lnTo>
                  <a:pt x="213" y="63"/>
                </a:lnTo>
                <a:lnTo>
                  <a:pt x="229" y="54"/>
                </a:lnTo>
                <a:lnTo>
                  <a:pt x="246" y="45"/>
                </a:lnTo>
                <a:lnTo>
                  <a:pt x="262" y="37"/>
                </a:lnTo>
                <a:lnTo>
                  <a:pt x="278" y="30"/>
                </a:lnTo>
                <a:lnTo>
                  <a:pt x="295" y="22"/>
                </a:lnTo>
                <a:lnTo>
                  <a:pt x="311" y="16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1"/>
                </a:lnTo>
                <a:lnTo>
                  <a:pt x="360" y="13"/>
                </a:lnTo>
                <a:lnTo>
                  <a:pt x="344" y="16"/>
                </a:lnTo>
                <a:lnTo>
                  <a:pt x="327" y="20"/>
                </a:lnTo>
                <a:lnTo>
                  <a:pt x="311" y="26"/>
                </a:lnTo>
                <a:lnTo>
                  <a:pt x="295" y="32"/>
                </a:lnTo>
                <a:lnTo>
                  <a:pt x="278" y="39"/>
                </a:lnTo>
                <a:lnTo>
                  <a:pt x="262" y="47"/>
                </a:lnTo>
                <a:lnTo>
                  <a:pt x="246" y="55"/>
                </a:lnTo>
                <a:lnTo>
                  <a:pt x="229" y="64"/>
                </a:lnTo>
                <a:lnTo>
                  <a:pt x="213" y="72"/>
                </a:lnTo>
                <a:lnTo>
                  <a:pt x="196" y="81"/>
                </a:lnTo>
                <a:lnTo>
                  <a:pt x="180" y="90"/>
                </a:lnTo>
                <a:lnTo>
                  <a:pt x="164" y="99"/>
                </a:lnTo>
                <a:lnTo>
                  <a:pt x="147" y="108"/>
                </a:lnTo>
                <a:lnTo>
                  <a:pt x="131" y="116"/>
                </a:lnTo>
                <a:lnTo>
                  <a:pt x="114" y="123"/>
                </a:lnTo>
                <a:lnTo>
                  <a:pt x="98" y="130"/>
                </a:lnTo>
                <a:lnTo>
                  <a:pt x="82" y="137"/>
                </a:lnTo>
                <a:lnTo>
                  <a:pt x="65" y="142"/>
                </a:lnTo>
                <a:lnTo>
                  <a:pt x="49" y="147"/>
                </a:lnTo>
                <a:lnTo>
                  <a:pt x="33" y="150"/>
                </a:lnTo>
                <a:lnTo>
                  <a:pt x="16" y="152"/>
                </a:lnTo>
                <a:lnTo>
                  <a:pt x="0" y="153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Freeform 32"/>
          <p:cNvSpPr/>
          <p:nvPr/>
        </p:nvSpPr>
        <p:spPr>
          <a:xfrm>
            <a:off x="2057400" y="3505200"/>
            <a:ext cx="3743325" cy="219075"/>
          </a:xfrm>
          <a:custGeom>
            <a:avLst/>
            <a:gdLst/>
            <a:ahLst/>
            <a:cxnLst/>
            <a:rect l="l" t="t" r="r" b="b"/>
            <a:pathLst>
              <a:path w="393" h="23">
                <a:moveTo>
                  <a:pt x="0" y="12"/>
                </a:moveTo>
                <a:lnTo>
                  <a:pt x="16" y="12"/>
                </a:lnTo>
                <a:lnTo>
                  <a:pt x="33" y="12"/>
                </a:lnTo>
                <a:lnTo>
                  <a:pt x="49" y="11"/>
                </a:lnTo>
                <a:lnTo>
                  <a:pt x="65" y="11"/>
                </a:lnTo>
                <a:lnTo>
                  <a:pt x="82" y="10"/>
                </a:lnTo>
                <a:lnTo>
                  <a:pt x="98" y="10"/>
                </a:lnTo>
                <a:lnTo>
                  <a:pt x="114" y="9"/>
                </a:lnTo>
                <a:lnTo>
                  <a:pt x="131" y="9"/>
                </a:lnTo>
                <a:lnTo>
                  <a:pt x="147" y="8"/>
                </a:lnTo>
                <a:lnTo>
                  <a:pt x="164" y="7"/>
                </a:lnTo>
                <a:lnTo>
                  <a:pt x="180" y="6"/>
                </a:lnTo>
                <a:lnTo>
                  <a:pt x="196" y="6"/>
                </a:lnTo>
                <a:lnTo>
                  <a:pt x="213" y="5"/>
                </a:lnTo>
                <a:lnTo>
                  <a:pt x="229" y="4"/>
                </a:lnTo>
                <a:lnTo>
                  <a:pt x="246" y="3"/>
                </a:lnTo>
                <a:lnTo>
                  <a:pt x="262" y="3"/>
                </a:lnTo>
                <a:lnTo>
                  <a:pt x="278" y="2"/>
                </a:lnTo>
                <a:lnTo>
                  <a:pt x="295" y="2"/>
                </a:lnTo>
                <a:lnTo>
                  <a:pt x="311" y="1"/>
                </a:lnTo>
                <a:lnTo>
                  <a:pt x="327" y="1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1"/>
                </a:lnTo>
                <a:lnTo>
                  <a:pt x="377" y="11"/>
                </a:lnTo>
                <a:lnTo>
                  <a:pt x="360" y="11"/>
                </a:lnTo>
                <a:lnTo>
                  <a:pt x="344" y="11"/>
                </a:lnTo>
                <a:lnTo>
                  <a:pt x="327" y="12"/>
                </a:lnTo>
                <a:lnTo>
                  <a:pt x="311" y="12"/>
                </a:lnTo>
                <a:lnTo>
                  <a:pt x="295" y="13"/>
                </a:lnTo>
                <a:lnTo>
                  <a:pt x="278" y="13"/>
                </a:lnTo>
                <a:lnTo>
                  <a:pt x="262" y="14"/>
                </a:lnTo>
                <a:lnTo>
                  <a:pt x="246" y="15"/>
                </a:lnTo>
                <a:lnTo>
                  <a:pt x="229" y="15"/>
                </a:lnTo>
                <a:lnTo>
                  <a:pt x="213" y="16"/>
                </a:lnTo>
                <a:lnTo>
                  <a:pt x="196" y="17"/>
                </a:lnTo>
                <a:lnTo>
                  <a:pt x="180" y="18"/>
                </a:lnTo>
                <a:lnTo>
                  <a:pt x="164" y="18"/>
                </a:lnTo>
                <a:lnTo>
                  <a:pt x="147" y="19"/>
                </a:lnTo>
                <a:lnTo>
                  <a:pt x="131" y="20"/>
                </a:lnTo>
                <a:lnTo>
                  <a:pt x="114" y="20"/>
                </a:lnTo>
                <a:lnTo>
                  <a:pt x="98" y="21"/>
                </a:lnTo>
                <a:lnTo>
                  <a:pt x="82" y="22"/>
                </a:lnTo>
                <a:lnTo>
                  <a:pt x="65" y="22"/>
                </a:lnTo>
                <a:lnTo>
                  <a:pt x="49" y="22"/>
                </a:lnTo>
                <a:lnTo>
                  <a:pt x="33" y="23"/>
                </a:lnTo>
                <a:lnTo>
                  <a:pt x="1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Freeform 33"/>
          <p:cNvSpPr/>
          <p:nvPr/>
        </p:nvSpPr>
        <p:spPr>
          <a:xfrm>
            <a:off x="2057400" y="3724275"/>
            <a:ext cx="3743325" cy="1114425"/>
          </a:xfrm>
          <a:custGeom>
            <a:avLst/>
            <a:gdLst/>
            <a:ahLst/>
            <a:cxnLst/>
            <a:rect l="l" t="t" r="r" b="b"/>
            <a:pathLst>
              <a:path w="393" h="117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5"/>
                </a:lnTo>
                <a:lnTo>
                  <a:pt x="65" y="8"/>
                </a:lnTo>
                <a:lnTo>
                  <a:pt x="82" y="12"/>
                </a:lnTo>
                <a:lnTo>
                  <a:pt x="98" y="17"/>
                </a:lnTo>
                <a:lnTo>
                  <a:pt x="114" y="22"/>
                </a:lnTo>
                <a:lnTo>
                  <a:pt x="131" y="28"/>
                </a:lnTo>
                <a:lnTo>
                  <a:pt x="147" y="34"/>
                </a:lnTo>
                <a:lnTo>
                  <a:pt x="164" y="41"/>
                </a:lnTo>
                <a:lnTo>
                  <a:pt x="180" y="48"/>
                </a:lnTo>
                <a:lnTo>
                  <a:pt x="196" y="54"/>
                </a:lnTo>
                <a:lnTo>
                  <a:pt x="213" y="61"/>
                </a:lnTo>
                <a:lnTo>
                  <a:pt x="229" y="68"/>
                </a:lnTo>
                <a:lnTo>
                  <a:pt x="246" y="74"/>
                </a:lnTo>
                <a:lnTo>
                  <a:pt x="262" y="81"/>
                </a:lnTo>
                <a:lnTo>
                  <a:pt x="278" y="86"/>
                </a:lnTo>
                <a:lnTo>
                  <a:pt x="295" y="92"/>
                </a:lnTo>
                <a:lnTo>
                  <a:pt x="311" y="97"/>
                </a:lnTo>
                <a:lnTo>
                  <a:pt x="327" y="101"/>
                </a:lnTo>
                <a:lnTo>
                  <a:pt x="344" y="104"/>
                </a:lnTo>
                <a:lnTo>
                  <a:pt x="360" y="107"/>
                </a:lnTo>
                <a:lnTo>
                  <a:pt x="377" y="108"/>
                </a:lnTo>
                <a:lnTo>
                  <a:pt x="393" y="109"/>
                </a:lnTo>
                <a:lnTo>
                  <a:pt x="393" y="117"/>
                </a:lnTo>
                <a:lnTo>
                  <a:pt x="377" y="116"/>
                </a:lnTo>
                <a:lnTo>
                  <a:pt x="360" y="115"/>
                </a:lnTo>
                <a:lnTo>
                  <a:pt x="344" y="112"/>
                </a:lnTo>
                <a:lnTo>
                  <a:pt x="327" y="109"/>
                </a:lnTo>
                <a:lnTo>
                  <a:pt x="311" y="105"/>
                </a:lnTo>
                <a:lnTo>
                  <a:pt x="295" y="100"/>
                </a:lnTo>
                <a:lnTo>
                  <a:pt x="278" y="94"/>
                </a:lnTo>
                <a:lnTo>
                  <a:pt x="262" y="89"/>
                </a:lnTo>
                <a:lnTo>
                  <a:pt x="246" y="82"/>
                </a:lnTo>
                <a:lnTo>
                  <a:pt x="229" y="76"/>
                </a:lnTo>
                <a:lnTo>
                  <a:pt x="213" y="69"/>
                </a:lnTo>
                <a:lnTo>
                  <a:pt x="196" y="62"/>
                </a:lnTo>
                <a:lnTo>
                  <a:pt x="180" y="56"/>
                </a:lnTo>
                <a:lnTo>
                  <a:pt x="164" y="49"/>
                </a:lnTo>
                <a:lnTo>
                  <a:pt x="147" y="42"/>
                </a:lnTo>
                <a:lnTo>
                  <a:pt x="131" y="36"/>
                </a:lnTo>
                <a:lnTo>
                  <a:pt x="114" y="30"/>
                </a:lnTo>
                <a:lnTo>
                  <a:pt x="98" y="25"/>
                </a:lnTo>
                <a:lnTo>
                  <a:pt x="82" y="20"/>
                </a:lnTo>
                <a:lnTo>
                  <a:pt x="65" y="16"/>
                </a:lnTo>
                <a:lnTo>
                  <a:pt x="49" y="13"/>
                </a:lnTo>
                <a:lnTo>
                  <a:pt x="33" y="10"/>
                </a:lnTo>
                <a:lnTo>
                  <a:pt x="16" y="8"/>
                </a:lnTo>
                <a:lnTo>
                  <a:pt x="0" y="8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Freeform 34"/>
          <p:cNvSpPr/>
          <p:nvPr/>
        </p:nvSpPr>
        <p:spPr>
          <a:xfrm>
            <a:off x="2057400" y="3800475"/>
            <a:ext cx="3743325" cy="1885950"/>
          </a:xfrm>
          <a:custGeom>
            <a:avLst/>
            <a:gdLst/>
            <a:ahLst/>
            <a:cxnLst/>
            <a:rect l="l" t="t" r="r" b="b"/>
            <a:pathLst>
              <a:path w="393" h="198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4"/>
                </a:lnTo>
                <a:lnTo>
                  <a:pt x="82" y="22"/>
                </a:lnTo>
                <a:lnTo>
                  <a:pt x="98" y="30"/>
                </a:lnTo>
                <a:lnTo>
                  <a:pt x="114" y="40"/>
                </a:lnTo>
                <a:lnTo>
                  <a:pt x="131" y="50"/>
                </a:lnTo>
                <a:lnTo>
                  <a:pt x="147" y="61"/>
                </a:lnTo>
                <a:lnTo>
                  <a:pt x="164" y="73"/>
                </a:lnTo>
                <a:lnTo>
                  <a:pt x="180" y="84"/>
                </a:lnTo>
                <a:lnTo>
                  <a:pt x="196" y="97"/>
                </a:lnTo>
                <a:lnTo>
                  <a:pt x="213" y="109"/>
                </a:lnTo>
                <a:lnTo>
                  <a:pt x="229" y="120"/>
                </a:lnTo>
                <a:lnTo>
                  <a:pt x="246" y="132"/>
                </a:lnTo>
                <a:lnTo>
                  <a:pt x="262" y="143"/>
                </a:lnTo>
                <a:lnTo>
                  <a:pt x="278" y="153"/>
                </a:lnTo>
                <a:lnTo>
                  <a:pt x="295" y="163"/>
                </a:lnTo>
                <a:lnTo>
                  <a:pt x="311" y="172"/>
                </a:lnTo>
                <a:lnTo>
                  <a:pt x="327" y="179"/>
                </a:lnTo>
                <a:lnTo>
                  <a:pt x="344" y="185"/>
                </a:lnTo>
                <a:lnTo>
                  <a:pt x="360" y="189"/>
                </a:lnTo>
                <a:lnTo>
                  <a:pt x="377" y="192"/>
                </a:lnTo>
                <a:lnTo>
                  <a:pt x="393" y="193"/>
                </a:lnTo>
                <a:lnTo>
                  <a:pt x="393" y="198"/>
                </a:lnTo>
                <a:lnTo>
                  <a:pt x="377" y="197"/>
                </a:lnTo>
                <a:lnTo>
                  <a:pt x="360" y="194"/>
                </a:lnTo>
                <a:lnTo>
                  <a:pt x="344" y="190"/>
                </a:lnTo>
                <a:lnTo>
                  <a:pt x="327" y="184"/>
                </a:lnTo>
                <a:lnTo>
                  <a:pt x="311" y="176"/>
                </a:lnTo>
                <a:lnTo>
                  <a:pt x="295" y="168"/>
                </a:lnTo>
                <a:lnTo>
                  <a:pt x="278" y="158"/>
                </a:lnTo>
                <a:lnTo>
                  <a:pt x="262" y="148"/>
                </a:lnTo>
                <a:lnTo>
                  <a:pt x="246" y="137"/>
                </a:lnTo>
                <a:lnTo>
                  <a:pt x="229" y="125"/>
                </a:lnTo>
                <a:lnTo>
                  <a:pt x="213" y="113"/>
                </a:lnTo>
                <a:lnTo>
                  <a:pt x="196" y="101"/>
                </a:lnTo>
                <a:lnTo>
                  <a:pt x="180" y="89"/>
                </a:lnTo>
                <a:lnTo>
                  <a:pt x="164" y="77"/>
                </a:lnTo>
                <a:lnTo>
                  <a:pt x="147" y="66"/>
                </a:lnTo>
                <a:lnTo>
                  <a:pt x="131" y="55"/>
                </a:lnTo>
                <a:lnTo>
                  <a:pt x="114" y="45"/>
                </a:lnTo>
                <a:lnTo>
                  <a:pt x="98" y="35"/>
                </a:lnTo>
                <a:lnTo>
                  <a:pt x="82" y="26"/>
                </a:lnTo>
                <a:lnTo>
                  <a:pt x="65" y="19"/>
                </a:lnTo>
                <a:lnTo>
                  <a:pt x="49" y="13"/>
                </a:lnTo>
                <a:lnTo>
                  <a:pt x="33" y="9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Freeform 35"/>
          <p:cNvSpPr/>
          <p:nvPr/>
        </p:nvSpPr>
        <p:spPr>
          <a:xfrm>
            <a:off x="2057400" y="3848100"/>
            <a:ext cx="3743325" cy="2295525"/>
          </a:xfrm>
          <a:custGeom>
            <a:avLst/>
            <a:gdLst/>
            <a:ahLst/>
            <a:cxnLst/>
            <a:rect l="l" t="t" r="r" b="b"/>
            <a:pathLst>
              <a:path w="393" h="241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10"/>
                </a:lnTo>
                <a:lnTo>
                  <a:pt x="65" y="18"/>
                </a:lnTo>
                <a:lnTo>
                  <a:pt x="82" y="27"/>
                </a:lnTo>
                <a:lnTo>
                  <a:pt x="98" y="37"/>
                </a:lnTo>
                <a:lnTo>
                  <a:pt x="114" y="49"/>
                </a:lnTo>
                <a:lnTo>
                  <a:pt x="131" y="62"/>
                </a:lnTo>
                <a:lnTo>
                  <a:pt x="147" y="76"/>
                </a:lnTo>
                <a:lnTo>
                  <a:pt x="164" y="90"/>
                </a:lnTo>
                <a:lnTo>
                  <a:pt x="180" y="105"/>
                </a:lnTo>
                <a:lnTo>
                  <a:pt x="196" y="119"/>
                </a:lnTo>
                <a:lnTo>
                  <a:pt x="213" y="134"/>
                </a:lnTo>
                <a:lnTo>
                  <a:pt x="229" y="149"/>
                </a:lnTo>
                <a:lnTo>
                  <a:pt x="246" y="163"/>
                </a:lnTo>
                <a:lnTo>
                  <a:pt x="262" y="177"/>
                </a:lnTo>
                <a:lnTo>
                  <a:pt x="278" y="190"/>
                </a:lnTo>
                <a:lnTo>
                  <a:pt x="295" y="202"/>
                </a:lnTo>
                <a:lnTo>
                  <a:pt x="311" y="212"/>
                </a:lnTo>
                <a:lnTo>
                  <a:pt x="327" y="221"/>
                </a:lnTo>
                <a:lnTo>
                  <a:pt x="344" y="229"/>
                </a:lnTo>
                <a:lnTo>
                  <a:pt x="360" y="234"/>
                </a:lnTo>
                <a:lnTo>
                  <a:pt x="377" y="238"/>
                </a:lnTo>
                <a:lnTo>
                  <a:pt x="393" y="239"/>
                </a:lnTo>
                <a:lnTo>
                  <a:pt x="393" y="241"/>
                </a:lnTo>
                <a:lnTo>
                  <a:pt x="377" y="240"/>
                </a:lnTo>
                <a:lnTo>
                  <a:pt x="360" y="236"/>
                </a:lnTo>
                <a:lnTo>
                  <a:pt x="344" y="231"/>
                </a:lnTo>
                <a:lnTo>
                  <a:pt x="327" y="223"/>
                </a:lnTo>
                <a:lnTo>
                  <a:pt x="311" y="214"/>
                </a:lnTo>
                <a:lnTo>
                  <a:pt x="295" y="204"/>
                </a:lnTo>
                <a:lnTo>
                  <a:pt x="278" y="192"/>
                </a:lnTo>
                <a:lnTo>
                  <a:pt x="262" y="179"/>
                </a:lnTo>
                <a:lnTo>
                  <a:pt x="246" y="165"/>
                </a:lnTo>
                <a:lnTo>
                  <a:pt x="229" y="151"/>
                </a:lnTo>
                <a:lnTo>
                  <a:pt x="213" y="136"/>
                </a:lnTo>
                <a:lnTo>
                  <a:pt x="196" y="121"/>
                </a:lnTo>
                <a:lnTo>
                  <a:pt x="180" y="106"/>
                </a:lnTo>
                <a:lnTo>
                  <a:pt x="164" y="92"/>
                </a:lnTo>
                <a:lnTo>
                  <a:pt x="147" y="77"/>
                </a:lnTo>
                <a:lnTo>
                  <a:pt x="131" y="64"/>
                </a:lnTo>
                <a:lnTo>
                  <a:pt x="114" y="51"/>
                </a:lnTo>
                <a:lnTo>
                  <a:pt x="98" y="39"/>
                </a:lnTo>
                <a:lnTo>
                  <a:pt x="82" y="28"/>
                </a:lnTo>
                <a:lnTo>
                  <a:pt x="65" y="19"/>
                </a:lnTo>
                <a:lnTo>
                  <a:pt x="49" y="12"/>
                </a:lnTo>
                <a:lnTo>
                  <a:pt x="33" y="6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Freeform 36"/>
          <p:cNvSpPr/>
          <p:nvPr/>
        </p:nvSpPr>
        <p:spPr>
          <a:xfrm>
            <a:off x="2057400" y="2257425"/>
            <a:ext cx="3743325" cy="1752600"/>
          </a:xfrm>
          <a:custGeom>
            <a:avLst/>
            <a:gdLst/>
            <a:ahLst/>
            <a:cxnLst/>
            <a:rect l="l" t="t" r="r" b="b"/>
            <a:pathLst>
              <a:path w="393" h="184">
                <a:moveTo>
                  <a:pt x="0" y="175"/>
                </a:moveTo>
                <a:lnTo>
                  <a:pt x="16" y="174"/>
                </a:lnTo>
                <a:lnTo>
                  <a:pt x="33" y="171"/>
                </a:lnTo>
                <a:lnTo>
                  <a:pt x="49" y="167"/>
                </a:lnTo>
                <a:lnTo>
                  <a:pt x="65" y="162"/>
                </a:lnTo>
                <a:lnTo>
                  <a:pt x="82" y="155"/>
                </a:lnTo>
                <a:lnTo>
                  <a:pt x="98" y="147"/>
                </a:lnTo>
                <a:lnTo>
                  <a:pt x="114" y="139"/>
                </a:lnTo>
                <a:lnTo>
                  <a:pt x="131" y="129"/>
                </a:lnTo>
                <a:lnTo>
                  <a:pt x="147" y="119"/>
                </a:lnTo>
                <a:lnTo>
                  <a:pt x="164" y="109"/>
                </a:lnTo>
                <a:lnTo>
                  <a:pt x="180" y="98"/>
                </a:lnTo>
                <a:lnTo>
                  <a:pt x="196" y="87"/>
                </a:lnTo>
                <a:lnTo>
                  <a:pt x="213" y="76"/>
                </a:lnTo>
                <a:lnTo>
                  <a:pt x="229" y="66"/>
                </a:lnTo>
                <a:lnTo>
                  <a:pt x="246" y="55"/>
                </a:lnTo>
                <a:lnTo>
                  <a:pt x="262" y="45"/>
                </a:lnTo>
                <a:lnTo>
                  <a:pt x="278" y="36"/>
                </a:lnTo>
                <a:lnTo>
                  <a:pt x="295" y="27"/>
                </a:lnTo>
                <a:lnTo>
                  <a:pt x="311" y="19"/>
                </a:lnTo>
                <a:lnTo>
                  <a:pt x="327" y="13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0"/>
                </a:lnTo>
                <a:lnTo>
                  <a:pt x="360" y="13"/>
                </a:lnTo>
                <a:lnTo>
                  <a:pt x="344" y="17"/>
                </a:lnTo>
                <a:lnTo>
                  <a:pt x="327" y="23"/>
                </a:lnTo>
                <a:lnTo>
                  <a:pt x="311" y="29"/>
                </a:lnTo>
                <a:lnTo>
                  <a:pt x="295" y="37"/>
                </a:lnTo>
                <a:lnTo>
                  <a:pt x="278" y="46"/>
                </a:lnTo>
                <a:lnTo>
                  <a:pt x="262" y="55"/>
                </a:lnTo>
                <a:lnTo>
                  <a:pt x="246" y="65"/>
                </a:lnTo>
                <a:lnTo>
                  <a:pt x="229" y="75"/>
                </a:lnTo>
                <a:lnTo>
                  <a:pt x="213" y="86"/>
                </a:lnTo>
                <a:lnTo>
                  <a:pt x="196" y="97"/>
                </a:lnTo>
                <a:lnTo>
                  <a:pt x="180" y="108"/>
                </a:lnTo>
                <a:lnTo>
                  <a:pt x="164" y="119"/>
                </a:lnTo>
                <a:lnTo>
                  <a:pt x="147" y="129"/>
                </a:lnTo>
                <a:lnTo>
                  <a:pt x="131" y="139"/>
                </a:lnTo>
                <a:lnTo>
                  <a:pt x="114" y="148"/>
                </a:lnTo>
                <a:lnTo>
                  <a:pt x="98" y="157"/>
                </a:lnTo>
                <a:lnTo>
                  <a:pt x="82" y="165"/>
                </a:lnTo>
                <a:lnTo>
                  <a:pt x="65" y="171"/>
                </a:lnTo>
                <a:lnTo>
                  <a:pt x="49" y="177"/>
                </a:lnTo>
                <a:lnTo>
                  <a:pt x="33" y="181"/>
                </a:lnTo>
                <a:lnTo>
                  <a:pt x="16" y="183"/>
                </a:lnTo>
                <a:lnTo>
                  <a:pt x="0" y="18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Freeform 37"/>
          <p:cNvSpPr/>
          <p:nvPr/>
        </p:nvSpPr>
        <p:spPr>
          <a:xfrm>
            <a:off x="2057400" y="3609975"/>
            <a:ext cx="3743325" cy="495300"/>
          </a:xfrm>
          <a:custGeom>
            <a:avLst/>
            <a:gdLst/>
            <a:ahLst/>
            <a:cxnLst/>
            <a:rect l="l" t="t" r="r" b="b"/>
            <a:pathLst>
              <a:path w="393" h="52">
                <a:moveTo>
                  <a:pt x="0" y="42"/>
                </a:moveTo>
                <a:lnTo>
                  <a:pt x="16" y="42"/>
                </a:lnTo>
                <a:lnTo>
                  <a:pt x="33" y="42"/>
                </a:lnTo>
                <a:lnTo>
                  <a:pt x="49" y="41"/>
                </a:lnTo>
                <a:lnTo>
                  <a:pt x="65" y="39"/>
                </a:lnTo>
                <a:lnTo>
                  <a:pt x="82" y="38"/>
                </a:lnTo>
                <a:lnTo>
                  <a:pt x="98" y="36"/>
                </a:lnTo>
                <a:lnTo>
                  <a:pt x="114" y="34"/>
                </a:lnTo>
                <a:lnTo>
                  <a:pt x="131" y="31"/>
                </a:lnTo>
                <a:lnTo>
                  <a:pt x="147" y="29"/>
                </a:lnTo>
                <a:lnTo>
                  <a:pt x="164" y="26"/>
                </a:lnTo>
                <a:lnTo>
                  <a:pt x="180" y="24"/>
                </a:lnTo>
                <a:lnTo>
                  <a:pt x="196" y="21"/>
                </a:lnTo>
                <a:lnTo>
                  <a:pt x="213" y="18"/>
                </a:lnTo>
                <a:lnTo>
                  <a:pt x="229" y="16"/>
                </a:lnTo>
                <a:lnTo>
                  <a:pt x="246" y="13"/>
                </a:lnTo>
                <a:lnTo>
                  <a:pt x="262" y="11"/>
                </a:lnTo>
                <a:lnTo>
                  <a:pt x="278" y="9"/>
                </a:lnTo>
                <a:lnTo>
                  <a:pt x="295" y="6"/>
                </a:lnTo>
                <a:lnTo>
                  <a:pt x="311" y="5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0"/>
                </a:lnTo>
                <a:lnTo>
                  <a:pt x="377" y="10"/>
                </a:lnTo>
                <a:lnTo>
                  <a:pt x="360" y="10"/>
                </a:lnTo>
                <a:lnTo>
                  <a:pt x="344" y="11"/>
                </a:lnTo>
                <a:lnTo>
                  <a:pt x="327" y="13"/>
                </a:lnTo>
                <a:lnTo>
                  <a:pt x="311" y="14"/>
                </a:lnTo>
                <a:lnTo>
                  <a:pt x="295" y="16"/>
                </a:lnTo>
                <a:lnTo>
                  <a:pt x="278" y="18"/>
                </a:lnTo>
                <a:lnTo>
                  <a:pt x="262" y="21"/>
                </a:lnTo>
                <a:lnTo>
                  <a:pt x="246" y="23"/>
                </a:lnTo>
                <a:lnTo>
                  <a:pt x="229" y="26"/>
                </a:lnTo>
                <a:lnTo>
                  <a:pt x="213" y="28"/>
                </a:lnTo>
                <a:lnTo>
                  <a:pt x="196" y="31"/>
                </a:lnTo>
                <a:lnTo>
                  <a:pt x="180" y="33"/>
                </a:lnTo>
                <a:lnTo>
                  <a:pt x="164" y="36"/>
                </a:lnTo>
                <a:lnTo>
                  <a:pt x="147" y="39"/>
                </a:lnTo>
                <a:lnTo>
                  <a:pt x="131" y="41"/>
                </a:lnTo>
                <a:lnTo>
                  <a:pt x="114" y="43"/>
                </a:lnTo>
                <a:lnTo>
                  <a:pt x="98" y="45"/>
                </a:lnTo>
                <a:lnTo>
                  <a:pt x="82" y="47"/>
                </a:lnTo>
                <a:lnTo>
                  <a:pt x="65" y="49"/>
                </a:lnTo>
                <a:lnTo>
                  <a:pt x="49" y="50"/>
                </a:lnTo>
                <a:lnTo>
                  <a:pt x="33" y="51"/>
                </a:lnTo>
                <a:lnTo>
                  <a:pt x="1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Freeform 38"/>
          <p:cNvSpPr/>
          <p:nvPr/>
        </p:nvSpPr>
        <p:spPr>
          <a:xfrm>
            <a:off x="2057400" y="4105275"/>
            <a:ext cx="3743325" cy="809625"/>
          </a:xfrm>
          <a:custGeom>
            <a:avLst/>
            <a:gdLst/>
            <a:ahLst/>
            <a:cxnLst/>
            <a:rect l="l" t="t" r="r" b="b"/>
            <a:pathLst>
              <a:path w="393" h="85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3"/>
                </a:lnTo>
                <a:lnTo>
                  <a:pt x="65" y="6"/>
                </a:lnTo>
                <a:lnTo>
                  <a:pt x="82" y="9"/>
                </a:lnTo>
                <a:lnTo>
                  <a:pt x="98" y="12"/>
                </a:lnTo>
                <a:lnTo>
                  <a:pt x="114" y="16"/>
                </a:lnTo>
                <a:lnTo>
                  <a:pt x="131" y="20"/>
                </a:lnTo>
                <a:lnTo>
                  <a:pt x="147" y="24"/>
                </a:lnTo>
                <a:lnTo>
                  <a:pt x="164" y="29"/>
                </a:lnTo>
                <a:lnTo>
                  <a:pt x="180" y="34"/>
                </a:lnTo>
                <a:lnTo>
                  <a:pt x="196" y="38"/>
                </a:lnTo>
                <a:lnTo>
                  <a:pt x="213" y="43"/>
                </a:lnTo>
                <a:lnTo>
                  <a:pt x="229" y="48"/>
                </a:lnTo>
                <a:lnTo>
                  <a:pt x="246" y="53"/>
                </a:lnTo>
                <a:lnTo>
                  <a:pt x="262" y="57"/>
                </a:lnTo>
                <a:lnTo>
                  <a:pt x="278" y="61"/>
                </a:lnTo>
                <a:lnTo>
                  <a:pt x="295" y="65"/>
                </a:lnTo>
                <a:lnTo>
                  <a:pt x="311" y="68"/>
                </a:lnTo>
                <a:lnTo>
                  <a:pt x="327" y="71"/>
                </a:lnTo>
                <a:lnTo>
                  <a:pt x="344" y="74"/>
                </a:lnTo>
                <a:lnTo>
                  <a:pt x="360" y="75"/>
                </a:lnTo>
                <a:lnTo>
                  <a:pt x="377" y="76"/>
                </a:lnTo>
                <a:lnTo>
                  <a:pt x="393" y="77"/>
                </a:lnTo>
                <a:lnTo>
                  <a:pt x="393" y="85"/>
                </a:lnTo>
                <a:lnTo>
                  <a:pt x="377" y="85"/>
                </a:lnTo>
                <a:lnTo>
                  <a:pt x="360" y="84"/>
                </a:lnTo>
                <a:lnTo>
                  <a:pt x="344" y="82"/>
                </a:lnTo>
                <a:lnTo>
                  <a:pt x="327" y="79"/>
                </a:lnTo>
                <a:lnTo>
                  <a:pt x="311" y="76"/>
                </a:lnTo>
                <a:lnTo>
                  <a:pt x="295" y="73"/>
                </a:lnTo>
                <a:lnTo>
                  <a:pt x="278" y="69"/>
                </a:lnTo>
                <a:lnTo>
                  <a:pt x="262" y="65"/>
                </a:lnTo>
                <a:lnTo>
                  <a:pt x="246" y="61"/>
                </a:lnTo>
                <a:lnTo>
                  <a:pt x="229" y="56"/>
                </a:lnTo>
                <a:lnTo>
                  <a:pt x="213" y="51"/>
                </a:lnTo>
                <a:lnTo>
                  <a:pt x="196" y="47"/>
                </a:lnTo>
                <a:lnTo>
                  <a:pt x="180" y="42"/>
                </a:lnTo>
                <a:lnTo>
                  <a:pt x="164" y="37"/>
                </a:lnTo>
                <a:lnTo>
                  <a:pt x="147" y="33"/>
                </a:lnTo>
                <a:lnTo>
                  <a:pt x="131" y="28"/>
                </a:lnTo>
                <a:lnTo>
                  <a:pt x="114" y="24"/>
                </a:lnTo>
                <a:lnTo>
                  <a:pt x="98" y="20"/>
                </a:lnTo>
                <a:lnTo>
                  <a:pt x="82" y="17"/>
                </a:lnTo>
                <a:lnTo>
                  <a:pt x="65" y="14"/>
                </a:lnTo>
                <a:lnTo>
                  <a:pt x="49" y="12"/>
                </a:lnTo>
                <a:lnTo>
                  <a:pt x="33" y="10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Freeform 39"/>
          <p:cNvSpPr/>
          <p:nvPr/>
        </p:nvSpPr>
        <p:spPr>
          <a:xfrm>
            <a:off x="2057400" y="4181475"/>
            <a:ext cx="3743325" cy="1552575"/>
          </a:xfrm>
          <a:custGeom>
            <a:avLst/>
            <a:gdLst/>
            <a:ahLst/>
            <a:cxnLst/>
            <a:rect l="l" t="t" r="r" b="b"/>
            <a:pathLst>
              <a:path w="393" h="163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8"/>
                </a:lnTo>
                <a:lnTo>
                  <a:pt x="98" y="25"/>
                </a:lnTo>
                <a:lnTo>
                  <a:pt x="114" y="33"/>
                </a:lnTo>
                <a:lnTo>
                  <a:pt x="131" y="41"/>
                </a:lnTo>
                <a:lnTo>
                  <a:pt x="147" y="50"/>
                </a:lnTo>
                <a:lnTo>
                  <a:pt x="164" y="60"/>
                </a:lnTo>
                <a:lnTo>
                  <a:pt x="180" y="69"/>
                </a:lnTo>
                <a:lnTo>
                  <a:pt x="196" y="79"/>
                </a:lnTo>
                <a:lnTo>
                  <a:pt x="213" y="89"/>
                </a:lnTo>
                <a:lnTo>
                  <a:pt x="229" y="99"/>
                </a:lnTo>
                <a:lnTo>
                  <a:pt x="246" y="108"/>
                </a:lnTo>
                <a:lnTo>
                  <a:pt x="262" y="117"/>
                </a:lnTo>
                <a:lnTo>
                  <a:pt x="278" y="126"/>
                </a:lnTo>
                <a:lnTo>
                  <a:pt x="295" y="133"/>
                </a:lnTo>
                <a:lnTo>
                  <a:pt x="311" y="140"/>
                </a:lnTo>
                <a:lnTo>
                  <a:pt x="327" y="146"/>
                </a:lnTo>
                <a:lnTo>
                  <a:pt x="344" y="151"/>
                </a:lnTo>
                <a:lnTo>
                  <a:pt x="360" y="155"/>
                </a:lnTo>
                <a:lnTo>
                  <a:pt x="377" y="157"/>
                </a:lnTo>
                <a:lnTo>
                  <a:pt x="393" y="158"/>
                </a:lnTo>
                <a:lnTo>
                  <a:pt x="393" y="163"/>
                </a:lnTo>
                <a:lnTo>
                  <a:pt x="377" y="162"/>
                </a:lnTo>
                <a:lnTo>
                  <a:pt x="360" y="160"/>
                </a:lnTo>
                <a:lnTo>
                  <a:pt x="344" y="156"/>
                </a:lnTo>
                <a:lnTo>
                  <a:pt x="327" y="151"/>
                </a:lnTo>
                <a:lnTo>
                  <a:pt x="311" y="145"/>
                </a:lnTo>
                <a:lnTo>
                  <a:pt x="295" y="138"/>
                </a:lnTo>
                <a:lnTo>
                  <a:pt x="278" y="130"/>
                </a:lnTo>
                <a:lnTo>
                  <a:pt x="262" y="122"/>
                </a:lnTo>
                <a:lnTo>
                  <a:pt x="246" y="113"/>
                </a:lnTo>
                <a:lnTo>
                  <a:pt x="229" y="103"/>
                </a:lnTo>
                <a:lnTo>
                  <a:pt x="213" y="94"/>
                </a:lnTo>
                <a:lnTo>
                  <a:pt x="196" y="84"/>
                </a:lnTo>
                <a:lnTo>
                  <a:pt x="180" y="74"/>
                </a:lnTo>
                <a:lnTo>
                  <a:pt x="164" y="64"/>
                </a:lnTo>
                <a:lnTo>
                  <a:pt x="147" y="55"/>
                </a:lnTo>
                <a:lnTo>
                  <a:pt x="131" y="46"/>
                </a:lnTo>
                <a:lnTo>
                  <a:pt x="114" y="37"/>
                </a:lnTo>
                <a:lnTo>
                  <a:pt x="98" y="30"/>
                </a:lnTo>
                <a:lnTo>
                  <a:pt x="82" y="23"/>
                </a:lnTo>
                <a:lnTo>
                  <a:pt x="65" y="17"/>
                </a:lnTo>
                <a:lnTo>
                  <a:pt x="49" y="12"/>
                </a:lnTo>
                <a:lnTo>
                  <a:pt x="33" y="8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Freeform 40"/>
          <p:cNvSpPr/>
          <p:nvPr/>
        </p:nvSpPr>
        <p:spPr>
          <a:xfrm>
            <a:off x="2057400" y="4229100"/>
            <a:ext cx="3743325" cy="1933575"/>
          </a:xfrm>
          <a:custGeom>
            <a:avLst/>
            <a:gdLst/>
            <a:ahLst/>
            <a:cxnLst/>
            <a:rect l="l" t="t" r="r" b="b"/>
            <a:pathLst>
              <a:path w="393" h="203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2"/>
                </a:lnTo>
                <a:lnTo>
                  <a:pt x="98" y="31"/>
                </a:lnTo>
                <a:lnTo>
                  <a:pt x="114" y="41"/>
                </a:lnTo>
                <a:lnTo>
                  <a:pt x="131" y="52"/>
                </a:lnTo>
                <a:lnTo>
                  <a:pt x="147" y="64"/>
                </a:lnTo>
                <a:lnTo>
                  <a:pt x="164" y="76"/>
                </a:lnTo>
                <a:lnTo>
                  <a:pt x="180" y="88"/>
                </a:lnTo>
                <a:lnTo>
                  <a:pt x="196" y="100"/>
                </a:lnTo>
                <a:lnTo>
                  <a:pt x="213" y="113"/>
                </a:lnTo>
                <a:lnTo>
                  <a:pt x="229" y="125"/>
                </a:lnTo>
                <a:lnTo>
                  <a:pt x="246" y="137"/>
                </a:lnTo>
                <a:lnTo>
                  <a:pt x="262" y="149"/>
                </a:lnTo>
                <a:lnTo>
                  <a:pt x="278" y="160"/>
                </a:lnTo>
                <a:lnTo>
                  <a:pt x="295" y="170"/>
                </a:lnTo>
                <a:lnTo>
                  <a:pt x="311" y="178"/>
                </a:lnTo>
                <a:lnTo>
                  <a:pt x="327" y="186"/>
                </a:lnTo>
                <a:lnTo>
                  <a:pt x="344" y="192"/>
                </a:lnTo>
                <a:lnTo>
                  <a:pt x="360" y="197"/>
                </a:lnTo>
                <a:lnTo>
                  <a:pt x="377" y="200"/>
                </a:lnTo>
                <a:lnTo>
                  <a:pt x="393" y="201"/>
                </a:lnTo>
                <a:lnTo>
                  <a:pt x="393" y="203"/>
                </a:lnTo>
                <a:lnTo>
                  <a:pt x="377" y="202"/>
                </a:lnTo>
                <a:lnTo>
                  <a:pt x="360" y="199"/>
                </a:lnTo>
                <a:lnTo>
                  <a:pt x="344" y="194"/>
                </a:lnTo>
                <a:lnTo>
                  <a:pt x="327" y="188"/>
                </a:lnTo>
                <a:lnTo>
                  <a:pt x="311" y="180"/>
                </a:lnTo>
                <a:lnTo>
                  <a:pt x="295" y="171"/>
                </a:lnTo>
                <a:lnTo>
                  <a:pt x="278" y="161"/>
                </a:lnTo>
                <a:lnTo>
                  <a:pt x="262" y="151"/>
                </a:lnTo>
                <a:lnTo>
                  <a:pt x="246" y="139"/>
                </a:lnTo>
                <a:lnTo>
                  <a:pt x="229" y="127"/>
                </a:lnTo>
                <a:lnTo>
                  <a:pt x="213" y="115"/>
                </a:lnTo>
                <a:lnTo>
                  <a:pt x="196" y="102"/>
                </a:lnTo>
                <a:lnTo>
                  <a:pt x="180" y="90"/>
                </a:lnTo>
                <a:lnTo>
                  <a:pt x="164" y="77"/>
                </a:lnTo>
                <a:lnTo>
                  <a:pt x="147" y="65"/>
                </a:lnTo>
                <a:lnTo>
                  <a:pt x="131" y="54"/>
                </a:lnTo>
                <a:lnTo>
                  <a:pt x="114" y="43"/>
                </a:lnTo>
                <a:lnTo>
                  <a:pt x="98" y="33"/>
                </a:lnTo>
                <a:lnTo>
                  <a:pt x="82" y="24"/>
                </a:lnTo>
                <a:lnTo>
                  <a:pt x="65" y="16"/>
                </a:lnTo>
                <a:lnTo>
                  <a:pt x="49" y="10"/>
                </a:lnTo>
                <a:lnTo>
                  <a:pt x="33" y="6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Freeform 41"/>
          <p:cNvSpPr/>
          <p:nvPr/>
        </p:nvSpPr>
        <p:spPr>
          <a:xfrm>
            <a:off x="2057400" y="2352675"/>
            <a:ext cx="3743325" cy="2047875"/>
          </a:xfrm>
          <a:custGeom>
            <a:avLst/>
            <a:gdLst/>
            <a:ahLst/>
            <a:cxnLst/>
            <a:rect l="l" t="t" r="r" b="b"/>
            <a:pathLst>
              <a:path w="393" h="215">
                <a:moveTo>
                  <a:pt x="0" y="205"/>
                </a:moveTo>
                <a:lnTo>
                  <a:pt x="16" y="204"/>
                </a:lnTo>
                <a:lnTo>
                  <a:pt x="33" y="201"/>
                </a:lnTo>
                <a:lnTo>
                  <a:pt x="49" y="196"/>
                </a:lnTo>
                <a:lnTo>
                  <a:pt x="65" y="189"/>
                </a:lnTo>
                <a:lnTo>
                  <a:pt x="82" y="182"/>
                </a:lnTo>
                <a:lnTo>
                  <a:pt x="98" y="173"/>
                </a:lnTo>
                <a:lnTo>
                  <a:pt x="114" y="162"/>
                </a:lnTo>
                <a:lnTo>
                  <a:pt x="131" y="151"/>
                </a:lnTo>
                <a:lnTo>
                  <a:pt x="147" y="140"/>
                </a:lnTo>
                <a:lnTo>
                  <a:pt x="164" y="127"/>
                </a:lnTo>
                <a:lnTo>
                  <a:pt x="180" y="115"/>
                </a:lnTo>
                <a:lnTo>
                  <a:pt x="196" y="102"/>
                </a:lnTo>
                <a:lnTo>
                  <a:pt x="213" y="89"/>
                </a:lnTo>
                <a:lnTo>
                  <a:pt x="229" y="77"/>
                </a:lnTo>
                <a:lnTo>
                  <a:pt x="246" y="64"/>
                </a:lnTo>
                <a:lnTo>
                  <a:pt x="262" y="53"/>
                </a:lnTo>
                <a:lnTo>
                  <a:pt x="278" y="42"/>
                </a:lnTo>
                <a:lnTo>
                  <a:pt x="295" y="32"/>
                </a:lnTo>
                <a:lnTo>
                  <a:pt x="311" y="23"/>
                </a:lnTo>
                <a:lnTo>
                  <a:pt x="327" y="15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1"/>
                </a:lnTo>
                <a:lnTo>
                  <a:pt x="360" y="14"/>
                </a:lnTo>
                <a:lnTo>
                  <a:pt x="344" y="19"/>
                </a:lnTo>
                <a:lnTo>
                  <a:pt x="327" y="25"/>
                </a:lnTo>
                <a:lnTo>
                  <a:pt x="311" y="33"/>
                </a:lnTo>
                <a:lnTo>
                  <a:pt x="295" y="42"/>
                </a:lnTo>
                <a:lnTo>
                  <a:pt x="278" y="52"/>
                </a:lnTo>
                <a:lnTo>
                  <a:pt x="262" y="63"/>
                </a:lnTo>
                <a:lnTo>
                  <a:pt x="246" y="75"/>
                </a:lnTo>
                <a:lnTo>
                  <a:pt x="229" y="87"/>
                </a:lnTo>
                <a:lnTo>
                  <a:pt x="213" y="100"/>
                </a:lnTo>
                <a:lnTo>
                  <a:pt x="196" y="113"/>
                </a:lnTo>
                <a:lnTo>
                  <a:pt x="180" y="126"/>
                </a:lnTo>
                <a:lnTo>
                  <a:pt x="164" y="138"/>
                </a:lnTo>
                <a:lnTo>
                  <a:pt x="147" y="150"/>
                </a:lnTo>
                <a:lnTo>
                  <a:pt x="131" y="162"/>
                </a:lnTo>
                <a:lnTo>
                  <a:pt x="114" y="173"/>
                </a:lnTo>
                <a:lnTo>
                  <a:pt x="98" y="183"/>
                </a:lnTo>
                <a:lnTo>
                  <a:pt x="82" y="192"/>
                </a:lnTo>
                <a:lnTo>
                  <a:pt x="65" y="200"/>
                </a:lnTo>
                <a:lnTo>
                  <a:pt x="49" y="206"/>
                </a:lnTo>
                <a:lnTo>
                  <a:pt x="33" y="211"/>
                </a:lnTo>
                <a:lnTo>
                  <a:pt x="16" y="214"/>
                </a:lnTo>
                <a:lnTo>
                  <a:pt x="0" y="215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Freeform 42"/>
          <p:cNvSpPr/>
          <p:nvPr/>
        </p:nvSpPr>
        <p:spPr>
          <a:xfrm>
            <a:off x="2057400" y="3705225"/>
            <a:ext cx="3743325" cy="781050"/>
          </a:xfrm>
          <a:custGeom>
            <a:avLst/>
            <a:gdLst/>
            <a:ahLst/>
            <a:cxnLst/>
            <a:rect l="l" t="t" r="r" b="b"/>
            <a:pathLst>
              <a:path w="393" h="82">
                <a:moveTo>
                  <a:pt x="0" y="73"/>
                </a:moveTo>
                <a:lnTo>
                  <a:pt x="16" y="73"/>
                </a:lnTo>
                <a:lnTo>
                  <a:pt x="33" y="72"/>
                </a:lnTo>
                <a:lnTo>
                  <a:pt x="49" y="70"/>
                </a:lnTo>
                <a:lnTo>
                  <a:pt x="65" y="68"/>
                </a:lnTo>
                <a:lnTo>
                  <a:pt x="82" y="65"/>
                </a:lnTo>
                <a:lnTo>
                  <a:pt x="98" y="62"/>
                </a:lnTo>
                <a:lnTo>
                  <a:pt x="114" y="58"/>
                </a:lnTo>
                <a:lnTo>
                  <a:pt x="131" y="54"/>
                </a:lnTo>
                <a:lnTo>
                  <a:pt x="147" y="50"/>
                </a:lnTo>
                <a:lnTo>
                  <a:pt x="164" y="46"/>
                </a:lnTo>
                <a:lnTo>
                  <a:pt x="180" y="41"/>
                </a:lnTo>
                <a:lnTo>
                  <a:pt x="196" y="36"/>
                </a:lnTo>
                <a:lnTo>
                  <a:pt x="213" y="32"/>
                </a:lnTo>
                <a:lnTo>
                  <a:pt x="229" y="27"/>
                </a:lnTo>
                <a:lnTo>
                  <a:pt x="246" y="23"/>
                </a:lnTo>
                <a:lnTo>
                  <a:pt x="262" y="19"/>
                </a:lnTo>
                <a:lnTo>
                  <a:pt x="278" y="15"/>
                </a:lnTo>
                <a:lnTo>
                  <a:pt x="295" y="11"/>
                </a:lnTo>
                <a:lnTo>
                  <a:pt x="311" y="8"/>
                </a:lnTo>
                <a:lnTo>
                  <a:pt x="327" y="5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8"/>
                </a:lnTo>
                <a:lnTo>
                  <a:pt x="377" y="9"/>
                </a:lnTo>
                <a:lnTo>
                  <a:pt x="360" y="10"/>
                </a:lnTo>
                <a:lnTo>
                  <a:pt x="344" y="12"/>
                </a:lnTo>
                <a:lnTo>
                  <a:pt x="327" y="14"/>
                </a:lnTo>
                <a:lnTo>
                  <a:pt x="311" y="17"/>
                </a:lnTo>
                <a:lnTo>
                  <a:pt x="295" y="20"/>
                </a:lnTo>
                <a:lnTo>
                  <a:pt x="278" y="24"/>
                </a:lnTo>
                <a:lnTo>
                  <a:pt x="262" y="28"/>
                </a:lnTo>
                <a:lnTo>
                  <a:pt x="246" y="32"/>
                </a:lnTo>
                <a:lnTo>
                  <a:pt x="229" y="36"/>
                </a:lnTo>
                <a:lnTo>
                  <a:pt x="213" y="41"/>
                </a:lnTo>
                <a:lnTo>
                  <a:pt x="196" y="45"/>
                </a:lnTo>
                <a:lnTo>
                  <a:pt x="180" y="50"/>
                </a:lnTo>
                <a:lnTo>
                  <a:pt x="164" y="54"/>
                </a:lnTo>
                <a:lnTo>
                  <a:pt x="147" y="59"/>
                </a:lnTo>
                <a:lnTo>
                  <a:pt x="131" y="63"/>
                </a:lnTo>
                <a:lnTo>
                  <a:pt x="114" y="67"/>
                </a:lnTo>
                <a:lnTo>
                  <a:pt x="98" y="71"/>
                </a:lnTo>
                <a:lnTo>
                  <a:pt x="82" y="74"/>
                </a:lnTo>
                <a:lnTo>
                  <a:pt x="65" y="77"/>
                </a:lnTo>
                <a:lnTo>
                  <a:pt x="49" y="79"/>
                </a:lnTo>
                <a:lnTo>
                  <a:pt x="33" y="81"/>
                </a:lnTo>
                <a:lnTo>
                  <a:pt x="16" y="82"/>
                </a:lnTo>
                <a:lnTo>
                  <a:pt x="0" y="82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Freeform 43"/>
          <p:cNvSpPr/>
          <p:nvPr/>
        </p:nvSpPr>
        <p:spPr>
          <a:xfrm>
            <a:off x="2057400" y="4486275"/>
            <a:ext cx="3743325" cy="495300"/>
          </a:xfrm>
          <a:custGeom>
            <a:avLst/>
            <a:gdLst/>
            <a:ahLst/>
            <a:cxnLst/>
            <a:rect l="l" t="t" r="r" b="b"/>
            <a:pathLst>
              <a:path w="393" h="5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9"/>
                </a:lnTo>
                <a:lnTo>
                  <a:pt x="131" y="12"/>
                </a:lnTo>
                <a:lnTo>
                  <a:pt x="147" y="14"/>
                </a:lnTo>
                <a:lnTo>
                  <a:pt x="164" y="17"/>
                </a:lnTo>
                <a:lnTo>
                  <a:pt x="180" y="20"/>
                </a:lnTo>
                <a:lnTo>
                  <a:pt x="196" y="23"/>
                </a:lnTo>
                <a:lnTo>
                  <a:pt x="213" y="25"/>
                </a:lnTo>
                <a:lnTo>
                  <a:pt x="229" y="28"/>
                </a:lnTo>
                <a:lnTo>
                  <a:pt x="246" y="31"/>
                </a:lnTo>
                <a:lnTo>
                  <a:pt x="262" y="33"/>
                </a:lnTo>
                <a:lnTo>
                  <a:pt x="278" y="36"/>
                </a:lnTo>
                <a:lnTo>
                  <a:pt x="295" y="38"/>
                </a:lnTo>
                <a:lnTo>
                  <a:pt x="311" y="40"/>
                </a:lnTo>
                <a:lnTo>
                  <a:pt x="327" y="42"/>
                </a:lnTo>
                <a:lnTo>
                  <a:pt x="344" y="43"/>
                </a:lnTo>
                <a:lnTo>
                  <a:pt x="360" y="44"/>
                </a:lnTo>
                <a:lnTo>
                  <a:pt x="377" y="45"/>
                </a:lnTo>
                <a:lnTo>
                  <a:pt x="393" y="45"/>
                </a:lnTo>
                <a:lnTo>
                  <a:pt x="393" y="52"/>
                </a:lnTo>
                <a:lnTo>
                  <a:pt x="377" y="52"/>
                </a:lnTo>
                <a:lnTo>
                  <a:pt x="360" y="52"/>
                </a:lnTo>
                <a:lnTo>
                  <a:pt x="344" y="51"/>
                </a:lnTo>
                <a:lnTo>
                  <a:pt x="327" y="49"/>
                </a:lnTo>
                <a:lnTo>
                  <a:pt x="311" y="47"/>
                </a:lnTo>
                <a:lnTo>
                  <a:pt x="295" y="45"/>
                </a:lnTo>
                <a:lnTo>
                  <a:pt x="278" y="43"/>
                </a:lnTo>
                <a:lnTo>
                  <a:pt x="262" y="41"/>
                </a:lnTo>
                <a:lnTo>
                  <a:pt x="246" y="38"/>
                </a:lnTo>
                <a:lnTo>
                  <a:pt x="229" y="36"/>
                </a:lnTo>
                <a:lnTo>
                  <a:pt x="213" y="33"/>
                </a:lnTo>
                <a:lnTo>
                  <a:pt x="196" y="30"/>
                </a:lnTo>
                <a:lnTo>
                  <a:pt x="180" y="27"/>
                </a:lnTo>
                <a:lnTo>
                  <a:pt x="164" y="24"/>
                </a:lnTo>
                <a:lnTo>
                  <a:pt x="147" y="22"/>
                </a:lnTo>
                <a:lnTo>
                  <a:pt x="131" y="19"/>
                </a:lnTo>
                <a:lnTo>
                  <a:pt x="114" y="17"/>
                </a:lnTo>
                <a:lnTo>
                  <a:pt x="98" y="15"/>
                </a:lnTo>
                <a:lnTo>
                  <a:pt x="82" y="13"/>
                </a:lnTo>
                <a:lnTo>
                  <a:pt x="65" y="11"/>
                </a:lnTo>
                <a:lnTo>
                  <a:pt x="49" y="9"/>
                </a:lnTo>
                <a:lnTo>
                  <a:pt x="33" y="8"/>
                </a:lnTo>
                <a:lnTo>
                  <a:pt x="16" y="8"/>
                </a:lnTo>
                <a:lnTo>
                  <a:pt x="0" y="8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Freeform 44"/>
          <p:cNvSpPr/>
          <p:nvPr/>
        </p:nvSpPr>
        <p:spPr>
          <a:xfrm>
            <a:off x="2057400" y="4562475"/>
            <a:ext cx="3743325" cy="1209675"/>
          </a:xfrm>
          <a:custGeom>
            <a:avLst/>
            <a:gdLst/>
            <a:ahLst/>
            <a:cxnLst/>
            <a:rect l="l" t="t" r="r" b="b"/>
            <a:pathLst>
              <a:path w="393" h="127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5"/>
                </a:lnTo>
                <a:lnTo>
                  <a:pt x="65" y="9"/>
                </a:lnTo>
                <a:lnTo>
                  <a:pt x="82" y="13"/>
                </a:lnTo>
                <a:lnTo>
                  <a:pt x="98" y="19"/>
                </a:lnTo>
                <a:lnTo>
                  <a:pt x="114" y="25"/>
                </a:lnTo>
                <a:lnTo>
                  <a:pt x="131" y="31"/>
                </a:lnTo>
                <a:lnTo>
                  <a:pt x="147" y="38"/>
                </a:lnTo>
                <a:lnTo>
                  <a:pt x="164" y="46"/>
                </a:lnTo>
                <a:lnTo>
                  <a:pt x="180" y="53"/>
                </a:lnTo>
                <a:lnTo>
                  <a:pt x="196" y="61"/>
                </a:lnTo>
                <a:lnTo>
                  <a:pt x="213" y="69"/>
                </a:lnTo>
                <a:lnTo>
                  <a:pt x="229" y="76"/>
                </a:lnTo>
                <a:lnTo>
                  <a:pt x="246" y="84"/>
                </a:lnTo>
                <a:lnTo>
                  <a:pt x="262" y="91"/>
                </a:lnTo>
                <a:lnTo>
                  <a:pt x="278" y="97"/>
                </a:lnTo>
                <a:lnTo>
                  <a:pt x="295" y="103"/>
                </a:lnTo>
                <a:lnTo>
                  <a:pt x="311" y="109"/>
                </a:lnTo>
                <a:lnTo>
                  <a:pt x="327" y="114"/>
                </a:lnTo>
                <a:lnTo>
                  <a:pt x="344" y="117"/>
                </a:lnTo>
                <a:lnTo>
                  <a:pt x="360" y="120"/>
                </a:lnTo>
                <a:lnTo>
                  <a:pt x="377" y="122"/>
                </a:lnTo>
                <a:lnTo>
                  <a:pt x="393" y="123"/>
                </a:lnTo>
                <a:lnTo>
                  <a:pt x="393" y="127"/>
                </a:lnTo>
                <a:lnTo>
                  <a:pt x="377" y="126"/>
                </a:lnTo>
                <a:lnTo>
                  <a:pt x="360" y="124"/>
                </a:lnTo>
                <a:lnTo>
                  <a:pt x="344" y="121"/>
                </a:lnTo>
                <a:lnTo>
                  <a:pt x="327" y="118"/>
                </a:lnTo>
                <a:lnTo>
                  <a:pt x="311" y="113"/>
                </a:lnTo>
                <a:lnTo>
                  <a:pt x="295" y="108"/>
                </a:lnTo>
                <a:lnTo>
                  <a:pt x="278" y="101"/>
                </a:lnTo>
                <a:lnTo>
                  <a:pt x="262" y="95"/>
                </a:lnTo>
                <a:lnTo>
                  <a:pt x="246" y="88"/>
                </a:lnTo>
                <a:lnTo>
                  <a:pt x="229" y="80"/>
                </a:lnTo>
                <a:lnTo>
                  <a:pt x="213" y="73"/>
                </a:lnTo>
                <a:lnTo>
                  <a:pt x="196" y="65"/>
                </a:lnTo>
                <a:lnTo>
                  <a:pt x="180" y="58"/>
                </a:lnTo>
                <a:lnTo>
                  <a:pt x="164" y="50"/>
                </a:lnTo>
                <a:lnTo>
                  <a:pt x="147" y="43"/>
                </a:lnTo>
                <a:lnTo>
                  <a:pt x="131" y="36"/>
                </a:lnTo>
                <a:lnTo>
                  <a:pt x="114" y="29"/>
                </a:lnTo>
                <a:lnTo>
                  <a:pt x="98" y="23"/>
                </a:lnTo>
                <a:lnTo>
                  <a:pt x="82" y="17"/>
                </a:lnTo>
                <a:lnTo>
                  <a:pt x="65" y="13"/>
                </a:lnTo>
                <a:lnTo>
                  <a:pt x="49" y="9"/>
                </a:lnTo>
                <a:lnTo>
                  <a:pt x="33" y="6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reeform 45"/>
          <p:cNvSpPr/>
          <p:nvPr/>
        </p:nvSpPr>
        <p:spPr>
          <a:xfrm>
            <a:off x="2057400" y="4600575"/>
            <a:ext cx="3743325" cy="1571625"/>
          </a:xfrm>
          <a:custGeom>
            <a:avLst/>
            <a:gdLst/>
            <a:ahLst/>
            <a:cxnLst/>
            <a:rect l="l" t="t" r="r" b="b"/>
            <a:pathLst>
              <a:path w="393" h="165">
                <a:moveTo>
                  <a:pt x="0" y="0"/>
                </a:moveTo>
                <a:lnTo>
                  <a:pt x="16" y="0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8"/>
                </a:lnTo>
                <a:lnTo>
                  <a:pt x="98" y="25"/>
                </a:lnTo>
                <a:lnTo>
                  <a:pt x="114" y="33"/>
                </a:lnTo>
                <a:lnTo>
                  <a:pt x="131" y="42"/>
                </a:lnTo>
                <a:lnTo>
                  <a:pt x="147" y="52"/>
                </a:lnTo>
                <a:lnTo>
                  <a:pt x="164" y="61"/>
                </a:lnTo>
                <a:lnTo>
                  <a:pt x="180" y="71"/>
                </a:lnTo>
                <a:lnTo>
                  <a:pt x="196" y="82"/>
                </a:lnTo>
                <a:lnTo>
                  <a:pt x="213" y="92"/>
                </a:lnTo>
                <a:lnTo>
                  <a:pt x="229" y="102"/>
                </a:lnTo>
                <a:lnTo>
                  <a:pt x="246" y="112"/>
                </a:lnTo>
                <a:lnTo>
                  <a:pt x="262" y="121"/>
                </a:lnTo>
                <a:lnTo>
                  <a:pt x="278" y="130"/>
                </a:lnTo>
                <a:lnTo>
                  <a:pt x="295" y="138"/>
                </a:lnTo>
                <a:lnTo>
                  <a:pt x="311" y="145"/>
                </a:lnTo>
                <a:lnTo>
                  <a:pt x="327" y="152"/>
                </a:lnTo>
                <a:lnTo>
                  <a:pt x="344" y="157"/>
                </a:lnTo>
                <a:lnTo>
                  <a:pt x="360" y="160"/>
                </a:lnTo>
                <a:lnTo>
                  <a:pt x="377" y="163"/>
                </a:lnTo>
                <a:lnTo>
                  <a:pt x="393" y="164"/>
                </a:lnTo>
                <a:lnTo>
                  <a:pt x="393" y="165"/>
                </a:lnTo>
                <a:lnTo>
                  <a:pt x="377" y="164"/>
                </a:lnTo>
                <a:lnTo>
                  <a:pt x="360" y="162"/>
                </a:lnTo>
                <a:lnTo>
                  <a:pt x="344" y="158"/>
                </a:lnTo>
                <a:lnTo>
                  <a:pt x="327" y="153"/>
                </a:lnTo>
                <a:lnTo>
                  <a:pt x="311" y="147"/>
                </a:lnTo>
                <a:lnTo>
                  <a:pt x="295" y="140"/>
                </a:lnTo>
                <a:lnTo>
                  <a:pt x="278" y="132"/>
                </a:lnTo>
                <a:lnTo>
                  <a:pt x="262" y="123"/>
                </a:lnTo>
                <a:lnTo>
                  <a:pt x="246" y="113"/>
                </a:lnTo>
                <a:lnTo>
                  <a:pt x="229" y="104"/>
                </a:lnTo>
                <a:lnTo>
                  <a:pt x="213" y="94"/>
                </a:lnTo>
                <a:lnTo>
                  <a:pt x="196" y="83"/>
                </a:lnTo>
                <a:lnTo>
                  <a:pt x="180" y="73"/>
                </a:lnTo>
                <a:lnTo>
                  <a:pt x="164" y="63"/>
                </a:lnTo>
                <a:lnTo>
                  <a:pt x="147" y="53"/>
                </a:lnTo>
                <a:lnTo>
                  <a:pt x="131" y="44"/>
                </a:lnTo>
                <a:lnTo>
                  <a:pt x="114" y="35"/>
                </a:lnTo>
                <a:lnTo>
                  <a:pt x="98" y="27"/>
                </a:lnTo>
                <a:lnTo>
                  <a:pt x="82" y="20"/>
                </a:lnTo>
                <a:lnTo>
                  <a:pt x="65" y="13"/>
                </a:lnTo>
                <a:lnTo>
                  <a:pt x="49" y="8"/>
                </a:lnTo>
                <a:lnTo>
                  <a:pt x="33" y="5"/>
                </a:lnTo>
                <a:lnTo>
                  <a:pt x="16" y="2"/>
                </a:lnTo>
                <a:lnTo>
                  <a:pt x="0" y="1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2057400" y="2447925"/>
            <a:ext cx="3743325" cy="2314575"/>
          </a:xfrm>
          <a:custGeom>
            <a:avLst/>
            <a:gdLst/>
            <a:ahLst/>
            <a:cxnLst/>
            <a:rect l="l" t="t" r="r" b="b"/>
            <a:pathLst>
              <a:path w="393" h="243">
                <a:moveTo>
                  <a:pt x="0" y="233"/>
                </a:moveTo>
                <a:lnTo>
                  <a:pt x="16" y="232"/>
                </a:lnTo>
                <a:lnTo>
                  <a:pt x="33" y="229"/>
                </a:lnTo>
                <a:lnTo>
                  <a:pt x="49" y="223"/>
                </a:lnTo>
                <a:lnTo>
                  <a:pt x="65" y="216"/>
                </a:lnTo>
                <a:lnTo>
                  <a:pt x="82" y="207"/>
                </a:lnTo>
                <a:lnTo>
                  <a:pt x="98" y="197"/>
                </a:lnTo>
                <a:lnTo>
                  <a:pt x="114" y="185"/>
                </a:lnTo>
                <a:lnTo>
                  <a:pt x="131" y="173"/>
                </a:lnTo>
                <a:lnTo>
                  <a:pt x="147" y="160"/>
                </a:lnTo>
                <a:lnTo>
                  <a:pt x="164" y="146"/>
                </a:lnTo>
                <a:lnTo>
                  <a:pt x="180" y="131"/>
                </a:lnTo>
                <a:lnTo>
                  <a:pt x="196" y="117"/>
                </a:lnTo>
                <a:lnTo>
                  <a:pt x="213" y="102"/>
                </a:lnTo>
                <a:lnTo>
                  <a:pt x="229" y="88"/>
                </a:lnTo>
                <a:lnTo>
                  <a:pt x="246" y="74"/>
                </a:lnTo>
                <a:lnTo>
                  <a:pt x="262" y="61"/>
                </a:lnTo>
                <a:lnTo>
                  <a:pt x="278" y="48"/>
                </a:lnTo>
                <a:lnTo>
                  <a:pt x="295" y="37"/>
                </a:lnTo>
                <a:lnTo>
                  <a:pt x="311" y="26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1"/>
                </a:lnTo>
                <a:lnTo>
                  <a:pt x="360" y="14"/>
                </a:lnTo>
                <a:lnTo>
                  <a:pt x="344" y="20"/>
                </a:lnTo>
                <a:lnTo>
                  <a:pt x="327" y="27"/>
                </a:lnTo>
                <a:lnTo>
                  <a:pt x="311" y="36"/>
                </a:lnTo>
                <a:lnTo>
                  <a:pt x="295" y="46"/>
                </a:lnTo>
                <a:lnTo>
                  <a:pt x="278" y="58"/>
                </a:lnTo>
                <a:lnTo>
                  <a:pt x="262" y="70"/>
                </a:lnTo>
                <a:lnTo>
                  <a:pt x="246" y="84"/>
                </a:lnTo>
                <a:lnTo>
                  <a:pt x="229" y="97"/>
                </a:lnTo>
                <a:lnTo>
                  <a:pt x="213" y="112"/>
                </a:lnTo>
                <a:lnTo>
                  <a:pt x="196" y="126"/>
                </a:lnTo>
                <a:lnTo>
                  <a:pt x="180" y="141"/>
                </a:lnTo>
                <a:lnTo>
                  <a:pt x="164" y="155"/>
                </a:lnTo>
                <a:lnTo>
                  <a:pt x="147" y="169"/>
                </a:lnTo>
                <a:lnTo>
                  <a:pt x="131" y="182"/>
                </a:lnTo>
                <a:lnTo>
                  <a:pt x="114" y="195"/>
                </a:lnTo>
                <a:lnTo>
                  <a:pt x="98" y="206"/>
                </a:lnTo>
                <a:lnTo>
                  <a:pt x="82" y="217"/>
                </a:lnTo>
                <a:lnTo>
                  <a:pt x="65" y="226"/>
                </a:lnTo>
                <a:lnTo>
                  <a:pt x="49" y="233"/>
                </a:lnTo>
                <a:lnTo>
                  <a:pt x="33" y="238"/>
                </a:lnTo>
                <a:lnTo>
                  <a:pt x="16" y="242"/>
                </a:lnTo>
                <a:lnTo>
                  <a:pt x="0" y="243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Freeform 47"/>
          <p:cNvSpPr/>
          <p:nvPr/>
        </p:nvSpPr>
        <p:spPr>
          <a:xfrm>
            <a:off x="2057400" y="3781425"/>
            <a:ext cx="3743325" cy="1066800"/>
          </a:xfrm>
          <a:custGeom>
            <a:avLst/>
            <a:gdLst/>
            <a:ahLst/>
            <a:cxnLst/>
            <a:rect l="l" t="t" r="r" b="b"/>
            <a:pathLst>
              <a:path w="393" h="112">
                <a:moveTo>
                  <a:pt x="0" y="103"/>
                </a:moveTo>
                <a:lnTo>
                  <a:pt x="16" y="102"/>
                </a:lnTo>
                <a:lnTo>
                  <a:pt x="33" y="101"/>
                </a:lnTo>
                <a:lnTo>
                  <a:pt x="49" y="98"/>
                </a:lnTo>
                <a:lnTo>
                  <a:pt x="65" y="95"/>
                </a:lnTo>
                <a:lnTo>
                  <a:pt x="82" y="91"/>
                </a:lnTo>
                <a:lnTo>
                  <a:pt x="98" y="87"/>
                </a:lnTo>
                <a:lnTo>
                  <a:pt x="114" y="82"/>
                </a:lnTo>
                <a:lnTo>
                  <a:pt x="131" y="76"/>
                </a:lnTo>
                <a:lnTo>
                  <a:pt x="147" y="70"/>
                </a:lnTo>
                <a:lnTo>
                  <a:pt x="164" y="64"/>
                </a:lnTo>
                <a:lnTo>
                  <a:pt x="180" y="58"/>
                </a:lnTo>
                <a:lnTo>
                  <a:pt x="196" y="52"/>
                </a:lnTo>
                <a:lnTo>
                  <a:pt x="213" y="45"/>
                </a:lnTo>
                <a:lnTo>
                  <a:pt x="229" y="39"/>
                </a:lnTo>
                <a:lnTo>
                  <a:pt x="246" y="33"/>
                </a:lnTo>
                <a:lnTo>
                  <a:pt x="262" y="27"/>
                </a:lnTo>
                <a:lnTo>
                  <a:pt x="278" y="21"/>
                </a:lnTo>
                <a:lnTo>
                  <a:pt x="295" y="16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0"/>
                </a:lnTo>
                <a:lnTo>
                  <a:pt x="360" y="12"/>
                </a:lnTo>
                <a:lnTo>
                  <a:pt x="344" y="14"/>
                </a:lnTo>
                <a:lnTo>
                  <a:pt x="327" y="17"/>
                </a:lnTo>
                <a:lnTo>
                  <a:pt x="311" y="21"/>
                </a:lnTo>
                <a:lnTo>
                  <a:pt x="295" y="26"/>
                </a:lnTo>
                <a:lnTo>
                  <a:pt x="278" y="31"/>
                </a:lnTo>
                <a:lnTo>
                  <a:pt x="262" y="36"/>
                </a:lnTo>
                <a:lnTo>
                  <a:pt x="246" y="42"/>
                </a:lnTo>
                <a:lnTo>
                  <a:pt x="229" y="48"/>
                </a:lnTo>
                <a:lnTo>
                  <a:pt x="213" y="55"/>
                </a:lnTo>
                <a:lnTo>
                  <a:pt x="196" y="61"/>
                </a:lnTo>
                <a:lnTo>
                  <a:pt x="180" y="67"/>
                </a:lnTo>
                <a:lnTo>
                  <a:pt x="164" y="74"/>
                </a:lnTo>
                <a:lnTo>
                  <a:pt x="147" y="80"/>
                </a:lnTo>
                <a:lnTo>
                  <a:pt x="131" y="86"/>
                </a:lnTo>
                <a:lnTo>
                  <a:pt x="114" y="91"/>
                </a:lnTo>
                <a:lnTo>
                  <a:pt x="98" y="96"/>
                </a:lnTo>
                <a:lnTo>
                  <a:pt x="82" y="101"/>
                </a:lnTo>
                <a:lnTo>
                  <a:pt x="65" y="105"/>
                </a:lnTo>
                <a:lnTo>
                  <a:pt x="49" y="108"/>
                </a:lnTo>
                <a:lnTo>
                  <a:pt x="33" y="110"/>
                </a:lnTo>
                <a:lnTo>
                  <a:pt x="16" y="112"/>
                </a:lnTo>
                <a:lnTo>
                  <a:pt x="0" y="112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Freeform 48"/>
          <p:cNvSpPr/>
          <p:nvPr/>
        </p:nvSpPr>
        <p:spPr>
          <a:xfrm>
            <a:off x="2057400" y="4848225"/>
            <a:ext cx="3743325" cy="209550"/>
          </a:xfrm>
          <a:custGeom>
            <a:avLst/>
            <a:gdLst/>
            <a:ahLst/>
            <a:cxnLst/>
            <a:rect l="l" t="t" r="r" b="b"/>
            <a:pathLst>
              <a:path w="393" h="2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2"/>
                </a:lnTo>
                <a:lnTo>
                  <a:pt x="114" y="3"/>
                </a:lnTo>
                <a:lnTo>
                  <a:pt x="131" y="4"/>
                </a:lnTo>
                <a:lnTo>
                  <a:pt x="147" y="5"/>
                </a:lnTo>
                <a:lnTo>
                  <a:pt x="164" y="6"/>
                </a:lnTo>
                <a:lnTo>
                  <a:pt x="180" y="6"/>
                </a:lnTo>
                <a:lnTo>
                  <a:pt x="196" y="7"/>
                </a:lnTo>
                <a:lnTo>
                  <a:pt x="213" y="8"/>
                </a:lnTo>
                <a:lnTo>
                  <a:pt x="229" y="9"/>
                </a:lnTo>
                <a:lnTo>
                  <a:pt x="246" y="10"/>
                </a:lnTo>
                <a:lnTo>
                  <a:pt x="262" y="11"/>
                </a:lnTo>
                <a:lnTo>
                  <a:pt x="278" y="12"/>
                </a:lnTo>
                <a:lnTo>
                  <a:pt x="295" y="12"/>
                </a:lnTo>
                <a:lnTo>
                  <a:pt x="311" y="13"/>
                </a:lnTo>
                <a:lnTo>
                  <a:pt x="327" y="13"/>
                </a:lnTo>
                <a:lnTo>
                  <a:pt x="344" y="14"/>
                </a:lnTo>
                <a:lnTo>
                  <a:pt x="360" y="14"/>
                </a:lnTo>
                <a:lnTo>
                  <a:pt x="377" y="14"/>
                </a:lnTo>
                <a:lnTo>
                  <a:pt x="393" y="14"/>
                </a:lnTo>
                <a:lnTo>
                  <a:pt x="393" y="22"/>
                </a:lnTo>
                <a:lnTo>
                  <a:pt x="377" y="22"/>
                </a:lnTo>
                <a:lnTo>
                  <a:pt x="360" y="22"/>
                </a:lnTo>
                <a:lnTo>
                  <a:pt x="344" y="22"/>
                </a:lnTo>
                <a:lnTo>
                  <a:pt x="327" y="21"/>
                </a:lnTo>
                <a:lnTo>
                  <a:pt x="311" y="21"/>
                </a:lnTo>
                <a:lnTo>
                  <a:pt x="295" y="20"/>
                </a:lnTo>
                <a:lnTo>
                  <a:pt x="278" y="19"/>
                </a:lnTo>
                <a:lnTo>
                  <a:pt x="262" y="18"/>
                </a:lnTo>
                <a:lnTo>
                  <a:pt x="246" y="18"/>
                </a:lnTo>
                <a:lnTo>
                  <a:pt x="229" y="17"/>
                </a:lnTo>
                <a:lnTo>
                  <a:pt x="213" y="16"/>
                </a:lnTo>
                <a:lnTo>
                  <a:pt x="196" y="15"/>
                </a:lnTo>
                <a:lnTo>
                  <a:pt x="180" y="14"/>
                </a:lnTo>
                <a:lnTo>
                  <a:pt x="164" y="13"/>
                </a:lnTo>
                <a:lnTo>
                  <a:pt x="147" y="12"/>
                </a:lnTo>
                <a:lnTo>
                  <a:pt x="131" y="12"/>
                </a:lnTo>
                <a:lnTo>
                  <a:pt x="114" y="11"/>
                </a:lnTo>
                <a:lnTo>
                  <a:pt x="98" y="10"/>
                </a:lnTo>
                <a:lnTo>
                  <a:pt x="82" y="10"/>
                </a:lnTo>
                <a:lnTo>
                  <a:pt x="65" y="9"/>
                </a:lnTo>
                <a:lnTo>
                  <a:pt x="49" y="9"/>
                </a:lnTo>
                <a:lnTo>
                  <a:pt x="33" y="8"/>
                </a:lnTo>
                <a:lnTo>
                  <a:pt x="16" y="8"/>
                </a:lnTo>
                <a:lnTo>
                  <a:pt x="0" y="8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Freeform 49"/>
          <p:cNvSpPr/>
          <p:nvPr/>
        </p:nvSpPr>
        <p:spPr>
          <a:xfrm>
            <a:off x="2057400" y="4924425"/>
            <a:ext cx="3743325" cy="885825"/>
          </a:xfrm>
          <a:custGeom>
            <a:avLst/>
            <a:gdLst/>
            <a:ahLst/>
            <a:cxnLst/>
            <a:rect l="l" t="t" r="r" b="b"/>
            <a:pathLst>
              <a:path w="393" h="93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0"/>
                </a:lnTo>
                <a:lnTo>
                  <a:pt x="98" y="14"/>
                </a:lnTo>
                <a:lnTo>
                  <a:pt x="114" y="18"/>
                </a:lnTo>
                <a:lnTo>
                  <a:pt x="131" y="23"/>
                </a:lnTo>
                <a:lnTo>
                  <a:pt x="147" y="28"/>
                </a:lnTo>
                <a:lnTo>
                  <a:pt x="164" y="33"/>
                </a:lnTo>
                <a:lnTo>
                  <a:pt x="180" y="39"/>
                </a:lnTo>
                <a:lnTo>
                  <a:pt x="196" y="44"/>
                </a:lnTo>
                <a:lnTo>
                  <a:pt x="213" y="50"/>
                </a:lnTo>
                <a:lnTo>
                  <a:pt x="229" y="55"/>
                </a:lnTo>
                <a:lnTo>
                  <a:pt x="246" y="61"/>
                </a:lnTo>
                <a:lnTo>
                  <a:pt x="262" y="66"/>
                </a:lnTo>
                <a:lnTo>
                  <a:pt x="278" y="71"/>
                </a:lnTo>
                <a:lnTo>
                  <a:pt x="295" y="75"/>
                </a:lnTo>
                <a:lnTo>
                  <a:pt x="311" y="79"/>
                </a:lnTo>
                <a:lnTo>
                  <a:pt x="327" y="82"/>
                </a:lnTo>
                <a:lnTo>
                  <a:pt x="344" y="85"/>
                </a:lnTo>
                <a:lnTo>
                  <a:pt x="360" y="87"/>
                </a:lnTo>
                <a:lnTo>
                  <a:pt x="377" y="88"/>
                </a:lnTo>
                <a:lnTo>
                  <a:pt x="393" y="89"/>
                </a:lnTo>
                <a:lnTo>
                  <a:pt x="393" y="93"/>
                </a:lnTo>
                <a:lnTo>
                  <a:pt x="377" y="93"/>
                </a:lnTo>
                <a:lnTo>
                  <a:pt x="360" y="91"/>
                </a:lnTo>
                <a:lnTo>
                  <a:pt x="344" y="89"/>
                </a:lnTo>
                <a:lnTo>
                  <a:pt x="327" y="86"/>
                </a:lnTo>
                <a:lnTo>
                  <a:pt x="311" y="83"/>
                </a:lnTo>
                <a:lnTo>
                  <a:pt x="295" y="79"/>
                </a:lnTo>
                <a:lnTo>
                  <a:pt x="278" y="75"/>
                </a:lnTo>
                <a:lnTo>
                  <a:pt x="262" y="70"/>
                </a:lnTo>
                <a:lnTo>
                  <a:pt x="246" y="65"/>
                </a:lnTo>
                <a:lnTo>
                  <a:pt x="229" y="60"/>
                </a:lnTo>
                <a:lnTo>
                  <a:pt x="213" y="54"/>
                </a:lnTo>
                <a:lnTo>
                  <a:pt x="196" y="49"/>
                </a:lnTo>
                <a:lnTo>
                  <a:pt x="180" y="43"/>
                </a:lnTo>
                <a:lnTo>
                  <a:pt x="164" y="38"/>
                </a:lnTo>
                <a:lnTo>
                  <a:pt x="147" y="32"/>
                </a:lnTo>
                <a:lnTo>
                  <a:pt x="131" y="27"/>
                </a:lnTo>
                <a:lnTo>
                  <a:pt x="114" y="22"/>
                </a:lnTo>
                <a:lnTo>
                  <a:pt x="98" y="18"/>
                </a:lnTo>
                <a:lnTo>
                  <a:pt x="82" y="14"/>
                </a:lnTo>
                <a:lnTo>
                  <a:pt x="65" y="11"/>
                </a:lnTo>
                <a:lnTo>
                  <a:pt x="49" y="8"/>
                </a:lnTo>
                <a:lnTo>
                  <a:pt x="33" y="6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2057400" y="4962525"/>
            <a:ext cx="3743325" cy="1228725"/>
          </a:xfrm>
          <a:custGeom>
            <a:avLst/>
            <a:gdLst/>
            <a:ahLst/>
            <a:cxnLst/>
            <a:rect l="l" t="t" r="r" b="b"/>
            <a:pathLst>
              <a:path w="393" h="129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0"/>
                </a:lnTo>
                <a:lnTo>
                  <a:pt x="82" y="14"/>
                </a:lnTo>
                <a:lnTo>
                  <a:pt x="98" y="20"/>
                </a:lnTo>
                <a:lnTo>
                  <a:pt x="114" y="26"/>
                </a:lnTo>
                <a:lnTo>
                  <a:pt x="131" y="33"/>
                </a:lnTo>
                <a:lnTo>
                  <a:pt x="147" y="40"/>
                </a:lnTo>
                <a:lnTo>
                  <a:pt x="164" y="48"/>
                </a:lnTo>
                <a:lnTo>
                  <a:pt x="180" y="56"/>
                </a:lnTo>
                <a:lnTo>
                  <a:pt x="196" y="64"/>
                </a:lnTo>
                <a:lnTo>
                  <a:pt x="213" y="72"/>
                </a:lnTo>
                <a:lnTo>
                  <a:pt x="229" y="80"/>
                </a:lnTo>
                <a:lnTo>
                  <a:pt x="246" y="87"/>
                </a:lnTo>
                <a:lnTo>
                  <a:pt x="262" y="94"/>
                </a:lnTo>
                <a:lnTo>
                  <a:pt x="278" y="101"/>
                </a:lnTo>
                <a:lnTo>
                  <a:pt x="295" y="107"/>
                </a:lnTo>
                <a:lnTo>
                  <a:pt x="311" y="113"/>
                </a:lnTo>
                <a:lnTo>
                  <a:pt x="327" y="118"/>
                </a:lnTo>
                <a:lnTo>
                  <a:pt x="344" y="122"/>
                </a:lnTo>
                <a:lnTo>
                  <a:pt x="360" y="125"/>
                </a:lnTo>
                <a:lnTo>
                  <a:pt x="377" y="127"/>
                </a:lnTo>
                <a:lnTo>
                  <a:pt x="393" y="127"/>
                </a:lnTo>
                <a:lnTo>
                  <a:pt x="393" y="129"/>
                </a:lnTo>
                <a:lnTo>
                  <a:pt x="377" y="128"/>
                </a:lnTo>
                <a:lnTo>
                  <a:pt x="360" y="126"/>
                </a:lnTo>
                <a:lnTo>
                  <a:pt x="344" y="124"/>
                </a:lnTo>
                <a:lnTo>
                  <a:pt x="327" y="120"/>
                </a:lnTo>
                <a:lnTo>
                  <a:pt x="311" y="115"/>
                </a:lnTo>
                <a:lnTo>
                  <a:pt x="295" y="109"/>
                </a:lnTo>
                <a:lnTo>
                  <a:pt x="278" y="103"/>
                </a:lnTo>
                <a:lnTo>
                  <a:pt x="262" y="96"/>
                </a:lnTo>
                <a:lnTo>
                  <a:pt x="246" y="89"/>
                </a:lnTo>
                <a:lnTo>
                  <a:pt x="229" y="81"/>
                </a:lnTo>
                <a:lnTo>
                  <a:pt x="213" y="73"/>
                </a:lnTo>
                <a:lnTo>
                  <a:pt x="196" y="65"/>
                </a:lnTo>
                <a:lnTo>
                  <a:pt x="180" y="58"/>
                </a:lnTo>
                <a:lnTo>
                  <a:pt x="164" y="50"/>
                </a:lnTo>
                <a:lnTo>
                  <a:pt x="147" y="42"/>
                </a:lnTo>
                <a:lnTo>
                  <a:pt x="131" y="35"/>
                </a:lnTo>
                <a:lnTo>
                  <a:pt x="114" y="28"/>
                </a:lnTo>
                <a:lnTo>
                  <a:pt x="98" y="22"/>
                </a:lnTo>
                <a:lnTo>
                  <a:pt x="82" y="16"/>
                </a:lnTo>
                <a:lnTo>
                  <a:pt x="65" y="11"/>
                </a:lnTo>
                <a:lnTo>
                  <a:pt x="49" y="7"/>
                </a:lnTo>
                <a:lnTo>
                  <a:pt x="33" y="4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Freeform 51"/>
          <p:cNvSpPr/>
          <p:nvPr/>
        </p:nvSpPr>
        <p:spPr>
          <a:xfrm>
            <a:off x="2057400" y="2543175"/>
            <a:ext cx="3743325" cy="2571750"/>
          </a:xfrm>
          <a:custGeom>
            <a:avLst/>
            <a:gdLst/>
            <a:ahLst/>
            <a:cxnLst/>
            <a:rect l="l" t="t" r="r" b="b"/>
            <a:pathLst>
              <a:path w="393" h="270">
                <a:moveTo>
                  <a:pt x="0" y="262"/>
                </a:moveTo>
                <a:lnTo>
                  <a:pt x="16" y="261"/>
                </a:lnTo>
                <a:lnTo>
                  <a:pt x="33" y="257"/>
                </a:lnTo>
                <a:lnTo>
                  <a:pt x="49" y="251"/>
                </a:lnTo>
                <a:lnTo>
                  <a:pt x="65" y="242"/>
                </a:lnTo>
                <a:lnTo>
                  <a:pt x="82" y="233"/>
                </a:lnTo>
                <a:lnTo>
                  <a:pt x="98" y="221"/>
                </a:lnTo>
                <a:lnTo>
                  <a:pt x="114" y="208"/>
                </a:lnTo>
                <a:lnTo>
                  <a:pt x="131" y="194"/>
                </a:lnTo>
                <a:lnTo>
                  <a:pt x="147" y="179"/>
                </a:lnTo>
                <a:lnTo>
                  <a:pt x="164" y="163"/>
                </a:lnTo>
                <a:lnTo>
                  <a:pt x="180" y="147"/>
                </a:lnTo>
                <a:lnTo>
                  <a:pt x="196" y="131"/>
                </a:lnTo>
                <a:lnTo>
                  <a:pt x="213" y="115"/>
                </a:lnTo>
                <a:lnTo>
                  <a:pt x="229" y="98"/>
                </a:lnTo>
                <a:lnTo>
                  <a:pt x="246" y="83"/>
                </a:lnTo>
                <a:lnTo>
                  <a:pt x="262" y="68"/>
                </a:lnTo>
                <a:lnTo>
                  <a:pt x="278" y="54"/>
                </a:lnTo>
                <a:lnTo>
                  <a:pt x="295" y="41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8"/>
                </a:lnTo>
                <a:lnTo>
                  <a:pt x="377" y="9"/>
                </a:lnTo>
                <a:lnTo>
                  <a:pt x="360" y="13"/>
                </a:lnTo>
                <a:lnTo>
                  <a:pt x="344" y="19"/>
                </a:lnTo>
                <a:lnTo>
                  <a:pt x="327" y="27"/>
                </a:lnTo>
                <a:lnTo>
                  <a:pt x="311" y="37"/>
                </a:lnTo>
                <a:lnTo>
                  <a:pt x="295" y="49"/>
                </a:lnTo>
                <a:lnTo>
                  <a:pt x="278" y="62"/>
                </a:lnTo>
                <a:lnTo>
                  <a:pt x="262" y="76"/>
                </a:lnTo>
                <a:lnTo>
                  <a:pt x="246" y="91"/>
                </a:lnTo>
                <a:lnTo>
                  <a:pt x="229" y="106"/>
                </a:lnTo>
                <a:lnTo>
                  <a:pt x="213" y="122"/>
                </a:lnTo>
                <a:lnTo>
                  <a:pt x="196" y="139"/>
                </a:lnTo>
                <a:lnTo>
                  <a:pt x="180" y="155"/>
                </a:lnTo>
                <a:lnTo>
                  <a:pt x="164" y="171"/>
                </a:lnTo>
                <a:lnTo>
                  <a:pt x="147" y="187"/>
                </a:lnTo>
                <a:lnTo>
                  <a:pt x="131" y="202"/>
                </a:lnTo>
                <a:lnTo>
                  <a:pt x="114" y="216"/>
                </a:lnTo>
                <a:lnTo>
                  <a:pt x="98" y="229"/>
                </a:lnTo>
                <a:lnTo>
                  <a:pt x="82" y="240"/>
                </a:lnTo>
                <a:lnTo>
                  <a:pt x="65" y="250"/>
                </a:lnTo>
                <a:lnTo>
                  <a:pt x="49" y="258"/>
                </a:lnTo>
                <a:lnTo>
                  <a:pt x="33" y="265"/>
                </a:lnTo>
                <a:lnTo>
                  <a:pt x="16" y="268"/>
                </a:lnTo>
                <a:lnTo>
                  <a:pt x="0" y="270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2057400" y="3876675"/>
            <a:ext cx="3743325" cy="1295400"/>
          </a:xfrm>
          <a:custGeom>
            <a:avLst/>
            <a:gdLst/>
            <a:ahLst/>
            <a:cxnLst/>
            <a:rect l="l" t="t" r="r" b="b"/>
            <a:pathLst>
              <a:path w="393" h="136">
                <a:moveTo>
                  <a:pt x="0" y="130"/>
                </a:moveTo>
                <a:lnTo>
                  <a:pt x="16" y="129"/>
                </a:lnTo>
                <a:lnTo>
                  <a:pt x="33" y="127"/>
                </a:lnTo>
                <a:lnTo>
                  <a:pt x="49" y="124"/>
                </a:lnTo>
                <a:lnTo>
                  <a:pt x="65" y="120"/>
                </a:lnTo>
                <a:lnTo>
                  <a:pt x="82" y="115"/>
                </a:lnTo>
                <a:lnTo>
                  <a:pt x="98" y="109"/>
                </a:lnTo>
                <a:lnTo>
                  <a:pt x="114" y="103"/>
                </a:lnTo>
                <a:lnTo>
                  <a:pt x="131" y="96"/>
                </a:lnTo>
                <a:lnTo>
                  <a:pt x="147" y="89"/>
                </a:lnTo>
                <a:lnTo>
                  <a:pt x="164" y="81"/>
                </a:lnTo>
                <a:lnTo>
                  <a:pt x="180" y="73"/>
                </a:lnTo>
                <a:lnTo>
                  <a:pt x="196" y="65"/>
                </a:lnTo>
                <a:lnTo>
                  <a:pt x="213" y="57"/>
                </a:lnTo>
                <a:lnTo>
                  <a:pt x="229" y="49"/>
                </a:lnTo>
                <a:lnTo>
                  <a:pt x="246" y="41"/>
                </a:lnTo>
                <a:lnTo>
                  <a:pt x="262" y="34"/>
                </a:lnTo>
                <a:lnTo>
                  <a:pt x="278" y="27"/>
                </a:lnTo>
                <a:lnTo>
                  <a:pt x="295" y="20"/>
                </a:lnTo>
                <a:lnTo>
                  <a:pt x="311" y="14"/>
                </a:lnTo>
                <a:lnTo>
                  <a:pt x="327" y="10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7"/>
                </a:lnTo>
                <a:lnTo>
                  <a:pt x="360" y="9"/>
                </a:lnTo>
                <a:lnTo>
                  <a:pt x="344" y="12"/>
                </a:lnTo>
                <a:lnTo>
                  <a:pt x="327" y="16"/>
                </a:lnTo>
                <a:lnTo>
                  <a:pt x="311" y="21"/>
                </a:lnTo>
                <a:lnTo>
                  <a:pt x="295" y="27"/>
                </a:lnTo>
                <a:lnTo>
                  <a:pt x="278" y="33"/>
                </a:lnTo>
                <a:lnTo>
                  <a:pt x="262" y="40"/>
                </a:lnTo>
                <a:lnTo>
                  <a:pt x="246" y="48"/>
                </a:lnTo>
                <a:lnTo>
                  <a:pt x="229" y="55"/>
                </a:lnTo>
                <a:lnTo>
                  <a:pt x="213" y="63"/>
                </a:lnTo>
                <a:lnTo>
                  <a:pt x="196" y="72"/>
                </a:lnTo>
                <a:lnTo>
                  <a:pt x="180" y="80"/>
                </a:lnTo>
                <a:lnTo>
                  <a:pt x="164" y="88"/>
                </a:lnTo>
                <a:lnTo>
                  <a:pt x="147" y="95"/>
                </a:lnTo>
                <a:lnTo>
                  <a:pt x="131" y="103"/>
                </a:lnTo>
                <a:lnTo>
                  <a:pt x="114" y="110"/>
                </a:lnTo>
                <a:lnTo>
                  <a:pt x="98" y="116"/>
                </a:lnTo>
                <a:lnTo>
                  <a:pt x="82" y="122"/>
                </a:lnTo>
                <a:lnTo>
                  <a:pt x="65" y="127"/>
                </a:lnTo>
                <a:lnTo>
                  <a:pt x="49" y="131"/>
                </a:lnTo>
                <a:lnTo>
                  <a:pt x="33" y="134"/>
                </a:lnTo>
                <a:lnTo>
                  <a:pt x="16" y="136"/>
                </a:lnTo>
                <a:lnTo>
                  <a:pt x="0" y="136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Freeform 53"/>
          <p:cNvSpPr/>
          <p:nvPr/>
        </p:nvSpPr>
        <p:spPr>
          <a:xfrm>
            <a:off x="2057400" y="5057775"/>
            <a:ext cx="3743325" cy="180975"/>
          </a:xfrm>
          <a:custGeom>
            <a:avLst/>
            <a:gdLst/>
            <a:ahLst/>
            <a:cxnLst/>
            <a:rect l="l" t="t" r="r" b="b"/>
            <a:pathLst>
              <a:path w="393" h="19">
                <a:moveTo>
                  <a:pt x="0" y="12"/>
                </a:moveTo>
                <a:lnTo>
                  <a:pt x="16" y="12"/>
                </a:lnTo>
                <a:lnTo>
                  <a:pt x="33" y="12"/>
                </a:lnTo>
                <a:lnTo>
                  <a:pt x="49" y="12"/>
                </a:lnTo>
                <a:lnTo>
                  <a:pt x="65" y="12"/>
                </a:lnTo>
                <a:lnTo>
                  <a:pt x="82" y="11"/>
                </a:lnTo>
                <a:lnTo>
                  <a:pt x="98" y="11"/>
                </a:lnTo>
                <a:lnTo>
                  <a:pt x="114" y="10"/>
                </a:lnTo>
                <a:lnTo>
                  <a:pt x="131" y="9"/>
                </a:lnTo>
                <a:lnTo>
                  <a:pt x="147" y="9"/>
                </a:lnTo>
                <a:lnTo>
                  <a:pt x="164" y="8"/>
                </a:lnTo>
                <a:lnTo>
                  <a:pt x="180" y="7"/>
                </a:lnTo>
                <a:lnTo>
                  <a:pt x="196" y="6"/>
                </a:lnTo>
                <a:lnTo>
                  <a:pt x="213" y="6"/>
                </a:lnTo>
                <a:lnTo>
                  <a:pt x="229" y="5"/>
                </a:lnTo>
                <a:lnTo>
                  <a:pt x="246" y="4"/>
                </a:lnTo>
                <a:lnTo>
                  <a:pt x="262" y="3"/>
                </a:lnTo>
                <a:lnTo>
                  <a:pt x="278" y="3"/>
                </a:lnTo>
                <a:lnTo>
                  <a:pt x="295" y="2"/>
                </a:lnTo>
                <a:lnTo>
                  <a:pt x="311" y="2"/>
                </a:lnTo>
                <a:lnTo>
                  <a:pt x="327" y="1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6"/>
                </a:lnTo>
                <a:lnTo>
                  <a:pt x="344" y="7"/>
                </a:lnTo>
                <a:lnTo>
                  <a:pt x="327" y="7"/>
                </a:lnTo>
                <a:lnTo>
                  <a:pt x="311" y="8"/>
                </a:lnTo>
                <a:lnTo>
                  <a:pt x="295" y="8"/>
                </a:lnTo>
                <a:lnTo>
                  <a:pt x="278" y="9"/>
                </a:lnTo>
                <a:lnTo>
                  <a:pt x="262" y="9"/>
                </a:lnTo>
                <a:lnTo>
                  <a:pt x="246" y="10"/>
                </a:lnTo>
                <a:lnTo>
                  <a:pt x="229" y="11"/>
                </a:lnTo>
                <a:lnTo>
                  <a:pt x="213" y="12"/>
                </a:lnTo>
                <a:lnTo>
                  <a:pt x="196" y="12"/>
                </a:lnTo>
                <a:lnTo>
                  <a:pt x="180" y="13"/>
                </a:lnTo>
                <a:lnTo>
                  <a:pt x="164" y="14"/>
                </a:lnTo>
                <a:lnTo>
                  <a:pt x="147" y="15"/>
                </a:lnTo>
                <a:lnTo>
                  <a:pt x="131" y="15"/>
                </a:lnTo>
                <a:lnTo>
                  <a:pt x="114" y="16"/>
                </a:lnTo>
                <a:lnTo>
                  <a:pt x="98" y="17"/>
                </a:lnTo>
                <a:lnTo>
                  <a:pt x="82" y="17"/>
                </a:lnTo>
                <a:lnTo>
                  <a:pt x="65" y="18"/>
                </a:lnTo>
                <a:lnTo>
                  <a:pt x="49" y="18"/>
                </a:lnTo>
                <a:lnTo>
                  <a:pt x="33" y="18"/>
                </a:lnTo>
                <a:lnTo>
                  <a:pt x="16" y="18"/>
                </a:lnTo>
                <a:lnTo>
                  <a:pt x="0" y="19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reeform 54"/>
          <p:cNvSpPr/>
          <p:nvPr/>
        </p:nvSpPr>
        <p:spPr>
          <a:xfrm>
            <a:off x="2057400" y="5238750"/>
            <a:ext cx="3743325" cy="609600"/>
          </a:xfrm>
          <a:custGeom>
            <a:avLst/>
            <a:gdLst/>
            <a:ahLst/>
            <a:cxnLst/>
            <a:rect l="l" t="t" r="r" b="b"/>
            <a:pathLst>
              <a:path w="393" h="64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6"/>
                </a:lnTo>
                <a:lnTo>
                  <a:pt x="98" y="9"/>
                </a:lnTo>
                <a:lnTo>
                  <a:pt x="114" y="12"/>
                </a:lnTo>
                <a:lnTo>
                  <a:pt x="131" y="15"/>
                </a:lnTo>
                <a:lnTo>
                  <a:pt x="147" y="19"/>
                </a:lnTo>
                <a:lnTo>
                  <a:pt x="164" y="22"/>
                </a:lnTo>
                <a:lnTo>
                  <a:pt x="180" y="26"/>
                </a:lnTo>
                <a:lnTo>
                  <a:pt x="196" y="30"/>
                </a:lnTo>
                <a:lnTo>
                  <a:pt x="213" y="34"/>
                </a:lnTo>
                <a:lnTo>
                  <a:pt x="229" y="37"/>
                </a:lnTo>
                <a:lnTo>
                  <a:pt x="246" y="41"/>
                </a:lnTo>
                <a:lnTo>
                  <a:pt x="262" y="44"/>
                </a:lnTo>
                <a:lnTo>
                  <a:pt x="278" y="48"/>
                </a:lnTo>
                <a:lnTo>
                  <a:pt x="295" y="51"/>
                </a:lnTo>
                <a:lnTo>
                  <a:pt x="311" y="53"/>
                </a:lnTo>
                <a:lnTo>
                  <a:pt x="327" y="56"/>
                </a:lnTo>
                <a:lnTo>
                  <a:pt x="344" y="57"/>
                </a:lnTo>
                <a:lnTo>
                  <a:pt x="360" y="59"/>
                </a:lnTo>
                <a:lnTo>
                  <a:pt x="377" y="60"/>
                </a:lnTo>
                <a:lnTo>
                  <a:pt x="393" y="60"/>
                </a:lnTo>
                <a:lnTo>
                  <a:pt x="393" y="64"/>
                </a:lnTo>
                <a:lnTo>
                  <a:pt x="377" y="64"/>
                </a:lnTo>
                <a:lnTo>
                  <a:pt x="360" y="63"/>
                </a:lnTo>
                <a:lnTo>
                  <a:pt x="344" y="61"/>
                </a:lnTo>
                <a:lnTo>
                  <a:pt x="327" y="59"/>
                </a:lnTo>
                <a:lnTo>
                  <a:pt x="311" y="57"/>
                </a:lnTo>
                <a:lnTo>
                  <a:pt x="295" y="54"/>
                </a:lnTo>
                <a:lnTo>
                  <a:pt x="278" y="51"/>
                </a:lnTo>
                <a:lnTo>
                  <a:pt x="262" y="48"/>
                </a:lnTo>
                <a:lnTo>
                  <a:pt x="246" y="45"/>
                </a:lnTo>
                <a:lnTo>
                  <a:pt x="229" y="41"/>
                </a:lnTo>
                <a:lnTo>
                  <a:pt x="213" y="37"/>
                </a:lnTo>
                <a:lnTo>
                  <a:pt x="196" y="34"/>
                </a:lnTo>
                <a:lnTo>
                  <a:pt x="180" y="30"/>
                </a:lnTo>
                <a:lnTo>
                  <a:pt x="164" y="26"/>
                </a:lnTo>
                <a:lnTo>
                  <a:pt x="147" y="22"/>
                </a:lnTo>
                <a:lnTo>
                  <a:pt x="131" y="19"/>
                </a:lnTo>
                <a:lnTo>
                  <a:pt x="114" y="16"/>
                </a:lnTo>
                <a:lnTo>
                  <a:pt x="98" y="13"/>
                </a:lnTo>
                <a:lnTo>
                  <a:pt x="82" y="10"/>
                </a:lnTo>
                <a:lnTo>
                  <a:pt x="65" y="8"/>
                </a:lnTo>
                <a:lnTo>
                  <a:pt x="49" y="6"/>
                </a:lnTo>
                <a:lnTo>
                  <a:pt x="33" y="5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Freeform 55"/>
          <p:cNvSpPr/>
          <p:nvPr/>
        </p:nvSpPr>
        <p:spPr>
          <a:xfrm>
            <a:off x="2057400" y="5267325"/>
            <a:ext cx="3743325" cy="933450"/>
          </a:xfrm>
          <a:custGeom>
            <a:avLst/>
            <a:gdLst/>
            <a:ahLst/>
            <a:cxnLst/>
            <a:rect l="l" t="t" r="r" b="b"/>
            <a:pathLst>
              <a:path w="393" h="98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1"/>
                </a:lnTo>
                <a:lnTo>
                  <a:pt x="164" y="37"/>
                </a:lnTo>
                <a:lnTo>
                  <a:pt x="180" y="43"/>
                </a:lnTo>
                <a:lnTo>
                  <a:pt x="196" y="49"/>
                </a:lnTo>
                <a:lnTo>
                  <a:pt x="213" y="55"/>
                </a:lnTo>
                <a:lnTo>
                  <a:pt x="229" y="61"/>
                </a:lnTo>
                <a:lnTo>
                  <a:pt x="246" y="66"/>
                </a:lnTo>
                <a:lnTo>
                  <a:pt x="262" y="72"/>
                </a:lnTo>
                <a:lnTo>
                  <a:pt x="278" y="77"/>
                </a:lnTo>
                <a:lnTo>
                  <a:pt x="295" y="82"/>
                </a:lnTo>
                <a:lnTo>
                  <a:pt x="311" y="86"/>
                </a:lnTo>
                <a:lnTo>
                  <a:pt x="327" y="90"/>
                </a:lnTo>
                <a:lnTo>
                  <a:pt x="344" y="93"/>
                </a:lnTo>
                <a:lnTo>
                  <a:pt x="360" y="95"/>
                </a:lnTo>
                <a:lnTo>
                  <a:pt x="377" y="97"/>
                </a:lnTo>
                <a:lnTo>
                  <a:pt x="393" y="97"/>
                </a:lnTo>
                <a:lnTo>
                  <a:pt x="393" y="98"/>
                </a:lnTo>
                <a:lnTo>
                  <a:pt x="377" y="98"/>
                </a:lnTo>
                <a:lnTo>
                  <a:pt x="360" y="96"/>
                </a:lnTo>
                <a:lnTo>
                  <a:pt x="344" y="94"/>
                </a:lnTo>
                <a:lnTo>
                  <a:pt x="327" y="91"/>
                </a:lnTo>
                <a:lnTo>
                  <a:pt x="311" y="87"/>
                </a:lnTo>
                <a:lnTo>
                  <a:pt x="295" y="83"/>
                </a:lnTo>
                <a:lnTo>
                  <a:pt x="278" y="78"/>
                </a:lnTo>
                <a:lnTo>
                  <a:pt x="262" y="73"/>
                </a:lnTo>
                <a:lnTo>
                  <a:pt x="246" y="68"/>
                </a:lnTo>
                <a:lnTo>
                  <a:pt x="229" y="62"/>
                </a:lnTo>
                <a:lnTo>
                  <a:pt x="213" y="56"/>
                </a:lnTo>
                <a:lnTo>
                  <a:pt x="196" y="50"/>
                </a:lnTo>
                <a:lnTo>
                  <a:pt x="180" y="44"/>
                </a:lnTo>
                <a:lnTo>
                  <a:pt x="164" y="38"/>
                </a:lnTo>
                <a:lnTo>
                  <a:pt x="147" y="32"/>
                </a:lnTo>
                <a:lnTo>
                  <a:pt x="131" y="27"/>
                </a:lnTo>
                <a:lnTo>
                  <a:pt x="114" y="22"/>
                </a:lnTo>
                <a:lnTo>
                  <a:pt x="98" y="17"/>
                </a:lnTo>
                <a:lnTo>
                  <a:pt x="82" y="12"/>
                </a:lnTo>
                <a:lnTo>
                  <a:pt x="65" y="9"/>
                </a:lnTo>
                <a:lnTo>
                  <a:pt x="49" y="6"/>
                </a:lnTo>
                <a:lnTo>
                  <a:pt x="33" y="4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Freeform 56"/>
          <p:cNvSpPr/>
          <p:nvPr/>
        </p:nvSpPr>
        <p:spPr>
          <a:xfrm>
            <a:off x="2057400" y="2619375"/>
            <a:ext cx="3743325" cy="2790825"/>
          </a:xfrm>
          <a:custGeom>
            <a:avLst/>
            <a:gdLst/>
            <a:ahLst/>
            <a:cxnLst/>
            <a:rect l="l" t="t" r="r" b="b"/>
            <a:pathLst>
              <a:path w="393" h="293">
                <a:moveTo>
                  <a:pt x="0" y="286"/>
                </a:moveTo>
                <a:lnTo>
                  <a:pt x="16" y="284"/>
                </a:lnTo>
                <a:lnTo>
                  <a:pt x="33" y="280"/>
                </a:lnTo>
                <a:lnTo>
                  <a:pt x="49" y="273"/>
                </a:lnTo>
                <a:lnTo>
                  <a:pt x="65" y="264"/>
                </a:lnTo>
                <a:lnTo>
                  <a:pt x="82" y="254"/>
                </a:lnTo>
                <a:lnTo>
                  <a:pt x="98" y="241"/>
                </a:lnTo>
                <a:lnTo>
                  <a:pt x="114" y="227"/>
                </a:lnTo>
                <a:lnTo>
                  <a:pt x="131" y="211"/>
                </a:lnTo>
                <a:lnTo>
                  <a:pt x="147" y="195"/>
                </a:lnTo>
                <a:lnTo>
                  <a:pt x="164" y="178"/>
                </a:lnTo>
                <a:lnTo>
                  <a:pt x="180" y="160"/>
                </a:lnTo>
                <a:lnTo>
                  <a:pt x="196" y="143"/>
                </a:lnTo>
                <a:lnTo>
                  <a:pt x="213" y="125"/>
                </a:lnTo>
                <a:lnTo>
                  <a:pt x="229" y="107"/>
                </a:lnTo>
                <a:lnTo>
                  <a:pt x="246" y="90"/>
                </a:lnTo>
                <a:lnTo>
                  <a:pt x="262" y="74"/>
                </a:lnTo>
                <a:lnTo>
                  <a:pt x="278" y="58"/>
                </a:lnTo>
                <a:lnTo>
                  <a:pt x="295" y="44"/>
                </a:lnTo>
                <a:lnTo>
                  <a:pt x="311" y="32"/>
                </a:lnTo>
                <a:lnTo>
                  <a:pt x="327" y="21"/>
                </a:lnTo>
                <a:lnTo>
                  <a:pt x="344" y="12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2"/>
                </a:lnTo>
                <a:lnTo>
                  <a:pt x="344" y="19"/>
                </a:lnTo>
                <a:lnTo>
                  <a:pt x="327" y="28"/>
                </a:lnTo>
                <a:lnTo>
                  <a:pt x="311" y="39"/>
                </a:lnTo>
                <a:lnTo>
                  <a:pt x="295" y="51"/>
                </a:lnTo>
                <a:lnTo>
                  <a:pt x="278" y="66"/>
                </a:lnTo>
                <a:lnTo>
                  <a:pt x="262" y="81"/>
                </a:lnTo>
                <a:lnTo>
                  <a:pt x="246" y="97"/>
                </a:lnTo>
                <a:lnTo>
                  <a:pt x="229" y="114"/>
                </a:lnTo>
                <a:lnTo>
                  <a:pt x="213" y="132"/>
                </a:lnTo>
                <a:lnTo>
                  <a:pt x="196" y="150"/>
                </a:lnTo>
                <a:lnTo>
                  <a:pt x="180" y="168"/>
                </a:lnTo>
                <a:lnTo>
                  <a:pt x="164" y="185"/>
                </a:lnTo>
                <a:lnTo>
                  <a:pt x="147" y="202"/>
                </a:lnTo>
                <a:lnTo>
                  <a:pt x="131" y="219"/>
                </a:lnTo>
                <a:lnTo>
                  <a:pt x="114" y="234"/>
                </a:lnTo>
                <a:lnTo>
                  <a:pt x="98" y="248"/>
                </a:lnTo>
                <a:lnTo>
                  <a:pt x="82" y="261"/>
                </a:lnTo>
                <a:lnTo>
                  <a:pt x="65" y="272"/>
                </a:lnTo>
                <a:lnTo>
                  <a:pt x="49" y="280"/>
                </a:lnTo>
                <a:lnTo>
                  <a:pt x="33" y="287"/>
                </a:lnTo>
                <a:lnTo>
                  <a:pt x="16" y="291"/>
                </a:lnTo>
                <a:lnTo>
                  <a:pt x="0" y="293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Freeform 57"/>
          <p:cNvSpPr/>
          <p:nvPr/>
        </p:nvSpPr>
        <p:spPr>
          <a:xfrm>
            <a:off x="2057400" y="3943350"/>
            <a:ext cx="3743325" cy="1533525"/>
          </a:xfrm>
          <a:custGeom>
            <a:avLst/>
            <a:gdLst/>
            <a:ahLst/>
            <a:cxnLst/>
            <a:rect l="l" t="t" r="r" b="b"/>
            <a:pathLst>
              <a:path w="393" h="161">
                <a:moveTo>
                  <a:pt x="0" y="154"/>
                </a:moveTo>
                <a:lnTo>
                  <a:pt x="16" y="153"/>
                </a:lnTo>
                <a:lnTo>
                  <a:pt x="33" y="151"/>
                </a:lnTo>
                <a:lnTo>
                  <a:pt x="49" y="147"/>
                </a:lnTo>
                <a:lnTo>
                  <a:pt x="65" y="142"/>
                </a:lnTo>
                <a:lnTo>
                  <a:pt x="82" y="136"/>
                </a:lnTo>
                <a:lnTo>
                  <a:pt x="98" y="130"/>
                </a:lnTo>
                <a:lnTo>
                  <a:pt x="114" y="122"/>
                </a:lnTo>
                <a:lnTo>
                  <a:pt x="131" y="114"/>
                </a:lnTo>
                <a:lnTo>
                  <a:pt x="147" y="105"/>
                </a:lnTo>
                <a:lnTo>
                  <a:pt x="164" y="96"/>
                </a:lnTo>
                <a:lnTo>
                  <a:pt x="180" y="86"/>
                </a:lnTo>
                <a:lnTo>
                  <a:pt x="196" y="77"/>
                </a:lnTo>
                <a:lnTo>
                  <a:pt x="213" y="67"/>
                </a:lnTo>
                <a:lnTo>
                  <a:pt x="229" y="58"/>
                </a:lnTo>
                <a:lnTo>
                  <a:pt x="246" y="48"/>
                </a:lnTo>
                <a:lnTo>
                  <a:pt x="262" y="40"/>
                </a:lnTo>
                <a:lnTo>
                  <a:pt x="278" y="31"/>
                </a:lnTo>
                <a:lnTo>
                  <a:pt x="295" y="24"/>
                </a:lnTo>
                <a:lnTo>
                  <a:pt x="311" y="17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0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0"/>
                </a:lnTo>
                <a:lnTo>
                  <a:pt x="344" y="13"/>
                </a:lnTo>
                <a:lnTo>
                  <a:pt x="327" y="18"/>
                </a:lnTo>
                <a:lnTo>
                  <a:pt x="311" y="24"/>
                </a:lnTo>
                <a:lnTo>
                  <a:pt x="295" y="31"/>
                </a:lnTo>
                <a:lnTo>
                  <a:pt x="278" y="38"/>
                </a:lnTo>
                <a:lnTo>
                  <a:pt x="262" y="47"/>
                </a:lnTo>
                <a:lnTo>
                  <a:pt x="246" y="56"/>
                </a:lnTo>
                <a:lnTo>
                  <a:pt x="229" y="65"/>
                </a:lnTo>
                <a:lnTo>
                  <a:pt x="213" y="74"/>
                </a:lnTo>
                <a:lnTo>
                  <a:pt x="196" y="84"/>
                </a:lnTo>
                <a:lnTo>
                  <a:pt x="180" y="93"/>
                </a:lnTo>
                <a:lnTo>
                  <a:pt x="164" y="103"/>
                </a:lnTo>
                <a:lnTo>
                  <a:pt x="147" y="112"/>
                </a:lnTo>
                <a:lnTo>
                  <a:pt x="131" y="121"/>
                </a:lnTo>
                <a:lnTo>
                  <a:pt x="114" y="129"/>
                </a:lnTo>
                <a:lnTo>
                  <a:pt x="98" y="137"/>
                </a:lnTo>
                <a:lnTo>
                  <a:pt x="82" y="144"/>
                </a:lnTo>
                <a:lnTo>
                  <a:pt x="65" y="149"/>
                </a:lnTo>
                <a:lnTo>
                  <a:pt x="49" y="154"/>
                </a:lnTo>
                <a:lnTo>
                  <a:pt x="33" y="158"/>
                </a:lnTo>
                <a:lnTo>
                  <a:pt x="16" y="160"/>
                </a:lnTo>
                <a:lnTo>
                  <a:pt x="0" y="161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reeform 58"/>
          <p:cNvSpPr/>
          <p:nvPr/>
        </p:nvSpPr>
        <p:spPr>
          <a:xfrm>
            <a:off x="2057400" y="5114925"/>
            <a:ext cx="3743325" cy="419100"/>
          </a:xfrm>
          <a:custGeom>
            <a:avLst/>
            <a:gdLst/>
            <a:ahLst/>
            <a:cxnLst/>
            <a:rect l="l" t="t" r="r" b="b"/>
            <a:pathLst>
              <a:path w="393" h="44">
                <a:moveTo>
                  <a:pt x="0" y="38"/>
                </a:moveTo>
                <a:lnTo>
                  <a:pt x="16" y="38"/>
                </a:lnTo>
                <a:lnTo>
                  <a:pt x="33" y="37"/>
                </a:lnTo>
                <a:lnTo>
                  <a:pt x="49" y="36"/>
                </a:lnTo>
                <a:lnTo>
                  <a:pt x="65" y="35"/>
                </a:lnTo>
                <a:lnTo>
                  <a:pt x="82" y="34"/>
                </a:lnTo>
                <a:lnTo>
                  <a:pt x="98" y="32"/>
                </a:lnTo>
                <a:lnTo>
                  <a:pt x="114" y="30"/>
                </a:lnTo>
                <a:lnTo>
                  <a:pt x="131" y="28"/>
                </a:lnTo>
                <a:lnTo>
                  <a:pt x="147" y="26"/>
                </a:lnTo>
                <a:lnTo>
                  <a:pt x="164" y="24"/>
                </a:lnTo>
                <a:lnTo>
                  <a:pt x="180" y="21"/>
                </a:lnTo>
                <a:lnTo>
                  <a:pt x="196" y="19"/>
                </a:lnTo>
                <a:lnTo>
                  <a:pt x="213" y="17"/>
                </a:lnTo>
                <a:lnTo>
                  <a:pt x="229" y="14"/>
                </a:lnTo>
                <a:lnTo>
                  <a:pt x="246" y="12"/>
                </a:lnTo>
                <a:lnTo>
                  <a:pt x="262" y="10"/>
                </a:lnTo>
                <a:lnTo>
                  <a:pt x="278" y="8"/>
                </a:lnTo>
                <a:lnTo>
                  <a:pt x="295" y="6"/>
                </a:lnTo>
                <a:lnTo>
                  <a:pt x="311" y="4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7"/>
                </a:lnTo>
                <a:lnTo>
                  <a:pt x="344" y="8"/>
                </a:lnTo>
                <a:lnTo>
                  <a:pt x="327" y="9"/>
                </a:lnTo>
                <a:lnTo>
                  <a:pt x="311" y="10"/>
                </a:lnTo>
                <a:lnTo>
                  <a:pt x="295" y="12"/>
                </a:lnTo>
                <a:lnTo>
                  <a:pt x="278" y="14"/>
                </a:lnTo>
                <a:lnTo>
                  <a:pt x="262" y="16"/>
                </a:lnTo>
                <a:lnTo>
                  <a:pt x="246" y="18"/>
                </a:lnTo>
                <a:lnTo>
                  <a:pt x="229" y="20"/>
                </a:lnTo>
                <a:lnTo>
                  <a:pt x="213" y="22"/>
                </a:lnTo>
                <a:lnTo>
                  <a:pt x="196" y="25"/>
                </a:lnTo>
                <a:lnTo>
                  <a:pt x="180" y="27"/>
                </a:lnTo>
                <a:lnTo>
                  <a:pt x="164" y="29"/>
                </a:lnTo>
                <a:lnTo>
                  <a:pt x="147" y="32"/>
                </a:lnTo>
                <a:lnTo>
                  <a:pt x="131" y="34"/>
                </a:lnTo>
                <a:lnTo>
                  <a:pt x="114" y="36"/>
                </a:lnTo>
                <a:lnTo>
                  <a:pt x="98" y="38"/>
                </a:lnTo>
                <a:lnTo>
                  <a:pt x="82" y="39"/>
                </a:lnTo>
                <a:lnTo>
                  <a:pt x="65" y="41"/>
                </a:lnTo>
                <a:lnTo>
                  <a:pt x="49" y="42"/>
                </a:lnTo>
                <a:lnTo>
                  <a:pt x="33" y="43"/>
                </a:lnTo>
                <a:lnTo>
                  <a:pt x="16" y="43"/>
                </a:lnTo>
                <a:lnTo>
                  <a:pt x="0" y="44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Freeform 59"/>
          <p:cNvSpPr/>
          <p:nvPr/>
        </p:nvSpPr>
        <p:spPr>
          <a:xfrm>
            <a:off x="2057400" y="5534025"/>
            <a:ext cx="3743325" cy="333375"/>
          </a:xfrm>
          <a:custGeom>
            <a:avLst/>
            <a:gdLst/>
            <a:ahLst/>
            <a:cxnLst/>
            <a:rect l="l" t="t" r="r" b="b"/>
            <a:pathLst>
              <a:path w="393" h="35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5"/>
                </a:lnTo>
                <a:lnTo>
                  <a:pt x="114" y="6"/>
                </a:lnTo>
                <a:lnTo>
                  <a:pt x="131" y="8"/>
                </a:lnTo>
                <a:lnTo>
                  <a:pt x="147" y="10"/>
                </a:lnTo>
                <a:lnTo>
                  <a:pt x="164" y="12"/>
                </a:lnTo>
                <a:lnTo>
                  <a:pt x="180" y="14"/>
                </a:lnTo>
                <a:lnTo>
                  <a:pt x="196" y="16"/>
                </a:lnTo>
                <a:lnTo>
                  <a:pt x="213" y="18"/>
                </a:lnTo>
                <a:lnTo>
                  <a:pt x="229" y="20"/>
                </a:lnTo>
                <a:lnTo>
                  <a:pt x="246" y="22"/>
                </a:lnTo>
                <a:lnTo>
                  <a:pt x="262" y="24"/>
                </a:lnTo>
                <a:lnTo>
                  <a:pt x="278" y="26"/>
                </a:lnTo>
                <a:lnTo>
                  <a:pt x="295" y="28"/>
                </a:lnTo>
                <a:lnTo>
                  <a:pt x="311" y="29"/>
                </a:lnTo>
                <a:lnTo>
                  <a:pt x="327" y="30"/>
                </a:lnTo>
                <a:lnTo>
                  <a:pt x="344" y="31"/>
                </a:lnTo>
                <a:lnTo>
                  <a:pt x="360" y="32"/>
                </a:lnTo>
                <a:lnTo>
                  <a:pt x="377" y="33"/>
                </a:lnTo>
                <a:lnTo>
                  <a:pt x="393" y="33"/>
                </a:lnTo>
                <a:lnTo>
                  <a:pt x="393" y="35"/>
                </a:lnTo>
                <a:lnTo>
                  <a:pt x="377" y="35"/>
                </a:lnTo>
                <a:lnTo>
                  <a:pt x="360" y="35"/>
                </a:lnTo>
                <a:lnTo>
                  <a:pt x="344" y="34"/>
                </a:lnTo>
                <a:lnTo>
                  <a:pt x="327" y="33"/>
                </a:lnTo>
                <a:lnTo>
                  <a:pt x="311" y="32"/>
                </a:lnTo>
                <a:lnTo>
                  <a:pt x="295" y="30"/>
                </a:lnTo>
                <a:lnTo>
                  <a:pt x="278" y="29"/>
                </a:lnTo>
                <a:lnTo>
                  <a:pt x="262" y="27"/>
                </a:lnTo>
                <a:lnTo>
                  <a:pt x="246" y="25"/>
                </a:lnTo>
                <a:lnTo>
                  <a:pt x="229" y="23"/>
                </a:lnTo>
                <a:lnTo>
                  <a:pt x="213" y="21"/>
                </a:lnTo>
                <a:lnTo>
                  <a:pt x="196" y="19"/>
                </a:lnTo>
                <a:lnTo>
                  <a:pt x="180" y="17"/>
                </a:lnTo>
                <a:lnTo>
                  <a:pt x="164" y="15"/>
                </a:lnTo>
                <a:lnTo>
                  <a:pt x="147" y="13"/>
                </a:lnTo>
                <a:lnTo>
                  <a:pt x="131" y="11"/>
                </a:lnTo>
                <a:lnTo>
                  <a:pt x="114" y="9"/>
                </a:lnTo>
                <a:lnTo>
                  <a:pt x="98" y="7"/>
                </a:lnTo>
                <a:lnTo>
                  <a:pt x="82" y="6"/>
                </a:lnTo>
                <a:lnTo>
                  <a:pt x="65" y="5"/>
                </a:lnTo>
                <a:lnTo>
                  <a:pt x="49" y="4"/>
                </a:lnTo>
                <a:lnTo>
                  <a:pt x="33" y="3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Freeform 60"/>
          <p:cNvSpPr/>
          <p:nvPr/>
        </p:nvSpPr>
        <p:spPr>
          <a:xfrm>
            <a:off x="2057400" y="5553075"/>
            <a:ext cx="3743325" cy="657225"/>
          </a:xfrm>
          <a:custGeom>
            <a:avLst/>
            <a:gdLst/>
            <a:ahLst/>
            <a:cxnLst/>
            <a:rect l="l" t="t" r="r" b="b"/>
            <a:pathLst>
              <a:path w="393" h="69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3"/>
                </a:lnTo>
                <a:lnTo>
                  <a:pt x="65" y="5"/>
                </a:lnTo>
                <a:lnTo>
                  <a:pt x="82" y="8"/>
                </a:lnTo>
                <a:lnTo>
                  <a:pt x="98" y="11"/>
                </a:lnTo>
                <a:lnTo>
                  <a:pt x="114" y="14"/>
                </a:lnTo>
                <a:lnTo>
                  <a:pt x="131" y="18"/>
                </a:lnTo>
                <a:lnTo>
                  <a:pt x="147" y="22"/>
                </a:lnTo>
                <a:lnTo>
                  <a:pt x="164" y="26"/>
                </a:lnTo>
                <a:lnTo>
                  <a:pt x="180" y="30"/>
                </a:lnTo>
                <a:lnTo>
                  <a:pt x="196" y="34"/>
                </a:lnTo>
                <a:lnTo>
                  <a:pt x="213" y="39"/>
                </a:lnTo>
                <a:lnTo>
                  <a:pt x="229" y="43"/>
                </a:lnTo>
                <a:lnTo>
                  <a:pt x="246" y="47"/>
                </a:lnTo>
                <a:lnTo>
                  <a:pt x="262" y="51"/>
                </a:lnTo>
                <a:lnTo>
                  <a:pt x="278" y="54"/>
                </a:lnTo>
                <a:lnTo>
                  <a:pt x="295" y="58"/>
                </a:lnTo>
                <a:lnTo>
                  <a:pt x="311" y="61"/>
                </a:lnTo>
                <a:lnTo>
                  <a:pt x="327" y="63"/>
                </a:lnTo>
                <a:lnTo>
                  <a:pt x="344" y="65"/>
                </a:lnTo>
                <a:lnTo>
                  <a:pt x="360" y="67"/>
                </a:lnTo>
                <a:lnTo>
                  <a:pt x="377" y="68"/>
                </a:lnTo>
                <a:lnTo>
                  <a:pt x="393" y="68"/>
                </a:lnTo>
                <a:lnTo>
                  <a:pt x="393" y="69"/>
                </a:lnTo>
                <a:lnTo>
                  <a:pt x="377" y="69"/>
                </a:lnTo>
                <a:lnTo>
                  <a:pt x="360" y="68"/>
                </a:lnTo>
                <a:lnTo>
                  <a:pt x="344" y="66"/>
                </a:lnTo>
                <a:lnTo>
                  <a:pt x="327" y="64"/>
                </a:lnTo>
                <a:lnTo>
                  <a:pt x="311" y="62"/>
                </a:lnTo>
                <a:lnTo>
                  <a:pt x="295" y="59"/>
                </a:lnTo>
                <a:lnTo>
                  <a:pt x="278" y="55"/>
                </a:lnTo>
                <a:lnTo>
                  <a:pt x="262" y="52"/>
                </a:lnTo>
                <a:lnTo>
                  <a:pt x="246" y="48"/>
                </a:lnTo>
                <a:lnTo>
                  <a:pt x="229" y="44"/>
                </a:lnTo>
                <a:lnTo>
                  <a:pt x="213" y="40"/>
                </a:lnTo>
                <a:lnTo>
                  <a:pt x="196" y="35"/>
                </a:lnTo>
                <a:lnTo>
                  <a:pt x="180" y="31"/>
                </a:lnTo>
                <a:lnTo>
                  <a:pt x="164" y="27"/>
                </a:lnTo>
                <a:lnTo>
                  <a:pt x="147" y="23"/>
                </a:lnTo>
                <a:lnTo>
                  <a:pt x="131" y="19"/>
                </a:lnTo>
                <a:lnTo>
                  <a:pt x="114" y="15"/>
                </a:lnTo>
                <a:lnTo>
                  <a:pt x="98" y="12"/>
                </a:lnTo>
                <a:lnTo>
                  <a:pt x="82" y="9"/>
                </a:lnTo>
                <a:lnTo>
                  <a:pt x="65" y="6"/>
                </a:lnTo>
                <a:lnTo>
                  <a:pt x="49" y="4"/>
                </a:lnTo>
                <a:lnTo>
                  <a:pt x="33" y="3"/>
                </a:lnTo>
                <a:lnTo>
                  <a:pt x="16" y="2"/>
                </a:lnTo>
                <a:lnTo>
                  <a:pt x="0" y="1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reeform 61"/>
          <p:cNvSpPr/>
          <p:nvPr/>
        </p:nvSpPr>
        <p:spPr>
          <a:xfrm>
            <a:off x="2057400" y="2686050"/>
            <a:ext cx="3743325" cy="3000375"/>
          </a:xfrm>
          <a:custGeom>
            <a:avLst/>
            <a:gdLst/>
            <a:ahLst/>
            <a:cxnLst/>
            <a:rect l="l" t="t" r="r" b="b"/>
            <a:pathLst>
              <a:path w="393" h="315">
                <a:moveTo>
                  <a:pt x="0" y="308"/>
                </a:moveTo>
                <a:lnTo>
                  <a:pt x="16" y="307"/>
                </a:lnTo>
                <a:lnTo>
                  <a:pt x="33" y="302"/>
                </a:lnTo>
                <a:lnTo>
                  <a:pt x="49" y="295"/>
                </a:lnTo>
                <a:lnTo>
                  <a:pt x="65" y="286"/>
                </a:lnTo>
                <a:lnTo>
                  <a:pt x="82" y="274"/>
                </a:lnTo>
                <a:lnTo>
                  <a:pt x="98" y="260"/>
                </a:lnTo>
                <a:lnTo>
                  <a:pt x="114" y="245"/>
                </a:lnTo>
                <a:lnTo>
                  <a:pt x="131" y="228"/>
                </a:lnTo>
                <a:lnTo>
                  <a:pt x="147" y="211"/>
                </a:lnTo>
                <a:lnTo>
                  <a:pt x="164" y="192"/>
                </a:lnTo>
                <a:lnTo>
                  <a:pt x="180" y="173"/>
                </a:lnTo>
                <a:lnTo>
                  <a:pt x="196" y="154"/>
                </a:lnTo>
                <a:lnTo>
                  <a:pt x="213" y="135"/>
                </a:lnTo>
                <a:lnTo>
                  <a:pt x="229" y="116"/>
                </a:lnTo>
                <a:lnTo>
                  <a:pt x="246" y="97"/>
                </a:lnTo>
                <a:lnTo>
                  <a:pt x="262" y="80"/>
                </a:lnTo>
                <a:lnTo>
                  <a:pt x="278" y="63"/>
                </a:lnTo>
                <a:lnTo>
                  <a:pt x="295" y="48"/>
                </a:lnTo>
                <a:lnTo>
                  <a:pt x="311" y="34"/>
                </a:lnTo>
                <a:lnTo>
                  <a:pt x="327" y="23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3"/>
                </a:lnTo>
                <a:lnTo>
                  <a:pt x="344" y="20"/>
                </a:lnTo>
                <a:lnTo>
                  <a:pt x="327" y="30"/>
                </a:lnTo>
                <a:lnTo>
                  <a:pt x="311" y="41"/>
                </a:lnTo>
                <a:lnTo>
                  <a:pt x="295" y="55"/>
                </a:lnTo>
                <a:lnTo>
                  <a:pt x="278" y="70"/>
                </a:lnTo>
                <a:lnTo>
                  <a:pt x="262" y="87"/>
                </a:lnTo>
                <a:lnTo>
                  <a:pt x="246" y="104"/>
                </a:lnTo>
                <a:lnTo>
                  <a:pt x="229" y="123"/>
                </a:lnTo>
                <a:lnTo>
                  <a:pt x="213" y="142"/>
                </a:lnTo>
                <a:lnTo>
                  <a:pt x="196" y="161"/>
                </a:lnTo>
                <a:lnTo>
                  <a:pt x="180" y="180"/>
                </a:lnTo>
                <a:lnTo>
                  <a:pt x="164" y="199"/>
                </a:lnTo>
                <a:lnTo>
                  <a:pt x="147" y="218"/>
                </a:lnTo>
                <a:lnTo>
                  <a:pt x="131" y="235"/>
                </a:lnTo>
                <a:lnTo>
                  <a:pt x="114" y="252"/>
                </a:lnTo>
                <a:lnTo>
                  <a:pt x="98" y="267"/>
                </a:lnTo>
                <a:lnTo>
                  <a:pt x="82" y="281"/>
                </a:lnTo>
                <a:lnTo>
                  <a:pt x="65" y="292"/>
                </a:lnTo>
                <a:lnTo>
                  <a:pt x="49" y="302"/>
                </a:lnTo>
                <a:lnTo>
                  <a:pt x="33" y="309"/>
                </a:lnTo>
                <a:lnTo>
                  <a:pt x="16" y="314"/>
                </a:lnTo>
                <a:lnTo>
                  <a:pt x="0" y="315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2057400" y="4010025"/>
            <a:ext cx="3743325" cy="1743075"/>
          </a:xfrm>
          <a:custGeom>
            <a:avLst/>
            <a:gdLst/>
            <a:ahLst/>
            <a:cxnLst/>
            <a:rect l="l" t="t" r="r" b="b"/>
            <a:pathLst>
              <a:path w="393" h="183">
                <a:moveTo>
                  <a:pt x="0" y="176"/>
                </a:moveTo>
                <a:lnTo>
                  <a:pt x="16" y="175"/>
                </a:lnTo>
                <a:lnTo>
                  <a:pt x="33" y="173"/>
                </a:lnTo>
                <a:lnTo>
                  <a:pt x="49" y="169"/>
                </a:lnTo>
                <a:lnTo>
                  <a:pt x="65" y="163"/>
                </a:lnTo>
                <a:lnTo>
                  <a:pt x="82" y="157"/>
                </a:lnTo>
                <a:lnTo>
                  <a:pt x="98" y="149"/>
                </a:lnTo>
                <a:lnTo>
                  <a:pt x="114" y="140"/>
                </a:lnTo>
                <a:lnTo>
                  <a:pt x="131" y="131"/>
                </a:lnTo>
                <a:lnTo>
                  <a:pt x="147" y="120"/>
                </a:lnTo>
                <a:lnTo>
                  <a:pt x="164" y="110"/>
                </a:lnTo>
                <a:lnTo>
                  <a:pt x="180" y="99"/>
                </a:lnTo>
                <a:lnTo>
                  <a:pt x="196" y="88"/>
                </a:lnTo>
                <a:lnTo>
                  <a:pt x="213" y="77"/>
                </a:lnTo>
                <a:lnTo>
                  <a:pt x="229" y="66"/>
                </a:lnTo>
                <a:lnTo>
                  <a:pt x="246" y="56"/>
                </a:lnTo>
                <a:lnTo>
                  <a:pt x="262" y="46"/>
                </a:lnTo>
                <a:lnTo>
                  <a:pt x="278" y="36"/>
                </a:lnTo>
                <a:lnTo>
                  <a:pt x="295" y="27"/>
                </a:lnTo>
                <a:lnTo>
                  <a:pt x="311" y="20"/>
                </a:lnTo>
                <a:lnTo>
                  <a:pt x="327" y="13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0"/>
                </a:lnTo>
                <a:lnTo>
                  <a:pt x="344" y="15"/>
                </a:lnTo>
                <a:lnTo>
                  <a:pt x="327" y="20"/>
                </a:lnTo>
                <a:lnTo>
                  <a:pt x="311" y="27"/>
                </a:lnTo>
                <a:lnTo>
                  <a:pt x="295" y="35"/>
                </a:lnTo>
                <a:lnTo>
                  <a:pt x="278" y="43"/>
                </a:lnTo>
                <a:lnTo>
                  <a:pt x="262" y="53"/>
                </a:lnTo>
                <a:lnTo>
                  <a:pt x="246" y="63"/>
                </a:lnTo>
                <a:lnTo>
                  <a:pt x="229" y="73"/>
                </a:lnTo>
                <a:lnTo>
                  <a:pt x="213" y="84"/>
                </a:lnTo>
                <a:lnTo>
                  <a:pt x="196" y="95"/>
                </a:lnTo>
                <a:lnTo>
                  <a:pt x="180" y="106"/>
                </a:lnTo>
                <a:lnTo>
                  <a:pt x="164" y="117"/>
                </a:lnTo>
                <a:lnTo>
                  <a:pt x="147" y="128"/>
                </a:lnTo>
                <a:lnTo>
                  <a:pt x="131" y="138"/>
                </a:lnTo>
                <a:lnTo>
                  <a:pt x="114" y="147"/>
                </a:lnTo>
                <a:lnTo>
                  <a:pt x="98" y="156"/>
                </a:lnTo>
                <a:lnTo>
                  <a:pt x="82" y="164"/>
                </a:lnTo>
                <a:lnTo>
                  <a:pt x="65" y="170"/>
                </a:lnTo>
                <a:lnTo>
                  <a:pt x="49" y="176"/>
                </a:lnTo>
                <a:lnTo>
                  <a:pt x="33" y="180"/>
                </a:lnTo>
                <a:lnTo>
                  <a:pt x="16" y="183"/>
                </a:lnTo>
                <a:lnTo>
                  <a:pt x="0" y="183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2057400" y="5172075"/>
            <a:ext cx="3743325" cy="638175"/>
          </a:xfrm>
          <a:custGeom>
            <a:avLst/>
            <a:gdLst/>
            <a:ahLst/>
            <a:cxnLst/>
            <a:rect l="l" t="t" r="r" b="b"/>
            <a:pathLst>
              <a:path w="393" h="67">
                <a:moveTo>
                  <a:pt x="0" y="61"/>
                </a:moveTo>
                <a:lnTo>
                  <a:pt x="16" y="61"/>
                </a:lnTo>
                <a:lnTo>
                  <a:pt x="33" y="60"/>
                </a:lnTo>
                <a:lnTo>
                  <a:pt x="49" y="59"/>
                </a:lnTo>
                <a:lnTo>
                  <a:pt x="65" y="57"/>
                </a:lnTo>
                <a:lnTo>
                  <a:pt x="82" y="55"/>
                </a:lnTo>
                <a:lnTo>
                  <a:pt x="98" y="52"/>
                </a:lnTo>
                <a:lnTo>
                  <a:pt x="114" y="49"/>
                </a:lnTo>
                <a:lnTo>
                  <a:pt x="131" y="46"/>
                </a:lnTo>
                <a:lnTo>
                  <a:pt x="147" y="42"/>
                </a:lnTo>
                <a:lnTo>
                  <a:pt x="164" y="38"/>
                </a:lnTo>
                <a:lnTo>
                  <a:pt x="180" y="35"/>
                </a:lnTo>
                <a:lnTo>
                  <a:pt x="196" y="31"/>
                </a:lnTo>
                <a:lnTo>
                  <a:pt x="213" y="27"/>
                </a:lnTo>
                <a:lnTo>
                  <a:pt x="229" y="23"/>
                </a:lnTo>
                <a:lnTo>
                  <a:pt x="246" y="19"/>
                </a:lnTo>
                <a:lnTo>
                  <a:pt x="262" y="16"/>
                </a:lnTo>
                <a:lnTo>
                  <a:pt x="278" y="13"/>
                </a:lnTo>
                <a:lnTo>
                  <a:pt x="295" y="10"/>
                </a:lnTo>
                <a:lnTo>
                  <a:pt x="311" y="7"/>
                </a:lnTo>
                <a:lnTo>
                  <a:pt x="327" y="5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7"/>
                </a:lnTo>
                <a:lnTo>
                  <a:pt x="344" y="8"/>
                </a:lnTo>
                <a:lnTo>
                  <a:pt x="327" y="10"/>
                </a:lnTo>
                <a:lnTo>
                  <a:pt x="311" y="12"/>
                </a:lnTo>
                <a:lnTo>
                  <a:pt x="295" y="15"/>
                </a:lnTo>
                <a:lnTo>
                  <a:pt x="278" y="18"/>
                </a:lnTo>
                <a:lnTo>
                  <a:pt x="262" y="22"/>
                </a:lnTo>
                <a:lnTo>
                  <a:pt x="246" y="25"/>
                </a:lnTo>
                <a:lnTo>
                  <a:pt x="229" y="29"/>
                </a:lnTo>
                <a:lnTo>
                  <a:pt x="213" y="32"/>
                </a:lnTo>
                <a:lnTo>
                  <a:pt x="196" y="36"/>
                </a:lnTo>
                <a:lnTo>
                  <a:pt x="180" y="40"/>
                </a:lnTo>
                <a:lnTo>
                  <a:pt x="164" y="44"/>
                </a:lnTo>
                <a:lnTo>
                  <a:pt x="147" y="48"/>
                </a:lnTo>
                <a:lnTo>
                  <a:pt x="131" y="51"/>
                </a:lnTo>
                <a:lnTo>
                  <a:pt x="114" y="54"/>
                </a:lnTo>
                <a:lnTo>
                  <a:pt x="98" y="57"/>
                </a:lnTo>
                <a:lnTo>
                  <a:pt x="82" y="60"/>
                </a:lnTo>
                <a:lnTo>
                  <a:pt x="65" y="63"/>
                </a:lnTo>
                <a:lnTo>
                  <a:pt x="49" y="64"/>
                </a:lnTo>
                <a:lnTo>
                  <a:pt x="33" y="66"/>
                </a:lnTo>
                <a:lnTo>
                  <a:pt x="16" y="67"/>
                </a:lnTo>
                <a:lnTo>
                  <a:pt x="0" y="67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Freeform 64"/>
          <p:cNvSpPr/>
          <p:nvPr/>
        </p:nvSpPr>
        <p:spPr>
          <a:xfrm>
            <a:off x="2057400" y="5810250"/>
            <a:ext cx="3743325" cy="85725"/>
          </a:xfrm>
          <a:custGeom>
            <a:avLst/>
            <a:gdLst/>
            <a:ahLst/>
            <a:cxnLst/>
            <a:rect l="l" t="t" r="r" b="b"/>
            <a:pathLst>
              <a:path w="393" h="9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1"/>
                </a:lnTo>
                <a:lnTo>
                  <a:pt x="98" y="1"/>
                </a:lnTo>
                <a:lnTo>
                  <a:pt x="114" y="1"/>
                </a:lnTo>
                <a:lnTo>
                  <a:pt x="131" y="2"/>
                </a:lnTo>
                <a:lnTo>
                  <a:pt x="147" y="2"/>
                </a:lnTo>
                <a:lnTo>
                  <a:pt x="164" y="2"/>
                </a:lnTo>
                <a:lnTo>
                  <a:pt x="180" y="3"/>
                </a:lnTo>
                <a:lnTo>
                  <a:pt x="196" y="3"/>
                </a:lnTo>
                <a:lnTo>
                  <a:pt x="213" y="4"/>
                </a:lnTo>
                <a:lnTo>
                  <a:pt x="229" y="4"/>
                </a:lnTo>
                <a:lnTo>
                  <a:pt x="246" y="4"/>
                </a:lnTo>
                <a:lnTo>
                  <a:pt x="262" y="5"/>
                </a:lnTo>
                <a:lnTo>
                  <a:pt x="278" y="5"/>
                </a:lnTo>
                <a:lnTo>
                  <a:pt x="295" y="5"/>
                </a:lnTo>
                <a:lnTo>
                  <a:pt x="311" y="6"/>
                </a:lnTo>
                <a:lnTo>
                  <a:pt x="327" y="6"/>
                </a:lnTo>
                <a:lnTo>
                  <a:pt x="344" y="6"/>
                </a:lnTo>
                <a:lnTo>
                  <a:pt x="360" y="6"/>
                </a:lnTo>
                <a:lnTo>
                  <a:pt x="377" y="6"/>
                </a:lnTo>
                <a:lnTo>
                  <a:pt x="393" y="6"/>
                </a:lnTo>
                <a:lnTo>
                  <a:pt x="393" y="9"/>
                </a:lnTo>
                <a:lnTo>
                  <a:pt x="377" y="9"/>
                </a:lnTo>
                <a:lnTo>
                  <a:pt x="360" y="9"/>
                </a:lnTo>
                <a:lnTo>
                  <a:pt x="344" y="9"/>
                </a:lnTo>
                <a:lnTo>
                  <a:pt x="327" y="9"/>
                </a:lnTo>
                <a:lnTo>
                  <a:pt x="311" y="9"/>
                </a:lnTo>
                <a:lnTo>
                  <a:pt x="295" y="8"/>
                </a:lnTo>
                <a:lnTo>
                  <a:pt x="278" y="8"/>
                </a:lnTo>
                <a:lnTo>
                  <a:pt x="262" y="8"/>
                </a:lnTo>
                <a:lnTo>
                  <a:pt x="246" y="7"/>
                </a:lnTo>
                <a:lnTo>
                  <a:pt x="229" y="7"/>
                </a:lnTo>
                <a:lnTo>
                  <a:pt x="213" y="6"/>
                </a:lnTo>
                <a:lnTo>
                  <a:pt x="196" y="6"/>
                </a:lnTo>
                <a:lnTo>
                  <a:pt x="180" y="6"/>
                </a:lnTo>
                <a:lnTo>
                  <a:pt x="164" y="5"/>
                </a:lnTo>
                <a:lnTo>
                  <a:pt x="147" y="5"/>
                </a:lnTo>
                <a:lnTo>
                  <a:pt x="131" y="5"/>
                </a:lnTo>
                <a:lnTo>
                  <a:pt x="114" y="4"/>
                </a:lnTo>
                <a:lnTo>
                  <a:pt x="98" y="4"/>
                </a:lnTo>
                <a:lnTo>
                  <a:pt x="82" y="4"/>
                </a:lnTo>
                <a:lnTo>
                  <a:pt x="65" y="3"/>
                </a:lnTo>
                <a:lnTo>
                  <a:pt x="49" y="3"/>
                </a:lnTo>
                <a:lnTo>
                  <a:pt x="33" y="3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Freeform 65"/>
          <p:cNvSpPr/>
          <p:nvPr/>
        </p:nvSpPr>
        <p:spPr>
          <a:xfrm>
            <a:off x="2057400" y="5838825"/>
            <a:ext cx="3743325" cy="390525"/>
          </a:xfrm>
          <a:custGeom>
            <a:avLst/>
            <a:gdLst/>
            <a:ahLst/>
            <a:cxnLst/>
            <a:rect l="l" t="t" r="r" b="b"/>
            <a:pathLst>
              <a:path w="393" h="41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4"/>
                </a:lnTo>
                <a:lnTo>
                  <a:pt x="98" y="6"/>
                </a:lnTo>
                <a:lnTo>
                  <a:pt x="114" y="8"/>
                </a:lnTo>
                <a:lnTo>
                  <a:pt x="131" y="10"/>
                </a:lnTo>
                <a:lnTo>
                  <a:pt x="147" y="12"/>
                </a:lnTo>
                <a:lnTo>
                  <a:pt x="164" y="15"/>
                </a:lnTo>
                <a:lnTo>
                  <a:pt x="180" y="17"/>
                </a:lnTo>
                <a:lnTo>
                  <a:pt x="196" y="20"/>
                </a:lnTo>
                <a:lnTo>
                  <a:pt x="213" y="22"/>
                </a:lnTo>
                <a:lnTo>
                  <a:pt x="229" y="25"/>
                </a:lnTo>
                <a:lnTo>
                  <a:pt x="246" y="27"/>
                </a:lnTo>
                <a:lnTo>
                  <a:pt x="262" y="29"/>
                </a:lnTo>
                <a:lnTo>
                  <a:pt x="278" y="31"/>
                </a:lnTo>
                <a:lnTo>
                  <a:pt x="295" y="33"/>
                </a:lnTo>
                <a:lnTo>
                  <a:pt x="311" y="35"/>
                </a:lnTo>
                <a:lnTo>
                  <a:pt x="327" y="36"/>
                </a:lnTo>
                <a:lnTo>
                  <a:pt x="344" y="38"/>
                </a:lnTo>
                <a:lnTo>
                  <a:pt x="360" y="39"/>
                </a:lnTo>
                <a:lnTo>
                  <a:pt x="377" y="39"/>
                </a:lnTo>
                <a:lnTo>
                  <a:pt x="393" y="39"/>
                </a:lnTo>
                <a:lnTo>
                  <a:pt x="393" y="41"/>
                </a:lnTo>
                <a:lnTo>
                  <a:pt x="377" y="40"/>
                </a:lnTo>
                <a:lnTo>
                  <a:pt x="360" y="40"/>
                </a:lnTo>
                <a:lnTo>
                  <a:pt x="344" y="39"/>
                </a:lnTo>
                <a:lnTo>
                  <a:pt x="327" y="38"/>
                </a:lnTo>
                <a:lnTo>
                  <a:pt x="311" y="36"/>
                </a:lnTo>
                <a:lnTo>
                  <a:pt x="295" y="34"/>
                </a:lnTo>
                <a:lnTo>
                  <a:pt x="278" y="33"/>
                </a:lnTo>
                <a:lnTo>
                  <a:pt x="262" y="30"/>
                </a:lnTo>
                <a:lnTo>
                  <a:pt x="246" y="28"/>
                </a:lnTo>
                <a:lnTo>
                  <a:pt x="229" y="26"/>
                </a:lnTo>
                <a:lnTo>
                  <a:pt x="213" y="23"/>
                </a:lnTo>
                <a:lnTo>
                  <a:pt x="196" y="21"/>
                </a:lnTo>
                <a:lnTo>
                  <a:pt x="180" y="18"/>
                </a:lnTo>
                <a:lnTo>
                  <a:pt x="164" y="16"/>
                </a:lnTo>
                <a:lnTo>
                  <a:pt x="147" y="14"/>
                </a:lnTo>
                <a:lnTo>
                  <a:pt x="131" y="11"/>
                </a:lnTo>
                <a:lnTo>
                  <a:pt x="114" y="9"/>
                </a:lnTo>
                <a:lnTo>
                  <a:pt x="98" y="7"/>
                </a:lnTo>
                <a:lnTo>
                  <a:pt x="82" y="6"/>
                </a:lnTo>
                <a:lnTo>
                  <a:pt x="65" y="4"/>
                </a:lnTo>
                <a:lnTo>
                  <a:pt x="49" y="3"/>
                </a:lnTo>
                <a:lnTo>
                  <a:pt x="33" y="2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reeform 66"/>
          <p:cNvSpPr/>
          <p:nvPr/>
        </p:nvSpPr>
        <p:spPr>
          <a:xfrm>
            <a:off x="2057400" y="2752725"/>
            <a:ext cx="3743325" cy="3209925"/>
          </a:xfrm>
          <a:custGeom>
            <a:avLst/>
            <a:gdLst/>
            <a:ahLst/>
            <a:cxnLst/>
            <a:rect l="l" t="t" r="r" b="b"/>
            <a:pathLst>
              <a:path w="393" h="337">
                <a:moveTo>
                  <a:pt x="0" y="331"/>
                </a:moveTo>
                <a:lnTo>
                  <a:pt x="16" y="329"/>
                </a:lnTo>
                <a:lnTo>
                  <a:pt x="33" y="325"/>
                </a:lnTo>
                <a:lnTo>
                  <a:pt x="49" y="317"/>
                </a:lnTo>
                <a:lnTo>
                  <a:pt x="65" y="307"/>
                </a:lnTo>
                <a:lnTo>
                  <a:pt x="82" y="294"/>
                </a:lnTo>
                <a:lnTo>
                  <a:pt x="98" y="279"/>
                </a:lnTo>
                <a:lnTo>
                  <a:pt x="114" y="263"/>
                </a:lnTo>
                <a:lnTo>
                  <a:pt x="131" y="245"/>
                </a:lnTo>
                <a:lnTo>
                  <a:pt x="147" y="226"/>
                </a:lnTo>
                <a:lnTo>
                  <a:pt x="164" y="206"/>
                </a:lnTo>
                <a:lnTo>
                  <a:pt x="180" y="186"/>
                </a:lnTo>
                <a:lnTo>
                  <a:pt x="196" y="165"/>
                </a:lnTo>
                <a:lnTo>
                  <a:pt x="213" y="145"/>
                </a:lnTo>
                <a:lnTo>
                  <a:pt x="229" y="124"/>
                </a:lnTo>
                <a:lnTo>
                  <a:pt x="246" y="105"/>
                </a:lnTo>
                <a:lnTo>
                  <a:pt x="262" y="86"/>
                </a:lnTo>
                <a:lnTo>
                  <a:pt x="278" y="68"/>
                </a:lnTo>
                <a:lnTo>
                  <a:pt x="295" y="51"/>
                </a:lnTo>
                <a:lnTo>
                  <a:pt x="311" y="37"/>
                </a:lnTo>
                <a:lnTo>
                  <a:pt x="327" y="24"/>
                </a:lnTo>
                <a:lnTo>
                  <a:pt x="344" y="14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7"/>
                </a:lnTo>
                <a:lnTo>
                  <a:pt x="360" y="12"/>
                </a:lnTo>
                <a:lnTo>
                  <a:pt x="344" y="20"/>
                </a:lnTo>
                <a:lnTo>
                  <a:pt x="327" y="30"/>
                </a:lnTo>
                <a:lnTo>
                  <a:pt x="311" y="42"/>
                </a:lnTo>
                <a:lnTo>
                  <a:pt x="295" y="57"/>
                </a:lnTo>
                <a:lnTo>
                  <a:pt x="278" y="73"/>
                </a:lnTo>
                <a:lnTo>
                  <a:pt x="262" y="91"/>
                </a:lnTo>
                <a:lnTo>
                  <a:pt x="246" y="110"/>
                </a:lnTo>
                <a:lnTo>
                  <a:pt x="229" y="130"/>
                </a:lnTo>
                <a:lnTo>
                  <a:pt x="213" y="150"/>
                </a:lnTo>
                <a:lnTo>
                  <a:pt x="196" y="171"/>
                </a:lnTo>
                <a:lnTo>
                  <a:pt x="180" y="192"/>
                </a:lnTo>
                <a:lnTo>
                  <a:pt x="164" y="212"/>
                </a:lnTo>
                <a:lnTo>
                  <a:pt x="147" y="232"/>
                </a:lnTo>
                <a:lnTo>
                  <a:pt x="131" y="251"/>
                </a:lnTo>
                <a:lnTo>
                  <a:pt x="114" y="269"/>
                </a:lnTo>
                <a:lnTo>
                  <a:pt x="98" y="285"/>
                </a:lnTo>
                <a:lnTo>
                  <a:pt x="82" y="300"/>
                </a:lnTo>
                <a:lnTo>
                  <a:pt x="65" y="312"/>
                </a:lnTo>
                <a:lnTo>
                  <a:pt x="49" y="323"/>
                </a:lnTo>
                <a:lnTo>
                  <a:pt x="33" y="330"/>
                </a:lnTo>
                <a:lnTo>
                  <a:pt x="16" y="335"/>
                </a:lnTo>
                <a:lnTo>
                  <a:pt x="0" y="337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Freeform 67"/>
          <p:cNvSpPr/>
          <p:nvPr/>
        </p:nvSpPr>
        <p:spPr>
          <a:xfrm>
            <a:off x="2057400" y="4076700"/>
            <a:ext cx="3743325" cy="1933575"/>
          </a:xfrm>
          <a:custGeom>
            <a:avLst/>
            <a:gdLst/>
            <a:ahLst/>
            <a:cxnLst/>
            <a:rect l="l" t="t" r="r" b="b"/>
            <a:pathLst>
              <a:path w="393" h="203">
                <a:moveTo>
                  <a:pt x="0" y="198"/>
                </a:moveTo>
                <a:lnTo>
                  <a:pt x="16" y="197"/>
                </a:lnTo>
                <a:lnTo>
                  <a:pt x="33" y="194"/>
                </a:lnTo>
                <a:lnTo>
                  <a:pt x="49" y="189"/>
                </a:lnTo>
                <a:lnTo>
                  <a:pt x="65" y="183"/>
                </a:lnTo>
                <a:lnTo>
                  <a:pt x="82" y="176"/>
                </a:lnTo>
                <a:lnTo>
                  <a:pt x="98" y="167"/>
                </a:lnTo>
                <a:lnTo>
                  <a:pt x="114" y="157"/>
                </a:lnTo>
                <a:lnTo>
                  <a:pt x="131" y="146"/>
                </a:lnTo>
                <a:lnTo>
                  <a:pt x="147" y="135"/>
                </a:lnTo>
                <a:lnTo>
                  <a:pt x="164" y="123"/>
                </a:lnTo>
                <a:lnTo>
                  <a:pt x="180" y="111"/>
                </a:lnTo>
                <a:lnTo>
                  <a:pt x="196" y="99"/>
                </a:lnTo>
                <a:lnTo>
                  <a:pt x="213" y="87"/>
                </a:lnTo>
                <a:lnTo>
                  <a:pt x="229" y="74"/>
                </a:lnTo>
                <a:lnTo>
                  <a:pt x="246" y="63"/>
                </a:lnTo>
                <a:lnTo>
                  <a:pt x="262" y="51"/>
                </a:lnTo>
                <a:lnTo>
                  <a:pt x="278" y="41"/>
                </a:lnTo>
                <a:lnTo>
                  <a:pt x="295" y="31"/>
                </a:lnTo>
                <a:lnTo>
                  <a:pt x="311" y="22"/>
                </a:lnTo>
                <a:lnTo>
                  <a:pt x="327" y="15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6"/>
                </a:lnTo>
                <a:lnTo>
                  <a:pt x="360" y="9"/>
                </a:lnTo>
                <a:lnTo>
                  <a:pt x="344" y="14"/>
                </a:lnTo>
                <a:lnTo>
                  <a:pt x="327" y="20"/>
                </a:lnTo>
                <a:lnTo>
                  <a:pt x="311" y="27"/>
                </a:lnTo>
                <a:lnTo>
                  <a:pt x="295" y="36"/>
                </a:lnTo>
                <a:lnTo>
                  <a:pt x="278" y="46"/>
                </a:lnTo>
                <a:lnTo>
                  <a:pt x="262" y="57"/>
                </a:lnTo>
                <a:lnTo>
                  <a:pt x="246" y="68"/>
                </a:lnTo>
                <a:lnTo>
                  <a:pt x="229" y="80"/>
                </a:lnTo>
                <a:lnTo>
                  <a:pt x="213" y="92"/>
                </a:lnTo>
                <a:lnTo>
                  <a:pt x="196" y="104"/>
                </a:lnTo>
                <a:lnTo>
                  <a:pt x="180" y="117"/>
                </a:lnTo>
                <a:lnTo>
                  <a:pt x="164" y="129"/>
                </a:lnTo>
                <a:lnTo>
                  <a:pt x="147" y="140"/>
                </a:lnTo>
                <a:lnTo>
                  <a:pt x="131" y="152"/>
                </a:lnTo>
                <a:lnTo>
                  <a:pt x="114" y="162"/>
                </a:lnTo>
                <a:lnTo>
                  <a:pt x="98" y="172"/>
                </a:lnTo>
                <a:lnTo>
                  <a:pt x="82" y="181"/>
                </a:lnTo>
                <a:lnTo>
                  <a:pt x="65" y="188"/>
                </a:lnTo>
                <a:lnTo>
                  <a:pt x="49" y="195"/>
                </a:lnTo>
                <a:lnTo>
                  <a:pt x="33" y="199"/>
                </a:lnTo>
                <a:lnTo>
                  <a:pt x="16" y="202"/>
                </a:lnTo>
                <a:lnTo>
                  <a:pt x="0" y="203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2057400" y="5229225"/>
            <a:ext cx="3743325" cy="828675"/>
          </a:xfrm>
          <a:custGeom>
            <a:avLst/>
            <a:gdLst/>
            <a:ahLst/>
            <a:cxnLst/>
            <a:rect l="l" t="t" r="r" b="b"/>
            <a:pathLst>
              <a:path w="393" h="87">
                <a:moveTo>
                  <a:pt x="0" y="82"/>
                </a:moveTo>
                <a:lnTo>
                  <a:pt x="16" y="82"/>
                </a:lnTo>
                <a:lnTo>
                  <a:pt x="33" y="80"/>
                </a:lnTo>
                <a:lnTo>
                  <a:pt x="49" y="79"/>
                </a:lnTo>
                <a:lnTo>
                  <a:pt x="65" y="76"/>
                </a:lnTo>
                <a:lnTo>
                  <a:pt x="82" y="73"/>
                </a:lnTo>
                <a:lnTo>
                  <a:pt x="98" y="69"/>
                </a:lnTo>
                <a:lnTo>
                  <a:pt x="114" y="65"/>
                </a:lnTo>
                <a:lnTo>
                  <a:pt x="131" y="61"/>
                </a:lnTo>
                <a:lnTo>
                  <a:pt x="147" y="56"/>
                </a:lnTo>
                <a:lnTo>
                  <a:pt x="164" y="51"/>
                </a:lnTo>
                <a:lnTo>
                  <a:pt x="180" y="46"/>
                </a:lnTo>
                <a:lnTo>
                  <a:pt x="196" y="41"/>
                </a:lnTo>
                <a:lnTo>
                  <a:pt x="213" y="36"/>
                </a:lnTo>
                <a:lnTo>
                  <a:pt x="229" y="31"/>
                </a:lnTo>
                <a:lnTo>
                  <a:pt x="246" y="26"/>
                </a:lnTo>
                <a:lnTo>
                  <a:pt x="262" y="21"/>
                </a:lnTo>
                <a:lnTo>
                  <a:pt x="278" y="17"/>
                </a:lnTo>
                <a:lnTo>
                  <a:pt x="295" y="12"/>
                </a:lnTo>
                <a:lnTo>
                  <a:pt x="311" y="9"/>
                </a:lnTo>
                <a:lnTo>
                  <a:pt x="327" y="6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6"/>
                </a:lnTo>
                <a:lnTo>
                  <a:pt x="344" y="8"/>
                </a:lnTo>
                <a:lnTo>
                  <a:pt x="327" y="10"/>
                </a:lnTo>
                <a:lnTo>
                  <a:pt x="311" y="14"/>
                </a:lnTo>
                <a:lnTo>
                  <a:pt x="295" y="17"/>
                </a:lnTo>
                <a:lnTo>
                  <a:pt x="278" y="21"/>
                </a:lnTo>
                <a:lnTo>
                  <a:pt x="262" y="26"/>
                </a:lnTo>
                <a:lnTo>
                  <a:pt x="246" y="30"/>
                </a:lnTo>
                <a:lnTo>
                  <a:pt x="229" y="35"/>
                </a:lnTo>
                <a:lnTo>
                  <a:pt x="213" y="40"/>
                </a:lnTo>
                <a:lnTo>
                  <a:pt x="196" y="46"/>
                </a:lnTo>
                <a:lnTo>
                  <a:pt x="180" y="51"/>
                </a:lnTo>
                <a:lnTo>
                  <a:pt x="164" y="56"/>
                </a:lnTo>
                <a:lnTo>
                  <a:pt x="147" y="61"/>
                </a:lnTo>
                <a:lnTo>
                  <a:pt x="131" y="65"/>
                </a:lnTo>
                <a:lnTo>
                  <a:pt x="114" y="70"/>
                </a:lnTo>
                <a:lnTo>
                  <a:pt x="98" y="74"/>
                </a:lnTo>
                <a:lnTo>
                  <a:pt x="82" y="78"/>
                </a:lnTo>
                <a:lnTo>
                  <a:pt x="65" y="81"/>
                </a:lnTo>
                <a:lnTo>
                  <a:pt x="49" y="83"/>
                </a:lnTo>
                <a:lnTo>
                  <a:pt x="33" y="85"/>
                </a:lnTo>
                <a:lnTo>
                  <a:pt x="16" y="86"/>
                </a:lnTo>
                <a:lnTo>
                  <a:pt x="0" y="87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Freeform 69"/>
          <p:cNvSpPr/>
          <p:nvPr/>
        </p:nvSpPr>
        <p:spPr>
          <a:xfrm>
            <a:off x="2057400" y="5895975"/>
            <a:ext cx="3743325" cy="180975"/>
          </a:xfrm>
          <a:custGeom>
            <a:avLst/>
            <a:gdLst/>
            <a:ahLst/>
            <a:cxnLst/>
            <a:rect l="l" t="t" r="r" b="b"/>
            <a:pathLst>
              <a:path w="393" h="19">
                <a:moveTo>
                  <a:pt x="0" y="17"/>
                </a:moveTo>
                <a:lnTo>
                  <a:pt x="16" y="17"/>
                </a:lnTo>
                <a:lnTo>
                  <a:pt x="33" y="17"/>
                </a:lnTo>
                <a:lnTo>
                  <a:pt x="49" y="16"/>
                </a:lnTo>
                <a:lnTo>
                  <a:pt x="65" y="16"/>
                </a:lnTo>
                <a:lnTo>
                  <a:pt x="82" y="15"/>
                </a:lnTo>
                <a:lnTo>
                  <a:pt x="98" y="14"/>
                </a:lnTo>
                <a:lnTo>
                  <a:pt x="114" y="13"/>
                </a:lnTo>
                <a:lnTo>
                  <a:pt x="131" y="13"/>
                </a:lnTo>
                <a:lnTo>
                  <a:pt x="147" y="12"/>
                </a:lnTo>
                <a:lnTo>
                  <a:pt x="164" y="11"/>
                </a:lnTo>
                <a:lnTo>
                  <a:pt x="180" y="10"/>
                </a:lnTo>
                <a:lnTo>
                  <a:pt x="196" y="9"/>
                </a:lnTo>
                <a:lnTo>
                  <a:pt x="213" y="8"/>
                </a:lnTo>
                <a:lnTo>
                  <a:pt x="229" y="7"/>
                </a:lnTo>
                <a:lnTo>
                  <a:pt x="246" y="6"/>
                </a:lnTo>
                <a:lnTo>
                  <a:pt x="262" y="5"/>
                </a:lnTo>
                <a:lnTo>
                  <a:pt x="278" y="4"/>
                </a:lnTo>
                <a:lnTo>
                  <a:pt x="295" y="3"/>
                </a:lnTo>
                <a:lnTo>
                  <a:pt x="311" y="2"/>
                </a:lnTo>
                <a:lnTo>
                  <a:pt x="327" y="2"/>
                </a:lnTo>
                <a:lnTo>
                  <a:pt x="344" y="1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3"/>
                </a:lnTo>
                <a:lnTo>
                  <a:pt x="344" y="4"/>
                </a:lnTo>
                <a:lnTo>
                  <a:pt x="327" y="4"/>
                </a:lnTo>
                <a:lnTo>
                  <a:pt x="311" y="5"/>
                </a:lnTo>
                <a:lnTo>
                  <a:pt x="295" y="5"/>
                </a:lnTo>
                <a:lnTo>
                  <a:pt x="278" y="6"/>
                </a:lnTo>
                <a:lnTo>
                  <a:pt x="262" y="7"/>
                </a:lnTo>
                <a:lnTo>
                  <a:pt x="246" y="8"/>
                </a:lnTo>
                <a:lnTo>
                  <a:pt x="229" y="9"/>
                </a:lnTo>
                <a:lnTo>
                  <a:pt x="213" y="10"/>
                </a:lnTo>
                <a:lnTo>
                  <a:pt x="196" y="11"/>
                </a:lnTo>
                <a:lnTo>
                  <a:pt x="180" y="12"/>
                </a:lnTo>
                <a:lnTo>
                  <a:pt x="164" y="13"/>
                </a:lnTo>
                <a:lnTo>
                  <a:pt x="147" y="14"/>
                </a:lnTo>
                <a:lnTo>
                  <a:pt x="131" y="15"/>
                </a:lnTo>
                <a:lnTo>
                  <a:pt x="114" y="16"/>
                </a:lnTo>
                <a:lnTo>
                  <a:pt x="98" y="17"/>
                </a:lnTo>
                <a:lnTo>
                  <a:pt x="82" y="18"/>
                </a:lnTo>
                <a:lnTo>
                  <a:pt x="65" y="18"/>
                </a:lnTo>
                <a:lnTo>
                  <a:pt x="49" y="19"/>
                </a:lnTo>
                <a:lnTo>
                  <a:pt x="33" y="19"/>
                </a:lnTo>
                <a:lnTo>
                  <a:pt x="1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Freeform 70"/>
          <p:cNvSpPr/>
          <p:nvPr/>
        </p:nvSpPr>
        <p:spPr>
          <a:xfrm>
            <a:off x="2057400" y="6076950"/>
            <a:ext cx="3743325" cy="161925"/>
          </a:xfrm>
          <a:custGeom>
            <a:avLst/>
            <a:gdLst/>
            <a:ahLst/>
            <a:cxnLst/>
            <a:rect l="l" t="t" r="r" b="b"/>
            <a:pathLst>
              <a:path w="393" h="17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4"/>
                </a:lnTo>
                <a:lnTo>
                  <a:pt x="147" y="5"/>
                </a:lnTo>
                <a:lnTo>
                  <a:pt x="164" y="6"/>
                </a:lnTo>
                <a:lnTo>
                  <a:pt x="180" y="7"/>
                </a:lnTo>
                <a:lnTo>
                  <a:pt x="196" y="8"/>
                </a:lnTo>
                <a:lnTo>
                  <a:pt x="213" y="9"/>
                </a:lnTo>
                <a:lnTo>
                  <a:pt x="229" y="10"/>
                </a:lnTo>
                <a:lnTo>
                  <a:pt x="246" y="11"/>
                </a:lnTo>
                <a:lnTo>
                  <a:pt x="262" y="12"/>
                </a:lnTo>
                <a:lnTo>
                  <a:pt x="278" y="13"/>
                </a:lnTo>
                <a:lnTo>
                  <a:pt x="295" y="13"/>
                </a:lnTo>
                <a:lnTo>
                  <a:pt x="311" y="14"/>
                </a:lnTo>
                <a:lnTo>
                  <a:pt x="327" y="15"/>
                </a:lnTo>
                <a:lnTo>
                  <a:pt x="344" y="15"/>
                </a:lnTo>
                <a:lnTo>
                  <a:pt x="360" y="15"/>
                </a:lnTo>
                <a:lnTo>
                  <a:pt x="377" y="16"/>
                </a:lnTo>
                <a:lnTo>
                  <a:pt x="393" y="16"/>
                </a:lnTo>
                <a:lnTo>
                  <a:pt x="393" y="17"/>
                </a:lnTo>
                <a:lnTo>
                  <a:pt x="377" y="16"/>
                </a:lnTo>
                <a:lnTo>
                  <a:pt x="360" y="16"/>
                </a:lnTo>
                <a:lnTo>
                  <a:pt x="344" y="16"/>
                </a:lnTo>
                <a:lnTo>
                  <a:pt x="327" y="15"/>
                </a:lnTo>
                <a:lnTo>
                  <a:pt x="311" y="15"/>
                </a:lnTo>
                <a:lnTo>
                  <a:pt x="295" y="14"/>
                </a:lnTo>
                <a:lnTo>
                  <a:pt x="278" y="13"/>
                </a:lnTo>
                <a:lnTo>
                  <a:pt x="262" y="13"/>
                </a:lnTo>
                <a:lnTo>
                  <a:pt x="246" y="12"/>
                </a:lnTo>
                <a:lnTo>
                  <a:pt x="229" y="11"/>
                </a:lnTo>
                <a:lnTo>
                  <a:pt x="213" y="10"/>
                </a:lnTo>
                <a:lnTo>
                  <a:pt x="196" y="9"/>
                </a:lnTo>
                <a:lnTo>
                  <a:pt x="180" y="8"/>
                </a:lnTo>
                <a:lnTo>
                  <a:pt x="164" y="7"/>
                </a:lnTo>
                <a:lnTo>
                  <a:pt x="147" y="6"/>
                </a:lnTo>
                <a:lnTo>
                  <a:pt x="131" y="5"/>
                </a:lnTo>
                <a:lnTo>
                  <a:pt x="114" y="4"/>
                </a:lnTo>
                <a:lnTo>
                  <a:pt x="98" y="4"/>
                </a:lnTo>
                <a:lnTo>
                  <a:pt x="82" y="3"/>
                </a:lnTo>
                <a:lnTo>
                  <a:pt x="65" y="2"/>
                </a:lnTo>
                <a:lnTo>
                  <a:pt x="49" y="2"/>
                </a:lnTo>
                <a:lnTo>
                  <a:pt x="33" y="2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Freeform 71"/>
          <p:cNvSpPr/>
          <p:nvPr/>
        </p:nvSpPr>
        <p:spPr>
          <a:xfrm>
            <a:off x="2057400" y="2800350"/>
            <a:ext cx="3743325" cy="3381375"/>
          </a:xfrm>
          <a:custGeom>
            <a:avLst/>
            <a:gdLst/>
            <a:ahLst/>
            <a:cxnLst/>
            <a:rect l="l" t="t" r="r" b="b"/>
            <a:pathLst>
              <a:path w="393" h="355">
                <a:moveTo>
                  <a:pt x="0" y="351"/>
                </a:moveTo>
                <a:lnTo>
                  <a:pt x="16" y="350"/>
                </a:lnTo>
                <a:lnTo>
                  <a:pt x="33" y="344"/>
                </a:lnTo>
                <a:lnTo>
                  <a:pt x="49" y="336"/>
                </a:lnTo>
                <a:lnTo>
                  <a:pt x="65" y="325"/>
                </a:lnTo>
                <a:lnTo>
                  <a:pt x="82" y="312"/>
                </a:lnTo>
                <a:lnTo>
                  <a:pt x="98" y="296"/>
                </a:lnTo>
                <a:lnTo>
                  <a:pt x="114" y="279"/>
                </a:lnTo>
                <a:lnTo>
                  <a:pt x="131" y="260"/>
                </a:lnTo>
                <a:lnTo>
                  <a:pt x="147" y="240"/>
                </a:lnTo>
                <a:lnTo>
                  <a:pt x="164" y="219"/>
                </a:lnTo>
                <a:lnTo>
                  <a:pt x="180" y="198"/>
                </a:lnTo>
                <a:lnTo>
                  <a:pt x="196" y="176"/>
                </a:lnTo>
                <a:lnTo>
                  <a:pt x="213" y="154"/>
                </a:lnTo>
                <a:lnTo>
                  <a:pt x="229" y="132"/>
                </a:lnTo>
                <a:lnTo>
                  <a:pt x="246" y="111"/>
                </a:lnTo>
                <a:lnTo>
                  <a:pt x="262" y="91"/>
                </a:lnTo>
                <a:lnTo>
                  <a:pt x="278" y="72"/>
                </a:lnTo>
                <a:lnTo>
                  <a:pt x="295" y="55"/>
                </a:lnTo>
                <a:lnTo>
                  <a:pt x="311" y="40"/>
                </a:lnTo>
                <a:lnTo>
                  <a:pt x="327" y="26"/>
                </a:lnTo>
                <a:lnTo>
                  <a:pt x="344" y="15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4"/>
                </a:lnTo>
                <a:lnTo>
                  <a:pt x="377" y="6"/>
                </a:lnTo>
                <a:lnTo>
                  <a:pt x="360" y="11"/>
                </a:lnTo>
                <a:lnTo>
                  <a:pt x="344" y="19"/>
                </a:lnTo>
                <a:lnTo>
                  <a:pt x="327" y="30"/>
                </a:lnTo>
                <a:lnTo>
                  <a:pt x="311" y="43"/>
                </a:lnTo>
                <a:lnTo>
                  <a:pt x="295" y="59"/>
                </a:lnTo>
                <a:lnTo>
                  <a:pt x="278" y="76"/>
                </a:lnTo>
                <a:lnTo>
                  <a:pt x="262" y="95"/>
                </a:lnTo>
                <a:lnTo>
                  <a:pt x="246" y="115"/>
                </a:lnTo>
                <a:lnTo>
                  <a:pt x="229" y="136"/>
                </a:lnTo>
                <a:lnTo>
                  <a:pt x="213" y="158"/>
                </a:lnTo>
                <a:lnTo>
                  <a:pt x="196" y="180"/>
                </a:lnTo>
                <a:lnTo>
                  <a:pt x="180" y="201"/>
                </a:lnTo>
                <a:lnTo>
                  <a:pt x="164" y="223"/>
                </a:lnTo>
                <a:lnTo>
                  <a:pt x="147" y="244"/>
                </a:lnTo>
                <a:lnTo>
                  <a:pt x="131" y="264"/>
                </a:lnTo>
                <a:lnTo>
                  <a:pt x="114" y="283"/>
                </a:lnTo>
                <a:lnTo>
                  <a:pt x="98" y="300"/>
                </a:lnTo>
                <a:lnTo>
                  <a:pt x="82" y="316"/>
                </a:lnTo>
                <a:lnTo>
                  <a:pt x="65" y="329"/>
                </a:lnTo>
                <a:lnTo>
                  <a:pt x="49" y="340"/>
                </a:lnTo>
                <a:lnTo>
                  <a:pt x="33" y="348"/>
                </a:lnTo>
                <a:lnTo>
                  <a:pt x="16" y="353"/>
                </a:lnTo>
                <a:lnTo>
                  <a:pt x="0" y="35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Freeform 72"/>
          <p:cNvSpPr/>
          <p:nvPr/>
        </p:nvSpPr>
        <p:spPr>
          <a:xfrm>
            <a:off x="2057400" y="4124325"/>
            <a:ext cx="3743325" cy="2085975"/>
          </a:xfrm>
          <a:custGeom>
            <a:avLst/>
            <a:gdLst/>
            <a:ahLst/>
            <a:cxnLst/>
            <a:rect l="l" t="t" r="r" b="b"/>
            <a:pathLst>
              <a:path w="393" h="219">
                <a:moveTo>
                  <a:pt x="0" y="216"/>
                </a:moveTo>
                <a:lnTo>
                  <a:pt x="16" y="215"/>
                </a:lnTo>
                <a:lnTo>
                  <a:pt x="33" y="212"/>
                </a:lnTo>
                <a:lnTo>
                  <a:pt x="49" y="207"/>
                </a:lnTo>
                <a:lnTo>
                  <a:pt x="65" y="200"/>
                </a:lnTo>
                <a:lnTo>
                  <a:pt x="82" y="192"/>
                </a:lnTo>
                <a:lnTo>
                  <a:pt x="98" y="182"/>
                </a:lnTo>
                <a:lnTo>
                  <a:pt x="114" y="172"/>
                </a:lnTo>
                <a:lnTo>
                  <a:pt x="131" y="160"/>
                </a:lnTo>
                <a:lnTo>
                  <a:pt x="147" y="148"/>
                </a:lnTo>
                <a:lnTo>
                  <a:pt x="164" y="135"/>
                </a:lnTo>
                <a:lnTo>
                  <a:pt x="180" y="122"/>
                </a:lnTo>
                <a:lnTo>
                  <a:pt x="196" y="108"/>
                </a:lnTo>
                <a:lnTo>
                  <a:pt x="213" y="95"/>
                </a:lnTo>
                <a:lnTo>
                  <a:pt x="229" y="81"/>
                </a:lnTo>
                <a:lnTo>
                  <a:pt x="246" y="69"/>
                </a:lnTo>
                <a:lnTo>
                  <a:pt x="262" y="56"/>
                </a:lnTo>
                <a:lnTo>
                  <a:pt x="278" y="45"/>
                </a:lnTo>
                <a:lnTo>
                  <a:pt x="295" y="34"/>
                </a:lnTo>
                <a:lnTo>
                  <a:pt x="311" y="24"/>
                </a:lnTo>
                <a:lnTo>
                  <a:pt x="327" y="16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8"/>
                </a:lnTo>
                <a:lnTo>
                  <a:pt x="344" y="13"/>
                </a:lnTo>
                <a:lnTo>
                  <a:pt x="327" y="20"/>
                </a:lnTo>
                <a:lnTo>
                  <a:pt x="311" y="28"/>
                </a:lnTo>
                <a:lnTo>
                  <a:pt x="295" y="37"/>
                </a:lnTo>
                <a:lnTo>
                  <a:pt x="278" y="48"/>
                </a:lnTo>
                <a:lnTo>
                  <a:pt x="262" y="59"/>
                </a:lnTo>
                <a:lnTo>
                  <a:pt x="246" y="72"/>
                </a:lnTo>
                <a:lnTo>
                  <a:pt x="229" y="85"/>
                </a:lnTo>
                <a:lnTo>
                  <a:pt x="213" y="98"/>
                </a:lnTo>
                <a:lnTo>
                  <a:pt x="196" y="111"/>
                </a:lnTo>
                <a:lnTo>
                  <a:pt x="180" y="125"/>
                </a:lnTo>
                <a:lnTo>
                  <a:pt x="164" y="138"/>
                </a:lnTo>
                <a:lnTo>
                  <a:pt x="147" y="151"/>
                </a:lnTo>
                <a:lnTo>
                  <a:pt x="131" y="163"/>
                </a:lnTo>
                <a:lnTo>
                  <a:pt x="114" y="175"/>
                </a:lnTo>
                <a:lnTo>
                  <a:pt x="98" y="186"/>
                </a:lnTo>
                <a:lnTo>
                  <a:pt x="82" y="195"/>
                </a:lnTo>
                <a:lnTo>
                  <a:pt x="65" y="203"/>
                </a:lnTo>
                <a:lnTo>
                  <a:pt x="49" y="210"/>
                </a:lnTo>
                <a:lnTo>
                  <a:pt x="33" y="215"/>
                </a:lnTo>
                <a:lnTo>
                  <a:pt x="16" y="218"/>
                </a:lnTo>
                <a:lnTo>
                  <a:pt x="0" y="21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2057400" y="5267325"/>
            <a:ext cx="3743325" cy="971550"/>
          </a:xfrm>
          <a:custGeom>
            <a:avLst/>
            <a:gdLst/>
            <a:ahLst/>
            <a:cxnLst/>
            <a:rect l="l" t="t" r="r" b="b"/>
            <a:pathLst>
              <a:path w="393" h="102">
                <a:moveTo>
                  <a:pt x="0" y="99"/>
                </a:moveTo>
                <a:lnTo>
                  <a:pt x="16" y="99"/>
                </a:lnTo>
                <a:lnTo>
                  <a:pt x="33" y="97"/>
                </a:lnTo>
                <a:lnTo>
                  <a:pt x="49" y="95"/>
                </a:lnTo>
                <a:lnTo>
                  <a:pt x="65" y="92"/>
                </a:lnTo>
                <a:lnTo>
                  <a:pt x="82" y="88"/>
                </a:lnTo>
                <a:lnTo>
                  <a:pt x="98" y="84"/>
                </a:lnTo>
                <a:lnTo>
                  <a:pt x="114" y="79"/>
                </a:lnTo>
                <a:lnTo>
                  <a:pt x="131" y="74"/>
                </a:lnTo>
                <a:lnTo>
                  <a:pt x="147" y="68"/>
                </a:lnTo>
                <a:lnTo>
                  <a:pt x="164" y="62"/>
                </a:lnTo>
                <a:lnTo>
                  <a:pt x="180" y="56"/>
                </a:lnTo>
                <a:lnTo>
                  <a:pt x="196" y="50"/>
                </a:lnTo>
                <a:lnTo>
                  <a:pt x="213" y="44"/>
                </a:lnTo>
                <a:lnTo>
                  <a:pt x="229" y="38"/>
                </a:lnTo>
                <a:lnTo>
                  <a:pt x="246" y="32"/>
                </a:lnTo>
                <a:lnTo>
                  <a:pt x="262" y="26"/>
                </a:lnTo>
                <a:lnTo>
                  <a:pt x="278" y="21"/>
                </a:lnTo>
                <a:lnTo>
                  <a:pt x="295" y="16"/>
                </a:lnTo>
                <a:lnTo>
                  <a:pt x="311" y="11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5"/>
                </a:lnTo>
                <a:lnTo>
                  <a:pt x="344" y="7"/>
                </a:lnTo>
                <a:lnTo>
                  <a:pt x="327" y="10"/>
                </a:lnTo>
                <a:lnTo>
                  <a:pt x="311" y="14"/>
                </a:lnTo>
                <a:lnTo>
                  <a:pt x="295" y="19"/>
                </a:lnTo>
                <a:lnTo>
                  <a:pt x="278" y="23"/>
                </a:lnTo>
                <a:lnTo>
                  <a:pt x="262" y="29"/>
                </a:lnTo>
                <a:lnTo>
                  <a:pt x="246" y="34"/>
                </a:lnTo>
                <a:lnTo>
                  <a:pt x="229" y="40"/>
                </a:lnTo>
                <a:lnTo>
                  <a:pt x="213" y="46"/>
                </a:lnTo>
                <a:lnTo>
                  <a:pt x="196" y="53"/>
                </a:lnTo>
                <a:lnTo>
                  <a:pt x="180" y="59"/>
                </a:lnTo>
                <a:lnTo>
                  <a:pt x="164" y="65"/>
                </a:lnTo>
                <a:lnTo>
                  <a:pt x="147" y="71"/>
                </a:lnTo>
                <a:lnTo>
                  <a:pt x="131" y="76"/>
                </a:lnTo>
                <a:lnTo>
                  <a:pt x="114" y="82"/>
                </a:lnTo>
                <a:lnTo>
                  <a:pt x="98" y="87"/>
                </a:lnTo>
                <a:lnTo>
                  <a:pt x="82" y="91"/>
                </a:lnTo>
                <a:lnTo>
                  <a:pt x="65" y="95"/>
                </a:lnTo>
                <a:lnTo>
                  <a:pt x="49" y="98"/>
                </a:lnTo>
                <a:lnTo>
                  <a:pt x="33" y="100"/>
                </a:lnTo>
                <a:lnTo>
                  <a:pt x="16" y="102"/>
                </a:lnTo>
                <a:lnTo>
                  <a:pt x="0" y="102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2057400" y="5924550"/>
            <a:ext cx="3743325" cy="333375"/>
          </a:xfrm>
          <a:custGeom>
            <a:avLst/>
            <a:gdLst/>
            <a:ahLst/>
            <a:cxnLst/>
            <a:rect l="l" t="t" r="r" b="b"/>
            <a:pathLst>
              <a:path w="393" h="35">
                <a:moveTo>
                  <a:pt x="0" y="33"/>
                </a:moveTo>
                <a:lnTo>
                  <a:pt x="16" y="33"/>
                </a:lnTo>
                <a:lnTo>
                  <a:pt x="33" y="32"/>
                </a:lnTo>
                <a:lnTo>
                  <a:pt x="49" y="32"/>
                </a:lnTo>
                <a:lnTo>
                  <a:pt x="65" y="31"/>
                </a:lnTo>
                <a:lnTo>
                  <a:pt x="82" y="29"/>
                </a:lnTo>
                <a:lnTo>
                  <a:pt x="98" y="28"/>
                </a:lnTo>
                <a:lnTo>
                  <a:pt x="114" y="26"/>
                </a:lnTo>
                <a:lnTo>
                  <a:pt x="131" y="24"/>
                </a:lnTo>
                <a:lnTo>
                  <a:pt x="147" y="23"/>
                </a:lnTo>
                <a:lnTo>
                  <a:pt x="164" y="21"/>
                </a:lnTo>
                <a:lnTo>
                  <a:pt x="180" y="18"/>
                </a:lnTo>
                <a:lnTo>
                  <a:pt x="196" y="16"/>
                </a:lnTo>
                <a:lnTo>
                  <a:pt x="213" y="14"/>
                </a:lnTo>
                <a:lnTo>
                  <a:pt x="229" y="12"/>
                </a:lnTo>
                <a:lnTo>
                  <a:pt x="246" y="10"/>
                </a:lnTo>
                <a:lnTo>
                  <a:pt x="262" y="8"/>
                </a:lnTo>
                <a:lnTo>
                  <a:pt x="278" y="7"/>
                </a:lnTo>
                <a:lnTo>
                  <a:pt x="295" y="5"/>
                </a:lnTo>
                <a:lnTo>
                  <a:pt x="311" y="4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2"/>
                </a:lnTo>
                <a:lnTo>
                  <a:pt x="344" y="3"/>
                </a:lnTo>
                <a:lnTo>
                  <a:pt x="327" y="4"/>
                </a:lnTo>
                <a:lnTo>
                  <a:pt x="311" y="5"/>
                </a:lnTo>
                <a:lnTo>
                  <a:pt x="295" y="7"/>
                </a:lnTo>
                <a:lnTo>
                  <a:pt x="278" y="8"/>
                </a:lnTo>
                <a:lnTo>
                  <a:pt x="262" y="10"/>
                </a:lnTo>
                <a:lnTo>
                  <a:pt x="246" y="12"/>
                </a:lnTo>
                <a:lnTo>
                  <a:pt x="229" y="14"/>
                </a:lnTo>
                <a:lnTo>
                  <a:pt x="213" y="16"/>
                </a:lnTo>
                <a:lnTo>
                  <a:pt x="196" y="18"/>
                </a:lnTo>
                <a:lnTo>
                  <a:pt x="180" y="20"/>
                </a:lnTo>
                <a:lnTo>
                  <a:pt x="164" y="22"/>
                </a:lnTo>
                <a:lnTo>
                  <a:pt x="147" y="24"/>
                </a:lnTo>
                <a:lnTo>
                  <a:pt x="131" y="26"/>
                </a:lnTo>
                <a:lnTo>
                  <a:pt x="114" y="28"/>
                </a:lnTo>
                <a:lnTo>
                  <a:pt x="98" y="29"/>
                </a:lnTo>
                <a:lnTo>
                  <a:pt x="82" y="31"/>
                </a:lnTo>
                <a:lnTo>
                  <a:pt x="65" y="32"/>
                </a:lnTo>
                <a:lnTo>
                  <a:pt x="49" y="33"/>
                </a:lnTo>
                <a:lnTo>
                  <a:pt x="33" y="34"/>
                </a:lnTo>
                <a:lnTo>
                  <a:pt x="1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2057400" y="6238875"/>
            <a:ext cx="3743325" cy="19050"/>
          </a:xfrm>
          <a:custGeom>
            <a:avLst/>
            <a:gdLst/>
            <a:ahLst/>
            <a:cxnLst/>
            <a:rect l="l" t="t" r="r" b="b"/>
            <a:pathLst>
              <a:path w="393" h="2">
                <a:moveTo>
                  <a:pt x="0" y="2"/>
                </a:moveTo>
                <a:lnTo>
                  <a:pt x="16" y="2"/>
                </a:lnTo>
                <a:lnTo>
                  <a:pt x="33" y="2"/>
                </a:lnTo>
                <a:lnTo>
                  <a:pt x="49" y="2"/>
                </a:lnTo>
                <a:lnTo>
                  <a:pt x="65" y="2"/>
                </a:lnTo>
                <a:lnTo>
                  <a:pt x="82" y="1"/>
                </a:lnTo>
                <a:lnTo>
                  <a:pt x="98" y="1"/>
                </a:lnTo>
                <a:lnTo>
                  <a:pt x="114" y="1"/>
                </a:lnTo>
                <a:lnTo>
                  <a:pt x="131" y="1"/>
                </a:lnTo>
                <a:lnTo>
                  <a:pt x="147" y="1"/>
                </a:lnTo>
                <a:lnTo>
                  <a:pt x="164" y="1"/>
                </a:lnTo>
                <a:lnTo>
                  <a:pt x="180" y="1"/>
                </a:lnTo>
                <a:lnTo>
                  <a:pt x="196" y="1"/>
                </a:lnTo>
                <a:lnTo>
                  <a:pt x="213" y="0"/>
                </a:lnTo>
                <a:lnTo>
                  <a:pt x="229" y="0"/>
                </a:lnTo>
                <a:lnTo>
                  <a:pt x="246" y="0"/>
                </a:lnTo>
                <a:lnTo>
                  <a:pt x="262" y="0"/>
                </a:lnTo>
                <a:lnTo>
                  <a:pt x="278" y="0"/>
                </a:lnTo>
                <a:lnTo>
                  <a:pt x="295" y="0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0"/>
                </a:lnTo>
                <a:lnTo>
                  <a:pt x="377" y="0"/>
                </a:lnTo>
                <a:lnTo>
                  <a:pt x="360" y="0"/>
                </a:lnTo>
                <a:lnTo>
                  <a:pt x="344" y="0"/>
                </a:lnTo>
                <a:lnTo>
                  <a:pt x="327" y="0"/>
                </a:lnTo>
                <a:lnTo>
                  <a:pt x="311" y="0"/>
                </a:lnTo>
                <a:lnTo>
                  <a:pt x="295" y="0"/>
                </a:lnTo>
                <a:lnTo>
                  <a:pt x="278" y="1"/>
                </a:lnTo>
                <a:lnTo>
                  <a:pt x="262" y="1"/>
                </a:lnTo>
                <a:lnTo>
                  <a:pt x="246" y="1"/>
                </a:lnTo>
                <a:lnTo>
                  <a:pt x="229" y="1"/>
                </a:lnTo>
                <a:lnTo>
                  <a:pt x="213" y="1"/>
                </a:lnTo>
                <a:lnTo>
                  <a:pt x="196" y="1"/>
                </a:lnTo>
                <a:lnTo>
                  <a:pt x="180" y="1"/>
                </a:lnTo>
                <a:lnTo>
                  <a:pt x="164" y="1"/>
                </a:lnTo>
                <a:lnTo>
                  <a:pt x="147" y="2"/>
                </a:lnTo>
                <a:lnTo>
                  <a:pt x="131" y="2"/>
                </a:lnTo>
                <a:lnTo>
                  <a:pt x="114" y="2"/>
                </a:lnTo>
                <a:lnTo>
                  <a:pt x="98" y="2"/>
                </a:lnTo>
                <a:lnTo>
                  <a:pt x="82" y="2"/>
                </a:lnTo>
                <a:lnTo>
                  <a:pt x="65" y="2"/>
                </a:lnTo>
                <a:lnTo>
                  <a:pt x="49" y="2"/>
                </a:lnTo>
                <a:lnTo>
                  <a:pt x="33" y="2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reeform 76"/>
          <p:cNvSpPr/>
          <p:nvPr/>
        </p:nvSpPr>
        <p:spPr>
          <a:xfrm>
            <a:off x="2057400" y="2838450"/>
            <a:ext cx="3743325" cy="3505200"/>
          </a:xfrm>
          <a:custGeom>
            <a:avLst/>
            <a:gdLst/>
            <a:ahLst/>
            <a:cxnLst/>
            <a:rect l="l" t="t" r="r" b="b"/>
            <a:pathLst>
              <a:path w="393" h="368">
                <a:moveTo>
                  <a:pt x="0" y="365"/>
                </a:moveTo>
                <a:lnTo>
                  <a:pt x="16" y="363"/>
                </a:lnTo>
                <a:lnTo>
                  <a:pt x="33" y="358"/>
                </a:lnTo>
                <a:lnTo>
                  <a:pt x="49" y="350"/>
                </a:lnTo>
                <a:lnTo>
                  <a:pt x="65" y="338"/>
                </a:lnTo>
                <a:lnTo>
                  <a:pt x="82" y="324"/>
                </a:lnTo>
                <a:lnTo>
                  <a:pt x="98" y="308"/>
                </a:lnTo>
                <a:lnTo>
                  <a:pt x="114" y="290"/>
                </a:lnTo>
                <a:lnTo>
                  <a:pt x="131" y="271"/>
                </a:lnTo>
                <a:lnTo>
                  <a:pt x="147" y="250"/>
                </a:lnTo>
                <a:lnTo>
                  <a:pt x="164" y="228"/>
                </a:lnTo>
                <a:lnTo>
                  <a:pt x="180" y="205"/>
                </a:lnTo>
                <a:lnTo>
                  <a:pt x="196" y="183"/>
                </a:lnTo>
                <a:lnTo>
                  <a:pt x="213" y="160"/>
                </a:lnTo>
                <a:lnTo>
                  <a:pt x="229" y="137"/>
                </a:lnTo>
                <a:lnTo>
                  <a:pt x="246" y="116"/>
                </a:lnTo>
                <a:lnTo>
                  <a:pt x="262" y="95"/>
                </a:lnTo>
                <a:lnTo>
                  <a:pt x="278" y="75"/>
                </a:lnTo>
                <a:lnTo>
                  <a:pt x="295" y="57"/>
                </a:lnTo>
                <a:lnTo>
                  <a:pt x="311" y="41"/>
                </a:lnTo>
                <a:lnTo>
                  <a:pt x="327" y="27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0"/>
                </a:lnTo>
                <a:lnTo>
                  <a:pt x="344" y="19"/>
                </a:lnTo>
                <a:lnTo>
                  <a:pt x="327" y="30"/>
                </a:lnTo>
                <a:lnTo>
                  <a:pt x="311" y="44"/>
                </a:lnTo>
                <a:lnTo>
                  <a:pt x="295" y="60"/>
                </a:lnTo>
                <a:lnTo>
                  <a:pt x="278" y="78"/>
                </a:lnTo>
                <a:lnTo>
                  <a:pt x="262" y="98"/>
                </a:lnTo>
                <a:lnTo>
                  <a:pt x="246" y="119"/>
                </a:lnTo>
                <a:lnTo>
                  <a:pt x="229" y="140"/>
                </a:lnTo>
                <a:lnTo>
                  <a:pt x="213" y="163"/>
                </a:lnTo>
                <a:lnTo>
                  <a:pt x="196" y="186"/>
                </a:lnTo>
                <a:lnTo>
                  <a:pt x="180" y="208"/>
                </a:lnTo>
                <a:lnTo>
                  <a:pt x="164" y="231"/>
                </a:lnTo>
                <a:lnTo>
                  <a:pt x="147" y="253"/>
                </a:lnTo>
                <a:lnTo>
                  <a:pt x="131" y="274"/>
                </a:lnTo>
                <a:lnTo>
                  <a:pt x="114" y="293"/>
                </a:lnTo>
                <a:lnTo>
                  <a:pt x="98" y="311"/>
                </a:lnTo>
                <a:lnTo>
                  <a:pt x="82" y="327"/>
                </a:lnTo>
                <a:lnTo>
                  <a:pt x="65" y="341"/>
                </a:lnTo>
                <a:lnTo>
                  <a:pt x="49" y="353"/>
                </a:lnTo>
                <a:lnTo>
                  <a:pt x="33" y="361"/>
                </a:lnTo>
                <a:lnTo>
                  <a:pt x="16" y="366"/>
                </a:lnTo>
                <a:lnTo>
                  <a:pt x="0" y="368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2057400" y="4162425"/>
            <a:ext cx="3743325" cy="2209800"/>
          </a:xfrm>
          <a:custGeom>
            <a:avLst/>
            <a:gdLst/>
            <a:ahLst/>
            <a:cxnLst/>
            <a:rect l="l" t="t" r="r" b="b"/>
            <a:pathLst>
              <a:path w="393" h="232">
                <a:moveTo>
                  <a:pt x="0" y="229"/>
                </a:moveTo>
                <a:lnTo>
                  <a:pt x="16" y="228"/>
                </a:lnTo>
                <a:lnTo>
                  <a:pt x="33" y="225"/>
                </a:lnTo>
                <a:lnTo>
                  <a:pt x="49" y="219"/>
                </a:lnTo>
                <a:lnTo>
                  <a:pt x="65" y="212"/>
                </a:lnTo>
                <a:lnTo>
                  <a:pt x="82" y="204"/>
                </a:lnTo>
                <a:lnTo>
                  <a:pt x="98" y="193"/>
                </a:lnTo>
                <a:lnTo>
                  <a:pt x="114" y="182"/>
                </a:lnTo>
                <a:lnTo>
                  <a:pt x="131" y="170"/>
                </a:lnTo>
                <a:lnTo>
                  <a:pt x="147" y="157"/>
                </a:lnTo>
                <a:lnTo>
                  <a:pt x="164" y="143"/>
                </a:lnTo>
                <a:lnTo>
                  <a:pt x="180" y="129"/>
                </a:lnTo>
                <a:lnTo>
                  <a:pt x="196" y="114"/>
                </a:lnTo>
                <a:lnTo>
                  <a:pt x="213" y="100"/>
                </a:lnTo>
                <a:lnTo>
                  <a:pt x="229" y="86"/>
                </a:lnTo>
                <a:lnTo>
                  <a:pt x="246" y="72"/>
                </a:lnTo>
                <a:lnTo>
                  <a:pt x="262" y="59"/>
                </a:lnTo>
                <a:lnTo>
                  <a:pt x="278" y="47"/>
                </a:lnTo>
                <a:lnTo>
                  <a:pt x="295" y="35"/>
                </a:lnTo>
                <a:lnTo>
                  <a:pt x="311" y="25"/>
                </a:lnTo>
                <a:lnTo>
                  <a:pt x="327" y="17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2"/>
                </a:lnTo>
                <a:lnTo>
                  <a:pt x="327" y="19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2"/>
                </a:lnTo>
                <a:lnTo>
                  <a:pt x="246" y="75"/>
                </a:lnTo>
                <a:lnTo>
                  <a:pt x="229" y="88"/>
                </a:lnTo>
                <a:lnTo>
                  <a:pt x="213" y="102"/>
                </a:lnTo>
                <a:lnTo>
                  <a:pt x="196" y="117"/>
                </a:lnTo>
                <a:lnTo>
                  <a:pt x="180" y="131"/>
                </a:lnTo>
                <a:lnTo>
                  <a:pt x="164" y="145"/>
                </a:lnTo>
                <a:lnTo>
                  <a:pt x="147" y="159"/>
                </a:lnTo>
                <a:lnTo>
                  <a:pt x="131" y="172"/>
                </a:lnTo>
                <a:lnTo>
                  <a:pt x="114" y="184"/>
                </a:lnTo>
                <a:lnTo>
                  <a:pt x="98" y="196"/>
                </a:lnTo>
                <a:lnTo>
                  <a:pt x="82" y="206"/>
                </a:lnTo>
                <a:lnTo>
                  <a:pt x="65" y="215"/>
                </a:lnTo>
                <a:lnTo>
                  <a:pt x="49" y="222"/>
                </a:lnTo>
                <a:lnTo>
                  <a:pt x="33" y="227"/>
                </a:lnTo>
                <a:lnTo>
                  <a:pt x="16" y="231"/>
                </a:lnTo>
                <a:lnTo>
                  <a:pt x="0" y="23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Freeform 78"/>
          <p:cNvSpPr/>
          <p:nvPr/>
        </p:nvSpPr>
        <p:spPr>
          <a:xfrm>
            <a:off x="2057400" y="5295900"/>
            <a:ext cx="3743325" cy="1095375"/>
          </a:xfrm>
          <a:custGeom>
            <a:avLst/>
            <a:gdLst/>
            <a:ahLst/>
            <a:cxnLst/>
            <a:rect l="l" t="t" r="r" b="b"/>
            <a:pathLst>
              <a:path w="393" h="115">
                <a:moveTo>
                  <a:pt x="0" y="113"/>
                </a:moveTo>
                <a:lnTo>
                  <a:pt x="16" y="112"/>
                </a:lnTo>
                <a:lnTo>
                  <a:pt x="33" y="110"/>
                </a:lnTo>
                <a:lnTo>
                  <a:pt x="49" y="108"/>
                </a:lnTo>
                <a:lnTo>
                  <a:pt x="65" y="104"/>
                </a:lnTo>
                <a:lnTo>
                  <a:pt x="82" y="100"/>
                </a:lnTo>
                <a:lnTo>
                  <a:pt x="98" y="95"/>
                </a:lnTo>
                <a:lnTo>
                  <a:pt x="114" y="90"/>
                </a:lnTo>
                <a:lnTo>
                  <a:pt x="131" y="83"/>
                </a:lnTo>
                <a:lnTo>
                  <a:pt x="147" y="77"/>
                </a:lnTo>
                <a:lnTo>
                  <a:pt x="164" y="70"/>
                </a:lnTo>
                <a:lnTo>
                  <a:pt x="180" y="63"/>
                </a:lnTo>
                <a:lnTo>
                  <a:pt x="196" y="56"/>
                </a:lnTo>
                <a:lnTo>
                  <a:pt x="213" y="49"/>
                </a:lnTo>
                <a:lnTo>
                  <a:pt x="229" y="42"/>
                </a:lnTo>
                <a:lnTo>
                  <a:pt x="246" y="36"/>
                </a:lnTo>
                <a:lnTo>
                  <a:pt x="262" y="29"/>
                </a:lnTo>
                <a:lnTo>
                  <a:pt x="278" y="23"/>
                </a:lnTo>
                <a:lnTo>
                  <a:pt x="295" y="18"/>
                </a:lnTo>
                <a:lnTo>
                  <a:pt x="311" y="13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4"/>
                </a:lnTo>
                <a:lnTo>
                  <a:pt x="344" y="7"/>
                </a:lnTo>
                <a:lnTo>
                  <a:pt x="327" y="10"/>
                </a:lnTo>
                <a:lnTo>
                  <a:pt x="311" y="15"/>
                </a:lnTo>
                <a:lnTo>
                  <a:pt x="295" y="20"/>
                </a:lnTo>
                <a:lnTo>
                  <a:pt x="278" y="25"/>
                </a:lnTo>
                <a:lnTo>
                  <a:pt x="262" y="31"/>
                </a:lnTo>
                <a:lnTo>
                  <a:pt x="246" y="38"/>
                </a:lnTo>
                <a:lnTo>
                  <a:pt x="229" y="44"/>
                </a:lnTo>
                <a:lnTo>
                  <a:pt x="213" y="51"/>
                </a:lnTo>
                <a:lnTo>
                  <a:pt x="196" y="58"/>
                </a:lnTo>
                <a:lnTo>
                  <a:pt x="180" y="65"/>
                </a:lnTo>
                <a:lnTo>
                  <a:pt x="164" y="72"/>
                </a:lnTo>
                <a:lnTo>
                  <a:pt x="147" y="79"/>
                </a:lnTo>
                <a:lnTo>
                  <a:pt x="131" y="86"/>
                </a:lnTo>
                <a:lnTo>
                  <a:pt x="114" y="92"/>
                </a:lnTo>
                <a:lnTo>
                  <a:pt x="98" y="97"/>
                </a:lnTo>
                <a:lnTo>
                  <a:pt x="82" y="102"/>
                </a:lnTo>
                <a:lnTo>
                  <a:pt x="65" y="106"/>
                </a:lnTo>
                <a:lnTo>
                  <a:pt x="49" y="110"/>
                </a:lnTo>
                <a:lnTo>
                  <a:pt x="33" y="113"/>
                </a:lnTo>
                <a:lnTo>
                  <a:pt x="16" y="114"/>
                </a:lnTo>
                <a:lnTo>
                  <a:pt x="0" y="11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Freeform 79"/>
          <p:cNvSpPr/>
          <p:nvPr/>
        </p:nvSpPr>
        <p:spPr>
          <a:xfrm>
            <a:off x="2057400" y="5934075"/>
            <a:ext cx="3743325" cy="466725"/>
          </a:xfrm>
          <a:custGeom>
            <a:avLst/>
            <a:gdLst/>
            <a:ahLst/>
            <a:cxnLst/>
            <a:rect l="l" t="t" r="r" b="b"/>
            <a:pathLst>
              <a:path w="393" h="49">
                <a:moveTo>
                  <a:pt x="0" y="48"/>
                </a:moveTo>
                <a:lnTo>
                  <a:pt x="16" y="48"/>
                </a:lnTo>
                <a:lnTo>
                  <a:pt x="33" y="47"/>
                </a:lnTo>
                <a:lnTo>
                  <a:pt x="49" y="46"/>
                </a:lnTo>
                <a:lnTo>
                  <a:pt x="65" y="44"/>
                </a:lnTo>
                <a:lnTo>
                  <a:pt x="82" y="42"/>
                </a:lnTo>
                <a:lnTo>
                  <a:pt x="98" y="40"/>
                </a:lnTo>
                <a:lnTo>
                  <a:pt x="114" y="38"/>
                </a:lnTo>
                <a:lnTo>
                  <a:pt x="131" y="35"/>
                </a:lnTo>
                <a:lnTo>
                  <a:pt x="147" y="33"/>
                </a:lnTo>
                <a:lnTo>
                  <a:pt x="164" y="30"/>
                </a:lnTo>
                <a:lnTo>
                  <a:pt x="180" y="27"/>
                </a:lnTo>
                <a:lnTo>
                  <a:pt x="196" y="24"/>
                </a:lnTo>
                <a:lnTo>
                  <a:pt x="213" y="21"/>
                </a:lnTo>
                <a:lnTo>
                  <a:pt x="229" y="18"/>
                </a:lnTo>
                <a:lnTo>
                  <a:pt x="246" y="15"/>
                </a:lnTo>
                <a:lnTo>
                  <a:pt x="262" y="13"/>
                </a:lnTo>
                <a:lnTo>
                  <a:pt x="278" y="10"/>
                </a:lnTo>
                <a:lnTo>
                  <a:pt x="295" y="8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3"/>
                </a:lnTo>
                <a:lnTo>
                  <a:pt x="344" y="4"/>
                </a:lnTo>
                <a:lnTo>
                  <a:pt x="327" y="5"/>
                </a:lnTo>
                <a:lnTo>
                  <a:pt x="311" y="7"/>
                </a:lnTo>
                <a:lnTo>
                  <a:pt x="295" y="9"/>
                </a:lnTo>
                <a:lnTo>
                  <a:pt x="278" y="11"/>
                </a:lnTo>
                <a:lnTo>
                  <a:pt x="262" y="14"/>
                </a:lnTo>
                <a:lnTo>
                  <a:pt x="246" y="17"/>
                </a:lnTo>
                <a:lnTo>
                  <a:pt x="229" y="19"/>
                </a:lnTo>
                <a:lnTo>
                  <a:pt x="213" y="22"/>
                </a:lnTo>
                <a:lnTo>
                  <a:pt x="196" y="25"/>
                </a:lnTo>
                <a:lnTo>
                  <a:pt x="180" y="28"/>
                </a:lnTo>
                <a:lnTo>
                  <a:pt x="164" y="31"/>
                </a:lnTo>
                <a:lnTo>
                  <a:pt x="147" y="34"/>
                </a:lnTo>
                <a:lnTo>
                  <a:pt x="131" y="37"/>
                </a:lnTo>
                <a:lnTo>
                  <a:pt x="114" y="39"/>
                </a:lnTo>
                <a:lnTo>
                  <a:pt x="98" y="42"/>
                </a:lnTo>
                <a:lnTo>
                  <a:pt x="82" y="44"/>
                </a:lnTo>
                <a:lnTo>
                  <a:pt x="65" y="45"/>
                </a:lnTo>
                <a:lnTo>
                  <a:pt x="49" y="47"/>
                </a:lnTo>
                <a:lnTo>
                  <a:pt x="33" y="48"/>
                </a:lnTo>
                <a:lnTo>
                  <a:pt x="1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Freeform 80"/>
          <p:cNvSpPr/>
          <p:nvPr/>
        </p:nvSpPr>
        <p:spPr>
          <a:xfrm>
            <a:off x="2057400" y="6238875"/>
            <a:ext cx="3743325" cy="161925"/>
          </a:xfrm>
          <a:custGeom>
            <a:avLst/>
            <a:gdLst/>
            <a:ahLst/>
            <a:cxnLst/>
            <a:rect l="l" t="t" r="r" b="b"/>
            <a:pathLst>
              <a:path w="393" h="17">
                <a:moveTo>
                  <a:pt x="0" y="17"/>
                </a:moveTo>
                <a:lnTo>
                  <a:pt x="16" y="17"/>
                </a:lnTo>
                <a:lnTo>
                  <a:pt x="33" y="17"/>
                </a:lnTo>
                <a:lnTo>
                  <a:pt x="49" y="16"/>
                </a:lnTo>
                <a:lnTo>
                  <a:pt x="65" y="16"/>
                </a:lnTo>
                <a:lnTo>
                  <a:pt x="82" y="15"/>
                </a:lnTo>
                <a:lnTo>
                  <a:pt x="98" y="14"/>
                </a:lnTo>
                <a:lnTo>
                  <a:pt x="114" y="13"/>
                </a:lnTo>
                <a:lnTo>
                  <a:pt x="131" y="13"/>
                </a:lnTo>
                <a:lnTo>
                  <a:pt x="147" y="12"/>
                </a:lnTo>
                <a:lnTo>
                  <a:pt x="164" y="11"/>
                </a:lnTo>
                <a:lnTo>
                  <a:pt x="180" y="10"/>
                </a:lnTo>
                <a:lnTo>
                  <a:pt x="196" y="9"/>
                </a:lnTo>
                <a:lnTo>
                  <a:pt x="213" y="7"/>
                </a:lnTo>
                <a:lnTo>
                  <a:pt x="229" y="6"/>
                </a:lnTo>
                <a:lnTo>
                  <a:pt x="246" y="5"/>
                </a:lnTo>
                <a:lnTo>
                  <a:pt x="262" y="4"/>
                </a:lnTo>
                <a:lnTo>
                  <a:pt x="278" y="4"/>
                </a:lnTo>
                <a:lnTo>
                  <a:pt x="295" y="3"/>
                </a:lnTo>
                <a:lnTo>
                  <a:pt x="311" y="2"/>
                </a:lnTo>
                <a:lnTo>
                  <a:pt x="327" y="1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1"/>
                </a:lnTo>
                <a:lnTo>
                  <a:pt x="344" y="1"/>
                </a:lnTo>
                <a:lnTo>
                  <a:pt x="327" y="2"/>
                </a:lnTo>
                <a:lnTo>
                  <a:pt x="311" y="3"/>
                </a:lnTo>
                <a:lnTo>
                  <a:pt x="295" y="3"/>
                </a:lnTo>
                <a:lnTo>
                  <a:pt x="278" y="4"/>
                </a:lnTo>
                <a:lnTo>
                  <a:pt x="262" y="5"/>
                </a:lnTo>
                <a:lnTo>
                  <a:pt x="246" y="6"/>
                </a:lnTo>
                <a:lnTo>
                  <a:pt x="229" y="7"/>
                </a:lnTo>
                <a:lnTo>
                  <a:pt x="213" y="8"/>
                </a:lnTo>
                <a:lnTo>
                  <a:pt x="196" y="9"/>
                </a:lnTo>
                <a:lnTo>
                  <a:pt x="180" y="10"/>
                </a:lnTo>
                <a:lnTo>
                  <a:pt x="164" y="11"/>
                </a:lnTo>
                <a:lnTo>
                  <a:pt x="147" y="12"/>
                </a:lnTo>
                <a:lnTo>
                  <a:pt x="131" y="13"/>
                </a:lnTo>
                <a:lnTo>
                  <a:pt x="114" y="14"/>
                </a:lnTo>
                <a:lnTo>
                  <a:pt x="98" y="15"/>
                </a:lnTo>
                <a:lnTo>
                  <a:pt x="82" y="16"/>
                </a:lnTo>
                <a:lnTo>
                  <a:pt x="65" y="16"/>
                </a:lnTo>
                <a:lnTo>
                  <a:pt x="49" y="17"/>
                </a:lnTo>
                <a:lnTo>
                  <a:pt x="33" y="17"/>
                </a:lnTo>
                <a:lnTo>
                  <a:pt x="1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reeform 81"/>
          <p:cNvSpPr/>
          <p:nvPr/>
        </p:nvSpPr>
        <p:spPr>
          <a:xfrm>
            <a:off x="2057400" y="2867025"/>
            <a:ext cx="3743325" cy="3619500"/>
          </a:xfrm>
          <a:custGeom>
            <a:avLst/>
            <a:gdLst/>
            <a:ahLst/>
            <a:cxnLst/>
            <a:rect l="l" t="t" r="r" b="b"/>
            <a:pathLst>
              <a:path w="393" h="380">
                <a:moveTo>
                  <a:pt x="0" y="377"/>
                </a:moveTo>
                <a:lnTo>
                  <a:pt x="16" y="376"/>
                </a:lnTo>
                <a:lnTo>
                  <a:pt x="33" y="370"/>
                </a:lnTo>
                <a:lnTo>
                  <a:pt x="49" y="361"/>
                </a:lnTo>
                <a:lnTo>
                  <a:pt x="65" y="349"/>
                </a:lnTo>
                <a:lnTo>
                  <a:pt x="82" y="335"/>
                </a:lnTo>
                <a:lnTo>
                  <a:pt x="98" y="318"/>
                </a:lnTo>
                <a:lnTo>
                  <a:pt x="114" y="300"/>
                </a:lnTo>
                <a:lnTo>
                  <a:pt x="131" y="280"/>
                </a:lnTo>
                <a:lnTo>
                  <a:pt x="147" y="258"/>
                </a:lnTo>
                <a:lnTo>
                  <a:pt x="164" y="236"/>
                </a:lnTo>
                <a:lnTo>
                  <a:pt x="180" y="212"/>
                </a:lnTo>
                <a:lnTo>
                  <a:pt x="196" y="189"/>
                </a:lnTo>
                <a:lnTo>
                  <a:pt x="213" y="165"/>
                </a:lnTo>
                <a:lnTo>
                  <a:pt x="229" y="142"/>
                </a:lnTo>
                <a:lnTo>
                  <a:pt x="246" y="119"/>
                </a:lnTo>
                <a:lnTo>
                  <a:pt x="262" y="98"/>
                </a:lnTo>
                <a:lnTo>
                  <a:pt x="278" y="78"/>
                </a:lnTo>
                <a:lnTo>
                  <a:pt x="295" y="59"/>
                </a:lnTo>
                <a:lnTo>
                  <a:pt x="311" y="42"/>
                </a:lnTo>
                <a:lnTo>
                  <a:pt x="327" y="28"/>
                </a:lnTo>
                <a:lnTo>
                  <a:pt x="344" y="16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0"/>
                </a:lnTo>
                <a:lnTo>
                  <a:pt x="344" y="19"/>
                </a:lnTo>
                <a:lnTo>
                  <a:pt x="327" y="31"/>
                </a:lnTo>
                <a:lnTo>
                  <a:pt x="311" y="45"/>
                </a:lnTo>
                <a:lnTo>
                  <a:pt x="295" y="62"/>
                </a:lnTo>
                <a:lnTo>
                  <a:pt x="278" y="80"/>
                </a:lnTo>
                <a:lnTo>
                  <a:pt x="262" y="101"/>
                </a:lnTo>
                <a:lnTo>
                  <a:pt x="246" y="122"/>
                </a:lnTo>
                <a:lnTo>
                  <a:pt x="229" y="145"/>
                </a:lnTo>
                <a:lnTo>
                  <a:pt x="213" y="168"/>
                </a:lnTo>
                <a:lnTo>
                  <a:pt x="196" y="191"/>
                </a:lnTo>
                <a:lnTo>
                  <a:pt x="180" y="215"/>
                </a:lnTo>
                <a:lnTo>
                  <a:pt x="164" y="238"/>
                </a:lnTo>
                <a:lnTo>
                  <a:pt x="147" y="261"/>
                </a:lnTo>
                <a:lnTo>
                  <a:pt x="131" y="282"/>
                </a:lnTo>
                <a:lnTo>
                  <a:pt x="114" y="302"/>
                </a:lnTo>
                <a:lnTo>
                  <a:pt x="98" y="321"/>
                </a:lnTo>
                <a:lnTo>
                  <a:pt x="82" y="338"/>
                </a:lnTo>
                <a:lnTo>
                  <a:pt x="65" y="352"/>
                </a:lnTo>
                <a:lnTo>
                  <a:pt x="49" y="364"/>
                </a:lnTo>
                <a:lnTo>
                  <a:pt x="33" y="373"/>
                </a:lnTo>
                <a:lnTo>
                  <a:pt x="16" y="378"/>
                </a:lnTo>
                <a:lnTo>
                  <a:pt x="0" y="38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Freeform 82"/>
          <p:cNvSpPr/>
          <p:nvPr/>
        </p:nvSpPr>
        <p:spPr>
          <a:xfrm>
            <a:off x="2057400" y="4181475"/>
            <a:ext cx="3743325" cy="2324100"/>
          </a:xfrm>
          <a:custGeom>
            <a:avLst/>
            <a:gdLst/>
            <a:ahLst/>
            <a:cxnLst/>
            <a:rect l="l" t="t" r="r" b="b"/>
            <a:pathLst>
              <a:path w="393" h="244">
                <a:moveTo>
                  <a:pt x="0" y="242"/>
                </a:moveTo>
                <a:lnTo>
                  <a:pt x="16" y="241"/>
                </a:lnTo>
                <a:lnTo>
                  <a:pt x="33" y="237"/>
                </a:lnTo>
                <a:lnTo>
                  <a:pt x="49" y="232"/>
                </a:lnTo>
                <a:lnTo>
                  <a:pt x="65" y="224"/>
                </a:lnTo>
                <a:lnTo>
                  <a:pt x="82" y="215"/>
                </a:lnTo>
                <a:lnTo>
                  <a:pt x="98" y="204"/>
                </a:lnTo>
                <a:lnTo>
                  <a:pt x="114" y="192"/>
                </a:lnTo>
                <a:lnTo>
                  <a:pt x="131" y="179"/>
                </a:lnTo>
                <a:lnTo>
                  <a:pt x="147" y="165"/>
                </a:lnTo>
                <a:lnTo>
                  <a:pt x="164" y="151"/>
                </a:lnTo>
                <a:lnTo>
                  <a:pt x="180" y="136"/>
                </a:lnTo>
                <a:lnTo>
                  <a:pt x="196" y="121"/>
                </a:lnTo>
                <a:lnTo>
                  <a:pt x="213" y="106"/>
                </a:lnTo>
                <a:lnTo>
                  <a:pt x="229" y="91"/>
                </a:lnTo>
                <a:lnTo>
                  <a:pt x="246" y="77"/>
                </a:lnTo>
                <a:lnTo>
                  <a:pt x="262" y="63"/>
                </a:lnTo>
                <a:lnTo>
                  <a:pt x="278" y="50"/>
                </a:lnTo>
                <a:lnTo>
                  <a:pt x="295" y="38"/>
                </a:lnTo>
                <a:lnTo>
                  <a:pt x="311" y="27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7"/>
                </a:lnTo>
                <a:lnTo>
                  <a:pt x="344" y="12"/>
                </a:lnTo>
                <a:lnTo>
                  <a:pt x="327" y="20"/>
                </a:lnTo>
                <a:lnTo>
                  <a:pt x="311" y="29"/>
                </a:lnTo>
                <a:lnTo>
                  <a:pt x="295" y="40"/>
                </a:lnTo>
                <a:lnTo>
                  <a:pt x="278" y="52"/>
                </a:lnTo>
                <a:lnTo>
                  <a:pt x="262" y="65"/>
                </a:lnTo>
                <a:lnTo>
                  <a:pt x="246" y="79"/>
                </a:lnTo>
                <a:lnTo>
                  <a:pt x="229" y="93"/>
                </a:lnTo>
                <a:lnTo>
                  <a:pt x="213" y="108"/>
                </a:lnTo>
                <a:lnTo>
                  <a:pt x="196" y="123"/>
                </a:lnTo>
                <a:lnTo>
                  <a:pt x="180" y="138"/>
                </a:lnTo>
                <a:lnTo>
                  <a:pt x="164" y="153"/>
                </a:lnTo>
                <a:lnTo>
                  <a:pt x="147" y="168"/>
                </a:lnTo>
                <a:lnTo>
                  <a:pt x="131" y="181"/>
                </a:lnTo>
                <a:lnTo>
                  <a:pt x="114" y="194"/>
                </a:lnTo>
                <a:lnTo>
                  <a:pt x="98" y="206"/>
                </a:lnTo>
                <a:lnTo>
                  <a:pt x="82" y="217"/>
                </a:lnTo>
                <a:lnTo>
                  <a:pt x="65" y="226"/>
                </a:lnTo>
                <a:lnTo>
                  <a:pt x="49" y="234"/>
                </a:lnTo>
                <a:lnTo>
                  <a:pt x="33" y="239"/>
                </a:lnTo>
                <a:lnTo>
                  <a:pt x="16" y="243"/>
                </a:lnTo>
                <a:lnTo>
                  <a:pt x="0" y="244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Freeform 83"/>
          <p:cNvSpPr/>
          <p:nvPr/>
        </p:nvSpPr>
        <p:spPr>
          <a:xfrm>
            <a:off x="2057400" y="5314950"/>
            <a:ext cx="3743325" cy="1209675"/>
          </a:xfrm>
          <a:custGeom>
            <a:avLst/>
            <a:gdLst/>
            <a:ahLst/>
            <a:cxnLst/>
            <a:rect l="l" t="t" r="r" b="b"/>
            <a:pathLst>
              <a:path w="393" h="127">
                <a:moveTo>
                  <a:pt x="0" y="125"/>
                </a:moveTo>
                <a:lnTo>
                  <a:pt x="16" y="125"/>
                </a:lnTo>
                <a:lnTo>
                  <a:pt x="33" y="123"/>
                </a:lnTo>
                <a:lnTo>
                  <a:pt x="49" y="120"/>
                </a:lnTo>
                <a:lnTo>
                  <a:pt x="65" y="116"/>
                </a:lnTo>
                <a:lnTo>
                  <a:pt x="82" y="111"/>
                </a:lnTo>
                <a:lnTo>
                  <a:pt x="98" y="106"/>
                </a:lnTo>
                <a:lnTo>
                  <a:pt x="114" y="99"/>
                </a:lnTo>
                <a:lnTo>
                  <a:pt x="131" y="93"/>
                </a:lnTo>
                <a:lnTo>
                  <a:pt x="147" y="86"/>
                </a:lnTo>
                <a:lnTo>
                  <a:pt x="164" y="78"/>
                </a:lnTo>
                <a:lnTo>
                  <a:pt x="180" y="70"/>
                </a:lnTo>
                <a:lnTo>
                  <a:pt x="196" y="63"/>
                </a:lnTo>
                <a:lnTo>
                  <a:pt x="213" y="55"/>
                </a:lnTo>
                <a:lnTo>
                  <a:pt x="229" y="47"/>
                </a:lnTo>
                <a:lnTo>
                  <a:pt x="246" y="40"/>
                </a:lnTo>
                <a:lnTo>
                  <a:pt x="262" y="33"/>
                </a:lnTo>
                <a:lnTo>
                  <a:pt x="278" y="26"/>
                </a:lnTo>
                <a:lnTo>
                  <a:pt x="295" y="20"/>
                </a:lnTo>
                <a:lnTo>
                  <a:pt x="311" y="14"/>
                </a:lnTo>
                <a:lnTo>
                  <a:pt x="327" y="9"/>
                </a:lnTo>
                <a:lnTo>
                  <a:pt x="344" y="5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4"/>
                </a:lnTo>
                <a:lnTo>
                  <a:pt x="344" y="7"/>
                </a:lnTo>
                <a:lnTo>
                  <a:pt x="327" y="11"/>
                </a:lnTo>
                <a:lnTo>
                  <a:pt x="311" y="16"/>
                </a:lnTo>
                <a:lnTo>
                  <a:pt x="295" y="21"/>
                </a:lnTo>
                <a:lnTo>
                  <a:pt x="278" y="27"/>
                </a:lnTo>
                <a:lnTo>
                  <a:pt x="262" y="34"/>
                </a:lnTo>
                <a:lnTo>
                  <a:pt x="246" y="41"/>
                </a:lnTo>
                <a:lnTo>
                  <a:pt x="229" y="49"/>
                </a:lnTo>
                <a:lnTo>
                  <a:pt x="213" y="56"/>
                </a:lnTo>
                <a:lnTo>
                  <a:pt x="196" y="64"/>
                </a:lnTo>
                <a:lnTo>
                  <a:pt x="180" y="72"/>
                </a:lnTo>
                <a:lnTo>
                  <a:pt x="164" y="80"/>
                </a:lnTo>
                <a:lnTo>
                  <a:pt x="147" y="87"/>
                </a:lnTo>
                <a:lnTo>
                  <a:pt x="131" y="94"/>
                </a:lnTo>
                <a:lnTo>
                  <a:pt x="114" y="101"/>
                </a:lnTo>
                <a:lnTo>
                  <a:pt x="98" y="107"/>
                </a:lnTo>
                <a:lnTo>
                  <a:pt x="82" y="113"/>
                </a:lnTo>
                <a:lnTo>
                  <a:pt x="65" y="118"/>
                </a:lnTo>
                <a:lnTo>
                  <a:pt x="49" y="121"/>
                </a:lnTo>
                <a:lnTo>
                  <a:pt x="33" y="124"/>
                </a:lnTo>
                <a:lnTo>
                  <a:pt x="16" y="126"/>
                </a:lnTo>
                <a:lnTo>
                  <a:pt x="0" y="127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2057400" y="5953125"/>
            <a:ext cx="3743325" cy="581025"/>
          </a:xfrm>
          <a:custGeom>
            <a:avLst/>
            <a:gdLst/>
            <a:ahLst/>
            <a:cxnLst/>
            <a:rect l="l" t="t" r="r" b="b"/>
            <a:pathLst>
              <a:path w="393" h="61">
                <a:moveTo>
                  <a:pt x="0" y="60"/>
                </a:moveTo>
                <a:lnTo>
                  <a:pt x="16" y="59"/>
                </a:lnTo>
                <a:lnTo>
                  <a:pt x="33" y="59"/>
                </a:lnTo>
                <a:lnTo>
                  <a:pt x="49" y="57"/>
                </a:lnTo>
                <a:lnTo>
                  <a:pt x="65" y="55"/>
                </a:lnTo>
                <a:lnTo>
                  <a:pt x="82" y="53"/>
                </a:lnTo>
                <a:lnTo>
                  <a:pt x="98" y="50"/>
                </a:lnTo>
                <a:lnTo>
                  <a:pt x="114" y="47"/>
                </a:lnTo>
                <a:lnTo>
                  <a:pt x="131" y="44"/>
                </a:lnTo>
                <a:lnTo>
                  <a:pt x="147" y="41"/>
                </a:lnTo>
                <a:lnTo>
                  <a:pt x="164" y="37"/>
                </a:lnTo>
                <a:lnTo>
                  <a:pt x="180" y="33"/>
                </a:lnTo>
                <a:lnTo>
                  <a:pt x="196" y="30"/>
                </a:lnTo>
                <a:lnTo>
                  <a:pt x="213" y="26"/>
                </a:lnTo>
                <a:lnTo>
                  <a:pt x="229" y="22"/>
                </a:lnTo>
                <a:lnTo>
                  <a:pt x="246" y="19"/>
                </a:lnTo>
                <a:lnTo>
                  <a:pt x="262" y="15"/>
                </a:lnTo>
                <a:lnTo>
                  <a:pt x="278" y="12"/>
                </a:lnTo>
                <a:lnTo>
                  <a:pt x="295" y="9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0"/>
                </a:lnTo>
                <a:lnTo>
                  <a:pt x="377" y="1"/>
                </a:lnTo>
                <a:lnTo>
                  <a:pt x="360" y="2"/>
                </a:lnTo>
                <a:lnTo>
                  <a:pt x="344" y="3"/>
                </a:lnTo>
                <a:lnTo>
                  <a:pt x="327" y="5"/>
                </a:lnTo>
                <a:lnTo>
                  <a:pt x="311" y="7"/>
                </a:lnTo>
                <a:lnTo>
                  <a:pt x="295" y="10"/>
                </a:lnTo>
                <a:lnTo>
                  <a:pt x="278" y="13"/>
                </a:lnTo>
                <a:lnTo>
                  <a:pt x="262" y="16"/>
                </a:lnTo>
                <a:lnTo>
                  <a:pt x="246" y="20"/>
                </a:lnTo>
                <a:lnTo>
                  <a:pt x="229" y="23"/>
                </a:lnTo>
                <a:lnTo>
                  <a:pt x="213" y="27"/>
                </a:lnTo>
                <a:lnTo>
                  <a:pt x="196" y="31"/>
                </a:lnTo>
                <a:lnTo>
                  <a:pt x="180" y="34"/>
                </a:lnTo>
                <a:lnTo>
                  <a:pt x="164" y="38"/>
                </a:lnTo>
                <a:lnTo>
                  <a:pt x="147" y="42"/>
                </a:lnTo>
                <a:lnTo>
                  <a:pt x="131" y="45"/>
                </a:lnTo>
                <a:lnTo>
                  <a:pt x="114" y="48"/>
                </a:lnTo>
                <a:lnTo>
                  <a:pt x="98" y="51"/>
                </a:lnTo>
                <a:lnTo>
                  <a:pt x="82" y="54"/>
                </a:lnTo>
                <a:lnTo>
                  <a:pt x="65" y="56"/>
                </a:lnTo>
                <a:lnTo>
                  <a:pt x="49" y="58"/>
                </a:lnTo>
                <a:lnTo>
                  <a:pt x="33" y="59"/>
                </a:lnTo>
                <a:lnTo>
                  <a:pt x="16" y="60"/>
                </a:lnTo>
                <a:lnTo>
                  <a:pt x="0" y="61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reeform 85"/>
          <p:cNvSpPr/>
          <p:nvPr/>
        </p:nvSpPr>
        <p:spPr>
          <a:xfrm>
            <a:off x="2057400" y="6248400"/>
            <a:ext cx="3743325" cy="285750"/>
          </a:xfrm>
          <a:custGeom>
            <a:avLst/>
            <a:gdLst/>
            <a:ahLst/>
            <a:cxnLst/>
            <a:rect l="l" t="t" r="r" b="b"/>
            <a:pathLst>
              <a:path w="393" h="30">
                <a:moveTo>
                  <a:pt x="0" y="30"/>
                </a:moveTo>
                <a:lnTo>
                  <a:pt x="16" y="29"/>
                </a:lnTo>
                <a:lnTo>
                  <a:pt x="33" y="29"/>
                </a:lnTo>
                <a:lnTo>
                  <a:pt x="49" y="28"/>
                </a:lnTo>
                <a:lnTo>
                  <a:pt x="65" y="27"/>
                </a:lnTo>
                <a:lnTo>
                  <a:pt x="82" y="26"/>
                </a:lnTo>
                <a:lnTo>
                  <a:pt x="98" y="25"/>
                </a:lnTo>
                <a:lnTo>
                  <a:pt x="114" y="23"/>
                </a:lnTo>
                <a:lnTo>
                  <a:pt x="131" y="22"/>
                </a:lnTo>
                <a:lnTo>
                  <a:pt x="147" y="20"/>
                </a:lnTo>
                <a:lnTo>
                  <a:pt x="164" y="18"/>
                </a:lnTo>
                <a:lnTo>
                  <a:pt x="180" y="17"/>
                </a:lnTo>
                <a:lnTo>
                  <a:pt x="196" y="15"/>
                </a:lnTo>
                <a:lnTo>
                  <a:pt x="213" y="13"/>
                </a:lnTo>
                <a:lnTo>
                  <a:pt x="229" y="11"/>
                </a:lnTo>
                <a:lnTo>
                  <a:pt x="246" y="9"/>
                </a:lnTo>
                <a:lnTo>
                  <a:pt x="262" y="7"/>
                </a:lnTo>
                <a:lnTo>
                  <a:pt x="278" y="6"/>
                </a:lnTo>
                <a:lnTo>
                  <a:pt x="295" y="4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0"/>
                </a:lnTo>
                <a:lnTo>
                  <a:pt x="377" y="0"/>
                </a:lnTo>
                <a:lnTo>
                  <a:pt x="360" y="1"/>
                </a:lnTo>
                <a:lnTo>
                  <a:pt x="344" y="1"/>
                </a:lnTo>
                <a:lnTo>
                  <a:pt x="327" y="2"/>
                </a:lnTo>
                <a:lnTo>
                  <a:pt x="311" y="3"/>
                </a:lnTo>
                <a:lnTo>
                  <a:pt x="295" y="5"/>
                </a:lnTo>
                <a:lnTo>
                  <a:pt x="278" y="6"/>
                </a:lnTo>
                <a:lnTo>
                  <a:pt x="262" y="8"/>
                </a:lnTo>
                <a:lnTo>
                  <a:pt x="246" y="10"/>
                </a:lnTo>
                <a:lnTo>
                  <a:pt x="229" y="11"/>
                </a:lnTo>
                <a:lnTo>
                  <a:pt x="213" y="13"/>
                </a:lnTo>
                <a:lnTo>
                  <a:pt x="196" y="15"/>
                </a:lnTo>
                <a:lnTo>
                  <a:pt x="180" y="17"/>
                </a:lnTo>
                <a:lnTo>
                  <a:pt x="164" y="19"/>
                </a:lnTo>
                <a:lnTo>
                  <a:pt x="147" y="21"/>
                </a:lnTo>
                <a:lnTo>
                  <a:pt x="131" y="22"/>
                </a:lnTo>
                <a:lnTo>
                  <a:pt x="114" y="24"/>
                </a:lnTo>
                <a:lnTo>
                  <a:pt x="98" y="25"/>
                </a:lnTo>
                <a:lnTo>
                  <a:pt x="82" y="27"/>
                </a:lnTo>
                <a:lnTo>
                  <a:pt x="65" y="28"/>
                </a:lnTo>
                <a:lnTo>
                  <a:pt x="49" y="29"/>
                </a:lnTo>
                <a:lnTo>
                  <a:pt x="33" y="29"/>
                </a:lnTo>
                <a:lnTo>
                  <a:pt x="1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941195" y="1304925"/>
            <a:ext cx="114300" cy="737479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941195" y="2099554"/>
            <a:ext cx="114300" cy="475622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941195" y="2632326"/>
            <a:ext cx="114300" cy="39616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941195" y="3085645"/>
            <a:ext cx="114300" cy="381569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941195" y="3524364"/>
            <a:ext cx="114300" cy="339249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941195" y="3920762"/>
            <a:ext cx="114300" cy="323399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941195" y="4301312"/>
            <a:ext cx="114300" cy="311786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941195" y="4670248"/>
            <a:ext cx="114300" cy="310357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941195" y="5037756"/>
            <a:ext cx="114300" cy="24529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941195" y="5340201"/>
            <a:ext cx="114300" cy="226088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941195" y="5623439"/>
            <a:ext cx="114300" cy="226067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941195" y="5906656"/>
            <a:ext cx="114300" cy="182461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941195" y="6146267"/>
            <a:ext cx="114300" cy="114073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941195" y="6317491"/>
            <a:ext cx="114300" cy="87484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941195" y="6462125"/>
            <a:ext cx="114300" cy="720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800725" y="1590675"/>
            <a:ext cx="114300" cy="1301962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800725" y="2949787"/>
            <a:ext cx="114300" cy="1251416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5800725" y="4258353"/>
            <a:ext cx="114300" cy="1073228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5800725" y="5388731"/>
            <a:ext cx="114300" cy="568973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5800725" y="6014855"/>
            <a:ext cx="114300" cy="23354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257175" y="1602227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257175" y="221354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09" name="TextBox 108"/>
          <p:cNvSpPr txBox="1"/>
          <p:nvPr/>
        </p:nvSpPr>
        <p:spPr>
          <a:xfrm>
            <a:off x="257175" y="270658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257175" y="3152604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257175" y="3622551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57175" y="3958637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57175" y="433338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4" name="TextBox 113"/>
          <p:cNvSpPr txBox="1"/>
          <p:nvPr/>
        </p:nvSpPr>
        <p:spPr>
          <a:xfrm>
            <a:off x="257175" y="469582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257175" y="49530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257175" y="521017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257175" y="5467350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8" name="TextBox 117"/>
          <p:cNvSpPr txBox="1"/>
          <p:nvPr/>
        </p:nvSpPr>
        <p:spPr>
          <a:xfrm>
            <a:off x="257175" y="561975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257175" y="587692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20" name="TextBox 119"/>
          <p:cNvSpPr txBox="1"/>
          <p:nvPr/>
        </p:nvSpPr>
        <p:spPr>
          <a:xfrm>
            <a:off x="257175" y="61341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257175" y="6391275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5972175" y="2117831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3" name="TextBox 122"/>
          <p:cNvSpPr txBox="1"/>
          <p:nvPr/>
        </p:nvSpPr>
        <p:spPr>
          <a:xfrm>
            <a:off x="5972175" y="3451670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5972175" y="4671142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5" name="TextBox 124"/>
          <p:cNvSpPr txBox="1"/>
          <p:nvPr/>
        </p:nvSpPr>
        <p:spPr>
          <a:xfrm>
            <a:off x="5972175" y="5549393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5972175" y="6007802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7" name="Rounded Rectangle 126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31" name="TextBox 1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524297" y="1613314"/>
            <a:ext cx="130599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1606273"/>
            <a:ext cx="92663" cy="134782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658183" y="2216664"/>
            <a:ext cx="120681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Corrugated liner pre-printing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356866" y="2337365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330324"/>
            <a:ext cx="92663" cy="13478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358592" y="2709709"/>
            <a:ext cx="150640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Specialty box-forming and assembly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356866" y="2830410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823369"/>
            <a:ext cx="92663" cy="134782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365563" y="3216078"/>
            <a:ext cx="146473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Double facers and gluing systems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209037"/>
            <a:ext cx="92663" cy="13478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231725" y="3633638"/>
            <a:ext cx="59856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Single facers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626597"/>
            <a:ext cx="92663" cy="13478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25774" y="3961761"/>
            <a:ext cx="133922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slotting, scoring and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989302" y="4082462"/>
            <a:ext cx="84099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creasing machines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075421"/>
            <a:ext cx="92663" cy="134782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353484" y="4336504"/>
            <a:ext cx="15115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Slitter-scorers, cut-off machines and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45886" y="4457205"/>
            <a:ext cx="8844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corrugator stackers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450164"/>
            <a:ext cx="92663" cy="13478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315176" y="4698949"/>
            <a:ext cx="154981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Flute laminating and sheet-mounting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1356866" y="4819650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812609"/>
            <a:ext cx="92663" cy="13478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27929" y="4956124"/>
            <a:ext cx="123706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flexo printing and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738038" y="5076825"/>
            <a:ext cx="109225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 machines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069784"/>
            <a:ext cx="92663" cy="134782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340518" y="5213299"/>
            <a:ext cx="152447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326959"/>
            <a:ext cx="92663" cy="13478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722912" y="5478437"/>
            <a:ext cx="110738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471396"/>
            <a:ext cx="92663" cy="13478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30287" y="5622874"/>
            <a:ext cx="123470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Stitching and box-joint taping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1356866" y="5743575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736534"/>
            <a:ext cx="92663" cy="134782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1195286" y="5880049"/>
            <a:ext cx="6697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Integrated flexo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97383" y="6000750"/>
            <a:ext cx="13329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printer-slotter-die-cutter lines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993709"/>
            <a:ext cx="92663" cy="13478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340125" y="6137224"/>
            <a:ext cx="152486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Reel stands, splicers, preheaters and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10147" y="6257925"/>
            <a:ext cx="122014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other corrugator auxiliaries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250884"/>
            <a:ext cx="92663" cy="134782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482257" y="6402362"/>
            <a:ext cx="134803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flatbed die-cutters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395321"/>
            <a:ext cx="92663" cy="134782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5972175" y="2120955"/>
            <a:ext cx="102388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Captive / In-house Box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972175" y="2241656"/>
            <a:ext cx="9390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Manufacturing Units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2458" y="2234615"/>
            <a:ext cx="92663" cy="134782"/>
          </a:xfrm>
          <a:prstGeom prst="rect">
            <a:avLst/>
          </a:prstGeom>
        </p:spPr>
      </p:pic>
      <p:sp>
        <p:nvSpPr>
          <p:cNvPr id="174" name="TextBox 173"/>
          <p:cNvSpPr txBox="1"/>
          <p:nvPr/>
        </p:nvSpPr>
        <p:spPr>
          <a:xfrm>
            <a:off x="5972175" y="3454794"/>
            <a:ext cx="1335464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Independent Sheet Plants and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972175" y="3575495"/>
            <a:ext cx="71231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Box Converters</a:t>
            </a:r>
          </a:p>
        </p:txBody>
      </p:sp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5751" y="3568454"/>
            <a:ext cx="92663" cy="134782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5972175" y="4674266"/>
            <a:ext cx="136207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Independent Corrugated Sheet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972175" y="4794967"/>
            <a:ext cx="40425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Feeders</a:t>
            </a:r>
          </a:p>
        </p:txBody>
      </p:sp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7691" y="4787926"/>
            <a:ext cx="92663" cy="134782"/>
          </a:xfrm>
          <a:prstGeom prst="rect">
            <a:avLst/>
          </a:prstGeom>
        </p:spPr>
      </p:pic>
      <p:sp>
        <p:nvSpPr>
          <p:cNvPr id="180" name="TextBox 179"/>
          <p:cNvSpPr txBox="1"/>
          <p:nvPr/>
        </p:nvSpPr>
        <p:spPr>
          <a:xfrm>
            <a:off x="5972175" y="5552517"/>
            <a:ext cx="110973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Contract and Third-party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972175" y="5673218"/>
            <a:ext cx="113724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Packaging Manufacturers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50679" y="5666177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5972175" y="6010926"/>
            <a:ext cx="1148244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Integrated Board and Box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5972175" y="6131627"/>
            <a:ext cx="69679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Manufacturers</a:t>
            </a:r>
          </a:p>
        </p:txBody>
      </p:sp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10231" y="6124586"/>
            <a:ext cx="92663" cy="134782"/>
          </a:xfrm>
          <a:prstGeom prst="rect">
            <a:avLst/>
          </a:prstGeom>
        </p:spPr>
      </p:pic>
      <p:sp>
        <p:nvSpPr>
          <p:cNvPr id="186" name="TextBox 185"/>
          <p:cNvSpPr txBox="1"/>
          <p:nvPr/>
        </p:nvSpPr>
        <p:spPr>
          <a:xfrm>
            <a:off x="7715250" y="14001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Standalone rotary die-cutters segment is projected to account for the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7715250" y="1575435"/>
            <a:ext cx="3866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largest share of the global corrugated box packaging equipment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7715250" y="1750695"/>
            <a:ext cx="40780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led by independent sheet plants and box converters at US$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01170" y="1915731"/>
            <a:ext cx="134549" cy="195707"/>
          </a:xfrm>
          <a:prstGeom prst="rect">
            <a:avLst/>
          </a:prstGeom>
        </p:spPr>
      </p:pic>
      <p:sp>
        <p:nvSpPr>
          <p:cNvPr id="190" name="TextBox 189"/>
          <p:cNvSpPr txBox="1"/>
          <p:nvPr/>
        </p:nvSpPr>
        <p:spPr>
          <a:xfrm>
            <a:off x="7876279" y="1925955"/>
            <a:ext cx="38247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in 2036. 'Standalone rotary die-cutters × Captive / In-house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7715250" y="2101215"/>
            <a:ext cx="39779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Box Manufacturing Units' is the single largest cross-sectional cell (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42306" y="2090991"/>
            <a:ext cx="134549" cy="195707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7715250" y="2276475"/>
            <a:ext cx="39356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'Stitching and box-joint taping machines ×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7715250" y="2451735"/>
            <a:ext cx="39779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Independent Sheet Plants and Box Converters' records the fastest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7715250" y="2626995"/>
            <a:ext cx="12796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growth at a CAGR of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44072" y="2616771"/>
            <a:ext cx="134549" cy="195707"/>
          </a:xfrm>
          <a:prstGeom prst="rect">
            <a:avLst/>
          </a:prstGeom>
        </p:spPr>
      </p:pic>
      <p:sp>
        <p:nvSpPr>
          <p:cNvPr id="197" name="TextBox 196"/>
          <p:cNvSpPr txBox="1"/>
          <p:nvPr/>
        </p:nvSpPr>
        <p:spPr>
          <a:xfrm>
            <a:off x="9119181" y="2626995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7715250" y="2854832"/>
            <a:ext cx="38175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Combined, the top three equipment type × customer type cells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7715250" y="3030092"/>
            <a:ext cx="23405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generate an absolute $ opportunity of</a:t>
            </a:r>
          </a:p>
        </p:txBody>
      </p:sp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04949" y="3019869"/>
            <a:ext cx="134549" cy="195707"/>
          </a:xfrm>
          <a:prstGeom prst="rect">
            <a:avLst/>
          </a:prstGeom>
        </p:spPr>
      </p:pic>
      <p:sp>
        <p:nvSpPr>
          <p:cNvPr id="201" name="TextBox 200"/>
          <p:cNvSpPr txBox="1"/>
          <p:nvPr/>
        </p:nvSpPr>
        <p:spPr>
          <a:xfrm>
            <a:off x="10180058" y="3030092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Equipment Type × Customer Type, 2026E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229225"/>
          </a:xfrm>
          <a:prstGeom prst="roundRect">
            <a:avLst>
              <a:gd name="adj" fmla="val 145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Equipment Type × Customer Type, 2026E (% of each row)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4762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7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1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535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998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176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380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244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0102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8095" y="376504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Equipment Type × Customer Type, 2026E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Customer Type Mix by Equipment Type, 2026E (% share)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70961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49814" y="2851975"/>
            <a:ext cx="165021" cy="2400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7715250" y="14001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'Captive / In-house Box Manufacturing Units' holds the highest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15250" y="1575435"/>
            <a:ext cx="22518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'Standalone flatbed die-cutters'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6235" y="156521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0091344" y="1575435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715250" y="1803273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flatbed die-cutters' is the most concentrated equipment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715250" y="1978533"/>
            <a:ext cx="14765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sub-segment, with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40915" y="1968309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9316024" y="1978533"/>
            <a:ext cx="23305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'Captive / In-house Box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715250" y="2153793"/>
            <a:ext cx="13692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Manufacturing Units'.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2381631"/>
            <a:ext cx="33951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'Independent Sheet Plants and Box Converters' gains 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59533" y="237140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1234642" y="2381631"/>
            <a:ext cx="4530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15250" y="2556891"/>
            <a:ext cx="26255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of the Global cross-section by 2036F.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266825"/>
            <a:ext cx="70961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Equipment Type × Customer Type, 2026E–2036F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476875"/>
          </a:xfrm>
          <a:prstGeom prst="roundRect">
            <a:avLst>
              <a:gd name="adj" fmla="val 139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Equipment Type × Customer Type, 2026E–2036F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50101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200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824484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Integrated Board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Corrugated Sheet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 Sheet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Plants and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Captive / In-house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Manufacturing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Contract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Third-party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216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2579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69353" y="401197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Equipment Type × Customer Type, 2026E–2036F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600700" cy="5648325"/>
          </a:xfrm>
          <a:prstGeom prst="roundRect">
            <a:avLst>
              <a:gd name="adj" fmla="val 13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334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5895975" y="981075"/>
            <a:ext cx="1943100" cy="56483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029325" y="10668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029325" y="13049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029325" y="1390650"/>
            <a:ext cx="16764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7991475" y="981075"/>
            <a:ext cx="1943100" cy="56483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8124825" y="10668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124825" y="13049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124825" y="1390650"/>
            <a:ext cx="16764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10086975" y="981075"/>
            <a:ext cx="1943100" cy="56483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0220325" y="10668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0220325" y="13049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10220325" y="1390650"/>
            <a:ext cx="16764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'Slitter-scorers, cut-off machines and corrugator stackers × Independent Sheet Plants and Box Converters' ranks highest (5/5); 'Single facers × Integrated Board and Box Manufacturers' lowest (1/5), a deprioritised cell.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1400175"/>
            <a:ext cx="50199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Standalone rotary die-cutters × Independent Sheet Plants and Box Converters –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5314" y="138995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420423" y="1400175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156521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37254" y="1575435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03273"/>
            <a:ext cx="46382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Standalone rotary die-cutters × Independent Corrugated Sheet Feeders –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63613" y="179304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5038722" y="1803273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0874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275983" y="1803273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1978533"/>
            <a:ext cx="2810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2206371"/>
            <a:ext cx="48924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Standalone rotary die-cutters × Captive / In-house Box Manufacturing Units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17805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292915" y="2206371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2371407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37254" y="2381631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2609469"/>
            <a:ext cx="47994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Corrugated liner pre-printing machines × Independent Sheet Plants and Box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2784729"/>
            <a:ext cx="8332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 –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8642" y="277450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233752" y="2784729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903" y="277450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471013" y="2784729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012566"/>
            <a:ext cx="52164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Specialty box-forming and assembly machines × Independent Sheet Plants and Box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187826"/>
            <a:ext cx="8332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 –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8642" y="31776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233752" y="3187826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903" y="3177603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471013" y="3187826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029325" y="1400175"/>
            <a:ext cx="12600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rotary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029325" y="1575435"/>
            <a:ext cx="16251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die-cutters × Independent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029325" y="1750695"/>
            <a:ext cx="13190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Sheet Plants and Box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1925955"/>
            <a:ext cx="10731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Converters' adds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51641" y="1915731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7226750" y="1925955"/>
            <a:ext cx="311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2101215"/>
            <a:ext cx="9564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2090991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7110081" y="2101215"/>
            <a:ext cx="4293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2276475"/>
            <a:ext cx="11347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24825" y="1400175"/>
            <a:ext cx="15327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'Stitching and box-joint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1575435"/>
            <a:ext cx="11553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taping machines ×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1750695"/>
            <a:ext cx="16071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Independent Sheet Plants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1925955"/>
            <a:ext cx="1657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Box Converters' grows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2101215"/>
            <a:ext cx="2981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72106" y="2090991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547215" y="2101215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42811" y="2090991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9117920" y="2101215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2276475"/>
            <a:ext cx="15170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the cross-section.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 × End Use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Equipment Type × End Use, 2026E vs 2036F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equipment type sub-segment across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391025"/>
          </a:xfrm>
          <a:prstGeom prst="roundRect">
            <a:avLst>
              <a:gd name="adj" fmla="val 17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Equipment Type × End Use, 2026E and 2036F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908767" cy="39242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13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1293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017270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of-sale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49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95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auxiliaries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1720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99060" y="356570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Equipment Type × End Use, 2026E vs 2036F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equipment type sub-segment across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209925"/>
          </a:xfrm>
          <a:prstGeom prst="roundRect">
            <a:avLst>
              <a:gd name="adj" fmla="val 23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Equipment Type × End Use, 2026E and 2036F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9664" cy="2743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949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3289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2797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7220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7467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017270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point-of-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6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909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4085" y="29750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Equipment Type × End Use, 2026E vs 2036F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equipment type sub-segment across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Flow, Equipment Type → End Use, 2036F (US$ Mn)</a:t>
            </a:r>
          </a:p>
        </p:txBody>
      </p:sp>
      <p:sp>
        <p:nvSpPr>
          <p:cNvPr id="12" name="Freeform 11"/>
          <p:cNvSpPr/>
          <p:nvPr/>
        </p:nvSpPr>
        <p:spPr>
          <a:xfrm>
            <a:off x="2057400" y="1304925"/>
            <a:ext cx="3743325" cy="257175"/>
          </a:xfrm>
          <a:custGeom>
            <a:avLst/>
            <a:gdLst/>
            <a:ahLst/>
            <a:cxnLst/>
            <a:rect l="l" t="t" r="r" b="b"/>
            <a:pathLst>
              <a:path w="393" h="27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5"/>
                </a:lnTo>
                <a:lnTo>
                  <a:pt x="147" y="6"/>
                </a:lnTo>
                <a:lnTo>
                  <a:pt x="164" y="7"/>
                </a:lnTo>
                <a:lnTo>
                  <a:pt x="180" y="8"/>
                </a:lnTo>
                <a:lnTo>
                  <a:pt x="196" y="9"/>
                </a:lnTo>
                <a:lnTo>
                  <a:pt x="213" y="10"/>
                </a:lnTo>
                <a:lnTo>
                  <a:pt x="229" y="11"/>
                </a:lnTo>
                <a:lnTo>
                  <a:pt x="246" y="12"/>
                </a:lnTo>
                <a:lnTo>
                  <a:pt x="262" y="13"/>
                </a:lnTo>
                <a:lnTo>
                  <a:pt x="278" y="14"/>
                </a:lnTo>
                <a:lnTo>
                  <a:pt x="295" y="15"/>
                </a:lnTo>
                <a:lnTo>
                  <a:pt x="311" y="16"/>
                </a:lnTo>
                <a:lnTo>
                  <a:pt x="327" y="17"/>
                </a:lnTo>
                <a:lnTo>
                  <a:pt x="344" y="17"/>
                </a:lnTo>
                <a:lnTo>
                  <a:pt x="360" y="18"/>
                </a:lnTo>
                <a:lnTo>
                  <a:pt x="377" y="18"/>
                </a:lnTo>
                <a:lnTo>
                  <a:pt x="393" y="18"/>
                </a:lnTo>
                <a:lnTo>
                  <a:pt x="393" y="27"/>
                </a:lnTo>
                <a:lnTo>
                  <a:pt x="377" y="27"/>
                </a:lnTo>
                <a:lnTo>
                  <a:pt x="360" y="27"/>
                </a:lnTo>
                <a:lnTo>
                  <a:pt x="344" y="26"/>
                </a:lnTo>
                <a:lnTo>
                  <a:pt x="327" y="26"/>
                </a:lnTo>
                <a:lnTo>
                  <a:pt x="311" y="25"/>
                </a:lnTo>
                <a:lnTo>
                  <a:pt x="295" y="24"/>
                </a:lnTo>
                <a:lnTo>
                  <a:pt x="278" y="23"/>
                </a:lnTo>
                <a:lnTo>
                  <a:pt x="262" y="22"/>
                </a:lnTo>
                <a:lnTo>
                  <a:pt x="246" y="21"/>
                </a:lnTo>
                <a:lnTo>
                  <a:pt x="229" y="20"/>
                </a:lnTo>
                <a:lnTo>
                  <a:pt x="213" y="19"/>
                </a:lnTo>
                <a:lnTo>
                  <a:pt x="196" y="18"/>
                </a:lnTo>
                <a:lnTo>
                  <a:pt x="180" y="17"/>
                </a:lnTo>
                <a:lnTo>
                  <a:pt x="164" y="16"/>
                </a:lnTo>
                <a:lnTo>
                  <a:pt x="147" y="15"/>
                </a:lnTo>
                <a:lnTo>
                  <a:pt x="131" y="14"/>
                </a:lnTo>
                <a:lnTo>
                  <a:pt x="114" y="13"/>
                </a:lnTo>
                <a:lnTo>
                  <a:pt x="98" y="12"/>
                </a:lnTo>
                <a:lnTo>
                  <a:pt x="82" y="11"/>
                </a:lnTo>
                <a:lnTo>
                  <a:pt x="65" y="10"/>
                </a:lnTo>
                <a:lnTo>
                  <a:pt x="49" y="10"/>
                </a:lnTo>
                <a:lnTo>
                  <a:pt x="33" y="9"/>
                </a:lnTo>
                <a:lnTo>
                  <a:pt x="16" y="9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Freeform 12"/>
          <p:cNvSpPr/>
          <p:nvPr/>
        </p:nvSpPr>
        <p:spPr>
          <a:xfrm>
            <a:off x="2057400" y="1390650"/>
            <a:ext cx="3743325" cy="714375"/>
          </a:xfrm>
          <a:custGeom>
            <a:avLst/>
            <a:gdLst/>
            <a:ahLst/>
            <a:cxnLst/>
            <a:rect l="l" t="t" r="r" b="b"/>
            <a:pathLst>
              <a:path w="393" h="75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5"/>
                </a:lnTo>
                <a:lnTo>
                  <a:pt x="82" y="8"/>
                </a:lnTo>
                <a:lnTo>
                  <a:pt x="98" y="10"/>
                </a:lnTo>
                <a:lnTo>
                  <a:pt x="114" y="14"/>
                </a:lnTo>
                <a:lnTo>
                  <a:pt x="131" y="17"/>
                </a:lnTo>
                <a:lnTo>
                  <a:pt x="147" y="21"/>
                </a:lnTo>
                <a:lnTo>
                  <a:pt x="164" y="25"/>
                </a:lnTo>
                <a:lnTo>
                  <a:pt x="180" y="29"/>
                </a:lnTo>
                <a:lnTo>
                  <a:pt x="196" y="33"/>
                </a:lnTo>
                <a:lnTo>
                  <a:pt x="213" y="38"/>
                </a:lnTo>
                <a:lnTo>
                  <a:pt x="229" y="42"/>
                </a:lnTo>
                <a:lnTo>
                  <a:pt x="246" y="46"/>
                </a:lnTo>
                <a:lnTo>
                  <a:pt x="262" y="49"/>
                </a:lnTo>
                <a:lnTo>
                  <a:pt x="278" y="53"/>
                </a:lnTo>
                <a:lnTo>
                  <a:pt x="295" y="56"/>
                </a:lnTo>
                <a:lnTo>
                  <a:pt x="311" y="59"/>
                </a:lnTo>
                <a:lnTo>
                  <a:pt x="327" y="62"/>
                </a:lnTo>
                <a:lnTo>
                  <a:pt x="344" y="64"/>
                </a:lnTo>
                <a:lnTo>
                  <a:pt x="360" y="65"/>
                </a:lnTo>
                <a:lnTo>
                  <a:pt x="377" y="66"/>
                </a:lnTo>
                <a:lnTo>
                  <a:pt x="393" y="67"/>
                </a:lnTo>
                <a:lnTo>
                  <a:pt x="393" y="75"/>
                </a:lnTo>
                <a:lnTo>
                  <a:pt x="377" y="75"/>
                </a:lnTo>
                <a:lnTo>
                  <a:pt x="360" y="74"/>
                </a:lnTo>
                <a:lnTo>
                  <a:pt x="344" y="73"/>
                </a:lnTo>
                <a:lnTo>
                  <a:pt x="327" y="70"/>
                </a:lnTo>
                <a:lnTo>
                  <a:pt x="311" y="68"/>
                </a:lnTo>
                <a:lnTo>
                  <a:pt x="295" y="65"/>
                </a:lnTo>
                <a:lnTo>
                  <a:pt x="278" y="62"/>
                </a:lnTo>
                <a:lnTo>
                  <a:pt x="262" y="58"/>
                </a:lnTo>
                <a:lnTo>
                  <a:pt x="246" y="54"/>
                </a:lnTo>
                <a:lnTo>
                  <a:pt x="229" y="50"/>
                </a:lnTo>
                <a:lnTo>
                  <a:pt x="213" y="46"/>
                </a:lnTo>
                <a:lnTo>
                  <a:pt x="196" y="42"/>
                </a:lnTo>
                <a:lnTo>
                  <a:pt x="180" y="38"/>
                </a:lnTo>
                <a:lnTo>
                  <a:pt x="164" y="34"/>
                </a:lnTo>
                <a:lnTo>
                  <a:pt x="147" y="30"/>
                </a:lnTo>
                <a:lnTo>
                  <a:pt x="131" y="26"/>
                </a:lnTo>
                <a:lnTo>
                  <a:pt x="114" y="22"/>
                </a:lnTo>
                <a:lnTo>
                  <a:pt x="98" y="19"/>
                </a:lnTo>
                <a:lnTo>
                  <a:pt x="82" y="16"/>
                </a:lnTo>
                <a:lnTo>
                  <a:pt x="65" y="14"/>
                </a:lnTo>
                <a:lnTo>
                  <a:pt x="49" y="12"/>
                </a:lnTo>
                <a:lnTo>
                  <a:pt x="33" y="10"/>
                </a:lnTo>
                <a:lnTo>
                  <a:pt x="16" y="9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Freeform 13"/>
          <p:cNvSpPr/>
          <p:nvPr/>
        </p:nvSpPr>
        <p:spPr>
          <a:xfrm>
            <a:off x="2057400" y="1476375"/>
            <a:ext cx="3743325" cy="1181100"/>
          </a:xfrm>
          <a:custGeom>
            <a:avLst/>
            <a:gdLst/>
            <a:ahLst/>
            <a:cxnLst/>
            <a:rect l="l" t="t" r="r" b="b"/>
            <a:pathLst>
              <a:path w="393" h="124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5"/>
                </a:lnTo>
                <a:lnTo>
                  <a:pt x="65" y="8"/>
                </a:lnTo>
                <a:lnTo>
                  <a:pt x="82" y="13"/>
                </a:lnTo>
                <a:lnTo>
                  <a:pt x="98" y="18"/>
                </a:lnTo>
                <a:lnTo>
                  <a:pt x="114" y="24"/>
                </a:lnTo>
                <a:lnTo>
                  <a:pt x="131" y="30"/>
                </a:lnTo>
                <a:lnTo>
                  <a:pt x="147" y="36"/>
                </a:lnTo>
                <a:lnTo>
                  <a:pt x="164" y="43"/>
                </a:lnTo>
                <a:lnTo>
                  <a:pt x="180" y="50"/>
                </a:lnTo>
                <a:lnTo>
                  <a:pt x="196" y="58"/>
                </a:lnTo>
                <a:lnTo>
                  <a:pt x="213" y="65"/>
                </a:lnTo>
                <a:lnTo>
                  <a:pt x="229" y="72"/>
                </a:lnTo>
                <a:lnTo>
                  <a:pt x="246" y="79"/>
                </a:lnTo>
                <a:lnTo>
                  <a:pt x="262" y="85"/>
                </a:lnTo>
                <a:lnTo>
                  <a:pt x="278" y="92"/>
                </a:lnTo>
                <a:lnTo>
                  <a:pt x="295" y="97"/>
                </a:lnTo>
                <a:lnTo>
                  <a:pt x="311" y="102"/>
                </a:lnTo>
                <a:lnTo>
                  <a:pt x="327" y="107"/>
                </a:lnTo>
                <a:lnTo>
                  <a:pt x="344" y="110"/>
                </a:lnTo>
                <a:lnTo>
                  <a:pt x="360" y="113"/>
                </a:lnTo>
                <a:lnTo>
                  <a:pt x="377" y="115"/>
                </a:lnTo>
                <a:lnTo>
                  <a:pt x="393" y="115"/>
                </a:lnTo>
                <a:lnTo>
                  <a:pt x="393" y="124"/>
                </a:lnTo>
                <a:lnTo>
                  <a:pt x="377" y="123"/>
                </a:lnTo>
                <a:lnTo>
                  <a:pt x="360" y="122"/>
                </a:lnTo>
                <a:lnTo>
                  <a:pt x="344" y="119"/>
                </a:lnTo>
                <a:lnTo>
                  <a:pt x="327" y="115"/>
                </a:lnTo>
                <a:lnTo>
                  <a:pt x="311" y="111"/>
                </a:lnTo>
                <a:lnTo>
                  <a:pt x="295" y="106"/>
                </a:lnTo>
                <a:lnTo>
                  <a:pt x="278" y="100"/>
                </a:lnTo>
                <a:lnTo>
                  <a:pt x="262" y="94"/>
                </a:lnTo>
                <a:lnTo>
                  <a:pt x="246" y="87"/>
                </a:lnTo>
                <a:lnTo>
                  <a:pt x="229" y="81"/>
                </a:lnTo>
                <a:lnTo>
                  <a:pt x="213" y="73"/>
                </a:lnTo>
                <a:lnTo>
                  <a:pt x="196" y="66"/>
                </a:lnTo>
                <a:lnTo>
                  <a:pt x="180" y="59"/>
                </a:lnTo>
                <a:lnTo>
                  <a:pt x="164" y="52"/>
                </a:lnTo>
                <a:lnTo>
                  <a:pt x="147" y="45"/>
                </a:lnTo>
                <a:lnTo>
                  <a:pt x="131" y="38"/>
                </a:lnTo>
                <a:lnTo>
                  <a:pt x="114" y="32"/>
                </a:lnTo>
                <a:lnTo>
                  <a:pt x="98" y="26"/>
                </a:lnTo>
                <a:lnTo>
                  <a:pt x="82" y="21"/>
                </a:lnTo>
                <a:lnTo>
                  <a:pt x="65" y="17"/>
                </a:lnTo>
                <a:lnTo>
                  <a:pt x="49" y="13"/>
                </a:lnTo>
                <a:lnTo>
                  <a:pt x="33" y="11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reeform 14"/>
          <p:cNvSpPr/>
          <p:nvPr/>
        </p:nvSpPr>
        <p:spPr>
          <a:xfrm>
            <a:off x="2057400" y="1552575"/>
            <a:ext cx="3743325" cy="1647825"/>
          </a:xfrm>
          <a:custGeom>
            <a:avLst/>
            <a:gdLst/>
            <a:ahLst/>
            <a:cxnLst/>
            <a:rect l="l" t="t" r="r" b="b"/>
            <a:pathLst>
              <a:path w="393" h="173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7"/>
                </a:lnTo>
                <a:lnTo>
                  <a:pt x="65" y="13"/>
                </a:lnTo>
                <a:lnTo>
                  <a:pt x="82" y="19"/>
                </a:lnTo>
                <a:lnTo>
                  <a:pt x="98" y="26"/>
                </a:lnTo>
                <a:lnTo>
                  <a:pt x="114" y="34"/>
                </a:lnTo>
                <a:lnTo>
                  <a:pt x="131" y="43"/>
                </a:lnTo>
                <a:lnTo>
                  <a:pt x="147" y="52"/>
                </a:lnTo>
                <a:lnTo>
                  <a:pt x="164" y="62"/>
                </a:lnTo>
                <a:lnTo>
                  <a:pt x="180" y="72"/>
                </a:lnTo>
                <a:lnTo>
                  <a:pt x="196" y="83"/>
                </a:lnTo>
                <a:lnTo>
                  <a:pt x="213" y="93"/>
                </a:lnTo>
                <a:lnTo>
                  <a:pt x="229" y="103"/>
                </a:lnTo>
                <a:lnTo>
                  <a:pt x="246" y="113"/>
                </a:lnTo>
                <a:lnTo>
                  <a:pt x="262" y="122"/>
                </a:lnTo>
                <a:lnTo>
                  <a:pt x="278" y="131"/>
                </a:lnTo>
                <a:lnTo>
                  <a:pt x="295" y="139"/>
                </a:lnTo>
                <a:lnTo>
                  <a:pt x="311" y="147"/>
                </a:lnTo>
                <a:lnTo>
                  <a:pt x="327" y="153"/>
                </a:lnTo>
                <a:lnTo>
                  <a:pt x="344" y="158"/>
                </a:lnTo>
                <a:lnTo>
                  <a:pt x="360" y="162"/>
                </a:lnTo>
                <a:lnTo>
                  <a:pt x="377" y="164"/>
                </a:lnTo>
                <a:lnTo>
                  <a:pt x="393" y="165"/>
                </a:lnTo>
                <a:lnTo>
                  <a:pt x="393" y="173"/>
                </a:lnTo>
                <a:lnTo>
                  <a:pt x="377" y="173"/>
                </a:lnTo>
                <a:lnTo>
                  <a:pt x="360" y="170"/>
                </a:lnTo>
                <a:lnTo>
                  <a:pt x="344" y="166"/>
                </a:lnTo>
                <a:lnTo>
                  <a:pt x="327" y="161"/>
                </a:lnTo>
                <a:lnTo>
                  <a:pt x="311" y="155"/>
                </a:lnTo>
                <a:lnTo>
                  <a:pt x="295" y="148"/>
                </a:lnTo>
                <a:lnTo>
                  <a:pt x="278" y="140"/>
                </a:lnTo>
                <a:lnTo>
                  <a:pt x="262" y="131"/>
                </a:lnTo>
                <a:lnTo>
                  <a:pt x="246" y="121"/>
                </a:lnTo>
                <a:lnTo>
                  <a:pt x="229" y="111"/>
                </a:lnTo>
                <a:lnTo>
                  <a:pt x="213" y="101"/>
                </a:lnTo>
                <a:lnTo>
                  <a:pt x="196" y="91"/>
                </a:lnTo>
                <a:lnTo>
                  <a:pt x="180" y="81"/>
                </a:lnTo>
                <a:lnTo>
                  <a:pt x="164" y="71"/>
                </a:lnTo>
                <a:lnTo>
                  <a:pt x="147" y="61"/>
                </a:lnTo>
                <a:lnTo>
                  <a:pt x="131" y="51"/>
                </a:lnTo>
                <a:lnTo>
                  <a:pt x="114" y="43"/>
                </a:lnTo>
                <a:lnTo>
                  <a:pt x="98" y="35"/>
                </a:lnTo>
                <a:lnTo>
                  <a:pt x="82" y="27"/>
                </a:lnTo>
                <a:lnTo>
                  <a:pt x="65" y="21"/>
                </a:lnTo>
                <a:lnTo>
                  <a:pt x="49" y="16"/>
                </a:lnTo>
                <a:lnTo>
                  <a:pt x="33" y="12"/>
                </a:lnTo>
                <a:lnTo>
                  <a:pt x="16" y="10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Freeform 15"/>
          <p:cNvSpPr/>
          <p:nvPr/>
        </p:nvSpPr>
        <p:spPr>
          <a:xfrm>
            <a:off x="2057400" y="1638300"/>
            <a:ext cx="3743325" cy="2114550"/>
          </a:xfrm>
          <a:custGeom>
            <a:avLst/>
            <a:gdLst/>
            <a:ahLst/>
            <a:cxnLst/>
            <a:rect l="l" t="t" r="r" b="b"/>
            <a:pathLst>
              <a:path w="393" h="222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6"/>
                </a:lnTo>
                <a:lnTo>
                  <a:pt x="82" y="24"/>
                </a:lnTo>
                <a:lnTo>
                  <a:pt x="98" y="33"/>
                </a:lnTo>
                <a:lnTo>
                  <a:pt x="114" y="44"/>
                </a:lnTo>
                <a:lnTo>
                  <a:pt x="131" y="55"/>
                </a:lnTo>
                <a:lnTo>
                  <a:pt x="147" y="67"/>
                </a:lnTo>
                <a:lnTo>
                  <a:pt x="164" y="80"/>
                </a:lnTo>
                <a:lnTo>
                  <a:pt x="180" y="93"/>
                </a:lnTo>
                <a:lnTo>
                  <a:pt x="196" y="107"/>
                </a:lnTo>
                <a:lnTo>
                  <a:pt x="213" y="120"/>
                </a:lnTo>
                <a:lnTo>
                  <a:pt x="229" y="133"/>
                </a:lnTo>
                <a:lnTo>
                  <a:pt x="246" y="146"/>
                </a:lnTo>
                <a:lnTo>
                  <a:pt x="262" y="158"/>
                </a:lnTo>
                <a:lnTo>
                  <a:pt x="278" y="170"/>
                </a:lnTo>
                <a:lnTo>
                  <a:pt x="295" y="180"/>
                </a:lnTo>
                <a:lnTo>
                  <a:pt x="311" y="190"/>
                </a:lnTo>
                <a:lnTo>
                  <a:pt x="327" y="198"/>
                </a:lnTo>
                <a:lnTo>
                  <a:pt x="344" y="204"/>
                </a:lnTo>
                <a:lnTo>
                  <a:pt x="360" y="209"/>
                </a:lnTo>
                <a:lnTo>
                  <a:pt x="377" y="213"/>
                </a:lnTo>
                <a:lnTo>
                  <a:pt x="393" y="214"/>
                </a:lnTo>
                <a:lnTo>
                  <a:pt x="393" y="222"/>
                </a:lnTo>
                <a:lnTo>
                  <a:pt x="377" y="221"/>
                </a:lnTo>
                <a:lnTo>
                  <a:pt x="360" y="218"/>
                </a:lnTo>
                <a:lnTo>
                  <a:pt x="344" y="213"/>
                </a:lnTo>
                <a:lnTo>
                  <a:pt x="327" y="206"/>
                </a:lnTo>
                <a:lnTo>
                  <a:pt x="311" y="198"/>
                </a:lnTo>
                <a:lnTo>
                  <a:pt x="295" y="188"/>
                </a:lnTo>
                <a:lnTo>
                  <a:pt x="278" y="178"/>
                </a:lnTo>
                <a:lnTo>
                  <a:pt x="262" y="166"/>
                </a:lnTo>
                <a:lnTo>
                  <a:pt x="246" y="154"/>
                </a:lnTo>
                <a:lnTo>
                  <a:pt x="229" y="141"/>
                </a:lnTo>
                <a:lnTo>
                  <a:pt x="213" y="128"/>
                </a:lnTo>
                <a:lnTo>
                  <a:pt x="196" y="115"/>
                </a:lnTo>
                <a:lnTo>
                  <a:pt x="180" y="102"/>
                </a:lnTo>
                <a:lnTo>
                  <a:pt x="164" y="88"/>
                </a:lnTo>
                <a:lnTo>
                  <a:pt x="147" y="76"/>
                </a:lnTo>
                <a:lnTo>
                  <a:pt x="131" y="63"/>
                </a:lnTo>
                <a:lnTo>
                  <a:pt x="114" y="52"/>
                </a:lnTo>
                <a:lnTo>
                  <a:pt x="98" y="41"/>
                </a:lnTo>
                <a:lnTo>
                  <a:pt x="82" y="32"/>
                </a:lnTo>
                <a:lnTo>
                  <a:pt x="65" y="24"/>
                </a:lnTo>
                <a:lnTo>
                  <a:pt x="49" y="17"/>
                </a:lnTo>
                <a:lnTo>
                  <a:pt x="33" y="12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reeform 16"/>
          <p:cNvSpPr/>
          <p:nvPr/>
        </p:nvSpPr>
        <p:spPr>
          <a:xfrm>
            <a:off x="2057400" y="1714500"/>
            <a:ext cx="3743325" cy="2590800"/>
          </a:xfrm>
          <a:custGeom>
            <a:avLst/>
            <a:gdLst/>
            <a:ahLst/>
            <a:cxnLst/>
            <a:rect l="l" t="t" r="r" b="b"/>
            <a:pathLst>
              <a:path w="393" h="272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19"/>
                </a:lnTo>
                <a:lnTo>
                  <a:pt x="82" y="29"/>
                </a:lnTo>
                <a:lnTo>
                  <a:pt x="98" y="41"/>
                </a:lnTo>
                <a:lnTo>
                  <a:pt x="114" y="54"/>
                </a:lnTo>
                <a:lnTo>
                  <a:pt x="131" y="68"/>
                </a:lnTo>
                <a:lnTo>
                  <a:pt x="147" y="83"/>
                </a:lnTo>
                <a:lnTo>
                  <a:pt x="164" y="99"/>
                </a:lnTo>
                <a:lnTo>
                  <a:pt x="180" y="115"/>
                </a:lnTo>
                <a:lnTo>
                  <a:pt x="196" y="132"/>
                </a:lnTo>
                <a:lnTo>
                  <a:pt x="213" y="148"/>
                </a:lnTo>
                <a:lnTo>
                  <a:pt x="229" y="164"/>
                </a:lnTo>
                <a:lnTo>
                  <a:pt x="246" y="180"/>
                </a:lnTo>
                <a:lnTo>
                  <a:pt x="262" y="195"/>
                </a:lnTo>
                <a:lnTo>
                  <a:pt x="278" y="209"/>
                </a:lnTo>
                <a:lnTo>
                  <a:pt x="295" y="222"/>
                </a:lnTo>
                <a:lnTo>
                  <a:pt x="311" y="234"/>
                </a:lnTo>
                <a:lnTo>
                  <a:pt x="327" y="244"/>
                </a:lnTo>
                <a:lnTo>
                  <a:pt x="344" y="252"/>
                </a:lnTo>
                <a:lnTo>
                  <a:pt x="360" y="258"/>
                </a:lnTo>
                <a:lnTo>
                  <a:pt x="377" y="262"/>
                </a:lnTo>
                <a:lnTo>
                  <a:pt x="393" y="263"/>
                </a:lnTo>
                <a:lnTo>
                  <a:pt x="393" y="272"/>
                </a:lnTo>
                <a:lnTo>
                  <a:pt x="377" y="271"/>
                </a:lnTo>
                <a:lnTo>
                  <a:pt x="360" y="267"/>
                </a:lnTo>
                <a:lnTo>
                  <a:pt x="344" y="261"/>
                </a:lnTo>
                <a:lnTo>
                  <a:pt x="327" y="252"/>
                </a:lnTo>
                <a:lnTo>
                  <a:pt x="311" y="242"/>
                </a:lnTo>
                <a:lnTo>
                  <a:pt x="295" y="231"/>
                </a:lnTo>
                <a:lnTo>
                  <a:pt x="278" y="218"/>
                </a:lnTo>
                <a:lnTo>
                  <a:pt x="262" y="204"/>
                </a:lnTo>
                <a:lnTo>
                  <a:pt x="246" y="189"/>
                </a:lnTo>
                <a:lnTo>
                  <a:pt x="229" y="173"/>
                </a:lnTo>
                <a:lnTo>
                  <a:pt x="213" y="157"/>
                </a:lnTo>
                <a:lnTo>
                  <a:pt x="196" y="140"/>
                </a:lnTo>
                <a:lnTo>
                  <a:pt x="180" y="124"/>
                </a:lnTo>
                <a:lnTo>
                  <a:pt x="164" y="108"/>
                </a:lnTo>
                <a:lnTo>
                  <a:pt x="147" y="92"/>
                </a:lnTo>
                <a:lnTo>
                  <a:pt x="131" y="77"/>
                </a:lnTo>
                <a:lnTo>
                  <a:pt x="114" y="63"/>
                </a:lnTo>
                <a:lnTo>
                  <a:pt x="98" y="50"/>
                </a:lnTo>
                <a:lnTo>
                  <a:pt x="82" y="38"/>
                </a:lnTo>
                <a:lnTo>
                  <a:pt x="65" y="28"/>
                </a:lnTo>
                <a:lnTo>
                  <a:pt x="49" y="20"/>
                </a:lnTo>
                <a:lnTo>
                  <a:pt x="33" y="14"/>
                </a:lnTo>
                <a:lnTo>
                  <a:pt x="16" y="10"/>
                </a:lnTo>
                <a:lnTo>
                  <a:pt x="0" y="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Freeform 17"/>
          <p:cNvSpPr/>
          <p:nvPr/>
        </p:nvSpPr>
        <p:spPr>
          <a:xfrm>
            <a:off x="2057400" y="1790700"/>
            <a:ext cx="3743325" cy="3067050"/>
          </a:xfrm>
          <a:custGeom>
            <a:avLst/>
            <a:gdLst/>
            <a:ahLst/>
            <a:cxnLst/>
            <a:rect l="l" t="t" r="r" b="b"/>
            <a:pathLst>
              <a:path w="393" h="322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4"/>
                </a:lnTo>
                <a:lnTo>
                  <a:pt x="65" y="24"/>
                </a:lnTo>
                <a:lnTo>
                  <a:pt x="82" y="36"/>
                </a:lnTo>
                <a:lnTo>
                  <a:pt x="98" y="49"/>
                </a:lnTo>
                <a:lnTo>
                  <a:pt x="114" y="65"/>
                </a:lnTo>
                <a:lnTo>
                  <a:pt x="131" y="81"/>
                </a:lnTo>
                <a:lnTo>
                  <a:pt x="147" y="99"/>
                </a:lnTo>
                <a:lnTo>
                  <a:pt x="164" y="118"/>
                </a:lnTo>
                <a:lnTo>
                  <a:pt x="180" y="137"/>
                </a:lnTo>
                <a:lnTo>
                  <a:pt x="196" y="157"/>
                </a:lnTo>
                <a:lnTo>
                  <a:pt x="213" y="176"/>
                </a:lnTo>
                <a:lnTo>
                  <a:pt x="229" y="195"/>
                </a:lnTo>
                <a:lnTo>
                  <a:pt x="246" y="214"/>
                </a:lnTo>
                <a:lnTo>
                  <a:pt x="262" y="232"/>
                </a:lnTo>
                <a:lnTo>
                  <a:pt x="278" y="249"/>
                </a:lnTo>
                <a:lnTo>
                  <a:pt x="295" y="264"/>
                </a:lnTo>
                <a:lnTo>
                  <a:pt x="311" y="278"/>
                </a:lnTo>
                <a:lnTo>
                  <a:pt x="327" y="290"/>
                </a:lnTo>
                <a:lnTo>
                  <a:pt x="344" y="300"/>
                </a:lnTo>
                <a:lnTo>
                  <a:pt x="360" y="307"/>
                </a:lnTo>
                <a:lnTo>
                  <a:pt x="377" y="311"/>
                </a:lnTo>
                <a:lnTo>
                  <a:pt x="393" y="313"/>
                </a:lnTo>
                <a:lnTo>
                  <a:pt x="393" y="322"/>
                </a:lnTo>
                <a:lnTo>
                  <a:pt x="377" y="320"/>
                </a:lnTo>
                <a:lnTo>
                  <a:pt x="360" y="316"/>
                </a:lnTo>
                <a:lnTo>
                  <a:pt x="344" y="308"/>
                </a:lnTo>
                <a:lnTo>
                  <a:pt x="327" y="299"/>
                </a:lnTo>
                <a:lnTo>
                  <a:pt x="311" y="287"/>
                </a:lnTo>
                <a:lnTo>
                  <a:pt x="295" y="273"/>
                </a:lnTo>
                <a:lnTo>
                  <a:pt x="278" y="258"/>
                </a:lnTo>
                <a:lnTo>
                  <a:pt x="262" y="241"/>
                </a:lnTo>
                <a:lnTo>
                  <a:pt x="246" y="223"/>
                </a:lnTo>
                <a:lnTo>
                  <a:pt x="229" y="204"/>
                </a:lnTo>
                <a:lnTo>
                  <a:pt x="213" y="185"/>
                </a:lnTo>
                <a:lnTo>
                  <a:pt x="196" y="166"/>
                </a:lnTo>
                <a:lnTo>
                  <a:pt x="180" y="146"/>
                </a:lnTo>
                <a:lnTo>
                  <a:pt x="164" y="127"/>
                </a:lnTo>
                <a:lnTo>
                  <a:pt x="147" y="108"/>
                </a:lnTo>
                <a:lnTo>
                  <a:pt x="131" y="90"/>
                </a:lnTo>
                <a:lnTo>
                  <a:pt x="114" y="74"/>
                </a:lnTo>
                <a:lnTo>
                  <a:pt x="98" y="58"/>
                </a:lnTo>
                <a:lnTo>
                  <a:pt x="82" y="44"/>
                </a:lnTo>
                <a:lnTo>
                  <a:pt x="65" y="32"/>
                </a:lnTo>
                <a:lnTo>
                  <a:pt x="49" y="23"/>
                </a:lnTo>
                <a:lnTo>
                  <a:pt x="33" y="15"/>
                </a:lnTo>
                <a:lnTo>
                  <a:pt x="16" y="11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reeform 18"/>
          <p:cNvSpPr/>
          <p:nvPr/>
        </p:nvSpPr>
        <p:spPr>
          <a:xfrm>
            <a:off x="2057400" y="1876425"/>
            <a:ext cx="3743325" cy="3524250"/>
          </a:xfrm>
          <a:custGeom>
            <a:avLst/>
            <a:gdLst/>
            <a:ahLst/>
            <a:cxnLst/>
            <a:rect l="l" t="t" r="r" b="b"/>
            <a:pathLst>
              <a:path w="393" h="370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6"/>
                </a:lnTo>
                <a:lnTo>
                  <a:pt x="65" y="27"/>
                </a:lnTo>
                <a:lnTo>
                  <a:pt x="82" y="41"/>
                </a:lnTo>
                <a:lnTo>
                  <a:pt x="98" y="57"/>
                </a:lnTo>
                <a:lnTo>
                  <a:pt x="114" y="75"/>
                </a:lnTo>
                <a:lnTo>
                  <a:pt x="131" y="94"/>
                </a:lnTo>
                <a:lnTo>
                  <a:pt x="147" y="115"/>
                </a:lnTo>
                <a:lnTo>
                  <a:pt x="164" y="136"/>
                </a:lnTo>
                <a:lnTo>
                  <a:pt x="180" y="158"/>
                </a:lnTo>
                <a:lnTo>
                  <a:pt x="196" y="181"/>
                </a:lnTo>
                <a:lnTo>
                  <a:pt x="213" y="204"/>
                </a:lnTo>
                <a:lnTo>
                  <a:pt x="229" y="226"/>
                </a:lnTo>
                <a:lnTo>
                  <a:pt x="246" y="247"/>
                </a:lnTo>
                <a:lnTo>
                  <a:pt x="262" y="268"/>
                </a:lnTo>
                <a:lnTo>
                  <a:pt x="278" y="287"/>
                </a:lnTo>
                <a:lnTo>
                  <a:pt x="295" y="305"/>
                </a:lnTo>
                <a:lnTo>
                  <a:pt x="311" y="321"/>
                </a:lnTo>
                <a:lnTo>
                  <a:pt x="327" y="335"/>
                </a:lnTo>
                <a:lnTo>
                  <a:pt x="344" y="346"/>
                </a:lnTo>
                <a:lnTo>
                  <a:pt x="360" y="355"/>
                </a:lnTo>
                <a:lnTo>
                  <a:pt x="377" y="360"/>
                </a:lnTo>
                <a:lnTo>
                  <a:pt x="393" y="362"/>
                </a:lnTo>
                <a:lnTo>
                  <a:pt x="393" y="370"/>
                </a:lnTo>
                <a:lnTo>
                  <a:pt x="377" y="369"/>
                </a:lnTo>
                <a:lnTo>
                  <a:pt x="360" y="363"/>
                </a:lnTo>
                <a:lnTo>
                  <a:pt x="344" y="355"/>
                </a:lnTo>
                <a:lnTo>
                  <a:pt x="327" y="344"/>
                </a:lnTo>
                <a:lnTo>
                  <a:pt x="311" y="330"/>
                </a:lnTo>
                <a:lnTo>
                  <a:pt x="295" y="314"/>
                </a:lnTo>
                <a:lnTo>
                  <a:pt x="278" y="296"/>
                </a:lnTo>
                <a:lnTo>
                  <a:pt x="262" y="277"/>
                </a:lnTo>
                <a:lnTo>
                  <a:pt x="246" y="256"/>
                </a:lnTo>
                <a:lnTo>
                  <a:pt x="229" y="234"/>
                </a:lnTo>
                <a:lnTo>
                  <a:pt x="213" y="212"/>
                </a:lnTo>
                <a:lnTo>
                  <a:pt x="196" y="190"/>
                </a:lnTo>
                <a:lnTo>
                  <a:pt x="180" y="167"/>
                </a:lnTo>
                <a:lnTo>
                  <a:pt x="164" y="145"/>
                </a:lnTo>
                <a:lnTo>
                  <a:pt x="147" y="123"/>
                </a:lnTo>
                <a:lnTo>
                  <a:pt x="131" y="103"/>
                </a:lnTo>
                <a:lnTo>
                  <a:pt x="114" y="83"/>
                </a:lnTo>
                <a:lnTo>
                  <a:pt x="98" y="66"/>
                </a:lnTo>
                <a:lnTo>
                  <a:pt x="82" y="50"/>
                </a:lnTo>
                <a:lnTo>
                  <a:pt x="65" y="36"/>
                </a:lnTo>
                <a:lnTo>
                  <a:pt x="49" y="25"/>
                </a:lnTo>
                <a:lnTo>
                  <a:pt x="33" y="16"/>
                </a:lnTo>
                <a:lnTo>
                  <a:pt x="16" y="11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Freeform 19"/>
          <p:cNvSpPr/>
          <p:nvPr/>
        </p:nvSpPr>
        <p:spPr>
          <a:xfrm>
            <a:off x="2057400" y="1962150"/>
            <a:ext cx="3743325" cy="3990975"/>
          </a:xfrm>
          <a:custGeom>
            <a:avLst/>
            <a:gdLst/>
            <a:ahLst/>
            <a:cxnLst/>
            <a:rect l="l" t="t" r="r" b="b"/>
            <a:pathLst>
              <a:path w="393" h="419">
                <a:moveTo>
                  <a:pt x="0" y="0"/>
                </a:moveTo>
                <a:lnTo>
                  <a:pt x="16" y="2"/>
                </a:lnTo>
                <a:lnTo>
                  <a:pt x="33" y="8"/>
                </a:lnTo>
                <a:lnTo>
                  <a:pt x="49" y="18"/>
                </a:lnTo>
                <a:lnTo>
                  <a:pt x="65" y="30"/>
                </a:lnTo>
                <a:lnTo>
                  <a:pt x="82" y="46"/>
                </a:lnTo>
                <a:lnTo>
                  <a:pt x="98" y="64"/>
                </a:lnTo>
                <a:lnTo>
                  <a:pt x="114" y="84"/>
                </a:lnTo>
                <a:lnTo>
                  <a:pt x="131" y="106"/>
                </a:lnTo>
                <a:lnTo>
                  <a:pt x="147" y="130"/>
                </a:lnTo>
                <a:lnTo>
                  <a:pt x="164" y="154"/>
                </a:lnTo>
                <a:lnTo>
                  <a:pt x="180" y="180"/>
                </a:lnTo>
                <a:lnTo>
                  <a:pt x="196" y="205"/>
                </a:lnTo>
                <a:lnTo>
                  <a:pt x="213" y="231"/>
                </a:lnTo>
                <a:lnTo>
                  <a:pt x="229" y="256"/>
                </a:lnTo>
                <a:lnTo>
                  <a:pt x="246" y="281"/>
                </a:lnTo>
                <a:lnTo>
                  <a:pt x="262" y="304"/>
                </a:lnTo>
                <a:lnTo>
                  <a:pt x="278" y="326"/>
                </a:lnTo>
                <a:lnTo>
                  <a:pt x="295" y="346"/>
                </a:lnTo>
                <a:lnTo>
                  <a:pt x="311" y="364"/>
                </a:lnTo>
                <a:lnTo>
                  <a:pt x="327" y="380"/>
                </a:lnTo>
                <a:lnTo>
                  <a:pt x="344" y="393"/>
                </a:lnTo>
                <a:lnTo>
                  <a:pt x="360" y="402"/>
                </a:lnTo>
                <a:lnTo>
                  <a:pt x="377" y="408"/>
                </a:lnTo>
                <a:lnTo>
                  <a:pt x="393" y="410"/>
                </a:lnTo>
                <a:lnTo>
                  <a:pt x="393" y="419"/>
                </a:lnTo>
                <a:lnTo>
                  <a:pt x="377" y="417"/>
                </a:lnTo>
                <a:lnTo>
                  <a:pt x="360" y="411"/>
                </a:lnTo>
                <a:lnTo>
                  <a:pt x="344" y="401"/>
                </a:lnTo>
                <a:lnTo>
                  <a:pt x="327" y="388"/>
                </a:lnTo>
                <a:lnTo>
                  <a:pt x="311" y="373"/>
                </a:lnTo>
                <a:lnTo>
                  <a:pt x="295" y="355"/>
                </a:lnTo>
                <a:lnTo>
                  <a:pt x="278" y="334"/>
                </a:lnTo>
                <a:lnTo>
                  <a:pt x="262" y="312"/>
                </a:lnTo>
                <a:lnTo>
                  <a:pt x="246" y="289"/>
                </a:lnTo>
                <a:lnTo>
                  <a:pt x="229" y="264"/>
                </a:lnTo>
                <a:lnTo>
                  <a:pt x="213" y="239"/>
                </a:lnTo>
                <a:lnTo>
                  <a:pt x="196" y="214"/>
                </a:lnTo>
                <a:lnTo>
                  <a:pt x="180" y="188"/>
                </a:lnTo>
                <a:lnTo>
                  <a:pt x="164" y="163"/>
                </a:lnTo>
                <a:lnTo>
                  <a:pt x="147" y="138"/>
                </a:lnTo>
                <a:lnTo>
                  <a:pt x="131" y="115"/>
                </a:lnTo>
                <a:lnTo>
                  <a:pt x="114" y="93"/>
                </a:lnTo>
                <a:lnTo>
                  <a:pt x="98" y="73"/>
                </a:lnTo>
                <a:lnTo>
                  <a:pt x="82" y="54"/>
                </a:lnTo>
                <a:lnTo>
                  <a:pt x="65" y="39"/>
                </a:lnTo>
                <a:lnTo>
                  <a:pt x="49" y="26"/>
                </a:lnTo>
                <a:lnTo>
                  <a:pt x="33" y="16"/>
                </a:lnTo>
                <a:lnTo>
                  <a:pt x="16" y="11"/>
                </a:lnTo>
                <a:lnTo>
                  <a:pt x="0" y="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2057400" y="1562100"/>
            <a:ext cx="3743325" cy="590550"/>
          </a:xfrm>
          <a:custGeom>
            <a:avLst/>
            <a:gdLst/>
            <a:ahLst/>
            <a:cxnLst/>
            <a:rect l="l" t="t" r="r" b="b"/>
            <a:pathLst>
              <a:path w="393" h="62">
                <a:moveTo>
                  <a:pt x="0" y="56"/>
                </a:moveTo>
                <a:lnTo>
                  <a:pt x="16" y="56"/>
                </a:lnTo>
                <a:lnTo>
                  <a:pt x="33" y="55"/>
                </a:lnTo>
                <a:lnTo>
                  <a:pt x="49" y="54"/>
                </a:lnTo>
                <a:lnTo>
                  <a:pt x="65" y="52"/>
                </a:lnTo>
                <a:lnTo>
                  <a:pt x="82" y="50"/>
                </a:lnTo>
                <a:lnTo>
                  <a:pt x="98" y="48"/>
                </a:lnTo>
                <a:lnTo>
                  <a:pt x="114" y="45"/>
                </a:lnTo>
                <a:lnTo>
                  <a:pt x="131" y="42"/>
                </a:lnTo>
                <a:lnTo>
                  <a:pt x="147" y="39"/>
                </a:lnTo>
                <a:lnTo>
                  <a:pt x="164" y="35"/>
                </a:lnTo>
                <a:lnTo>
                  <a:pt x="180" y="32"/>
                </a:lnTo>
                <a:lnTo>
                  <a:pt x="196" y="28"/>
                </a:lnTo>
                <a:lnTo>
                  <a:pt x="213" y="25"/>
                </a:lnTo>
                <a:lnTo>
                  <a:pt x="229" y="21"/>
                </a:lnTo>
                <a:lnTo>
                  <a:pt x="246" y="18"/>
                </a:lnTo>
                <a:lnTo>
                  <a:pt x="262" y="15"/>
                </a:lnTo>
                <a:lnTo>
                  <a:pt x="278" y="12"/>
                </a:lnTo>
                <a:lnTo>
                  <a:pt x="295" y="9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7"/>
                </a:lnTo>
                <a:lnTo>
                  <a:pt x="344" y="8"/>
                </a:lnTo>
                <a:lnTo>
                  <a:pt x="327" y="10"/>
                </a:lnTo>
                <a:lnTo>
                  <a:pt x="311" y="12"/>
                </a:lnTo>
                <a:lnTo>
                  <a:pt x="295" y="15"/>
                </a:lnTo>
                <a:lnTo>
                  <a:pt x="278" y="18"/>
                </a:lnTo>
                <a:lnTo>
                  <a:pt x="262" y="21"/>
                </a:lnTo>
                <a:lnTo>
                  <a:pt x="246" y="24"/>
                </a:lnTo>
                <a:lnTo>
                  <a:pt x="229" y="27"/>
                </a:lnTo>
                <a:lnTo>
                  <a:pt x="213" y="31"/>
                </a:lnTo>
                <a:lnTo>
                  <a:pt x="196" y="34"/>
                </a:lnTo>
                <a:lnTo>
                  <a:pt x="180" y="38"/>
                </a:lnTo>
                <a:lnTo>
                  <a:pt x="164" y="41"/>
                </a:lnTo>
                <a:lnTo>
                  <a:pt x="147" y="45"/>
                </a:lnTo>
                <a:lnTo>
                  <a:pt x="131" y="48"/>
                </a:lnTo>
                <a:lnTo>
                  <a:pt x="114" y="51"/>
                </a:lnTo>
                <a:lnTo>
                  <a:pt x="98" y="54"/>
                </a:lnTo>
                <a:lnTo>
                  <a:pt x="82" y="56"/>
                </a:lnTo>
                <a:lnTo>
                  <a:pt x="65" y="58"/>
                </a:lnTo>
                <a:lnTo>
                  <a:pt x="49" y="60"/>
                </a:lnTo>
                <a:lnTo>
                  <a:pt x="33" y="61"/>
                </a:lnTo>
                <a:lnTo>
                  <a:pt x="1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2057400" y="2105025"/>
            <a:ext cx="3743325" cy="104775"/>
          </a:xfrm>
          <a:custGeom>
            <a:avLst/>
            <a:gdLst/>
            <a:ahLst/>
            <a:cxnLst/>
            <a:rect l="l" t="t" r="r" b="b"/>
            <a:pathLst>
              <a:path w="393" h="11">
                <a:moveTo>
                  <a:pt x="0" y="5"/>
                </a:moveTo>
                <a:lnTo>
                  <a:pt x="16" y="5"/>
                </a:lnTo>
                <a:lnTo>
                  <a:pt x="33" y="5"/>
                </a:lnTo>
                <a:lnTo>
                  <a:pt x="49" y="5"/>
                </a:lnTo>
                <a:lnTo>
                  <a:pt x="65" y="5"/>
                </a:lnTo>
                <a:lnTo>
                  <a:pt x="82" y="5"/>
                </a:lnTo>
                <a:lnTo>
                  <a:pt x="98" y="5"/>
                </a:lnTo>
                <a:lnTo>
                  <a:pt x="114" y="4"/>
                </a:lnTo>
                <a:lnTo>
                  <a:pt x="131" y="4"/>
                </a:lnTo>
                <a:lnTo>
                  <a:pt x="147" y="4"/>
                </a:lnTo>
                <a:lnTo>
                  <a:pt x="164" y="4"/>
                </a:lnTo>
                <a:lnTo>
                  <a:pt x="180" y="3"/>
                </a:lnTo>
                <a:lnTo>
                  <a:pt x="196" y="3"/>
                </a:lnTo>
                <a:lnTo>
                  <a:pt x="213" y="3"/>
                </a:lnTo>
                <a:lnTo>
                  <a:pt x="229" y="2"/>
                </a:lnTo>
                <a:lnTo>
                  <a:pt x="246" y="2"/>
                </a:lnTo>
                <a:lnTo>
                  <a:pt x="262" y="2"/>
                </a:lnTo>
                <a:lnTo>
                  <a:pt x="278" y="1"/>
                </a:lnTo>
                <a:lnTo>
                  <a:pt x="295" y="1"/>
                </a:lnTo>
                <a:lnTo>
                  <a:pt x="311" y="1"/>
                </a:lnTo>
                <a:lnTo>
                  <a:pt x="327" y="1"/>
                </a:lnTo>
                <a:lnTo>
                  <a:pt x="344" y="1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6"/>
                </a:lnTo>
                <a:lnTo>
                  <a:pt x="344" y="6"/>
                </a:lnTo>
                <a:lnTo>
                  <a:pt x="327" y="6"/>
                </a:lnTo>
                <a:lnTo>
                  <a:pt x="311" y="7"/>
                </a:lnTo>
                <a:lnTo>
                  <a:pt x="295" y="7"/>
                </a:lnTo>
                <a:lnTo>
                  <a:pt x="278" y="7"/>
                </a:lnTo>
                <a:lnTo>
                  <a:pt x="262" y="7"/>
                </a:lnTo>
                <a:lnTo>
                  <a:pt x="246" y="8"/>
                </a:lnTo>
                <a:lnTo>
                  <a:pt x="229" y="8"/>
                </a:lnTo>
                <a:lnTo>
                  <a:pt x="213" y="8"/>
                </a:lnTo>
                <a:lnTo>
                  <a:pt x="196" y="8"/>
                </a:lnTo>
                <a:lnTo>
                  <a:pt x="180" y="9"/>
                </a:lnTo>
                <a:lnTo>
                  <a:pt x="164" y="9"/>
                </a:lnTo>
                <a:lnTo>
                  <a:pt x="147" y="9"/>
                </a:lnTo>
                <a:lnTo>
                  <a:pt x="131" y="10"/>
                </a:lnTo>
                <a:lnTo>
                  <a:pt x="114" y="10"/>
                </a:lnTo>
                <a:lnTo>
                  <a:pt x="98" y="10"/>
                </a:lnTo>
                <a:lnTo>
                  <a:pt x="82" y="10"/>
                </a:lnTo>
                <a:lnTo>
                  <a:pt x="65" y="11"/>
                </a:lnTo>
                <a:lnTo>
                  <a:pt x="49" y="11"/>
                </a:lnTo>
                <a:lnTo>
                  <a:pt x="33" y="11"/>
                </a:lnTo>
                <a:lnTo>
                  <a:pt x="1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2057400" y="2209800"/>
            <a:ext cx="3743325" cy="504825"/>
          </a:xfrm>
          <a:custGeom>
            <a:avLst/>
            <a:gdLst/>
            <a:ahLst/>
            <a:cxnLst/>
            <a:rect l="l" t="t" r="r" b="b"/>
            <a:pathLst>
              <a:path w="393" h="53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10"/>
                </a:lnTo>
                <a:lnTo>
                  <a:pt x="131" y="12"/>
                </a:lnTo>
                <a:lnTo>
                  <a:pt x="147" y="15"/>
                </a:lnTo>
                <a:lnTo>
                  <a:pt x="164" y="18"/>
                </a:lnTo>
                <a:lnTo>
                  <a:pt x="180" y="21"/>
                </a:lnTo>
                <a:lnTo>
                  <a:pt x="196" y="23"/>
                </a:lnTo>
                <a:lnTo>
                  <a:pt x="213" y="26"/>
                </a:lnTo>
                <a:lnTo>
                  <a:pt x="229" y="29"/>
                </a:lnTo>
                <a:lnTo>
                  <a:pt x="246" y="32"/>
                </a:lnTo>
                <a:lnTo>
                  <a:pt x="262" y="35"/>
                </a:lnTo>
                <a:lnTo>
                  <a:pt x="278" y="37"/>
                </a:lnTo>
                <a:lnTo>
                  <a:pt x="295" y="40"/>
                </a:lnTo>
                <a:lnTo>
                  <a:pt x="311" y="42"/>
                </a:lnTo>
                <a:lnTo>
                  <a:pt x="327" y="43"/>
                </a:lnTo>
                <a:lnTo>
                  <a:pt x="344" y="45"/>
                </a:lnTo>
                <a:lnTo>
                  <a:pt x="360" y="46"/>
                </a:lnTo>
                <a:lnTo>
                  <a:pt x="377" y="47"/>
                </a:lnTo>
                <a:lnTo>
                  <a:pt x="393" y="47"/>
                </a:lnTo>
                <a:lnTo>
                  <a:pt x="393" y="53"/>
                </a:lnTo>
                <a:lnTo>
                  <a:pt x="377" y="52"/>
                </a:lnTo>
                <a:lnTo>
                  <a:pt x="360" y="52"/>
                </a:lnTo>
                <a:lnTo>
                  <a:pt x="344" y="51"/>
                </a:lnTo>
                <a:lnTo>
                  <a:pt x="327" y="49"/>
                </a:lnTo>
                <a:lnTo>
                  <a:pt x="311" y="47"/>
                </a:lnTo>
                <a:lnTo>
                  <a:pt x="295" y="45"/>
                </a:lnTo>
                <a:lnTo>
                  <a:pt x="278" y="43"/>
                </a:lnTo>
                <a:lnTo>
                  <a:pt x="262" y="41"/>
                </a:lnTo>
                <a:lnTo>
                  <a:pt x="246" y="38"/>
                </a:lnTo>
                <a:lnTo>
                  <a:pt x="229" y="35"/>
                </a:lnTo>
                <a:lnTo>
                  <a:pt x="213" y="32"/>
                </a:lnTo>
                <a:lnTo>
                  <a:pt x="196" y="29"/>
                </a:lnTo>
                <a:lnTo>
                  <a:pt x="180" y="26"/>
                </a:lnTo>
                <a:lnTo>
                  <a:pt x="164" y="23"/>
                </a:lnTo>
                <a:lnTo>
                  <a:pt x="147" y="21"/>
                </a:lnTo>
                <a:lnTo>
                  <a:pt x="131" y="18"/>
                </a:lnTo>
                <a:lnTo>
                  <a:pt x="114" y="15"/>
                </a:lnTo>
                <a:lnTo>
                  <a:pt x="98" y="13"/>
                </a:lnTo>
                <a:lnTo>
                  <a:pt x="82" y="11"/>
                </a:lnTo>
                <a:lnTo>
                  <a:pt x="65" y="9"/>
                </a:lnTo>
                <a:lnTo>
                  <a:pt x="49" y="8"/>
                </a:lnTo>
                <a:lnTo>
                  <a:pt x="33" y="7"/>
                </a:lnTo>
                <a:lnTo>
                  <a:pt x="16" y="6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2057400" y="2266950"/>
            <a:ext cx="3743325" cy="990600"/>
          </a:xfrm>
          <a:custGeom>
            <a:avLst/>
            <a:gdLst/>
            <a:ahLst/>
            <a:cxnLst/>
            <a:rect l="l" t="t" r="r" b="b"/>
            <a:pathLst>
              <a:path w="393" h="104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1"/>
                </a:lnTo>
                <a:lnTo>
                  <a:pt x="164" y="37"/>
                </a:lnTo>
                <a:lnTo>
                  <a:pt x="180" y="43"/>
                </a:lnTo>
                <a:lnTo>
                  <a:pt x="196" y="49"/>
                </a:lnTo>
                <a:lnTo>
                  <a:pt x="213" y="55"/>
                </a:lnTo>
                <a:lnTo>
                  <a:pt x="229" y="61"/>
                </a:lnTo>
                <a:lnTo>
                  <a:pt x="246" y="67"/>
                </a:lnTo>
                <a:lnTo>
                  <a:pt x="262" y="73"/>
                </a:lnTo>
                <a:lnTo>
                  <a:pt x="278" y="78"/>
                </a:lnTo>
                <a:lnTo>
                  <a:pt x="295" y="83"/>
                </a:lnTo>
                <a:lnTo>
                  <a:pt x="311" y="87"/>
                </a:lnTo>
                <a:lnTo>
                  <a:pt x="327" y="91"/>
                </a:lnTo>
                <a:lnTo>
                  <a:pt x="344" y="94"/>
                </a:lnTo>
                <a:lnTo>
                  <a:pt x="360" y="96"/>
                </a:lnTo>
                <a:lnTo>
                  <a:pt x="377" y="98"/>
                </a:lnTo>
                <a:lnTo>
                  <a:pt x="393" y="98"/>
                </a:lnTo>
                <a:lnTo>
                  <a:pt x="393" y="104"/>
                </a:lnTo>
                <a:lnTo>
                  <a:pt x="377" y="103"/>
                </a:lnTo>
                <a:lnTo>
                  <a:pt x="360" y="102"/>
                </a:lnTo>
                <a:lnTo>
                  <a:pt x="344" y="100"/>
                </a:lnTo>
                <a:lnTo>
                  <a:pt x="327" y="96"/>
                </a:lnTo>
                <a:lnTo>
                  <a:pt x="311" y="93"/>
                </a:lnTo>
                <a:lnTo>
                  <a:pt x="295" y="88"/>
                </a:lnTo>
                <a:lnTo>
                  <a:pt x="278" y="84"/>
                </a:lnTo>
                <a:lnTo>
                  <a:pt x="262" y="78"/>
                </a:lnTo>
                <a:lnTo>
                  <a:pt x="246" y="73"/>
                </a:lnTo>
                <a:lnTo>
                  <a:pt x="229" y="67"/>
                </a:lnTo>
                <a:lnTo>
                  <a:pt x="213" y="61"/>
                </a:lnTo>
                <a:lnTo>
                  <a:pt x="196" y="54"/>
                </a:lnTo>
                <a:lnTo>
                  <a:pt x="180" y="48"/>
                </a:lnTo>
                <a:lnTo>
                  <a:pt x="164" y="42"/>
                </a:lnTo>
                <a:lnTo>
                  <a:pt x="147" y="36"/>
                </a:lnTo>
                <a:lnTo>
                  <a:pt x="131" y="31"/>
                </a:lnTo>
                <a:lnTo>
                  <a:pt x="114" y="25"/>
                </a:lnTo>
                <a:lnTo>
                  <a:pt x="98" y="21"/>
                </a:lnTo>
                <a:lnTo>
                  <a:pt x="82" y="16"/>
                </a:lnTo>
                <a:lnTo>
                  <a:pt x="65" y="12"/>
                </a:lnTo>
                <a:lnTo>
                  <a:pt x="49" y="9"/>
                </a:lnTo>
                <a:lnTo>
                  <a:pt x="33" y="7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Freeform 24"/>
          <p:cNvSpPr/>
          <p:nvPr/>
        </p:nvSpPr>
        <p:spPr>
          <a:xfrm>
            <a:off x="2057400" y="2314575"/>
            <a:ext cx="3743325" cy="1495425"/>
          </a:xfrm>
          <a:custGeom>
            <a:avLst/>
            <a:gdLst/>
            <a:ahLst/>
            <a:cxnLst/>
            <a:rect l="l" t="t" r="r" b="b"/>
            <a:pathLst>
              <a:path w="393" h="157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1"/>
                </a:lnTo>
                <a:lnTo>
                  <a:pt x="82" y="17"/>
                </a:lnTo>
                <a:lnTo>
                  <a:pt x="98" y="24"/>
                </a:lnTo>
                <a:lnTo>
                  <a:pt x="114" y="31"/>
                </a:lnTo>
                <a:lnTo>
                  <a:pt x="131" y="39"/>
                </a:lnTo>
                <a:lnTo>
                  <a:pt x="147" y="48"/>
                </a:lnTo>
                <a:lnTo>
                  <a:pt x="164" y="57"/>
                </a:lnTo>
                <a:lnTo>
                  <a:pt x="180" y="66"/>
                </a:lnTo>
                <a:lnTo>
                  <a:pt x="196" y="76"/>
                </a:lnTo>
                <a:lnTo>
                  <a:pt x="213" y="85"/>
                </a:lnTo>
                <a:lnTo>
                  <a:pt x="229" y="94"/>
                </a:lnTo>
                <a:lnTo>
                  <a:pt x="246" y="103"/>
                </a:lnTo>
                <a:lnTo>
                  <a:pt x="262" y="112"/>
                </a:lnTo>
                <a:lnTo>
                  <a:pt x="278" y="120"/>
                </a:lnTo>
                <a:lnTo>
                  <a:pt x="295" y="127"/>
                </a:lnTo>
                <a:lnTo>
                  <a:pt x="311" y="134"/>
                </a:lnTo>
                <a:lnTo>
                  <a:pt x="327" y="140"/>
                </a:lnTo>
                <a:lnTo>
                  <a:pt x="344" y="144"/>
                </a:lnTo>
                <a:lnTo>
                  <a:pt x="360" y="148"/>
                </a:lnTo>
                <a:lnTo>
                  <a:pt x="377" y="150"/>
                </a:lnTo>
                <a:lnTo>
                  <a:pt x="393" y="151"/>
                </a:lnTo>
                <a:lnTo>
                  <a:pt x="393" y="157"/>
                </a:lnTo>
                <a:lnTo>
                  <a:pt x="377" y="156"/>
                </a:lnTo>
                <a:lnTo>
                  <a:pt x="360" y="154"/>
                </a:lnTo>
                <a:lnTo>
                  <a:pt x="344" y="150"/>
                </a:lnTo>
                <a:lnTo>
                  <a:pt x="327" y="146"/>
                </a:lnTo>
                <a:lnTo>
                  <a:pt x="311" y="140"/>
                </a:lnTo>
                <a:lnTo>
                  <a:pt x="295" y="133"/>
                </a:lnTo>
                <a:lnTo>
                  <a:pt x="278" y="126"/>
                </a:lnTo>
                <a:lnTo>
                  <a:pt x="262" y="118"/>
                </a:lnTo>
                <a:lnTo>
                  <a:pt x="246" y="109"/>
                </a:lnTo>
                <a:lnTo>
                  <a:pt x="229" y="100"/>
                </a:lnTo>
                <a:lnTo>
                  <a:pt x="213" y="91"/>
                </a:lnTo>
                <a:lnTo>
                  <a:pt x="196" y="81"/>
                </a:lnTo>
                <a:lnTo>
                  <a:pt x="180" y="72"/>
                </a:lnTo>
                <a:lnTo>
                  <a:pt x="164" y="63"/>
                </a:lnTo>
                <a:lnTo>
                  <a:pt x="147" y="54"/>
                </a:lnTo>
                <a:lnTo>
                  <a:pt x="131" y="45"/>
                </a:lnTo>
                <a:lnTo>
                  <a:pt x="114" y="37"/>
                </a:lnTo>
                <a:lnTo>
                  <a:pt x="98" y="30"/>
                </a:lnTo>
                <a:lnTo>
                  <a:pt x="82" y="23"/>
                </a:lnTo>
                <a:lnTo>
                  <a:pt x="65" y="17"/>
                </a:lnTo>
                <a:lnTo>
                  <a:pt x="49" y="13"/>
                </a:lnTo>
                <a:lnTo>
                  <a:pt x="33" y="9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Freeform 25"/>
          <p:cNvSpPr/>
          <p:nvPr/>
        </p:nvSpPr>
        <p:spPr>
          <a:xfrm>
            <a:off x="2057400" y="2371725"/>
            <a:ext cx="3743325" cy="1981200"/>
          </a:xfrm>
          <a:custGeom>
            <a:avLst/>
            <a:gdLst/>
            <a:ahLst/>
            <a:cxnLst/>
            <a:rect l="l" t="t" r="r" b="b"/>
            <a:pathLst>
              <a:path w="393" h="208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3"/>
                </a:lnTo>
                <a:lnTo>
                  <a:pt x="98" y="32"/>
                </a:lnTo>
                <a:lnTo>
                  <a:pt x="114" y="42"/>
                </a:lnTo>
                <a:lnTo>
                  <a:pt x="131" y="53"/>
                </a:lnTo>
                <a:lnTo>
                  <a:pt x="147" y="64"/>
                </a:lnTo>
                <a:lnTo>
                  <a:pt x="164" y="76"/>
                </a:lnTo>
                <a:lnTo>
                  <a:pt x="180" y="89"/>
                </a:lnTo>
                <a:lnTo>
                  <a:pt x="196" y="101"/>
                </a:lnTo>
                <a:lnTo>
                  <a:pt x="213" y="114"/>
                </a:lnTo>
                <a:lnTo>
                  <a:pt x="229" y="127"/>
                </a:lnTo>
                <a:lnTo>
                  <a:pt x="246" y="139"/>
                </a:lnTo>
                <a:lnTo>
                  <a:pt x="262" y="150"/>
                </a:lnTo>
                <a:lnTo>
                  <a:pt x="278" y="161"/>
                </a:lnTo>
                <a:lnTo>
                  <a:pt x="295" y="171"/>
                </a:lnTo>
                <a:lnTo>
                  <a:pt x="311" y="180"/>
                </a:lnTo>
                <a:lnTo>
                  <a:pt x="327" y="188"/>
                </a:lnTo>
                <a:lnTo>
                  <a:pt x="344" y="194"/>
                </a:lnTo>
                <a:lnTo>
                  <a:pt x="360" y="199"/>
                </a:lnTo>
                <a:lnTo>
                  <a:pt x="377" y="202"/>
                </a:lnTo>
                <a:lnTo>
                  <a:pt x="393" y="203"/>
                </a:lnTo>
                <a:lnTo>
                  <a:pt x="393" y="208"/>
                </a:lnTo>
                <a:lnTo>
                  <a:pt x="377" y="207"/>
                </a:lnTo>
                <a:lnTo>
                  <a:pt x="360" y="204"/>
                </a:lnTo>
                <a:lnTo>
                  <a:pt x="344" y="199"/>
                </a:lnTo>
                <a:lnTo>
                  <a:pt x="327" y="193"/>
                </a:lnTo>
                <a:lnTo>
                  <a:pt x="311" y="185"/>
                </a:lnTo>
                <a:lnTo>
                  <a:pt x="295" y="176"/>
                </a:lnTo>
                <a:lnTo>
                  <a:pt x="278" y="166"/>
                </a:lnTo>
                <a:lnTo>
                  <a:pt x="262" y="155"/>
                </a:lnTo>
                <a:lnTo>
                  <a:pt x="246" y="144"/>
                </a:lnTo>
                <a:lnTo>
                  <a:pt x="229" y="132"/>
                </a:lnTo>
                <a:lnTo>
                  <a:pt x="213" y="119"/>
                </a:lnTo>
                <a:lnTo>
                  <a:pt x="196" y="107"/>
                </a:lnTo>
                <a:lnTo>
                  <a:pt x="180" y="94"/>
                </a:lnTo>
                <a:lnTo>
                  <a:pt x="164" y="82"/>
                </a:lnTo>
                <a:lnTo>
                  <a:pt x="147" y="69"/>
                </a:lnTo>
                <a:lnTo>
                  <a:pt x="131" y="58"/>
                </a:lnTo>
                <a:lnTo>
                  <a:pt x="114" y="47"/>
                </a:lnTo>
                <a:lnTo>
                  <a:pt x="98" y="37"/>
                </a:lnTo>
                <a:lnTo>
                  <a:pt x="82" y="28"/>
                </a:lnTo>
                <a:lnTo>
                  <a:pt x="65" y="20"/>
                </a:lnTo>
                <a:lnTo>
                  <a:pt x="49" y="14"/>
                </a:lnTo>
                <a:lnTo>
                  <a:pt x="33" y="9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Freeform 26"/>
          <p:cNvSpPr/>
          <p:nvPr/>
        </p:nvSpPr>
        <p:spPr>
          <a:xfrm>
            <a:off x="2057400" y="2419350"/>
            <a:ext cx="3743325" cy="2486025"/>
          </a:xfrm>
          <a:custGeom>
            <a:avLst/>
            <a:gdLst/>
            <a:ahLst/>
            <a:cxnLst/>
            <a:rect l="l" t="t" r="r" b="b"/>
            <a:pathLst>
              <a:path w="393" h="261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1"/>
                </a:lnTo>
                <a:lnTo>
                  <a:pt x="65" y="19"/>
                </a:lnTo>
                <a:lnTo>
                  <a:pt x="82" y="29"/>
                </a:lnTo>
                <a:lnTo>
                  <a:pt x="98" y="40"/>
                </a:lnTo>
                <a:lnTo>
                  <a:pt x="114" y="53"/>
                </a:lnTo>
                <a:lnTo>
                  <a:pt x="131" y="67"/>
                </a:lnTo>
                <a:lnTo>
                  <a:pt x="147" y="81"/>
                </a:lnTo>
                <a:lnTo>
                  <a:pt x="164" y="96"/>
                </a:lnTo>
                <a:lnTo>
                  <a:pt x="180" y="112"/>
                </a:lnTo>
                <a:lnTo>
                  <a:pt x="196" y="128"/>
                </a:lnTo>
                <a:lnTo>
                  <a:pt x="213" y="144"/>
                </a:lnTo>
                <a:lnTo>
                  <a:pt x="229" y="160"/>
                </a:lnTo>
                <a:lnTo>
                  <a:pt x="246" y="175"/>
                </a:lnTo>
                <a:lnTo>
                  <a:pt x="262" y="190"/>
                </a:lnTo>
                <a:lnTo>
                  <a:pt x="278" y="203"/>
                </a:lnTo>
                <a:lnTo>
                  <a:pt x="295" y="216"/>
                </a:lnTo>
                <a:lnTo>
                  <a:pt x="311" y="227"/>
                </a:lnTo>
                <a:lnTo>
                  <a:pt x="327" y="237"/>
                </a:lnTo>
                <a:lnTo>
                  <a:pt x="344" y="245"/>
                </a:lnTo>
                <a:lnTo>
                  <a:pt x="360" y="251"/>
                </a:lnTo>
                <a:lnTo>
                  <a:pt x="377" y="255"/>
                </a:lnTo>
                <a:lnTo>
                  <a:pt x="393" y="256"/>
                </a:lnTo>
                <a:lnTo>
                  <a:pt x="393" y="261"/>
                </a:lnTo>
                <a:lnTo>
                  <a:pt x="377" y="260"/>
                </a:lnTo>
                <a:lnTo>
                  <a:pt x="360" y="256"/>
                </a:lnTo>
                <a:lnTo>
                  <a:pt x="344" y="250"/>
                </a:lnTo>
                <a:lnTo>
                  <a:pt x="327" y="242"/>
                </a:lnTo>
                <a:lnTo>
                  <a:pt x="311" y="233"/>
                </a:lnTo>
                <a:lnTo>
                  <a:pt x="295" y="221"/>
                </a:lnTo>
                <a:lnTo>
                  <a:pt x="278" y="209"/>
                </a:lnTo>
                <a:lnTo>
                  <a:pt x="262" y="195"/>
                </a:lnTo>
                <a:lnTo>
                  <a:pt x="246" y="181"/>
                </a:lnTo>
                <a:lnTo>
                  <a:pt x="229" y="165"/>
                </a:lnTo>
                <a:lnTo>
                  <a:pt x="213" y="150"/>
                </a:lnTo>
                <a:lnTo>
                  <a:pt x="196" y="134"/>
                </a:lnTo>
                <a:lnTo>
                  <a:pt x="180" y="118"/>
                </a:lnTo>
                <a:lnTo>
                  <a:pt x="164" y="102"/>
                </a:lnTo>
                <a:lnTo>
                  <a:pt x="147" y="87"/>
                </a:lnTo>
                <a:lnTo>
                  <a:pt x="131" y="72"/>
                </a:lnTo>
                <a:lnTo>
                  <a:pt x="114" y="58"/>
                </a:lnTo>
                <a:lnTo>
                  <a:pt x="98" y="46"/>
                </a:lnTo>
                <a:lnTo>
                  <a:pt x="82" y="34"/>
                </a:lnTo>
                <a:lnTo>
                  <a:pt x="65" y="25"/>
                </a:lnTo>
                <a:lnTo>
                  <a:pt x="49" y="17"/>
                </a:lnTo>
                <a:lnTo>
                  <a:pt x="33" y="11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Freeform 27"/>
          <p:cNvSpPr/>
          <p:nvPr/>
        </p:nvSpPr>
        <p:spPr>
          <a:xfrm>
            <a:off x="2057400" y="2476500"/>
            <a:ext cx="3743325" cy="2981325"/>
          </a:xfrm>
          <a:custGeom>
            <a:avLst/>
            <a:gdLst/>
            <a:ahLst/>
            <a:cxnLst/>
            <a:rect l="l" t="t" r="r" b="b"/>
            <a:pathLst>
              <a:path w="393" h="313">
                <a:moveTo>
                  <a:pt x="0" y="0"/>
                </a:moveTo>
                <a:lnTo>
                  <a:pt x="16" y="1"/>
                </a:lnTo>
                <a:lnTo>
                  <a:pt x="33" y="6"/>
                </a:lnTo>
                <a:lnTo>
                  <a:pt x="49" y="13"/>
                </a:lnTo>
                <a:lnTo>
                  <a:pt x="65" y="23"/>
                </a:lnTo>
                <a:lnTo>
                  <a:pt x="82" y="34"/>
                </a:lnTo>
                <a:lnTo>
                  <a:pt x="98" y="48"/>
                </a:lnTo>
                <a:lnTo>
                  <a:pt x="114" y="63"/>
                </a:lnTo>
                <a:lnTo>
                  <a:pt x="131" y="80"/>
                </a:lnTo>
                <a:lnTo>
                  <a:pt x="147" y="97"/>
                </a:lnTo>
                <a:lnTo>
                  <a:pt x="164" y="115"/>
                </a:lnTo>
                <a:lnTo>
                  <a:pt x="180" y="134"/>
                </a:lnTo>
                <a:lnTo>
                  <a:pt x="196" y="154"/>
                </a:lnTo>
                <a:lnTo>
                  <a:pt x="213" y="173"/>
                </a:lnTo>
                <a:lnTo>
                  <a:pt x="229" y="192"/>
                </a:lnTo>
                <a:lnTo>
                  <a:pt x="246" y="210"/>
                </a:lnTo>
                <a:lnTo>
                  <a:pt x="262" y="228"/>
                </a:lnTo>
                <a:lnTo>
                  <a:pt x="278" y="244"/>
                </a:lnTo>
                <a:lnTo>
                  <a:pt x="295" y="259"/>
                </a:lnTo>
                <a:lnTo>
                  <a:pt x="311" y="273"/>
                </a:lnTo>
                <a:lnTo>
                  <a:pt x="327" y="285"/>
                </a:lnTo>
                <a:lnTo>
                  <a:pt x="344" y="294"/>
                </a:lnTo>
                <a:lnTo>
                  <a:pt x="360" y="301"/>
                </a:lnTo>
                <a:lnTo>
                  <a:pt x="377" y="306"/>
                </a:lnTo>
                <a:lnTo>
                  <a:pt x="393" y="307"/>
                </a:lnTo>
                <a:lnTo>
                  <a:pt x="393" y="313"/>
                </a:lnTo>
                <a:lnTo>
                  <a:pt x="377" y="311"/>
                </a:lnTo>
                <a:lnTo>
                  <a:pt x="360" y="307"/>
                </a:lnTo>
                <a:lnTo>
                  <a:pt x="344" y="300"/>
                </a:lnTo>
                <a:lnTo>
                  <a:pt x="327" y="290"/>
                </a:lnTo>
                <a:lnTo>
                  <a:pt x="311" y="278"/>
                </a:lnTo>
                <a:lnTo>
                  <a:pt x="295" y="265"/>
                </a:lnTo>
                <a:lnTo>
                  <a:pt x="278" y="250"/>
                </a:lnTo>
                <a:lnTo>
                  <a:pt x="262" y="233"/>
                </a:lnTo>
                <a:lnTo>
                  <a:pt x="246" y="215"/>
                </a:lnTo>
                <a:lnTo>
                  <a:pt x="229" y="197"/>
                </a:lnTo>
                <a:lnTo>
                  <a:pt x="213" y="178"/>
                </a:lnTo>
                <a:lnTo>
                  <a:pt x="196" y="159"/>
                </a:lnTo>
                <a:lnTo>
                  <a:pt x="180" y="140"/>
                </a:lnTo>
                <a:lnTo>
                  <a:pt x="164" y="121"/>
                </a:lnTo>
                <a:lnTo>
                  <a:pt x="147" y="102"/>
                </a:lnTo>
                <a:lnTo>
                  <a:pt x="131" y="85"/>
                </a:lnTo>
                <a:lnTo>
                  <a:pt x="114" y="68"/>
                </a:lnTo>
                <a:lnTo>
                  <a:pt x="98" y="53"/>
                </a:lnTo>
                <a:lnTo>
                  <a:pt x="82" y="40"/>
                </a:lnTo>
                <a:lnTo>
                  <a:pt x="65" y="28"/>
                </a:lnTo>
                <a:lnTo>
                  <a:pt x="49" y="18"/>
                </a:lnTo>
                <a:lnTo>
                  <a:pt x="33" y="11"/>
                </a:lnTo>
                <a:lnTo>
                  <a:pt x="16" y="7"/>
                </a:lnTo>
                <a:lnTo>
                  <a:pt x="0" y="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Freeform 28"/>
          <p:cNvSpPr/>
          <p:nvPr/>
        </p:nvSpPr>
        <p:spPr>
          <a:xfrm>
            <a:off x="2057400" y="2524125"/>
            <a:ext cx="3743325" cy="3476625"/>
          </a:xfrm>
          <a:custGeom>
            <a:avLst/>
            <a:gdLst/>
            <a:ahLst/>
            <a:cxnLst/>
            <a:rect l="l" t="t" r="r" b="b"/>
            <a:pathLst>
              <a:path w="393" h="365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6"/>
                </a:lnTo>
                <a:lnTo>
                  <a:pt x="65" y="27"/>
                </a:lnTo>
                <a:lnTo>
                  <a:pt x="82" y="40"/>
                </a:lnTo>
                <a:lnTo>
                  <a:pt x="98" y="56"/>
                </a:lnTo>
                <a:lnTo>
                  <a:pt x="114" y="74"/>
                </a:lnTo>
                <a:lnTo>
                  <a:pt x="131" y="93"/>
                </a:lnTo>
                <a:lnTo>
                  <a:pt x="147" y="114"/>
                </a:lnTo>
                <a:lnTo>
                  <a:pt x="164" y="135"/>
                </a:lnTo>
                <a:lnTo>
                  <a:pt x="180" y="158"/>
                </a:lnTo>
                <a:lnTo>
                  <a:pt x="196" y="180"/>
                </a:lnTo>
                <a:lnTo>
                  <a:pt x="213" y="202"/>
                </a:lnTo>
                <a:lnTo>
                  <a:pt x="229" y="224"/>
                </a:lnTo>
                <a:lnTo>
                  <a:pt x="246" y="246"/>
                </a:lnTo>
                <a:lnTo>
                  <a:pt x="262" y="266"/>
                </a:lnTo>
                <a:lnTo>
                  <a:pt x="278" y="286"/>
                </a:lnTo>
                <a:lnTo>
                  <a:pt x="295" y="304"/>
                </a:lnTo>
                <a:lnTo>
                  <a:pt x="311" y="319"/>
                </a:lnTo>
                <a:lnTo>
                  <a:pt x="327" y="333"/>
                </a:lnTo>
                <a:lnTo>
                  <a:pt x="344" y="344"/>
                </a:lnTo>
                <a:lnTo>
                  <a:pt x="360" y="353"/>
                </a:lnTo>
                <a:lnTo>
                  <a:pt x="377" y="358"/>
                </a:lnTo>
                <a:lnTo>
                  <a:pt x="393" y="360"/>
                </a:lnTo>
                <a:lnTo>
                  <a:pt x="393" y="365"/>
                </a:lnTo>
                <a:lnTo>
                  <a:pt x="377" y="363"/>
                </a:lnTo>
                <a:lnTo>
                  <a:pt x="360" y="358"/>
                </a:lnTo>
                <a:lnTo>
                  <a:pt x="344" y="349"/>
                </a:lnTo>
                <a:lnTo>
                  <a:pt x="327" y="338"/>
                </a:lnTo>
                <a:lnTo>
                  <a:pt x="311" y="325"/>
                </a:lnTo>
                <a:lnTo>
                  <a:pt x="295" y="309"/>
                </a:lnTo>
                <a:lnTo>
                  <a:pt x="278" y="291"/>
                </a:lnTo>
                <a:lnTo>
                  <a:pt x="262" y="272"/>
                </a:lnTo>
                <a:lnTo>
                  <a:pt x="246" y="251"/>
                </a:lnTo>
                <a:lnTo>
                  <a:pt x="229" y="230"/>
                </a:lnTo>
                <a:lnTo>
                  <a:pt x="213" y="208"/>
                </a:lnTo>
                <a:lnTo>
                  <a:pt x="196" y="185"/>
                </a:lnTo>
                <a:lnTo>
                  <a:pt x="180" y="163"/>
                </a:lnTo>
                <a:lnTo>
                  <a:pt x="164" y="141"/>
                </a:lnTo>
                <a:lnTo>
                  <a:pt x="147" y="119"/>
                </a:lnTo>
                <a:lnTo>
                  <a:pt x="131" y="99"/>
                </a:lnTo>
                <a:lnTo>
                  <a:pt x="114" y="79"/>
                </a:lnTo>
                <a:lnTo>
                  <a:pt x="98" y="62"/>
                </a:lnTo>
                <a:lnTo>
                  <a:pt x="82" y="46"/>
                </a:lnTo>
                <a:lnTo>
                  <a:pt x="65" y="32"/>
                </a:lnTo>
                <a:lnTo>
                  <a:pt x="49" y="21"/>
                </a:lnTo>
                <a:lnTo>
                  <a:pt x="33" y="12"/>
                </a:lnTo>
                <a:lnTo>
                  <a:pt x="16" y="7"/>
                </a:lnTo>
                <a:lnTo>
                  <a:pt x="0" y="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Freeform 29"/>
          <p:cNvSpPr/>
          <p:nvPr/>
        </p:nvSpPr>
        <p:spPr>
          <a:xfrm>
            <a:off x="2057400" y="1619250"/>
            <a:ext cx="3743325" cy="1057275"/>
          </a:xfrm>
          <a:custGeom>
            <a:avLst/>
            <a:gdLst/>
            <a:ahLst/>
            <a:cxnLst/>
            <a:rect l="l" t="t" r="r" b="b"/>
            <a:pathLst>
              <a:path w="393" h="111">
                <a:moveTo>
                  <a:pt x="0" y="106"/>
                </a:moveTo>
                <a:lnTo>
                  <a:pt x="16" y="106"/>
                </a:lnTo>
                <a:lnTo>
                  <a:pt x="33" y="104"/>
                </a:lnTo>
                <a:lnTo>
                  <a:pt x="49" y="102"/>
                </a:lnTo>
                <a:lnTo>
                  <a:pt x="65" y="98"/>
                </a:lnTo>
                <a:lnTo>
                  <a:pt x="82" y="94"/>
                </a:lnTo>
                <a:lnTo>
                  <a:pt x="98" y="90"/>
                </a:lnTo>
                <a:lnTo>
                  <a:pt x="114" y="85"/>
                </a:lnTo>
                <a:lnTo>
                  <a:pt x="131" y="79"/>
                </a:lnTo>
                <a:lnTo>
                  <a:pt x="147" y="73"/>
                </a:lnTo>
                <a:lnTo>
                  <a:pt x="164" y="66"/>
                </a:lnTo>
                <a:lnTo>
                  <a:pt x="180" y="60"/>
                </a:lnTo>
                <a:lnTo>
                  <a:pt x="196" y="53"/>
                </a:lnTo>
                <a:lnTo>
                  <a:pt x="213" y="47"/>
                </a:lnTo>
                <a:lnTo>
                  <a:pt x="229" y="40"/>
                </a:lnTo>
                <a:lnTo>
                  <a:pt x="246" y="34"/>
                </a:lnTo>
                <a:lnTo>
                  <a:pt x="262" y="28"/>
                </a:lnTo>
                <a:lnTo>
                  <a:pt x="278" y="22"/>
                </a:lnTo>
                <a:lnTo>
                  <a:pt x="295" y="17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7"/>
                </a:lnTo>
                <a:lnTo>
                  <a:pt x="344" y="9"/>
                </a:lnTo>
                <a:lnTo>
                  <a:pt x="327" y="13"/>
                </a:lnTo>
                <a:lnTo>
                  <a:pt x="311" y="17"/>
                </a:lnTo>
                <a:lnTo>
                  <a:pt x="295" y="21"/>
                </a:lnTo>
                <a:lnTo>
                  <a:pt x="278" y="26"/>
                </a:lnTo>
                <a:lnTo>
                  <a:pt x="262" y="32"/>
                </a:lnTo>
                <a:lnTo>
                  <a:pt x="246" y="38"/>
                </a:lnTo>
                <a:lnTo>
                  <a:pt x="229" y="45"/>
                </a:lnTo>
                <a:lnTo>
                  <a:pt x="213" y="51"/>
                </a:lnTo>
                <a:lnTo>
                  <a:pt x="196" y="58"/>
                </a:lnTo>
                <a:lnTo>
                  <a:pt x="180" y="64"/>
                </a:lnTo>
                <a:lnTo>
                  <a:pt x="164" y="71"/>
                </a:lnTo>
                <a:lnTo>
                  <a:pt x="147" y="77"/>
                </a:lnTo>
                <a:lnTo>
                  <a:pt x="131" y="83"/>
                </a:lnTo>
                <a:lnTo>
                  <a:pt x="114" y="89"/>
                </a:lnTo>
                <a:lnTo>
                  <a:pt x="98" y="94"/>
                </a:lnTo>
                <a:lnTo>
                  <a:pt x="82" y="99"/>
                </a:lnTo>
                <a:lnTo>
                  <a:pt x="65" y="103"/>
                </a:lnTo>
                <a:lnTo>
                  <a:pt x="49" y="106"/>
                </a:lnTo>
                <a:lnTo>
                  <a:pt x="33" y="109"/>
                </a:lnTo>
                <a:lnTo>
                  <a:pt x="16" y="110"/>
                </a:lnTo>
                <a:lnTo>
                  <a:pt x="0" y="111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Freeform 30"/>
          <p:cNvSpPr/>
          <p:nvPr/>
        </p:nvSpPr>
        <p:spPr>
          <a:xfrm>
            <a:off x="2057400" y="2162175"/>
            <a:ext cx="3743325" cy="552450"/>
          </a:xfrm>
          <a:custGeom>
            <a:avLst/>
            <a:gdLst/>
            <a:ahLst/>
            <a:cxnLst/>
            <a:rect l="l" t="t" r="r" b="b"/>
            <a:pathLst>
              <a:path w="393" h="58">
                <a:moveTo>
                  <a:pt x="0" y="54"/>
                </a:moveTo>
                <a:lnTo>
                  <a:pt x="16" y="54"/>
                </a:lnTo>
                <a:lnTo>
                  <a:pt x="33" y="53"/>
                </a:lnTo>
                <a:lnTo>
                  <a:pt x="49" y="52"/>
                </a:lnTo>
                <a:lnTo>
                  <a:pt x="65" y="50"/>
                </a:lnTo>
                <a:lnTo>
                  <a:pt x="82" y="48"/>
                </a:lnTo>
                <a:lnTo>
                  <a:pt x="98" y="46"/>
                </a:lnTo>
                <a:lnTo>
                  <a:pt x="114" y="43"/>
                </a:lnTo>
                <a:lnTo>
                  <a:pt x="131" y="40"/>
                </a:lnTo>
                <a:lnTo>
                  <a:pt x="147" y="37"/>
                </a:lnTo>
                <a:lnTo>
                  <a:pt x="164" y="34"/>
                </a:lnTo>
                <a:lnTo>
                  <a:pt x="180" y="30"/>
                </a:lnTo>
                <a:lnTo>
                  <a:pt x="196" y="27"/>
                </a:lnTo>
                <a:lnTo>
                  <a:pt x="213" y="24"/>
                </a:lnTo>
                <a:lnTo>
                  <a:pt x="229" y="20"/>
                </a:lnTo>
                <a:lnTo>
                  <a:pt x="246" y="17"/>
                </a:lnTo>
                <a:lnTo>
                  <a:pt x="262" y="14"/>
                </a:lnTo>
                <a:lnTo>
                  <a:pt x="278" y="11"/>
                </a:lnTo>
                <a:lnTo>
                  <a:pt x="295" y="8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5"/>
                </a:lnTo>
                <a:lnTo>
                  <a:pt x="344" y="7"/>
                </a:lnTo>
                <a:lnTo>
                  <a:pt x="327" y="8"/>
                </a:lnTo>
                <a:lnTo>
                  <a:pt x="311" y="10"/>
                </a:lnTo>
                <a:lnTo>
                  <a:pt x="295" y="13"/>
                </a:lnTo>
                <a:lnTo>
                  <a:pt x="278" y="16"/>
                </a:lnTo>
                <a:lnTo>
                  <a:pt x="262" y="18"/>
                </a:lnTo>
                <a:lnTo>
                  <a:pt x="246" y="22"/>
                </a:lnTo>
                <a:lnTo>
                  <a:pt x="229" y="25"/>
                </a:lnTo>
                <a:lnTo>
                  <a:pt x="213" y="28"/>
                </a:lnTo>
                <a:lnTo>
                  <a:pt x="196" y="31"/>
                </a:lnTo>
                <a:lnTo>
                  <a:pt x="180" y="35"/>
                </a:lnTo>
                <a:lnTo>
                  <a:pt x="164" y="38"/>
                </a:lnTo>
                <a:lnTo>
                  <a:pt x="147" y="41"/>
                </a:lnTo>
                <a:lnTo>
                  <a:pt x="131" y="44"/>
                </a:lnTo>
                <a:lnTo>
                  <a:pt x="114" y="47"/>
                </a:lnTo>
                <a:lnTo>
                  <a:pt x="98" y="50"/>
                </a:lnTo>
                <a:lnTo>
                  <a:pt x="82" y="52"/>
                </a:lnTo>
                <a:lnTo>
                  <a:pt x="65" y="54"/>
                </a:lnTo>
                <a:lnTo>
                  <a:pt x="49" y="56"/>
                </a:lnTo>
                <a:lnTo>
                  <a:pt x="33" y="57"/>
                </a:lnTo>
                <a:lnTo>
                  <a:pt x="1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Freeform 31"/>
          <p:cNvSpPr/>
          <p:nvPr/>
        </p:nvSpPr>
        <p:spPr>
          <a:xfrm>
            <a:off x="2057400" y="2714625"/>
            <a:ext cx="3743325" cy="47625"/>
          </a:xfrm>
          <a:custGeom>
            <a:avLst/>
            <a:gdLst/>
            <a:ahLst/>
            <a:cxnLst/>
            <a:rect l="l" t="t" r="r" b="b"/>
            <a:pathLst>
              <a:path w="393" h="5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0"/>
                </a:lnTo>
                <a:lnTo>
                  <a:pt x="82" y="0"/>
                </a:lnTo>
                <a:lnTo>
                  <a:pt x="98" y="0"/>
                </a:lnTo>
                <a:lnTo>
                  <a:pt x="114" y="0"/>
                </a:lnTo>
                <a:lnTo>
                  <a:pt x="131" y="0"/>
                </a:lnTo>
                <a:lnTo>
                  <a:pt x="147" y="0"/>
                </a:lnTo>
                <a:lnTo>
                  <a:pt x="164" y="0"/>
                </a:lnTo>
                <a:lnTo>
                  <a:pt x="180" y="0"/>
                </a:lnTo>
                <a:lnTo>
                  <a:pt x="196" y="0"/>
                </a:lnTo>
                <a:lnTo>
                  <a:pt x="213" y="0"/>
                </a:lnTo>
                <a:lnTo>
                  <a:pt x="229" y="0"/>
                </a:lnTo>
                <a:lnTo>
                  <a:pt x="246" y="0"/>
                </a:lnTo>
                <a:lnTo>
                  <a:pt x="262" y="0"/>
                </a:lnTo>
                <a:lnTo>
                  <a:pt x="278" y="0"/>
                </a:lnTo>
                <a:lnTo>
                  <a:pt x="295" y="0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4"/>
                </a:lnTo>
                <a:lnTo>
                  <a:pt x="344" y="4"/>
                </a:lnTo>
                <a:lnTo>
                  <a:pt x="327" y="4"/>
                </a:lnTo>
                <a:lnTo>
                  <a:pt x="311" y="4"/>
                </a:lnTo>
                <a:lnTo>
                  <a:pt x="295" y="4"/>
                </a:lnTo>
                <a:lnTo>
                  <a:pt x="278" y="5"/>
                </a:lnTo>
                <a:lnTo>
                  <a:pt x="262" y="5"/>
                </a:lnTo>
                <a:lnTo>
                  <a:pt x="246" y="5"/>
                </a:lnTo>
                <a:lnTo>
                  <a:pt x="229" y="5"/>
                </a:lnTo>
                <a:lnTo>
                  <a:pt x="213" y="5"/>
                </a:lnTo>
                <a:lnTo>
                  <a:pt x="196" y="5"/>
                </a:lnTo>
                <a:lnTo>
                  <a:pt x="180" y="5"/>
                </a:lnTo>
                <a:lnTo>
                  <a:pt x="164" y="5"/>
                </a:lnTo>
                <a:lnTo>
                  <a:pt x="147" y="5"/>
                </a:lnTo>
                <a:lnTo>
                  <a:pt x="131" y="5"/>
                </a:lnTo>
                <a:lnTo>
                  <a:pt x="114" y="5"/>
                </a:lnTo>
                <a:lnTo>
                  <a:pt x="98" y="5"/>
                </a:lnTo>
                <a:lnTo>
                  <a:pt x="82" y="5"/>
                </a:lnTo>
                <a:lnTo>
                  <a:pt x="65" y="5"/>
                </a:lnTo>
                <a:lnTo>
                  <a:pt x="49" y="5"/>
                </a:lnTo>
                <a:lnTo>
                  <a:pt x="33" y="5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Freeform 32"/>
          <p:cNvSpPr/>
          <p:nvPr/>
        </p:nvSpPr>
        <p:spPr>
          <a:xfrm>
            <a:off x="2057400" y="2762250"/>
            <a:ext cx="3743325" cy="533400"/>
          </a:xfrm>
          <a:custGeom>
            <a:avLst/>
            <a:gdLst/>
            <a:ahLst/>
            <a:cxnLst/>
            <a:rect l="l" t="t" r="r" b="b"/>
            <a:pathLst>
              <a:path w="393" h="56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6"/>
                </a:lnTo>
                <a:lnTo>
                  <a:pt x="98" y="8"/>
                </a:lnTo>
                <a:lnTo>
                  <a:pt x="114" y="11"/>
                </a:lnTo>
                <a:lnTo>
                  <a:pt x="131" y="13"/>
                </a:lnTo>
                <a:lnTo>
                  <a:pt x="147" y="16"/>
                </a:lnTo>
                <a:lnTo>
                  <a:pt x="164" y="20"/>
                </a:lnTo>
                <a:lnTo>
                  <a:pt x="180" y="23"/>
                </a:lnTo>
                <a:lnTo>
                  <a:pt x="196" y="26"/>
                </a:lnTo>
                <a:lnTo>
                  <a:pt x="213" y="29"/>
                </a:lnTo>
                <a:lnTo>
                  <a:pt x="229" y="32"/>
                </a:lnTo>
                <a:lnTo>
                  <a:pt x="246" y="35"/>
                </a:lnTo>
                <a:lnTo>
                  <a:pt x="262" y="38"/>
                </a:lnTo>
                <a:lnTo>
                  <a:pt x="278" y="41"/>
                </a:lnTo>
                <a:lnTo>
                  <a:pt x="295" y="44"/>
                </a:lnTo>
                <a:lnTo>
                  <a:pt x="311" y="46"/>
                </a:lnTo>
                <a:lnTo>
                  <a:pt x="327" y="48"/>
                </a:lnTo>
                <a:lnTo>
                  <a:pt x="344" y="50"/>
                </a:lnTo>
                <a:lnTo>
                  <a:pt x="360" y="51"/>
                </a:lnTo>
                <a:lnTo>
                  <a:pt x="377" y="52"/>
                </a:lnTo>
                <a:lnTo>
                  <a:pt x="393" y="52"/>
                </a:lnTo>
                <a:lnTo>
                  <a:pt x="393" y="56"/>
                </a:lnTo>
                <a:lnTo>
                  <a:pt x="377" y="56"/>
                </a:lnTo>
                <a:lnTo>
                  <a:pt x="360" y="55"/>
                </a:lnTo>
                <a:lnTo>
                  <a:pt x="344" y="54"/>
                </a:lnTo>
                <a:lnTo>
                  <a:pt x="327" y="53"/>
                </a:lnTo>
                <a:lnTo>
                  <a:pt x="311" y="51"/>
                </a:lnTo>
                <a:lnTo>
                  <a:pt x="295" y="48"/>
                </a:lnTo>
                <a:lnTo>
                  <a:pt x="278" y="46"/>
                </a:lnTo>
                <a:lnTo>
                  <a:pt x="262" y="43"/>
                </a:lnTo>
                <a:lnTo>
                  <a:pt x="246" y="40"/>
                </a:lnTo>
                <a:lnTo>
                  <a:pt x="229" y="37"/>
                </a:lnTo>
                <a:lnTo>
                  <a:pt x="213" y="34"/>
                </a:lnTo>
                <a:lnTo>
                  <a:pt x="196" y="31"/>
                </a:lnTo>
                <a:lnTo>
                  <a:pt x="180" y="27"/>
                </a:lnTo>
                <a:lnTo>
                  <a:pt x="164" y="24"/>
                </a:lnTo>
                <a:lnTo>
                  <a:pt x="147" y="21"/>
                </a:lnTo>
                <a:lnTo>
                  <a:pt x="131" y="18"/>
                </a:lnTo>
                <a:lnTo>
                  <a:pt x="114" y="15"/>
                </a:lnTo>
                <a:lnTo>
                  <a:pt x="98" y="13"/>
                </a:lnTo>
                <a:lnTo>
                  <a:pt x="82" y="11"/>
                </a:lnTo>
                <a:lnTo>
                  <a:pt x="65" y="9"/>
                </a:lnTo>
                <a:lnTo>
                  <a:pt x="49" y="7"/>
                </a:lnTo>
                <a:lnTo>
                  <a:pt x="33" y="6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Freeform 33"/>
          <p:cNvSpPr/>
          <p:nvPr/>
        </p:nvSpPr>
        <p:spPr>
          <a:xfrm>
            <a:off x="2057400" y="2809875"/>
            <a:ext cx="3743325" cy="1038225"/>
          </a:xfrm>
          <a:custGeom>
            <a:avLst/>
            <a:gdLst/>
            <a:ahLst/>
            <a:cxnLst/>
            <a:rect l="l" t="t" r="r" b="b"/>
            <a:pathLst>
              <a:path w="393" h="109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8"/>
                </a:lnTo>
                <a:lnTo>
                  <a:pt x="82" y="12"/>
                </a:lnTo>
                <a:lnTo>
                  <a:pt x="98" y="16"/>
                </a:lnTo>
                <a:lnTo>
                  <a:pt x="114" y="21"/>
                </a:lnTo>
                <a:lnTo>
                  <a:pt x="131" y="27"/>
                </a:lnTo>
                <a:lnTo>
                  <a:pt x="147" y="33"/>
                </a:lnTo>
                <a:lnTo>
                  <a:pt x="164" y="39"/>
                </a:lnTo>
                <a:lnTo>
                  <a:pt x="180" y="46"/>
                </a:lnTo>
                <a:lnTo>
                  <a:pt x="196" y="52"/>
                </a:lnTo>
                <a:lnTo>
                  <a:pt x="213" y="59"/>
                </a:lnTo>
                <a:lnTo>
                  <a:pt x="229" y="65"/>
                </a:lnTo>
                <a:lnTo>
                  <a:pt x="246" y="71"/>
                </a:lnTo>
                <a:lnTo>
                  <a:pt x="262" y="77"/>
                </a:lnTo>
                <a:lnTo>
                  <a:pt x="278" y="83"/>
                </a:lnTo>
                <a:lnTo>
                  <a:pt x="295" y="88"/>
                </a:lnTo>
                <a:lnTo>
                  <a:pt x="311" y="93"/>
                </a:lnTo>
                <a:lnTo>
                  <a:pt x="327" y="97"/>
                </a:lnTo>
                <a:lnTo>
                  <a:pt x="344" y="100"/>
                </a:lnTo>
                <a:lnTo>
                  <a:pt x="360" y="103"/>
                </a:lnTo>
                <a:lnTo>
                  <a:pt x="377" y="104"/>
                </a:lnTo>
                <a:lnTo>
                  <a:pt x="393" y="105"/>
                </a:lnTo>
                <a:lnTo>
                  <a:pt x="393" y="109"/>
                </a:lnTo>
                <a:lnTo>
                  <a:pt x="377" y="109"/>
                </a:lnTo>
                <a:lnTo>
                  <a:pt x="360" y="107"/>
                </a:lnTo>
                <a:lnTo>
                  <a:pt x="344" y="105"/>
                </a:lnTo>
                <a:lnTo>
                  <a:pt x="327" y="101"/>
                </a:lnTo>
                <a:lnTo>
                  <a:pt x="311" y="97"/>
                </a:lnTo>
                <a:lnTo>
                  <a:pt x="295" y="93"/>
                </a:lnTo>
                <a:lnTo>
                  <a:pt x="278" y="88"/>
                </a:lnTo>
                <a:lnTo>
                  <a:pt x="262" y="82"/>
                </a:lnTo>
                <a:lnTo>
                  <a:pt x="246" y="76"/>
                </a:lnTo>
                <a:lnTo>
                  <a:pt x="229" y="70"/>
                </a:lnTo>
                <a:lnTo>
                  <a:pt x="213" y="63"/>
                </a:lnTo>
                <a:lnTo>
                  <a:pt x="196" y="57"/>
                </a:lnTo>
                <a:lnTo>
                  <a:pt x="180" y="50"/>
                </a:lnTo>
                <a:lnTo>
                  <a:pt x="164" y="44"/>
                </a:lnTo>
                <a:lnTo>
                  <a:pt x="147" y="38"/>
                </a:lnTo>
                <a:lnTo>
                  <a:pt x="131" y="32"/>
                </a:lnTo>
                <a:lnTo>
                  <a:pt x="114" y="26"/>
                </a:lnTo>
                <a:lnTo>
                  <a:pt x="98" y="21"/>
                </a:lnTo>
                <a:lnTo>
                  <a:pt x="82" y="16"/>
                </a:lnTo>
                <a:lnTo>
                  <a:pt x="65" y="12"/>
                </a:lnTo>
                <a:lnTo>
                  <a:pt x="49" y="9"/>
                </a:lnTo>
                <a:lnTo>
                  <a:pt x="33" y="6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Freeform 34"/>
          <p:cNvSpPr/>
          <p:nvPr/>
        </p:nvSpPr>
        <p:spPr>
          <a:xfrm>
            <a:off x="2057400" y="2847975"/>
            <a:ext cx="3743325" cy="1543050"/>
          </a:xfrm>
          <a:custGeom>
            <a:avLst/>
            <a:gdLst/>
            <a:ahLst/>
            <a:cxnLst/>
            <a:rect l="l" t="t" r="r" b="b"/>
            <a:pathLst>
              <a:path w="393" h="162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8"/>
                </a:lnTo>
                <a:lnTo>
                  <a:pt x="98" y="25"/>
                </a:lnTo>
                <a:lnTo>
                  <a:pt x="114" y="33"/>
                </a:lnTo>
                <a:lnTo>
                  <a:pt x="131" y="41"/>
                </a:lnTo>
                <a:lnTo>
                  <a:pt x="147" y="50"/>
                </a:lnTo>
                <a:lnTo>
                  <a:pt x="164" y="60"/>
                </a:lnTo>
                <a:lnTo>
                  <a:pt x="180" y="69"/>
                </a:lnTo>
                <a:lnTo>
                  <a:pt x="196" y="79"/>
                </a:lnTo>
                <a:lnTo>
                  <a:pt x="213" y="89"/>
                </a:lnTo>
                <a:lnTo>
                  <a:pt x="229" y="99"/>
                </a:lnTo>
                <a:lnTo>
                  <a:pt x="246" y="108"/>
                </a:lnTo>
                <a:lnTo>
                  <a:pt x="262" y="117"/>
                </a:lnTo>
                <a:lnTo>
                  <a:pt x="278" y="126"/>
                </a:lnTo>
                <a:lnTo>
                  <a:pt x="295" y="133"/>
                </a:lnTo>
                <a:lnTo>
                  <a:pt x="311" y="140"/>
                </a:lnTo>
                <a:lnTo>
                  <a:pt x="327" y="146"/>
                </a:lnTo>
                <a:lnTo>
                  <a:pt x="344" y="151"/>
                </a:lnTo>
                <a:lnTo>
                  <a:pt x="360" y="155"/>
                </a:lnTo>
                <a:lnTo>
                  <a:pt x="377" y="157"/>
                </a:lnTo>
                <a:lnTo>
                  <a:pt x="393" y="158"/>
                </a:lnTo>
                <a:lnTo>
                  <a:pt x="393" y="162"/>
                </a:lnTo>
                <a:lnTo>
                  <a:pt x="377" y="162"/>
                </a:lnTo>
                <a:lnTo>
                  <a:pt x="360" y="159"/>
                </a:lnTo>
                <a:lnTo>
                  <a:pt x="344" y="156"/>
                </a:lnTo>
                <a:lnTo>
                  <a:pt x="327" y="151"/>
                </a:lnTo>
                <a:lnTo>
                  <a:pt x="311" y="145"/>
                </a:lnTo>
                <a:lnTo>
                  <a:pt x="295" y="138"/>
                </a:lnTo>
                <a:lnTo>
                  <a:pt x="278" y="130"/>
                </a:lnTo>
                <a:lnTo>
                  <a:pt x="262" y="121"/>
                </a:lnTo>
                <a:lnTo>
                  <a:pt x="246" y="112"/>
                </a:lnTo>
                <a:lnTo>
                  <a:pt x="229" y="103"/>
                </a:lnTo>
                <a:lnTo>
                  <a:pt x="213" y="93"/>
                </a:lnTo>
                <a:lnTo>
                  <a:pt x="196" y="84"/>
                </a:lnTo>
                <a:lnTo>
                  <a:pt x="180" y="74"/>
                </a:lnTo>
                <a:lnTo>
                  <a:pt x="164" y="64"/>
                </a:lnTo>
                <a:lnTo>
                  <a:pt x="147" y="55"/>
                </a:lnTo>
                <a:lnTo>
                  <a:pt x="131" y="46"/>
                </a:lnTo>
                <a:lnTo>
                  <a:pt x="114" y="37"/>
                </a:lnTo>
                <a:lnTo>
                  <a:pt x="98" y="29"/>
                </a:lnTo>
                <a:lnTo>
                  <a:pt x="82" y="22"/>
                </a:lnTo>
                <a:lnTo>
                  <a:pt x="65" y="16"/>
                </a:lnTo>
                <a:lnTo>
                  <a:pt x="49" y="11"/>
                </a:lnTo>
                <a:lnTo>
                  <a:pt x="33" y="8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Freeform 35"/>
          <p:cNvSpPr/>
          <p:nvPr/>
        </p:nvSpPr>
        <p:spPr>
          <a:xfrm>
            <a:off x="2057400" y="2895600"/>
            <a:ext cx="3743325" cy="2057400"/>
          </a:xfrm>
          <a:custGeom>
            <a:avLst/>
            <a:gdLst/>
            <a:ahLst/>
            <a:cxnLst/>
            <a:rect l="l" t="t" r="r" b="b"/>
            <a:pathLst>
              <a:path w="393" h="216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3"/>
                </a:lnTo>
                <a:lnTo>
                  <a:pt x="98" y="33"/>
                </a:lnTo>
                <a:lnTo>
                  <a:pt x="114" y="43"/>
                </a:lnTo>
                <a:lnTo>
                  <a:pt x="131" y="55"/>
                </a:lnTo>
                <a:lnTo>
                  <a:pt x="147" y="67"/>
                </a:lnTo>
                <a:lnTo>
                  <a:pt x="164" y="79"/>
                </a:lnTo>
                <a:lnTo>
                  <a:pt x="180" y="92"/>
                </a:lnTo>
                <a:lnTo>
                  <a:pt x="196" y="106"/>
                </a:lnTo>
                <a:lnTo>
                  <a:pt x="213" y="119"/>
                </a:lnTo>
                <a:lnTo>
                  <a:pt x="229" y="132"/>
                </a:lnTo>
                <a:lnTo>
                  <a:pt x="246" y="144"/>
                </a:lnTo>
                <a:lnTo>
                  <a:pt x="262" y="156"/>
                </a:lnTo>
                <a:lnTo>
                  <a:pt x="278" y="168"/>
                </a:lnTo>
                <a:lnTo>
                  <a:pt x="295" y="178"/>
                </a:lnTo>
                <a:lnTo>
                  <a:pt x="311" y="188"/>
                </a:lnTo>
                <a:lnTo>
                  <a:pt x="327" y="196"/>
                </a:lnTo>
                <a:lnTo>
                  <a:pt x="344" y="202"/>
                </a:lnTo>
                <a:lnTo>
                  <a:pt x="360" y="207"/>
                </a:lnTo>
                <a:lnTo>
                  <a:pt x="377" y="210"/>
                </a:lnTo>
                <a:lnTo>
                  <a:pt x="393" y="211"/>
                </a:lnTo>
                <a:lnTo>
                  <a:pt x="393" y="216"/>
                </a:lnTo>
                <a:lnTo>
                  <a:pt x="377" y="215"/>
                </a:lnTo>
                <a:lnTo>
                  <a:pt x="360" y="212"/>
                </a:lnTo>
                <a:lnTo>
                  <a:pt x="344" y="207"/>
                </a:lnTo>
                <a:lnTo>
                  <a:pt x="327" y="201"/>
                </a:lnTo>
                <a:lnTo>
                  <a:pt x="311" y="193"/>
                </a:lnTo>
                <a:lnTo>
                  <a:pt x="295" y="183"/>
                </a:lnTo>
                <a:lnTo>
                  <a:pt x="278" y="173"/>
                </a:lnTo>
                <a:lnTo>
                  <a:pt x="262" y="162"/>
                </a:lnTo>
                <a:lnTo>
                  <a:pt x="246" y="149"/>
                </a:lnTo>
                <a:lnTo>
                  <a:pt x="229" y="137"/>
                </a:lnTo>
                <a:lnTo>
                  <a:pt x="213" y="124"/>
                </a:lnTo>
                <a:lnTo>
                  <a:pt x="196" y="111"/>
                </a:lnTo>
                <a:lnTo>
                  <a:pt x="180" y="97"/>
                </a:lnTo>
                <a:lnTo>
                  <a:pt x="164" y="84"/>
                </a:lnTo>
                <a:lnTo>
                  <a:pt x="147" y="72"/>
                </a:lnTo>
                <a:lnTo>
                  <a:pt x="131" y="60"/>
                </a:lnTo>
                <a:lnTo>
                  <a:pt x="114" y="48"/>
                </a:lnTo>
                <a:lnTo>
                  <a:pt x="98" y="38"/>
                </a:lnTo>
                <a:lnTo>
                  <a:pt x="82" y="28"/>
                </a:lnTo>
                <a:lnTo>
                  <a:pt x="65" y="20"/>
                </a:lnTo>
                <a:lnTo>
                  <a:pt x="49" y="14"/>
                </a:lnTo>
                <a:lnTo>
                  <a:pt x="33" y="9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Freeform 36"/>
          <p:cNvSpPr/>
          <p:nvPr/>
        </p:nvSpPr>
        <p:spPr>
          <a:xfrm>
            <a:off x="2057400" y="2943225"/>
            <a:ext cx="3743325" cy="2562225"/>
          </a:xfrm>
          <a:custGeom>
            <a:avLst/>
            <a:gdLst/>
            <a:ahLst/>
            <a:cxnLst/>
            <a:rect l="l" t="t" r="r" b="b"/>
            <a:pathLst>
              <a:path w="393" h="269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19"/>
                </a:lnTo>
                <a:lnTo>
                  <a:pt x="82" y="29"/>
                </a:lnTo>
                <a:lnTo>
                  <a:pt x="98" y="41"/>
                </a:lnTo>
                <a:lnTo>
                  <a:pt x="114" y="54"/>
                </a:lnTo>
                <a:lnTo>
                  <a:pt x="131" y="68"/>
                </a:lnTo>
                <a:lnTo>
                  <a:pt x="147" y="83"/>
                </a:lnTo>
                <a:lnTo>
                  <a:pt x="164" y="99"/>
                </a:lnTo>
                <a:lnTo>
                  <a:pt x="180" y="115"/>
                </a:lnTo>
                <a:lnTo>
                  <a:pt x="196" y="132"/>
                </a:lnTo>
                <a:lnTo>
                  <a:pt x="213" y="148"/>
                </a:lnTo>
                <a:lnTo>
                  <a:pt x="229" y="164"/>
                </a:lnTo>
                <a:lnTo>
                  <a:pt x="246" y="180"/>
                </a:lnTo>
                <a:lnTo>
                  <a:pt x="262" y="195"/>
                </a:lnTo>
                <a:lnTo>
                  <a:pt x="278" y="210"/>
                </a:lnTo>
                <a:lnTo>
                  <a:pt x="295" y="223"/>
                </a:lnTo>
                <a:lnTo>
                  <a:pt x="311" y="234"/>
                </a:lnTo>
                <a:lnTo>
                  <a:pt x="327" y="244"/>
                </a:lnTo>
                <a:lnTo>
                  <a:pt x="344" y="252"/>
                </a:lnTo>
                <a:lnTo>
                  <a:pt x="360" y="259"/>
                </a:lnTo>
                <a:lnTo>
                  <a:pt x="377" y="262"/>
                </a:lnTo>
                <a:lnTo>
                  <a:pt x="393" y="264"/>
                </a:lnTo>
                <a:lnTo>
                  <a:pt x="393" y="269"/>
                </a:lnTo>
                <a:lnTo>
                  <a:pt x="377" y="267"/>
                </a:lnTo>
                <a:lnTo>
                  <a:pt x="360" y="264"/>
                </a:lnTo>
                <a:lnTo>
                  <a:pt x="344" y="257"/>
                </a:lnTo>
                <a:lnTo>
                  <a:pt x="327" y="249"/>
                </a:lnTo>
                <a:lnTo>
                  <a:pt x="311" y="239"/>
                </a:lnTo>
                <a:lnTo>
                  <a:pt x="295" y="228"/>
                </a:lnTo>
                <a:lnTo>
                  <a:pt x="278" y="215"/>
                </a:lnTo>
                <a:lnTo>
                  <a:pt x="262" y="200"/>
                </a:lnTo>
                <a:lnTo>
                  <a:pt x="246" y="185"/>
                </a:lnTo>
                <a:lnTo>
                  <a:pt x="229" y="169"/>
                </a:lnTo>
                <a:lnTo>
                  <a:pt x="213" y="153"/>
                </a:lnTo>
                <a:lnTo>
                  <a:pt x="196" y="137"/>
                </a:lnTo>
                <a:lnTo>
                  <a:pt x="180" y="120"/>
                </a:lnTo>
                <a:lnTo>
                  <a:pt x="164" y="104"/>
                </a:lnTo>
                <a:lnTo>
                  <a:pt x="147" y="88"/>
                </a:lnTo>
                <a:lnTo>
                  <a:pt x="131" y="73"/>
                </a:lnTo>
                <a:lnTo>
                  <a:pt x="114" y="59"/>
                </a:lnTo>
                <a:lnTo>
                  <a:pt x="98" y="46"/>
                </a:lnTo>
                <a:lnTo>
                  <a:pt x="82" y="34"/>
                </a:lnTo>
                <a:lnTo>
                  <a:pt x="65" y="24"/>
                </a:lnTo>
                <a:lnTo>
                  <a:pt x="49" y="16"/>
                </a:lnTo>
                <a:lnTo>
                  <a:pt x="33" y="10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Freeform 37"/>
          <p:cNvSpPr/>
          <p:nvPr/>
        </p:nvSpPr>
        <p:spPr>
          <a:xfrm>
            <a:off x="2057400" y="2990850"/>
            <a:ext cx="3743325" cy="3048000"/>
          </a:xfrm>
          <a:custGeom>
            <a:avLst/>
            <a:gdLst/>
            <a:ahLst/>
            <a:cxnLst/>
            <a:rect l="l" t="t" r="r" b="b"/>
            <a:pathLst>
              <a:path w="393" h="320">
                <a:moveTo>
                  <a:pt x="0" y="0"/>
                </a:moveTo>
                <a:lnTo>
                  <a:pt x="16" y="1"/>
                </a:lnTo>
                <a:lnTo>
                  <a:pt x="33" y="6"/>
                </a:lnTo>
                <a:lnTo>
                  <a:pt x="49" y="13"/>
                </a:lnTo>
                <a:lnTo>
                  <a:pt x="65" y="23"/>
                </a:lnTo>
                <a:lnTo>
                  <a:pt x="82" y="35"/>
                </a:lnTo>
                <a:lnTo>
                  <a:pt x="98" y="49"/>
                </a:lnTo>
                <a:lnTo>
                  <a:pt x="114" y="65"/>
                </a:lnTo>
                <a:lnTo>
                  <a:pt x="131" y="82"/>
                </a:lnTo>
                <a:lnTo>
                  <a:pt x="147" y="100"/>
                </a:lnTo>
                <a:lnTo>
                  <a:pt x="164" y="119"/>
                </a:lnTo>
                <a:lnTo>
                  <a:pt x="180" y="138"/>
                </a:lnTo>
                <a:lnTo>
                  <a:pt x="196" y="158"/>
                </a:lnTo>
                <a:lnTo>
                  <a:pt x="213" y="178"/>
                </a:lnTo>
                <a:lnTo>
                  <a:pt x="229" y="197"/>
                </a:lnTo>
                <a:lnTo>
                  <a:pt x="246" y="216"/>
                </a:lnTo>
                <a:lnTo>
                  <a:pt x="262" y="234"/>
                </a:lnTo>
                <a:lnTo>
                  <a:pt x="278" y="251"/>
                </a:lnTo>
                <a:lnTo>
                  <a:pt x="295" y="266"/>
                </a:lnTo>
                <a:lnTo>
                  <a:pt x="311" y="280"/>
                </a:lnTo>
                <a:lnTo>
                  <a:pt x="327" y="292"/>
                </a:lnTo>
                <a:lnTo>
                  <a:pt x="344" y="302"/>
                </a:lnTo>
                <a:lnTo>
                  <a:pt x="360" y="310"/>
                </a:lnTo>
                <a:lnTo>
                  <a:pt x="377" y="314"/>
                </a:lnTo>
                <a:lnTo>
                  <a:pt x="393" y="316"/>
                </a:lnTo>
                <a:lnTo>
                  <a:pt x="393" y="320"/>
                </a:lnTo>
                <a:lnTo>
                  <a:pt x="377" y="319"/>
                </a:lnTo>
                <a:lnTo>
                  <a:pt x="360" y="314"/>
                </a:lnTo>
                <a:lnTo>
                  <a:pt x="344" y="307"/>
                </a:lnTo>
                <a:lnTo>
                  <a:pt x="327" y="297"/>
                </a:lnTo>
                <a:lnTo>
                  <a:pt x="311" y="285"/>
                </a:lnTo>
                <a:lnTo>
                  <a:pt x="295" y="271"/>
                </a:lnTo>
                <a:lnTo>
                  <a:pt x="278" y="255"/>
                </a:lnTo>
                <a:lnTo>
                  <a:pt x="262" y="238"/>
                </a:lnTo>
                <a:lnTo>
                  <a:pt x="246" y="220"/>
                </a:lnTo>
                <a:lnTo>
                  <a:pt x="229" y="201"/>
                </a:lnTo>
                <a:lnTo>
                  <a:pt x="213" y="182"/>
                </a:lnTo>
                <a:lnTo>
                  <a:pt x="196" y="162"/>
                </a:lnTo>
                <a:lnTo>
                  <a:pt x="180" y="142"/>
                </a:lnTo>
                <a:lnTo>
                  <a:pt x="164" y="123"/>
                </a:lnTo>
                <a:lnTo>
                  <a:pt x="147" y="104"/>
                </a:lnTo>
                <a:lnTo>
                  <a:pt x="131" y="86"/>
                </a:lnTo>
                <a:lnTo>
                  <a:pt x="114" y="69"/>
                </a:lnTo>
                <a:lnTo>
                  <a:pt x="98" y="53"/>
                </a:lnTo>
                <a:lnTo>
                  <a:pt x="82" y="39"/>
                </a:lnTo>
                <a:lnTo>
                  <a:pt x="65" y="27"/>
                </a:lnTo>
                <a:lnTo>
                  <a:pt x="49" y="18"/>
                </a:lnTo>
                <a:lnTo>
                  <a:pt x="33" y="10"/>
                </a:lnTo>
                <a:lnTo>
                  <a:pt x="16" y="6"/>
                </a:lnTo>
                <a:lnTo>
                  <a:pt x="0" y="4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Freeform 38"/>
          <p:cNvSpPr/>
          <p:nvPr/>
        </p:nvSpPr>
        <p:spPr>
          <a:xfrm>
            <a:off x="2057400" y="1666875"/>
            <a:ext cx="3743325" cy="1466850"/>
          </a:xfrm>
          <a:custGeom>
            <a:avLst/>
            <a:gdLst/>
            <a:ahLst/>
            <a:cxnLst/>
            <a:rect l="l" t="t" r="r" b="b"/>
            <a:pathLst>
              <a:path w="393" h="154">
                <a:moveTo>
                  <a:pt x="0" y="149"/>
                </a:moveTo>
                <a:lnTo>
                  <a:pt x="16" y="148"/>
                </a:lnTo>
                <a:lnTo>
                  <a:pt x="33" y="146"/>
                </a:lnTo>
                <a:lnTo>
                  <a:pt x="49" y="143"/>
                </a:lnTo>
                <a:lnTo>
                  <a:pt x="65" y="138"/>
                </a:lnTo>
                <a:lnTo>
                  <a:pt x="82" y="132"/>
                </a:lnTo>
                <a:lnTo>
                  <a:pt x="98" y="126"/>
                </a:lnTo>
                <a:lnTo>
                  <a:pt x="114" y="118"/>
                </a:lnTo>
                <a:lnTo>
                  <a:pt x="131" y="110"/>
                </a:lnTo>
                <a:lnTo>
                  <a:pt x="147" y="102"/>
                </a:lnTo>
                <a:lnTo>
                  <a:pt x="164" y="93"/>
                </a:lnTo>
                <a:lnTo>
                  <a:pt x="180" y="84"/>
                </a:lnTo>
                <a:lnTo>
                  <a:pt x="196" y="74"/>
                </a:lnTo>
                <a:lnTo>
                  <a:pt x="213" y="65"/>
                </a:lnTo>
                <a:lnTo>
                  <a:pt x="229" y="56"/>
                </a:lnTo>
                <a:lnTo>
                  <a:pt x="246" y="47"/>
                </a:lnTo>
                <a:lnTo>
                  <a:pt x="262" y="38"/>
                </a:lnTo>
                <a:lnTo>
                  <a:pt x="278" y="30"/>
                </a:lnTo>
                <a:lnTo>
                  <a:pt x="295" y="23"/>
                </a:lnTo>
                <a:lnTo>
                  <a:pt x="311" y="16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1"/>
                </a:lnTo>
                <a:lnTo>
                  <a:pt x="327" y="15"/>
                </a:lnTo>
                <a:lnTo>
                  <a:pt x="311" y="21"/>
                </a:lnTo>
                <a:lnTo>
                  <a:pt x="295" y="28"/>
                </a:lnTo>
                <a:lnTo>
                  <a:pt x="278" y="35"/>
                </a:lnTo>
                <a:lnTo>
                  <a:pt x="262" y="43"/>
                </a:lnTo>
                <a:lnTo>
                  <a:pt x="246" y="51"/>
                </a:lnTo>
                <a:lnTo>
                  <a:pt x="229" y="60"/>
                </a:lnTo>
                <a:lnTo>
                  <a:pt x="213" y="70"/>
                </a:lnTo>
                <a:lnTo>
                  <a:pt x="196" y="79"/>
                </a:lnTo>
                <a:lnTo>
                  <a:pt x="180" y="88"/>
                </a:lnTo>
                <a:lnTo>
                  <a:pt x="164" y="97"/>
                </a:lnTo>
                <a:lnTo>
                  <a:pt x="147" y="106"/>
                </a:lnTo>
                <a:lnTo>
                  <a:pt x="131" y="115"/>
                </a:lnTo>
                <a:lnTo>
                  <a:pt x="114" y="123"/>
                </a:lnTo>
                <a:lnTo>
                  <a:pt x="98" y="130"/>
                </a:lnTo>
                <a:lnTo>
                  <a:pt x="82" y="137"/>
                </a:lnTo>
                <a:lnTo>
                  <a:pt x="65" y="142"/>
                </a:lnTo>
                <a:lnTo>
                  <a:pt x="49" y="147"/>
                </a:lnTo>
                <a:lnTo>
                  <a:pt x="33" y="151"/>
                </a:lnTo>
                <a:lnTo>
                  <a:pt x="16" y="153"/>
                </a:lnTo>
                <a:lnTo>
                  <a:pt x="0" y="15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Freeform 39"/>
          <p:cNvSpPr/>
          <p:nvPr/>
        </p:nvSpPr>
        <p:spPr>
          <a:xfrm>
            <a:off x="2057400" y="2200275"/>
            <a:ext cx="3743325" cy="971550"/>
          </a:xfrm>
          <a:custGeom>
            <a:avLst/>
            <a:gdLst/>
            <a:ahLst/>
            <a:cxnLst/>
            <a:rect l="l" t="t" r="r" b="b"/>
            <a:pathLst>
              <a:path w="393" h="102">
                <a:moveTo>
                  <a:pt x="0" y="98"/>
                </a:moveTo>
                <a:lnTo>
                  <a:pt x="16" y="97"/>
                </a:lnTo>
                <a:lnTo>
                  <a:pt x="33" y="96"/>
                </a:lnTo>
                <a:lnTo>
                  <a:pt x="49" y="93"/>
                </a:lnTo>
                <a:lnTo>
                  <a:pt x="65" y="90"/>
                </a:lnTo>
                <a:lnTo>
                  <a:pt x="82" y="87"/>
                </a:lnTo>
                <a:lnTo>
                  <a:pt x="98" y="82"/>
                </a:lnTo>
                <a:lnTo>
                  <a:pt x="114" y="78"/>
                </a:lnTo>
                <a:lnTo>
                  <a:pt x="131" y="72"/>
                </a:lnTo>
                <a:lnTo>
                  <a:pt x="147" y="67"/>
                </a:lnTo>
                <a:lnTo>
                  <a:pt x="164" y="61"/>
                </a:lnTo>
                <a:lnTo>
                  <a:pt x="180" y="55"/>
                </a:lnTo>
                <a:lnTo>
                  <a:pt x="196" y="49"/>
                </a:lnTo>
                <a:lnTo>
                  <a:pt x="213" y="43"/>
                </a:lnTo>
                <a:lnTo>
                  <a:pt x="229" y="37"/>
                </a:lnTo>
                <a:lnTo>
                  <a:pt x="246" y="31"/>
                </a:lnTo>
                <a:lnTo>
                  <a:pt x="262" y="26"/>
                </a:lnTo>
                <a:lnTo>
                  <a:pt x="278" y="20"/>
                </a:lnTo>
                <a:lnTo>
                  <a:pt x="295" y="16"/>
                </a:lnTo>
                <a:lnTo>
                  <a:pt x="311" y="11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7"/>
                </a:lnTo>
                <a:lnTo>
                  <a:pt x="344" y="9"/>
                </a:lnTo>
                <a:lnTo>
                  <a:pt x="327" y="12"/>
                </a:lnTo>
                <a:lnTo>
                  <a:pt x="311" y="16"/>
                </a:lnTo>
                <a:lnTo>
                  <a:pt x="295" y="20"/>
                </a:lnTo>
                <a:lnTo>
                  <a:pt x="278" y="25"/>
                </a:lnTo>
                <a:lnTo>
                  <a:pt x="262" y="30"/>
                </a:lnTo>
                <a:lnTo>
                  <a:pt x="246" y="36"/>
                </a:lnTo>
                <a:lnTo>
                  <a:pt x="229" y="41"/>
                </a:lnTo>
                <a:lnTo>
                  <a:pt x="213" y="47"/>
                </a:lnTo>
                <a:lnTo>
                  <a:pt x="196" y="53"/>
                </a:lnTo>
                <a:lnTo>
                  <a:pt x="180" y="59"/>
                </a:lnTo>
                <a:lnTo>
                  <a:pt x="164" y="65"/>
                </a:lnTo>
                <a:lnTo>
                  <a:pt x="147" y="71"/>
                </a:lnTo>
                <a:lnTo>
                  <a:pt x="131" y="77"/>
                </a:lnTo>
                <a:lnTo>
                  <a:pt x="114" y="82"/>
                </a:lnTo>
                <a:lnTo>
                  <a:pt x="98" y="87"/>
                </a:lnTo>
                <a:lnTo>
                  <a:pt x="82" y="91"/>
                </a:lnTo>
                <a:lnTo>
                  <a:pt x="65" y="95"/>
                </a:lnTo>
                <a:lnTo>
                  <a:pt x="49" y="98"/>
                </a:lnTo>
                <a:lnTo>
                  <a:pt x="33" y="100"/>
                </a:lnTo>
                <a:lnTo>
                  <a:pt x="16" y="101"/>
                </a:lnTo>
                <a:lnTo>
                  <a:pt x="0" y="102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Freeform 40"/>
          <p:cNvSpPr/>
          <p:nvPr/>
        </p:nvSpPr>
        <p:spPr>
          <a:xfrm>
            <a:off x="2057400" y="2752725"/>
            <a:ext cx="3743325" cy="466725"/>
          </a:xfrm>
          <a:custGeom>
            <a:avLst/>
            <a:gdLst/>
            <a:ahLst/>
            <a:cxnLst/>
            <a:rect l="l" t="t" r="r" b="b"/>
            <a:pathLst>
              <a:path w="393" h="49">
                <a:moveTo>
                  <a:pt x="0" y="44"/>
                </a:moveTo>
                <a:lnTo>
                  <a:pt x="16" y="44"/>
                </a:lnTo>
                <a:lnTo>
                  <a:pt x="33" y="43"/>
                </a:lnTo>
                <a:lnTo>
                  <a:pt x="49" y="42"/>
                </a:lnTo>
                <a:lnTo>
                  <a:pt x="65" y="41"/>
                </a:lnTo>
                <a:lnTo>
                  <a:pt x="82" y="39"/>
                </a:lnTo>
                <a:lnTo>
                  <a:pt x="98" y="37"/>
                </a:lnTo>
                <a:lnTo>
                  <a:pt x="114" y="35"/>
                </a:lnTo>
                <a:lnTo>
                  <a:pt x="131" y="33"/>
                </a:lnTo>
                <a:lnTo>
                  <a:pt x="147" y="30"/>
                </a:lnTo>
                <a:lnTo>
                  <a:pt x="164" y="28"/>
                </a:lnTo>
                <a:lnTo>
                  <a:pt x="180" y="25"/>
                </a:lnTo>
                <a:lnTo>
                  <a:pt x="196" y="22"/>
                </a:lnTo>
                <a:lnTo>
                  <a:pt x="213" y="19"/>
                </a:lnTo>
                <a:lnTo>
                  <a:pt x="229" y="17"/>
                </a:lnTo>
                <a:lnTo>
                  <a:pt x="246" y="14"/>
                </a:lnTo>
                <a:lnTo>
                  <a:pt x="262" y="12"/>
                </a:lnTo>
                <a:lnTo>
                  <a:pt x="278" y="9"/>
                </a:lnTo>
                <a:lnTo>
                  <a:pt x="295" y="7"/>
                </a:lnTo>
                <a:lnTo>
                  <a:pt x="311" y="5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6"/>
                </a:lnTo>
                <a:lnTo>
                  <a:pt x="344" y="7"/>
                </a:lnTo>
                <a:lnTo>
                  <a:pt x="327" y="8"/>
                </a:lnTo>
                <a:lnTo>
                  <a:pt x="311" y="10"/>
                </a:lnTo>
                <a:lnTo>
                  <a:pt x="295" y="12"/>
                </a:lnTo>
                <a:lnTo>
                  <a:pt x="278" y="14"/>
                </a:lnTo>
                <a:lnTo>
                  <a:pt x="262" y="16"/>
                </a:lnTo>
                <a:lnTo>
                  <a:pt x="246" y="19"/>
                </a:lnTo>
                <a:lnTo>
                  <a:pt x="229" y="21"/>
                </a:lnTo>
                <a:lnTo>
                  <a:pt x="213" y="24"/>
                </a:lnTo>
                <a:lnTo>
                  <a:pt x="196" y="27"/>
                </a:lnTo>
                <a:lnTo>
                  <a:pt x="180" y="30"/>
                </a:lnTo>
                <a:lnTo>
                  <a:pt x="164" y="32"/>
                </a:lnTo>
                <a:lnTo>
                  <a:pt x="147" y="35"/>
                </a:lnTo>
                <a:lnTo>
                  <a:pt x="131" y="37"/>
                </a:lnTo>
                <a:lnTo>
                  <a:pt x="114" y="40"/>
                </a:lnTo>
                <a:lnTo>
                  <a:pt x="98" y="42"/>
                </a:lnTo>
                <a:lnTo>
                  <a:pt x="82" y="44"/>
                </a:lnTo>
                <a:lnTo>
                  <a:pt x="65" y="45"/>
                </a:lnTo>
                <a:lnTo>
                  <a:pt x="49" y="47"/>
                </a:lnTo>
                <a:lnTo>
                  <a:pt x="33" y="48"/>
                </a:lnTo>
                <a:lnTo>
                  <a:pt x="16" y="48"/>
                </a:lnTo>
                <a:lnTo>
                  <a:pt x="0" y="49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Freeform 41"/>
          <p:cNvSpPr/>
          <p:nvPr/>
        </p:nvSpPr>
        <p:spPr>
          <a:xfrm>
            <a:off x="2057400" y="3219450"/>
            <a:ext cx="3743325" cy="123825"/>
          </a:xfrm>
          <a:custGeom>
            <a:avLst/>
            <a:gdLst/>
            <a:ahLst/>
            <a:cxnLst/>
            <a:rect l="l" t="t" r="r" b="b"/>
            <a:pathLst>
              <a:path w="393" h="13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0"/>
                </a:lnTo>
                <a:lnTo>
                  <a:pt x="82" y="1"/>
                </a:lnTo>
                <a:lnTo>
                  <a:pt x="98" y="1"/>
                </a:lnTo>
                <a:lnTo>
                  <a:pt x="114" y="1"/>
                </a:lnTo>
                <a:lnTo>
                  <a:pt x="131" y="2"/>
                </a:lnTo>
                <a:lnTo>
                  <a:pt x="147" y="2"/>
                </a:lnTo>
                <a:lnTo>
                  <a:pt x="164" y="3"/>
                </a:lnTo>
                <a:lnTo>
                  <a:pt x="180" y="3"/>
                </a:lnTo>
                <a:lnTo>
                  <a:pt x="196" y="4"/>
                </a:lnTo>
                <a:lnTo>
                  <a:pt x="213" y="5"/>
                </a:lnTo>
                <a:lnTo>
                  <a:pt x="229" y="5"/>
                </a:lnTo>
                <a:lnTo>
                  <a:pt x="246" y="6"/>
                </a:lnTo>
                <a:lnTo>
                  <a:pt x="262" y="6"/>
                </a:lnTo>
                <a:lnTo>
                  <a:pt x="278" y="7"/>
                </a:lnTo>
                <a:lnTo>
                  <a:pt x="295" y="7"/>
                </a:lnTo>
                <a:lnTo>
                  <a:pt x="311" y="7"/>
                </a:lnTo>
                <a:lnTo>
                  <a:pt x="327" y="8"/>
                </a:lnTo>
                <a:lnTo>
                  <a:pt x="344" y="8"/>
                </a:lnTo>
                <a:lnTo>
                  <a:pt x="360" y="8"/>
                </a:lnTo>
                <a:lnTo>
                  <a:pt x="377" y="8"/>
                </a:lnTo>
                <a:lnTo>
                  <a:pt x="393" y="8"/>
                </a:lnTo>
                <a:lnTo>
                  <a:pt x="393" y="13"/>
                </a:lnTo>
                <a:lnTo>
                  <a:pt x="377" y="13"/>
                </a:lnTo>
                <a:lnTo>
                  <a:pt x="360" y="13"/>
                </a:lnTo>
                <a:lnTo>
                  <a:pt x="344" y="12"/>
                </a:lnTo>
                <a:lnTo>
                  <a:pt x="327" y="12"/>
                </a:lnTo>
                <a:lnTo>
                  <a:pt x="311" y="12"/>
                </a:lnTo>
                <a:lnTo>
                  <a:pt x="295" y="11"/>
                </a:lnTo>
                <a:lnTo>
                  <a:pt x="278" y="11"/>
                </a:lnTo>
                <a:lnTo>
                  <a:pt x="262" y="10"/>
                </a:lnTo>
                <a:lnTo>
                  <a:pt x="246" y="10"/>
                </a:lnTo>
                <a:lnTo>
                  <a:pt x="229" y="9"/>
                </a:lnTo>
                <a:lnTo>
                  <a:pt x="213" y="9"/>
                </a:lnTo>
                <a:lnTo>
                  <a:pt x="196" y="8"/>
                </a:lnTo>
                <a:lnTo>
                  <a:pt x="180" y="8"/>
                </a:lnTo>
                <a:lnTo>
                  <a:pt x="164" y="7"/>
                </a:lnTo>
                <a:lnTo>
                  <a:pt x="147" y="7"/>
                </a:lnTo>
                <a:lnTo>
                  <a:pt x="131" y="6"/>
                </a:lnTo>
                <a:lnTo>
                  <a:pt x="114" y="6"/>
                </a:lnTo>
                <a:lnTo>
                  <a:pt x="98" y="5"/>
                </a:lnTo>
                <a:lnTo>
                  <a:pt x="82" y="5"/>
                </a:lnTo>
                <a:lnTo>
                  <a:pt x="65" y="5"/>
                </a:lnTo>
                <a:lnTo>
                  <a:pt x="49" y="4"/>
                </a:lnTo>
                <a:lnTo>
                  <a:pt x="33" y="4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Freeform 42"/>
          <p:cNvSpPr/>
          <p:nvPr/>
        </p:nvSpPr>
        <p:spPr>
          <a:xfrm>
            <a:off x="2057400" y="3257550"/>
            <a:ext cx="3743325" cy="628650"/>
          </a:xfrm>
          <a:custGeom>
            <a:avLst/>
            <a:gdLst/>
            <a:ahLst/>
            <a:cxnLst/>
            <a:rect l="l" t="t" r="r" b="b"/>
            <a:pathLst>
              <a:path w="393" h="66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4"/>
                </a:lnTo>
                <a:lnTo>
                  <a:pt x="82" y="7"/>
                </a:lnTo>
                <a:lnTo>
                  <a:pt x="98" y="10"/>
                </a:lnTo>
                <a:lnTo>
                  <a:pt x="114" y="13"/>
                </a:lnTo>
                <a:lnTo>
                  <a:pt x="131" y="16"/>
                </a:lnTo>
                <a:lnTo>
                  <a:pt x="147" y="20"/>
                </a:lnTo>
                <a:lnTo>
                  <a:pt x="164" y="23"/>
                </a:lnTo>
                <a:lnTo>
                  <a:pt x="180" y="27"/>
                </a:lnTo>
                <a:lnTo>
                  <a:pt x="196" y="31"/>
                </a:lnTo>
                <a:lnTo>
                  <a:pt x="213" y="35"/>
                </a:lnTo>
                <a:lnTo>
                  <a:pt x="229" y="39"/>
                </a:lnTo>
                <a:lnTo>
                  <a:pt x="246" y="43"/>
                </a:lnTo>
                <a:lnTo>
                  <a:pt x="262" y="46"/>
                </a:lnTo>
                <a:lnTo>
                  <a:pt x="278" y="49"/>
                </a:lnTo>
                <a:lnTo>
                  <a:pt x="295" y="53"/>
                </a:lnTo>
                <a:lnTo>
                  <a:pt x="311" y="55"/>
                </a:lnTo>
                <a:lnTo>
                  <a:pt x="327" y="58"/>
                </a:lnTo>
                <a:lnTo>
                  <a:pt x="344" y="60"/>
                </a:lnTo>
                <a:lnTo>
                  <a:pt x="360" y="61"/>
                </a:lnTo>
                <a:lnTo>
                  <a:pt x="377" y="62"/>
                </a:lnTo>
                <a:lnTo>
                  <a:pt x="393" y="62"/>
                </a:lnTo>
                <a:lnTo>
                  <a:pt x="393" y="66"/>
                </a:lnTo>
                <a:lnTo>
                  <a:pt x="377" y="66"/>
                </a:lnTo>
                <a:lnTo>
                  <a:pt x="360" y="65"/>
                </a:lnTo>
                <a:lnTo>
                  <a:pt x="344" y="64"/>
                </a:lnTo>
                <a:lnTo>
                  <a:pt x="327" y="62"/>
                </a:lnTo>
                <a:lnTo>
                  <a:pt x="311" y="59"/>
                </a:lnTo>
                <a:lnTo>
                  <a:pt x="295" y="57"/>
                </a:lnTo>
                <a:lnTo>
                  <a:pt x="278" y="54"/>
                </a:lnTo>
                <a:lnTo>
                  <a:pt x="262" y="50"/>
                </a:lnTo>
                <a:lnTo>
                  <a:pt x="246" y="47"/>
                </a:lnTo>
                <a:lnTo>
                  <a:pt x="229" y="43"/>
                </a:lnTo>
                <a:lnTo>
                  <a:pt x="213" y="39"/>
                </a:lnTo>
                <a:lnTo>
                  <a:pt x="196" y="35"/>
                </a:lnTo>
                <a:lnTo>
                  <a:pt x="180" y="31"/>
                </a:lnTo>
                <a:lnTo>
                  <a:pt x="164" y="27"/>
                </a:lnTo>
                <a:lnTo>
                  <a:pt x="147" y="24"/>
                </a:lnTo>
                <a:lnTo>
                  <a:pt x="131" y="20"/>
                </a:lnTo>
                <a:lnTo>
                  <a:pt x="114" y="17"/>
                </a:lnTo>
                <a:lnTo>
                  <a:pt x="98" y="14"/>
                </a:lnTo>
                <a:lnTo>
                  <a:pt x="82" y="11"/>
                </a:lnTo>
                <a:lnTo>
                  <a:pt x="65" y="9"/>
                </a:lnTo>
                <a:lnTo>
                  <a:pt x="49" y="7"/>
                </a:lnTo>
                <a:lnTo>
                  <a:pt x="33" y="5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Freeform 43"/>
          <p:cNvSpPr/>
          <p:nvPr/>
        </p:nvSpPr>
        <p:spPr>
          <a:xfrm>
            <a:off x="2057400" y="3295650"/>
            <a:ext cx="3743325" cy="1143000"/>
          </a:xfrm>
          <a:custGeom>
            <a:avLst/>
            <a:gdLst/>
            <a:ahLst/>
            <a:cxnLst/>
            <a:rect l="l" t="t" r="r" b="b"/>
            <a:pathLst>
              <a:path w="393" h="120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5"/>
                </a:lnTo>
                <a:lnTo>
                  <a:pt x="65" y="9"/>
                </a:lnTo>
                <a:lnTo>
                  <a:pt x="82" y="13"/>
                </a:lnTo>
                <a:lnTo>
                  <a:pt x="98" y="18"/>
                </a:lnTo>
                <a:lnTo>
                  <a:pt x="114" y="24"/>
                </a:lnTo>
                <a:lnTo>
                  <a:pt x="131" y="30"/>
                </a:lnTo>
                <a:lnTo>
                  <a:pt x="147" y="37"/>
                </a:lnTo>
                <a:lnTo>
                  <a:pt x="164" y="43"/>
                </a:lnTo>
                <a:lnTo>
                  <a:pt x="180" y="50"/>
                </a:lnTo>
                <a:lnTo>
                  <a:pt x="196" y="58"/>
                </a:lnTo>
                <a:lnTo>
                  <a:pt x="213" y="65"/>
                </a:lnTo>
                <a:lnTo>
                  <a:pt x="229" y="72"/>
                </a:lnTo>
                <a:lnTo>
                  <a:pt x="246" y="79"/>
                </a:lnTo>
                <a:lnTo>
                  <a:pt x="262" y="85"/>
                </a:lnTo>
                <a:lnTo>
                  <a:pt x="278" y="92"/>
                </a:lnTo>
                <a:lnTo>
                  <a:pt x="295" y="97"/>
                </a:lnTo>
                <a:lnTo>
                  <a:pt x="311" y="102"/>
                </a:lnTo>
                <a:lnTo>
                  <a:pt x="327" y="107"/>
                </a:lnTo>
                <a:lnTo>
                  <a:pt x="344" y="110"/>
                </a:lnTo>
                <a:lnTo>
                  <a:pt x="360" y="113"/>
                </a:lnTo>
                <a:lnTo>
                  <a:pt x="377" y="115"/>
                </a:lnTo>
                <a:lnTo>
                  <a:pt x="393" y="115"/>
                </a:lnTo>
                <a:lnTo>
                  <a:pt x="393" y="120"/>
                </a:lnTo>
                <a:lnTo>
                  <a:pt x="377" y="119"/>
                </a:lnTo>
                <a:lnTo>
                  <a:pt x="360" y="118"/>
                </a:lnTo>
                <a:lnTo>
                  <a:pt x="344" y="115"/>
                </a:lnTo>
                <a:lnTo>
                  <a:pt x="327" y="111"/>
                </a:lnTo>
                <a:lnTo>
                  <a:pt x="311" y="107"/>
                </a:lnTo>
                <a:lnTo>
                  <a:pt x="295" y="102"/>
                </a:lnTo>
                <a:lnTo>
                  <a:pt x="278" y="96"/>
                </a:lnTo>
                <a:lnTo>
                  <a:pt x="262" y="90"/>
                </a:lnTo>
                <a:lnTo>
                  <a:pt x="246" y="83"/>
                </a:lnTo>
                <a:lnTo>
                  <a:pt x="229" y="77"/>
                </a:lnTo>
                <a:lnTo>
                  <a:pt x="213" y="69"/>
                </a:lnTo>
                <a:lnTo>
                  <a:pt x="196" y="62"/>
                </a:lnTo>
                <a:lnTo>
                  <a:pt x="180" y="55"/>
                </a:lnTo>
                <a:lnTo>
                  <a:pt x="164" y="48"/>
                </a:lnTo>
                <a:lnTo>
                  <a:pt x="147" y="41"/>
                </a:lnTo>
                <a:lnTo>
                  <a:pt x="131" y="34"/>
                </a:lnTo>
                <a:lnTo>
                  <a:pt x="114" y="28"/>
                </a:lnTo>
                <a:lnTo>
                  <a:pt x="98" y="23"/>
                </a:lnTo>
                <a:lnTo>
                  <a:pt x="82" y="17"/>
                </a:lnTo>
                <a:lnTo>
                  <a:pt x="65" y="13"/>
                </a:lnTo>
                <a:lnTo>
                  <a:pt x="49" y="9"/>
                </a:lnTo>
                <a:lnTo>
                  <a:pt x="33" y="7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Freeform 44"/>
          <p:cNvSpPr/>
          <p:nvPr/>
        </p:nvSpPr>
        <p:spPr>
          <a:xfrm>
            <a:off x="2057400" y="3343275"/>
            <a:ext cx="3743325" cy="1657350"/>
          </a:xfrm>
          <a:custGeom>
            <a:avLst/>
            <a:gdLst/>
            <a:ahLst/>
            <a:cxnLst/>
            <a:rect l="l" t="t" r="r" b="b"/>
            <a:pathLst>
              <a:path w="393" h="174">
                <a:moveTo>
                  <a:pt x="0" y="0"/>
                </a:moveTo>
                <a:lnTo>
                  <a:pt x="16" y="0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9"/>
                </a:lnTo>
                <a:lnTo>
                  <a:pt x="98" y="26"/>
                </a:lnTo>
                <a:lnTo>
                  <a:pt x="114" y="34"/>
                </a:lnTo>
                <a:lnTo>
                  <a:pt x="131" y="44"/>
                </a:lnTo>
                <a:lnTo>
                  <a:pt x="147" y="53"/>
                </a:lnTo>
                <a:lnTo>
                  <a:pt x="164" y="63"/>
                </a:lnTo>
                <a:lnTo>
                  <a:pt x="180" y="74"/>
                </a:lnTo>
                <a:lnTo>
                  <a:pt x="196" y="84"/>
                </a:lnTo>
                <a:lnTo>
                  <a:pt x="213" y="95"/>
                </a:lnTo>
                <a:lnTo>
                  <a:pt x="229" y="106"/>
                </a:lnTo>
                <a:lnTo>
                  <a:pt x="246" y="116"/>
                </a:lnTo>
                <a:lnTo>
                  <a:pt x="262" y="125"/>
                </a:lnTo>
                <a:lnTo>
                  <a:pt x="278" y="135"/>
                </a:lnTo>
                <a:lnTo>
                  <a:pt x="295" y="143"/>
                </a:lnTo>
                <a:lnTo>
                  <a:pt x="311" y="150"/>
                </a:lnTo>
                <a:lnTo>
                  <a:pt x="327" y="157"/>
                </a:lnTo>
                <a:lnTo>
                  <a:pt x="344" y="162"/>
                </a:lnTo>
                <a:lnTo>
                  <a:pt x="360" y="166"/>
                </a:lnTo>
                <a:lnTo>
                  <a:pt x="377" y="169"/>
                </a:lnTo>
                <a:lnTo>
                  <a:pt x="393" y="169"/>
                </a:lnTo>
                <a:lnTo>
                  <a:pt x="393" y="174"/>
                </a:lnTo>
                <a:lnTo>
                  <a:pt x="377" y="173"/>
                </a:lnTo>
                <a:lnTo>
                  <a:pt x="360" y="170"/>
                </a:lnTo>
                <a:lnTo>
                  <a:pt x="344" y="166"/>
                </a:lnTo>
                <a:lnTo>
                  <a:pt x="327" y="161"/>
                </a:lnTo>
                <a:lnTo>
                  <a:pt x="311" y="155"/>
                </a:lnTo>
                <a:lnTo>
                  <a:pt x="295" y="147"/>
                </a:lnTo>
                <a:lnTo>
                  <a:pt x="278" y="139"/>
                </a:lnTo>
                <a:lnTo>
                  <a:pt x="262" y="129"/>
                </a:lnTo>
                <a:lnTo>
                  <a:pt x="246" y="120"/>
                </a:lnTo>
                <a:lnTo>
                  <a:pt x="229" y="110"/>
                </a:lnTo>
                <a:lnTo>
                  <a:pt x="213" y="99"/>
                </a:lnTo>
                <a:lnTo>
                  <a:pt x="196" y="89"/>
                </a:lnTo>
                <a:lnTo>
                  <a:pt x="180" y="78"/>
                </a:lnTo>
                <a:lnTo>
                  <a:pt x="164" y="68"/>
                </a:lnTo>
                <a:lnTo>
                  <a:pt x="147" y="57"/>
                </a:lnTo>
                <a:lnTo>
                  <a:pt x="131" y="48"/>
                </a:lnTo>
                <a:lnTo>
                  <a:pt x="114" y="39"/>
                </a:lnTo>
                <a:lnTo>
                  <a:pt x="98" y="30"/>
                </a:lnTo>
                <a:lnTo>
                  <a:pt x="82" y="23"/>
                </a:lnTo>
                <a:lnTo>
                  <a:pt x="65" y="16"/>
                </a:lnTo>
                <a:lnTo>
                  <a:pt x="49" y="11"/>
                </a:lnTo>
                <a:lnTo>
                  <a:pt x="33" y="7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reeform 45"/>
          <p:cNvSpPr/>
          <p:nvPr/>
        </p:nvSpPr>
        <p:spPr>
          <a:xfrm>
            <a:off x="2057400" y="3381375"/>
            <a:ext cx="3743325" cy="2171700"/>
          </a:xfrm>
          <a:custGeom>
            <a:avLst/>
            <a:gdLst/>
            <a:ahLst/>
            <a:cxnLst/>
            <a:rect l="l" t="t" r="r" b="b"/>
            <a:pathLst>
              <a:path w="393" h="228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6"/>
                </a:lnTo>
                <a:lnTo>
                  <a:pt x="82" y="25"/>
                </a:lnTo>
                <a:lnTo>
                  <a:pt x="98" y="34"/>
                </a:lnTo>
                <a:lnTo>
                  <a:pt x="114" y="45"/>
                </a:lnTo>
                <a:lnTo>
                  <a:pt x="131" y="57"/>
                </a:lnTo>
                <a:lnTo>
                  <a:pt x="147" y="70"/>
                </a:lnTo>
                <a:lnTo>
                  <a:pt x="164" y="84"/>
                </a:lnTo>
                <a:lnTo>
                  <a:pt x="180" y="97"/>
                </a:lnTo>
                <a:lnTo>
                  <a:pt x="196" y="111"/>
                </a:lnTo>
                <a:lnTo>
                  <a:pt x="213" y="125"/>
                </a:lnTo>
                <a:lnTo>
                  <a:pt x="229" y="139"/>
                </a:lnTo>
                <a:lnTo>
                  <a:pt x="246" y="152"/>
                </a:lnTo>
                <a:lnTo>
                  <a:pt x="262" y="165"/>
                </a:lnTo>
                <a:lnTo>
                  <a:pt x="278" y="177"/>
                </a:lnTo>
                <a:lnTo>
                  <a:pt x="295" y="188"/>
                </a:lnTo>
                <a:lnTo>
                  <a:pt x="311" y="198"/>
                </a:lnTo>
                <a:lnTo>
                  <a:pt x="327" y="206"/>
                </a:lnTo>
                <a:lnTo>
                  <a:pt x="344" y="213"/>
                </a:lnTo>
                <a:lnTo>
                  <a:pt x="360" y="218"/>
                </a:lnTo>
                <a:lnTo>
                  <a:pt x="377" y="222"/>
                </a:lnTo>
                <a:lnTo>
                  <a:pt x="393" y="223"/>
                </a:lnTo>
                <a:lnTo>
                  <a:pt x="393" y="228"/>
                </a:lnTo>
                <a:lnTo>
                  <a:pt x="377" y="226"/>
                </a:lnTo>
                <a:lnTo>
                  <a:pt x="360" y="223"/>
                </a:lnTo>
                <a:lnTo>
                  <a:pt x="344" y="218"/>
                </a:lnTo>
                <a:lnTo>
                  <a:pt x="327" y="211"/>
                </a:lnTo>
                <a:lnTo>
                  <a:pt x="311" y="203"/>
                </a:lnTo>
                <a:lnTo>
                  <a:pt x="295" y="193"/>
                </a:lnTo>
                <a:lnTo>
                  <a:pt x="278" y="182"/>
                </a:lnTo>
                <a:lnTo>
                  <a:pt x="262" y="170"/>
                </a:lnTo>
                <a:lnTo>
                  <a:pt x="246" y="157"/>
                </a:lnTo>
                <a:lnTo>
                  <a:pt x="229" y="144"/>
                </a:lnTo>
                <a:lnTo>
                  <a:pt x="213" y="130"/>
                </a:lnTo>
                <a:lnTo>
                  <a:pt x="196" y="116"/>
                </a:lnTo>
                <a:lnTo>
                  <a:pt x="180" y="102"/>
                </a:lnTo>
                <a:lnTo>
                  <a:pt x="164" y="88"/>
                </a:lnTo>
                <a:lnTo>
                  <a:pt x="147" y="75"/>
                </a:lnTo>
                <a:lnTo>
                  <a:pt x="131" y="62"/>
                </a:lnTo>
                <a:lnTo>
                  <a:pt x="114" y="50"/>
                </a:lnTo>
                <a:lnTo>
                  <a:pt x="98" y="39"/>
                </a:lnTo>
                <a:lnTo>
                  <a:pt x="82" y="29"/>
                </a:lnTo>
                <a:lnTo>
                  <a:pt x="65" y="21"/>
                </a:lnTo>
                <a:lnTo>
                  <a:pt x="49" y="14"/>
                </a:lnTo>
                <a:lnTo>
                  <a:pt x="33" y="9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2057400" y="3419475"/>
            <a:ext cx="3743325" cy="2667000"/>
          </a:xfrm>
          <a:custGeom>
            <a:avLst/>
            <a:gdLst/>
            <a:ahLst/>
            <a:cxnLst/>
            <a:rect l="l" t="t" r="r" b="b"/>
            <a:pathLst>
              <a:path w="393" h="280">
                <a:moveTo>
                  <a:pt x="0" y="0"/>
                </a:moveTo>
                <a:lnTo>
                  <a:pt x="16" y="2"/>
                </a:lnTo>
                <a:lnTo>
                  <a:pt x="33" y="6"/>
                </a:lnTo>
                <a:lnTo>
                  <a:pt x="49" y="12"/>
                </a:lnTo>
                <a:lnTo>
                  <a:pt x="65" y="21"/>
                </a:lnTo>
                <a:lnTo>
                  <a:pt x="82" y="31"/>
                </a:lnTo>
                <a:lnTo>
                  <a:pt x="98" y="43"/>
                </a:lnTo>
                <a:lnTo>
                  <a:pt x="114" y="57"/>
                </a:lnTo>
                <a:lnTo>
                  <a:pt x="131" y="72"/>
                </a:lnTo>
                <a:lnTo>
                  <a:pt x="147" y="87"/>
                </a:lnTo>
                <a:lnTo>
                  <a:pt x="164" y="104"/>
                </a:lnTo>
                <a:lnTo>
                  <a:pt x="180" y="121"/>
                </a:lnTo>
                <a:lnTo>
                  <a:pt x="196" y="138"/>
                </a:lnTo>
                <a:lnTo>
                  <a:pt x="213" y="155"/>
                </a:lnTo>
                <a:lnTo>
                  <a:pt x="229" y="172"/>
                </a:lnTo>
                <a:lnTo>
                  <a:pt x="246" y="188"/>
                </a:lnTo>
                <a:lnTo>
                  <a:pt x="262" y="204"/>
                </a:lnTo>
                <a:lnTo>
                  <a:pt x="278" y="219"/>
                </a:lnTo>
                <a:lnTo>
                  <a:pt x="295" y="232"/>
                </a:lnTo>
                <a:lnTo>
                  <a:pt x="311" y="244"/>
                </a:lnTo>
                <a:lnTo>
                  <a:pt x="327" y="255"/>
                </a:lnTo>
                <a:lnTo>
                  <a:pt x="344" y="263"/>
                </a:lnTo>
                <a:lnTo>
                  <a:pt x="360" y="270"/>
                </a:lnTo>
                <a:lnTo>
                  <a:pt x="377" y="274"/>
                </a:lnTo>
                <a:lnTo>
                  <a:pt x="393" y="275"/>
                </a:lnTo>
                <a:lnTo>
                  <a:pt x="393" y="280"/>
                </a:lnTo>
                <a:lnTo>
                  <a:pt x="377" y="278"/>
                </a:lnTo>
                <a:lnTo>
                  <a:pt x="360" y="274"/>
                </a:lnTo>
                <a:lnTo>
                  <a:pt x="344" y="268"/>
                </a:lnTo>
                <a:lnTo>
                  <a:pt x="327" y="259"/>
                </a:lnTo>
                <a:lnTo>
                  <a:pt x="311" y="249"/>
                </a:lnTo>
                <a:lnTo>
                  <a:pt x="295" y="237"/>
                </a:lnTo>
                <a:lnTo>
                  <a:pt x="278" y="223"/>
                </a:lnTo>
                <a:lnTo>
                  <a:pt x="262" y="209"/>
                </a:lnTo>
                <a:lnTo>
                  <a:pt x="246" y="193"/>
                </a:lnTo>
                <a:lnTo>
                  <a:pt x="229" y="176"/>
                </a:lnTo>
                <a:lnTo>
                  <a:pt x="213" y="160"/>
                </a:lnTo>
                <a:lnTo>
                  <a:pt x="196" y="142"/>
                </a:lnTo>
                <a:lnTo>
                  <a:pt x="180" y="125"/>
                </a:lnTo>
                <a:lnTo>
                  <a:pt x="164" y="108"/>
                </a:lnTo>
                <a:lnTo>
                  <a:pt x="147" y="92"/>
                </a:lnTo>
                <a:lnTo>
                  <a:pt x="131" y="76"/>
                </a:lnTo>
                <a:lnTo>
                  <a:pt x="114" y="61"/>
                </a:lnTo>
                <a:lnTo>
                  <a:pt x="98" y="48"/>
                </a:lnTo>
                <a:lnTo>
                  <a:pt x="82" y="36"/>
                </a:lnTo>
                <a:lnTo>
                  <a:pt x="65" y="25"/>
                </a:lnTo>
                <a:lnTo>
                  <a:pt x="49" y="17"/>
                </a:lnTo>
                <a:lnTo>
                  <a:pt x="33" y="10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Freeform 47"/>
          <p:cNvSpPr/>
          <p:nvPr/>
        </p:nvSpPr>
        <p:spPr>
          <a:xfrm>
            <a:off x="2057400" y="1704975"/>
            <a:ext cx="3743325" cy="1857375"/>
          </a:xfrm>
          <a:custGeom>
            <a:avLst/>
            <a:gdLst/>
            <a:ahLst/>
            <a:cxnLst/>
            <a:rect l="l" t="t" r="r" b="b"/>
            <a:pathLst>
              <a:path w="393" h="195">
                <a:moveTo>
                  <a:pt x="0" y="191"/>
                </a:moveTo>
                <a:lnTo>
                  <a:pt x="16" y="190"/>
                </a:lnTo>
                <a:lnTo>
                  <a:pt x="33" y="187"/>
                </a:lnTo>
                <a:lnTo>
                  <a:pt x="49" y="183"/>
                </a:lnTo>
                <a:lnTo>
                  <a:pt x="65" y="177"/>
                </a:lnTo>
                <a:lnTo>
                  <a:pt x="82" y="170"/>
                </a:lnTo>
                <a:lnTo>
                  <a:pt x="98" y="161"/>
                </a:lnTo>
                <a:lnTo>
                  <a:pt x="114" y="152"/>
                </a:lnTo>
                <a:lnTo>
                  <a:pt x="131" y="142"/>
                </a:lnTo>
                <a:lnTo>
                  <a:pt x="147" y="131"/>
                </a:lnTo>
                <a:lnTo>
                  <a:pt x="164" y="119"/>
                </a:lnTo>
                <a:lnTo>
                  <a:pt x="180" y="108"/>
                </a:lnTo>
                <a:lnTo>
                  <a:pt x="196" y="96"/>
                </a:lnTo>
                <a:lnTo>
                  <a:pt x="213" y="84"/>
                </a:lnTo>
                <a:lnTo>
                  <a:pt x="229" y="72"/>
                </a:lnTo>
                <a:lnTo>
                  <a:pt x="246" y="61"/>
                </a:lnTo>
                <a:lnTo>
                  <a:pt x="262" y="50"/>
                </a:lnTo>
                <a:lnTo>
                  <a:pt x="278" y="39"/>
                </a:lnTo>
                <a:lnTo>
                  <a:pt x="295" y="30"/>
                </a:lnTo>
                <a:lnTo>
                  <a:pt x="311" y="22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8"/>
                </a:lnTo>
                <a:lnTo>
                  <a:pt x="344" y="12"/>
                </a:lnTo>
                <a:lnTo>
                  <a:pt x="327" y="18"/>
                </a:lnTo>
                <a:lnTo>
                  <a:pt x="311" y="25"/>
                </a:lnTo>
                <a:lnTo>
                  <a:pt x="295" y="34"/>
                </a:lnTo>
                <a:lnTo>
                  <a:pt x="278" y="43"/>
                </a:lnTo>
                <a:lnTo>
                  <a:pt x="262" y="53"/>
                </a:lnTo>
                <a:lnTo>
                  <a:pt x="246" y="64"/>
                </a:lnTo>
                <a:lnTo>
                  <a:pt x="229" y="76"/>
                </a:lnTo>
                <a:lnTo>
                  <a:pt x="213" y="87"/>
                </a:lnTo>
                <a:lnTo>
                  <a:pt x="196" y="99"/>
                </a:lnTo>
                <a:lnTo>
                  <a:pt x="180" y="111"/>
                </a:lnTo>
                <a:lnTo>
                  <a:pt x="164" y="123"/>
                </a:lnTo>
                <a:lnTo>
                  <a:pt x="147" y="134"/>
                </a:lnTo>
                <a:lnTo>
                  <a:pt x="131" y="145"/>
                </a:lnTo>
                <a:lnTo>
                  <a:pt x="114" y="156"/>
                </a:lnTo>
                <a:lnTo>
                  <a:pt x="98" y="165"/>
                </a:lnTo>
                <a:lnTo>
                  <a:pt x="82" y="173"/>
                </a:lnTo>
                <a:lnTo>
                  <a:pt x="65" y="181"/>
                </a:lnTo>
                <a:lnTo>
                  <a:pt x="49" y="187"/>
                </a:lnTo>
                <a:lnTo>
                  <a:pt x="33" y="191"/>
                </a:lnTo>
                <a:lnTo>
                  <a:pt x="16" y="194"/>
                </a:lnTo>
                <a:lnTo>
                  <a:pt x="0" y="19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Freeform 48"/>
          <p:cNvSpPr/>
          <p:nvPr/>
        </p:nvSpPr>
        <p:spPr>
          <a:xfrm>
            <a:off x="2057400" y="2247900"/>
            <a:ext cx="3743325" cy="1352550"/>
          </a:xfrm>
          <a:custGeom>
            <a:avLst/>
            <a:gdLst/>
            <a:ahLst/>
            <a:cxnLst/>
            <a:rect l="l" t="t" r="r" b="b"/>
            <a:pathLst>
              <a:path w="393" h="142">
                <a:moveTo>
                  <a:pt x="0" y="138"/>
                </a:moveTo>
                <a:lnTo>
                  <a:pt x="16" y="137"/>
                </a:lnTo>
                <a:lnTo>
                  <a:pt x="33" y="135"/>
                </a:lnTo>
                <a:lnTo>
                  <a:pt x="49" y="132"/>
                </a:lnTo>
                <a:lnTo>
                  <a:pt x="65" y="128"/>
                </a:lnTo>
                <a:lnTo>
                  <a:pt x="82" y="122"/>
                </a:lnTo>
                <a:lnTo>
                  <a:pt x="98" y="116"/>
                </a:lnTo>
                <a:lnTo>
                  <a:pt x="114" y="109"/>
                </a:lnTo>
                <a:lnTo>
                  <a:pt x="131" y="102"/>
                </a:lnTo>
                <a:lnTo>
                  <a:pt x="147" y="94"/>
                </a:lnTo>
                <a:lnTo>
                  <a:pt x="164" y="86"/>
                </a:lnTo>
                <a:lnTo>
                  <a:pt x="180" y="77"/>
                </a:lnTo>
                <a:lnTo>
                  <a:pt x="196" y="69"/>
                </a:lnTo>
                <a:lnTo>
                  <a:pt x="213" y="60"/>
                </a:lnTo>
                <a:lnTo>
                  <a:pt x="229" y="52"/>
                </a:lnTo>
                <a:lnTo>
                  <a:pt x="246" y="43"/>
                </a:lnTo>
                <a:lnTo>
                  <a:pt x="262" y="36"/>
                </a:lnTo>
                <a:lnTo>
                  <a:pt x="278" y="28"/>
                </a:lnTo>
                <a:lnTo>
                  <a:pt x="295" y="21"/>
                </a:lnTo>
                <a:lnTo>
                  <a:pt x="311" y="15"/>
                </a:lnTo>
                <a:lnTo>
                  <a:pt x="327" y="10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6"/>
                </a:lnTo>
                <a:lnTo>
                  <a:pt x="344" y="10"/>
                </a:lnTo>
                <a:lnTo>
                  <a:pt x="327" y="14"/>
                </a:lnTo>
                <a:lnTo>
                  <a:pt x="311" y="19"/>
                </a:lnTo>
                <a:lnTo>
                  <a:pt x="295" y="25"/>
                </a:lnTo>
                <a:lnTo>
                  <a:pt x="278" y="32"/>
                </a:lnTo>
                <a:lnTo>
                  <a:pt x="262" y="40"/>
                </a:lnTo>
                <a:lnTo>
                  <a:pt x="246" y="47"/>
                </a:lnTo>
                <a:lnTo>
                  <a:pt x="229" y="56"/>
                </a:lnTo>
                <a:lnTo>
                  <a:pt x="213" y="64"/>
                </a:lnTo>
                <a:lnTo>
                  <a:pt x="196" y="73"/>
                </a:lnTo>
                <a:lnTo>
                  <a:pt x="180" y="81"/>
                </a:lnTo>
                <a:lnTo>
                  <a:pt x="164" y="90"/>
                </a:lnTo>
                <a:lnTo>
                  <a:pt x="147" y="98"/>
                </a:lnTo>
                <a:lnTo>
                  <a:pt x="131" y="106"/>
                </a:lnTo>
                <a:lnTo>
                  <a:pt x="114" y="113"/>
                </a:lnTo>
                <a:lnTo>
                  <a:pt x="98" y="120"/>
                </a:lnTo>
                <a:lnTo>
                  <a:pt x="82" y="126"/>
                </a:lnTo>
                <a:lnTo>
                  <a:pt x="65" y="132"/>
                </a:lnTo>
                <a:lnTo>
                  <a:pt x="49" y="136"/>
                </a:lnTo>
                <a:lnTo>
                  <a:pt x="33" y="139"/>
                </a:lnTo>
                <a:lnTo>
                  <a:pt x="16" y="141"/>
                </a:lnTo>
                <a:lnTo>
                  <a:pt x="0" y="142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Freeform 49"/>
          <p:cNvSpPr/>
          <p:nvPr/>
        </p:nvSpPr>
        <p:spPr>
          <a:xfrm>
            <a:off x="2057400" y="2800350"/>
            <a:ext cx="3743325" cy="838200"/>
          </a:xfrm>
          <a:custGeom>
            <a:avLst/>
            <a:gdLst/>
            <a:ahLst/>
            <a:cxnLst/>
            <a:rect l="l" t="t" r="r" b="b"/>
            <a:pathLst>
              <a:path w="393" h="88">
                <a:moveTo>
                  <a:pt x="0" y="84"/>
                </a:moveTo>
                <a:lnTo>
                  <a:pt x="16" y="83"/>
                </a:lnTo>
                <a:lnTo>
                  <a:pt x="33" y="82"/>
                </a:lnTo>
                <a:lnTo>
                  <a:pt x="49" y="80"/>
                </a:lnTo>
                <a:lnTo>
                  <a:pt x="65" y="78"/>
                </a:lnTo>
                <a:lnTo>
                  <a:pt x="82" y="74"/>
                </a:lnTo>
                <a:lnTo>
                  <a:pt x="98" y="71"/>
                </a:lnTo>
                <a:lnTo>
                  <a:pt x="114" y="67"/>
                </a:lnTo>
                <a:lnTo>
                  <a:pt x="131" y="62"/>
                </a:lnTo>
                <a:lnTo>
                  <a:pt x="147" y="57"/>
                </a:lnTo>
                <a:lnTo>
                  <a:pt x="164" y="52"/>
                </a:lnTo>
                <a:lnTo>
                  <a:pt x="180" y="47"/>
                </a:lnTo>
                <a:lnTo>
                  <a:pt x="196" y="42"/>
                </a:lnTo>
                <a:lnTo>
                  <a:pt x="213" y="37"/>
                </a:lnTo>
                <a:lnTo>
                  <a:pt x="229" y="32"/>
                </a:lnTo>
                <a:lnTo>
                  <a:pt x="246" y="27"/>
                </a:lnTo>
                <a:lnTo>
                  <a:pt x="262" y="22"/>
                </a:lnTo>
                <a:lnTo>
                  <a:pt x="278" y="17"/>
                </a:lnTo>
                <a:lnTo>
                  <a:pt x="295" y="13"/>
                </a:lnTo>
                <a:lnTo>
                  <a:pt x="311" y="9"/>
                </a:lnTo>
                <a:lnTo>
                  <a:pt x="327" y="6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6"/>
                </a:lnTo>
                <a:lnTo>
                  <a:pt x="344" y="8"/>
                </a:lnTo>
                <a:lnTo>
                  <a:pt x="327" y="10"/>
                </a:lnTo>
                <a:lnTo>
                  <a:pt x="311" y="13"/>
                </a:lnTo>
                <a:lnTo>
                  <a:pt x="295" y="17"/>
                </a:lnTo>
                <a:lnTo>
                  <a:pt x="278" y="21"/>
                </a:lnTo>
                <a:lnTo>
                  <a:pt x="262" y="26"/>
                </a:lnTo>
                <a:lnTo>
                  <a:pt x="246" y="30"/>
                </a:lnTo>
                <a:lnTo>
                  <a:pt x="229" y="35"/>
                </a:lnTo>
                <a:lnTo>
                  <a:pt x="213" y="41"/>
                </a:lnTo>
                <a:lnTo>
                  <a:pt x="196" y="46"/>
                </a:lnTo>
                <a:lnTo>
                  <a:pt x="180" y="51"/>
                </a:lnTo>
                <a:lnTo>
                  <a:pt x="164" y="56"/>
                </a:lnTo>
                <a:lnTo>
                  <a:pt x="147" y="61"/>
                </a:lnTo>
                <a:lnTo>
                  <a:pt x="131" y="66"/>
                </a:lnTo>
                <a:lnTo>
                  <a:pt x="114" y="70"/>
                </a:lnTo>
                <a:lnTo>
                  <a:pt x="98" y="74"/>
                </a:lnTo>
                <a:lnTo>
                  <a:pt x="82" y="78"/>
                </a:lnTo>
                <a:lnTo>
                  <a:pt x="65" y="81"/>
                </a:lnTo>
                <a:lnTo>
                  <a:pt x="49" y="84"/>
                </a:lnTo>
                <a:lnTo>
                  <a:pt x="33" y="86"/>
                </a:lnTo>
                <a:lnTo>
                  <a:pt x="16" y="87"/>
                </a:lnTo>
                <a:lnTo>
                  <a:pt x="0" y="88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2057400" y="3343275"/>
            <a:ext cx="3743325" cy="333375"/>
          </a:xfrm>
          <a:custGeom>
            <a:avLst/>
            <a:gdLst/>
            <a:ahLst/>
            <a:cxnLst/>
            <a:rect l="l" t="t" r="r" b="b"/>
            <a:pathLst>
              <a:path w="393" h="35">
                <a:moveTo>
                  <a:pt x="0" y="31"/>
                </a:moveTo>
                <a:lnTo>
                  <a:pt x="16" y="30"/>
                </a:lnTo>
                <a:lnTo>
                  <a:pt x="33" y="30"/>
                </a:lnTo>
                <a:lnTo>
                  <a:pt x="49" y="29"/>
                </a:lnTo>
                <a:lnTo>
                  <a:pt x="65" y="28"/>
                </a:lnTo>
                <a:lnTo>
                  <a:pt x="82" y="27"/>
                </a:lnTo>
                <a:lnTo>
                  <a:pt x="98" y="26"/>
                </a:lnTo>
                <a:lnTo>
                  <a:pt x="114" y="24"/>
                </a:lnTo>
                <a:lnTo>
                  <a:pt x="131" y="23"/>
                </a:lnTo>
                <a:lnTo>
                  <a:pt x="147" y="21"/>
                </a:lnTo>
                <a:lnTo>
                  <a:pt x="164" y="19"/>
                </a:lnTo>
                <a:lnTo>
                  <a:pt x="180" y="17"/>
                </a:lnTo>
                <a:lnTo>
                  <a:pt x="196" y="15"/>
                </a:lnTo>
                <a:lnTo>
                  <a:pt x="213" y="13"/>
                </a:lnTo>
                <a:lnTo>
                  <a:pt x="229" y="11"/>
                </a:lnTo>
                <a:lnTo>
                  <a:pt x="246" y="9"/>
                </a:lnTo>
                <a:lnTo>
                  <a:pt x="262" y="8"/>
                </a:lnTo>
                <a:lnTo>
                  <a:pt x="278" y="6"/>
                </a:lnTo>
                <a:lnTo>
                  <a:pt x="295" y="5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4"/>
                </a:lnTo>
                <a:lnTo>
                  <a:pt x="344" y="5"/>
                </a:lnTo>
                <a:lnTo>
                  <a:pt x="327" y="6"/>
                </a:lnTo>
                <a:lnTo>
                  <a:pt x="311" y="7"/>
                </a:lnTo>
                <a:lnTo>
                  <a:pt x="295" y="9"/>
                </a:lnTo>
                <a:lnTo>
                  <a:pt x="278" y="10"/>
                </a:lnTo>
                <a:lnTo>
                  <a:pt x="262" y="12"/>
                </a:lnTo>
                <a:lnTo>
                  <a:pt x="246" y="14"/>
                </a:lnTo>
                <a:lnTo>
                  <a:pt x="229" y="15"/>
                </a:lnTo>
                <a:lnTo>
                  <a:pt x="213" y="17"/>
                </a:lnTo>
                <a:lnTo>
                  <a:pt x="196" y="19"/>
                </a:lnTo>
                <a:lnTo>
                  <a:pt x="180" y="21"/>
                </a:lnTo>
                <a:lnTo>
                  <a:pt x="164" y="23"/>
                </a:lnTo>
                <a:lnTo>
                  <a:pt x="147" y="25"/>
                </a:lnTo>
                <a:lnTo>
                  <a:pt x="131" y="27"/>
                </a:lnTo>
                <a:lnTo>
                  <a:pt x="114" y="28"/>
                </a:lnTo>
                <a:lnTo>
                  <a:pt x="98" y="30"/>
                </a:lnTo>
                <a:lnTo>
                  <a:pt x="82" y="31"/>
                </a:lnTo>
                <a:lnTo>
                  <a:pt x="65" y="32"/>
                </a:lnTo>
                <a:lnTo>
                  <a:pt x="49" y="33"/>
                </a:lnTo>
                <a:lnTo>
                  <a:pt x="33" y="34"/>
                </a:lnTo>
                <a:lnTo>
                  <a:pt x="16" y="34"/>
                </a:lnTo>
                <a:lnTo>
                  <a:pt x="0" y="3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Freeform 51"/>
          <p:cNvSpPr/>
          <p:nvPr/>
        </p:nvSpPr>
        <p:spPr>
          <a:xfrm>
            <a:off x="2057400" y="3676650"/>
            <a:ext cx="3743325" cy="257175"/>
          </a:xfrm>
          <a:custGeom>
            <a:avLst/>
            <a:gdLst/>
            <a:ahLst/>
            <a:cxnLst/>
            <a:rect l="l" t="t" r="r" b="b"/>
            <a:pathLst>
              <a:path w="393" h="27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6"/>
                </a:lnTo>
                <a:lnTo>
                  <a:pt x="147" y="7"/>
                </a:lnTo>
                <a:lnTo>
                  <a:pt x="164" y="8"/>
                </a:lnTo>
                <a:lnTo>
                  <a:pt x="180" y="10"/>
                </a:lnTo>
                <a:lnTo>
                  <a:pt x="196" y="11"/>
                </a:lnTo>
                <a:lnTo>
                  <a:pt x="213" y="12"/>
                </a:lnTo>
                <a:lnTo>
                  <a:pt x="229" y="14"/>
                </a:lnTo>
                <a:lnTo>
                  <a:pt x="246" y="15"/>
                </a:lnTo>
                <a:lnTo>
                  <a:pt x="262" y="16"/>
                </a:lnTo>
                <a:lnTo>
                  <a:pt x="278" y="18"/>
                </a:lnTo>
                <a:lnTo>
                  <a:pt x="295" y="19"/>
                </a:lnTo>
                <a:lnTo>
                  <a:pt x="311" y="20"/>
                </a:lnTo>
                <a:lnTo>
                  <a:pt x="327" y="21"/>
                </a:lnTo>
                <a:lnTo>
                  <a:pt x="344" y="21"/>
                </a:lnTo>
                <a:lnTo>
                  <a:pt x="360" y="22"/>
                </a:lnTo>
                <a:lnTo>
                  <a:pt x="377" y="22"/>
                </a:lnTo>
                <a:lnTo>
                  <a:pt x="393" y="22"/>
                </a:lnTo>
                <a:lnTo>
                  <a:pt x="393" y="27"/>
                </a:lnTo>
                <a:lnTo>
                  <a:pt x="377" y="27"/>
                </a:lnTo>
                <a:lnTo>
                  <a:pt x="360" y="26"/>
                </a:lnTo>
                <a:lnTo>
                  <a:pt x="344" y="26"/>
                </a:lnTo>
                <a:lnTo>
                  <a:pt x="327" y="25"/>
                </a:lnTo>
                <a:lnTo>
                  <a:pt x="311" y="24"/>
                </a:lnTo>
                <a:lnTo>
                  <a:pt x="295" y="23"/>
                </a:lnTo>
                <a:lnTo>
                  <a:pt x="278" y="22"/>
                </a:lnTo>
                <a:lnTo>
                  <a:pt x="262" y="21"/>
                </a:lnTo>
                <a:lnTo>
                  <a:pt x="246" y="19"/>
                </a:lnTo>
                <a:lnTo>
                  <a:pt x="229" y="18"/>
                </a:lnTo>
                <a:lnTo>
                  <a:pt x="213" y="17"/>
                </a:lnTo>
                <a:lnTo>
                  <a:pt x="196" y="15"/>
                </a:lnTo>
                <a:lnTo>
                  <a:pt x="180" y="14"/>
                </a:lnTo>
                <a:lnTo>
                  <a:pt x="164" y="12"/>
                </a:lnTo>
                <a:lnTo>
                  <a:pt x="147" y="11"/>
                </a:lnTo>
                <a:lnTo>
                  <a:pt x="131" y="10"/>
                </a:lnTo>
                <a:lnTo>
                  <a:pt x="114" y="9"/>
                </a:lnTo>
                <a:lnTo>
                  <a:pt x="98" y="7"/>
                </a:lnTo>
                <a:lnTo>
                  <a:pt x="82" y="6"/>
                </a:lnTo>
                <a:lnTo>
                  <a:pt x="65" y="6"/>
                </a:lnTo>
                <a:lnTo>
                  <a:pt x="49" y="5"/>
                </a:lnTo>
                <a:lnTo>
                  <a:pt x="33" y="4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2057400" y="3714750"/>
            <a:ext cx="3743325" cy="762000"/>
          </a:xfrm>
          <a:custGeom>
            <a:avLst/>
            <a:gdLst/>
            <a:ahLst/>
            <a:cxnLst/>
            <a:rect l="l" t="t" r="r" b="b"/>
            <a:pathLst>
              <a:path w="393" h="80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6"/>
                </a:lnTo>
                <a:lnTo>
                  <a:pt x="82" y="8"/>
                </a:lnTo>
                <a:lnTo>
                  <a:pt x="98" y="12"/>
                </a:lnTo>
                <a:lnTo>
                  <a:pt x="114" y="16"/>
                </a:lnTo>
                <a:lnTo>
                  <a:pt x="131" y="20"/>
                </a:lnTo>
                <a:lnTo>
                  <a:pt x="147" y="24"/>
                </a:lnTo>
                <a:lnTo>
                  <a:pt x="164" y="28"/>
                </a:lnTo>
                <a:lnTo>
                  <a:pt x="180" y="33"/>
                </a:lnTo>
                <a:lnTo>
                  <a:pt x="196" y="38"/>
                </a:lnTo>
                <a:lnTo>
                  <a:pt x="213" y="43"/>
                </a:lnTo>
                <a:lnTo>
                  <a:pt x="229" y="47"/>
                </a:lnTo>
                <a:lnTo>
                  <a:pt x="246" y="52"/>
                </a:lnTo>
                <a:lnTo>
                  <a:pt x="262" y="56"/>
                </a:lnTo>
                <a:lnTo>
                  <a:pt x="278" y="60"/>
                </a:lnTo>
                <a:lnTo>
                  <a:pt x="295" y="64"/>
                </a:lnTo>
                <a:lnTo>
                  <a:pt x="311" y="67"/>
                </a:lnTo>
                <a:lnTo>
                  <a:pt x="327" y="70"/>
                </a:lnTo>
                <a:lnTo>
                  <a:pt x="344" y="73"/>
                </a:lnTo>
                <a:lnTo>
                  <a:pt x="360" y="74"/>
                </a:lnTo>
                <a:lnTo>
                  <a:pt x="377" y="76"/>
                </a:lnTo>
                <a:lnTo>
                  <a:pt x="393" y="76"/>
                </a:lnTo>
                <a:lnTo>
                  <a:pt x="393" y="80"/>
                </a:lnTo>
                <a:lnTo>
                  <a:pt x="377" y="79"/>
                </a:lnTo>
                <a:lnTo>
                  <a:pt x="360" y="78"/>
                </a:lnTo>
                <a:lnTo>
                  <a:pt x="344" y="77"/>
                </a:lnTo>
                <a:lnTo>
                  <a:pt x="327" y="74"/>
                </a:lnTo>
                <a:lnTo>
                  <a:pt x="311" y="71"/>
                </a:lnTo>
                <a:lnTo>
                  <a:pt x="295" y="68"/>
                </a:lnTo>
                <a:lnTo>
                  <a:pt x="278" y="64"/>
                </a:lnTo>
                <a:lnTo>
                  <a:pt x="262" y="60"/>
                </a:lnTo>
                <a:lnTo>
                  <a:pt x="246" y="56"/>
                </a:lnTo>
                <a:lnTo>
                  <a:pt x="229" y="51"/>
                </a:lnTo>
                <a:lnTo>
                  <a:pt x="213" y="47"/>
                </a:lnTo>
                <a:lnTo>
                  <a:pt x="196" y="42"/>
                </a:lnTo>
                <a:lnTo>
                  <a:pt x="180" y="37"/>
                </a:lnTo>
                <a:lnTo>
                  <a:pt x="164" y="32"/>
                </a:lnTo>
                <a:lnTo>
                  <a:pt x="147" y="28"/>
                </a:lnTo>
                <a:lnTo>
                  <a:pt x="131" y="24"/>
                </a:lnTo>
                <a:lnTo>
                  <a:pt x="114" y="19"/>
                </a:lnTo>
                <a:lnTo>
                  <a:pt x="98" y="16"/>
                </a:lnTo>
                <a:lnTo>
                  <a:pt x="82" y="12"/>
                </a:lnTo>
                <a:lnTo>
                  <a:pt x="65" y="9"/>
                </a:lnTo>
                <a:lnTo>
                  <a:pt x="49" y="7"/>
                </a:lnTo>
                <a:lnTo>
                  <a:pt x="33" y="5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Freeform 53"/>
          <p:cNvSpPr/>
          <p:nvPr/>
        </p:nvSpPr>
        <p:spPr>
          <a:xfrm>
            <a:off x="2057400" y="3752850"/>
            <a:ext cx="3743325" cy="1276350"/>
          </a:xfrm>
          <a:custGeom>
            <a:avLst/>
            <a:gdLst/>
            <a:ahLst/>
            <a:cxnLst/>
            <a:rect l="l" t="t" r="r" b="b"/>
            <a:pathLst>
              <a:path w="393" h="134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5"/>
                </a:lnTo>
                <a:lnTo>
                  <a:pt x="65" y="9"/>
                </a:lnTo>
                <a:lnTo>
                  <a:pt x="82" y="14"/>
                </a:lnTo>
                <a:lnTo>
                  <a:pt x="98" y="20"/>
                </a:lnTo>
                <a:lnTo>
                  <a:pt x="114" y="27"/>
                </a:lnTo>
                <a:lnTo>
                  <a:pt x="131" y="34"/>
                </a:lnTo>
                <a:lnTo>
                  <a:pt x="147" y="41"/>
                </a:lnTo>
                <a:lnTo>
                  <a:pt x="164" y="49"/>
                </a:lnTo>
                <a:lnTo>
                  <a:pt x="180" y="57"/>
                </a:lnTo>
                <a:lnTo>
                  <a:pt x="196" y="65"/>
                </a:lnTo>
                <a:lnTo>
                  <a:pt x="213" y="73"/>
                </a:lnTo>
                <a:lnTo>
                  <a:pt x="229" y="81"/>
                </a:lnTo>
                <a:lnTo>
                  <a:pt x="246" y="89"/>
                </a:lnTo>
                <a:lnTo>
                  <a:pt x="262" y="97"/>
                </a:lnTo>
                <a:lnTo>
                  <a:pt x="278" y="104"/>
                </a:lnTo>
                <a:lnTo>
                  <a:pt x="295" y="110"/>
                </a:lnTo>
                <a:lnTo>
                  <a:pt x="311" y="116"/>
                </a:lnTo>
                <a:lnTo>
                  <a:pt x="327" y="121"/>
                </a:lnTo>
                <a:lnTo>
                  <a:pt x="344" y="125"/>
                </a:lnTo>
                <a:lnTo>
                  <a:pt x="360" y="128"/>
                </a:lnTo>
                <a:lnTo>
                  <a:pt x="377" y="130"/>
                </a:lnTo>
                <a:lnTo>
                  <a:pt x="393" y="131"/>
                </a:lnTo>
                <a:lnTo>
                  <a:pt x="393" y="134"/>
                </a:lnTo>
                <a:lnTo>
                  <a:pt x="377" y="134"/>
                </a:lnTo>
                <a:lnTo>
                  <a:pt x="360" y="132"/>
                </a:lnTo>
                <a:lnTo>
                  <a:pt x="344" y="129"/>
                </a:lnTo>
                <a:lnTo>
                  <a:pt x="327" y="125"/>
                </a:lnTo>
                <a:lnTo>
                  <a:pt x="311" y="120"/>
                </a:lnTo>
                <a:lnTo>
                  <a:pt x="295" y="114"/>
                </a:lnTo>
                <a:lnTo>
                  <a:pt x="278" y="108"/>
                </a:lnTo>
                <a:lnTo>
                  <a:pt x="262" y="101"/>
                </a:lnTo>
                <a:lnTo>
                  <a:pt x="246" y="93"/>
                </a:lnTo>
                <a:lnTo>
                  <a:pt x="229" y="85"/>
                </a:lnTo>
                <a:lnTo>
                  <a:pt x="213" y="77"/>
                </a:lnTo>
                <a:lnTo>
                  <a:pt x="196" y="69"/>
                </a:lnTo>
                <a:lnTo>
                  <a:pt x="180" y="61"/>
                </a:lnTo>
                <a:lnTo>
                  <a:pt x="164" y="53"/>
                </a:lnTo>
                <a:lnTo>
                  <a:pt x="147" y="45"/>
                </a:lnTo>
                <a:lnTo>
                  <a:pt x="131" y="38"/>
                </a:lnTo>
                <a:lnTo>
                  <a:pt x="114" y="31"/>
                </a:lnTo>
                <a:lnTo>
                  <a:pt x="98" y="24"/>
                </a:lnTo>
                <a:lnTo>
                  <a:pt x="82" y="18"/>
                </a:lnTo>
                <a:lnTo>
                  <a:pt x="65" y="13"/>
                </a:lnTo>
                <a:lnTo>
                  <a:pt x="49" y="9"/>
                </a:lnTo>
                <a:lnTo>
                  <a:pt x="33" y="6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reeform 54"/>
          <p:cNvSpPr/>
          <p:nvPr/>
        </p:nvSpPr>
        <p:spPr>
          <a:xfrm>
            <a:off x="2057400" y="3790950"/>
            <a:ext cx="3743325" cy="1790700"/>
          </a:xfrm>
          <a:custGeom>
            <a:avLst/>
            <a:gdLst/>
            <a:ahLst/>
            <a:cxnLst/>
            <a:rect l="l" t="t" r="r" b="b"/>
            <a:pathLst>
              <a:path w="393" h="188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8"/>
                </a:lnTo>
                <a:lnTo>
                  <a:pt x="65" y="13"/>
                </a:lnTo>
                <a:lnTo>
                  <a:pt x="82" y="20"/>
                </a:lnTo>
                <a:lnTo>
                  <a:pt x="98" y="29"/>
                </a:lnTo>
                <a:lnTo>
                  <a:pt x="114" y="38"/>
                </a:lnTo>
                <a:lnTo>
                  <a:pt x="131" y="48"/>
                </a:lnTo>
                <a:lnTo>
                  <a:pt x="147" y="58"/>
                </a:lnTo>
                <a:lnTo>
                  <a:pt x="164" y="69"/>
                </a:lnTo>
                <a:lnTo>
                  <a:pt x="180" y="81"/>
                </a:lnTo>
                <a:lnTo>
                  <a:pt x="196" y="92"/>
                </a:lnTo>
                <a:lnTo>
                  <a:pt x="213" y="104"/>
                </a:lnTo>
                <a:lnTo>
                  <a:pt x="229" y="115"/>
                </a:lnTo>
                <a:lnTo>
                  <a:pt x="246" y="126"/>
                </a:lnTo>
                <a:lnTo>
                  <a:pt x="262" y="137"/>
                </a:lnTo>
                <a:lnTo>
                  <a:pt x="278" y="147"/>
                </a:lnTo>
                <a:lnTo>
                  <a:pt x="295" y="156"/>
                </a:lnTo>
                <a:lnTo>
                  <a:pt x="311" y="164"/>
                </a:lnTo>
                <a:lnTo>
                  <a:pt x="327" y="171"/>
                </a:lnTo>
                <a:lnTo>
                  <a:pt x="344" y="177"/>
                </a:lnTo>
                <a:lnTo>
                  <a:pt x="360" y="181"/>
                </a:lnTo>
                <a:lnTo>
                  <a:pt x="377" y="184"/>
                </a:lnTo>
                <a:lnTo>
                  <a:pt x="393" y="185"/>
                </a:lnTo>
                <a:lnTo>
                  <a:pt x="393" y="188"/>
                </a:lnTo>
                <a:lnTo>
                  <a:pt x="377" y="187"/>
                </a:lnTo>
                <a:lnTo>
                  <a:pt x="360" y="185"/>
                </a:lnTo>
                <a:lnTo>
                  <a:pt x="344" y="180"/>
                </a:lnTo>
                <a:lnTo>
                  <a:pt x="327" y="175"/>
                </a:lnTo>
                <a:lnTo>
                  <a:pt x="311" y="168"/>
                </a:lnTo>
                <a:lnTo>
                  <a:pt x="295" y="159"/>
                </a:lnTo>
                <a:lnTo>
                  <a:pt x="278" y="150"/>
                </a:lnTo>
                <a:lnTo>
                  <a:pt x="262" y="140"/>
                </a:lnTo>
                <a:lnTo>
                  <a:pt x="246" y="130"/>
                </a:lnTo>
                <a:lnTo>
                  <a:pt x="229" y="119"/>
                </a:lnTo>
                <a:lnTo>
                  <a:pt x="213" y="107"/>
                </a:lnTo>
                <a:lnTo>
                  <a:pt x="196" y="96"/>
                </a:lnTo>
                <a:lnTo>
                  <a:pt x="180" y="84"/>
                </a:lnTo>
                <a:lnTo>
                  <a:pt x="164" y="73"/>
                </a:lnTo>
                <a:lnTo>
                  <a:pt x="147" y="62"/>
                </a:lnTo>
                <a:lnTo>
                  <a:pt x="131" y="51"/>
                </a:lnTo>
                <a:lnTo>
                  <a:pt x="114" y="41"/>
                </a:lnTo>
                <a:lnTo>
                  <a:pt x="98" y="32"/>
                </a:lnTo>
                <a:lnTo>
                  <a:pt x="82" y="24"/>
                </a:lnTo>
                <a:lnTo>
                  <a:pt x="65" y="17"/>
                </a:lnTo>
                <a:lnTo>
                  <a:pt x="49" y="11"/>
                </a:lnTo>
                <a:lnTo>
                  <a:pt x="33" y="7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Freeform 55"/>
          <p:cNvSpPr/>
          <p:nvPr/>
        </p:nvSpPr>
        <p:spPr>
          <a:xfrm>
            <a:off x="2057400" y="3819525"/>
            <a:ext cx="3743325" cy="2305050"/>
          </a:xfrm>
          <a:custGeom>
            <a:avLst/>
            <a:gdLst/>
            <a:ahLst/>
            <a:cxnLst/>
            <a:rect l="l" t="t" r="r" b="b"/>
            <a:pathLst>
              <a:path w="393" h="242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1"/>
                </a:lnTo>
                <a:lnTo>
                  <a:pt x="65" y="18"/>
                </a:lnTo>
                <a:lnTo>
                  <a:pt x="82" y="27"/>
                </a:lnTo>
                <a:lnTo>
                  <a:pt x="98" y="38"/>
                </a:lnTo>
                <a:lnTo>
                  <a:pt x="114" y="49"/>
                </a:lnTo>
                <a:lnTo>
                  <a:pt x="131" y="62"/>
                </a:lnTo>
                <a:lnTo>
                  <a:pt x="147" y="76"/>
                </a:lnTo>
                <a:lnTo>
                  <a:pt x="164" y="90"/>
                </a:lnTo>
                <a:lnTo>
                  <a:pt x="180" y="104"/>
                </a:lnTo>
                <a:lnTo>
                  <a:pt x="196" y="119"/>
                </a:lnTo>
                <a:lnTo>
                  <a:pt x="213" y="134"/>
                </a:lnTo>
                <a:lnTo>
                  <a:pt x="229" y="148"/>
                </a:lnTo>
                <a:lnTo>
                  <a:pt x="246" y="163"/>
                </a:lnTo>
                <a:lnTo>
                  <a:pt x="262" y="176"/>
                </a:lnTo>
                <a:lnTo>
                  <a:pt x="278" y="189"/>
                </a:lnTo>
                <a:lnTo>
                  <a:pt x="295" y="201"/>
                </a:lnTo>
                <a:lnTo>
                  <a:pt x="311" y="211"/>
                </a:lnTo>
                <a:lnTo>
                  <a:pt x="327" y="220"/>
                </a:lnTo>
                <a:lnTo>
                  <a:pt x="344" y="228"/>
                </a:lnTo>
                <a:lnTo>
                  <a:pt x="360" y="233"/>
                </a:lnTo>
                <a:lnTo>
                  <a:pt x="377" y="237"/>
                </a:lnTo>
                <a:lnTo>
                  <a:pt x="393" y="238"/>
                </a:lnTo>
                <a:lnTo>
                  <a:pt x="393" y="242"/>
                </a:lnTo>
                <a:lnTo>
                  <a:pt x="377" y="241"/>
                </a:lnTo>
                <a:lnTo>
                  <a:pt x="360" y="237"/>
                </a:lnTo>
                <a:lnTo>
                  <a:pt x="344" y="232"/>
                </a:lnTo>
                <a:lnTo>
                  <a:pt x="327" y="224"/>
                </a:lnTo>
                <a:lnTo>
                  <a:pt x="311" y="215"/>
                </a:lnTo>
                <a:lnTo>
                  <a:pt x="295" y="205"/>
                </a:lnTo>
                <a:lnTo>
                  <a:pt x="278" y="193"/>
                </a:lnTo>
                <a:lnTo>
                  <a:pt x="262" y="180"/>
                </a:lnTo>
                <a:lnTo>
                  <a:pt x="246" y="167"/>
                </a:lnTo>
                <a:lnTo>
                  <a:pt x="229" y="153"/>
                </a:lnTo>
                <a:lnTo>
                  <a:pt x="213" y="138"/>
                </a:lnTo>
                <a:lnTo>
                  <a:pt x="196" y="123"/>
                </a:lnTo>
                <a:lnTo>
                  <a:pt x="180" y="108"/>
                </a:lnTo>
                <a:lnTo>
                  <a:pt x="164" y="94"/>
                </a:lnTo>
                <a:lnTo>
                  <a:pt x="147" y="80"/>
                </a:lnTo>
                <a:lnTo>
                  <a:pt x="131" y="66"/>
                </a:lnTo>
                <a:lnTo>
                  <a:pt x="114" y="53"/>
                </a:lnTo>
                <a:lnTo>
                  <a:pt x="98" y="42"/>
                </a:lnTo>
                <a:lnTo>
                  <a:pt x="82" y="31"/>
                </a:lnTo>
                <a:lnTo>
                  <a:pt x="65" y="22"/>
                </a:lnTo>
                <a:lnTo>
                  <a:pt x="49" y="15"/>
                </a:lnTo>
                <a:lnTo>
                  <a:pt x="33" y="9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Freeform 56"/>
          <p:cNvSpPr/>
          <p:nvPr/>
        </p:nvSpPr>
        <p:spPr>
          <a:xfrm>
            <a:off x="2057400" y="1743075"/>
            <a:ext cx="3743325" cy="2209800"/>
          </a:xfrm>
          <a:custGeom>
            <a:avLst/>
            <a:gdLst/>
            <a:ahLst/>
            <a:cxnLst/>
            <a:rect l="l" t="t" r="r" b="b"/>
            <a:pathLst>
              <a:path w="393" h="232">
                <a:moveTo>
                  <a:pt x="0" y="229"/>
                </a:moveTo>
                <a:lnTo>
                  <a:pt x="16" y="227"/>
                </a:lnTo>
                <a:lnTo>
                  <a:pt x="33" y="224"/>
                </a:lnTo>
                <a:lnTo>
                  <a:pt x="49" y="219"/>
                </a:lnTo>
                <a:lnTo>
                  <a:pt x="65" y="212"/>
                </a:lnTo>
                <a:lnTo>
                  <a:pt x="82" y="203"/>
                </a:lnTo>
                <a:lnTo>
                  <a:pt x="98" y="193"/>
                </a:lnTo>
                <a:lnTo>
                  <a:pt x="114" y="182"/>
                </a:lnTo>
                <a:lnTo>
                  <a:pt x="131" y="169"/>
                </a:lnTo>
                <a:lnTo>
                  <a:pt x="147" y="156"/>
                </a:lnTo>
                <a:lnTo>
                  <a:pt x="164" y="143"/>
                </a:lnTo>
                <a:lnTo>
                  <a:pt x="180" y="129"/>
                </a:lnTo>
                <a:lnTo>
                  <a:pt x="196" y="114"/>
                </a:lnTo>
                <a:lnTo>
                  <a:pt x="213" y="100"/>
                </a:lnTo>
                <a:lnTo>
                  <a:pt x="229" y="86"/>
                </a:lnTo>
                <a:lnTo>
                  <a:pt x="246" y="72"/>
                </a:lnTo>
                <a:lnTo>
                  <a:pt x="262" y="59"/>
                </a:lnTo>
                <a:lnTo>
                  <a:pt x="278" y="47"/>
                </a:lnTo>
                <a:lnTo>
                  <a:pt x="295" y="36"/>
                </a:lnTo>
                <a:lnTo>
                  <a:pt x="311" y="26"/>
                </a:lnTo>
                <a:lnTo>
                  <a:pt x="327" y="17"/>
                </a:lnTo>
                <a:lnTo>
                  <a:pt x="344" y="10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8"/>
                </a:lnTo>
                <a:lnTo>
                  <a:pt x="344" y="13"/>
                </a:lnTo>
                <a:lnTo>
                  <a:pt x="327" y="20"/>
                </a:lnTo>
                <a:lnTo>
                  <a:pt x="311" y="29"/>
                </a:lnTo>
                <a:lnTo>
                  <a:pt x="295" y="39"/>
                </a:lnTo>
                <a:lnTo>
                  <a:pt x="278" y="51"/>
                </a:lnTo>
                <a:lnTo>
                  <a:pt x="262" y="63"/>
                </a:lnTo>
                <a:lnTo>
                  <a:pt x="246" y="76"/>
                </a:lnTo>
                <a:lnTo>
                  <a:pt x="229" y="90"/>
                </a:lnTo>
                <a:lnTo>
                  <a:pt x="213" y="104"/>
                </a:lnTo>
                <a:lnTo>
                  <a:pt x="196" y="118"/>
                </a:lnTo>
                <a:lnTo>
                  <a:pt x="180" y="132"/>
                </a:lnTo>
                <a:lnTo>
                  <a:pt x="164" y="146"/>
                </a:lnTo>
                <a:lnTo>
                  <a:pt x="147" y="160"/>
                </a:lnTo>
                <a:lnTo>
                  <a:pt x="131" y="173"/>
                </a:lnTo>
                <a:lnTo>
                  <a:pt x="114" y="185"/>
                </a:lnTo>
                <a:lnTo>
                  <a:pt x="98" y="196"/>
                </a:lnTo>
                <a:lnTo>
                  <a:pt x="82" y="207"/>
                </a:lnTo>
                <a:lnTo>
                  <a:pt x="65" y="215"/>
                </a:lnTo>
                <a:lnTo>
                  <a:pt x="49" y="222"/>
                </a:lnTo>
                <a:lnTo>
                  <a:pt x="33" y="228"/>
                </a:lnTo>
                <a:lnTo>
                  <a:pt x="16" y="231"/>
                </a:lnTo>
                <a:lnTo>
                  <a:pt x="0" y="232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Freeform 57"/>
          <p:cNvSpPr/>
          <p:nvPr/>
        </p:nvSpPr>
        <p:spPr>
          <a:xfrm>
            <a:off x="2057400" y="2286000"/>
            <a:ext cx="3743325" cy="1704975"/>
          </a:xfrm>
          <a:custGeom>
            <a:avLst/>
            <a:gdLst/>
            <a:ahLst/>
            <a:cxnLst/>
            <a:rect l="l" t="t" r="r" b="b"/>
            <a:pathLst>
              <a:path w="393" h="179">
                <a:moveTo>
                  <a:pt x="0" y="175"/>
                </a:moveTo>
                <a:lnTo>
                  <a:pt x="16" y="174"/>
                </a:lnTo>
                <a:lnTo>
                  <a:pt x="33" y="172"/>
                </a:lnTo>
                <a:lnTo>
                  <a:pt x="49" y="168"/>
                </a:lnTo>
                <a:lnTo>
                  <a:pt x="65" y="162"/>
                </a:lnTo>
                <a:lnTo>
                  <a:pt x="82" y="156"/>
                </a:lnTo>
                <a:lnTo>
                  <a:pt x="98" y="148"/>
                </a:lnTo>
                <a:lnTo>
                  <a:pt x="114" y="139"/>
                </a:lnTo>
                <a:lnTo>
                  <a:pt x="131" y="130"/>
                </a:lnTo>
                <a:lnTo>
                  <a:pt x="147" y="120"/>
                </a:lnTo>
                <a:lnTo>
                  <a:pt x="164" y="109"/>
                </a:lnTo>
                <a:lnTo>
                  <a:pt x="180" y="98"/>
                </a:lnTo>
                <a:lnTo>
                  <a:pt x="196" y="87"/>
                </a:lnTo>
                <a:lnTo>
                  <a:pt x="213" y="77"/>
                </a:lnTo>
                <a:lnTo>
                  <a:pt x="229" y="66"/>
                </a:lnTo>
                <a:lnTo>
                  <a:pt x="246" y="55"/>
                </a:lnTo>
                <a:lnTo>
                  <a:pt x="262" y="45"/>
                </a:lnTo>
                <a:lnTo>
                  <a:pt x="278" y="36"/>
                </a:lnTo>
                <a:lnTo>
                  <a:pt x="295" y="27"/>
                </a:lnTo>
                <a:lnTo>
                  <a:pt x="311" y="19"/>
                </a:lnTo>
                <a:lnTo>
                  <a:pt x="327" y="13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1"/>
                </a:lnTo>
                <a:lnTo>
                  <a:pt x="327" y="17"/>
                </a:lnTo>
                <a:lnTo>
                  <a:pt x="311" y="23"/>
                </a:lnTo>
                <a:lnTo>
                  <a:pt x="295" y="31"/>
                </a:lnTo>
                <a:lnTo>
                  <a:pt x="278" y="40"/>
                </a:lnTo>
                <a:lnTo>
                  <a:pt x="262" y="49"/>
                </a:lnTo>
                <a:lnTo>
                  <a:pt x="246" y="59"/>
                </a:lnTo>
                <a:lnTo>
                  <a:pt x="229" y="70"/>
                </a:lnTo>
                <a:lnTo>
                  <a:pt x="213" y="81"/>
                </a:lnTo>
                <a:lnTo>
                  <a:pt x="196" y="91"/>
                </a:lnTo>
                <a:lnTo>
                  <a:pt x="180" y="102"/>
                </a:lnTo>
                <a:lnTo>
                  <a:pt x="164" y="113"/>
                </a:lnTo>
                <a:lnTo>
                  <a:pt x="147" y="124"/>
                </a:lnTo>
                <a:lnTo>
                  <a:pt x="131" y="134"/>
                </a:lnTo>
                <a:lnTo>
                  <a:pt x="114" y="143"/>
                </a:lnTo>
                <a:lnTo>
                  <a:pt x="98" y="152"/>
                </a:lnTo>
                <a:lnTo>
                  <a:pt x="82" y="160"/>
                </a:lnTo>
                <a:lnTo>
                  <a:pt x="65" y="166"/>
                </a:lnTo>
                <a:lnTo>
                  <a:pt x="49" y="172"/>
                </a:lnTo>
                <a:lnTo>
                  <a:pt x="33" y="176"/>
                </a:lnTo>
                <a:lnTo>
                  <a:pt x="16" y="178"/>
                </a:lnTo>
                <a:lnTo>
                  <a:pt x="0" y="179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reeform 58"/>
          <p:cNvSpPr/>
          <p:nvPr/>
        </p:nvSpPr>
        <p:spPr>
          <a:xfrm>
            <a:off x="2057400" y="2838450"/>
            <a:ext cx="3743325" cy="1190625"/>
          </a:xfrm>
          <a:custGeom>
            <a:avLst/>
            <a:gdLst/>
            <a:ahLst/>
            <a:cxnLst/>
            <a:rect l="l" t="t" r="r" b="b"/>
            <a:pathLst>
              <a:path w="393" h="125">
                <a:moveTo>
                  <a:pt x="0" y="121"/>
                </a:moveTo>
                <a:lnTo>
                  <a:pt x="16" y="121"/>
                </a:lnTo>
                <a:lnTo>
                  <a:pt x="33" y="119"/>
                </a:lnTo>
                <a:lnTo>
                  <a:pt x="49" y="116"/>
                </a:lnTo>
                <a:lnTo>
                  <a:pt x="65" y="112"/>
                </a:lnTo>
                <a:lnTo>
                  <a:pt x="82" y="108"/>
                </a:lnTo>
                <a:lnTo>
                  <a:pt x="98" y="102"/>
                </a:lnTo>
                <a:lnTo>
                  <a:pt x="114" y="96"/>
                </a:lnTo>
                <a:lnTo>
                  <a:pt x="131" y="90"/>
                </a:lnTo>
                <a:lnTo>
                  <a:pt x="147" y="83"/>
                </a:lnTo>
                <a:lnTo>
                  <a:pt x="164" y="76"/>
                </a:lnTo>
                <a:lnTo>
                  <a:pt x="180" y="68"/>
                </a:lnTo>
                <a:lnTo>
                  <a:pt x="196" y="61"/>
                </a:lnTo>
                <a:lnTo>
                  <a:pt x="213" y="53"/>
                </a:lnTo>
                <a:lnTo>
                  <a:pt x="229" y="46"/>
                </a:lnTo>
                <a:lnTo>
                  <a:pt x="246" y="38"/>
                </a:lnTo>
                <a:lnTo>
                  <a:pt x="262" y="31"/>
                </a:lnTo>
                <a:lnTo>
                  <a:pt x="278" y="25"/>
                </a:lnTo>
                <a:lnTo>
                  <a:pt x="295" y="19"/>
                </a:lnTo>
                <a:lnTo>
                  <a:pt x="311" y="14"/>
                </a:lnTo>
                <a:lnTo>
                  <a:pt x="327" y="9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6"/>
                </a:lnTo>
                <a:lnTo>
                  <a:pt x="344" y="9"/>
                </a:lnTo>
                <a:lnTo>
                  <a:pt x="327" y="13"/>
                </a:lnTo>
                <a:lnTo>
                  <a:pt x="311" y="17"/>
                </a:lnTo>
                <a:lnTo>
                  <a:pt x="295" y="22"/>
                </a:lnTo>
                <a:lnTo>
                  <a:pt x="278" y="28"/>
                </a:lnTo>
                <a:lnTo>
                  <a:pt x="262" y="35"/>
                </a:lnTo>
                <a:lnTo>
                  <a:pt x="246" y="42"/>
                </a:lnTo>
                <a:lnTo>
                  <a:pt x="229" y="49"/>
                </a:lnTo>
                <a:lnTo>
                  <a:pt x="213" y="57"/>
                </a:lnTo>
                <a:lnTo>
                  <a:pt x="196" y="64"/>
                </a:lnTo>
                <a:lnTo>
                  <a:pt x="180" y="72"/>
                </a:lnTo>
                <a:lnTo>
                  <a:pt x="164" y="79"/>
                </a:lnTo>
                <a:lnTo>
                  <a:pt x="147" y="86"/>
                </a:lnTo>
                <a:lnTo>
                  <a:pt x="131" y="93"/>
                </a:lnTo>
                <a:lnTo>
                  <a:pt x="114" y="100"/>
                </a:lnTo>
                <a:lnTo>
                  <a:pt x="98" y="106"/>
                </a:lnTo>
                <a:lnTo>
                  <a:pt x="82" y="111"/>
                </a:lnTo>
                <a:lnTo>
                  <a:pt x="65" y="116"/>
                </a:lnTo>
                <a:lnTo>
                  <a:pt x="49" y="120"/>
                </a:lnTo>
                <a:lnTo>
                  <a:pt x="33" y="122"/>
                </a:lnTo>
                <a:lnTo>
                  <a:pt x="16" y="124"/>
                </a:lnTo>
                <a:lnTo>
                  <a:pt x="0" y="125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Freeform 59"/>
          <p:cNvSpPr/>
          <p:nvPr/>
        </p:nvSpPr>
        <p:spPr>
          <a:xfrm>
            <a:off x="2057400" y="3381375"/>
            <a:ext cx="3743325" cy="676275"/>
          </a:xfrm>
          <a:custGeom>
            <a:avLst/>
            <a:gdLst/>
            <a:ahLst/>
            <a:cxnLst/>
            <a:rect l="l" t="t" r="r" b="b"/>
            <a:pathLst>
              <a:path w="393" h="71">
                <a:moveTo>
                  <a:pt x="0" y="68"/>
                </a:moveTo>
                <a:lnTo>
                  <a:pt x="16" y="67"/>
                </a:lnTo>
                <a:lnTo>
                  <a:pt x="33" y="66"/>
                </a:lnTo>
                <a:lnTo>
                  <a:pt x="49" y="65"/>
                </a:lnTo>
                <a:lnTo>
                  <a:pt x="65" y="63"/>
                </a:lnTo>
                <a:lnTo>
                  <a:pt x="82" y="60"/>
                </a:lnTo>
                <a:lnTo>
                  <a:pt x="98" y="57"/>
                </a:lnTo>
                <a:lnTo>
                  <a:pt x="114" y="54"/>
                </a:lnTo>
                <a:lnTo>
                  <a:pt x="131" y="50"/>
                </a:lnTo>
                <a:lnTo>
                  <a:pt x="147" y="46"/>
                </a:lnTo>
                <a:lnTo>
                  <a:pt x="164" y="42"/>
                </a:lnTo>
                <a:lnTo>
                  <a:pt x="180" y="38"/>
                </a:lnTo>
                <a:lnTo>
                  <a:pt x="196" y="34"/>
                </a:lnTo>
                <a:lnTo>
                  <a:pt x="213" y="30"/>
                </a:lnTo>
                <a:lnTo>
                  <a:pt x="229" y="25"/>
                </a:lnTo>
                <a:lnTo>
                  <a:pt x="246" y="21"/>
                </a:lnTo>
                <a:lnTo>
                  <a:pt x="262" y="17"/>
                </a:lnTo>
                <a:lnTo>
                  <a:pt x="278" y="14"/>
                </a:lnTo>
                <a:lnTo>
                  <a:pt x="295" y="10"/>
                </a:lnTo>
                <a:lnTo>
                  <a:pt x="311" y="7"/>
                </a:lnTo>
                <a:lnTo>
                  <a:pt x="327" y="5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5"/>
                </a:lnTo>
                <a:lnTo>
                  <a:pt x="344" y="6"/>
                </a:lnTo>
                <a:lnTo>
                  <a:pt x="327" y="8"/>
                </a:lnTo>
                <a:lnTo>
                  <a:pt x="311" y="11"/>
                </a:lnTo>
                <a:lnTo>
                  <a:pt x="295" y="14"/>
                </a:lnTo>
                <a:lnTo>
                  <a:pt x="278" y="17"/>
                </a:lnTo>
                <a:lnTo>
                  <a:pt x="262" y="21"/>
                </a:lnTo>
                <a:lnTo>
                  <a:pt x="246" y="25"/>
                </a:lnTo>
                <a:lnTo>
                  <a:pt x="229" y="29"/>
                </a:lnTo>
                <a:lnTo>
                  <a:pt x="213" y="33"/>
                </a:lnTo>
                <a:lnTo>
                  <a:pt x="196" y="37"/>
                </a:lnTo>
                <a:lnTo>
                  <a:pt x="180" y="42"/>
                </a:lnTo>
                <a:lnTo>
                  <a:pt x="164" y="46"/>
                </a:lnTo>
                <a:lnTo>
                  <a:pt x="147" y="50"/>
                </a:lnTo>
                <a:lnTo>
                  <a:pt x="131" y="54"/>
                </a:lnTo>
                <a:lnTo>
                  <a:pt x="114" y="57"/>
                </a:lnTo>
                <a:lnTo>
                  <a:pt x="98" y="61"/>
                </a:lnTo>
                <a:lnTo>
                  <a:pt x="82" y="64"/>
                </a:lnTo>
                <a:lnTo>
                  <a:pt x="65" y="66"/>
                </a:lnTo>
                <a:lnTo>
                  <a:pt x="49" y="68"/>
                </a:lnTo>
                <a:lnTo>
                  <a:pt x="33" y="70"/>
                </a:lnTo>
                <a:lnTo>
                  <a:pt x="16" y="71"/>
                </a:lnTo>
                <a:lnTo>
                  <a:pt x="0" y="71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Freeform 60"/>
          <p:cNvSpPr/>
          <p:nvPr/>
        </p:nvSpPr>
        <p:spPr>
          <a:xfrm>
            <a:off x="2057400" y="3933825"/>
            <a:ext cx="3743325" cy="171450"/>
          </a:xfrm>
          <a:custGeom>
            <a:avLst/>
            <a:gdLst/>
            <a:ahLst/>
            <a:cxnLst/>
            <a:rect l="l" t="t" r="r" b="b"/>
            <a:pathLst>
              <a:path w="393" h="18">
                <a:moveTo>
                  <a:pt x="0" y="13"/>
                </a:moveTo>
                <a:lnTo>
                  <a:pt x="16" y="13"/>
                </a:lnTo>
                <a:lnTo>
                  <a:pt x="33" y="13"/>
                </a:lnTo>
                <a:lnTo>
                  <a:pt x="49" y="13"/>
                </a:lnTo>
                <a:lnTo>
                  <a:pt x="65" y="12"/>
                </a:lnTo>
                <a:lnTo>
                  <a:pt x="82" y="12"/>
                </a:lnTo>
                <a:lnTo>
                  <a:pt x="98" y="11"/>
                </a:lnTo>
                <a:lnTo>
                  <a:pt x="114" y="11"/>
                </a:lnTo>
                <a:lnTo>
                  <a:pt x="131" y="10"/>
                </a:lnTo>
                <a:lnTo>
                  <a:pt x="147" y="9"/>
                </a:lnTo>
                <a:lnTo>
                  <a:pt x="164" y="8"/>
                </a:lnTo>
                <a:lnTo>
                  <a:pt x="180" y="7"/>
                </a:lnTo>
                <a:lnTo>
                  <a:pt x="196" y="7"/>
                </a:lnTo>
                <a:lnTo>
                  <a:pt x="213" y="6"/>
                </a:lnTo>
                <a:lnTo>
                  <a:pt x="229" y="5"/>
                </a:lnTo>
                <a:lnTo>
                  <a:pt x="246" y="4"/>
                </a:lnTo>
                <a:lnTo>
                  <a:pt x="262" y="3"/>
                </a:lnTo>
                <a:lnTo>
                  <a:pt x="278" y="2"/>
                </a:lnTo>
                <a:lnTo>
                  <a:pt x="295" y="2"/>
                </a:lnTo>
                <a:lnTo>
                  <a:pt x="311" y="1"/>
                </a:lnTo>
                <a:lnTo>
                  <a:pt x="327" y="1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4"/>
                </a:lnTo>
                <a:lnTo>
                  <a:pt x="344" y="5"/>
                </a:lnTo>
                <a:lnTo>
                  <a:pt x="327" y="5"/>
                </a:lnTo>
                <a:lnTo>
                  <a:pt x="311" y="6"/>
                </a:lnTo>
                <a:lnTo>
                  <a:pt x="295" y="6"/>
                </a:lnTo>
                <a:lnTo>
                  <a:pt x="278" y="7"/>
                </a:lnTo>
                <a:lnTo>
                  <a:pt x="262" y="8"/>
                </a:lnTo>
                <a:lnTo>
                  <a:pt x="246" y="8"/>
                </a:lnTo>
                <a:lnTo>
                  <a:pt x="229" y="9"/>
                </a:lnTo>
                <a:lnTo>
                  <a:pt x="213" y="10"/>
                </a:lnTo>
                <a:lnTo>
                  <a:pt x="196" y="11"/>
                </a:lnTo>
                <a:lnTo>
                  <a:pt x="180" y="12"/>
                </a:lnTo>
                <a:lnTo>
                  <a:pt x="164" y="13"/>
                </a:lnTo>
                <a:lnTo>
                  <a:pt x="147" y="13"/>
                </a:lnTo>
                <a:lnTo>
                  <a:pt x="131" y="14"/>
                </a:lnTo>
                <a:lnTo>
                  <a:pt x="114" y="15"/>
                </a:lnTo>
                <a:lnTo>
                  <a:pt x="98" y="16"/>
                </a:lnTo>
                <a:lnTo>
                  <a:pt x="82" y="16"/>
                </a:lnTo>
                <a:lnTo>
                  <a:pt x="65" y="17"/>
                </a:lnTo>
                <a:lnTo>
                  <a:pt x="49" y="17"/>
                </a:lnTo>
                <a:lnTo>
                  <a:pt x="33" y="17"/>
                </a:lnTo>
                <a:lnTo>
                  <a:pt x="1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reeform 61"/>
          <p:cNvSpPr/>
          <p:nvPr/>
        </p:nvSpPr>
        <p:spPr>
          <a:xfrm>
            <a:off x="2057400" y="4105275"/>
            <a:ext cx="3743325" cy="409575"/>
          </a:xfrm>
          <a:custGeom>
            <a:avLst/>
            <a:gdLst/>
            <a:ahLst/>
            <a:cxnLst/>
            <a:rect l="l" t="t" r="r" b="b"/>
            <a:pathLst>
              <a:path w="393" h="43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3"/>
                </a:lnTo>
                <a:lnTo>
                  <a:pt x="82" y="4"/>
                </a:lnTo>
                <a:lnTo>
                  <a:pt x="98" y="6"/>
                </a:lnTo>
                <a:lnTo>
                  <a:pt x="114" y="8"/>
                </a:lnTo>
                <a:lnTo>
                  <a:pt x="131" y="10"/>
                </a:lnTo>
                <a:lnTo>
                  <a:pt x="147" y="12"/>
                </a:lnTo>
                <a:lnTo>
                  <a:pt x="164" y="14"/>
                </a:lnTo>
                <a:lnTo>
                  <a:pt x="180" y="17"/>
                </a:lnTo>
                <a:lnTo>
                  <a:pt x="196" y="19"/>
                </a:lnTo>
                <a:lnTo>
                  <a:pt x="213" y="22"/>
                </a:lnTo>
                <a:lnTo>
                  <a:pt x="229" y="24"/>
                </a:lnTo>
                <a:lnTo>
                  <a:pt x="246" y="26"/>
                </a:lnTo>
                <a:lnTo>
                  <a:pt x="262" y="29"/>
                </a:lnTo>
                <a:lnTo>
                  <a:pt x="278" y="31"/>
                </a:lnTo>
                <a:lnTo>
                  <a:pt x="295" y="33"/>
                </a:lnTo>
                <a:lnTo>
                  <a:pt x="311" y="34"/>
                </a:lnTo>
                <a:lnTo>
                  <a:pt x="327" y="36"/>
                </a:lnTo>
                <a:lnTo>
                  <a:pt x="344" y="37"/>
                </a:lnTo>
                <a:lnTo>
                  <a:pt x="360" y="38"/>
                </a:lnTo>
                <a:lnTo>
                  <a:pt x="377" y="39"/>
                </a:lnTo>
                <a:lnTo>
                  <a:pt x="393" y="39"/>
                </a:lnTo>
                <a:lnTo>
                  <a:pt x="393" y="43"/>
                </a:lnTo>
                <a:lnTo>
                  <a:pt x="377" y="42"/>
                </a:lnTo>
                <a:lnTo>
                  <a:pt x="360" y="42"/>
                </a:lnTo>
                <a:lnTo>
                  <a:pt x="344" y="41"/>
                </a:lnTo>
                <a:lnTo>
                  <a:pt x="327" y="40"/>
                </a:lnTo>
                <a:lnTo>
                  <a:pt x="311" y="38"/>
                </a:lnTo>
                <a:lnTo>
                  <a:pt x="295" y="36"/>
                </a:lnTo>
                <a:lnTo>
                  <a:pt x="278" y="35"/>
                </a:lnTo>
                <a:lnTo>
                  <a:pt x="262" y="32"/>
                </a:lnTo>
                <a:lnTo>
                  <a:pt x="246" y="30"/>
                </a:lnTo>
                <a:lnTo>
                  <a:pt x="229" y="28"/>
                </a:lnTo>
                <a:lnTo>
                  <a:pt x="213" y="25"/>
                </a:lnTo>
                <a:lnTo>
                  <a:pt x="196" y="23"/>
                </a:lnTo>
                <a:lnTo>
                  <a:pt x="180" y="21"/>
                </a:lnTo>
                <a:lnTo>
                  <a:pt x="164" y="18"/>
                </a:lnTo>
                <a:lnTo>
                  <a:pt x="147" y="16"/>
                </a:lnTo>
                <a:lnTo>
                  <a:pt x="131" y="14"/>
                </a:lnTo>
                <a:lnTo>
                  <a:pt x="114" y="11"/>
                </a:lnTo>
                <a:lnTo>
                  <a:pt x="98" y="10"/>
                </a:lnTo>
                <a:lnTo>
                  <a:pt x="82" y="8"/>
                </a:lnTo>
                <a:lnTo>
                  <a:pt x="65" y="6"/>
                </a:lnTo>
                <a:lnTo>
                  <a:pt x="49" y="5"/>
                </a:lnTo>
                <a:lnTo>
                  <a:pt x="33" y="4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2057400" y="4133850"/>
            <a:ext cx="3743325" cy="933450"/>
          </a:xfrm>
          <a:custGeom>
            <a:avLst/>
            <a:gdLst/>
            <a:ahLst/>
            <a:cxnLst/>
            <a:rect l="l" t="t" r="r" b="b"/>
            <a:pathLst>
              <a:path w="393" h="98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0"/>
                </a:lnTo>
                <a:lnTo>
                  <a:pt x="164" y="36"/>
                </a:lnTo>
                <a:lnTo>
                  <a:pt x="180" y="42"/>
                </a:lnTo>
                <a:lnTo>
                  <a:pt x="196" y="47"/>
                </a:lnTo>
                <a:lnTo>
                  <a:pt x="213" y="53"/>
                </a:lnTo>
                <a:lnTo>
                  <a:pt x="229" y="59"/>
                </a:lnTo>
                <a:lnTo>
                  <a:pt x="246" y="65"/>
                </a:lnTo>
                <a:lnTo>
                  <a:pt x="262" y="70"/>
                </a:lnTo>
                <a:lnTo>
                  <a:pt x="278" y="75"/>
                </a:lnTo>
                <a:lnTo>
                  <a:pt x="295" y="80"/>
                </a:lnTo>
                <a:lnTo>
                  <a:pt x="311" y="84"/>
                </a:lnTo>
                <a:lnTo>
                  <a:pt x="327" y="87"/>
                </a:lnTo>
                <a:lnTo>
                  <a:pt x="344" y="90"/>
                </a:lnTo>
                <a:lnTo>
                  <a:pt x="360" y="93"/>
                </a:lnTo>
                <a:lnTo>
                  <a:pt x="377" y="94"/>
                </a:lnTo>
                <a:lnTo>
                  <a:pt x="393" y="94"/>
                </a:lnTo>
                <a:lnTo>
                  <a:pt x="393" y="98"/>
                </a:lnTo>
                <a:lnTo>
                  <a:pt x="377" y="98"/>
                </a:lnTo>
                <a:lnTo>
                  <a:pt x="360" y="96"/>
                </a:lnTo>
                <a:lnTo>
                  <a:pt x="344" y="94"/>
                </a:lnTo>
                <a:lnTo>
                  <a:pt x="327" y="91"/>
                </a:lnTo>
                <a:lnTo>
                  <a:pt x="311" y="88"/>
                </a:lnTo>
                <a:lnTo>
                  <a:pt x="295" y="84"/>
                </a:lnTo>
                <a:lnTo>
                  <a:pt x="278" y="79"/>
                </a:lnTo>
                <a:lnTo>
                  <a:pt x="262" y="74"/>
                </a:lnTo>
                <a:lnTo>
                  <a:pt x="246" y="69"/>
                </a:lnTo>
                <a:lnTo>
                  <a:pt x="229" y="63"/>
                </a:lnTo>
                <a:lnTo>
                  <a:pt x="213" y="57"/>
                </a:lnTo>
                <a:lnTo>
                  <a:pt x="196" y="51"/>
                </a:lnTo>
                <a:lnTo>
                  <a:pt x="180" y="45"/>
                </a:lnTo>
                <a:lnTo>
                  <a:pt x="164" y="40"/>
                </a:lnTo>
                <a:lnTo>
                  <a:pt x="147" y="34"/>
                </a:lnTo>
                <a:lnTo>
                  <a:pt x="131" y="29"/>
                </a:lnTo>
                <a:lnTo>
                  <a:pt x="114" y="24"/>
                </a:lnTo>
                <a:lnTo>
                  <a:pt x="98" y="19"/>
                </a:lnTo>
                <a:lnTo>
                  <a:pt x="82" y="15"/>
                </a:lnTo>
                <a:lnTo>
                  <a:pt x="65" y="11"/>
                </a:lnTo>
                <a:lnTo>
                  <a:pt x="49" y="8"/>
                </a:lnTo>
                <a:lnTo>
                  <a:pt x="33" y="6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2057400" y="4171950"/>
            <a:ext cx="3743325" cy="1447800"/>
          </a:xfrm>
          <a:custGeom>
            <a:avLst/>
            <a:gdLst/>
            <a:ahLst/>
            <a:cxnLst/>
            <a:rect l="l" t="t" r="r" b="b"/>
            <a:pathLst>
              <a:path w="393" h="152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1"/>
                </a:lnTo>
                <a:lnTo>
                  <a:pt x="82" y="17"/>
                </a:lnTo>
                <a:lnTo>
                  <a:pt x="98" y="23"/>
                </a:lnTo>
                <a:lnTo>
                  <a:pt x="114" y="31"/>
                </a:lnTo>
                <a:lnTo>
                  <a:pt x="131" y="39"/>
                </a:lnTo>
                <a:lnTo>
                  <a:pt x="147" y="47"/>
                </a:lnTo>
                <a:lnTo>
                  <a:pt x="164" y="56"/>
                </a:lnTo>
                <a:lnTo>
                  <a:pt x="180" y="65"/>
                </a:lnTo>
                <a:lnTo>
                  <a:pt x="196" y="74"/>
                </a:lnTo>
                <a:lnTo>
                  <a:pt x="213" y="84"/>
                </a:lnTo>
                <a:lnTo>
                  <a:pt x="229" y="93"/>
                </a:lnTo>
                <a:lnTo>
                  <a:pt x="246" y="102"/>
                </a:lnTo>
                <a:lnTo>
                  <a:pt x="262" y="110"/>
                </a:lnTo>
                <a:lnTo>
                  <a:pt x="278" y="118"/>
                </a:lnTo>
                <a:lnTo>
                  <a:pt x="295" y="125"/>
                </a:lnTo>
                <a:lnTo>
                  <a:pt x="311" y="132"/>
                </a:lnTo>
                <a:lnTo>
                  <a:pt x="327" y="137"/>
                </a:lnTo>
                <a:lnTo>
                  <a:pt x="344" y="142"/>
                </a:lnTo>
                <a:lnTo>
                  <a:pt x="360" y="145"/>
                </a:lnTo>
                <a:lnTo>
                  <a:pt x="377" y="148"/>
                </a:lnTo>
                <a:lnTo>
                  <a:pt x="393" y="148"/>
                </a:lnTo>
                <a:lnTo>
                  <a:pt x="393" y="152"/>
                </a:lnTo>
                <a:lnTo>
                  <a:pt x="377" y="151"/>
                </a:lnTo>
                <a:lnTo>
                  <a:pt x="360" y="149"/>
                </a:lnTo>
                <a:lnTo>
                  <a:pt x="344" y="146"/>
                </a:lnTo>
                <a:lnTo>
                  <a:pt x="327" y="141"/>
                </a:lnTo>
                <a:lnTo>
                  <a:pt x="311" y="135"/>
                </a:lnTo>
                <a:lnTo>
                  <a:pt x="295" y="129"/>
                </a:lnTo>
                <a:lnTo>
                  <a:pt x="278" y="121"/>
                </a:lnTo>
                <a:lnTo>
                  <a:pt x="262" y="114"/>
                </a:lnTo>
                <a:lnTo>
                  <a:pt x="246" y="105"/>
                </a:lnTo>
                <a:lnTo>
                  <a:pt x="229" y="96"/>
                </a:lnTo>
                <a:lnTo>
                  <a:pt x="213" y="87"/>
                </a:lnTo>
                <a:lnTo>
                  <a:pt x="196" y="78"/>
                </a:lnTo>
                <a:lnTo>
                  <a:pt x="180" y="69"/>
                </a:lnTo>
                <a:lnTo>
                  <a:pt x="164" y="60"/>
                </a:lnTo>
                <a:lnTo>
                  <a:pt x="147" y="51"/>
                </a:lnTo>
                <a:lnTo>
                  <a:pt x="131" y="42"/>
                </a:lnTo>
                <a:lnTo>
                  <a:pt x="114" y="34"/>
                </a:lnTo>
                <a:lnTo>
                  <a:pt x="98" y="27"/>
                </a:lnTo>
                <a:lnTo>
                  <a:pt x="82" y="20"/>
                </a:lnTo>
                <a:lnTo>
                  <a:pt x="65" y="15"/>
                </a:lnTo>
                <a:lnTo>
                  <a:pt x="49" y="10"/>
                </a:lnTo>
                <a:lnTo>
                  <a:pt x="33" y="7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Freeform 64"/>
          <p:cNvSpPr/>
          <p:nvPr/>
        </p:nvSpPr>
        <p:spPr>
          <a:xfrm>
            <a:off x="2057400" y="4210050"/>
            <a:ext cx="3743325" cy="1952625"/>
          </a:xfrm>
          <a:custGeom>
            <a:avLst/>
            <a:gdLst/>
            <a:ahLst/>
            <a:cxnLst/>
            <a:rect l="l" t="t" r="r" b="b"/>
            <a:pathLst>
              <a:path w="393" h="205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5"/>
                </a:lnTo>
                <a:lnTo>
                  <a:pt x="82" y="22"/>
                </a:lnTo>
                <a:lnTo>
                  <a:pt x="98" y="31"/>
                </a:lnTo>
                <a:lnTo>
                  <a:pt x="114" y="41"/>
                </a:lnTo>
                <a:lnTo>
                  <a:pt x="131" y="52"/>
                </a:lnTo>
                <a:lnTo>
                  <a:pt x="147" y="63"/>
                </a:lnTo>
                <a:lnTo>
                  <a:pt x="164" y="75"/>
                </a:lnTo>
                <a:lnTo>
                  <a:pt x="180" y="88"/>
                </a:lnTo>
                <a:lnTo>
                  <a:pt x="196" y="100"/>
                </a:lnTo>
                <a:lnTo>
                  <a:pt x="213" y="113"/>
                </a:lnTo>
                <a:lnTo>
                  <a:pt x="229" y="125"/>
                </a:lnTo>
                <a:lnTo>
                  <a:pt x="246" y="137"/>
                </a:lnTo>
                <a:lnTo>
                  <a:pt x="262" y="149"/>
                </a:lnTo>
                <a:lnTo>
                  <a:pt x="278" y="160"/>
                </a:lnTo>
                <a:lnTo>
                  <a:pt x="295" y="169"/>
                </a:lnTo>
                <a:lnTo>
                  <a:pt x="311" y="178"/>
                </a:lnTo>
                <a:lnTo>
                  <a:pt x="327" y="186"/>
                </a:lnTo>
                <a:lnTo>
                  <a:pt x="344" y="192"/>
                </a:lnTo>
                <a:lnTo>
                  <a:pt x="360" y="197"/>
                </a:lnTo>
                <a:lnTo>
                  <a:pt x="377" y="200"/>
                </a:lnTo>
                <a:lnTo>
                  <a:pt x="393" y="201"/>
                </a:lnTo>
                <a:lnTo>
                  <a:pt x="393" y="205"/>
                </a:lnTo>
                <a:lnTo>
                  <a:pt x="377" y="204"/>
                </a:lnTo>
                <a:lnTo>
                  <a:pt x="360" y="201"/>
                </a:lnTo>
                <a:lnTo>
                  <a:pt x="344" y="196"/>
                </a:lnTo>
                <a:lnTo>
                  <a:pt x="327" y="190"/>
                </a:lnTo>
                <a:lnTo>
                  <a:pt x="311" y="182"/>
                </a:lnTo>
                <a:lnTo>
                  <a:pt x="295" y="173"/>
                </a:lnTo>
                <a:lnTo>
                  <a:pt x="278" y="163"/>
                </a:lnTo>
                <a:lnTo>
                  <a:pt x="262" y="153"/>
                </a:lnTo>
                <a:lnTo>
                  <a:pt x="246" y="141"/>
                </a:lnTo>
                <a:lnTo>
                  <a:pt x="229" y="129"/>
                </a:lnTo>
                <a:lnTo>
                  <a:pt x="213" y="117"/>
                </a:lnTo>
                <a:lnTo>
                  <a:pt x="196" y="104"/>
                </a:lnTo>
                <a:lnTo>
                  <a:pt x="180" y="92"/>
                </a:lnTo>
                <a:lnTo>
                  <a:pt x="164" y="79"/>
                </a:lnTo>
                <a:lnTo>
                  <a:pt x="147" y="67"/>
                </a:lnTo>
                <a:lnTo>
                  <a:pt x="131" y="56"/>
                </a:lnTo>
                <a:lnTo>
                  <a:pt x="114" y="45"/>
                </a:lnTo>
                <a:lnTo>
                  <a:pt x="98" y="35"/>
                </a:lnTo>
                <a:lnTo>
                  <a:pt x="82" y="26"/>
                </a:lnTo>
                <a:lnTo>
                  <a:pt x="65" y="18"/>
                </a:lnTo>
                <a:lnTo>
                  <a:pt x="49" y="12"/>
                </a:lnTo>
                <a:lnTo>
                  <a:pt x="33" y="8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Freeform 65"/>
          <p:cNvSpPr/>
          <p:nvPr/>
        </p:nvSpPr>
        <p:spPr>
          <a:xfrm>
            <a:off x="2057400" y="1781175"/>
            <a:ext cx="3743325" cy="2552700"/>
          </a:xfrm>
          <a:custGeom>
            <a:avLst/>
            <a:gdLst/>
            <a:ahLst/>
            <a:cxnLst/>
            <a:rect l="l" t="t" r="r" b="b"/>
            <a:pathLst>
              <a:path w="393" h="268">
                <a:moveTo>
                  <a:pt x="0" y="265"/>
                </a:moveTo>
                <a:lnTo>
                  <a:pt x="16" y="263"/>
                </a:lnTo>
                <a:lnTo>
                  <a:pt x="33" y="259"/>
                </a:lnTo>
                <a:lnTo>
                  <a:pt x="49" y="253"/>
                </a:lnTo>
                <a:lnTo>
                  <a:pt x="65" y="245"/>
                </a:lnTo>
                <a:lnTo>
                  <a:pt x="82" y="235"/>
                </a:lnTo>
                <a:lnTo>
                  <a:pt x="98" y="223"/>
                </a:lnTo>
                <a:lnTo>
                  <a:pt x="114" y="210"/>
                </a:lnTo>
                <a:lnTo>
                  <a:pt x="131" y="196"/>
                </a:lnTo>
                <a:lnTo>
                  <a:pt x="147" y="181"/>
                </a:lnTo>
                <a:lnTo>
                  <a:pt x="164" y="165"/>
                </a:lnTo>
                <a:lnTo>
                  <a:pt x="180" y="149"/>
                </a:lnTo>
                <a:lnTo>
                  <a:pt x="196" y="132"/>
                </a:lnTo>
                <a:lnTo>
                  <a:pt x="213" y="116"/>
                </a:lnTo>
                <a:lnTo>
                  <a:pt x="229" y="99"/>
                </a:lnTo>
                <a:lnTo>
                  <a:pt x="246" y="83"/>
                </a:lnTo>
                <a:lnTo>
                  <a:pt x="262" y="68"/>
                </a:lnTo>
                <a:lnTo>
                  <a:pt x="278" y="54"/>
                </a:lnTo>
                <a:lnTo>
                  <a:pt x="295" y="41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4"/>
                </a:lnTo>
                <a:lnTo>
                  <a:pt x="327" y="22"/>
                </a:lnTo>
                <a:lnTo>
                  <a:pt x="311" y="33"/>
                </a:lnTo>
                <a:lnTo>
                  <a:pt x="295" y="44"/>
                </a:lnTo>
                <a:lnTo>
                  <a:pt x="278" y="57"/>
                </a:lnTo>
                <a:lnTo>
                  <a:pt x="262" y="72"/>
                </a:lnTo>
                <a:lnTo>
                  <a:pt x="246" y="87"/>
                </a:lnTo>
                <a:lnTo>
                  <a:pt x="229" y="103"/>
                </a:lnTo>
                <a:lnTo>
                  <a:pt x="213" y="119"/>
                </a:lnTo>
                <a:lnTo>
                  <a:pt x="196" y="135"/>
                </a:lnTo>
                <a:lnTo>
                  <a:pt x="180" y="152"/>
                </a:lnTo>
                <a:lnTo>
                  <a:pt x="164" y="168"/>
                </a:lnTo>
                <a:lnTo>
                  <a:pt x="147" y="184"/>
                </a:lnTo>
                <a:lnTo>
                  <a:pt x="131" y="199"/>
                </a:lnTo>
                <a:lnTo>
                  <a:pt x="114" y="213"/>
                </a:lnTo>
                <a:lnTo>
                  <a:pt x="98" y="226"/>
                </a:lnTo>
                <a:lnTo>
                  <a:pt x="82" y="238"/>
                </a:lnTo>
                <a:lnTo>
                  <a:pt x="65" y="248"/>
                </a:lnTo>
                <a:lnTo>
                  <a:pt x="49" y="257"/>
                </a:lnTo>
                <a:lnTo>
                  <a:pt x="33" y="263"/>
                </a:lnTo>
                <a:lnTo>
                  <a:pt x="16" y="267"/>
                </a:lnTo>
                <a:lnTo>
                  <a:pt x="0" y="268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reeform 66"/>
          <p:cNvSpPr/>
          <p:nvPr/>
        </p:nvSpPr>
        <p:spPr>
          <a:xfrm>
            <a:off x="2057400" y="2324100"/>
            <a:ext cx="3743325" cy="2047875"/>
          </a:xfrm>
          <a:custGeom>
            <a:avLst/>
            <a:gdLst/>
            <a:ahLst/>
            <a:cxnLst/>
            <a:rect l="l" t="t" r="r" b="b"/>
            <a:pathLst>
              <a:path w="393" h="215">
                <a:moveTo>
                  <a:pt x="0" y="211"/>
                </a:moveTo>
                <a:lnTo>
                  <a:pt x="16" y="210"/>
                </a:lnTo>
                <a:lnTo>
                  <a:pt x="33" y="207"/>
                </a:lnTo>
                <a:lnTo>
                  <a:pt x="49" y="202"/>
                </a:lnTo>
                <a:lnTo>
                  <a:pt x="65" y="195"/>
                </a:lnTo>
                <a:lnTo>
                  <a:pt x="82" y="187"/>
                </a:lnTo>
                <a:lnTo>
                  <a:pt x="98" y="178"/>
                </a:lnTo>
                <a:lnTo>
                  <a:pt x="114" y="167"/>
                </a:lnTo>
                <a:lnTo>
                  <a:pt x="131" y="156"/>
                </a:lnTo>
                <a:lnTo>
                  <a:pt x="147" y="144"/>
                </a:lnTo>
                <a:lnTo>
                  <a:pt x="164" y="131"/>
                </a:lnTo>
                <a:lnTo>
                  <a:pt x="180" y="118"/>
                </a:lnTo>
                <a:lnTo>
                  <a:pt x="196" y="105"/>
                </a:lnTo>
                <a:lnTo>
                  <a:pt x="213" y="92"/>
                </a:lnTo>
                <a:lnTo>
                  <a:pt x="229" y="79"/>
                </a:lnTo>
                <a:lnTo>
                  <a:pt x="246" y="67"/>
                </a:lnTo>
                <a:lnTo>
                  <a:pt x="262" y="54"/>
                </a:lnTo>
                <a:lnTo>
                  <a:pt x="278" y="43"/>
                </a:lnTo>
                <a:lnTo>
                  <a:pt x="295" y="33"/>
                </a:lnTo>
                <a:lnTo>
                  <a:pt x="311" y="23"/>
                </a:lnTo>
                <a:lnTo>
                  <a:pt x="327" y="15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2"/>
                </a:lnTo>
                <a:lnTo>
                  <a:pt x="327" y="19"/>
                </a:lnTo>
                <a:lnTo>
                  <a:pt x="311" y="27"/>
                </a:lnTo>
                <a:lnTo>
                  <a:pt x="295" y="36"/>
                </a:lnTo>
                <a:lnTo>
                  <a:pt x="278" y="47"/>
                </a:lnTo>
                <a:lnTo>
                  <a:pt x="262" y="58"/>
                </a:lnTo>
                <a:lnTo>
                  <a:pt x="246" y="70"/>
                </a:lnTo>
                <a:lnTo>
                  <a:pt x="229" y="83"/>
                </a:lnTo>
                <a:lnTo>
                  <a:pt x="213" y="96"/>
                </a:lnTo>
                <a:lnTo>
                  <a:pt x="196" y="109"/>
                </a:lnTo>
                <a:lnTo>
                  <a:pt x="180" y="122"/>
                </a:lnTo>
                <a:lnTo>
                  <a:pt x="164" y="135"/>
                </a:lnTo>
                <a:lnTo>
                  <a:pt x="147" y="148"/>
                </a:lnTo>
                <a:lnTo>
                  <a:pt x="131" y="160"/>
                </a:lnTo>
                <a:lnTo>
                  <a:pt x="114" y="171"/>
                </a:lnTo>
                <a:lnTo>
                  <a:pt x="98" y="182"/>
                </a:lnTo>
                <a:lnTo>
                  <a:pt x="82" y="191"/>
                </a:lnTo>
                <a:lnTo>
                  <a:pt x="65" y="199"/>
                </a:lnTo>
                <a:lnTo>
                  <a:pt x="49" y="206"/>
                </a:lnTo>
                <a:lnTo>
                  <a:pt x="33" y="210"/>
                </a:lnTo>
                <a:lnTo>
                  <a:pt x="16" y="214"/>
                </a:lnTo>
                <a:lnTo>
                  <a:pt x="0" y="215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Freeform 67"/>
          <p:cNvSpPr/>
          <p:nvPr/>
        </p:nvSpPr>
        <p:spPr>
          <a:xfrm>
            <a:off x="2057400" y="2876550"/>
            <a:ext cx="3743325" cy="1524000"/>
          </a:xfrm>
          <a:custGeom>
            <a:avLst/>
            <a:gdLst/>
            <a:ahLst/>
            <a:cxnLst/>
            <a:rect l="l" t="t" r="r" b="b"/>
            <a:pathLst>
              <a:path w="393" h="160">
                <a:moveTo>
                  <a:pt x="0" y="157"/>
                </a:moveTo>
                <a:lnTo>
                  <a:pt x="16" y="156"/>
                </a:lnTo>
                <a:lnTo>
                  <a:pt x="33" y="153"/>
                </a:lnTo>
                <a:lnTo>
                  <a:pt x="49" y="150"/>
                </a:lnTo>
                <a:lnTo>
                  <a:pt x="65" y="145"/>
                </a:lnTo>
                <a:lnTo>
                  <a:pt x="82" y="139"/>
                </a:lnTo>
                <a:lnTo>
                  <a:pt x="98" y="132"/>
                </a:lnTo>
                <a:lnTo>
                  <a:pt x="114" y="124"/>
                </a:lnTo>
                <a:lnTo>
                  <a:pt x="131" y="116"/>
                </a:lnTo>
                <a:lnTo>
                  <a:pt x="147" y="107"/>
                </a:lnTo>
                <a:lnTo>
                  <a:pt x="164" y="98"/>
                </a:lnTo>
                <a:lnTo>
                  <a:pt x="180" y="88"/>
                </a:lnTo>
                <a:lnTo>
                  <a:pt x="196" y="78"/>
                </a:lnTo>
                <a:lnTo>
                  <a:pt x="213" y="68"/>
                </a:lnTo>
                <a:lnTo>
                  <a:pt x="229" y="59"/>
                </a:lnTo>
                <a:lnTo>
                  <a:pt x="246" y="49"/>
                </a:lnTo>
                <a:lnTo>
                  <a:pt x="262" y="40"/>
                </a:lnTo>
                <a:lnTo>
                  <a:pt x="278" y="32"/>
                </a:lnTo>
                <a:lnTo>
                  <a:pt x="295" y="24"/>
                </a:lnTo>
                <a:lnTo>
                  <a:pt x="311" y="17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6"/>
                </a:lnTo>
                <a:lnTo>
                  <a:pt x="344" y="10"/>
                </a:lnTo>
                <a:lnTo>
                  <a:pt x="327" y="15"/>
                </a:lnTo>
                <a:lnTo>
                  <a:pt x="311" y="21"/>
                </a:lnTo>
                <a:lnTo>
                  <a:pt x="295" y="28"/>
                </a:lnTo>
                <a:lnTo>
                  <a:pt x="278" y="36"/>
                </a:lnTo>
                <a:lnTo>
                  <a:pt x="262" y="44"/>
                </a:lnTo>
                <a:lnTo>
                  <a:pt x="246" y="53"/>
                </a:lnTo>
                <a:lnTo>
                  <a:pt x="229" y="62"/>
                </a:lnTo>
                <a:lnTo>
                  <a:pt x="213" y="72"/>
                </a:lnTo>
                <a:lnTo>
                  <a:pt x="196" y="82"/>
                </a:lnTo>
                <a:lnTo>
                  <a:pt x="180" y="92"/>
                </a:lnTo>
                <a:lnTo>
                  <a:pt x="164" y="101"/>
                </a:lnTo>
                <a:lnTo>
                  <a:pt x="147" y="111"/>
                </a:lnTo>
                <a:lnTo>
                  <a:pt x="131" y="120"/>
                </a:lnTo>
                <a:lnTo>
                  <a:pt x="114" y="128"/>
                </a:lnTo>
                <a:lnTo>
                  <a:pt x="98" y="136"/>
                </a:lnTo>
                <a:lnTo>
                  <a:pt x="82" y="143"/>
                </a:lnTo>
                <a:lnTo>
                  <a:pt x="65" y="149"/>
                </a:lnTo>
                <a:lnTo>
                  <a:pt x="49" y="154"/>
                </a:lnTo>
                <a:lnTo>
                  <a:pt x="33" y="157"/>
                </a:lnTo>
                <a:lnTo>
                  <a:pt x="16" y="160"/>
                </a:lnTo>
                <a:lnTo>
                  <a:pt x="0" y="160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2057400" y="3409950"/>
            <a:ext cx="3743325" cy="1028700"/>
          </a:xfrm>
          <a:custGeom>
            <a:avLst/>
            <a:gdLst/>
            <a:ahLst/>
            <a:cxnLst/>
            <a:rect l="l" t="t" r="r" b="b"/>
            <a:pathLst>
              <a:path w="393" h="108">
                <a:moveTo>
                  <a:pt x="0" y="104"/>
                </a:moveTo>
                <a:lnTo>
                  <a:pt x="16" y="104"/>
                </a:lnTo>
                <a:lnTo>
                  <a:pt x="33" y="102"/>
                </a:lnTo>
                <a:lnTo>
                  <a:pt x="49" y="100"/>
                </a:lnTo>
                <a:lnTo>
                  <a:pt x="65" y="97"/>
                </a:lnTo>
                <a:lnTo>
                  <a:pt x="82" y="93"/>
                </a:lnTo>
                <a:lnTo>
                  <a:pt x="98" y="88"/>
                </a:lnTo>
                <a:lnTo>
                  <a:pt x="114" y="83"/>
                </a:lnTo>
                <a:lnTo>
                  <a:pt x="131" y="77"/>
                </a:lnTo>
                <a:lnTo>
                  <a:pt x="147" y="71"/>
                </a:lnTo>
                <a:lnTo>
                  <a:pt x="164" y="65"/>
                </a:lnTo>
                <a:lnTo>
                  <a:pt x="180" y="59"/>
                </a:lnTo>
                <a:lnTo>
                  <a:pt x="196" y="52"/>
                </a:lnTo>
                <a:lnTo>
                  <a:pt x="213" y="46"/>
                </a:lnTo>
                <a:lnTo>
                  <a:pt x="229" y="39"/>
                </a:lnTo>
                <a:lnTo>
                  <a:pt x="246" y="33"/>
                </a:lnTo>
                <a:lnTo>
                  <a:pt x="262" y="27"/>
                </a:lnTo>
                <a:lnTo>
                  <a:pt x="278" y="22"/>
                </a:lnTo>
                <a:lnTo>
                  <a:pt x="295" y="17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6"/>
                </a:lnTo>
                <a:lnTo>
                  <a:pt x="344" y="9"/>
                </a:lnTo>
                <a:lnTo>
                  <a:pt x="327" y="12"/>
                </a:lnTo>
                <a:lnTo>
                  <a:pt x="311" y="16"/>
                </a:lnTo>
                <a:lnTo>
                  <a:pt x="295" y="20"/>
                </a:lnTo>
                <a:lnTo>
                  <a:pt x="278" y="26"/>
                </a:lnTo>
                <a:lnTo>
                  <a:pt x="262" y="31"/>
                </a:lnTo>
                <a:lnTo>
                  <a:pt x="246" y="37"/>
                </a:lnTo>
                <a:lnTo>
                  <a:pt x="229" y="43"/>
                </a:lnTo>
                <a:lnTo>
                  <a:pt x="213" y="50"/>
                </a:lnTo>
                <a:lnTo>
                  <a:pt x="196" y="56"/>
                </a:lnTo>
                <a:lnTo>
                  <a:pt x="180" y="63"/>
                </a:lnTo>
                <a:lnTo>
                  <a:pt x="164" y="69"/>
                </a:lnTo>
                <a:lnTo>
                  <a:pt x="147" y="75"/>
                </a:lnTo>
                <a:lnTo>
                  <a:pt x="131" y="81"/>
                </a:lnTo>
                <a:lnTo>
                  <a:pt x="114" y="87"/>
                </a:lnTo>
                <a:lnTo>
                  <a:pt x="98" y="92"/>
                </a:lnTo>
                <a:lnTo>
                  <a:pt x="82" y="96"/>
                </a:lnTo>
                <a:lnTo>
                  <a:pt x="65" y="100"/>
                </a:lnTo>
                <a:lnTo>
                  <a:pt x="49" y="104"/>
                </a:lnTo>
                <a:lnTo>
                  <a:pt x="33" y="106"/>
                </a:lnTo>
                <a:lnTo>
                  <a:pt x="16" y="108"/>
                </a:lnTo>
                <a:lnTo>
                  <a:pt x="0" y="108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Freeform 69"/>
          <p:cNvSpPr/>
          <p:nvPr/>
        </p:nvSpPr>
        <p:spPr>
          <a:xfrm>
            <a:off x="2057400" y="3971925"/>
            <a:ext cx="3743325" cy="504825"/>
          </a:xfrm>
          <a:custGeom>
            <a:avLst/>
            <a:gdLst/>
            <a:ahLst/>
            <a:cxnLst/>
            <a:rect l="l" t="t" r="r" b="b"/>
            <a:pathLst>
              <a:path w="393" h="53">
                <a:moveTo>
                  <a:pt x="0" y="49"/>
                </a:moveTo>
                <a:lnTo>
                  <a:pt x="16" y="49"/>
                </a:lnTo>
                <a:lnTo>
                  <a:pt x="33" y="48"/>
                </a:lnTo>
                <a:lnTo>
                  <a:pt x="49" y="47"/>
                </a:lnTo>
                <a:lnTo>
                  <a:pt x="65" y="45"/>
                </a:lnTo>
                <a:lnTo>
                  <a:pt x="82" y="44"/>
                </a:lnTo>
                <a:lnTo>
                  <a:pt x="98" y="41"/>
                </a:lnTo>
                <a:lnTo>
                  <a:pt x="114" y="39"/>
                </a:lnTo>
                <a:lnTo>
                  <a:pt x="131" y="36"/>
                </a:lnTo>
                <a:lnTo>
                  <a:pt x="147" y="34"/>
                </a:lnTo>
                <a:lnTo>
                  <a:pt x="164" y="31"/>
                </a:lnTo>
                <a:lnTo>
                  <a:pt x="180" y="28"/>
                </a:lnTo>
                <a:lnTo>
                  <a:pt x="196" y="25"/>
                </a:lnTo>
                <a:lnTo>
                  <a:pt x="213" y="22"/>
                </a:lnTo>
                <a:lnTo>
                  <a:pt x="229" y="18"/>
                </a:lnTo>
                <a:lnTo>
                  <a:pt x="246" y="16"/>
                </a:lnTo>
                <a:lnTo>
                  <a:pt x="262" y="13"/>
                </a:lnTo>
                <a:lnTo>
                  <a:pt x="278" y="10"/>
                </a:lnTo>
                <a:lnTo>
                  <a:pt x="295" y="8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4"/>
                </a:lnTo>
                <a:lnTo>
                  <a:pt x="344" y="6"/>
                </a:lnTo>
                <a:lnTo>
                  <a:pt x="327" y="7"/>
                </a:lnTo>
                <a:lnTo>
                  <a:pt x="311" y="9"/>
                </a:lnTo>
                <a:lnTo>
                  <a:pt x="295" y="11"/>
                </a:lnTo>
                <a:lnTo>
                  <a:pt x="278" y="14"/>
                </a:lnTo>
                <a:lnTo>
                  <a:pt x="262" y="16"/>
                </a:lnTo>
                <a:lnTo>
                  <a:pt x="246" y="19"/>
                </a:lnTo>
                <a:lnTo>
                  <a:pt x="229" y="22"/>
                </a:lnTo>
                <a:lnTo>
                  <a:pt x="213" y="25"/>
                </a:lnTo>
                <a:lnTo>
                  <a:pt x="196" y="28"/>
                </a:lnTo>
                <a:lnTo>
                  <a:pt x="180" y="31"/>
                </a:lnTo>
                <a:lnTo>
                  <a:pt x="164" y="34"/>
                </a:lnTo>
                <a:lnTo>
                  <a:pt x="147" y="37"/>
                </a:lnTo>
                <a:lnTo>
                  <a:pt x="131" y="40"/>
                </a:lnTo>
                <a:lnTo>
                  <a:pt x="114" y="42"/>
                </a:lnTo>
                <a:lnTo>
                  <a:pt x="98" y="45"/>
                </a:lnTo>
                <a:lnTo>
                  <a:pt x="82" y="47"/>
                </a:lnTo>
                <a:lnTo>
                  <a:pt x="65" y="49"/>
                </a:lnTo>
                <a:lnTo>
                  <a:pt x="49" y="50"/>
                </a:lnTo>
                <a:lnTo>
                  <a:pt x="33" y="52"/>
                </a:lnTo>
                <a:lnTo>
                  <a:pt x="16" y="52"/>
                </a:lnTo>
                <a:lnTo>
                  <a:pt x="0" y="53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Freeform 70"/>
          <p:cNvSpPr/>
          <p:nvPr/>
        </p:nvSpPr>
        <p:spPr>
          <a:xfrm>
            <a:off x="2057400" y="4476750"/>
            <a:ext cx="3743325" cy="66675"/>
          </a:xfrm>
          <a:custGeom>
            <a:avLst/>
            <a:gdLst/>
            <a:ahLst/>
            <a:cxnLst/>
            <a:rect l="l" t="t" r="r" b="b"/>
            <a:pathLst>
              <a:path w="393" h="7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0"/>
                </a:lnTo>
                <a:lnTo>
                  <a:pt x="82" y="0"/>
                </a:lnTo>
                <a:lnTo>
                  <a:pt x="98" y="0"/>
                </a:lnTo>
                <a:lnTo>
                  <a:pt x="114" y="0"/>
                </a:lnTo>
                <a:lnTo>
                  <a:pt x="131" y="1"/>
                </a:lnTo>
                <a:lnTo>
                  <a:pt x="147" y="1"/>
                </a:lnTo>
                <a:lnTo>
                  <a:pt x="164" y="1"/>
                </a:lnTo>
                <a:lnTo>
                  <a:pt x="180" y="1"/>
                </a:lnTo>
                <a:lnTo>
                  <a:pt x="196" y="2"/>
                </a:lnTo>
                <a:lnTo>
                  <a:pt x="213" y="2"/>
                </a:lnTo>
                <a:lnTo>
                  <a:pt x="229" y="2"/>
                </a:lnTo>
                <a:lnTo>
                  <a:pt x="246" y="2"/>
                </a:lnTo>
                <a:lnTo>
                  <a:pt x="262" y="3"/>
                </a:lnTo>
                <a:lnTo>
                  <a:pt x="278" y="3"/>
                </a:lnTo>
                <a:lnTo>
                  <a:pt x="295" y="3"/>
                </a:lnTo>
                <a:lnTo>
                  <a:pt x="311" y="3"/>
                </a:lnTo>
                <a:lnTo>
                  <a:pt x="327" y="3"/>
                </a:lnTo>
                <a:lnTo>
                  <a:pt x="344" y="3"/>
                </a:lnTo>
                <a:lnTo>
                  <a:pt x="360" y="4"/>
                </a:lnTo>
                <a:lnTo>
                  <a:pt x="377" y="4"/>
                </a:lnTo>
                <a:lnTo>
                  <a:pt x="393" y="4"/>
                </a:lnTo>
                <a:lnTo>
                  <a:pt x="393" y="7"/>
                </a:lnTo>
                <a:lnTo>
                  <a:pt x="377" y="7"/>
                </a:lnTo>
                <a:lnTo>
                  <a:pt x="360" y="7"/>
                </a:lnTo>
                <a:lnTo>
                  <a:pt x="344" y="7"/>
                </a:lnTo>
                <a:lnTo>
                  <a:pt x="327" y="7"/>
                </a:lnTo>
                <a:lnTo>
                  <a:pt x="311" y="7"/>
                </a:lnTo>
                <a:lnTo>
                  <a:pt x="295" y="7"/>
                </a:lnTo>
                <a:lnTo>
                  <a:pt x="278" y="7"/>
                </a:lnTo>
                <a:lnTo>
                  <a:pt x="262" y="6"/>
                </a:lnTo>
                <a:lnTo>
                  <a:pt x="246" y="6"/>
                </a:lnTo>
                <a:lnTo>
                  <a:pt x="229" y="6"/>
                </a:lnTo>
                <a:lnTo>
                  <a:pt x="213" y="6"/>
                </a:lnTo>
                <a:lnTo>
                  <a:pt x="196" y="5"/>
                </a:lnTo>
                <a:lnTo>
                  <a:pt x="180" y="5"/>
                </a:lnTo>
                <a:lnTo>
                  <a:pt x="164" y="5"/>
                </a:lnTo>
                <a:lnTo>
                  <a:pt x="147" y="5"/>
                </a:lnTo>
                <a:lnTo>
                  <a:pt x="131" y="4"/>
                </a:lnTo>
                <a:lnTo>
                  <a:pt x="114" y="4"/>
                </a:lnTo>
                <a:lnTo>
                  <a:pt x="98" y="4"/>
                </a:lnTo>
                <a:lnTo>
                  <a:pt x="82" y="4"/>
                </a:lnTo>
                <a:lnTo>
                  <a:pt x="65" y="4"/>
                </a:lnTo>
                <a:lnTo>
                  <a:pt x="49" y="4"/>
                </a:lnTo>
                <a:lnTo>
                  <a:pt x="33" y="4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Freeform 71"/>
          <p:cNvSpPr/>
          <p:nvPr/>
        </p:nvSpPr>
        <p:spPr>
          <a:xfrm>
            <a:off x="2057400" y="4505325"/>
            <a:ext cx="3743325" cy="600075"/>
          </a:xfrm>
          <a:custGeom>
            <a:avLst/>
            <a:gdLst/>
            <a:ahLst/>
            <a:cxnLst/>
            <a:rect l="l" t="t" r="r" b="b"/>
            <a:pathLst>
              <a:path w="393" h="63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3"/>
                </a:lnTo>
                <a:lnTo>
                  <a:pt x="65" y="5"/>
                </a:lnTo>
                <a:lnTo>
                  <a:pt x="82" y="7"/>
                </a:lnTo>
                <a:lnTo>
                  <a:pt x="98" y="10"/>
                </a:lnTo>
                <a:lnTo>
                  <a:pt x="114" y="13"/>
                </a:lnTo>
                <a:lnTo>
                  <a:pt x="131" y="16"/>
                </a:lnTo>
                <a:lnTo>
                  <a:pt x="147" y="19"/>
                </a:lnTo>
                <a:lnTo>
                  <a:pt x="164" y="23"/>
                </a:lnTo>
                <a:lnTo>
                  <a:pt x="180" y="26"/>
                </a:lnTo>
                <a:lnTo>
                  <a:pt x="196" y="30"/>
                </a:lnTo>
                <a:lnTo>
                  <a:pt x="213" y="34"/>
                </a:lnTo>
                <a:lnTo>
                  <a:pt x="229" y="37"/>
                </a:lnTo>
                <a:lnTo>
                  <a:pt x="246" y="41"/>
                </a:lnTo>
                <a:lnTo>
                  <a:pt x="262" y="44"/>
                </a:lnTo>
                <a:lnTo>
                  <a:pt x="278" y="47"/>
                </a:lnTo>
                <a:lnTo>
                  <a:pt x="295" y="50"/>
                </a:lnTo>
                <a:lnTo>
                  <a:pt x="311" y="53"/>
                </a:lnTo>
                <a:lnTo>
                  <a:pt x="327" y="55"/>
                </a:lnTo>
                <a:lnTo>
                  <a:pt x="344" y="57"/>
                </a:lnTo>
                <a:lnTo>
                  <a:pt x="360" y="58"/>
                </a:lnTo>
                <a:lnTo>
                  <a:pt x="377" y="59"/>
                </a:lnTo>
                <a:lnTo>
                  <a:pt x="393" y="59"/>
                </a:lnTo>
                <a:lnTo>
                  <a:pt x="393" y="63"/>
                </a:lnTo>
                <a:lnTo>
                  <a:pt x="377" y="63"/>
                </a:lnTo>
                <a:lnTo>
                  <a:pt x="360" y="62"/>
                </a:lnTo>
                <a:lnTo>
                  <a:pt x="344" y="60"/>
                </a:lnTo>
                <a:lnTo>
                  <a:pt x="327" y="59"/>
                </a:lnTo>
                <a:lnTo>
                  <a:pt x="311" y="56"/>
                </a:lnTo>
                <a:lnTo>
                  <a:pt x="295" y="54"/>
                </a:lnTo>
                <a:lnTo>
                  <a:pt x="278" y="51"/>
                </a:lnTo>
                <a:lnTo>
                  <a:pt x="262" y="48"/>
                </a:lnTo>
                <a:lnTo>
                  <a:pt x="246" y="44"/>
                </a:lnTo>
                <a:lnTo>
                  <a:pt x="229" y="41"/>
                </a:lnTo>
                <a:lnTo>
                  <a:pt x="213" y="37"/>
                </a:lnTo>
                <a:lnTo>
                  <a:pt x="196" y="33"/>
                </a:lnTo>
                <a:lnTo>
                  <a:pt x="180" y="30"/>
                </a:lnTo>
                <a:lnTo>
                  <a:pt x="164" y="26"/>
                </a:lnTo>
                <a:lnTo>
                  <a:pt x="147" y="23"/>
                </a:lnTo>
                <a:lnTo>
                  <a:pt x="131" y="19"/>
                </a:lnTo>
                <a:lnTo>
                  <a:pt x="114" y="16"/>
                </a:lnTo>
                <a:lnTo>
                  <a:pt x="98" y="13"/>
                </a:lnTo>
                <a:lnTo>
                  <a:pt x="82" y="11"/>
                </a:lnTo>
                <a:lnTo>
                  <a:pt x="65" y="8"/>
                </a:lnTo>
                <a:lnTo>
                  <a:pt x="49" y="7"/>
                </a:lnTo>
                <a:lnTo>
                  <a:pt x="33" y="5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Freeform 72"/>
          <p:cNvSpPr/>
          <p:nvPr/>
        </p:nvSpPr>
        <p:spPr>
          <a:xfrm>
            <a:off x="2057400" y="4543425"/>
            <a:ext cx="3743325" cy="1104900"/>
          </a:xfrm>
          <a:custGeom>
            <a:avLst/>
            <a:gdLst/>
            <a:ahLst/>
            <a:cxnLst/>
            <a:rect l="l" t="t" r="r" b="b"/>
            <a:pathLst>
              <a:path w="393" h="116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5"/>
                </a:lnTo>
                <a:lnTo>
                  <a:pt x="65" y="8"/>
                </a:lnTo>
                <a:lnTo>
                  <a:pt x="82" y="13"/>
                </a:lnTo>
                <a:lnTo>
                  <a:pt x="98" y="18"/>
                </a:lnTo>
                <a:lnTo>
                  <a:pt x="114" y="23"/>
                </a:lnTo>
                <a:lnTo>
                  <a:pt x="131" y="29"/>
                </a:lnTo>
                <a:lnTo>
                  <a:pt x="147" y="36"/>
                </a:lnTo>
                <a:lnTo>
                  <a:pt x="164" y="43"/>
                </a:lnTo>
                <a:lnTo>
                  <a:pt x="180" y="49"/>
                </a:lnTo>
                <a:lnTo>
                  <a:pt x="196" y="56"/>
                </a:lnTo>
                <a:lnTo>
                  <a:pt x="213" y="64"/>
                </a:lnTo>
                <a:lnTo>
                  <a:pt x="229" y="70"/>
                </a:lnTo>
                <a:lnTo>
                  <a:pt x="246" y="77"/>
                </a:lnTo>
                <a:lnTo>
                  <a:pt x="262" y="84"/>
                </a:lnTo>
                <a:lnTo>
                  <a:pt x="278" y="90"/>
                </a:lnTo>
                <a:lnTo>
                  <a:pt x="295" y="95"/>
                </a:lnTo>
                <a:lnTo>
                  <a:pt x="311" y="100"/>
                </a:lnTo>
                <a:lnTo>
                  <a:pt x="327" y="105"/>
                </a:lnTo>
                <a:lnTo>
                  <a:pt x="344" y="108"/>
                </a:lnTo>
                <a:lnTo>
                  <a:pt x="360" y="111"/>
                </a:lnTo>
                <a:lnTo>
                  <a:pt x="377" y="112"/>
                </a:lnTo>
                <a:lnTo>
                  <a:pt x="393" y="113"/>
                </a:lnTo>
                <a:lnTo>
                  <a:pt x="393" y="116"/>
                </a:lnTo>
                <a:lnTo>
                  <a:pt x="377" y="116"/>
                </a:lnTo>
                <a:lnTo>
                  <a:pt x="360" y="114"/>
                </a:lnTo>
                <a:lnTo>
                  <a:pt x="344" y="111"/>
                </a:lnTo>
                <a:lnTo>
                  <a:pt x="327" y="108"/>
                </a:lnTo>
                <a:lnTo>
                  <a:pt x="311" y="104"/>
                </a:lnTo>
                <a:lnTo>
                  <a:pt x="295" y="99"/>
                </a:lnTo>
                <a:lnTo>
                  <a:pt x="278" y="93"/>
                </a:lnTo>
                <a:lnTo>
                  <a:pt x="262" y="87"/>
                </a:lnTo>
                <a:lnTo>
                  <a:pt x="246" y="81"/>
                </a:lnTo>
                <a:lnTo>
                  <a:pt x="229" y="74"/>
                </a:lnTo>
                <a:lnTo>
                  <a:pt x="213" y="67"/>
                </a:lnTo>
                <a:lnTo>
                  <a:pt x="196" y="60"/>
                </a:lnTo>
                <a:lnTo>
                  <a:pt x="180" y="53"/>
                </a:lnTo>
                <a:lnTo>
                  <a:pt x="164" y="46"/>
                </a:lnTo>
                <a:lnTo>
                  <a:pt x="147" y="39"/>
                </a:lnTo>
                <a:lnTo>
                  <a:pt x="131" y="33"/>
                </a:lnTo>
                <a:lnTo>
                  <a:pt x="114" y="27"/>
                </a:lnTo>
                <a:lnTo>
                  <a:pt x="98" y="21"/>
                </a:lnTo>
                <a:lnTo>
                  <a:pt x="82" y="16"/>
                </a:lnTo>
                <a:lnTo>
                  <a:pt x="65" y="12"/>
                </a:lnTo>
                <a:lnTo>
                  <a:pt x="49" y="8"/>
                </a:lnTo>
                <a:lnTo>
                  <a:pt x="33" y="6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2057400" y="4572000"/>
            <a:ext cx="3743325" cy="1628775"/>
          </a:xfrm>
          <a:custGeom>
            <a:avLst/>
            <a:gdLst/>
            <a:ahLst/>
            <a:cxnLst/>
            <a:rect l="l" t="t" r="r" b="b"/>
            <a:pathLst>
              <a:path w="393" h="171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3"/>
                </a:lnTo>
                <a:lnTo>
                  <a:pt x="82" y="19"/>
                </a:lnTo>
                <a:lnTo>
                  <a:pt x="98" y="26"/>
                </a:lnTo>
                <a:lnTo>
                  <a:pt x="114" y="35"/>
                </a:lnTo>
                <a:lnTo>
                  <a:pt x="131" y="44"/>
                </a:lnTo>
                <a:lnTo>
                  <a:pt x="147" y="53"/>
                </a:lnTo>
                <a:lnTo>
                  <a:pt x="164" y="63"/>
                </a:lnTo>
                <a:lnTo>
                  <a:pt x="180" y="73"/>
                </a:lnTo>
                <a:lnTo>
                  <a:pt x="196" y="84"/>
                </a:lnTo>
                <a:lnTo>
                  <a:pt x="213" y="94"/>
                </a:lnTo>
                <a:lnTo>
                  <a:pt x="229" y="104"/>
                </a:lnTo>
                <a:lnTo>
                  <a:pt x="246" y="114"/>
                </a:lnTo>
                <a:lnTo>
                  <a:pt x="262" y="124"/>
                </a:lnTo>
                <a:lnTo>
                  <a:pt x="278" y="132"/>
                </a:lnTo>
                <a:lnTo>
                  <a:pt x="295" y="141"/>
                </a:lnTo>
                <a:lnTo>
                  <a:pt x="311" y="148"/>
                </a:lnTo>
                <a:lnTo>
                  <a:pt x="327" y="154"/>
                </a:lnTo>
                <a:lnTo>
                  <a:pt x="344" y="160"/>
                </a:lnTo>
                <a:lnTo>
                  <a:pt x="360" y="163"/>
                </a:lnTo>
                <a:lnTo>
                  <a:pt x="377" y="166"/>
                </a:lnTo>
                <a:lnTo>
                  <a:pt x="393" y="167"/>
                </a:lnTo>
                <a:lnTo>
                  <a:pt x="393" y="171"/>
                </a:lnTo>
                <a:lnTo>
                  <a:pt x="377" y="170"/>
                </a:lnTo>
                <a:lnTo>
                  <a:pt x="360" y="167"/>
                </a:lnTo>
                <a:lnTo>
                  <a:pt x="344" y="163"/>
                </a:lnTo>
                <a:lnTo>
                  <a:pt x="327" y="158"/>
                </a:lnTo>
                <a:lnTo>
                  <a:pt x="311" y="152"/>
                </a:lnTo>
                <a:lnTo>
                  <a:pt x="295" y="145"/>
                </a:lnTo>
                <a:lnTo>
                  <a:pt x="278" y="136"/>
                </a:lnTo>
                <a:lnTo>
                  <a:pt x="262" y="127"/>
                </a:lnTo>
                <a:lnTo>
                  <a:pt x="246" y="118"/>
                </a:lnTo>
                <a:lnTo>
                  <a:pt x="229" y="108"/>
                </a:lnTo>
                <a:lnTo>
                  <a:pt x="213" y="98"/>
                </a:lnTo>
                <a:lnTo>
                  <a:pt x="196" y="87"/>
                </a:lnTo>
                <a:lnTo>
                  <a:pt x="180" y="77"/>
                </a:lnTo>
                <a:lnTo>
                  <a:pt x="164" y="67"/>
                </a:lnTo>
                <a:lnTo>
                  <a:pt x="147" y="57"/>
                </a:lnTo>
                <a:lnTo>
                  <a:pt x="131" y="47"/>
                </a:lnTo>
                <a:lnTo>
                  <a:pt x="114" y="38"/>
                </a:lnTo>
                <a:lnTo>
                  <a:pt x="98" y="30"/>
                </a:lnTo>
                <a:lnTo>
                  <a:pt x="82" y="23"/>
                </a:lnTo>
                <a:lnTo>
                  <a:pt x="65" y="17"/>
                </a:lnTo>
                <a:lnTo>
                  <a:pt x="49" y="11"/>
                </a:lnTo>
                <a:lnTo>
                  <a:pt x="33" y="8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2057400" y="1809750"/>
            <a:ext cx="3743325" cy="2895600"/>
          </a:xfrm>
          <a:custGeom>
            <a:avLst/>
            <a:gdLst/>
            <a:ahLst/>
            <a:cxnLst/>
            <a:rect l="l" t="t" r="r" b="b"/>
            <a:pathLst>
              <a:path w="393" h="304">
                <a:moveTo>
                  <a:pt x="0" y="300"/>
                </a:moveTo>
                <a:lnTo>
                  <a:pt x="16" y="299"/>
                </a:lnTo>
                <a:lnTo>
                  <a:pt x="33" y="294"/>
                </a:lnTo>
                <a:lnTo>
                  <a:pt x="49" y="287"/>
                </a:lnTo>
                <a:lnTo>
                  <a:pt x="65" y="278"/>
                </a:lnTo>
                <a:lnTo>
                  <a:pt x="82" y="267"/>
                </a:lnTo>
                <a:lnTo>
                  <a:pt x="98" y="253"/>
                </a:lnTo>
                <a:lnTo>
                  <a:pt x="114" y="239"/>
                </a:lnTo>
                <a:lnTo>
                  <a:pt x="131" y="222"/>
                </a:lnTo>
                <a:lnTo>
                  <a:pt x="147" y="205"/>
                </a:lnTo>
                <a:lnTo>
                  <a:pt x="164" y="187"/>
                </a:lnTo>
                <a:lnTo>
                  <a:pt x="180" y="169"/>
                </a:lnTo>
                <a:lnTo>
                  <a:pt x="196" y="150"/>
                </a:lnTo>
                <a:lnTo>
                  <a:pt x="213" y="131"/>
                </a:lnTo>
                <a:lnTo>
                  <a:pt x="229" y="113"/>
                </a:lnTo>
                <a:lnTo>
                  <a:pt x="246" y="95"/>
                </a:lnTo>
                <a:lnTo>
                  <a:pt x="262" y="78"/>
                </a:lnTo>
                <a:lnTo>
                  <a:pt x="278" y="62"/>
                </a:lnTo>
                <a:lnTo>
                  <a:pt x="295" y="47"/>
                </a:lnTo>
                <a:lnTo>
                  <a:pt x="311" y="34"/>
                </a:lnTo>
                <a:lnTo>
                  <a:pt x="327" y="22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10"/>
                </a:lnTo>
                <a:lnTo>
                  <a:pt x="344" y="17"/>
                </a:lnTo>
                <a:lnTo>
                  <a:pt x="327" y="26"/>
                </a:lnTo>
                <a:lnTo>
                  <a:pt x="311" y="37"/>
                </a:lnTo>
                <a:lnTo>
                  <a:pt x="295" y="51"/>
                </a:lnTo>
                <a:lnTo>
                  <a:pt x="278" y="65"/>
                </a:lnTo>
                <a:lnTo>
                  <a:pt x="262" y="82"/>
                </a:lnTo>
                <a:lnTo>
                  <a:pt x="246" y="99"/>
                </a:lnTo>
                <a:lnTo>
                  <a:pt x="229" y="117"/>
                </a:lnTo>
                <a:lnTo>
                  <a:pt x="213" y="135"/>
                </a:lnTo>
                <a:lnTo>
                  <a:pt x="196" y="154"/>
                </a:lnTo>
                <a:lnTo>
                  <a:pt x="180" y="173"/>
                </a:lnTo>
                <a:lnTo>
                  <a:pt x="164" y="191"/>
                </a:lnTo>
                <a:lnTo>
                  <a:pt x="147" y="209"/>
                </a:lnTo>
                <a:lnTo>
                  <a:pt x="131" y="226"/>
                </a:lnTo>
                <a:lnTo>
                  <a:pt x="114" y="242"/>
                </a:lnTo>
                <a:lnTo>
                  <a:pt x="98" y="257"/>
                </a:lnTo>
                <a:lnTo>
                  <a:pt x="82" y="270"/>
                </a:lnTo>
                <a:lnTo>
                  <a:pt x="65" y="282"/>
                </a:lnTo>
                <a:lnTo>
                  <a:pt x="49" y="291"/>
                </a:lnTo>
                <a:lnTo>
                  <a:pt x="33" y="298"/>
                </a:lnTo>
                <a:lnTo>
                  <a:pt x="16" y="303"/>
                </a:lnTo>
                <a:lnTo>
                  <a:pt x="0" y="304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2057400" y="2352675"/>
            <a:ext cx="3743325" cy="2390775"/>
          </a:xfrm>
          <a:custGeom>
            <a:avLst/>
            <a:gdLst/>
            <a:ahLst/>
            <a:cxnLst/>
            <a:rect l="l" t="t" r="r" b="b"/>
            <a:pathLst>
              <a:path w="393" h="251">
                <a:moveTo>
                  <a:pt x="0" y="247"/>
                </a:moveTo>
                <a:lnTo>
                  <a:pt x="16" y="246"/>
                </a:lnTo>
                <a:lnTo>
                  <a:pt x="33" y="242"/>
                </a:lnTo>
                <a:lnTo>
                  <a:pt x="49" y="236"/>
                </a:lnTo>
                <a:lnTo>
                  <a:pt x="65" y="229"/>
                </a:lnTo>
                <a:lnTo>
                  <a:pt x="82" y="219"/>
                </a:lnTo>
                <a:lnTo>
                  <a:pt x="98" y="209"/>
                </a:lnTo>
                <a:lnTo>
                  <a:pt x="114" y="196"/>
                </a:lnTo>
                <a:lnTo>
                  <a:pt x="131" y="183"/>
                </a:lnTo>
                <a:lnTo>
                  <a:pt x="147" y="169"/>
                </a:lnTo>
                <a:lnTo>
                  <a:pt x="164" y="154"/>
                </a:lnTo>
                <a:lnTo>
                  <a:pt x="180" y="139"/>
                </a:lnTo>
                <a:lnTo>
                  <a:pt x="196" y="124"/>
                </a:lnTo>
                <a:lnTo>
                  <a:pt x="213" y="108"/>
                </a:lnTo>
                <a:lnTo>
                  <a:pt x="229" y="93"/>
                </a:lnTo>
                <a:lnTo>
                  <a:pt x="246" y="78"/>
                </a:lnTo>
                <a:lnTo>
                  <a:pt x="262" y="64"/>
                </a:lnTo>
                <a:lnTo>
                  <a:pt x="278" y="51"/>
                </a:lnTo>
                <a:lnTo>
                  <a:pt x="295" y="39"/>
                </a:lnTo>
                <a:lnTo>
                  <a:pt x="311" y="28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9"/>
                </a:lnTo>
                <a:lnTo>
                  <a:pt x="344" y="15"/>
                </a:lnTo>
                <a:lnTo>
                  <a:pt x="327" y="22"/>
                </a:lnTo>
                <a:lnTo>
                  <a:pt x="311" y="32"/>
                </a:lnTo>
                <a:lnTo>
                  <a:pt x="295" y="43"/>
                </a:lnTo>
                <a:lnTo>
                  <a:pt x="278" y="55"/>
                </a:lnTo>
                <a:lnTo>
                  <a:pt x="262" y="68"/>
                </a:lnTo>
                <a:lnTo>
                  <a:pt x="246" y="82"/>
                </a:lnTo>
                <a:lnTo>
                  <a:pt x="229" y="97"/>
                </a:lnTo>
                <a:lnTo>
                  <a:pt x="213" y="112"/>
                </a:lnTo>
                <a:lnTo>
                  <a:pt x="196" y="127"/>
                </a:lnTo>
                <a:lnTo>
                  <a:pt x="180" y="143"/>
                </a:lnTo>
                <a:lnTo>
                  <a:pt x="164" y="158"/>
                </a:lnTo>
                <a:lnTo>
                  <a:pt x="147" y="173"/>
                </a:lnTo>
                <a:lnTo>
                  <a:pt x="131" y="187"/>
                </a:lnTo>
                <a:lnTo>
                  <a:pt x="114" y="200"/>
                </a:lnTo>
                <a:lnTo>
                  <a:pt x="98" y="212"/>
                </a:lnTo>
                <a:lnTo>
                  <a:pt x="82" y="223"/>
                </a:lnTo>
                <a:lnTo>
                  <a:pt x="65" y="232"/>
                </a:lnTo>
                <a:lnTo>
                  <a:pt x="49" y="240"/>
                </a:lnTo>
                <a:lnTo>
                  <a:pt x="33" y="246"/>
                </a:lnTo>
                <a:lnTo>
                  <a:pt x="16" y="250"/>
                </a:lnTo>
                <a:lnTo>
                  <a:pt x="0" y="251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reeform 76"/>
          <p:cNvSpPr/>
          <p:nvPr/>
        </p:nvSpPr>
        <p:spPr>
          <a:xfrm>
            <a:off x="2057400" y="2905125"/>
            <a:ext cx="3743325" cy="1866900"/>
          </a:xfrm>
          <a:custGeom>
            <a:avLst/>
            <a:gdLst/>
            <a:ahLst/>
            <a:cxnLst/>
            <a:rect l="l" t="t" r="r" b="b"/>
            <a:pathLst>
              <a:path w="393" h="196">
                <a:moveTo>
                  <a:pt x="0" y="193"/>
                </a:moveTo>
                <a:lnTo>
                  <a:pt x="16" y="192"/>
                </a:lnTo>
                <a:lnTo>
                  <a:pt x="33" y="189"/>
                </a:lnTo>
                <a:lnTo>
                  <a:pt x="49" y="184"/>
                </a:lnTo>
                <a:lnTo>
                  <a:pt x="65" y="179"/>
                </a:lnTo>
                <a:lnTo>
                  <a:pt x="82" y="171"/>
                </a:lnTo>
                <a:lnTo>
                  <a:pt x="98" y="163"/>
                </a:lnTo>
                <a:lnTo>
                  <a:pt x="114" y="153"/>
                </a:lnTo>
                <a:lnTo>
                  <a:pt x="131" y="143"/>
                </a:lnTo>
                <a:lnTo>
                  <a:pt x="147" y="132"/>
                </a:lnTo>
                <a:lnTo>
                  <a:pt x="164" y="120"/>
                </a:lnTo>
                <a:lnTo>
                  <a:pt x="180" y="109"/>
                </a:lnTo>
                <a:lnTo>
                  <a:pt x="196" y="97"/>
                </a:lnTo>
                <a:lnTo>
                  <a:pt x="213" y="85"/>
                </a:lnTo>
                <a:lnTo>
                  <a:pt x="229" y="73"/>
                </a:lnTo>
                <a:lnTo>
                  <a:pt x="246" y="61"/>
                </a:lnTo>
                <a:lnTo>
                  <a:pt x="262" y="50"/>
                </a:lnTo>
                <a:lnTo>
                  <a:pt x="278" y="40"/>
                </a:lnTo>
                <a:lnTo>
                  <a:pt x="295" y="30"/>
                </a:lnTo>
                <a:lnTo>
                  <a:pt x="311" y="22"/>
                </a:lnTo>
                <a:lnTo>
                  <a:pt x="327" y="15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2"/>
                </a:lnTo>
                <a:lnTo>
                  <a:pt x="327" y="18"/>
                </a:lnTo>
                <a:lnTo>
                  <a:pt x="311" y="25"/>
                </a:lnTo>
                <a:lnTo>
                  <a:pt x="295" y="34"/>
                </a:lnTo>
                <a:lnTo>
                  <a:pt x="278" y="43"/>
                </a:lnTo>
                <a:lnTo>
                  <a:pt x="262" y="54"/>
                </a:lnTo>
                <a:lnTo>
                  <a:pt x="246" y="65"/>
                </a:lnTo>
                <a:lnTo>
                  <a:pt x="229" y="76"/>
                </a:lnTo>
                <a:lnTo>
                  <a:pt x="213" y="88"/>
                </a:lnTo>
                <a:lnTo>
                  <a:pt x="196" y="100"/>
                </a:lnTo>
                <a:lnTo>
                  <a:pt x="180" y="112"/>
                </a:lnTo>
                <a:lnTo>
                  <a:pt x="164" y="124"/>
                </a:lnTo>
                <a:lnTo>
                  <a:pt x="147" y="135"/>
                </a:lnTo>
                <a:lnTo>
                  <a:pt x="131" y="146"/>
                </a:lnTo>
                <a:lnTo>
                  <a:pt x="114" y="157"/>
                </a:lnTo>
                <a:lnTo>
                  <a:pt x="98" y="166"/>
                </a:lnTo>
                <a:lnTo>
                  <a:pt x="82" y="175"/>
                </a:lnTo>
                <a:lnTo>
                  <a:pt x="65" y="182"/>
                </a:lnTo>
                <a:lnTo>
                  <a:pt x="49" y="188"/>
                </a:lnTo>
                <a:lnTo>
                  <a:pt x="33" y="192"/>
                </a:lnTo>
                <a:lnTo>
                  <a:pt x="16" y="195"/>
                </a:lnTo>
                <a:lnTo>
                  <a:pt x="0" y="196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2057400" y="3448050"/>
            <a:ext cx="3743325" cy="1362075"/>
          </a:xfrm>
          <a:custGeom>
            <a:avLst/>
            <a:gdLst/>
            <a:ahLst/>
            <a:cxnLst/>
            <a:rect l="l" t="t" r="r" b="b"/>
            <a:pathLst>
              <a:path w="393" h="143">
                <a:moveTo>
                  <a:pt x="0" y="139"/>
                </a:moveTo>
                <a:lnTo>
                  <a:pt x="16" y="138"/>
                </a:lnTo>
                <a:lnTo>
                  <a:pt x="33" y="136"/>
                </a:lnTo>
                <a:lnTo>
                  <a:pt x="49" y="133"/>
                </a:lnTo>
                <a:lnTo>
                  <a:pt x="65" y="129"/>
                </a:lnTo>
                <a:lnTo>
                  <a:pt x="82" y="124"/>
                </a:lnTo>
                <a:lnTo>
                  <a:pt x="98" y="117"/>
                </a:lnTo>
                <a:lnTo>
                  <a:pt x="114" y="111"/>
                </a:lnTo>
                <a:lnTo>
                  <a:pt x="131" y="103"/>
                </a:lnTo>
                <a:lnTo>
                  <a:pt x="147" y="95"/>
                </a:lnTo>
                <a:lnTo>
                  <a:pt x="164" y="87"/>
                </a:lnTo>
                <a:lnTo>
                  <a:pt x="180" y="78"/>
                </a:lnTo>
                <a:lnTo>
                  <a:pt x="196" y="70"/>
                </a:lnTo>
                <a:lnTo>
                  <a:pt x="213" y="61"/>
                </a:lnTo>
                <a:lnTo>
                  <a:pt x="229" y="52"/>
                </a:lnTo>
                <a:lnTo>
                  <a:pt x="246" y="44"/>
                </a:lnTo>
                <a:lnTo>
                  <a:pt x="262" y="36"/>
                </a:lnTo>
                <a:lnTo>
                  <a:pt x="278" y="29"/>
                </a:lnTo>
                <a:lnTo>
                  <a:pt x="295" y="22"/>
                </a:lnTo>
                <a:lnTo>
                  <a:pt x="311" y="16"/>
                </a:lnTo>
                <a:lnTo>
                  <a:pt x="327" y="10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0"/>
                </a:lnTo>
                <a:lnTo>
                  <a:pt x="327" y="14"/>
                </a:lnTo>
                <a:lnTo>
                  <a:pt x="311" y="19"/>
                </a:lnTo>
                <a:lnTo>
                  <a:pt x="295" y="26"/>
                </a:lnTo>
                <a:lnTo>
                  <a:pt x="278" y="32"/>
                </a:lnTo>
                <a:lnTo>
                  <a:pt x="262" y="40"/>
                </a:lnTo>
                <a:lnTo>
                  <a:pt x="246" y="48"/>
                </a:lnTo>
                <a:lnTo>
                  <a:pt x="229" y="56"/>
                </a:lnTo>
                <a:lnTo>
                  <a:pt x="213" y="65"/>
                </a:lnTo>
                <a:lnTo>
                  <a:pt x="196" y="73"/>
                </a:lnTo>
                <a:lnTo>
                  <a:pt x="180" y="82"/>
                </a:lnTo>
                <a:lnTo>
                  <a:pt x="164" y="91"/>
                </a:lnTo>
                <a:lnTo>
                  <a:pt x="147" y="99"/>
                </a:lnTo>
                <a:lnTo>
                  <a:pt x="131" y="107"/>
                </a:lnTo>
                <a:lnTo>
                  <a:pt x="114" y="114"/>
                </a:lnTo>
                <a:lnTo>
                  <a:pt x="98" y="121"/>
                </a:lnTo>
                <a:lnTo>
                  <a:pt x="82" y="127"/>
                </a:lnTo>
                <a:lnTo>
                  <a:pt x="65" y="133"/>
                </a:lnTo>
                <a:lnTo>
                  <a:pt x="49" y="137"/>
                </a:lnTo>
                <a:lnTo>
                  <a:pt x="33" y="140"/>
                </a:lnTo>
                <a:lnTo>
                  <a:pt x="16" y="142"/>
                </a:lnTo>
                <a:lnTo>
                  <a:pt x="0" y="143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Freeform 78"/>
          <p:cNvSpPr/>
          <p:nvPr/>
        </p:nvSpPr>
        <p:spPr>
          <a:xfrm>
            <a:off x="2057400" y="4000500"/>
            <a:ext cx="3743325" cy="847725"/>
          </a:xfrm>
          <a:custGeom>
            <a:avLst/>
            <a:gdLst/>
            <a:ahLst/>
            <a:cxnLst/>
            <a:rect l="l" t="t" r="r" b="b"/>
            <a:pathLst>
              <a:path w="393" h="89">
                <a:moveTo>
                  <a:pt x="0" y="85"/>
                </a:moveTo>
                <a:lnTo>
                  <a:pt x="16" y="84"/>
                </a:lnTo>
                <a:lnTo>
                  <a:pt x="33" y="83"/>
                </a:lnTo>
                <a:lnTo>
                  <a:pt x="49" y="81"/>
                </a:lnTo>
                <a:lnTo>
                  <a:pt x="65" y="79"/>
                </a:lnTo>
                <a:lnTo>
                  <a:pt x="82" y="75"/>
                </a:lnTo>
                <a:lnTo>
                  <a:pt x="98" y="72"/>
                </a:lnTo>
                <a:lnTo>
                  <a:pt x="114" y="67"/>
                </a:lnTo>
                <a:lnTo>
                  <a:pt x="131" y="63"/>
                </a:lnTo>
                <a:lnTo>
                  <a:pt x="147" y="58"/>
                </a:lnTo>
                <a:lnTo>
                  <a:pt x="164" y="53"/>
                </a:lnTo>
                <a:lnTo>
                  <a:pt x="180" y="48"/>
                </a:lnTo>
                <a:lnTo>
                  <a:pt x="196" y="43"/>
                </a:lnTo>
                <a:lnTo>
                  <a:pt x="213" y="37"/>
                </a:lnTo>
                <a:lnTo>
                  <a:pt x="229" y="32"/>
                </a:lnTo>
                <a:lnTo>
                  <a:pt x="246" y="27"/>
                </a:lnTo>
                <a:lnTo>
                  <a:pt x="262" y="22"/>
                </a:lnTo>
                <a:lnTo>
                  <a:pt x="278" y="18"/>
                </a:lnTo>
                <a:lnTo>
                  <a:pt x="295" y="14"/>
                </a:lnTo>
                <a:lnTo>
                  <a:pt x="311" y="10"/>
                </a:lnTo>
                <a:lnTo>
                  <a:pt x="327" y="7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6"/>
                </a:lnTo>
                <a:lnTo>
                  <a:pt x="344" y="8"/>
                </a:lnTo>
                <a:lnTo>
                  <a:pt x="327" y="10"/>
                </a:lnTo>
                <a:lnTo>
                  <a:pt x="311" y="14"/>
                </a:lnTo>
                <a:lnTo>
                  <a:pt x="295" y="17"/>
                </a:lnTo>
                <a:lnTo>
                  <a:pt x="278" y="21"/>
                </a:lnTo>
                <a:lnTo>
                  <a:pt x="262" y="26"/>
                </a:lnTo>
                <a:lnTo>
                  <a:pt x="246" y="31"/>
                </a:lnTo>
                <a:lnTo>
                  <a:pt x="229" y="36"/>
                </a:lnTo>
                <a:lnTo>
                  <a:pt x="213" y="41"/>
                </a:lnTo>
                <a:lnTo>
                  <a:pt x="196" y="46"/>
                </a:lnTo>
                <a:lnTo>
                  <a:pt x="180" y="52"/>
                </a:lnTo>
                <a:lnTo>
                  <a:pt x="164" y="57"/>
                </a:lnTo>
                <a:lnTo>
                  <a:pt x="147" y="62"/>
                </a:lnTo>
                <a:lnTo>
                  <a:pt x="131" y="67"/>
                </a:lnTo>
                <a:lnTo>
                  <a:pt x="114" y="71"/>
                </a:lnTo>
                <a:lnTo>
                  <a:pt x="98" y="75"/>
                </a:lnTo>
                <a:lnTo>
                  <a:pt x="82" y="79"/>
                </a:lnTo>
                <a:lnTo>
                  <a:pt x="65" y="82"/>
                </a:lnTo>
                <a:lnTo>
                  <a:pt x="49" y="85"/>
                </a:lnTo>
                <a:lnTo>
                  <a:pt x="33" y="87"/>
                </a:lnTo>
                <a:lnTo>
                  <a:pt x="16" y="88"/>
                </a:lnTo>
                <a:lnTo>
                  <a:pt x="0" y="89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Freeform 79"/>
          <p:cNvSpPr/>
          <p:nvPr/>
        </p:nvSpPr>
        <p:spPr>
          <a:xfrm>
            <a:off x="2057400" y="4543425"/>
            <a:ext cx="3743325" cy="342900"/>
          </a:xfrm>
          <a:custGeom>
            <a:avLst/>
            <a:gdLst/>
            <a:ahLst/>
            <a:cxnLst/>
            <a:rect l="l" t="t" r="r" b="b"/>
            <a:pathLst>
              <a:path w="393" h="36">
                <a:moveTo>
                  <a:pt x="0" y="32"/>
                </a:moveTo>
                <a:lnTo>
                  <a:pt x="16" y="31"/>
                </a:lnTo>
                <a:lnTo>
                  <a:pt x="33" y="31"/>
                </a:lnTo>
                <a:lnTo>
                  <a:pt x="49" y="30"/>
                </a:lnTo>
                <a:lnTo>
                  <a:pt x="65" y="29"/>
                </a:lnTo>
                <a:lnTo>
                  <a:pt x="82" y="28"/>
                </a:lnTo>
                <a:lnTo>
                  <a:pt x="98" y="27"/>
                </a:lnTo>
                <a:lnTo>
                  <a:pt x="114" y="25"/>
                </a:lnTo>
                <a:lnTo>
                  <a:pt x="131" y="23"/>
                </a:lnTo>
                <a:lnTo>
                  <a:pt x="147" y="22"/>
                </a:lnTo>
                <a:lnTo>
                  <a:pt x="164" y="20"/>
                </a:lnTo>
                <a:lnTo>
                  <a:pt x="180" y="18"/>
                </a:lnTo>
                <a:lnTo>
                  <a:pt x="196" y="16"/>
                </a:lnTo>
                <a:lnTo>
                  <a:pt x="213" y="14"/>
                </a:lnTo>
                <a:lnTo>
                  <a:pt x="229" y="12"/>
                </a:lnTo>
                <a:lnTo>
                  <a:pt x="246" y="10"/>
                </a:lnTo>
                <a:lnTo>
                  <a:pt x="262" y="9"/>
                </a:lnTo>
                <a:lnTo>
                  <a:pt x="278" y="7"/>
                </a:lnTo>
                <a:lnTo>
                  <a:pt x="295" y="5"/>
                </a:lnTo>
                <a:lnTo>
                  <a:pt x="311" y="4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5"/>
                </a:lnTo>
                <a:lnTo>
                  <a:pt x="344" y="6"/>
                </a:lnTo>
                <a:lnTo>
                  <a:pt x="327" y="7"/>
                </a:lnTo>
                <a:lnTo>
                  <a:pt x="311" y="8"/>
                </a:lnTo>
                <a:lnTo>
                  <a:pt x="295" y="9"/>
                </a:lnTo>
                <a:lnTo>
                  <a:pt x="278" y="11"/>
                </a:lnTo>
                <a:lnTo>
                  <a:pt x="262" y="13"/>
                </a:lnTo>
                <a:lnTo>
                  <a:pt x="246" y="14"/>
                </a:lnTo>
                <a:lnTo>
                  <a:pt x="229" y="16"/>
                </a:lnTo>
                <a:lnTo>
                  <a:pt x="213" y="18"/>
                </a:lnTo>
                <a:lnTo>
                  <a:pt x="196" y="20"/>
                </a:lnTo>
                <a:lnTo>
                  <a:pt x="180" y="22"/>
                </a:lnTo>
                <a:lnTo>
                  <a:pt x="164" y="24"/>
                </a:lnTo>
                <a:lnTo>
                  <a:pt x="147" y="26"/>
                </a:lnTo>
                <a:lnTo>
                  <a:pt x="131" y="28"/>
                </a:lnTo>
                <a:lnTo>
                  <a:pt x="114" y="29"/>
                </a:lnTo>
                <a:lnTo>
                  <a:pt x="98" y="31"/>
                </a:lnTo>
                <a:lnTo>
                  <a:pt x="82" y="32"/>
                </a:lnTo>
                <a:lnTo>
                  <a:pt x="65" y="33"/>
                </a:lnTo>
                <a:lnTo>
                  <a:pt x="49" y="34"/>
                </a:lnTo>
                <a:lnTo>
                  <a:pt x="33" y="35"/>
                </a:lnTo>
                <a:lnTo>
                  <a:pt x="1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Freeform 80"/>
          <p:cNvSpPr/>
          <p:nvPr/>
        </p:nvSpPr>
        <p:spPr>
          <a:xfrm>
            <a:off x="2057400" y="4886325"/>
            <a:ext cx="3743325" cy="247650"/>
          </a:xfrm>
          <a:custGeom>
            <a:avLst/>
            <a:gdLst/>
            <a:ahLst/>
            <a:cxnLst/>
            <a:rect l="l" t="t" r="r" b="b"/>
            <a:pathLst>
              <a:path w="393" h="26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6"/>
                </a:lnTo>
                <a:lnTo>
                  <a:pt x="147" y="7"/>
                </a:lnTo>
                <a:lnTo>
                  <a:pt x="164" y="8"/>
                </a:lnTo>
                <a:lnTo>
                  <a:pt x="180" y="10"/>
                </a:lnTo>
                <a:lnTo>
                  <a:pt x="196" y="11"/>
                </a:lnTo>
                <a:lnTo>
                  <a:pt x="213" y="13"/>
                </a:lnTo>
                <a:lnTo>
                  <a:pt x="229" y="14"/>
                </a:lnTo>
                <a:lnTo>
                  <a:pt x="246" y="16"/>
                </a:lnTo>
                <a:lnTo>
                  <a:pt x="262" y="17"/>
                </a:lnTo>
                <a:lnTo>
                  <a:pt x="278" y="18"/>
                </a:lnTo>
                <a:lnTo>
                  <a:pt x="295" y="19"/>
                </a:lnTo>
                <a:lnTo>
                  <a:pt x="311" y="20"/>
                </a:lnTo>
                <a:lnTo>
                  <a:pt x="327" y="21"/>
                </a:lnTo>
                <a:lnTo>
                  <a:pt x="344" y="22"/>
                </a:lnTo>
                <a:lnTo>
                  <a:pt x="360" y="22"/>
                </a:lnTo>
                <a:lnTo>
                  <a:pt x="377" y="23"/>
                </a:lnTo>
                <a:lnTo>
                  <a:pt x="393" y="23"/>
                </a:lnTo>
                <a:lnTo>
                  <a:pt x="393" y="26"/>
                </a:lnTo>
                <a:lnTo>
                  <a:pt x="377" y="26"/>
                </a:lnTo>
                <a:lnTo>
                  <a:pt x="360" y="26"/>
                </a:lnTo>
                <a:lnTo>
                  <a:pt x="344" y="25"/>
                </a:lnTo>
                <a:lnTo>
                  <a:pt x="327" y="24"/>
                </a:lnTo>
                <a:lnTo>
                  <a:pt x="311" y="23"/>
                </a:lnTo>
                <a:lnTo>
                  <a:pt x="295" y="22"/>
                </a:lnTo>
                <a:lnTo>
                  <a:pt x="278" y="21"/>
                </a:lnTo>
                <a:lnTo>
                  <a:pt x="262" y="20"/>
                </a:lnTo>
                <a:lnTo>
                  <a:pt x="246" y="19"/>
                </a:lnTo>
                <a:lnTo>
                  <a:pt x="229" y="17"/>
                </a:lnTo>
                <a:lnTo>
                  <a:pt x="213" y="16"/>
                </a:lnTo>
                <a:lnTo>
                  <a:pt x="196" y="14"/>
                </a:lnTo>
                <a:lnTo>
                  <a:pt x="180" y="13"/>
                </a:lnTo>
                <a:lnTo>
                  <a:pt x="164" y="12"/>
                </a:lnTo>
                <a:lnTo>
                  <a:pt x="147" y="10"/>
                </a:lnTo>
                <a:lnTo>
                  <a:pt x="131" y="9"/>
                </a:lnTo>
                <a:lnTo>
                  <a:pt x="114" y="8"/>
                </a:lnTo>
                <a:lnTo>
                  <a:pt x="98" y="6"/>
                </a:lnTo>
                <a:lnTo>
                  <a:pt x="82" y="5"/>
                </a:lnTo>
                <a:lnTo>
                  <a:pt x="65" y="5"/>
                </a:lnTo>
                <a:lnTo>
                  <a:pt x="49" y="4"/>
                </a:lnTo>
                <a:lnTo>
                  <a:pt x="33" y="3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reeform 81"/>
          <p:cNvSpPr/>
          <p:nvPr/>
        </p:nvSpPr>
        <p:spPr>
          <a:xfrm>
            <a:off x="2057400" y="4914900"/>
            <a:ext cx="3743325" cy="771525"/>
          </a:xfrm>
          <a:custGeom>
            <a:avLst/>
            <a:gdLst/>
            <a:ahLst/>
            <a:cxnLst/>
            <a:rect l="l" t="t" r="r" b="b"/>
            <a:pathLst>
              <a:path w="393" h="81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6"/>
                </a:lnTo>
                <a:lnTo>
                  <a:pt x="82" y="9"/>
                </a:lnTo>
                <a:lnTo>
                  <a:pt x="98" y="12"/>
                </a:lnTo>
                <a:lnTo>
                  <a:pt x="114" y="16"/>
                </a:lnTo>
                <a:lnTo>
                  <a:pt x="131" y="20"/>
                </a:lnTo>
                <a:lnTo>
                  <a:pt x="147" y="24"/>
                </a:lnTo>
                <a:lnTo>
                  <a:pt x="164" y="29"/>
                </a:lnTo>
                <a:lnTo>
                  <a:pt x="180" y="34"/>
                </a:lnTo>
                <a:lnTo>
                  <a:pt x="196" y="39"/>
                </a:lnTo>
                <a:lnTo>
                  <a:pt x="213" y="43"/>
                </a:lnTo>
                <a:lnTo>
                  <a:pt x="229" y="48"/>
                </a:lnTo>
                <a:lnTo>
                  <a:pt x="246" y="53"/>
                </a:lnTo>
                <a:lnTo>
                  <a:pt x="262" y="57"/>
                </a:lnTo>
                <a:lnTo>
                  <a:pt x="278" y="61"/>
                </a:lnTo>
                <a:lnTo>
                  <a:pt x="295" y="65"/>
                </a:lnTo>
                <a:lnTo>
                  <a:pt x="311" y="69"/>
                </a:lnTo>
                <a:lnTo>
                  <a:pt x="327" y="72"/>
                </a:lnTo>
                <a:lnTo>
                  <a:pt x="344" y="74"/>
                </a:lnTo>
                <a:lnTo>
                  <a:pt x="360" y="76"/>
                </a:lnTo>
                <a:lnTo>
                  <a:pt x="377" y="77"/>
                </a:lnTo>
                <a:lnTo>
                  <a:pt x="393" y="77"/>
                </a:lnTo>
                <a:lnTo>
                  <a:pt x="393" y="81"/>
                </a:lnTo>
                <a:lnTo>
                  <a:pt x="377" y="80"/>
                </a:lnTo>
                <a:lnTo>
                  <a:pt x="360" y="79"/>
                </a:lnTo>
                <a:lnTo>
                  <a:pt x="344" y="78"/>
                </a:lnTo>
                <a:lnTo>
                  <a:pt x="327" y="75"/>
                </a:lnTo>
                <a:lnTo>
                  <a:pt x="311" y="72"/>
                </a:lnTo>
                <a:lnTo>
                  <a:pt x="295" y="69"/>
                </a:lnTo>
                <a:lnTo>
                  <a:pt x="278" y="65"/>
                </a:lnTo>
                <a:lnTo>
                  <a:pt x="262" y="61"/>
                </a:lnTo>
                <a:lnTo>
                  <a:pt x="246" y="56"/>
                </a:lnTo>
                <a:lnTo>
                  <a:pt x="229" y="52"/>
                </a:lnTo>
                <a:lnTo>
                  <a:pt x="213" y="47"/>
                </a:lnTo>
                <a:lnTo>
                  <a:pt x="196" y="42"/>
                </a:lnTo>
                <a:lnTo>
                  <a:pt x="180" y="37"/>
                </a:lnTo>
                <a:lnTo>
                  <a:pt x="164" y="33"/>
                </a:lnTo>
                <a:lnTo>
                  <a:pt x="147" y="28"/>
                </a:lnTo>
                <a:lnTo>
                  <a:pt x="131" y="24"/>
                </a:lnTo>
                <a:lnTo>
                  <a:pt x="114" y="19"/>
                </a:lnTo>
                <a:lnTo>
                  <a:pt x="98" y="16"/>
                </a:lnTo>
                <a:lnTo>
                  <a:pt x="82" y="12"/>
                </a:lnTo>
                <a:lnTo>
                  <a:pt x="65" y="9"/>
                </a:lnTo>
                <a:lnTo>
                  <a:pt x="49" y="7"/>
                </a:lnTo>
                <a:lnTo>
                  <a:pt x="33" y="5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Freeform 82"/>
          <p:cNvSpPr/>
          <p:nvPr/>
        </p:nvSpPr>
        <p:spPr>
          <a:xfrm>
            <a:off x="2057400" y="4943475"/>
            <a:ext cx="3743325" cy="1285875"/>
          </a:xfrm>
          <a:custGeom>
            <a:avLst/>
            <a:gdLst/>
            <a:ahLst/>
            <a:cxnLst/>
            <a:rect l="l" t="t" r="r" b="b"/>
            <a:pathLst>
              <a:path w="393" h="135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0"/>
                </a:lnTo>
                <a:lnTo>
                  <a:pt x="82" y="15"/>
                </a:lnTo>
                <a:lnTo>
                  <a:pt x="98" y="21"/>
                </a:lnTo>
                <a:lnTo>
                  <a:pt x="114" y="27"/>
                </a:lnTo>
                <a:lnTo>
                  <a:pt x="131" y="34"/>
                </a:lnTo>
                <a:lnTo>
                  <a:pt x="147" y="42"/>
                </a:lnTo>
                <a:lnTo>
                  <a:pt x="164" y="50"/>
                </a:lnTo>
                <a:lnTo>
                  <a:pt x="180" y="58"/>
                </a:lnTo>
                <a:lnTo>
                  <a:pt x="196" y="66"/>
                </a:lnTo>
                <a:lnTo>
                  <a:pt x="213" y="74"/>
                </a:lnTo>
                <a:lnTo>
                  <a:pt x="229" y="82"/>
                </a:lnTo>
                <a:lnTo>
                  <a:pt x="246" y="90"/>
                </a:lnTo>
                <a:lnTo>
                  <a:pt x="262" y="98"/>
                </a:lnTo>
                <a:lnTo>
                  <a:pt x="278" y="105"/>
                </a:lnTo>
                <a:lnTo>
                  <a:pt x="295" y="111"/>
                </a:lnTo>
                <a:lnTo>
                  <a:pt x="311" y="117"/>
                </a:lnTo>
                <a:lnTo>
                  <a:pt x="327" y="122"/>
                </a:lnTo>
                <a:lnTo>
                  <a:pt x="344" y="126"/>
                </a:lnTo>
                <a:lnTo>
                  <a:pt x="360" y="129"/>
                </a:lnTo>
                <a:lnTo>
                  <a:pt x="377" y="131"/>
                </a:lnTo>
                <a:lnTo>
                  <a:pt x="393" y="132"/>
                </a:lnTo>
                <a:lnTo>
                  <a:pt x="393" y="135"/>
                </a:lnTo>
                <a:lnTo>
                  <a:pt x="377" y="134"/>
                </a:lnTo>
                <a:lnTo>
                  <a:pt x="360" y="132"/>
                </a:lnTo>
                <a:lnTo>
                  <a:pt x="344" y="129"/>
                </a:lnTo>
                <a:lnTo>
                  <a:pt x="327" y="125"/>
                </a:lnTo>
                <a:lnTo>
                  <a:pt x="311" y="120"/>
                </a:lnTo>
                <a:lnTo>
                  <a:pt x="295" y="114"/>
                </a:lnTo>
                <a:lnTo>
                  <a:pt x="278" y="108"/>
                </a:lnTo>
                <a:lnTo>
                  <a:pt x="262" y="101"/>
                </a:lnTo>
                <a:lnTo>
                  <a:pt x="246" y="94"/>
                </a:lnTo>
                <a:lnTo>
                  <a:pt x="229" y="86"/>
                </a:lnTo>
                <a:lnTo>
                  <a:pt x="213" y="78"/>
                </a:lnTo>
                <a:lnTo>
                  <a:pt x="196" y="69"/>
                </a:lnTo>
                <a:lnTo>
                  <a:pt x="180" y="61"/>
                </a:lnTo>
                <a:lnTo>
                  <a:pt x="164" y="53"/>
                </a:lnTo>
                <a:lnTo>
                  <a:pt x="147" y="45"/>
                </a:lnTo>
                <a:lnTo>
                  <a:pt x="131" y="38"/>
                </a:lnTo>
                <a:lnTo>
                  <a:pt x="114" y="31"/>
                </a:lnTo>
                <a:lnTo>
                  <a:pt x="98" y="24"/>
                </a:lnTo>
                <a:lnTo>
                  <a:pt x="82" y="19"/>
                </a:lnTo>
                <a:lnTo>
                  <a:pt x="65" y="14"/>
                </a:lnTo>
                <a:lnTo>
                  <a:pt x="49" y="10"/>
                </a:lnTo>
                <a:lnTo>
                  <a:pt x="33" y="6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Freeform 83"/>
          <p:cNvSpPr/>
          <p:nvPr/>
        </p:nvSpPr>
        <p:spPr>
          <a:xfrm>
            <a:off x="2057400" y="1847850"/>
            <a:ext cx="3743325" cy="3219450"/>
          </a:xfrm>
          <a:custGeom>
            <a:avLst/>
            <a:gdLst/>
            <a:ahLst/>
            <a:cxnLst/>
            <a:rect l="l" t="t" r="r" b="b"/>
            <a:pathLst>
              <a:path w="393" h="338">
                <a:moveTo>
                  <a:pt x="0" y="335"/>
                </a:moveTo>
                <a:lnTo>
                  <a:pt x="16" y="333"/>
                </a:lnTo>
                <a:lnTo>
                  <a:pt x="33" y="328"/>
                </a:lnTo>
                <a:lnTo>
                  <a:pt x="49" y="320"/>
                </a:lnTo>
                <a:lnTo>
                  <a:pt x="65" y="310"/>
                </a:lnTo>
                <a:lnTo>
                  <a:pt x="82" y="297"/>
                </a:lnTo>
                <a:lnTo>
                  <a:pt x="98" y="283"/>
                </a:lnTo>
                <a:lnTo>
                  <a:pt x="114" y="266"/>
                </a:lnTo>
                <a:lnTo>
                  <a:pt x="131" y="248"/>
                </a:lnTo>
                <a:lnTo>
                  <a:pt x="147" y="229"/>
                </a:lnTo>
                <a:lnTo>
                  <a:pt x="164" y="209"/>
                </a:lnTo>
                <a:lnTo>
                  <a:pt x="180" y="188"/>
                </a:lnTo>
                <a:lnTo>
                  <a:pt x="196" y="167"/>
                </a:lnTo>
                <a:lnTo>
                  <a:pt x="213" y="146"/>
                </a:lnTo>
                <a:lnTo>
                  <a:pt x="229" y="126"/>
                </a:lnTo>
                <a:lnTo>
                  <a:pt x="246" y="106"/>
                </a:lnTo>
                <a:lnTo>
                  <a:pt x="262" y="87"/>
                </a:lnTo>
                <a:lnTo>
                  <a:pt x="278" y="69"/>
                </a:lnTo>
                <a:lnTo>
                  <a:pt x="295" y="52"/>
                </a:lnTo>
                <a:lnTo>
                  <a:pt x="311" y="37"/>
                </a:lnTo>
                <a:lnTo>
                  <a:pt x="327" y="24"/>
                </a:lnTo>
                <a:lnTo>
                  <a:pt x="344" y="14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9"/>
                </a:lnTo>
                <a:lnTo>
                  <a:pt x="344" y="17"/>
                </a:lnTo>
                <a:lnTo>
                  <a:pt x="327" y="27"/>
                </a:lnTo>
                <a:lnTo>
                  <a:pt x="311" y="40"/>
                </a:lnTo>
                <a:lnTo>
                  <a:pt x="295" y="55"/>
                </a:lnTo>
                <a:lnTo>
                  <a:pt x="278" y="71"/>
                </a:lnTo>
                <a:lnTo>
                  <a:pt x="262" y="89"/>
                </a:lnTo>
                <a:lnTo>
                  <a:pt x="246" y="108"/>
                </a:lnTo>
                <a:lnTo>
                  <a:pt x="229" y="128"/>
                </a:lnTo>
                <a:lnTo>
                  <a:pt x="213" y="149"/>
                </a:lnTo>
                <a:lnTo>
                  <a:pt x="196" y="170"/>
                </a:lnTo>
                <a:lnTo>
                  <a:pt x="180" y="191"/>
                </a:lnTo>
                <a:lnTo>
                  <a:pt x="164" y="212"/>
                </a:lnTo>
                <a:lnTo>
                  <a:pt x="147" y="232"/>
                </a:lnTo>
                <a:lnTo>
                  <a:pt x="131" y="251"/>
                </a:lnTo>
                <a:lnTo>
                  <a:pt x="114" y="269"/>
                </a:lnTo>
                <a:lnTo>
                  <a:pt x="98" y="285"/>
                </a:lnTo>
                <a:lnTo>
                  <a:pt x="82" y="300"/>
                </a:lnTo>
                <a:lnTo>
                  <a:pt x="65" y="313"/>
                </a:lnTo>
                <a:lnTo>
                  <a:pt x="49" y="323"/>
                </a:lnTo>
                <a:lnTo>
                  <a:pt x="33" y="331"/>
                </a:lnTo>
                <a:lnTo>
                  <a:pt x="16" y="336"/>
                </a:lnTo>
                <a:lnTo>
                  <a:pt x="0" y="338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2057400" y="2390775"/>
            <a:ext cx="3743325" cy="2695575"/>
          </a:xfrm>
          <a:custGeom>
            <a:avLst/>
            <a:gdLst/>
            <a:ahLst/>
            <a:cxnLst/>
            <a:rect l="l" t="t" r="r" b="b"/>
            <a:pathLst>
              <a:path w="393" h="283">
                <a:moveTo>
                  <a:pt x="0" y="281"/>
                </a:moveTo>
                <a:lnTo>
                  <a:pt x="16" y="279"/>
                </a:lnTo>
                <a:lnTo>
                  <a:pt x="33" y="275"/>
                </a:lnTo>
                <a:lnTo>
                  <a:pt x="49" y="269"/>
                </a:lnTo>
                <a:lnTo>
                  <a:pt x="65" y="260"/>
                </a:lnTo>
                <a:lnTo>
                  <a:pt x="82" y="249"/>
                </a:lnTo>
                <a:lnTo>
                  <a:pt x="98" y="237"/>
                </a:lnTo>
                <a:lnTo>
                  <a:pt x="114" y="223"/>
                </a:lnTo>
                <a:lnTo>
                  <a:pt x="131" y="208"/>
                </a:lnTo>
                <a:lnTo>
                  <a:pt x="147" y="192"/>
                </a:lnTo>
                <a:lnTo>
                  <a:pt x="164" y="175"/>
                </a:lnTo>
                <a:lnTo>
                  <a:pt x="180" y="158"/>
                </a:lnTo>
                <a:lnTo>
                  <a:pt x="196" y="140"/>
                </a:lnTo>
                <a:lnTo>
                  <a:pt x="213" y="123"/>
                </a:lnTo>
                <a:lnTo>
                  <a:pt x="229" y="106"/>
                </a:lnTo>
                <a:lnTo>
                  <a:pt x="246" y="89"/>
                </a:lnTo>
                <a:lnTo>
                  <a:pt x="262" y="73"/>
                </a:lnTo>
                <a:lnTo>
                  <a:pt x="278" y="58"/>
                </a:lnTo>
                <a:lnTo>
                  <a:pt x="295" y="44"/>
                </a:lnTo>
                <a:lnTo>
                  <a:pt x="311" y="32"/>
                </a:lnTo>
                <a:lnTo>
                  <a:pt x="327" y="21"/>
                </a:lnTo>
                <a:lnTo>
                  <a:pt x="344" y="12"/>
                </a:lnTo>
                <a:lnTo>
                  <a:pt x="360" y="6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5"/>
                </a:lnTo>
                <a:lnTo>
                  <a:pt x="327" y="24"/>
                </a:lnTo>
                <a:lnTo>
                  <a:pt x="311" y="34"/>
                </a:lnTo>
                <a:lnTo>
                  <a:pt x="295" y="47"/>
                </a:lnTo>
                <a:lnTo>
                  <a:pt x="278" y="61"/>
                </a:lnTo>
                <a:lnTo>
                  <a:pt x="262" y="76"/>
                </a:lnTo>
                <a:lnTo>
                  <a:pt x="246" y="92"/>
                </a:lnTo>
                <a:lnTo>
                  <a:pt x="229" y="108"/>
                </a:lnTo>
                <a:lnTo>
                  <a:pt x="213" y="126"/>
                </a:lnTo>
                <a:lnTo>
                  <a:pt x="196" y="143"/>
                </a:lnTo>
                <a:lnTo>
                  <a:pt x="180" y="161"/>
                </a:lnTo>
                <a:lnTo>
                  <a:pt x="164" y="178"/>
                </a:lnTo>
                <a:lnTo>
                  <a:pt x="147" y="195"/>
                </a:lnTo>
                <a:lnTo>
                  <a:pt x="131" y="211"/>
                </a:lnTo>
                <a:lnTo>
                  <a:pt x="114" y="226"/>
                </a:lnTo>
                <a:lnTo>
                  <a:pt x="98" y="240"/>
                </a:lnTo>
                <a:lnTo>
                  <a:pt x="82" y="252"/>
                </a:lnTo>
                <a:lnTo>
                  <a:pt x="65" y="263"/>
                </a:lnTo>
                <a:lnTo>
                  <a:pt x="49" y="271"/>
                </a:lnTo>
                <a:lnTo>
                  <a:pt x="33" y="278"/>
                </a:lnTo>
                <a:lnTo>
                  <a:pt x="16" y="282"/>
                </a:lnTo>
                <a:lnTo>
                  <a:pt x="0" y="283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reeform 85"/>
          <p:cNvSpPr/>
          <p:nvPr/>
        </p:nvSpPr>
        <p:spPr>
          <a:xfrm>
            <a:off x="2057400" y="2943225"/>
            <a:ext cx="3743325" cy="2171700"/>
          </a:xfrm>
          <a:custGeom>
            <a:avLst/>
            <a:gdLst/>
            <a:ahLst/>
            <a:cxnLst/>
            <a:rect l="l" t="t" r="r" b="b"/>
            <a:pathLst>
              <a:path w="393" h="228">
                <a:moveTo>
                  <a:pt x="0" y="225"/>
                </a:moveTo>
                <a:lnTo>
                  <a:pt x="16" y="224"/>
                </a:lnTo>
                <a:lnTo>
                  <a:pt x="33" y="221"/>
                </a:lnTo>
                <a:lnTo>
                  <a:pt x="49" y="216"/>
                </a:lnTo>
                <a:lnTo>
                  <a:pt x="65" y="209"/>
                </a:lnTo>
                <a:lnTo>
                  <a:pt x="82" y="200"/>
                </a:lnTo>
                <a:lnTo>
                  <a:pt x="98" y="190"/>
                </a:lnTo>
                <a:lnTo>
                  <a:pt x="114" y="179"/>
                </a:lnTo>
                <a:lnTo>
                  <a:pt x="131" y="167"/>
                </a:lnTo>
                <a:lnTo>
                  <a:pt x="147" y="154"/>
                </a:lnTo>
                <a:lnTo>
                  <a:pt x="164" y="141"/>
                </a:lnTo>
                <a:lnTo>
                  <a:pt x="180" y="127"/>
                </a:lnTo>
                <a:lnTo>
                  <a:pt x="196" y="113"/>
                </a:lnTo>
                <a:lnTo>
                  <a:pt x="213" y="98"/>
                </a:lnTo>
                <a:lnTo>
                  <a:pt x="229" y="85"/>
                </a:lnTo>
                <a:lnTo>
                  <a:pt x="246" y="71"/>
                </a:lnTo>
                <a:lnTo>
                  <a:pt x="262" y="58"/>
                </a:lnTo>
                <a:lnTo>
                  <a:pt x="278" y="46"/>
                </a:lnTo>
                <a:lnTo>
                  <a:pt x="295" y="35"/>
                </a:lnTo>
                <a:lnTo>
                  <a:pt x="311" y="25"/>
                </a:lnTo>
                <a:lnTo>
                  <a:pt x="327" y="16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7"/>
                </a:lnTo>
                <a:lnTo>
                  <a:pt x="344" y="12"/>
                </a:lnTo>
                <a:lnTo>
                  <a:pt x="327" y="19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1"/>
                </a:lnTo>
                <a:lnTo>
                  <a:pt x="246" y="74"/>
                </a:lnTo>
                <a:lnTo>
                  <a:pt x="229" y="87"/>
                </a:lnTo>
                <a:lnTo>
                  <a:pt x="213" y="101"/>
                </a:lnTo>
                <a:lnTo>
                  <a:pt x="196" y="115"/>
                </a:lnTo>
                <a:lnTo>
                  <a:pt x="180" y="129"/>
                </a:lnTo>
                <a:lnTo>
                  <a:pt x="164" y="143"/>
                </a:lnTo>
                <a:lnTo>
                  <a:pt x="147" y="157"/>
                </a:lnTo>
                <a:lnTo>
                  <a:pt x="131" y="170"/>
                </a:lnTo>
                <a:lnTo>
                  <a:pt x="114" y="182"/>
                </a:lnTo>
                <a:lnTo>
                  <a:pt x="98" y="193"/>
                </a:lnTo>
                <a:lnTo>
                  <a:pt x="82" y="203"/>
                </a:lnTo>
                <a:lnTo>
                  <a:pt x="65" y="211"/>
                </a:lnTo>
                <a:lnTo>
                  <a:pt x="49" y="218"/>
                </a:lnTo>
                <a:lnTo>
                  <a:pt x="33" y="224"/>
                </a:lnTo>
                <a:lnTo>
                  <a:pt x="16" y="227"/>
                </a:lnTo>
                <a:lnTo>
                  <a:pt x="0" y="228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Freeform 86"/>
          <p:cNvSpPr/>
          <p:nvPr/>
        </p:nvSpPr>
        <p:spPr>
          <a:xfrm>
            <a:off x="2057400" y="3486150"/>
            <a:ext cx="3743325" cy="1657350"/>
          </a:xfrm>
          <a:custGeom>
            <a:avLst/>
            <a:gdLst/>
            <a:ahLst/>
            <a:cxnLst/>
            <a:rect l="l" t="t" r="r" b="b"/>
            <a:pathLst>
              <a:path w="393" h="174">
                <a:moveTo>
                  <a:pt x="0" y="171"/>
                </a:moveTo>
                <a:lnTo>
                  <a:pt x="16" y="170"/>
                </a:lnTo>
                <a:lnTo>
                  <a:pt x="33" y="168"/>
                </a:lnTo>
                <a:lnTo>
                  <a:pt x="49" y="164"/>
                </a:lnTo>
                <a:lnTo>
                  <a:pt x="65" y="158"/>
                </a:lnTo>
                <a:lnTo>
                  <a:pt x="82" y="152"/>
                </a:lnTo>
                <a:lnTo>
                  <a:pt x="98" y="144"/>
                </a:lnTo>
                <a:lnTo>
                  <a:pt x="114" y="136"/>
                </a:lnTo>
                <a:lnTo>
                  <a:pt x="131" y="127"/>
                </a:lnTo>
                <a:lnTo>
                  <a:pt x="147" y="117"/>
                </a:lnTo>
                <a:lnTo>
                  <a:pt x="164" y="107"/>
                </a:lnTo>
                <a:lnTo>
                  <a:pt x="180" y="96"/>
                </a:lnTo>
                <a:lnTo>
                  <a:pt x="196" y="86"/>
                </a:lnTo>
                <a:lnTo>
                  <a:pt x="213" y="75"/>
                </a:lnTo>
                <a:lnTo>
                  <a:pt x="229" y="64"/>
                </a:lnTo>
                <a:lnTo>
                  <a:pt x="246" y="54"/>
                </a:lnTo>
                <a:lnTo>
                  <a:pt x="262" y="44"/>
                </a:lnTo>
                <a:lnTo>
                  <a:pt x="278" y="35"/>
                </a:lnTo>
                <a:lnTo>
                  <a:pt x="295" y="27"/>
                </a:lnTo>
                <a:lnTo>
                  <a:pt x="311" y="19"/>
                </a:lnTo>
                <a:lnTo>
                  <a:pt x="327" y="13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6"/>
                </a:lnTo>
                <a:lnTo>
                  <a:pt x="344" y="10"/>
                </a:lnTo>
                <a:lnTo>
                  <a:pt x="327" y="16"/>
                </a:lnTo>
                <a:lnTo>
                  <a:pt x="311" y="22"/>
                </a:lnTo>
                <a:lnTo>
                  <a:pt x="295" y="30"/>
                </a:lnTo>
                <a:lnTo>
                  <a:pt x="278" y="38"/>
                </a:lnTo>
                <a:lnTo>
                  <a:pt x="262" y="47"/>
                </a:lnTo>
                <a:lnTo>
                  <a:pt x="246" y="57"/>
                </a:lnTo>
                <a:lnTo>
                  <a:pt x="229" y="67"/>
                </a:lnTo>
                <a:lnTo>
                  <a:pt x="213" y="78"/>
                </a:lnTo>
                <a:lnTo>
                  <a:pt x="196" y="89"/>
                </a:lnTo>
                <a:lnTo>
                  <a:pt x="180" y="99"/>
                </a:lnTo>
                <a:lnTo>
                  <a:pt x="164" y="110"/>
                </a:lnTo>
                <a:lnTo>
                  <a:pt x="147" y="120"/>
                </a:lnTo>
                <a:lnTo>
                  <a:pt x="131" y="130"/>
                </a:lnTo>
                <a:lnTo>
                  <a:pt x="114" y="139"/>
                </a:lnTo>
                <a:lnTo>
                  <a:pt x="98" y="148"/>
                </a:lnTo>
                <a:lnTo>
                  <a:pt x="82" y="155"/>
                </a:lnTo>
                <a:lnTo>
                  <a:pt x="65" y="162"/>
                </a:lnTo>
                <a:lnTo>
                  <a:pt x="49" y="167"/>
                </a:lnTo>
                <a:lnTo>
                  <a:pt x="33" y="171"/>
                </a:lnTo>
                <a:lnTo>
                  <a:pt x="16" y="173"/>
                </a:lnTo>
                <a:lnTo>
                  <a:pt x="0" y="174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Freeform 87"/>
          <p:cNvSpPr/>
          <p:nvPr/>
        </p:nvSpPr>
        <p:spPr>
          <a:xfrm>
            <a:off x="2057400" y="4038600"/>
            <a:ext cx="3743325" cy="1133475"/>
          </a:xfrm>
          <a:custGeom>
            <a:avLst/>
            <a:gdLst/>
            <a:ahLst/>
            <a:cxnLst/>
            <a:rect l="l" t="t" r="r" b="b"/>
            <a:pathLst>
              <a:path w="393" h="119">
                <a:moveTo>
                  <a:pt x="0" y="116"/>
                </a:moveTo>
                <a:lnTo>
                  <a:pt x="16" y="116"/>
                </a:lnTo>
                <a:lnTo>
                  <a:pt x="33" y="114"/>
                </a:lnTo>
                <a:lnTo>
                  <a:pt x="49" y="111"/>
                </a:lnTo>
                <a:lnTo>
                  <a:pt x="65" y="108"/>
                </a:lnTo>
                <a:lnTo>
                  <a:pt x="82" y="103"/>
                </a:lnTo>
                <a:lnTo>
                  <a:pt x="98" y="98"/>
                </a:lnTo>
                <a:lnTo>
                  <a:pt x="114" y="92"/>
                </a:lnTo>
                <a:lnTo>
                  <a:pt x="131" y="86"/>
                </a:lnTo>
                <a:lnTo>
                  <a:pt x="147" y="80"/>
                </a:lnTo>
                <a:lnTo>
                  <a:pt x="164" y="73"/>
                </a:lnTo>
                <a:lnTo>
                  <a:pt x="180" y="65"/>
                </a:lnTo>
                <a:lnTo>
                  <a:pt x="196" y="58"/>
                </a:lnTo>
                <a:lnTo>
                  <a:pt x="213" y="51"/>
                </a:lnTo>
                <a:lnTo>
                  <a:pt x="229" y="44"/>
                </a:lnTo>
                <a:lnTo>
                  <a:pt x="246" y="37"/>
                </a:lnTo>
                <a:lnTo>
                  <a:pt x="262" y="30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9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5"/>
                </a:lnTo>
                <a:lnTo>
                  <a:pt x="344" y="8"/>
                </a:lnTo>
                <a:lnTo>
                  <a:pt x="327" y="11"/>
                </a:lnTo>
                <a:lnTo>
                  <a:pt x="311" y="16"/>
                </a:lnTo>
                <a:lnTo>
                  <a:pt x="295" y="21"/>
                </a:lnTo>
                <a:lnTo>
                  <a:pt x="278" y="27"/>
                </a:lnTo>
                <a:lnTo>
                  <a:pt x="262" y="33"/>
                </a:lnTo>
                <a:lnTo>
                  <a:pt x="246" y="39"/>
                </a:lnTo>
                <a:lnTo>
                  <a:pt x="229" y="46"/>
                </a:lnTo>
                <a:lnTo>
                  <a:pt x="213" y="54"/>
                </a:lnTo>
                <a:lnTo>
                  <a:pt x="196" y="61"/>
                </a:lnTo>
                <a:lnTo>
                  <a:pt x="180" y="68"/>
                </a:lnTo>
                <a:lnTo>
                  <a:pt x="164" y="75"/>
                </a:lnTo>
                <a:lnTo>
                  <a:pt x="147" y="82"/>
                </a:lnTo>
                <a:lnTo>
                  <a:pt x="131" y="89"/>
                </a:lnTo>
                <a:lnTo>
                  <a:pt x="114" y="95"/>
                </a:lnTo>
                <a:lnTo>
                  <a:pt x="98" y="101"/>
                </a:lnTo>
                <a:lnTo>
                  <a:pt x="82" y="106"/>
                </a:lnTo>
                <a:lnTo>
                  <a:pt x="65" y="110"/>
                </a:lnTo>
                <a:lnTo>
                  <a:pt x="49" y="114"/>
                </a:lnTo>
                <a:lnTo>
                  <a:pt x="33" y="117"/>
                </a:lnTo>
                <a:lnTo>
                  <a:pt x="16" y="118"/>
                </a:lnTo>
                <a:lnTo>
                  <a:pt x="0" y="119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Freeform 88"/>
          <p:cNvSpPr/>
          <p:nvPr/>
        </p:nvSpPr>
        <p:spPr>
          <a:xfrm>
            <a:off x="2057400" y="4591050"/>
            <a:ext cx="3743325" cy="609600"/>
          </a:xfrm>
          <a:custGeom>
            <a:avLst/>
            <a:gdLst/>
            <a:ahLst/>
            <a:cxnLst/>
            <a:rect l="l" t="t" r="r" b="b"/>
            <a:pathLst>
              <a:path w="393" h="64">
                <a:moveTo>
                  <a:pt x="0" y="61"/>
                </a:moveTo>
                <a:lnTo>
                  <a:pt x="16" y="61"/>
                </a:lnTo>
                <a:lnTo>
                  <a:pt x="33" y="60"/>
                </a:lnTo>
                <a:lnTo>
                  <a:pt x="49" y="58"/>
                </a:lnTo>
                <a:lnTo>
                  <a:pt x="65" y="56"/>
                </a:lnTo>
                <a:lnTo>
                  <a:pt x="82" y="54"/>
                </a:lnTo>
                <a:lnTo>
                  <a:pt x="98" y="51"/>
                </a:lnTo>
                <a:lnTo>
                  <a:pt x="114" y="48"/>
                </a:lnTo>
                <a:lnTo>
                  <a:pt x="131" y="45"/>
                </a:lnTo>
                <a:lnTo>
                  <a:pt x="147" y="41"/>
                </a:lnTo>
                <a:lnTo>
                  <a:pt x="164" y="38"/>
                </a:lnTo>
                <a:lnTo>
                  <a:pt x="180" y="34"/>
                </a:lnTo>
                <a:lnTo>
                  <a:pt x="196" y="30"/>
                </a:lnTo>
                <a:lnTo>
                  <a:pt x="213" y="26"/>
                </a:lnTo>
                <a:lnTo>
                  <a:pt x="229" y="23"/>
                </a:lnTo>
                <a:lnTo>
                  <a:pt x="246" y="19"/>
                </a:lnTo>
                <a:lnTo>
                  <a:pt x="262" y="16"/>
                </a:lnTo>
                <a:lnTo>
                  <a:pt x="278" y="12"/>
                </a:lnTo>
                <a:lnTo>
                  <a:pt x="295" y="9"/>
                </a:lnTo>
                <a:lnTo>
                  <a:pt x="311" y="7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4"/>
                </a:lnTo>
                <a:lnTo>
                  <a:pt x="344" y="5"/>
                </a:lnTo>
                <a:lnTo>
                  <a:pt x="327" y="7"/>
                </a:lnTo>
                <a:lnTo>
                  <a:pt x="311" y="9"/>
                </a:lnTo>
                <a:lnTo>
                  <a:pt x="295" y="12"/>
                </a:lnTo>
                <a:lnTo>
                  <a:pt x="278" y="15"/>
                </a:lnTo>
                <a:lnTo>
                  <a:pt x="262" y="18"/>
                </a:lnTo>
                <a:lnTo>
                  <a:pt x="246" y="22"/>
                </a:lnTo>
                <a:lnTo>
                  <a:pt x="229" y="26"/>
                </a:lnTo>
                <a:lnTo>
                  <a:pt x="213" y="29"/>
                </a:lnTo>
                <a:lnTo>
                  <a:pt x="196" y="33"/>
                </a:lnTo>
                <a:lnTo>
                  <a:pt x="180" y="37"/>
                </a:lnTo>
                <a:lnTo>
                  <a:pt x="164" y="41"/>
                </a:lnTo>
                <a:lnTo>
                  <a:pt x="147" y="44"/>
                </a:lnTo>
                <a:lnTo>
                  <a:pt x="131" y="48"/>
                </a:lnTo>
                <a:lnTo>
                  <a:pt x="114" y="51"/>
                </a:lnTo>
                <a:lnTo>
                  <a:pt x="98" y="54"/>
                </a:lnTo>
                <a:lnTo>
                  <a:pt x="82" y="57"/>
                </a:lnTo>
                <a:lnTo>
                  <a:pt x="65" y="59"/>
                </a:lnTo>
                <a:lnTo>
                  <a:pt x="49" y="61"/>
                </a:lnTo>
                <a:lnTo>
                  <a:pt x="33" y="63"/>
                </a:lnTo>
                <a:lnTo>
                  <a:pt x="1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Freeform 89"/>
          <p:cNvSpPr/>
          <p:nvPr/>
        </p:nvSpPr>
        <p:spPr>
          <a:xfrm>
            <a:off x="2057400" y="5133975"/>
            <a:ext cx="3743325" cy="95250"/>
          </a:xfrm>
          <a:custGeom>
            <a:avLst/>
            <a:gdLst/>
            <a:ahLst/>
            <a:cxnLst/>
            <a:rect l="l" t="t" r="r" b="b"/>
            <a:pathLst>
              <a:path w="393" h="10">
                <a:moveTo>
                  <a:pt x="0" y="7"/>
                </a:moveTo>
                <a:lnTo>
                  <a:pt x="16" y="7"/>
                </a:lnTo>
                <a:lnTo>
                  <a:pt x="33" y="7"/>
                </a:lnTo>
                <a:lnTo>
                  <a:pt x="49" y="7"/>
                </a:lnTo>
                <a:lnTo>
                  <a:pt x="65" y="6"/>
                </a:lnTo>
                <a:lnTo>
                  <a:pt x="82" y="6"/>
                </a:lnTo>
                <a:lnTo>
                  <a:pt x="98" y="6"/>
                </a:lnTo>
                <a:lnTo>
                  <a:pt x="114" y="5"/>
                </a:lnTo>
                <a:lnTo>
                  <a:pt x="131" y="5"/>
                </a:lnTo>
                <a:lnTo>
                  <a:pt x="147" y="5"/>
                </a:lnTo>
                <a:lnTo>
                  <a:pt x="164" y="4"/>
                </a:lnTo>
                <a:lnTo>
                  <a:pt x="180" y="4"/>
                </a:lnTo>
                <a:lnTo>
                  <a:pt x="196" y="3"/>
                </a:lnTo>
                <a:lnTo>
                  <a:pt x="213" y="3"/>
                </a:lnTo>
                <a:lnTo>
                  <a:pt x="229" y="3"/>
                </a:lnTo>
                <a:lnTo>
                  <a:pt x="246" y="2"/>
                </a:lnTo>
                <a:lnTo>
                  <a:pt x="262" y="2"/>
                </a:lnTo>
                <a:lnTo>
                  <a:pt x="278" y="1"/>
                </a:lnTo>
                <a:lnTo>
                  <a:pt x="295" y="1"/>
                </a:lnTo>
                <a:lnTo>
                  <a:pt x="311" y="1"/>
                </a:lnTo>
                <a:lnTo>
                  <a:pt x="327" y="1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3"/>
                </a:lnTo>
                <a:lnTo>
                  <a:pt x="344" y="3"/>
                </a:lnTo>
                <a:lnTo>
                  <a:pt x="327" y="4"/>
                </a:lnTo>
                <a:lnTo>
                  <a:pt x="311" y="4"/>
                </a:lnTo>
                <a:lnTo>
                  <a:pt x="295" y="4"/>
                </a:lnTo>
                <a:lnTo>
                  <a:pt x="278" y="5"/>
                </a:lnTo>
                <a:lnTo>
                  <a:pt x="262" y="5"/>
                </a:lnTo>
                <a:lnTo>
                  <a:pt x="246" y="5"/>
                </a:lnTo>
                <a:lnTo>
                  <a:pt x="229" y="6"/>
                </a:lnTo>
                <a:lnTo>
                  <a:pt x="213" y="6"/>
                </a:lnTo>
                <a:lnTo>
                  <a:pt x="196" y="7"/>
                </a:lnTo>
                <a:lnTo>
                  <a:pt x="180" y="7"/>
                </a:lnTo>
                <a:lnTo>
                  <a:pt x="164" y="7"/>
                </a:lnTo>
                <a:lnTo>
                  <a:pt x="147" y="8"/>
                </a:lnTo>
                <a:lnTo>
                  <a:pt x="131" y="8"/>
                </a:lnTo>
                <a:lnTo>
                  <a:pt x="114" y="9"/>
                </a:lnTo>
                <a:lnTo>
                  <a:pt x="98" y="9"/>
                </a:lnTo>
                <a:lnTo>
                  <a:pt x="82" y="9"/>
                </a:lnTo>
                <a:lnTo>
                  <a:pt x="65" y="9"/>
                </a:lnTo>
                <a:lnTo>
                  <a:pt x="49" y="10"/>
                </a:lnTo>
                <a:lnTo>
                  <a:pt x="33" y="10"/>
                </a:lnTo>
                <a:lnTo>
                  <a:pt x="1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Freeform 90"/>
          <p:cNvSpPr/>
          <p:nvPr/>
        </p:nvSpPr>
        <p:spPr>
          <a:xfrm>
            <a:off x="2057400" y="5229225"/>
            <a:ext cx="3743325" cy="485775"/>
          </a:xfrm>
          <a:custGeom>
            <a:avLst/>
            <a:gdLst/>
            <a:ahLst/>
            <a:cxnLst/>
            <a:rect l="l" t="t" r="r" b="b"/>
            <a:pathLst>
              <a:path w="393" h="51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10"/>
                </a:lnTo>
                <a:lnTo>
                  <a:pt x="131" y="12"/>
                </a:lnTo>
                <a:lnTo>
                  <a:pt x="147" y="15"/>
                </a:lnTo>
                <a:lnTo>
                  <a:pt x="164" y="18"/>
                </a:lnTo>
                <a:lnTo>
                  <a:pt x="180" y="21"/>
                </a:lnTo>
                <a:lnTo>
                  <a:pt x="196" y="24"/>
                </a:lnTo>
                <a:lnTo>
                  <a:pt x="213" y="27"/>
                </a:lnTo>
                <a:lnTo>
                  <a:pt x="229" y="30"/>
                </a:lnTo>
                <a:lnTo>
                  <a:pt x="246" y="33"/>
                </a:lnTo>
                <a:lnTo>
                  <a:pt x="262" y="35"/>
                </a:lnTo>
                <a:lnTo>
                  <a:pt x="278" y="38"/>
                </a:lnTo>
                <a:lnTo>
                  <a:pt x="295" y="40"/>
                </a:lnTo>
                <a:lnTo>
                  <a:pt x="311" y="43"/>
                </a:lnTo>
                <a:lnTo>
                  <a:pt x="327" y="44"/>
                </a:lnTo>
                <a:lnTo>
                  <a:pt x="344" y="46"/>
                </a:lnTo>
                <a:lnTo>
                  <a:pt x="360" y="47"/>
                </a:lnTo>
                <a:lnTo>
                  <a:pt x="377" y="48"/>
                </a:lnTo>
                <a:lnTo>
                  <a:pt x="393" y="48"/>
                </a:lnTo>
                <a:lnTo>
                  <a:pt x="393" y="51"/>
                </a:lnTo>
                <a:lnTo>
                  <a:pt x="377" y="50"/>
                </a:lnTo>
                <a:lnTo>
                  <a:pt x="360" y="50"/>
                </a:lnTo>
                <a:lnTo>
                  <a:pt x="344" y="49"/>
                </a:lnTo>
                <a:lnTo>
                  <a:pt x="327" y="47"/>
                </a:lnTo>
                <a:lnTo>
                  <a:pt x="311" y="45"/>
                </a:lnTo>
                <a:lnTo>
                  <a:pt x="295" y="43"/>
                </a:lnTo>
                <a:lnTo>
                  <a:pt x="278" y="41"/>
                </a:lnTo>
                <a:lnTo>
                  <a:pt x="262" y="38"/>
                </a:lnTo>
                <a:lnTo>
                  <a:pt x="246" y="35"/>
                </a:lnTo>
                <a:lnTo>
                  <a:pt x="229" y="33"/>
                </a:lnTo>
                <a:lnTo>
                  <a:pt x="213" y="30"/>
                </a:lnTo>
                <a:lnTo>
                  <a:pt x="196" y="27"/>
                </a:lnTo>
                <a:lnTo>
                  <a:pt x="180" y="24"/>
                </a:lnTo>
                <a:lnTo>
                  <a:pt x="164" y="21"/>
                </a:lnTo>
                <a:lnTo>
                  <a:pt x="147" y="18"/>
                </a:lnTo>
                <a:lnTo>
                  <a:pt x="131" y="15"/>
                </a:lnTo>
                <a:lnTo>
                  <a:pt x="114" y="13"/>
                </a:lnTo>
                <a:lnTo>
                  <a:pt x="98" y="10"/>
                </a:lnTo>
                <a:lnTo>
                  <a:pt x="82" y="8"/>
                </a:lnTo>
                <a:lnTo>
                  <a:pt x="65" y="6"/>
                </a:lnTo>
                <a:lnTo>
                  <a:pt x="49" y="5"/>
                </a:lnTo>
                <a:lnTo>
                  <a:pt x="33" y="4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Freeform 91"/>
          <p:cNvSpPr/>
          <p:nvPr/>
        </p:nvSpPr>
        <p:spPr>
          <a:xfrm>
            <a:off x="2057400" y="5257800"/>
            <a:ext cx="3743325" cy="1000125"/>
          </a:xfrm>
          <a:custGeom>
            <a:avLst/>
            <a:gdLst/>
            <a:ahLst/>
            <a:cxnLst/>
            <a:rect l="l" t="t" r="r" b="b"/>
            <a:pathLst>
              <a:path w="393" h="105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6"/>
                </a:lnTo>
                <a:lnTo>
                  <a:pt x="114" y="21"/>
                </a:lnTo>
                <a:lnTo>
                  <a:pt x="131" y="26"/>
                </a:lnTo>
                <a:lnTo>
                  <a:pt x="147" y="32"/>
                </a:lnTo>
                <a:lnTo>
                  <a:pt x="164" y="38"/>
                </a:lnTo>
                <a:lnTo>
                  <a:pt x="180" y="44"/>
                </a:lnTo>
                <a:lnTo>
                  <a:pt x="196" y="51"/>
                </a:lnTo>
                <a:lnTo>
                  <a:pt x="213" y="57"/>
                </a:lnTo>
                <a:lnTo>
                  <a:pt x="229" y="63"/>
                </a:lnTo>
                <a:lnTo>
                  <a:pt x="246" y="70"/>
                </a:lnTo>
                <a:lnTo>
                  <a:pt x="262" y="75"/>
                </a:lnTo>
                <a:lnTo>
                  <a:pt x="278" y="81"/>
                </a:lnTo>
                <a:lnTo>
                  <a:pt x="295" y="86"/>
                </a:lnTo>
                <a:lnTo>
                  <a:pt x="311" y="91"/>
                </a:lnTo>
                <a:lnTo>
                  <a:pt x="327" y="94"/>
                </a:lnTo>
                <a:lnTo>
                  <a:pt x="344" y="98"/>
                </a:lnTo>
                <a:lnTo>
                  <a:pt x="360" y="100"/>
                </a:lnTo>
                <a:lnTo>
                  <a:pt x="377" y="101"/>
                </a:lnTo>
                <a:lnTo>
                  <a:pt x="393" y="102"/>
                </a:lnTo>
                <a:lnTo>
                  <a:pt x="393" y="105"/>
                </a:lnTo>
                <a:lnTo>
                  <a:pt x="377" y="104"/>
                </a:lnTo>
                <a:lnTo>
                  <a:pt x="360" y="103"/>
                </a:lnTo>
                <a:lnTo>
                  <a:pt x="344" y="101"/>
                </a:lnTo>
                <a:lnTo>
                  <a:pt x="327" y="97"/>
                </a:lnTo>
                <a:lnTo>
                  <a:pt x="311" y="93"/>
                </a:lnTo>
                <a:lnTo>
                  <a:pt x="295" y="89"/>
                </a:lnTo>
                <a:lnTo>
                  <a:pt x="278" y="84"/>
                </a:lnTo>
                <a:lnTo>
                  <a:pt x="262" y="78"/>
                </a:lnTo>
                <a:lnTo>
                  <a:pt x="246" y="73"/>
                </a:lnTo>
                <a:lnTo>
                  <a:pt x="229" y="66"/>
                </a:lnTo>
                <a:lnTo>
                  <a:pt x="213" y="60"/>
                </a:lnTo>
                <a:lnTo>
                  <a:pt x="196" y="54"/>
                </a:lnTo>
                <a:lnTo>
                  <a:pt x="180" y="47"/>
                </a:lnTo>
                <a:lnTo>
                  <a:pt x="164" y="41"/>
                </a:lnTo>
                <a:lnTo>
                  <a:pt x="147" y="35"/>
                </a:lnTo>
                <a:lnTo>
                  <a:pt x="131" y="29"/>
                </a:lnTo>
                <a:lnTo>
                  <a:pt x="114" y="24"/>
                </a:lnTo>
                <a:lnTo>
                  <a:pt x="98" y="19"/>
                </a:lnTo>
                <a:lnTo>
                  <a:pt x="82" y="14"/>
                </a:lnTo>
                <a:lnTo>
                  <a:pt x="65" y="10"/>
                </a:lnTo>
                <a:lnTo>
                  <a:pt x="49" y="7"/>
                </a:lnTo>
                <a:lnTo>
                  <a:pt x="33" y="5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Freeform 92"/>
          <p:cNvSpPr/>
          <p:nvPr/>
        </p:nvSpPr>
        <p:spPr>
          <a:xfrm>
            <a:off x="2057400" y="1866900"/>
            <a:ext cx="3743325" cy="3495675"/>
          </a:xfrm>
          <a:custGeom>
            <a:avLst/>
            <a:gdLst/>
            <a:ahLst/>
            <a:cxnLst/>
            <a:rect l="l" t="t" r="r" b="b"/>
            <a:pathLst>
              <a:path w="393" h="367">
                <a:moveTo>
                  <a:pt x="0" y="365"/>
                </a:moveTo>
                <a:lnTo>
                  <a:pt x="16" y="363"/>
                </a:lnTo>
                <a:lnTo>
                  <a:pt x="33" y="357"/>
                </a:lnTo>
                <a:lnTo>
                  <a:pt x="49" y="349"/>
                </a:lnTo>
                <a:lnTo>
                  <a:pt x="65" y="338"/>
                </a:lnTo>
                <a:lnTo>
                  <a:pt x="82" y="324"/>
                </a:lnTo>
                <a:lnTo>
                  <a:pt x="98" y="308"/>
                </a:lnTo>
                <a:lnTo>
                  <a:pt x="114" y="290"/>
                </a:lnTo>
                <a:lnTo>
                  <a:pt x="131" y="270"/>
                </a:lnTo>
                <a:lnTo>
                  <a:pt x="147" y="249"/>
                </a:lnTo>
                <a:lnTo>
                  <a:pt x="164" y="228"/>
                </a:lnTo>
                <a:lnTo>
                  <a:pt x="180" y="205"/>
                </a:lnTo>
                <a:lnTo>
                  <a:pt x="196" y="182"/>
                </a:lnTo>
                <a:lnTo>
                  <a:pt x="213" y="160"/>
                </a:lnTo>
                <a:lnTo>
                  <a:pt x="229" y="137"/>
                </a:lnTo>
                <a:lnTo>
                  <a:pt x="246" y="116"/>
                </a:lnTo>
                <a:lnTo>
                  <a:pt x="262" y="95"/>
                </a:lnTo>
                <a:lnTo>
                  <a:pt x="278" y="75"/>
                </a:lnTo>
                <a:lnTo>
                  <a:pt x="295" y="57"/>
                </a:lnTo>
                <a:lnTo>
                  <a:pt x="311" y="41"/>
                </a:lnTo>
                <a:lnTo>
                  <a:pt x="327" y="27"/>
                </a:lnTo>
                <a:lnTo>
                  <a:pt x="344" y="16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0"/>
                </a:lnTo>
                <a:lnTo>
                  <a:pt x="344" y="19"/>
                </a:lnTo>
                <a:lnTo>
                  <a:pt x="327" y="30"/>
                </a:lnTo>
                <a:lnTo>
                  <a:pt x="311" y="44"/>
                </a:lnTo>
                <a:lnTo>
                  <a:pt x="295" y="60"/>
                </a:lnTo>
                <a:lnTo>
                  <a:pt x="278" y="78"/>
                </a:lnTo>
                <a:lnTo>
                  <a:pt x="262" y="97"/>
                </a:lnTo>
                <a:lnTo>
                  <a:pt x="246" y="118"/>
                </a:lnTo>
                <a:lnTo>
                  <a:pt x="229" y="140"/>
                </a:lnTo>
                <a:lnTo>
                  <a:pt x="213" y="162"/>
                </a:lnTo>
                <a:lnTo>
                  <a:pt x="196" y="185"/>
                </a:lnTo>
                <a:lnTo>
                  <a:pt x="180" y="208"/>
                </a:lnTo>
                <a:lnTo>
                  <a:pt x="164" y="230"/>
                </a:lnTo>
                <a:lnTo>
                  <a:pt x="147" y="252"/>
                </a:lnTo>
                <a:lnTo>
                  <a:pt x="131" y="273"/>
                </a:lnTo>
                <a:lnTo>
                  <a:pt x="114" y="292"/>
                </a:lnTo>
                <a:lnTo>
                  <a:pt x="98" y="310"/>
                </a:lnTo>
                <a:lnTo>
                  <a:pt x="82" y="326"/>
                </a:lnTo>
                <a:lnTo>
                  <a:pt x="65" y="340"/>
                </a:lnTo>
                <a:lnTo>
                  <a:pt x="49" y="352"/>
                </a:lnTo>
                <a:lnTo>
                  <a:pt x="33" y="360"/>
                </a:lnTo>
                <a:lnTo>
                  <a:pt x="16" y="365"/>
                </a:lnTo>
                <a:lnTo>
                  <a:pt x="0" y="367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Freeform 93"/>
          <p:cNvSpPr/>
          <p:nvPr/>
        </p:nvSpPr>
        <p:spPr>
          <a:xfrm>
            <a:off x="2057400" y="2419350"/>
            <a:ext cx="3743325" cy="2971800"/>
          </a:xfrm>
          <a:custGeom>
            <a:avLst/>
            <a:gdLst/>
            <a:ahLst/>
            <a:cxnLst/>
            <a:rect l="l" t="t" r="r" b="b"/>
            <a:pathLst>
              <a:path w="393" h="312">
                <a:moveTo>
                  <a:pt x="0" y="309"/>
                </a:moveTo>
                <a:lnTo>
                  <a:pt x="16" y="308"/>
                </a:lnTo>
                <a:lnTo>
                  <a:pt x="33" y="303"/>
                </a:lnTo>
                <a:lnTo>
                  <a:pt x="49" y="296"/>
                </a:lnTo>
                <a:lnTo>
                  <a:pt x="65" y="286"/>
                </a:lnTo>
                <a:lnTo>
                  <a:pt x="82" y="275"/>
                </a:lnTo>
                <a:lnTo>
                  <a:pt x="98" y="261"/>
                </a:lnTo>
                <a:lnTo>
                  <a:pt x="114" y="246"/>
                </a:lnTo>
                <a:lnTo>
                  <a:pt x="131" y="229"/>
                </a:lnTo>
                <a:lnTo>
                  <a:pt x="147" y="211"/>
                </a:lnTo>
                <a:lnTo>
                  <a:pt x="164" y="193"/>
                </a:lnTo>
                <a:lnTo>
                  <a:pt x="180" y="174"/>
                </a:lnTo>
                <a:lnTo>
                  <a:pt x="196" y="155"/>
                </a:lnTo>
                <a:lnTo>
                  <a:pt x="213" y="135"/>
                </a:lnTo>
                <a:lnTo>
                  <a:pt x="229" y="116"/>
                </a:lnTo>
                <a:lnTo>
                  <a:pt x="246" y="98"/>
                </a:lnTo>
                <a:lnTo>
                  <a:pt x="262" y="80"/>
                </a:lnTo>
                <a:lnTo>
                  <a:pt x="278" y="63"/>
                </a:lnTo>
                <a:lnTo>
                  <a:pt x="295" y="48"/>
                </a:lnTo>
                <a:lnTo>
                  <a:pt x="311" y="35"/>
                </a:lnTo>
                <a:lnTo>
                  <a:pt x="327" y="23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9"/>
                </a:lnTo>
                <a:lnTo>
                  <a:pt x="344" y="16"/>
                </a:lnTo>
                <a:lnTo>
                  <a:pt x="327" y="25"/>
                </a:lnTo>
                <a:lnTo>
                  <a:pt x="311" y="37"/>
                </a:lnTo>
                <a:lnTo>
                  <a:pt x="295" y="51"/>
                </a:lnTo>
                <a:lnTo>
                  <a:pt x="278" y="66"/>
                </a:lnTo>
                <a:lnTo>
                  <a:pt x="262" y="83"/>
                </a:lnTo>
                <a:lnTo>
                  <a:pt x="246" y="100"/>
                </a:lnTo>
                <a:lnTo>
                  <a:pt x="229" y="119"/>
                </a:lnTo>
                <a:lnTo>
                  <a:pt x="213" y="138"/>
                </a:lnTo>
                <a:lnTo>
                  <a:pt x="196" y="157"/>
                </a:lnTo>
                <a:lnTo>
                  <a:pt x="180" y="176"/>
                </a:lnTo>
                <a:lnTo>
                  <a:pt x="164" y="195"/>
                </a:lnTo>
                <a:lnTo>
                  <a:pt x="147" y="214"/>
                </a:lnTo>
                <a:lnTo>
                  <a:pt x="131" y="232"/>
                </a:lnTo>
                <a:lnTo>
                  <a:pt x="114" y="248"/>
                </a:lnTo>
                <a:lnTo>
                  <a:pt x="98" y="264"/>
                </a:lnTo>
                <a:lnTo>
                  <a:pt x="82" y="277"/>
                </a:lnTo>
                <a:lnTo>
                  <a:pt x="65" y="289"/>
                </a:lnTo>
                <a:lnTo>
                  <a:pt x="49" y="299"/>
                </a:lnTo>
                <a:lnTo>
                  <a:pt x="33" y="306"/>
                </a:lnTo>
                <a:lnTo>
                  <a:pt x="16" y="310"/>
                </a:lnTo>
                <a:lnTo>
                  <a:pt x="0" y="312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Freeform 94"/>
          <p:cNvSpPr/>
          <p:nvPr/>
        </p:nvSpPr>
        <p:spPr>
          <a:xfrm>
            <a:off x="2057400" y="2962275"/>
            <a:ext cx="3743325" cy="2457450"/>
          </a:xfrm>
          <a:custGeom>
            <a:avLst/>
            <a:gdLst/>
            <a:ahLst/>
            <a:cxnLst/>
            <a:rect l="l" t="t" r="r" b="b"/>
            <a:pathLst>
              <a:path w="393" h="258">
                <a:moveTo>
                  <a:pt x="0" y="255"/>
                </a:moveTo>
                <a:lnTo>
                  <a:pt x="16" y="254"/>
                </a:lnTo>
                <a:lnTo>
                  <a:pt x="33" y="250"/>
                </a:lnTo>
                <a:lnTo>
                  <a:pt x="49" y="244"/>
                </a:lnTo>
                <a:lnTo>
                  <a:pt x="65" y="236"/>
                </a:lnTo>
                <a:lnTo>
                  <a:pt x="82" y="226"/>
                </a:lnTo>
                <a:lnTo>
                  <a:pt x="98" y="215"/>
                </a:lnTo>
                <a:lnTo>
                  <a:pt x="114" y="203"/>
                </a:lnTo>
                <a:lnTo>
                  <a:pt x="131" y="189"/>
                </a:lnTo>
                <a:lnTo>
                  <a:pt x="147" y="174"/>
                </a:lnTo>
                <a:lnTo>
                  <a:pt x="164" y="159"/>
                </a:lnTo>
                <a:lnTo>
                  <a:pt x="180" y="143"/>
                </a:lnTo>
                <a:lnTo>
                  <a:pt x="196" y="128"/>
                </a:lnTo>
                <a:lnTo>
                  <a:pt x="213" y="112"/>
                </a:lnTo>
                <a:lnTo>
                  <a:pt x="229" y="96"/>
                </a:lnTo>
                <a:lnTo>
                  <a:pt x="246" y="81"/>
                </a:lnTo>
                <a:lnTo>
                  <a:pt x="262" y="66"/>
                </a:lnTo>
                <a:lnTo>
                  <a:pt x="278" y="53"/>
                </a:lnTo>
                <a:lnTo>
                  <a:pt x="295" y="40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4"/>
                </a:lnTo>
                <a:lnTo>
                  <a:pt x="327" y="22"/>
                </a:lnTo>
                <a:lnTo>
                  <a:pt x="311" y="32"/>
                </a:lnTo>
                <a:lnTo>
                  <a:pt x="295" y="43"/>
                </a:lnTo>
                <a:lnTo>
                  <a:pt x="278" y="55"/>
                </a:lnTo>
                <a:lnTo>
                  <a:pt x="262" y="69"/>
                </a:lnTo>
                <a:lnTo>
                  <a:pt x="246" y="84"/>
                </a:lnTo>
                <a:lnTo>
                  <a:pt x="229" y="99"/>
                </a:lnTo>
                <a:lnTo>
                  <a:pt x="213" y="114"/>
                </a:lnTo>
                <a:lnTo>
                  <a:pt x="196" y="130"/>
                </a:lnTo>
                <a:lnTo>
                  <a:pt x="180" y="146"/>
                </a:lnTo>
                <a:lnTo>
                  <a:pt x="164" y="162"/>
                </a:lnTo>
                <a:lnTo>
                  <a:pt x="147" y="177"/>
                </a:lnTo>
                <a:lnTo>
                  <a:pt x="131" y="192"/>
                </a:lnTo>
                <a:lnTo>
                  <a:pt x="114" y="205"/>
                </a:lnTo>
                <a:lnTo>
                  <a:pt x="98" y="218"/>
                </a:lnTo>
                <a:lnTo>
                  <a:pt x="82" y="229"/>
                </a:lnTo>
                <a:lnTo>
                  <a:pt x="65" y="239"/>
                </a:lnTo>
                <a:lnTo>
                  <a:pt x="49" y="247"/>
                </a:lnTo>
                <a:lnTo>
                  <a:pt x="33" y="253"/>
                </a:lnTo>
                <a:lnTo>
                  <a:pt x="16" y="256"/>
                </a:lnTo>
                <a:lnTo>
                  <a:pt x="0" y="258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2057400" y="3514725"/>
            <a:ext cx="3743325" cy="1924050"/>
          </a:xfrm>
          <a:custGeom>
            <a:avLst/>
            <a:gdLst/>
            <a:ahLst/>
            <a:cxnLst/>
            <a:rect l="l" t="t" r="r" b="b"/>
            <a:pathLst>
              <a:path w="393" h="202">
                <a:moveTo>
                  <a:pt x="0" y="200"/>
                </a:moveTo>
                <a:lnTo>
                  <a:pt x="16" y="199"/>
                </a:lnTo>
                <a:lnTo>
                  <a:pt x="33" y="196"/>
                </a:lnTo>
                <a:lnTo>
                  <a:pt x="49" y="191"/>
                </a:lnTo>
                <a:lnTo>
                  <a:pt x="65" y="185"/>
                </a:lnTo>
                <a:lnTo>
                  <a:pt x="82" y="177"/>
                </a:lnTo>
                <a:lnTo>
                  <a:pt x="98" y="168"/>
                </a:lnTo>
                <a:lnTo>
                  <a:pt x="114" y="159"/>
                </a:lnTo>
                <a:lnTo>
                  <a:pt x="131" y="148"/>
                </a:lnTo>
                <a:lnTo>
                  <a:pt x="147" y="136"/>
                </a:lnTo>
                <a:lnTo>
                  <a:pt x="164" y="124"/>
                </a:lnTo>
                <a:lnTo>
                  <a:pt x="180" y="112"/>
                </a:lnTo>
                <a:lnTo>
                  <a:pt x="196" y="100"/>
                </a:lnTo>
                <a:lnTo>
                  <a:pt x="213" y="87"/>
                </a:lnTo>
                <a:lnTo>
                  <a:pt x="229" y="75"/>
                </a:lnTo>
                <a:lnTo>
                  <a:pt x="246" y="63"/>
                </a:lnTo>
                <a:lnTo>
                  <a:pt x="262" y="52"/>
                </a:lnTo>
                <a:lnTo>
                  <a:pt x="278" y="41"/>
                </a:lnTo>
                <a:lnTo>
                  <a:pt x="295" y="31"/>
                </a:lnTo>
                <a:lnTo>
                  <a:pt x="311" y="22"/>
                </a:lnTo>
                <a:lnTo>
                  <a:pt x="327" y="15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7"/>
                </a:lnTo>
                <a:lnTo>
                  <a:pt x="344" y="11"/>
                </a:lnTo>
                <a:lnTo>
                  <a:pt x="327" y="18"/>
                </a:lnTo>
                <a:lnTo>
                  <a:pt x="311" y="25"/>
                </a:lnTo>
                <a:lnTo>
                  <a:pt x="295" y="34"/>
                </a:lnTo>
                <a:lnTo>
                  <a:pt x="278" y="44"/>
                </a:lnTo>
                <a:lnTo>
                  <a:pt x="262" y="54"/>
                </a:lnTo>
                <a:lnTo>
                  <a:pt x="246" y="66"/>
                </a:lnTo>
                <a:lnTo>
                  <a:pt x="229" y="78"/>
                </a:lnTo>
                <a:lnTo>
                  <a:pt x="213" y="90"/>
                </a:lnTo>
                <a:lnTo>
                  <a:pt x="196" y="102"/>
                </a:lnTo>
                <a:lnTo>
                  <a:pt x="180" y="115"/>
                </a:lnTo>
                <a:lnTo>
                  <a:pt x="164" y="127"/>
                </a:lnTo>
                <a:lnTo>
                  <a:pt x="147" y="139"/>
                </a:lnTo>
                <a:lnTo>
                  <a:pt x="131" y="150"/>
                </a:lnTo>
                <a:lnTo>
                  <a:pt x="114" y="161"/>
                </a:lnTo>
                <a:lnTo>
                  <a:pt x="98" y="171"/>
                </a:lnTo>
                <a:lnTo>
                  <a:pt x="82" y="180"/>
                </a:lnTo>
                <a:lnTo>
                  <a:pt x="65" y="187"/>
                </a:lnTo>
                <a:lnTo>
                  <a:pt x="49" y="194"/>
                </a:lnTo>
                <a:lnTo>
                  <a:pt x="33" y="198"/>
                </a:lnTo>
                <a:lnTo>
                  <a:pt x="16" y="201"/>
                </a:lnTo>
                <a:lnTo>
                  <a:pt x="0" y="202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Freeform 96"/>
          <p:cNvSpPr/>
          <p:nvPr/>
        </p:nvSpPr>
        <p:spPr>
          <a:xfrm>
            <a:off x="2057400" y="4067175"/>
            <a:ext cx="3743325" cy="1400175"/>
          </a:xfrm>
          <a:custGeom>
            <a:avLst/>
            <a:gdLst/>
            <a:ahLst/>
            <a:cxnLst/>
            <a:rect l="l" t="t" r="r" b="b"/>
            <a:pathLst>
              <a:path w="393" h="147">
                <a:moveTo>
                  <a:pt x="0" y="144"/>
                </a:moveTo>
                <a:lnTo>
                  <a:pt x="16" y="143"/>
                </a:lnTo>
                <a:lnTo>
                  <a:pt x="33" y="141"/>
                </a:lnTo>
                <a:lnTo>
                  <a:pt x="49" y="138"/>
                </a:lnTo>
                <a:lnTo>
                  <a:pt x="65" y="134"/>
                </a:lnTo>
                <a:lnTo>
                  <a:pt x="82" y="128"/>
                </a:lnTo>
                <a:lnTo>
                  <a:pt x="98" y="122"/>
                </a:lnTo>
                <a:lnTo>
                  <a:pt x="114" y="115"/>
                </a:lnTo>
                <a:lnTo>
                  <a:pt x="131" y="107"/>
                </a:lnTo>
                <a:lnTo>
                  <a:pt x="147" y="98"/>
                </a:lnTo>
                <a:lnTo>
                  <a:pt x="164" y="90"/>
                </a:lnTo>
                <a:lnTo>
                  <a:pt x="180" y="81"/>
                </a:lnTo>
                <a:lnTo>
                  <a:pt x="196" y="72"/>
                </a:lnTo>
                <a:lnTo>
                  <a:pt x="213" y="63"/>
                </a:lnTo>
                <a:lnTo>
                  <a:pt x="229" y="54"/>
                </a:lnTo>
                <a:lnTo>
                  <a:pt x="246" y="45"/>
                </a:lnTo>
                <a:lnTo>
                  <a:pt x="262" y="37"/>
                </a:lnTo>
                <a:lnTo>
                  <a:pt x="278" y="29"/>
                </a:lnTo>
                <a:lnTo>
                  <a:pt x="295" y="22"/>
                </a:lnTo>
                <a:lnTo>
                  <a:pt x="311" y="16"/>
                </a:lnTo>
                <a:lnTo>
                  <a:pt x="327" y="10"/>
                </a:lnTo>
                <a:lnTo>
                  <a:pt x="344" y="6"/>
                </a:lnTo>
                <a:lnTo>
                  <a:pt x="360" y="3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8"/>
                </a:lnTo>
                <a:lnTo>
                  <a:pt x="327" y="13"/>
                </a:lnTo>
                <a:lnTo>
                  <a:pt x="311" y="18"/>
                </a:lnTo>
                <a:lnTo>
                  <a:pt x="295" y="25"/>
                </a:lnTo>
                <a:lnTo>
                  <a:pt x="278" y="32"/>
                </a:lnTo>
                <a:lnTo>
                  <a:pt x="262" y="40"/>
                </a:lnTo>
                <a:lnTo>
                  <a:pt x="246" y="48"/>
                </a:lnTo>
                <a:lnTo>
                  <a:pt x="229" y="57"/>
                </a:lnTo>
                <a:lnTo>
                  <a:pt x="213" y="66"/>
                </a:lnTo>
                <a:lnTo>
                  <a:pt x="196" y="75"/>
                </a:lnTo>
                <a:lnTo>
                  <a:pt x="180" y="84"/>
                </a:lnTo>
                <a:lnTo>
                  <a:pt x="164" y="92"/>
                </a:lnTo>
                <a:lnTo>
                  <a:pt x="147" y="101"/>
                </a:lnTo>
                <a:lnTo>
                  <a:pt x="131" y="109"/>
                </a:lnTo>
                <a:lnTo>
                  <a:pt x="114" y="117"/>
                </a:lnTo>
                <a:lnTo>
                  <a:pt x="98" y="124"/>
                </a:lnTo>
                <a:lnTo>
                  <a:pt x="82" y="131"/>
                </a:lnTo>
                <a:lnTo>
                  <a:pt x="65" y="136"/>
                </a:lnTo>
                <a:lnTo>
                  <a:pt x="49" y="141"/>
                </a:lnTo>
                <a:lnTo>
                  <a:pt x="33" y="144"/>
                </a:lnTo>
                <a:lnTo>
                  <a:pt x="16" y="146"/>
                </a:lnTo>
                <a:lnTo>
                  <a:pt x="0" y="147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reeform 97"/>
          <p:cNvSpPr/>
          <p:nvPr/>
        </p:nvSpPr>
        <p:spPr>
          <a:xfrm>
            <a:off x="2057400" y="4619625"/>
            <a:ext cx="3743325" cy="866775"/>
          </a:xfrm>
          <a:custGeom>
            <a:avLst/>
            <a:gdLst/>
            <a:ahLst/>
            <a:cxnLst/>
            <a:rect l="l" t="t" r="r" b="b"/>
            <a:pathLst>
              <a:path w="393" h="91">
                <a:moveTo>
                  <a:pt x="0" y="89"/>
                </a:moveTo>
                <a:lnTo>
                  <a:pt x="16" y="88"/>
                </a:lnTo>
                <a:lnTo>
                  <a:pt x="33" y="87"/>
                </a:lnTo>
                <a:lnTo>
                  <a:pt x="49" y="85"/>
                </a:lnTo>
                <a:lnTo>
                  <a:pt x="65" y="82"/>
                </a:lnTo>
                <a:lnTo>
                  <a:pt x="82" y="79"/>
                </a:lnTo>
                <a:lnTo>
                  <a:pt x="98" y="75"/>
                </a:lnTo>
                <a:lnTo>
                  <a:pt x="114" y="70"/>
                </a:lnTo>
                <a:lnTo>
                  <a:pt x="131" y="66"/>
                </a:lnTo>
                <a:lnTo>
                  <a:pt x="147" y="61"/>
                </a:lnTo>
                <a:lnTo>
                  <a:pt x="164" y="55"/>
                </a:lnTo>
                <a:lnTo>
                  <a:pt x="180" y="50"/>
                </a:lnTo>
                <a:lnTo>
                  <a:pt x="196" y="44"/>
                </a:lnTo>
                <a:lnTo>
                  <a:pt x="213" y="39"/>
                </a:lnTo>
                <a:lnTo>
                  <a:pt x="229" y="33"/>
                </a:lnTo>
                <a:lnTo>
                  <a:pt x="246" y="28"/>
                </a:lnTo>
                <a:lnTo>
                  <a:pt x="262" y="23"/>
                </a:lnTo>
                <a:lnTo>
                  <a:pt x="278" y="18"/>
                </a:lnTo>
                <a:lnTo>
                  <a:pt x="295" y="14"/>
                </a:lnTo>
                <a:lnTo>
                  <a:pt x="311" y="10"/>
                </a:lnTo>
                <a:lnTo>
                  <a:pt x="327" y="6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4"/>
                </a:lnTo>
                <a:lnTo>
                  <a:pt x="344" y="6"/>
                </a:lnTo>
                <a:lnTo>
                  <a:pt x="327" y="9"/>
                </a:lnTo>
                <a:lnTo>
                  <a:pt x="311" y="12"/>
                </a:lnTo>
                <a:lnTo>
                  <a:pt x="295" y="16"/>
                </a:lnTo>
                <a:lnTo>
                  <a:pt x="278" y="21"/>
                </a:lnTo>
                <a:lnTo>
                  <a:pt x="262" y="25"/>
                </a:lnTo>
                <a:lnTo>
                  <a:pt x="246" y="30"/>
                </a:lnTo>
                <a:lnTo>
                  <a:pt x="229" y="36"/>
                </a:lnTo>
                <a:lnTo>
                  <a:pt x="213" y="41"/>
                </a:lnTo>
                <a:lnTo>
                  <a:pt x="196" y="47"/>
                </a:lnTo>
                <a:lnTo>
                  <a:pt x="180" y="52"/>
                </a:lnTo>
                <a:lnTo>
                  <a:pt x="164" y="58"/>
                </a:lnTo>
                <a:lnTo>
                  <a:pt x="147" y="63"/>
                </a:lnTo>
                <a:lnTo>
                  <a:pt x="131" y="68"/>
                </a:lnTo>
                <a:lnTo>
                  <a:pt x="114" y="73"/>
                </a:lnTo>
                <a:lnTo>
                  <a:pt x="98" y="77"/>
                </a:lnTo>
                <a:lnTo>
                  <a:pt x="82" y="81"/>
                </a:lnTo>
                <a:lnTo>
                  <a:pt x="65" y="85"/>
                </a:lnTo>
                <a:lnTo>
                  <a:pt x="49" y="88"/>
                </a:lnTo>
                <a:lnTo>
                  <a:pt x="33" y="90"/>
                </a:lnTo>
                <a:lnTo>
                  <a:pt x="16" y="91"/>
                </a:lnTo>
                <a:lnTo>
                  <a:pt x="0" y="91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Freeform 98"/>
          <p:cNvSpPr/>
          <p:nvPr/>
        </p:nvSpPr>
        <p:spPr>
          <a:xfrm>
            <a:off x="2057400" y="5162550"/>
            <a:ext cx="3743325" cy="352425"/>
          </a:xfrm>
          <a:custGeom>
            <a:avLst/>
            <a:gdLst/>
            <a:ahLst/>
            <a:cxnLst/>
            <a:rect l="l" t="t" r="r" b="b"/>
            <a:pathLst>
              <a:path w="393" h="37">
                <a:moveTo>
                  <a:pt x="0" y="34"/>
                </a:moveTo>
                <a:lnTo>
                  <a:pt x="16" y="34"/>
                </a:lnTo>
                <a:lnTo>
                  <a:pt x="33" y="34"/>
                </a:lnTo>
                <a:lnTo>
                  <a:pt x="49" y="33"/>
                </a:lnTo>
                <a:lnTo>
                  <a:pt x="65" y="32"/>
                </a:lnTo>
                <a:lnTo>
                  <a:pt x="82" y="31"/>
                </a:lnTo>
                <a:lnTo>
                  <a:pt x="98" y="29"/>
                </a:lnTo>
                <a:lnTo>
                  <a:pt x="114" y="27"/>
                </a:lnTo>
                <a:lnTo>
                  <a:pt x="131" y="25"/>
                </a:lnTo>
                <a:lnTo>
                  <a:pt x="147" y="24"/>
                </a:lnTo>
                <a:lnTo>
                  <a:pt x="164" y="21"/>
                </a:lnTo>
                <a:lnTo>
                  <a:pt x="180" y="19"/>
                </a:lnTo>
                <a:lnTo>
                  <a:pt x="196" y="17"/>
                </a:lnTo>
                <a:lnTo>
                  <a:pt x="213" y="15"/>
                </a:lnTo>
                <a:lnTo>
                  <a:pt x="229" y="13"/>
                </a:lnTo>
                <a:lnTo>
                  <a:pt x="246" y="11"/>
                </a:lnTo>
                <a:lnTo>
                  <a:pt x="262" y="9"/>
                </a:lnTo>
                <a:lnTo>
                  <a:pt x="278" y="7"/>
                </a:lnTo>
                <a:lnTo>
                  <a:pt x="295" y="5"/>
                </a:lnTo>
                <a:lnTo>
                  <a:pt x="311" y="4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3"/>
                </a:lnTo>
                <a:lnTo>
                  <a:pt x="344" y="4"/>
                </a:lnTo>
                <a:lnTo>
                  <a:pt x="327" y="5"/>
                </a:lnTo>
                <a:lnTo>
                  <a:pt x="311" y="6"/>
                </a:lnTo>
                <a:lnTo>
                  <a:pt x="295" y="8"/>
                </a:lnTo>
                <a:lnTo>
                  <a:pt x="278" y="10"/>
                </a:lnTo>
                <a:lnTo>
                  <a:pt x="262" y="11"/>
                </a:lnTo>
                <a:lnTo>
                  <a:pt x="246" y="13"/>
                </a:lnTo>
                <a:lnTo>
                  <a:pt x="229" y="15"/>
                </a:lnTo>
                <a:lnTo>
                  <a:pt x="213" y="18"/>
                </a:lnTo>
                <a:lnTo>
                  <a:pt x="196" y="20"/>
                </a:lnTo>
                <a:lnTo>
                  <a:pt x="180" y="22"/>
                </a:lnTo>
                <a:lnTo>
                  <a:pt x="164" y="24"/>
                </a:lnTo>
                <a:lnTo>
                  <a:pt x="147" y="26"/>
                </a:lnTo>
                <a:lnTo>
                  <a:pt x="131" y="28"/>
                </a:lnTo>
                <a:lnTo>
                  <a:pt x="114" y="30"/>
                </a:lnTo>
                <a:lnTo>
                  <a:pt x="98" y="31"/>
                </a:lnTo>
                <a:lnTo>
                  <a:pt x="82" y="33"/>
                </a:lnTo>
                <a:lnTo>
                  <a:pt x="65" y="34"/>
                </a:lnTo>
                <a:lnTo>
                  <a:pt x="49" y="35"/>
                </a:lnTo>
                <a:lnTo>
                  <a:pt x="33" y="36"/>
                </a:lnTo>
                <a:lnTo>
                  <a:pt x="1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Freeform 99"/>
          <p:cNvSpPr/>
          <p:nvPr/>
        </p:nvSpPr>
        <p:spPr>
          <a:xfrm>
            <a:off x="2057400" y="5514975"/>
            <a:ext cx="3743325" cy="219075"/>
          </a:xfrm>
          <a:custGeom>
            <a:avLst/>
            <a:gdLst/>
            <a:ahLst/>
            <a:cxnLst/>
            <a:rect l="l" t="t" r="r" b="b"/>
            <a:pathLst>
              <a:path w="393" h="23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5"/>
                </a:lnTo>
                <a:lnTo>
                  <a:pt x="147" y="6"/>
                </a:lnTo>
                <a:lnTo>
                  <a:pt x="164" y="8"/>
                </a:lnTo>
                <a:lnTo>
                  <a:pt x="180" y="9"/>
                </a:lnTo>
                <a:lnTo>
                  <a:pt x="196" y="10"/>
                </a:lnTo>
                <a:lnTo>
                  <a:pt x="213" y="12"/>
                </a:lnTo>
                <a:lnTo>
                  <a:pt x="229" y="13"/>
                </a:lnTo>
                <a:lnTo>
                  <a:pt x="246" y="14"/>
                </a:lnTo>
                <a:lnTo>
                  <a:pt x="262" y="15"/>
                </a:lnTo>
                <a:lnTo>
                  <a:pt x="278" y="16"/>
                </a:lnTo>
                <a:lnTo>
                  <a:pt x="295" y="17"/>
                </a:lnTo>
                <a:lnTo>
                  <a:pt x="311" y="18"/>
                </a:lnTo>
                <a:lnTo>
                  <a:pt x="327" y="19"/>
                </a:lnTo>
                <a:lnTo>
                  <a:pt x="344" y="20"/>
                </a:lnTo>
                <a:lnTo>
                  <a:pt x="360" y="20"/>
                </a:lnTo>
                <a:lnTo>
                  <a:pt x="377" y="21"/>
                </a:lnTo>
                <a:lnTo>
                  <a:pt x="393" y="21"/>
                </a:lnTo>
                <a:lnTo>
                  <a:pt x="393" y="23"/>
                </a:lnTo>
                <a:lnTo>
                  <a:pt x="377" y="23"/>
                </a:lnTo>
                <a:lnTo>
                  <a:pt x="360" y="23"/>
                </a:lnTo>
                <a:lnTo>
                  <a:pt x="344" y="22"/>
                </a:lnTo>
                <a:lnTo>
                  <a:pt x="327" y="22"/>
                </a:lnTo>
                <a:lnTo>
                  <a:pt x="311" y="21"/>
                </a:lnTo>
                <a:lnTo>
                  <a:pt x="295" y="20"/>
                </a:lnTo>
                <a:lnTo>
                  <a:pt x="278" y="19"/>
                </a:lnTo>
                <a:lnTo>
                  <a:pt x="262" y="18"/>
                </a:lnTo>
                <a:lnTo>
                  <a:pt x="246" y="17"/>
                </a:lnTo>
                <a:lnTo>
                  <a:pt x="229" y="15"/>
                </a:lnTo>
                <a:lnTo>
                  <a:pt x="213" y="14"/>
                </a:lnTo>
                <a:lnTo>
                  <a:pt x="196" y="13"/>
                </a:lnTo>
                <a:lnTo>
                  <a:pt x="180" y="12"/>
                </a:lnTo>
                <a:lnTo>
                  <a:pt x="164" y="10"/>
                </a:lnTo>
                <a:lnTo>
                  <a:pt x="147" y="9"/>
                </a:lnTo>
                <a:lnTo>
                  <a:pt x="131" y="8"/>
                </a:lnTo>
                <a:lnTo>
                  <a:pt x="114" y="7"/>
                </a:lnTo>
                <a:lnTo>
                  <a:pt x="98" y="6"/>
                </a:lnTo>
                <a:lnTo>
                  <a:pt x="82" y="5"/>
                </a:lnTo>
                <a:lnTo>
                  <a:pt x="65" y="4"/>
                </a:lnTo>
                <a:lnTo>
                  <a:pt x="49" y="3"/>
                </a:lnTo>
                <a:lnTo>
                  <a:pt x="33" y="3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Freeform 100"/>
          <p:cNvSpPr/>
          <p:nvPr/>
        </p:nvSpPr>
        <p:spPr>
          <a:xfrm>
            <a:off x="2057400" y="5534025"/>
            <a:ext cx="3743325" cy="752475"/>
          </a:xfrm>
          <a:custGeom>
            <a:avLst/>
            <a:gdLst/>
            <a:ahLst/>
            <a:cxnLst/>
            <a:rect l="l" t="t" r="r" b="b"/>
            <a:pathLst>
              <a:path w="393" h="79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6"/>
                </a:lnTo>
                <a:lnTo>
                  <a:pt x="82" y="9"/>
                </a:lnTo>
                <a:lnTo>
                  <a:pt x="98" y="12"/>
                </a:lnTo>
                <a:lnTo>
                  <a:pt x="114" y="16"/>
                </a:lnTo>
                <a:lnTo>
                  <a:pt x="131" y="20"/>
                </a:lnTo>
                <a:lnTo>
                  <a:pt x="147" y="24"/>
                </a:lnTo>
                <a:lnTo>
                  <a:pt x="164" y="29"/>
                </a:lnTo>
                <a:lnTo>
                  <a:pt x="180" y="33"/>
                </a:lnTo>
                <a:lnTo>
                  <a:pt x="196" y="38"/>
                </a:lnTo>
                <a:lnTo>
                  <a:pt x="213" y="43"/>
                </a:lnTo>
                <a:lnTo>
                  <a:pt x="229" y="48"/>
                </a:lnTo>
                <a:lnTo>
                  <a:pt x="246" y="52"/>
                </a:lnTo>
                <a:lnTo>
                  <a:pt x="262" y="56"/>
                </a:lnTo>
                <a:lnTo>
                  <a:pt x="278" y="60"/>
                </a:lnTo>
                <a:lnTo>
                  <a:pt x="295" y="64"/>
                </a:lnTo>
                <a:lnTo>
                  <a:pt x="311" y="67"/>
                </a:lnTo>
                <a:lnTo>
                  <a:pt x="327" y="70"/>
                </a:lnTo>
                <a:lnTo>
                  <a:pt x="344" y="73"/>
                </a:lnTo>
                <a:lnTo>
                  <a:pt x="360" y="74"/>
                </a:lnTo>
                <a:lnTo>
                  <a:pt x="377" y="76"/>
                </a:lnTo>
                <a:lnTo>
                  <a:pt x="393" y="76"/>
                </a:lnTo>
                <a:lnTo>
                  <a:pt x="393" y="79"/>
                </a:lnTo>
                <a:lnTo>
                  <a:pt x="377" y="79"/>
                </a:lnTo>
                <a:lnTo>
                  <a:pt x="360" y="77"/>
                </a:lnTo>
                <a:lnTo>
                  <a:pt x="344" y="76"/>
                </a:lnTo>
                <a:lnTo>
                  <a:pt x="327" y="73"/>
                </a:lnTo>
                <a:lnTo>
                  <a:pt x="311" y="70"/>
                </a:lnTo>
                <a:lnTo>
                  <a:pt x="295" y="67"/>
                </a:lnTo>
                <a:lnTo>
                  <a:pt x="278" y="63"/>
                </a:lnTo>
                <a:lnTo>
                  <a:pt x="262" y="59"/>
                </a:lnTo>
                <a:lnTo>
                  <a:pt x="246" y="55"/>
                </a:lnTo>
                <a:lnTo>
                  <a:pt x="229" y="50"/>
                </a:lnTo>
                <a:lnTo>
                  <a:pt x="213" y="46"/>
                </a:lnTo>
                <a:lnTo>
                  <a:pt x="196" y="41"/>
                </a:lnTo>
                <a:lnTo>
                  <a:pt x="180" y="36"/>
                </a:lnTo>
                <a:lnTo>
                  <a:pt x="164" y="32"/>
                </a:lnTo>
                <a:lnTo>
                  <a:pt x="147" y="27"/>
                </a:lnTo>
                <a:lnTo>
                  <a:pt x="131" y="23"/>
                </a:lnTo>
                <a:lnTo>
                  <a:pt x="114" y="19"/>
                </a:lnTo>
                <a:lnTo>
                  <a:pt x="98" y="15"/>
                </a:lnTo>
                <a:lnTo>
                  <a:pt x="82" y="12"/>
                </a:lnTo>
                <a:lnTo>
                  <a:pt x="65" y="9"/>
                </a:lnTo>
                <a:lnTo>
                  <a:pt x="49" y="7"/>
                </a:lnTo>
                <a:lnTo>
                  <a:pt x="33" y="5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Freeform 101"/>
          <p:cNvSpPr/>
          <p:nvPr/>
        </p:nvSpPr>
        <p:spPr>
          <a:xfrm>
            <a:off x="2057400" y="1895475"/>
            <a:ext cx="3743325" cy="3752850"/>
          </a:xfrm>
          <a:custGeom>
            <a:avLst/>
            <a:gdLst/>
            <a:ahLst/>
            <a:cxnLst/>
            <a:rect l="l" t="t" r="r" b="b"/>
            <a:pathLst>
              <a:path w="393" h="394">
                <a:moveTo>
                  <a:pt x="0" y="391"/>
                </a:moveTo>
                <a:lnTo>
                  <a:pt x="16" y="389"/>
                </a:lnTo>
                <a:lnTo>
                  <a:pt x="33" y="384"/>
                </a:lnTo>
                <a:lnTo>
                  <a:pt x="49" y="375"/>
                </a:lnTo>
                <a:lnTo>
                  <a:pt x="65" y="362"/>
                </a:lnTo>
                <a:lnTo>
                  <a:pt x="82" y="347"/>
                </a:lnTo>
                <a:lnTo>
                  <a:pt x="98" y="330"/>
                </a:lnTo>
                <a:lnTo>
                  <a:pt x="114" y="311"/>
                </a:lnTo>
                <a:lnTo>
                  <a:pt x="131" y="290"/>
                </a:lnTo>
                <a:lnTo>
                  <a:pt x="147" y="268"/>
                </a:lnTo>
                <a:lnTo>
                  <a:pt x="164" y="244"/>
                </a:lnTo>
                <a:lnTo>
                  <a:pt x="180" y="220"/>
                </a:lnTo>
                <a:lnTo>
                  <a:pt x="196" y="196"/>
                </a:lnTo>
                <a:lnTo>
                  <a:pt x="213" y="171"/>
                </a:lnTo>
                <a:lnTo>
                  <a:pt x="229" y="147"/>
                </a:lnTo>
                <a:lnTo>
                  <a:pt x="246" y="124"/>
                </a:lnTo>
                <a:lnTo>
                  <a:pt x="262" y="101"/>
                </a:lnTo>
                <a:lnTo>
                  <a:pt x="278" y="80"/>
                </a:lnTo>
                <a:lnTo>
                  <a:pt x="295" y="61"/>
                </a:lnTo>
                <a:lnTo>
                  <a:pt x="311" y="44"/>
                </a:lnTo>
                <a:lnTo>
                  <a:pt x="327" y="29"/>
                </a:lnTo>
                <a:lnTo>
                  <a:pt x="344" y="17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0"/>
                </a:lnTo>
                <a:lnTo>
                  <a:pt x="344" y="19"/>
                </a:lnTo>
                <a:lnTo>
                  <a:pt x="327" y="32"/>
                </a:lnTo>
                <a:lnTo>
                  <a:pt x="311" y="46"/>
                </a:lnTo>
                <a:lnTo>
                  <a:pt x="295" y="64"/>
                </a:lnTo>
                <a:lnTo>
                  <a:pt x="278" y="83"/>
                </a:lnTo>
                <a:lnTo>
                  <a:pt x="262" y="104"/>
                </a:lnTo>
                <a:lnTo>
                  <a:pt x="246" y="126"/>
                </a:lnTo>
                <a:lnTo>
                  <a:pt x="229" y="150"/>
                </a:lnTo>
                <a:lnTo>
                  <a:pt x="213" y="174"/>
                </a:lnTo>
                <a:lnTo>
                  <a:pt x="196" y="198"/>
                </a:lnTo>
                <a:lnTo>
                  <a:pt x="180" y="223"/>
                </a:lnTo>
                <a:lnTo>
                  <a:pt x="164" y="247"/>
                </a:lnTo>
                <a:lnTo>
                  <a:pt x="147" y="270"/>
                </a:lnTo>
                <a:lnTo>
                  <a:pt x="131" y="293"/>
                </a:lnTo>
                <a:lnTo>
                  <a:pt x="114" y="314"/>
                </a:lnTo>
                <a:lnTo>
                  <a:pt x="98" y="333"/>
                </a:lnTo>
                <a:lnTo>
                  <a:pt x="82" y="350"/>
                </a:lnTo>
                <a:lnTo>
                  <a:pt x="65" y="365"/>
                </a:lnTo>
                <a:lnTo>
                  <a:pt x="49" y="377"/>
                </a:lnTo>
                <a:lnTo>
                  <a:pt x="33" y="386"/>
                </a:lnTo>
                <a:lnTo>
                  <a:pt x="16" y="392"/>
                </a:lnTo>
                <a:lnTo>
                  <a:pt x="0" y="394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Freeform 102"/>
          <p:cNvSpPr/>
          <p:nvPr/>
        </p:nvSpPr>
        <p:spPr>
          <a:xfrm>
            <a:off x="2057400" y="2447925"/>
            <a:ext cx="3743325" cy="3219450"/>
          </a:xfrm>
          <a:custGeom>
            <a:avLst/>
            <a:gdLst/>
            <a:ahLst/>
            <a:cxnLst/>
            <a:rect l="l" t="t" r="r" b="b"/>
            <a:pathLst>
              <a:path w="393" h="338">
                <a:moveTo>
                  <a:pt x="0" y="336"/>
                </a:moveTo>
                <a:lnTo>
                  <a:pt x="16" y="334"/>
                </a:lnTo>
                <a:lnTo>
                  <a:pt x="33" y="329"/>
                </a:lnTo>
                <a:lnTo>
                  <a:pt x="49" y="322"/>
                </a:lnTo>
                <a:lnTo>
                  <a:pt x="65" y="311"/>
                </a:lnTo>
                <a:lnTo>
                  <a:pt x="82" y="298"/>
                </a:lnTo>
                <a:lnTo>
                  <a:pt x="98" y="283"/>
                </a:lnTo>
                <a:lnTo>
                  <a:pt x="114" y="267"/>
                </a:lnTo>
                <a:lnTo>
                  <a:pt x="131" y="249"/>
                </a:lnTo>
                <a:lnTo>
                  <a:pt x="147" y="230"/>
                </a:lnTo>
                <a:lnTo>
                  <a:pt x="164" y="209"/>
                </a:lnTo>
                <a:lnTo>
                  <a:pt x="180" y="189"/>
                </a:lnTo>
                <a:lnTo>
                  <a:pt x="196" y="168"/>
                </a:lnTo>
                <a:lnTo>
                  <a:pt x="213" y="147"/>
                </a:lnTo>
                <a:lnTo>
                  <a:pt x="229" y="126"/>
                </a:lnTo>
                <a:lnTo>
                  <a:pt x="246" y="106"/>
                </a:lnTo>
                <a:lnTo>
                  <a:pt x="262" y="87"/>
                </a:lnTo>
                <a:lnTo>
                  <a:pt x="278" y="69"/>
                </a:lnTo>
                <a:lnTo>
                  <a:pt x="295" y="52"/>
                </a:lnTo>
                <a:lnTo>
                  <a:pt x="311" y="37"/>
                </a:lnTo>
                <a:lnTo>
                  <a:pt x="327" y="24"/>
                </a:lnTo>
                <a:lnTo>
                  <a:pt x="344" y="14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9"/>
                </a:lnTo>
                <a:lnTo>
                  <a:pt x="344" y="16"/>
                </a:lnTo>
                <a:lnTo>
                  <a:pt x="327" y="27"/>
                </a:lnTo>
                <a:lnTo>
                  <a:pt x="311" y="40"/>
                </a:lnTo>
                <a:lnTo>
                  <a:pt x="295" y="55"/>
                </a:lnTo>
                <a:lnTo>
                  <a:pt x="278" y="71"/>
                </a:lnTo>
                <a:lnTo>
                  <a:pt x="262" y="89"/>
                </a:lnTo>
                <a:lnTo>
                  <a:pt x="246" y="108"/>
                </a:lnTo>
                <a:lnTo>
                  <a:pt x="229" y="129"/>
                </a:lnTo>
                <a:lnTo>
                  <a:pt x="213" y="149"/>
                </a:lnTo>
                <a:lnTo>
                  <a:pt x="196" y="170"/>
                </a:lnTo>
                <a:lnTo>
                  <a:pt x="180" y="191"/>
                </a:lnTo>
                <a:lnTo>
                  <a:pt x="164" y="212"/>
                </a:lnTo>
                <a:lnTo>
                  <a:pt x="147" y="232"/>
                </a:lnTo>
                <a:lnTo>
                  <a:pt x="131" y="251"/>
                </a:lnTo>
                <a:lnTo>
                  <a:pt x="114" y="269"/>
                </a:lnTo>
                <a:lnTo>
                  <a:pt x="98" y="286"/>
                </a:lnTo>
                <a:lnTo>
                  <a:pt x="82" y="301"/>
                </a:lnTo>
                <a:lnTo>
                  <a:pt x="65" y="314"/>
                </a:lnTo>
                <a:lnTo>
                  <a:pt x="49" y="324"/>
                </a:lnTo>
                <a:lnTo>
                  <a:pt x="33" y="332"/>
                </a:lnTo>
                <a:lnTo>
                  <a:pt x="16" y="337"/>
                </a:lnTo>
                <a:lnTo>
                  <a:pt x="0" y="338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Freeform 103"/>
          <p:cNvSpPr/>
          <p:nvPr/>
        </p:nvSpPr>
        <p:spPr>
          <a:xfrm>
            <a:off x="2057400" y="2990850"/>
            <a:ext cx="3743325" cy="2705100"/>
          </a:xfrm>
          <a:custGeom>
            <a:avLst/>
            <a:gdLst/>
            <a:ahLst/>
            <a:cxnLst/>
            <a:rect l="l" t="t" r="r" b="b"/>
            <a:pathLst>
              <a:path w="393" h="284">
                <a:moveTo>
                  <a:pt x="0" y="281"/>
                </a:moveTo>
                <a:lnTo>
                  <a:pt x="16" y="280"/>
                </a:lnTo>
                <a:lnTo>
                  <a:pt x="33" y="276"/>
                </a:lnTo>
                <a:lnTo>
                  <a:pt x="49" y="269"/>
                </a:lnTo>
                <a:lnTo>
                  <a:pt x="65" y="261"/>
                </a:lnTo>
                <a:lnTo>
                  <a:pt x="82" y="250"/>
                </a:lnTo>
                <a:lnTo>
                  <a:pt x="98" y="237"/>
                </a:lnTo>
                <a:lnTo>
                  <a:pt x="114" y="224"/>
                </a:lnTo>
                <a:lnTo>
                  <a:pt x="131" y="208"/>
                </a:lnTo>
                <a:lnTo>
                  <a:pt x="147" y="192"/>
                </a:lnTo>
                <a:lnTo>
                  <a:pt x="164" y="176"/>
                </a:lnTo>
                <a:lnTo>
                  <a:pt x="180" y="158"/>
                </a:lnTo>
                <a:lnTo>
                  <a:pt x="196" y="141"/>
                </a:lnTo>
                <a:lnTo>
                  <a:pt x="213" y="123"/>
                </a:lnTo>
                <a:lnTo>
                  <a:pt x="229" y="106"/>
                </a:lnTo>
                <a:lnTo>
                  <a:pt x="246" y="89"/>
                </a:lnTo>
                <a:lnTo>
                  <a:pt x="262" y="73"/>
                </a:lnTo>
                <a:lnTo>
                  <a:pt x="278" y="58"/>
                </a:lnTo>
                <a:lnTo>
                  <a:pt x="295" y="44"/>
                </a:lnTo>
                <a:lnTo>
                  <a:pt x="311" y="32"/>
                </a:lnTo>
                <a:lnTo>
                  <a:pt x="327" y="21"/>
                </a:lnTo>
                <a:lnTo>
                  <a:pt x="344" y="12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5"/>
                </a:lnTo>
                <a:lnTo>
                  <a:pt x="327" y="24"/>
                </a:lnTo>
                <a:lnTo>
                  <a:pt x="311" y="34"/>
                </a:lnTo>
                <a:lnTo>
                  <a:pt x="295" y="47"/>
                </a:lnTo>
                <a:lnTo>
                  <a:pt x="278" y="61"/>
                </a:lnTo>
                <a:lnTo>
                  <a:pt x="262" y="76"/>
                </a:lnTo>
                <a:lnTo>
                  <a:pt x="246" y="92"/>
                </a:lnTo>
                <a:lnTo>
                  <a:pt x="229" y="109"/>
                </a:lnTo>
                <a:lnTo>
                  <a:pt x="213" y="126"/>
                </a:lnTo>
                <a:lnTo>
                  <a:pt x="196" y="143"/>
                </a:lnTo>
                <a:lnTo>
                  <a:pt x="180" y="161"/>
                </a:lnTo>
                <a:lnTo>
                  <a:pt x="164" y="178"/>
                </a:lnTo>
                <a:lnTo>
                  <a:pt x="147" y="195"/>
                </a:lnTo>
                <a:lnTo>
                  <a:pt x="131" y="211"/>
                </a:lnTo>
                <a:lnTo>
                  <a:pt x="114" y="226"/>
                </a:lnTo>
                <a:lnTo>
                  <a:pt x="98" y="240"/>
                </a:lnTo>
                <a:lnTo>
                  <a:pt x="82" y="253"/>
                </a:lnTo>
                <a:lnTo>
                  <a:pt x="65" y="263"/>
                </a:lnTo>
                <a:lnTo>
                  <a:pt x="49" y="272"/>
                </a:lnTo>
                <a:lnTo>
                  <a:pt x="33" y="279"/>
                </a:lnTo>
                <a:lnTo>
                  <a:pt x="16" y="283"/>
                </a:lnTo>
                <a:lnTo>
                  <a:pt x="0" y="284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Freeform 104"/>
          <p:cNvSpPr/>
          <p:nvPr/>
        </p:nvSpPr>
        <p:spPr>
          <a:xfrm>
            <a:off x="2057400" y="3543300"/>
            <a:ext cx="3743325" cy="2181225"/>
          </a:xfrm>
          <a:custGeom>
            <a:avLst/>
            <a:gdLst/>
            <a:ahLst/>
            <a:cxnLst/>
            <a:rect l="l" t="t" r="r" b="b"/>
            <a:pathLst>
              <a:path w="393" h="229">
                <a:moveTo>
                  <a:pt x="0" y="226"/>
                </a:moveTo>
                <a:lnTo>
                  <a:pt x="16" y="225"/>
                </a:lnTo>
                <a:lnTo>
                  <a:pt x="33" y="222"/>
                </a:lnTo>
                <a:lnTo>
                  <a:pt x="49" y="216"/>
                </a:lnTo>
                <a:lnTo>
                  <a:pt x="65" y="209"/>
                </a:lnTo>
                <a:lnTo>
                  <a:pt x="82" y="201"/>
                </a:lnTo>
                <a:lnTo>
                  <a:pt x="98" y="191"/>
                </a:lnTo>
                <a:lnTo>
                  <a:pt x="114" y="180"/>
                </a:lnTo>
                <a:lnTo>
                  <a:pt x="131" y="167"/>
                </a:lnTo>
                <a:lnTo>
                  <a:pt x="147" y="154"/>
                </a:lnTo>
                <a:lnTo>
                  <a:pt x="164" y="141"/>
                </a:lnTo>
                <a:lnTo>
                  <a:pt x="180" y="127"/>
                </a:lnTo>
                <a:lnTo>
                  <a:pt x="196" y="113"/>
                </a:lnTo>
                <a:lnTo>
                  <a:pt x="213" y="99"/>
                </a:lnTo>
                <a:lnTo>
                  <a:pt x="229" y="85"/>
                </a:lnTo>
                <a:lnTo>
                  <a:pt x="246" y="71"/>
                </a:lnTo>
                <a:lnTo>
                  <a:pt x="262" y="58"/>
                </a:lnTo>
                <a:lnTo>
                  <a:pt x="278" y="46"/>
                </a:lnTo>
                <a:lnTo>
                  <a:pt x="295" y="35"/>
                </a:lnTo>
                <a:lnTo>
                  <a:pt x="311" y="25"/>
                </a:lnTo>
                <a:lnTo>
                  <a:pt x="327" y="16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7"/>
                </a:lnTo>
                <a:lnTo>
                  <a:pt x="344" y="12"/>
                </a:lnTo>
                <a:lnTo>
                  <a:pt x="327" y="19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1"/>
                </a:lnTo>
                <a:lnTo>
                  <a:pt x="246" y="74"/>
                </a:lnTo>
                <a:lnTo>
                  <a:pt x="229" y="87"/>
                </a:lnTo>
                <a:lnTo>
                  <a:pt x="213" y="101"/>
                </a:lnTo>
                <a:lnTo>
                  <a:pt x="196" y="115"/>
                </a:lnTo>
                <a:lnTo>
                  <a:pt x="180" y="130"/>
                </a:lnTo>
                <a:lnTo>
                  <a:pt x="164" y="143"/>
                </a:lnTo>
                <a:lnTo>
                  <a:pt x="147" y="157"/>
                </a:lnTo>
                <a:lnTo>
                  <a:pt x="131" y="170"/>
                </a:lnTo>
                <a:lnTo>
                  <a:pt x="114" y="182"/>
                </a:lnTo>
                <a:lnTo>
                  <a:pt x="98" y="193"/>
                </a:lnTo>
                <a:lnTo>
                  <a:pt x="82" y="203"/>
                </a:lnTo>
                <a:lnTo>
                  <a:pt x="65" y="212"/>
                </a:lnTo>
                <a:lnTo>
                  <a:pt x="49" y="219"/>
                </a:lnTo>
                <a:lnTo>
                  <a:pt x="33" y="224"/>
                </a:lnTo>
                <a:lnTo>
                  <a:pt x="16" y="227"/>
                </a:lnTo>
                <a:lnTo>
                  <a:pt x="0" y="229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Freeform 105"/>
          <p:cNvSpPr/>
          <p:nvPr/>
        </p:nvSpPr>
        <p:spPr>
          <a:xfrm>
            <a:off x="2057400" y="4086225"/>
            <a:ext cx="3743325" cy="1657350"/>
          </a:xfrm>
          <a:custGeom>
            <a:avLst/>
            <a:gdLst/>
            <a:ahLst/>
            <a:cxnLst/>
            <a:rect l="l" t="t" r="r" b="b"/>
            <a:pathLst>
              <a:path w="393" h="174">
                <a:moveTo>
                  <a:pt x="0" y="172"/>
                </a:moveTo>
                <a:lnTo>
                  <a:pt x="16" y="171"/>
                </a:lnTo>
                <a:lnTo>
                  <a:pt x="33" y="168"/>
                </a:lnTo>
                <a:lnTo>
                  <a:pt x="49" y="164"/>
                </a:lnTo>
                <a:lnTo>
                  <a:pt x="65" y="159"/>
                </a:lnTo>
                <a:lnTo>
                  <a:pt x="82" y="152"/>
                </a:lnTo>
                <a:lnTo>
                  <a:pt x="98" y="145"/>
                </a:lnTo>
                <a:lnTo>
                  <a:pt x="114" y="136"/>
                </a:lnTo>
                <a:lnTo>
                  <a:pt x="131" y="127"/>
                </a:lnTo>
                <a:lnTo>
                  <a:pt x="147" y="117"/>
                </a:lnTo>
                <a:lnTo>
                  <a:pt x="164" y="107"/>
                </a:lnTo>
                <a:lnTo>
                  <a:pt x="180" y="97"/>
                </a:lnTo>
                <a:lnTo>
                  <a:pt x="196" y="86"/>
                </a:lnTo>
                <a:lnTo>
                  <a:pt x="213" y="75"/>
                </a:lnTo>
                <a:lnTo>
                  <a:pt x="229" y="65"/>
                </a:lnTo>
                <a:lnTo>
                  <a:pt x="246" y="54"/>
                </a:lnTo>
                <a:lnTo>
                  <a:pt x="262" y="45"/>
                </a:lnTo>
                <a:lnTo>
                  <a:pt x="278" y="35"/>
                </a:lnTo>
                <a:lnTo>
                  <a:pt x="295" y="27"/>
                </a:lnTo>
                <a:lnTo>
                  <a:pt x="311" y="19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6"/>
                </a:lnTo>
                <a:lnTo>
                  <a:pt x="344" y="10"/>
                </a:lnTo>
                <a:lnTo>
                  <a:pt x="327" y="16"/>
                </a:lnTo>
                <a:lnTo>
                  <a:pt x="311" y="22"/>
                </a:lnTo>
                <a:lnTo>
                  <a:pt x="295" y="30"/>
                </a:lnTo>
                <a:lnTo>
                  <a:pt x="278" y="38"/>
                </a:lnTo>
                <a:lnTo>
                  <a:pt x="262" y="47"/>
                </a:lnTo>
                <a:lnTo>
                  <a:pt x="246" y="57"/>
                </a:lnTo>
                <a:lnTo>
                  <a:pt x="229" y="67"/>
                </a:lnTo>
                <a:lnTo>
                  <a:pt x="213" y="78"/>
                </a:lnTo>
                <a:lnTo>
                  <a:pt x="196" y="89"/>
                </a:lnTo>
                <a:lnTo>
                  <a:pt x="180" y="99"/>
                </a:lnTo>
                <a:lnTo>
                  <a:pt x="164" y="110"/>
                </a:lnTo>
                <a:lnTo>
                  <a:pt x="147" y="120"/>
                </a:lnTo>
                <a:lnTo>
                  <a:pt x="131" y="130"/>
                </a:lnTo>
                <a:lnTo>
                  <a:pt x="114" y="139"/>
                </a:lnTo>
                <a:lnTo>
                  <a:pt x="98" y="147"/>
                </a:lnTo>
                <a:lnTo>
                  <a:pt x="82" y="155"/>
                </a:lnTo>
                <a:lnTo>
                  <a:pt x="65" y="162"/>
                </a:lnTo>
                <a:lnTo>
                  <a:pt x="49" y="167"/>
                </a:lnTo>
                <a:lnTo>
                  <a:pt x="33" y="171"/>
                </a:lnTo>
                <a:lnTo>
                  <a:pt x="16" y="173"/>
                </a:lnTo>
                <a:lnTo>
                  <a:pt x="0" y="174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reeform 106"/>
          <p:cNvSpPr/>
          <p:nvPr/>
        </p:nvSpPr>
        <p:spPr>
          <a:xfrm>
            <a:off x="2057400" y="4638675"/>
            <a:ext cx="3743325" cy="1133475"/>
          </a:xfrm>
          <a:custGeom>
            <a:avLst/>
            <a:gdLst/>
            <a:ahLst/>
            <a:cxnLst/>
            <a:rect l="l" t="t" r="r" b="b"/>
            <a:pathLst>
              <a:path w="393" h="119">
                <a:moveTo>
                  <a:pt x="0" y="116"/>
                </a:moveTo>
                <a:lnTo>
                  <a:pt x="16" y="116"/>
                </a:lnTo>
                <a:lnTo>
                  <a:pt x="33" y="114"/>
                </a:lnTo>
                <a:lnTo>
                  <a:pt x="49" y="111"/>
                </a:lnTo>
                <a:lnTo>
                  <a:pt x="65" y="108"/>
                </a:lnTo>
                <a:lnTo>
                  <a:pt x="82" y="103"/>
                </a:lnTo>
                <a:lnTo>
                  <a:pt x="98" y="98"/>
                </a:lnTo>
                <a:lnTo>
                  <a:pt x="114" y="92"/>
                </a:lnTo>
                <a:lnTo>
                  <a:pt x="131" y="86"/>
                </a:lnTo>
                <a:lnTo>
                  <a:pt x="147" y="80"/>
                </a:lnTo>
                <a:lnTo>
                  <a:pt x="164" y="73"/>
                </a:lnTo>
                <a:lnTo>
                  <a:pt x="180" y="65"/>
                </a:lnTo>
                <a:lnTo>
                  <a:pt x="196" y="58"/>
                </a:lnTo>
                <a:lnTo>
                  <a:pt x="213" y="51"/>
                </a:lnTo>
                <a:lnTo>
                  <a:pt x="229" y="44"/>
                </a:lnTo>
                <a:lnTo>
                  <a:pt x="246" y="37"/>
                </a:lnTo>
                <a:lnTo>
                  <a:pt x="262" y="30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9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5"/>
                </a:lnTo>
                <a:lnTo>
                  <a:pt x="344" y="8"/>
                </a:lnTo>
                <a:lnTo>
                  <a:pt x="327" y="11"/>
                </a:lnTo>
                <a:lnTo>
                  <a:pt x="311" y="16"/>
                </a:lnTo>
                <a:lnTo>
                  <a:pt x="295" y="21"/>
                </a:lnTo>
                <a:lnTo>
                  <a:pt x="278" y="27"/>
                </a:lnTo>
                <a:lnTo>
                  <a:pt x="262" y="33"/>
                </a:lnTo>
                <a:lnTo>
                  <a:pt x="246" y="39"/>
                </a:lnTo>
                <a:lnTo>
                  <a:pt x="229" y="46"/>
                </a:lnTo>
                <a:lnTo>
                  <a:pt x="213" y="54"/>
                </a:lnTo>
                <a:lnTo>
                  <a:pt x="196" y="61"/>
                </a:lnTo>
                <a:lnTo>
                  <a:pt x="180" y="68"/>
                </a:lnTo>
                <a:lnTo>
                  <a:pt x="164" y="75"/>
                </a:lnTo>
                <a:lnTo>
                  <a:pt x="147" y="82"/>
                </a:lnTo>
                <a:lnTo>
                  <a:pt x="131" y="89"/>
                </a:lnTo>
                <a:lnTo>
                  <a:pt x="114" y="95"/>
                </a:lnTo>
                <a:lnTo>
                  <a:pt x="98" y="101"/>
                </a:lnTo>
                <a:lnTo>
                  <a:pt x="82" y="106"/>
                </a:lnTo>
                <a:lnTo>
                  <a:pt x="65" y="110"/>
                </a:lnTo>
                <a:lnTo>
                  <a:pt x="49" y="114"/>
                </a:lnTo>
                <a:lnTo>
                  <a:pt x="33" y="117"/>
                </a:lnTo>
                <a:lnTo>
                  <a:pt x="16" y="118"/>
                </a:lnTo>
                <a:lnTo>
                  <a:pt x="0" y="119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2057400" y="5191125"/>
            <a:ext cx="3743325" cy="609600"/>
          </a:xfrm>
          <a:custGeom>
            <a:avLst/>
            <a:gdLst/>
            <a:ahLst/>
            <a:cxnLst/>
            <a:rect l="l" t="t" r="r" b="b"/>
            <a:pathLst>
              <a:path w="393" h="64">
                <a:moveTo>
                  <a:pt x="0" y="61"/>
                </a:moveTo>
                <a:lnTo>
                  <a:pt x="16" y="60"/>
                </a:lnTo>
                <a:lnTo>
                  <a:pt x="33" y="60"/>
                </a:lnTo>
                <a:lnTo>
                  <a:pt x="49" y="58"/>
                </a:lnTo>
                <a:lnTo>
                  <a:pt x="65" y="56"/>
                </a:lnTo>
                <a:lnTo>
                  <a:pt x="82" y="54"/>
                </a:lnTo>
                <a:lnTo>
                  <a:pt x="98" y="51"/>
                </a:lnTo>
                <a:lnTo>
                  <a:pt x="114" y="48"/>
                </a:lnTo>
                <a:lnTo>
                  <a:pt x="131" y="45"/>
                </a:lnTo>
                <a:lnTo>
                  <a:pt x="147" y="41"/>
                </a:lnTo>
                <a:lnTo>
                  <a:pt x="164" y="38"/>
                </a:lnTo>
                <a:lnTo>
                  <a:pt x="180" y="34"/>
                </a:lnTo>
                <a:lnTo>
                  <a:pt x="196" y="30"/>
                </a:lnTo>
                <a:lnTo>
                  <a:pt x="213" y="26"/>
                </a:lnTo>
                <a:lnTo>
                  <a:pt x="229" y="23"/>
                </a:lnTo>
                <a:lnTo>
                  <a:pt x="246" y="19"/>
                </a:lnTo>
                <a:lnTo>
                  <a:pt x="262" y="15"/>
                </a:lnTo>
                <a:lnTo>
                  <a:pt x="278" y="12"/>
                </a:lnTo>
                <a:lnTo>
                  <a:pt x="295" y="9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4"/>
                </a:lnTo>
                <a:lnTo>
                  <a:pt x="344" y="5"/>
                </a:lnTo>
                <a:lnTo>
                  <a:pt x="327" y="7"/>
                </a:lnTo>
                <a:lnTo>
                  <a:pt x="311" y="9"/>
                </a:lnTo>
                <a:lnTo>
                  <a:pt x="295" y="12"/>
                </a:lnTo>
                <a:lnTo>
                  <a:pt x="278" y="15"/>
                </a:lnTo>
                <a:lnTo>
                  <a:pt x="262" y="18"/>
                </a:lnTo>
                <a:lnTo>
                  <a:pt x="246" y="22"/>
                </a:lnTo>
                <a:lnTo>
                  <a:pt x="229" y="25"/>
                </a:lnTo>
                <a:lnTo>
                  <a:pt x="213" y="29"/>
                </a:lnTo>
                <a:lnTo>
                  <a:pt x="196" y="33"/>
                </a:lnTo>
                <a:lnTo>
                  <a:pt x="180" y="37"/>
                </a:lnTo>
                <a:lnTo>
                  <a:pt x="164" y="41"/>
                </a:lnTo>
                <a:lnTo>
                  <a:pt x="147" y="44"/>
                </a:lnTo>
                <a:lnTo>
                  <a:pt x="131" y="48"/>
                </a:lnTo>
                <a:lnTo>
                  <a:pt x="114" y="51"/>
                </a:lnTo>
                <a:lnTo>
                  <a:pt x="98" y="54"/>
                </a:lnTo>
                <a:lnTo>
                  <a:pt x="82" y="57"/>
                </a:lnTo>
                <a:lnTo>
                  <a:pt x="65" y="59"/>
                </a:lnTo>
                <a:lnTo>
                  <a:pt x="49" y="61"/>
                </a:lnTo>
                <a:lnTo>
                  <a:pt x="33" y="62"/>
                </a:lnTo>
                <a:lnTo>
                  <a:pt x="16" y="63"/>
                </a:lnTo>
                <a:lnTo>
                  <a:pt x="0" y="64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Freeform 108"/>
          <p:cNvSpPr/>
          <p:nvPr/>
        </p:nvSpPr>
        <p:spPr>
          <a:xfrm>
            <a:off x="2057400" y="5734050"/>
            <a:ext cx="3743325" cy="85725"/>
          </a:xfrm>
          <a:custGeom>
            <a:avLst/>
            <a:gdLst/>
            <a:ahLst/>
            <a:cxnLst/>
            <a:rect l="l" t="t" r="r" b="b"/>
            <a:pathLst>
              <a:path w="393" h="9">
                <a:moveTo>
                  <a:pt x="0" y="7"/>
                </a:moveTo>
                <a:lnTo>
                  <a:pt x="16" y="7"/>
                </a:lnTo>
                <a:lnTo>
                  <a:pt x="33" y="6"/>
                </a:lnTo>
                <a:lnTo>
                  <a:pt x="49" y="6"/>
                </a:lnTo>
                <a:lnTo>
                  <a:pt x="65" y="6"/>
                </a:lnTo>
                <a:lnTo>
                  <a:pt x="82" y="6"/>
                </a:lnTo>
                <a:lnTo>
                  <a:pt x="98" y="6"/>
                </a:lnTo>
                <a:lnTo>
                  <a:pt x="114" y="5"/>
                </a:lnTo>
                <a:lnTo>
                  <a:pt x="131" y="5"/>
                </a:lnTo>
                <a:lnTo>
                  <a:pt x="147" y="5"/>
                </a:lnTo>
                <a:lnTo>
                  <a:pt x="164" y="4"/>
                </a:lnTo>
                <a:lnTo>
                  <a:pt x="180" y="4"/>
                </a:lnTo>
                <a:lnTo>
                  <a:pt x="196" y="3"/>
                </a:lnTo>
                <a:lnTo>
                  <a:pt x="213" y="3"/>
                </a:lnTo>
                <a:lnTo>
                  <a:pt x="229" y="3"/>
                </a:lnTo>
                <a:lnTo>
                  <a:pt x="246" y="2"/>
                </a:lnTo>
                <a:lnTo>
                  <a:pt x="262" y="2"/>
                </a:lnTo>
                <a:lnTo>
                  <a:pt x="278" y="2"/>
                </a:lnTo>
                <a:lnTo>
                  <a:pt x="295" y="1"/>
                </a:lnTo>
                <a:lnTo>
                  <a:pt x="311" y="1"/>
                </a:lnTo>
                <a:lnTo>
                  <a:pt x="327" y="1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3"/>
                </a:lnTo>
                <a:lnTo>
                  <a:pt x="344" y="3"/>
                </a:lnTo>
                <a:lnTo>
                  <a:pt x="327" y="3"/>
                </a:lnTo>
                <a:lnTo>
                  <a:pt x="311" y="4"/>
                </a:lnTo>
                <a:lnTo>
                  <a:pt x="295" y="4"/>
                </a:lnTo>
                <a:lnTo>
                  <a:pt x="278" y="4"/>
                </a:lnTo>
                <a:lnTo>
                  <a:pt x="262" y="5"/>
                </a:lnTo>
                <a:lnTo>
                  <a:pt x="246" y="5"/>
                </a:lnTo>
                <a:lnTo>
                  <a:pt x="229" y="5"/>
                </a:lnTo>
                <a:lnTo>
                  <a:pt x="213" y="6"/>
                </a:lnTo>
                <a:lnTo>
                  <a:pt x="196" y="6"/>
                </a:lnTo>
                <a:lnTo>
                  <a:pt x="180" y="7"/>
                </a:lnTo>
                <a:lnTo>
                  <a:pt x="164" y="7"/>
                </a:lnTo>
                <a:lnTo>
                  <a:pt x="147" y="7"/>
                </a:lnTo>
                <a:lnTo>
                  <a:pt x="131" y="8"/>
                </a:lnTo>
                <a:lnTo>
                  <a:pt x="114" y="8"/>
                </a:lnTo>
                <a:lnTo>
                  <a:pt x="98" y="8"/>
                </a:lnTo>
                <a:lnTo>
                  <a:pt x="82" y="9"/>
                </a:lnTo>
                <a:lnTo>
                  <a:pt x="65" y="9"/>
                </a:lnTo>
                <a:lnTo>
                  <a:pt x="49" y="9"/>
                </a:lnTo>
                <a:lnTo>
                  <a:pt x="33" y="9"/>
                </a:lnTo>
                <a:lnTo>
                  <a:pt x="16" y="9"/>
                </a:lnTo>
                <a:lnTo>
                  <a:pt x="0" y="9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Freeform 109"/>
          <p:cNvSpPr/>
          <p:nvPr/>
        </p:nvSpPr>
        <p:spPr>
          <a:xfrm>
            <a:off x="2057400" y="5819775"/>
            <a:ext cx="3743325" cy="495300"/>
          </a:xfrm>
          <a:custGeom>
            <a:avLst/>
            <a:gdLst/>
            <a:ahLst/>
            <a:cxnLst/>
            <a:rect l="l" t="t" r="r" b="b"/>
            <a:pathLst>
              <a:path w="393" h="52">
                <a:moveTo>
                  <a:pt x="0" y="0"/>
                </a:moveTo>
                <a:lnTo>
                  <a:pt x="16" y="1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6"/>
                </a:lnTo>
                <a:lnTo>
                  <a:pt x="98" y="8"/>
                </a:lnTo>
                <a:lnTo>
                  <a:pt x="114" y="10"/>
                </a:lnTo>
                <a:lnTo>
                  <a:pt x="131" y="13"/>
                </a:lnTo>
                <a:lnTo>
                  <a:pt x="147" y="16"/>
                </a:lnTo>
                <a:lnTo>
                  <a:pt x="164" y="19"/>
                </a:lnTo>
                <a:lnTo>
                  <a:pt x="180" y="22"/>
                </a:lnTo>
                <a:lnTo>
                  <a:pt x="196" y="25"/>
                </a:lnTo>
                <a:lnTo>
                  <a:pt x="213" y="28"/>
                </a:lnTo>
                <a:lnTo>
                  <a:pt x="229" y="31"/>
                </a:lnTo>
                <a:lnTo>
                  <a:pt x="246" y="34"/>
                </a:lnTo>
                <a:lnTo>
                  <a:pt x="262" y="36"/>
                </a:lnTo>
                <a:lnTo>
                  <a:pt x="278" y="39"/>
                </a:lnTo>
                <a:lnTo>
                  <a:pt x="295" y="41"/>
                </a:lnTo>
                <a:lnTo>
                  <a:pt x="311" y="43"/>
                </a:lnTo>
                <a:lnTo>
                  <a:pt x="327" y="45"/>
                </a:lnTo>
                <a:lnTo>
                  <a:pt x="344" y="47"/>
                </a:lnTo>
                <a:lnTo>
                  <a:pt x="360" y="48"/>
                </a:lnTo>
                <a:lnTo>
                  <a:pt x="377" y="49"/>
                </a:lnTo>
                <a:lnTo>
                  <a:pt x="393" y="49"/>
                </a:lnTo>
                <a:lnTo>
                  <a:pt x="393" y="52"/>
                </a:lnTo>
                <a:lnTo>
                  <a:pt x="377" y="51"/>
                </a:lnTo>
                <a:lnTo>
                  <a:pt x="360" y="51"/>
                </a:lnTo>
                <a:lnTo>
                  <a:pt x="344" y="50"/>
                </a:lnTo>
                <a:lnTo>
                  <a:pt x="327" y="48"/>
                </a:lnTo>
                <a:lnTo>
                  <a:pt x="311" y="46"/>
                </a:lnTo>
                <a:lnTo>
                  <a:pt x="295" y="44"/>
                </a:lnTo>
                <a:lnTo>
                  <a:pt x="278" y="42"/>
                </a:lnTo>
                <a:lnTo>
                  <a:pt x="262" y="39"/>
                </a:lnTo>
                <a:lnTo>
                  <a:pt x="246" y="36"/>
                </a:lnTo>
                <a:lnTo>
                  <a:pt x="229" y="33"/>
                </a:lnTo>
                <a:lnTo>
                  <a:pt x="213" y="30"/>
                </a:lnTo>
                <a:lnTo>
                  <a:pt x="196" y="27"/>
                </a:lnTo>
                <a:lnTo>
                  <a:pt x="180" y="24"/>
                </a:lnTo>
                <a:lnTo>
                  <a:pt x="164" y="21"/>
                </a:lnTo>
                <a:lnTo>
                  <a:pt x="147" y="18"/>
                </a:lnTo>
                <a:lnTo>
                  <a:pt x="131" y="16"/>
                </a:lnTo>
                <a:lnTo>
                  <a:pt x="114" y="13"/>
                </a:lnTo>
                <a:lnTo>
                  <a:pt x="98" y="11"/>
                </a:lnTo>
                <a:lnTo>
                  <a:pt x="82" y="9"/>
                </a:lnTo>
                <a:lnTo>
                  <a:pt x="65" y="7"/>
                </a:lnTo>
                <a:lnTo>
                  <a:pt x="49" y="5"/>
                </a:lnTo>
                <a:lnTo>
                  <a:pt x="33" y="4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Freeform 110"/>
          <p:cNvSpPr/>
          <p:nvPr/>
        </p:nvSpPr>
        <p:spPr>
          <a:xfrm>
            <a:off x="2057400" y="1924050"/>
            <a:ext cx="3743325" cy="4000500"/>
          </a:xfrm>
          <a:custGeom>
            <a:avLst/>
            <a:gdLst/>
            <a:ahLst/>
            <a:cxnLst/>
            <a:rect l="l" t="t" r="r" b="b"/>
            <a:pathLst>
              <a:path w="393" h="420">
                <a:moveTo>
                  <a:pt x="0" y="418"/>
                </a:moveTo>
                <a:lnTo>
                  <a:pt x="16" y="416"/>
                </a:lnTo>
                <a:lnTo>
                  <a:pt x="33" y="410"/>
                </a:lnTo>
                <a:lnTo>
                  <a:pt x="49" y="400"/>
                </a:lnTo>
                <a:lnTo>
                  <a:pt x="65" y="387"/>
                </a:lnTo>
                <a:lnTo>
                  <a:pt x="82" y="371"/>
                </a:lnTo>
                <a:lnTo>
                  <a:pt x="98" y="353"/>
                </a:lnTo>
                <a:lnTo>
                  <a:pt x="114" y="332"/>
                </a:lnTo>
                <a:lnTo>
                  <a:pt x="131" y="310"/>
                </a:lnTo>
                <a:lnTo>
                  <a:pt x="147" y="286"/>
                </a:lnTo>
                <a:lnTo>
                  <a:pt x="164" y="261"/>
                </a:lnTo>
                <a:lnTo>
                  <a:pt x="180" y="235"/>
                </a:lnTo>
                <a:lnTo>
                  <a:pt x="196" y="209"/>
                </a:lnTo>
                <a:lnTo>
                  <a:pt x="213" y="183"/>
                </a:lnTo>
                <a:lnTo>
                  <a:pt x="229" y="157"/>
                </a:lnTo>
                <a:lnTo>
                  <a:pt x="246" y="132"/>
                </a:lnTo>
                <a:lnTo>
                  <a:pt x="262" y="108"/>
                </a:lnTo>
                <a:lnTo>
                  <a:pt x="278" y="86"/>
                </a:lnTo>
                <a:lnTo>
                  <a:pt x="295" y="65"/>
                </a:lnTo>
                <a:lnTo>
                  <a:pt x="311" y="46"/>
                </a:lnTo>
                <a:lnTo>
                  <a:pt x="327" y="31"/>
                </a:lnTo>
                <a:lnTo>
                  <a:pt x="344" y="18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4"/>
                </a:lnTo>
                <a:lnTo>
                  <a:pt x="360" y="10"/>
                </a:lnTo>
                <a:lnTo>
                  <a:pt x="344" y="19"/>
                </a:lnTo>
                <a:lnTo>
                  <a:pt x="327" y="32"/>
                </a:lnTo>
                <a:lnTo>
                  <a:pt x="311" y="48"/>
                </a:lnTo>
                <a:lnTo>
                  <a:pt x="295" y="67"/>
                </a:lnTo>
                <a:lnTo>
                  <a:pt x="278" y="88"/>
                </a:lnTo>
                <a:lnTo>
                  <a:pt x="262" y="110"/>
                </a:lnTo>
                <a:lnTo>
                  <a:pt x="246" y="134"/>
                </a:lnTo>
                <a:lnTo>
                  <a:pt x="229" y="159"/>
                </a:lnTo>
                <a:lnTo>
                  <a:pt x="213" y="185"/>
                </a:lnTo>
                <a:lnTo>
                  <a:pt x="196" y="211"/>
                </a:lnTo>
                <a:lnTo>
                  <a:pt x="180" y="237"/>
                </a:lnTo>
                <a:lnTo>
                  <a:pt x="164" y="263"/>
                </a:lnTo>
                <a:lnTo>
                  <a:pt x="147" y="288"/>
                </a:lnTo>
                <a:lnTo>
                  <a:pt x="131" y="312"/>
                </a:lnTo>
                <a:lnTo>
                  <a:pt x="114" y="334"/>
                </a:lnTo>
                <a:lnTo>
                  <a:pt x="98" y="355"/>
                </a:lnTo>
                <a:lnTo>
                  <a:pt x="82" y="373"/>
                </a:lnTo>
                <a:lnTo>
                  <a:pt x="65" y="389"/>
                </a:lnTo>
                <a:lnTo>
                  <a:pt x="49" y="402"/>
                </a:lnTo>
                <a:lnTo>
                  <a:pt x="33" y="412"/>
                </a:lnTo>
                <a:lnTo>
                  <a:pt x="16" y="418"/>
                </a:lnTo>
                <a:lnTo>
                  <a:pt x="0" y="420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Freeform 111"/>
          <p:cNvSpPr/>
          <p:nvPr/>
        </p:nvSpPr>
        <p:spPr>
          <a:xfrm>
            <a:off x="2057400" y="2466975"/>
            <a:ext cx="3743325" cy="3476625"/>
          </a:xfrm>
          <a:custGeom>
            <a:avLst/>
            <a:gdLst/>
            <a:ahLst/>
            <a:cxnLst/>
            <a:rect l="l" t="t" r="r" b="b"/>
            <a:pathLst>
              <a:path w="393" h="365">
                <a:moveTo>
                  <a:pt x="0" y="363"/>
                </a:moveTo>
                <a:lnTo>
                  <a:pt x="16" y="361"/>
                </a:lnTo>
                <a:lnTo>
                  <a:pt x="33" y="356"/>
                </a:lnTo>
                <a:lnTo>
                  <a:pt x="49" y="347"/>
                </a:lnTo>
                <a:lnTo>
                  <a:pt x="65" y="336"/>
                </a:lnTo>
                <a:lnTo>
                  <a:pt x="82" y="322"/>
                </a:lnTo>
                <a:lnTo>
                  <a:pt x="98" y="306"/>
                </a:lnTo>
                <a:lnTo>
                  <a:pt x="114" y="288"/>
                </a:lnTo>
                <a:lnTo>
                  <a:pt x="131" y="269"/>
                </a:lnTo>
                <a:lnTo>
                  <a:pt x="147" y="248"/>
                </a:lnTo>
                <a:lnTo>
                  <a:pt x="164" y="226"/>
                </a:lnTo>
                <a:lnTo>
                  <a:pt x="180" y="204"/>
                </a:lnTo>
                <a:lnTo>
                  <a:pt x="196" y="181"/>
                </a:lnTo>
                <a:lnTo>
                  <a:pt x="213" y="159"/>
                </a:lnTo>
                <a:lnTo>
                  <a:pt x="229" y="137"/>
                </a:lnTo>
                <a:lnTo>
                  <a:pt x="246" y="115"/>
                </a:lnTo>
                <a:lnTo>
                  <a:pt x="262" y="94"/>
                </a:lnTo>
                <a:lnTo>
                  <a:pt x="278" y="75"/>
                </a:lnTo>
                <a:lnTo>
                  <a:pt x="295" y="57"/>
                </a:lnTo>
                <a:lnTo>
                  <a:pt x="311" y="41"/>
                </a:lnTo>
                <a:lnTo>
                  <a:pt x="327" y="27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9"/>
                </a:lnTo>
                <a:lnTo>
                  <a:pt x="344" y="18"/>
                </a:lnTo>
                <a:lnTo>
                  <a:pt x="327" y="29"/>
                </a:lnTo>
                <a:lnTo>
                  <a:pt x="311" y="43"/>
                </a:lnTo>
                <a:lnTo>
                  <a:pt x="295" y="59"/>
                </a:lnTo>
                <a:lnTo>
                  <a:pt x="278" y="77"/>
                </a:lnTo>
                <a:lnTo>
                  <a:pt x="262" y="96"/>
                </a:lnTo>
                <a:lnTo>
                  <a:pt x="246" y="117"/>
                </a:lnTo>
                <a:lnTo>
                  <a:pt x="229" y="139"/>
                </a:lnTo>
                <a:lnTo>
                  <a:pt x="213" y="161"/>
                </a:lnTo>
                <a:lnTo>
                  <a:pt x="196" y="184"/>
                </a:lnTo>
                <a:lnTo>
                  <a:pt x="180" y="206"/>
                </a:lnTo>
                <a:lnTo>
                  <a:pt x="164" y="229"/>
                </a:lnTo>
                <a:lnTo>
                  <a:pt x="147" y="250"/>
                </a:lnTo>
                <a:lnTo>
                  <a:pt x="131" y="271"/>
                </a:lnTo>
                <a:lnTo>
                  <a:pt x="114" y="291"/>
                </a:lnTo>
                <a:lnTo>
                  <a:pt x="98" y="309"/>
                </a:lnTo>
                <a:lnTo>
                  <a:pt x="82" y="325"/>
                </a:lnTo>
                <a:lnTo>
                  <a:pt x="65" y="338"/>
                </a:lnTo>
                <a:lnTo>
                  <a:pt x="49" y="350"/>
                </a:lnTo>
                <a:lnTo>
                  <a:pt x="33" y="358"/>
                </a:lnTo>
                <a:lnTo>
                  <a:pt x="16" y="363"/>
                </a:lnTo>
                <a:lnTo>
                  <a:pt x="0" y="365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Freeform 112"/>
          <p:cNvSpPr/>
          <p:nvPr/>
        </p:nvSpPr>
        <p:spPr>
          <a:xfrm>
            <a:off x="2057400" y="3019425"/>
            <a:ext cx="3743325" cy="2943225"/>
          </a:xfrm>
          <a:custGeom>
            <a:avLst/>
            <a:gdLst/>
            <a:ahLst/>
            <a:cxnLst/>
            <a:rect l="l" t="t" r="r" b="b"/>
            <a:pathLst>
              <a:path w="393" h="309">
                <a:moveTo>
                  <a:pt x="0" y="307"/>
                </a:moveTo>
                <a:lnTo>
                  <a:pt x="16" y="306"/>
                </a:lnTo>
                <a:lnTo>
                  <a:pt x="33" y="301"/>
                </a:lnTo>
                <a:lnTo>
                  <a:pt x="49" y="294"/>
                </a:lnTo>
                <a:lnTo>
                  <a:pt x="65" y="285"/>
                </a:lnTo>
                <a:lnTo>
                  <a:pt x="82" y="273"/>
                </a:lnTo>
                <a:lnTo>
                  <a:pt x="98" y="259"/>
                </a:lnTo>
                <a:lnTo>
                  <a:pt x="114" y="244"/>
                </a:lnTo>
                <a:lnTo>
                  <a:pt x="131" y="228"/>
                </a:lnTo>
                <a:lnTo>
                  <a:pt x="147" y="210"/>
                </a:lnTo>
                <a:lnTo>
                  <a:pt x="164" y="192"/>
                </a:lnTo>
                <a:lnTo>
                  <a:pt x="180" y="173"/>
                </a:lnTo>
                <a:lnTo>
                  <a:pt x="196" y="154"/>
                </a:lnTo>
                <a:lnTo>
                  <a:pt x="213" y="134"/>
                </a:lnTo>
                <a:lnTo>
                  <a:pt x="229" y="115"/>
                </a:lnTo>
                <a:lnTo>
                  <a:pt x="246" y="97"/>
                </a:lnTo>
                <a:lnTo>
                  <a:pt x="262" y="79"/>
                </a:lnTo>
                <a:lnTo>
                  <a:pt x="278" y="63"/>
                </a:lnTo>
                <a:lnTo>
                  <a:pt x="295" y="48"/>
                </a:lnTo>
                <a:lnTo>
                  <a:pt x="311" y="34"/>
                </a:lnTo>
                <a:lnTo>
                  <a:pt x="327" y="22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8"/>
                </a:lnTo>
                <a:lnTo>
                  <a:pt x="344" y="15"/>
                </a:lnTo>
                <a:lnTo>
                  <a:pt x="327" y="24"/>
                </a:lnTo>
                <a:lnTo>
                  <a:pt x="311" y="36"/>
                </a:lnTo>
                <a:lnTo>
                  <a:pt x="295" y="50"/>
                </a:lnTo>
                <a:lnTo>
                  <a:pt x="278" y="65"/>
                </a:lnTo>
                <a:lnTo>
                  <a:pt x="262" y="81"/>
                </a:lnTo>
                <a:lnTo>
                  <a:pt x="246" y="99"/>
                </a:lnTo>
                <a:lnTo>
                  <a:pt x="229" y="117"/>
                </a:lnTo>
                <a:lnTo>
                  <a:pt x="213" y="136"/>
                </a:lnTo>
                <a:lnTo>
                  <a:pt x="196" y="155"/>
                </a:lnTo>
                <a:lnTo>
                  <a:pt x="180" y="175"/>
                </a:lnTo>
                <a:lnTo>
                  <a:pt x="164" y="194"/>
                </a:lnTo>
                <a:lnTo>
                  <a:pt x="147" y="212"/>
                </a:lnTo>
                <a:lnTo>
                  <a:pt x="131" y="230"/>
                </a:lnTo>
                <a:lnTo>
                  <a:pt x="114" y="246"/>
                </a:lnTo>
                <a:lnTo>
                  <a:pt x="98" y="261"/>
                </a:lnTo>
                <a:lnTo>
                  <a:pt x="82" y="275"/>
                </a:lnTo>
                <a:lnTo>
                  <a:pt x="65" y="287"/>
                </a:lnTo>
                <a:lnTo>
                  <a:pt x="49" y="296"/>
                </a:lnTo>
                <a:lnTo>
                  <a:pt x="33" y="303"/>
                </a:lnTo>
                <a:lnTo>
                  <a:pt x="16" y="308"/>
                </a:lnTo>
                <a:lnTo>
                  <a:pt x="0" y="309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Freeform 113"/>
          <p:cNvSpPr/>
          <p:nvPr/>
        </p:nvSpPr>
        <p:spPr>
          <a:xfrm>
            <a:off x="2057400" y="3562350"/>
            <a:ext cx="3743325" cy="2428875"/>
          </a:xfrm>
          <a:custGeom>
            <a:avLst/>
            <a:gdLst/>
            <a:ahLst/>
            <a:cxnLst/>
            <a:rect l="l" t="t" r="r" b="b"/>
            <a:pathLst>
              <a:path w="393" h="255">
                <a:moveTo>
                  <a:pt x="0" y="252"/>
                </a:moveTo>
                <a:lnTo>
                  <a:pt x="16" y="251"/>
                </a:lnTo>
                <a:lnTo>
                  <a:pt x="33" y="247"/>
                </a:lnTo>
                <a:lnTo>
                  <a:pt x="49" y="241"/>
                </a:lnTo>
                <a:lnTo>
                  <a:pt x="65" y="234"/>
                </a:lnTo>
                <a:lnTo>
                  <a:pt x="82" y="224"/>
                </a:lnTo>
                <a:lnTo>
                  <a:pt x="98" y="213"/>
                </a:lnTo>
                <a:lnTo>
                  <a:pt x="114" y="201"/>
                </a:lnTo>
                <a:lnTo>
                  <a:pt x="131" y="187"/>
                </a:lnTo>
                <a:lnTo>
                  <a:pt x="147" y="173"/>
                </a:lnTo>
                <a:lnTo>
                  <a:pt x="164" y="158"/>
                </a:lnTo>
                <a:lnTo>
                  <a:pt x="180" y="142"/>
                </a:lnTo>
                <a:lnTo>
                  <a:pt x="196" y="126"/>
                </a:lnTo>
                <a:lnTo>
                  <a:pt x="213" y="111"/>
                </a:lnTo>
                <a:lnTo>
                  <a:pt x="229" y="95"/>
                </a:lnTo>
                <a:lnTo>
                  <a:pt x="246" y="80"/>
                </a:lnTo>
                <a:lnTo>
                  <a:pt x="262" y="66"/>
                </a:lnTo>
                <a:lnTo>
                  <a:pt x="278" y="52"/>
                </a:lnTo>
                <a:lnTo>
                  <a:pt x="295" y="40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3"/>
                </a:lnTo>
                <a:lnTo>
                  <a:pt x="327" y="21"/>
                </a:lnTo>
                <a:lnTo>
                  <a:pt x="311" y="31"/>
                </a:lnTo>
                <a:lnTo>
                  <a:pt x="295" y="42"/>
                </a:lnTo>
                <a:lnTo>
                  <a:pt x="278" y="54"/>
                </a:lnTo>
                <a:lnTo>
                  <a:pt x="262" y="68"/>
                </a:lnTo>
                <a:lnTo>
                  <a:pt x="246" y="82"/>
                </a:lnTo>
                <a:lnTo>
                  <a:pt x="229" y="97"/>
                </a:lnTo>
                <a:lnTo>
                  <a:pt x="213" y="113"/>
                </a:lnTo>
                <a:lnTo>
                  <a:pt x="196" y="129"/>
                </a:lnTo>
                <a:lnTo>
                  <a:pt x="180" y="144"/>
                </a:lnTo>
                <a:lnTo>
                  <a:pt x="164" y="160"/>
                </a:lnTo>
                <a:lnTo>
                  <a:pt x="147" y="175"/>
                </a:lnTo>
                <a:lnTo>
                  <a:pt x="131" y="189"/>
                </a:lnTo>
                <a:lnTo>
                  <a:pt x="114" y="203"/>
                </a:lnTo>
                <a:lnTo>
                  <a:pt x="98" y="215"/>
                </a:lnTo>
                <a:lnTo>
                  <a:pt x="82" y="226"/>
                </a:lnTo>
                <a:lnTo>
                  <a:pt x="65" y="236"/>
                </a:lnTo>
                <a:lnTo>
                  <a:pt x="49" y="244"/>
                </a:lnTo>
                <a:lnTo>
                  <a:pt x="33" y="250"/>
                </a:lnTo>
                <a:lnTo>
                  <a:pt x="16" y="253"/>
                </a:lnTo>
                <a:lnTo>
                  <a:pt x="0" y="255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Freeform 114"/>
          <p:cNvSpPr/>
          <p:nvPr/>
        </p:nvSpPr>
        <p:spPr>
          <a:xfrm>
            <a:off x="2057400" y="4114800"/>
            <a:ext cx="3743325" cy="1895475"/>
          </a:xfrm>
          <a:custGeom>
            <a:avLst/>
            <a:gdLst/>
            <a:ahLst/>
            <a:cxnLst/>
            <a:rect l="l" t="t" r="r" b="b"/>
            <a:pathLst>
              <a:path w="393" h="199">
                <a:moveTo>
                  <a:pt x="0" y="197"/>
                </a:moveTo>
                <a:lnTo>
                  <a:pt x="16" y="196"/>
                </a:lnTo>
                <a:lnTo>
                  <a:pt x="33" y="193"/>
                </a:lnTo>
                <a:lnTo>
                  <a:pt x="49" y="188"/>
                </a:lnTo>
                <a:lnTo>
                  <a:pt x="65" y="182"/>
                </a:lnTo>
                <a:lnTo>
                  <a:pt x="82" y="175"/>
                </a:lnTo>
                <a:lnTo>
                  <a:pt x="98" y="166"/>
                </a:lnTo>
                <a:lnTo>
                  <a:pt x="114" y="156"/>
                </a:lnTo>
                <a:lnTo>
                  <a:pt x="131" y="146"/>
                </a:lnTo>
                <a:lnTo>
                  <a:pt x="147" y="134"/>
                </a:lnTo>
                <a:lnTo>
                  <a:pt x="164" y="123"/>
                </a:lnTo>
                <a:lnTo>
                  <a:pt x="180" y="111"/>
                </a:lnTo>
                <a:lnTo>
                  <a:pt x="196" y="98"/>
                </a:lnTo>
                <a:lnTo>
                  <a:pt x="213" y="86"/>
                </a:lnTo>
                <a:lnTo>
                  <a:pt x="229" y="74"/>
                </a:lnTo>
                <a:lnTo>
                  <a:pt x="246" y="62"/>
                </a:lnTo>
                <a:lnTo>
                  <a:pt x="262" y="51"/>
                </a:lnTo>
                <a:lnTo>
                  <a:pt x="278" y="40"/>
                </a:lnTo>
                <a:lnTo>
                  <a:pt x="295" y="31"/>
                </a:lnTo>
                <a:lnTo>
                  <a:pt x="311" y="22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1"/>
                </a:lnTo>
                <a:lnTo>
                  <a:pt x="327" y="17"/>
                </a:lnTo>
                <a:lnTo>
                  <a:pt x="311" y="24"/>
                </a:lnTo>
                <a:lnTo>
                  <a:pt x="295" y="33"/>
                </a:lnTo>
                <a:lnTo>
                  <a:pt x="278" y="43"/>
                </a:lnTo>
                <a:lnTo>
                  <a:pt x="262" y="53"/>
                </a:lnTo>
                <a:lnTo>
                  <a:pt x="246" y="64"/>
                </a:lnTo>
                <a:lnTo>
                  <a:pt x="229" y="76"/>
                </a:lnTo>
                <a:lnTo>
                  <a:pt x="213" y="88"/>
                </a:lnTo>
                <a:lnTo>
                  <a:pt x="196" y="100"/>
                </a:lnTo>
                <a:lnTo>
                  <a:pt x="180" y="113"/>
                </a:lnTo>
                <a:lnTo>
                  <a:pt x="164" y="125"/>
                </a:lnTo>
                <a:lnTo>
                  <a:pt x="147" y="137"/>
                </a:lnTo>
                <a:lnTo>
                  <a:pt x="131" y="148"/>
                </a:lnTo>
                <a:lnTo>
                  <a:pt x="114" y="158"/>
                </a:lnTo>
                <a:lnTo>
                  <a:pt x="98" y="168"/>
                </a:lnTo>
                <a:lnTo>
                  <a:pt x="82" y="177"/>
                </a:lnTo>
                <a:lnTo>
                  <a:pt x="65" y="184"/>
                </a:lnTo>
                <a:lnTo>
                  <a:pt x="49" y="190"/>
                </a:lnTo>
                <a:lnTo>
                  <a:pt x="33" y="195"/>
                </a:lnTo>
                <a:lnTo>
                  <a:pt x="16" y="198"/>
                </a:lnTo>
                <a:lnTo>
                  <a:pt x="0" y="199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Freeform 115"/>
          <p:cNvSpPr/>
          <p:nvPr/>
        </p:nvSpPr>
        <p:spPr>
          <a:xfrm>
            <a:off x="2057400" y="4667250"/>
            <a:ext cx="3743325" cy="1362075"/>
          </a:xfrm>
          <a:custGeom>
            <a:avLst/>
            <a:gdLst/>
            <a:ahLst/>
            <a:cxnLst/>
            <a:rect l="l" t="t" r="r" b="b"/>
            <a:pathLst>
              <a:path w="393" h="143">
                <a:moveTo>
                  <a:pt x="0" y="141"/>
                </a:moveTo>
                <a:lnTo>
                  <a:pt x="16" y="140"/>
                </a:lnTo>
                <a:lnTo>
                  <a:pt x="33" y="138"/>
                </a:lnTo>
                <a:lnTo>
                  <a:pt x="49" y="135"/>
                </a:lnTo>
                <a:lnTo>
                  <a:pt x="65" y="130"/>
                </a:lnTo>
                <a:lnTo>
                  <a:pt x="82" y="125"/>
                </a:lnTo>
                <a:lnTo>
                  <a:pt x="98" y="119"/>
                </a:lnTo>
                <a:lnTo>
                  <a:pt x="114" y="112"/>
                </a:lnTo>
                <a:lnTo>
                  <a:pt x="131" y="104"/>
                </a:lnTo>
                <a:lnTo>
                  <a:pt x="147" y="96"/>
                </a:lnTo>
                <a:lnTo>
                  <a:pt x="164" y="88"/>
                </a:lnTo>
                <a:lnTo>
                  <a:pt x="180" y="79"/>
                </a:lnTo>
                <a:lnTo>
                  <a:pt x="196" y="70"/>
                </a:lnTo>
                <a:lnTo>
                  <a:pt x="213" y="61"/>
                </a:lnTo>
                <a:lnTo>
                  <a:pt x="229" y="53"/>
                </a:lnTo>
                <a:lnTo>
                  <a:pt x="246" y="44"/>
                </a:lnTo>
                <a:lnTo>
                  <a:pt x="262" y="36"/>
                </a:lnTo>
                <a:lnTo>
                  <a:pt x="278" y="29"/>
                </a:lnTo>
                <a:lnTo>
                  <a:pt x="295" y="22"/>
                </a:lnTo>
                <a:lnTo>
                  <a:pt x="311" y="16"/>
                </a:lnTo>
                <a:lnTo>
                  <a:pt x="327" y="10"/>
                </a:lnTo>
                <a:lnTo>
                  <a:pt x="344" y="6"/>
                </a:lnTo>
                <a:lnTo>
                  <a:pt x="360" y="3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5"/>
                </a:lnTo>
                <a:lnTo>
                  <a:pt x="344" y="8"/>
                </a:lnTo>
                <a:lnTo>
                  <a:pt x="327" y="12"/>
                </a:lnTo>
                <a:lnTo>
                  <a:pt x="311" y="18"/>
                </a:lnTo>
                <a:lnTo>
                  <a:pt x="295" y="24"/>
                </a:lnTo>
                <a:lnTo>
                  <a:pt x="278" y="31"/>
                </a:lnTo>
                <a:lnTo>
                  <a:pt x="262" y="38"/>
                </a:lnTo>
                <a:lnTo>
                  <a:pt x="246" y="46"/>
                </a:lnTo>
                <a:lnTo>
                  <a:pt x="229" y="55"/>
                </a:lnTo>
                <a:lnTo>
                  <a:pt x="213" y="64"/>
                </a:lnTo>
                <a:lnTo>
                  <a:pt x="196" y="72"/>
                </a:lnTo>
                <a:lnTo>
                  <a:pt x="180" y="81"/>
                </a:lnTo>
                <a:lnTo>
                  <a:pt x="164" y="90"/>
                </a:lnTo>
                <a:lnTo>
                  <a:pt x="147" y="98"/>
                </a:lnTo>
                <a:lnTo>
                  <a:pt x="131" y="106"/>
                </a:lnTo>
                <a:lnTo>
                  <a:pt x="114" y="114"/>
                </a:lnTo>
                <a:lnTo>
                  <a:pt x="98" y="121"/>
                </a:lnTo>
                <a:lnTo>
                  <a:pt x="82" y="127"/>
                </a:lnTo>
                <a:lnTo>
                  <a:pt x="65" y="132"/>
                </a:lnTo>
                <a:lnTo>
                  <a:pt x="49" y="137"/>
                </a:lnTo>
                <a:lnTo>
                  <a:pt x="33" y="140"/>
                </a:lnTo>
                <a:lnTo>
                  <a:pt x="16" y="142"/>
                </a:lnTo>
                <a:lnTo>
                  <a:pt x="0" y="143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Freeform 116"/>
          <p:cNvSpPr/>
          <p:nvPr/>
        </p:nvSpPr>
        <p:spPr>
          <a:xfrm>
            <a:off x="2057400" y="5210175"/>
            <a:ext cx="3743325" cy="838200"/>
          </a:xfrm>
          <a:custGeom>
            <a:avLst/>
            <a:gdLst/>
            <a:ahLst/>
            <a:cxnLst/>
            <a:rect l="l" t="t" r="r" b="b"/>
            <a:pathLst>
              <a:path w="393" h="88">
                <a:moveTo>
                  <a:pt x="0" y="86"/>
                </a:moveTo>
                <a:lnTo>
                  <a:pt x="16" y="85"/>
                </a:lnTo>
                <a:lnTo>
                  <a:pt x="33" y="84"/>
                </a:lnTo>
                <a:lnTo>
                  <a:pt x="49" y="82"/>
                </a:lnTo>
                <a:lnTo>
                  <a:pt x="65" y="80"/>
                </a:lnTo>
                <a:lnTo>
                  <a:pt x="82" y="76"/>
                </a:lnTo>
                <a:lnTo>
                  <a:pt x="98" y="72"/>
                </a:lnTo>
                <a:lnTo>
                  <a:pt x="114" y="68"/>
                </a:lnTo>
                <a:lnTo>
                  <a:pt x="131" y="64"/>
                </a:lnTo>
                <a:lnTo>
                  <a:pt x="147" y="59"/>
                </a:lnTo>
                <a:lnTo>
                  <a:pt x="164" y="54"/>
                </a:lnTo>
                <a:lnTo>
                  <a:pt x="180" y="48"/>
                </a:lnTo>
                <a:lnTo>
                  <a:pt x="196" y="43"/>
                </a:lnTo>
                <a:lnTo>
                  <a:pt x="213" y="38"/>
                </a:lnTo>
                <a:lnTo>
                  <a:pt x="229" y="33"/>
                </a:lnTo>
                <a:lnTo>
                  <a:pt x="246" y="27"/>
                </a:lnTo>
                <a:lnTo>
                  <a:pt x="262" y="23"/>
                </a:lnTo>
                <a:lnTo>
                  <a:pt x="278" y="18"/>
                </a:lnTo>
                <a:lnTo>
                  <a:pt x="295" y="14"/>
                </a:lnTo>
                <a:lnTo>
                  <a:pt x="311" y="10"/>
                </a:lnTo>
                <a:lnTo>
                  <a:pt x="327" y="7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4"/>
                </a:lnTo>
                <a:lnTo>
                  <a:pt x="344" y="6"/>
                </a:lnTo>
                <a:lnTo>
                  <a:pt x="327" y="9"/>
                </a:lnTo>
                <a:lnTo>
                  <a:pt x="311" y="12"/>
                </a:lnTo>
                <a:lnTo>
                  <a:pt x="295" y="16"/>
                </a:lnTo>
                <a:lnTo>
                  <a:pt x="278" y="20"/>
                </a:lnTo>
                <a:lnTo>
                  <a:pt x="262" y="25"/>
                </a:lnTo>
                <a:lnTo>
                  <a:pt x="246" y="30"/>
                </a:lnTo>
                <a:lnTo>
                  <a:pt x="229" y="35"/>
                </a:lnTo>
                <a:lnTo>
                  <a:pt x="213" y="40"/>
                </a:lnTo>
                <a:lnTo>
                  <a:pt x="196" y="45"/>
                </a:lnTo>
                <a:lnTo>
                  <a:pt x="180" y="51"/>
                </a:lnTo>
                <a:lnTo>
                  <a:pt x="164" y="56"/>
                </a:lnTo>
                <a:lnTo>
                  <a:pt x="147" y="61"/>
                </a:lnTo>
                <a:lnTo>
                  <a:pt x="131" y="66"/>
                </a:lnTo>
                <a:lnTo>
                  <a:pt x="114" y="70"/>
                </a:lnTo>
                <a:lnTo>
                  <a:pt x="98" y="75"/>
                </a:lnTo>
                <a:lnTo>
                  <a:pt x="82" y="78"/>
                </a:lnTo>
                <a:lnTo>
                  <a:pt x="65" y="82"/>
                </a:lnTo>
                <a:lnTo>
                  <a:pt x="49" y="84"/>
                </a:lnTo>
                <a:lnTo>
                  <a:pt x="33" y="86"/>
                </a:lnTo>
                <a:lnTo>
                  <a:pt x="16" y="88"/>
                </a:lnTo>
                <a:lnTo>
                  <a:pt x="0" y="88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2057400" y="5762625"/>
            <a:ext cx="3743325" cy="304800"/>
          </a:xfrm>
          <a:custGeom>
            <a:avLst/>
            <a:gdLst/>
            <a:ahLst/>
            <a:cxnLst/>
            <a:rect l="l" t="t" r="r" b="b"/>
            <a:pathLst>
              <a:path w="393" h="32">
                <a:moveTo>
                  <a:pt x="0" y="30"/>
                </a:moveTo>
                <a:lnTo>
                  <a:pt x="16" y="30"/>
                </a:lnTo>
                <a:lnTo>
                  <a:pt x="33" y="29"/>
                </a:lnTo>
                <a:lnTo>
                  <a:pt x="49" y="29"/>
                </a:lnTo>
                <a:lnTo>
                  <a:pt x="65" y="28"/>
                </a:lnTo>
                <a:lnTo>
                  <a:pt x="82" y="27"/>
                </a:lnTo>
                <a:lnTo>
                  <a:pt x="98" y="25"/>
                </a:lnTo>
                <a:lnTo>
                  <a:pt x="114" y="24"/>
                </a:lnTo>
                <a:lnTo>
                  <a:pt x="131" y="22"/>
                </a:lnTo>
                <a:lnTo>
                  <a:pt x="147" y="20"/>
                </a:lnTo>
                <a:lnTo>
                  <a:pt x="164" y="19"/>
                </a:lnTo>
                <a:lnTo>
                  <a:pt x="180" y="17"/>
                </a:lnTo>
                <a:lnTo>
                  <a:pt x="196" y="15"/>
                </a:lnTo>
                <a:lnTo>
                  <a:pt x="213" y="13"/>
                </a:lnTo>
                <a:lnTo>
                  <a:pt x="229" y="11"/>
                </a:lnTo>
                <a:lnTo>
                  <a:pt x="246" y="9"/>
                </a:lnTo>
                <a:lnTo>
                  <a:pt x="262" y="8"/>
                </a:lnTo>
                <a:lnTo>
                  <a:pt x="278" y="6"/>
                </a:lnTo>
                <a:lnTo>
                  <a:pt x="295" y="5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3"/>
                </a:lnTo>
                <a:lnTo>
                  <a:pt x="344" y="3"/>
                </a:lnTo>
                <a:lnTo>
                  <a:pt x="327" y="4"/>
                </a:lnTo>
                <a:lnTo>
                  <a:pt x="311" y="6"/>
                </a:lnTo>
                <a:lnTo>
                  <a:pt x="295" y="7"/>
                </a:lnTo>
                <a:lnTo>
                  <a:pt x="278" y="8"/>
                </a:lnTo>
                <a:lnTo>
                  <a:pt x="262" y="10"/>
                </a:lnTo>
                <a:lnTo>
                  <a:pt x="246" y="12"/>
                </a:lnTo>
                <a:lnTo>
                  <a:pt x="229" y="13"/>
                </a:lnTo>
                <a:lnTo>
                  <a:pt x="213" y="15"/>
                </a:lnTo>
                <a:lnTo>
                  <a:pt x="196" y="17"/>
                </a:lnTo>
                <a:lnTo>
                  <a:pt x="180" y="19"/>
                </a:lnTo>
                <a:lnTo>
                  <a:pt x="164" y="21"/>
                </a:lnTo>
                <a:lnTo>
                  <a:pt x="147" y="23"/>
                </a:lnTo>
                <a:lnTo>
                  <a:pt x="131" y="24"/>
                </a:lnTo>
                <a:lnTo>
                  <a:pt x="114" y="26"/>
                </a:lnTo>
                <a:lnTo>
                  <a:pt x="98" y="27"/>
                </a:lnTo>
                <a:lnTo>
                  <a:pt x="82" y="29"/>
                </a:lnTo>
                <a:lnTo>
                  <a:pt x="65" y="30"/>
                </a:lnTo>
                <a:lnTo>
                  <a:pt x="49" y="31"/>
                </a:lnTo>
                <a:lnTo>
                  <a:pt x="33" y="32"/>
                </a:lnTo>
                <a:lnTo>
                  <a:pt x="1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Freeform 118"/>
          <p:cNvSpPr/>
          <p:nvPr/>
        </p:nvSpPr>
        <p:spPr>
          <a:xfrm>
            <a:off x="2057400" y="6067425"/>
            <a:ext cx="3743325" cy="266700"/>
          </a:xfrm>
          <a:custGeom>
            <a:avLst/>
            <a:gdLst/>
            <a:ahLst/>
            <a:cxnLst/>
            <a:rect l="l" t="t" r="r" b="b"/>
            <a:pathLst>
              <a:path w="393" h="28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4"/>
                </a:lnTo>
                <a:lnTo>
                  <a:pt x="114" y="5"/>
                </a:lnTo>
                <a:lnTo>
                  <a:pt x="131" y="7"/>
                </a:lnTo>
                <a:lnTo>
                  <a:pt x="147" y="8"/>
                </a:lnTo>
                <a:lnTo>
                  <a:pt x="164" y="10"/>
                </a:lnTo>
                <a:lnTo>
                  <a:pt x="180" y="11"/>
                </a:lnTo>
                <a:lnTo>
                  <a:pt x="196" y="13"/>
                </a:lnTo>
                <a:lnTo>
                  <a:pt x="213" y="15"/>
                </a:lnTo>
                <a:lnTo>
                  <a:pt x="229" y="16"/>
                </a:lnTo>
                <a:lnTo>
                  <a:pt x="246" y="18"/>
                </a:lnTo>
                <a:lnTo>
                  <a:pt x="262" y="19"/>
                </a:lnTo>
                <a:lnTo>
                  <a:pt x="278" y="20"/>
                </a:lnTo>
                <a:lnTo>
                  <a:pt x="295" y="22"/>
                </a:lnTo>
                <a:lnTo>
                  <a:pt x="311" y="23"/>
                </a:lnTo>
                <a:lnTo>
                  <a:pt x="327" y="24"/>
                </a:lnTo>
                <a:lnTo>
                  <a:pt x="344" y="25"/>
                </a:lnTo>
                <a:lnTo>
                  <a:pt x="360" y="25"/>
                </a:lnTo>
                <a:lnTo>
                  <a:pt x="377" y="26"/>
                </a:lnTo>
                <a:lnTo>
                  <a:pt x="393" y="26"/>
                </a:lnTo>
                <a:lnTo>
                  <a:pt x="393" y="28"/>
                </a:lnTo>
                <a:lnTo>
                  <a:pt x="377" y="28"/>
                </a:lnTo>
                <a:lnTo>
                  <a:pt x="360" y="27"/>
                </a:lnTo>
                <a:lnTo>
                  <a:pt x="344" y="27"/>
                </a:lnTo>
                <a:lnTo>
                  <a:pt x="327" y="26"/>
                </a:lnTo>
                <a:lnTo>
                  <a:pt x="311" y="25"/>
                </a:lnTo>
                <a:lnTo>
                  <a:pt x="295" y="24"/>
                </a:lnTo>
                <a:lnTo>
                  <a:pt x="278" y="23"/>
                </a:lnTo>
                <a:lnTo>
                  <a:pt x="262" y="21"/>
                </a:lnTo>
                <a:lnTo>
                  <a:pt x="246" y="20"/>
                </a:lnTo>
                <a:lnTo>
                  <a:pt x="229" y="18"/>
                </a:lnTo>
                <a:lnTo>
                  <a:pt x="213" y="17"/>
                </a:lnTo>
                <a:lnTo>
                  <a:pt x="196" y="15"/>
                </a:lnTo>
                <a:lnTo>
                  <a:pt x="180" y="13"/>
                </a:lnTo>
                <a:lnTo>
                  <a:pt x="164" y="12"/>
                </a:lnTo>
                <a:lnTo>
                  <a:pt x="147" y="10"/>
                </a:lnTo>
                <a:lnTo>
                  <a:pt x="131" y="9"/>
                </a:lnTo>
                <a:lnTo>
                  <a:pt x="114" y="8"/>
                </a:lnTo>
                <a:lnTo>
                  <a:pt x="98" y="6"/>
                </a:lnTo>
                <a:lnTo>
                  <a:pt x="82" y="5"/>
                </a:lnTo>
                <a:lnTo>
                  <a:pt x="65" y="4"/>
                </a:lnTo>
                <a:lnTo>
                  <a:pt x="49" y="3"/>
                </a:lnTo>
                <a:lnTo>
                  <a:pt x="33" y="3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2057400" y="1933575"/>
            <a:ext cx="3743325" cy="4229100"/>
          </a:xfrm>
          <a:custGeom>
            <a:avLst/>
            <a:gdLst/>
            <a:ahLst/>
            <a:cxnLst/>
            <a:rect l="l" t="t" r="r" b="b"/>
            <a:pathLst>
              <a:path w="393" h="444">
                <a:moveTo>
                  <a:pt x="0" y="442"/>
                </a:moveTo>
                <a:lnTo>
                  <a:pt x="16" y="440"/>
                </a:lnTo>
                <a:lnTo>
                  <a:pt x="33" y="434"/>
                </a:lnTo>
                <a:lnTo>
                  <a:pt x="49" y="423"/>
                </a:lnTo>
                <a:lnTo>
                  <a:pt x="65" y="410"/>
                </a:lnTo>
                <a:lnTo>
                  <a:pt x="82" y="393"/>
                </a:lnTo>
                <a:lnTo>
                  <a:pt x="98" y="373"/>
                </a:lnTo>
                <a:lnTo>
                  <a:pt x="114" y="351"/>
                </a:lnTo>
                <a:lnTo>
                  <a:pt x="131" y="328"/>
                </a:lnTo>
                <a:lnTo>
                  <a:pt x="147" y="302"/>
                </a:lnTo>
                <a:lnTo>
                  <a:pt x="164" y="276"/>
                </a:lnTo>
                <a:lnTo>
                  <a:pt x="180" y="249"/>
                </a:lnTo>
                <a:lnTo>
                  <a:pt x="196" y="221"/>
                </a:lnTo>
                <a:lnTo>
                  <a:pt x="213" y="194"/>
                </a:lnTo>
                <a:lnTo>
                  <a:pt x="229" y="167"/>
                </a:lnTo>
                <a:lnTo>
                  <a:pt x="246" y="140"/>
                </a:lnTo>
                <a:lnTo>
                  <a:pt x="262" y="115"/>
                </a:lnTo>
                <a:lnTo>
                  <a:pt x="278" y="91"/>
                </a:lnTo>
                <a:lnTo>
                  <a:pt x="295" y="70"/>
                </a:lnTo>
                <a:lnTo>
                  <a:pt x="311" y="50"/>
                </a:lnTo>
                <a:lnTo>
                  <a:pt x="327" y="33"/>
                </a:lnTo>
                <a:lnTo>
                  <a:pt x="344" y="19"/>
                </a:lnTo>
                <a:lnTo>
                  <a:pt x="360" y="9"/>
                </a:lnTo>
                <a:lnTo>
                  <a:pt x="377" y="3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10"/>
                </a:lnTo>
                <a:lnTo>
                  <a:pt x="344" y="21"/>
                </a:lnTo>
                <a:lnTo>
                  <a:pt x="327" y="35"/>
                </a:lnTo>
                <a:lnTo>
                  <a:pt x="311" y="51"/>
                </a:lnTo>
                <a:lnTo>
                  <a:pt x="295" y="71"/>
                </a:lnTo>
                <a:lnTo>
                  <a:pt x="278" y="93"/>
                </a:lnTo>
                <a:lnTo>
                  <a:pt x="262" y="116"/>
                </a:lnTo>
                <a:lnTo>
                  <a:pt x="246" y="142"/>
                </a:lnTo>
                <a:lnTo>
                  <a:pt x="229" y="168"/>
                </a:lnTo>
                <a:lnTo>
                  <a:pt x="213" y="195"/>
                </a:lnTo>
                <a:lnTo>
                  <a:pt x="196" y="223"/>
                </a:lnTo>
                <a:lnTo>
                  <a:pt x="180" y="250"/>
                </a:lnTo>
                <a:lnTo>
                  <a:pt x="164" y="277"/>
                </a:lnTo>
                <a:lnTo>
                  <a:pt x="147" y="304"/>
                </a:lnTo>
                <a:lnTo>
                  <a:pt x="131" y="329"/>
                </a:lnTo>
                <a:lnTo>
                  <a:pt x="114" y="353"/>
                </a:lnTo>
                <a:lnTo>
                  <a:pt x="98" y="375"/>
                </a:lnTo>
                <a:lnTo>
                  <a:pt x="82" y="394"/>
                </a:lnTo>
                <a:lnTo>
                  <a:pt x="65" y="411"/>
                </a:lnTo>
                <a:lnTo>
                  <a:pt x="49" y="425"/>
                </a:lnTo>
                <a:lnTo>
                  <a:pt x="33" y="435"/>
                </a:lnTo>
                <a:lnTo>
                  <a:pt x="16" y="441"/>
                </a:lnTo>
                <a:lnTo>
                  <a:pt x="0" y="444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Freeform 120"/>
          <p:cNvSpPr/>
          <p:nvPr/>
        </p:nvSpPr>
        <p:spPr>
          <a:xfrm>
            <a:off x="2057400" y="2486025"/>
            <a:ext cx="3743325" cy="3686175"/>
          </a:xfrm>
          <a:custGeom>
            <a:avLst/>
            <a:gdLst/>
            <a:ahLst/>
            <a:cxnLst/>
            <a:rect l="l" t="t" r="r" b="b"/>
            <a:pathLst>
              <a:path w="393" h="387">
                <a:moveTo>
                  <a:pt x="0" y="386"/>
                </a:moveTo>
                <a:lnTo>
                  <a:pt x="16" y="384"/>
                </a:lnTo>
                <a:lnTo>
                  <a:pt x="33" y="378"/>
                </a:lnTo>
                <a:lnTo>
                  <a:pt x="49" y="369"/>
                </a:lnTo>
                <a:lnTo>
                  <a:pt x="65" y="357"/>
                </a:lnTo>
                <a:lnTo>
                  <a:pt x="82" y="342"/>
                </a:lnTo>
                <a:lnTo>
                  <a:pt x="98" y="325"/>
                </a:lnTo>
                <a:lnTo>
                  <a:pt x="114" y="306"/>
                </a:lnTo>
                <a:lnTo>
                  <a:pt x="131" y="286"/>
                </a:lnTo>
                <a:lnTo>
                  <a:pt x="147" y="264"/>
                </a:lnTo>
                <a:lnTo>
                  <a:pt x="164" y="241"/>
                </a:lnTo>
                <a:lnTo>
                  <a:pt x="180" y="217"/>
                </a:lnTo>
                <a:lnTo>
                  <a:pt x="196" y="193"/>
                </a:lnTo>
                <a:lnTo>
                  <a:pt x="213" y="169"/>
                </a:lnTo>
                <a:lnTo>
                  <a:pt x="229" y="145"/>
                </a:lnTo>
                <a:lnTo>
                  <a:pt x="246" y="122"/>
                </a:lnTo>
                <a:lnTo>
                  <a:pt x="262" y="100"/>
                </a:lnTo>
                <a:lnTo>
                  <a:pt x="278" y="79"/>
                </a:lnTo>
                <a:lnTo>
                  <a:pt x="295" y="60"/>
                </a:lnTo>
                <a:lnTo>
                  <a:pt x="311" y="43"/>
                </a:lnTo>
                <a:lnTo>
                  <a:pt x="327" y="29"/>
                </a:lnTo>
                <a:lnTo>
                  <a:pt x="344" y="17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9"/>
                </a:lnTo>
                <a:lnTo>
                  <a:pt x="344" y="18"/>
                </a:lnTo>
                <a:lnTo>
                  <a:pt x="327" y="30"/>
                </a:lnTo>
                <a:lnTo>
                  <a:pt x="311" y="45"/>
                </a:lnTo>
                <a:lnTo>
                  <a:pt x="295" y="62"/>
                </a:lnTo>
                <a:lnTo>
                  <a:pt x="278" y="81"/>
                </a:lnTo>
                <a:lnTo>
                  <a:pt x="262" y="101"/>
                </a:lnTo>
                <a:lnTo>
                  <a:pt x="246" y="123"/>
                </a:lnTo>
                <a:lnTo>
                  <a:pt x="229" y="146"/>
                </a:lnTo>
                <a:lnTo>
                  <a:pt x="213" y="170"/>
                </a:lnTo>
                <a:lnTo>
                  <a:pt x="196" y="194"/>
                </a:lnTo>
                <a:lnTo>
                  <a:pt x="180" y="218"/>
                </a:lnTo>
                <a:lnTo>
                  <a:pt x="164" y="242"/>
                </a:lnTo>
                <a:lnTo>
                  <a:pt x="147" y="265"/>
                </a:lnTo>
                <a:lnTo>
                  <a:pt x="131" y="287"/>
                </a:lnTo>
                <a:lnTo>
                  <a:pt x="114" y="308"/>
                </a:lnTo>
                <a:lnTo>
                  <a:pt x="98" y="327"/>
                </a:lnTo>
                <a:lnTo>
                  <a:pt x="82" y="344"/>
                </a:lnTo>
                <a:lnTo>
                  <a:pt x="65" y="358"/>
                </a:lnTo>
                <a:lnTo>
                  <a:pt x="49" y="370"/>
                </a:lnTo>
                <a:lnTo>
                  <a:pt x="33" y="379"/>
                </a:lnTo>
                <a:lnTo>
                  <a:pt x="16" y="385"/>
                </a:lnTo>
                <a:lnTo>
                  <a:pt x="0" y="387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Freeform 121"/>
          <p:cNvSpPr/>
          <p:nvPr/>
        </p:nvSpPr>
        <p:spPr>
          <a:xfrm>
            <a:off x="2057400" y="3038475"/>
            <a:ext cx="3743325" cy="3143250"/>
          </a:xfrm>
          <a:custGeom>
            <a:avLst/>
            <a:gdLst/>
            <a:ahLst/>
            <a:cxnLst/>
            <a:rect l="l" t="t" r="r" b="b"/>
            <a:pathLst>
              <a:path w="393" h="330">
                <a:moveTo>
                  <a:pt x="0" y="329"/>
                </a:moveTo>
                <a:lnTo>
                  <a:pt x="16" y="327"/>
                </a:lnTo>
                <a:lnTo>
                  <a:pt x="33" y="322"/>
                </a:lnTo>
                <a:lnTo>
                  <a:pt x="49" y="315"/>
                </a:lnTo>
                <a:lnTo>
                  <a:pt x="65" y="304"/>
                </a:lnTo>
                <a:lnTo>
                  <a:pt x="82" y="292"/>
                </a:lnTo>
                <a:lnTo>
                  <a:pt x="98" y="277"/>
                </a:lnTo>
                <a:lnTo>
                  <a:pt x="114" y="261"/>
                </a:lnTo>
                <a:lnTo>
                  <a:pt x="131" y="244"/>
                </a:lnTo>
                <a:lnTo>
                  <a:pt x="147" y="225"/>
                </a:lnTo>
                <a:lnTo>
                  <a:pt x="164" y="205"/>
                </a:lnTo>
                <a:lnTo>
                  <a:pt x="180" y="185"/>
                </a:lnTo>
                <a:lnTo>
                  <a:pt x="196" y="164"/>
                </a:lnTo>
                <a:lnTo>
                  <a:pt x="213" y="144"/>
                </a:lnTo>
                <a:lnTo>
                  <a:pt x="229" y="124"/>
                </a:lnTo>
                <a:lnTo>
                  <a:pt x="246" y="104"/>
                </a:lnTo>
                <a:lnTo>
                  <a:pt x="262" y="85"/>
                </a:lnTo>
                <a:lnTo>
                  <a:pt x="278" y="67"/>
                </a:lnTo>
                <a:lnTo>
                  <a:pt x="295" y="51"/>
                </a:lnTo>
                <a:lnTo>
                  <a:pt x="311" y="37"/>
                </a:lnTo>
                <a:lnTo>
                  <a:pt x="327" y="24"/>
                </a:lnTo>
                <a:lnTo>
                  <a:pt x="344" y="14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7"/>
                </a:lnTo>
                <a:lnTo>
                  <a:pt x="344" y="15"/>
                </a:lnTo>
                <a:lnTo>
                  <a:pt x="327" y="25"/>
                </a:lnTo>
                <a:lnTo>
                  <a:pt x="311" y="38"/>
                </a:lnTo>
                <a:lnTo>
                  <a:pt x="295" y="52"/>
                </a:lnTo>
                <a:lnTo>
                  <a:pt x="278" y="69"/>
                </a:lnTo>
                <a:lnTo>
                  <a:pt x="262" y="86"/>
                </a:lnTo>
                <a:lnTo>
                  <a:pt x="246" y="105"/>
                </a:lnTo>
                <a:lnTo>
                  <a:pt x="229" y="125"/>
                </a:lnTo>
                <a:lnTo>
                  <a:pt x="213" y="145"/>
                </a:lnTo>
                <a:lnTo>
                  <a:pt x="196" y="166"/>
                </a:lnTo>
                <a:lnTo>
                  <a:pt x="180" y="186"/>
                </a:lnTo>
                <a:lnTo>
                  <a:pt x="164" y="206"/>
                </a:lnTo>
                <a:lnTo>
                  <a:pt x="147" y="226"/>
                </a:lnTo>
                <a:lnTo>
                  <a:pt x="131" y="245"/>
                </a:lnTo>
                <a:lnTo>
                  <a:pt x="114" y="263"/>
                </a:lnTo>
                <a:lnTo>
                  <a:pt x="98" y="279"/>
                </a:lnTo>
                <a:lnTo>
                  <a:pt x="82" y="293"/>
                </a:lnTo>
                <a:lnTo>
                  <a:pt x="65" y="306"/>
                </a:lnTo>
                <a:lnTo>
                  <a:pt x="49" y="316"/>
                </a:lnTo>
                <a:lnTo>
                  <a:pt x="33" y="324"/>
                </a:lnTo>
                <a:lnTo>
                  <a:pt x="16" y="329"/>
                </a:lnTo>
                <a:lnTo>
                  <a:pt x="0" y="33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Freeform 122"/>
          <p:cNvSpPr/>
          <p:nvPr/>
        </p:nvSpPr>
        <p:spPr>
          <a:xfrm>
            <a:off x="2057400" y="3590925"/>
            <a:ext cx="3743325" cy="2609850"/>
          </a:xfrm>
          <a:custGeom>
            <a:avLst/>
            <a:gdLst/>
            <a:ahLst/>
            <a:cxnLst/>
            <a:rect l="l" t="t" r="r" b="b"/>
            <a:pathLst>
              <a:path w="393" h="274">
                <a:moveTo>
                  <a:pt x="0" y="272"/>
                </a:moveTo>
                <a:lnTo>
                  <a:pt x="16" y="271"/>
                </a:lnTo>
                <a:lnTo>
                  <a:pt x="33" y="267"/>
                </a:lnTo>
                <a:lnTo>
                  <a:pt x="49" y="261"/>
                </a:lnTo>
                <a:lnTo>
                  <a:pt x="65" y="252"/>
                </a:lnTo>
                <a:lnTo>
                  <a:pt x="82" y="242"/>
                </a:lnTo>
                <a:lnTo>
                  <a:pt x="98" y="230"/>
                </a:lnTo>
                <a:lnTo>
                  <a:pt x="114" y="216"/>
                </a:lnTo>
                <a:lnTo>
                  <a:pt x="131" y="202"/>
                </a:lnTo>
                <a:lnTo>
                  <a:pt x="147" y="186"/>
                </a:lnTo>
                <a:lnTo>
                  <a:pt x="164" y="170"/>
                </a:lnTo>
                <a:lnTo>
                  <a:pt x="180" y="153"/>
                </a:lnTo>
                <a:lnTo>
                  <a:pt x="196" y="136"/>
                </a:lnTo>
                <a:lnTo>
                  <a:pt x="213" y="119"/>
                </a:lnTo>
                <a:lnTo>
                  <a:pt x="229" y="102"/>
                </a:lnTo>
                <a:lnTo>
                  <a:pt x="246" y="86"/>
                </a:lnTo>
                <a:lnTo>
                  <a:pt x="262" y="70"/>
                </a:lnTo>
                <a:lnTo>
                  <a:pt x="278" y="56"/>
                </a:lnTo>
                <a:lnTo>
                  <a:pt x="295" y="42"/>
                </a:lnTo>
                <a:lnTo>
                  <a:pt x="311" y="30"/>
                </a:lnTo>
                <a:lnTo>
                  <a:pt x="327" y="20"/>
                </a:lnTo>
                <a:lnTo>
                  <a:pt x="344" y="11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6"/>
                </a:lnTo>
                <a:lnTo>
                  <a:pt x="344" y="13"/>
                </a:lnTo>
                <a:lnTo>
                  <a:pt x="327" y="21"/>
                </a:lnTo>
                <a:lnTo>
                  <a:pt x="311" y="32"/>
                </a:lnTo>
                <a:lnTo>
                  <a:pt x="295" y="44"/>
                </a:lnTo>
                <a:lnTo>
                  <a:pt x="278" y="57"/>
                </a:lnTo>
                <a:lnTo>
                  <a:pt x="262" y="72"/>
                </a:lnTo>
                <a:lnTo>
                  <a:pt x="246" y="87"/>
                </a:lnTo>
                <a:lnTo>
                  <a:pt x="229" y="103"/>
                </a:lnTo>
                <a:lnTo>
                  <a:pt x="213" y="120"/>
                </a:lnTo>
                <a:lnTo>
                  <a:pt x="196" y="137"/>
                </a:lnTo>
                <a:lnTo>
                  <a:pt x="180" y="154"/>
                </a:lnTo>
                <a:lnTo>
                  <a:pt x="164" y="171"/>
                </a:lnTo>
                <a:lnTo>
                  <a:pt x="147" y="187"/>
                </a:lnTo>
                <a:lnTo>
                  <a:pt x="131" y="203"/>
                </a:lnTo>
                <a:lnTo>
                  <a:pt x="114" y="218"/>
                </a:lnTo>
                <a:lnTo>
                  <a:pt x="98" y="231"/>
                </a:lnTo>
                <a:lnTo>
                  <a:pt x="82" y="243"/>
                </a:lnTo>
                <a:lnTo>
                  <a:pt x="65" y="253"/>
                </a:lnTo>
                <a:lnTo>
                  <a:pt x="49" y="262"/>
                </a:lnTo>
                <a:lnTo>
                  <a:pt x="33" y="268"/>
                </a:lnTo>
                <a:lnTo>
                  <a:pt x="16" y="272"/>
                </a:lnTo>
                <a:lnTo>
                  <a:pt x="0" y="274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Freeform 123"/>
          <p:cNvSpPr/>
          <p:nvPr/>
        </p:nvSpPr>
        <p:spPr>
          <a:xfrm>
            <a:off x="2057400" y="4133850"/>
            <a:ext cx="3743325" cy="2076450"/>
          </a:xfrm>
          <a:custGeom>
            <a:avLst/>
            <a:gdLst/>
            <a:ahLst/>
            <a:cxnLst/>
            <a:rect l="l" t="t" r="r" b="b"/>
            <a:pathLst>
              <a:path w="393" h="218">
                <a:moveTo>
                  <a:pt x="0" y="217"/>
                </a:moveTo>
                <a:lnTo>
                  <a:pt x="16" y="215"/>
                </a:lnTo>
                <a:lnTo>
                  <a:pt x="33" y="212"/>
                </a:lnTo>
                <a:lnTo>
                  <a:pt x="49" y="207"/>
                </a:lnTo>
                <a:lnTo>
                  <a:pt x="65" y="201"/>
                </a:lnTo>
                <a:lnTo>
                  <a:pt x="82" y="192"/>
                </a:lnTo>
                <a:lnTo>
                  <a:pt x="98" y="183"/>
                </a:lnTo>
                <a:lnTo>
                  <a:pt x="114" y="172"/>
                </a:lnTo>
                <a:lnTo>
                  <a:pt x="131" y="160"/>
                </a:lnTo>
                <a:lnTo>
                  <a:pt x="147" y="148"/>
                </a:lnTo>
                <a:lnTo>
                  <a:pt x="164" y="135"/>
                </a:lnTo>
                <a:lnTo>
                  <a:pt x="180" y="122"/>
                </a:lnTo>
                <a:lnTo>
                  <a:pt x="196" y="108"/>
                </a:lnTo>
                <a:lnTo>
                  <a:pt x="213" y="95"/>
                </a:lnTo>
                <a:lnTo>
                  <a:pt x="229" y="82"/>
                </a:lnTo>
                <a:lnTo>
                  <a:pt x="246" y="69"/>
                </a:lnTo>
                <a:lnTo>
                  <a:pt x="262" y="56"/>
                </a:lnTo>
                <a:lnTo>
                  <a:pt x="278" y="45"/>
                </a:lnTo>
                <a:lnTo>
                  <a:pt x="295" y="34"/>
                </a:lnTo>
                <a:lnTo>
                  <a:pt x="311" y="24"/>
                </a:lnTo>
                <a:lnTo>
                  <a:pt x="327" y="16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6"/>
                </a:lnTo>
                <a:lnTo>
                  <a:pt x="344" y="11"/>
                </a:lnTo>
                <a:lnTo>
                  <a:pt x="327" y="18"/>
                </a:lnTo>
                <a:lnTo>
                  <a:pt x="311" y="26"/>
                </a:lnTo>
                <a:lnTo>
                  <a:pt x="295" y="35"/>
                </a:lnTo>
                <a:lnTo>
                  <a:pt x="278" y="46"/>
                </a:lnTo>
                <a:lnTo>
                  <a:pt x="262" y="58"/>
                </a:lnTo>
                <a:lnTo>
                  <a:pt x="246" y="70"/>
                </a:lnTo>
                <a:lnTo>
                  <a:pt x="229" y="83"/>
                </a:lnTo>
                <a:lnTo>
                  <a:pt x="213" y="96"/>
                </a:lnTo>
                <a:lnTo>
                  <a:pt x="196" y="110"/>
                </a:lnTo>
                <a:lnTo>
                  <a:pt x="180" y="123"/>
                </a:lnTo>
                <a:lnTo>
                  <a:pt x="164" y="137"/>
                </a:lnTo>
                <a:lnTo>
                  <a:pt x="147" y="149"/>
                </a:lnTo>
                <a:lnTo>
                  <a:pt x="131" y="162"/>
                </a:lnTo>
                <a:lnTo>
                  <a:pt x="114" y="173"/>
                </a:lnTo>
                <a:lnTo>
                  <a:pt x="98" y="184"/>
                </a:lnTo>
                <a:lnTo>
                  <a:pt x="82" y="194"/>
                </a:lnTo>
                <a:lnTo>
                  <a:pt x="65" y="202"/>
                </a:lnTo>
                <a:lnTo>
                  <a:pt x="49" y="209"/>
                </a:lnTo>
                <a:lnTo>
                  <a:pt x="33" y="214"/>
                </a:lnTo>
                <a:lnTo>
                  <a:pt x="16" y="217"/>
                </a:lnTo>
                <a:lnTo>
                  <a:pt x="0" y="21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Freeform 124"/>
          <p:cNvSpPr/>
          <p:nvPr/>
        </p:nvSpPr>
        <p:spPr>
          <a:xfrm>
            <a:off x="2057400" y="4686300"/>
            <a:ext cx="3743325" cy="1533525"/>
          </a:xfrm>
          <a:custGeom>
            <a:avLst/>
            <a:gdLst/>
            <a:ahLst/>
            <a:cxnLst/>
            <a:rect l="l" t="t" r="r" b="b"/>
            <a:pathLst>
              <a:path w="393" h="161">
                <a:moveTo>
                  <a:pt x="0" y="160"/>
                </a:moveTo>
                <a:lnTo>
                  <a:pt x="16" y="159"/>
                </a:lnTo>
                <a:lnTo>
                  <a:pt x="33" y="157"/>
                </a:lnTo>
                <a:lnTo>
                  <a:pt x="49" y="153"/>
                </a:lnTo>
                <a:lnTo>
                  <a:pt x="65" y="148"/>
                </a:lnTo>
                <a:lnTo>
                  <a:pt x="82" y="142"/>
                </a:lnTo>
                <a:lnTo>
                  <a:pt x="98" y="135"/>
                </a:lnTo>
                <a:lnTo>
                  <a:pt x="114" y="127"/>
                </a:lnTo>
                <a:lnTo>
                  <a:pt x="131" y="118"/>
                </a:lnTo>
                <a:lnTo>
                  <a:pt x="147" y="109"/>
                </a:lnTo>
                <a:lnTo>
                  <a:pt x="164" y="100"/>
                </a:lnTo>
                <a:lnTo>
                  <a:pt x="180" y="90"/>
                </a:lnTo>
                <a:lnTo>
                  <a:pt x="196" y="80"/>
                </a:lnTo>
                <a:lnTo>
                  <a:pt x="213" y="70"/>
                </a:lnTo>
                <a:lnTo>
                  <a:pt x="229" y="60"/>
                </a:lnTo>
                <a:lnTo>
                  <a:pt x="246" y="50"/>
                </a:lnTo>
                <a:lnTo>
                  <a:pt x="262" y="41"/>
                </a:lnTo>
                <a:lnTo>
                  <a:pt x="278" y="33"/>
                </a:lnTo>
                <a:lnTo>
                  <a:pt x="295" y="25"/>
                </a:lnTo>
                <a:lnTo>
                  <a:pt x="311" y="18"/>
                </a:lnTo>
                <a:lnTo>
                  <a:pt x="327" y="12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4"/>
                </a:lnTo>
                <a:lnTo>
                  <a:pt x="344" y="8"/>
                </a:lnTo>
                <a:lnTo>
                  <a:pt x="327" y="13"/>
                </a:lnTo>
                <a:lnTo>
                  <a:pt x="311" y="19"/>
                </a:lnTo>
                <a:lnTo>
                  <a:pt x="295" y="26"/>
                </a:lnTo>
                <a:lnTo>
                  <a:pt x="278" y="34"/>
                </a:lnTo>
                <a:lnTo>
                  <a:pt x="262" y="43"/>
                </a:lnTo>
                <a:lnTo>
                  <a:pt x="246" y="52"/>
                </a:lnTo>
                <a:lnTo>
                  <a:pt x="229" y="61"/>
                </a:lnTo>
                <a:lnTo>
                  <a:pt x="213" y="71"/>
                </a:lnTo>
                <a:lnTo>
                  <a:pt x="196" y="81"/>
                </a:lnTo>
                <a:lnTo>
                  <a:pt x="180" y="91"/>
                </a:lnTo>
                <a:lnTo>
                  <a:pt x="164" y="101"/>
                </a:lnTo>
                <a:lnTo>
                  <a:pt x="147" y="111"/>
                </a:lnTo>
                <a:lnTo>
                  <a:pt x="131" y="120"/>
                </a:lnTo>
                <a:lnTo>
                  <a:pt x="114" y="128"/>
                </a:lnTo>
                <a:lnTo>
                  <a:pt x="98" y="136"/>
                </a:lnTo>
                <a:lnTo>
                  <a:pt x="82" y="143"/>
                </a:lnTo>
                <a:lnTo>
                  <a:pt x="65" y="149"/>
                </a:lnTo>
                <a:lnTo>
                  <a:pt x="49" y="154"/>
                </a:lnTo>
                <a:lnTo>
                  <a:pt x="33" y="158"/>
                </a:lnTo>
                <a:lnTo>
                  <a:pt x="16" y="161"/>
                </a:lnTo>
                <a:lnTo>
                  <a:pt x="0" y="161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Freeform 125"/>
          <p:cNvSpPr/>
          <p:nvPr/>
        </p:nvSpPr>
        <p:spPr>
          <a:xfrm>
            <a:off x="2057400" y="5238750"/>
            <a:ext cx="3743325" cy="1000125"/>
          </a:xfrm>
          <a:custGeom>
            <a:avLst/>
            <a:gdLst/>
            <a:ahLst/>
            <a:cxnLst/>
            <a:rect l="l" t="t" r="r" b="b"/>
            <a:pathLst>
              <a:path w="393" h="105">
                <a:moveTo>
                  <a:pt x="0" y="103"/>
                </a:moveTo>
                <a:lnTo>
                  <a:pt x="16" y="103"/>
                </a:lnTo>
                <a:lnTo>
                  <a:pt x="33" y="101"/>
                </a:lnTo>
                <a:lnTo>
                  <a:pt x="49" y="99"/>
                </a:lnTo>
                <a:lnTo>
                  <a:pt x="65" y="96"/>
                </a:lnTo>
                <a:lnTo>
                  <a:pt x="82" y="92"/>
                </a:lnTo>
                <a:lnTo>
                  <a:pt x="98" y="87"/>
                </a:lnTo>
                <a:lnTo>
                  <a:pt x="114" y="82"/>
                </a:lnTo>
                <a:lnTo>
                  <a:pt x="131" y="76"/>
                </a:lnTo>
                <a:lnTo>
                  <a:pt x="147" y="70"/>
                </a:lnTo>
                <a:lnTo>
                  <a:pt x="164" y="64"/>
                </a:lnTo>
                <a:lnTo>
                  <a:pt x="180" y="58"/>
                </a:lnTo>
                <a:lnTo>
                  <a:pt x="196" y="51"/>
                </a:lnTo>
                <a:lnTo>
                  <a:pt x="213" y="45"/>
                </a:lnTo>
                <a:lnTo>
                  <a:pt x="229" y="39"/>
                </a:lnTo>
                <a:lnTo>
                  <a:pt x="246" y="32"/>
                </a:lnTo>
                <a:lnTo>
                  <a:pt x="262" y="26"/>
                </a:lnTo>
                <a:lnTo>
                  <a:pt x="278" y="21"/>
                </a:lnTo>
                <a:lnTo>
                  <a:pt x="295" y="16"/>
                </a:lnTo>
                <a:lnTo>
                  <a:pt x="311" y="11"/>
                </a:lnTo>
                <a:lnTo>
                  <a:pt x="327" y="7"/>
                </a:lnTo>
                <a:lnTo>
                  <a:pt x="344" y="4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3"/>
                </a:lnTo>
                <a:lnTo>
                  <a:pt x="344" y="5"/>
                </a:lnTo>
                <a:lnTo>
                  <a:pt x="327" y="9"/>
                </a:lnTo>
                <a:lnTo>
                  <a:pt x="311" y="12"/>
                </a:lnTo>
                <a:lnTo>
                  <a:pt x="295" y="17"/>
                </a:lnTo>
                <a:lnTo>
                  <a:pt x="278" y="22"/>
                </a:lnTo>
                <a:lnTo>
                  <a:pt x="262" y="28"/>
                </a:lnTo>
                <a:lnTo>
                  <a:pt x="246" y="34"/>
                </a:lnTo>
                <a:lnTo>
                  <a:pt x="229" y="40"/>
                </a:lnTo>
                <a:lnTo>
                  <a:pt x="213" y="46"/>
                </a:lnTo>
                <a:lnTo>
                  <a:pt x="196" y="53"/>
                </a:lnTo>
                <a:lnTo>
                  <a:pt x="180" y="59"/>
                </a:lnTo>
                <a:lnTo>
                  <a:pt x="164" y="66"/>
                </a:lnTo>
                <a:lnTo>
                  <a:pt x="147" y="72"/>
                </a:lnTo>
                <a:lnTo>
                  <a:pt x="131" y="78"/>
                </a:lnTo>
                <a:lnTo>
                  <a:pt x="114" y="83"/>
                </a:lnTo>
                <a:lnTo>
                  <a:pt x="98" y="88"/>
                </a:lnTo>
                <a:lnTo>
                  <a:pt x="82" y="93"/>
                </a:lnTo>
                <a:lnTo>
                  <a:pt x="65" y="97"/>
                </a:lnTo>
                <a:lnTo>
                  <a:pt x="49" y="100"/>
                </a:lnTo>
                <a:lnTo>
                  <a:pt x="33" y="103"/>
                </a:lnTo>
                <a:lnTo>
                  <a:pt x="16" y="104"/>
                </a:lnTo>
                <a:lnTo>
                  <a:pt x="0" y="10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Freeform 126"/>
          <p:cNvSpPr/>
          <p:nvPr/>
        </p:nvSpPr>
        <p:spPr>
          <a:xfrm>
            <a:off x="2057400" y="5781675"/>
            <a:ext cx="3743325" cy="466725"/>
          </a:xfrm>
          <a:custGeom>
            <a:avLst/>
            <a:gdLst/>
            <a:ahLst/>
            <a:cxnLst/>
            <a:rect l="l" t="t" r="r" b="b"/>
            <a:pathLst>
              <a:path w="393" h="49">
                <a:moveTo>
                  <a:pt x="0" y="48"/>
                </a:moveTo>
                <a:lnTo>
                  <a:pt x="16" y="47"/>
                </a:lnTo>
                <a:lnTo>
                  <a:pt x="33" y="47"/>
                </a:lnTo>
                <a:lnTo>
                  <a:pt x="49" y="46"/>
                </a:lnTo>
                <a:lnTo>
                  <a:pt x="65" y="44"/>
                </a:lnTo>
                <a:lnTo>
                  <a:pt x="82" y="42"/>
                </a:lnTo>
                <a:lnTo>
                  <a:pt x="98" y="40"/>
                </a:lnTo>
                <a:lnTo>
                  <a:pt x="114" y="38"/>
                </a:lnTo>
                <a:lnTo>
                  <a:pt x="131" y="35"/>
                </a:lnTo>
                <a:lnTo>
                  <a:pt x="147" y="33"/>
                </a:lnTo>
                <a:lnTo>
                  <a:pt x="164" y="30"/>
                </a:lnTo>
                <a:lnTo>
                  <a:pt x="180" y="27"/>
                </a:lnTo>
                <a:lnTo>
                  <a:pt x="196" y="24"/>
                </a:lnTo>
                <a:lnTo>
                  <a:pt x="213" y="21"/>
                </a:lnTo>
                <a:lnTo>
                  <a:pt x="229" y="18"/>
                </a:lnTo>
                <a:lnTo>
                  <a:pt x="246" y="15"/>
                </a:lnTo>
                <a:lnTo>
                  <a:pt x="262" y="12"/>
                </a:lnTo>
                <a:lnTo>
                  <a:pt x="278" y="10"/>
                </a:lnTo>
                <a:lnTo>
                  <a:pt x="295" y="8"/>
                </a:lnTo>
                <a:lnTo>
                  <a:pt x="311" y="5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2"/>
                </a:lnTo>
                <a:lnTo>
                  <a:pt x="344" y="3"/>
                </a:lnTo>
                <a:lnTo>
                  <a:pt x="327" y="5"/>
                </a:lnTo>
                <a:lnTo>
                  <a:pt x="311" y="7"/>
                </a:lnTo>
                <a:lnTo>
                  <a:pt x="295" y="9"/>
                </a:lnTo>
                <a:lnTo>
                  <a:pt x="278" y="11"/>
                </a:lnTo>
                <a:lnTo>
                  <a:pt x="262" y="14"/>
                </a:lnTo>
                <a:lnTo>
                  <a:pt x="246" y="16"/>
                </a:lnTo>
                <a:lnTo>
                  <a:pt x="229" y="19"/>
                </a:lnTo>
                <a:lnTo>
                  <a:pt x="213" y="22"/>
                </a:lnTo>
                <a:lnTo>
                  <a:pt x="196" y="25"/>
                </a:lnTo>
                <a:lnTo>
                  <a:pt x="180" y="28"/>
                </a:lnTo>
                <a:lnTo>
                  <a:pt x="164" y="31"/>
                </a:lnTo>
                <a:lnTo>
                  <a:pt x="147" y="34"/>
                </a:lnTo>
                <a:lnTo>
                  <a:pt x="131" y="37"/>
                </a:lnTo>
                <a:lnTo>
                  <a:pt x="114" y="39"/>
                </a:lnTo>
                <a:lnTo>
                  <a:pt x="98" y="42"/>
                </a:lnTo>
                <a:lnTo>
                  <a:pt x="82" y="44"/>
                </a:lnTo>
                <a:lnTo>
                  <a:pt x="65" y="45"/>
                </a:lnTo>
                <a:lnTo>
                  <a:pt x="49" y="47"/>
                </a:lnTo>
                <a:lnTo>
                  <a:pt x="33" y="48"/>
                </a:lnTo>
                <a:lnTo>
                  <a:pt x="1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Freeform 127"/>
          <p:cNvSpPr/>
          <p:nvPr/>
        </p:nvSpPr>
        <p:spPr>
          <a:xfrm>
            <a:off x="2057400" y="6248400"/>
            <a:ext cx="3743325" cy="95250"/>
          </a:xfrm>
          <a:custGeom>
            <a:avLst/>
            <a:gdLst/>
            <a:ahLst/>
            <a:cxnLst/>
            <a:rect l="l" t="t" r="r" b="b"/>
            <a:pathLst>
              <a:path w="393" h="10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1"/>
                </a:lnTo>
                <a:lnTo>
                  <a:pt x="98" y="1"/>
                </a:lnTo>
                <a:lnTo>
                  <a:pt x="114" y="2"/>
                </a:lnTo>
                <a:lnTo>
                  <a:pt x="131" y="2"/>
                </a:lnTo>
                <a:lnTo>
                  <a:pt x="147" y="3"/>
                </a:lnTo>
                <a:lnTo>
                  <a:pt x="164" y="3"/>
                </a:lnTo>
                <a:lnTo>
                  <a:pt x="180" y="4"/>
                </a:lnTo>
                <a:lnTo>
                  <a:pt x="196" y="4"/>
                </a:lnTo>
                <a:lnTo>
                  <a:pt x="213" y="5"/>
                </a:lnTo>
                <a:lnTo>
                  <a:pt x="229" y="5"/>
                </a:lnTo>
                <a:lnTo>
                  <a:pt x="246" y="6"/>
                </a:lnTo>
                <a:lnTo>
                  <a:pt x="262" y="7"/>
                </a:lnTo>
                <a:lnTo>
                  <a:pt x="278" y="7"/>
                </a:lnTo>
                <a:lnTo>
                  <a:pt x="295" y="7"/>
                </a:lnTo>
                <a:lnTo>
                  <a:pt x="311" y="8"/>
                </a:lnTo>
                <a:lnTo>
                  <a:pt x="327" y="8"/>
                </a:lnTo>
                <a:lnTo>
                  <a:pt x="344" y="8"/>
                </a:lnTo>
                <a:lnTo>
                  <a:pt x="360" y="9"/>
                </a:lnTo>
                <a:lnTo>
                  <a:pt x="377" y="9"/>
                </a:lnTo>
                <a:lnTo>
                  <a:pt x="393" y="9"/>
                </a:lnTo>
                <a:lnTo>
                  <a:pt x="393" y="10"/>
                </a:lnTo>
                <a:lnTo>
                  <a:pt x="377" y="10"/>
                </a:lnTo>
                <a:lnTo>
                  <a:pt x="360" y="10"/>
                </a:lnTo>
                <a:lnTo>
                  <a:pt x="344" y="10"/>
                </a:lnTo>
                <a:lnTo>
                  <a:pt x="327" y="9"/>
                </a:lnTo>
                <a:lnTo>
                  <a:pt x="311" y="9"/>
                </a:lnTo>
                <a:lnTo>
                  <a:pt x="295" y="9"/>
                </a:lnTo>
                <a:lnTo>
                  <a:pt x="278" y="8"/>
                </a:lnTo>
                <a:lnTo>
                  <a:pt x="262" y="8"/>
                </a:lnTo>
                <a:lnTo>
                  <a:pt x="246" y="7"/>
                </a:lnTo>
                <a:lnTo>
                  <a:pt x="229" y="7"/>
                </a:lnTo>
                <a:lnTo>
                  <a:pt x="213" y="6"/>
                </a:lnTo>
                <a:lnTo>
                  <a:pt x="196" y="6"/>
                </a:lnTo>
                <a:lnTo>
                  <a:pt x="180" y="5"/>
                </a:lnTo>
                <a:lnTo>
                  <a:pt x="164" y="5"/>
                </a:lnTo>
                <a:lnTo>
                  <a:pt x="147" y="4"/>
                </a:lnTo>
                <a:lnTo>
                  <a:pt x="131" y="4"/>
                </a:lnTo>
                <a:lnTo>
                  <a:pt x="114" y="3"/>
                </a:lnTo>
                <a:lnTo>
                  <a:pt x="98" y="3"/>
                </a:lnTo>
                <a:lnTo>
                  <a:pt x="82" y="2"/>
                </a:lnTo>
                <a:lnTo>
                  <a:pt x="65" y="2"/>
                </a:lnTo>
                <a:lnTo>
                  <a:pt x="49" y="2"/>
                </a:lnTo>
                <a:lnTo>
                  <a:pt x="33" y="1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2057400" y="1952625"/>
            <a:ext cx="3743325" cy="4371975"/>
          </a:xfrm>
          <a:custGeom>
            <a:avLst/>
            <a:gdLst/>
            <a:ahLst/>
            <a:cxnLst/>
            <a:rect l="l" t="t" r="r" b="b"/>
            <a:pathLst>
              <a:path w="393" h="459">
                <a:moveTo>
                  <a:pt x="0" y="458"/>
                </a:moveTo>
                <a:lnTo>
                  <a:pt x="16" y="456"/>
                </a:lnTo>
                <a:lnTo>
                  <a:pt x="33" y="449"/>
                </a:lnTo>
                <a:lnTo>
                  <a:pt x="49" y="439"/>
                </a:lnTo>
                <a:lnTo>
                  <a:pt x="65" y="424"/>
                </a:lnTo>
                <a:lnTo>
                  <a:pt x="82" y="407"/>
                </a:lnTo>
                <a:lnTo>
                  <a:pt x="98" y="387"/>
                </a:lnTo>
                <a:lnTo>
                  <a:pt x="114" y="364"/>
                </a:lnTo>
                <a:lnTo>
                  <a:pt x="131" y="339"/>
                </a:lnTo>
                <a:lnTo>
                  <a:pt x="147" y="313"/>
                </a:lnTo>
                <a:lnTo>
                  <a:pt x="164" y="286"/>
                </a:lnTo>
                <a:lnTo>
                  <a:pt x="180" y="258"/>
                </a:lnTo>
                <a:lnTo>
                  <a:pt x="196" y="229"/>
                </a:lnTo>
                <a:lnTo>
                  <a:pt x="213" y="200"/>
                </a:lnTo>
                <a:lnTo>
                  <a:pt x="229" y="172"/>
                </a:lnTo>
                <a:lnTo>
                  <a:pt x="246" y="145"/>
                </a:lnTo>
                <a:lnTo>
                  <a:pt x="262" y="119"/>
                </a:lnTo>
                <a:lnTo>
                  <a:pt x="278" y="94"/>
                </a:lnTo>
                <a:lnTo>
                  <a:pt x="295" y="71"/>
                </a:lnTo>
                <a:lnTo>
                  <a:pt x="311" y="51"/>
                </a:lnTo>
                <a:lnTo>
                  <a:pt x="327" y="34"/>
                </a:lnTo>
                <a:lnTo>
                  <a:pt x="344" y="19"/>
                </a:lnTo>
                <a:lnTo>
                  <a:pt x="360" y="9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10"/>
                </a:lnTo>
                <a:lnTo>
                  <a:pt x="344" y="21"/>
                </a:lnTo>
                <a:lnTo>
                  <a:pt x="327" y="35"/>
                </a:lnTo>
                <a:lnTo>
                  <a:pt x="311" y="52"/>
                </a:lnTo>
                <a:lnTo>
                  <a:pt x="295" y="73"/>
                </a:lnTo>
                <a:lnTo>
                  <a:pt x="278" y="95"/>
                </a:lnTo>
                <a:lnTo>
                  <a:pt x="262" y="120"/>
                </a:lnTo>
                <a:lnTo>
                  <a:pt x="246" y="146"/>
                </a:lnTo>
                <a:lnTo>
                  <a:pt x="229" y="173"/>
                </a:lnTo>
                <a:lnTo>
                  <a:pt x="213" y="202"/>
                </a:lnTo>
                <a:lnTo>
                  <a:pt x="196" y="230"/>
                </a:lnTo>
                <a:lnTo>
                  <a:pt x="180" y="259"/>
                </a:lnTo>
                <a:lnTo>
                  <a:pt x="164" y="287"/>
                </a:lnTo>
                <a:lnTo>
                  <a:pt x="147" y="314"/>
                </a:lnTo>
                <a:lnTo>
                  <a:pt x="131" y="340"/>
                </a:lnTo>
                <a:lnTo>
                  <a:pt x="114" y="365"/>
                </a:lnTo>
                <a:lnTo>
                  <a:pt x="98" y="388"/>
                </a:lnTo>
                <a:lnTo>
                  <a:pt x="82" y="408"/>
                </a:lnTo>
                <a:lnTo>
                  <a:pt x="65" y="425"/>
                </a:lnTo>
                <a:lnTo>
                  <a:pt x="49" y="440"/>
                </a:lnTo>
                <a:lnTo>
                  <a:pt x="33" y="450"/>
                </a:lnTo>
                <a:lnTo>
                  <a:pt x="16" y="457"/>
                </a:lnTo>
                <a:lnTo>
                  <a:pt x="0" y="45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Freeform 129"/>
          <p:cNvSpPr/>
          <p:nvPr/>
        </p:nvSpPr>
        <p:spPr>
          <a:xfrm>
            <a:off x="2057400" y="2505075"/>
            <a:ext cx="3743325" cy="3829050"/>
          </a:xfrm>
          <a:custGeom>
            <a:avLst/>
            <a:gdLst/>
            <a:ahLst/>
            <a:cxnLst/>
            <a:rect l="l" t="t" r="r" b="b"/>
            <a:pathLst>
              <a:path w="393" h="402">
                <a:moveTo>
                  <a:pt x="0" y="401"/>
                </a:moveTo>
                <a:lnTo>
                  <a:pt x="16" y="399"/>
                </a:lnTo>
                <a:lnTo>
                  <a:pt x="33" y="393"/>
                </a:lnTo>
                <a:lnTo>
                  <a:pt x="49" y="384"/>
                </a:lnTo>
                <a:lnTo>
                  <a:pt x="65" y="372"/>
                </a:lnTo>
                <a:lnTo>
                  <a:pt x="82" y="356"/>
                </a:lnTo>
                <a:lnTo>
                  <a:pt x="98" y="339"/>
                </a:lnTo>
                <a:lnTo>
                  <a:pt x="114" y="319"/>
                </a:lnTo>
                <a:lnTo>
                  <a:pt x="131" y="297"/>
                </a:lnTo>
                <a:lnTo>
                  <a:pt x="147" y="274"/>
                </a:lnTo>
                <a:lnTo>
                  <a:pt x="164" y="250"/>
                </a:lnTo>
                <a:lnTo>
                  <a:pt x="180" y="225"/>
                </a:lnTo>
                <a:lnTo>
                  <a:pt x="196" y="200"/>
                </a:lnTo>
                <a:lnTo>
                  <a:pt x="213" y="175"/>
                </a:lnTo>
                <a:lnTo>
                  <a:pt x="229" y="151"/>
                </a:lnTo>
                <a:lnTo>
                  <a:pt x="246" y="127"/>
                </a:lnTo>
                <a:lnTo>
                  <a:pt x="262" y="104"/>
                </a:lnTo>
                <a:lnTo>
                  <a:pt x="278" y="82"/>
                </a:lnTo>
                <a:lnTo>
                  <a:pt x="295" y="62"/>
                </a:lnTo>
                <a:lnTo>
                  <a:pt x="311" y="45"/>
                </a:lnTo>
                <a:lnTo>
                  <a:pt x="327" y="29"/>
                </a:lnTo>
                <a:lnTo>
                  <a:pt x="344" y="17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8"/>
                </a:lnTo>
                <a:lnTo>
                  <a:pt x="344" y="18"/>
                </a:lnTo>
                <a:lnTo>
                  <a:pt x="327" y="30"/>
                </a:lnTo>
                <a:lnTo>
                  <a:pt x="311" y="46"/>
                </a:lnTo>
                <a:lnTo>
                  <a:pt x="295" y="63"/>
                </a:lnTo>
                <a:lnTo>
                  <a:pt x="278" y="83"/>
                </a:lnTo>
                <a:lnTo>
                  <a:pt x="262" y="105"/>
                </a:lnTo>
                <a:lnTo>
                  <a:pt x="246" y="128"/>
                </a:lnTo>
                <a:lnTo>
                  <a:pt x="229" y="152"/>
                </a:lnTo>
                <a:lnTo>
                  <a:pt x="213" y="176"/>
                </a:lnTo>
                <a:lnTo>
                  <a:pt x="196" y="201"/>
                </a:lnTo>
                <a:lnTo>
                  <a:pt x="180" y="227"/>
                </a:lnTo>
                <a:lnTo>
                  <a:pt x="164" y="251"/>
                </a:lnTo>
                <a:lnTo>
                  <a:pt x="147" y="275"/>
                </a:lnTo>
                <a:lnTo>
                  <a:pt x="131" y="298"/>
                </a:lnTo>
                <a:lnTo>
                  <a:pt x="114" y="320"/>
                </a:lnTo>
                <a:lnTo>
                  <a:pt x="98" y="340"/>
                </a:lnTo>
                <a:lnTo>
                  <a:pt x="82" y="357"/>
                </a:lnTo>
                <a:lnTo>
                  <a:pt x="65" y="373"/>
                </a:lnTo>
                <a:lnTo>
                  <a:pt x="49" y="385"/>
                </a:lnTo>
                <a:lnTo>
                  <a:pt x="33" y="394"/>
                </a:lnTo>
                <a:lnTo>
                  <a:pt x="16" y="400"/>
                </a:lnTo>
                <a:lnTo>
                  <a:pt x="0" y="40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Freeform 130"/>
          <p:cNvSpPr/>
          <p:nvPr/>
        </p:nvSpPr>
        <p:spPr>
          <a:xfrm>
            <a:off x="2057400" y="3048000"/>
            <a:ext cx="3743325" cy="3295650"/>
          </a:xfrm>
          <a:custGeom>
            <a:avLst/>
            <a:gdLst/>
            <a:ahLst/>
            <a:cxnLst/>
            <a:rect l="l" t="t" r="r" b="b"/>
            <a:pathLst>
              <a:path w="393" h="346">
                <a:moveTo>
                  <a:pt x="0" y="345"/>
                </a:moveTo>
                <a:lnTo>
                  <a:pt x="16" y="344"/>
                </a:lnTo>
                <a:lnTo>
                  <a:pt x="33" y="339"/>
                </a:lnTo>
                <a:lnTo>
                  <a:pt x="49" y="331"/>
                </a:lnTo>
                <a:lnTo>
                  <a:pt x="65" y="320"/>
                </a:lnTo>
                <a:lnTo>
                  <a:pt x="82" y="307"/>
                </a:lnTo>
                <a:lnTo>
                  <a:pt x="98" y="291"/>
                </a:lnTo>
                <a:lnTo>
                  <a:pt x="114" y="274"/>
                </a:lnTo>
                <a:lnTo>
                  <a:pt x="131" y="256"/>
                </a:lnTo>
                <a:lnTo>
                  <a:pt x="147" y="236"/>
                </a:lnTo>
                <a:lnTo>
                  <a:pt x="164" y="215"/>
                </a:lnTo>
                <a:lnTo>
                  <a:pt x="180" y="194"/>
                </a:lnTo>
                <a:lnTo>
                  <a:pt x="196" y="173"/>
                </a:lnTo>
                <a:lnTo>
                  <a:pt x="213" y="151"/>
                </a:lnTo>
                <a:lnTo>
                  <a:pt x="229" y="130"/>
                </a:lnTo>
                <a:lnTo>
                  <a:pt x="246" y="109"/>
                </a:lnTo>
                <a:lnTo>
                  <a:pt x="262" y="90"/>
                </a:lnTo>
                <a:lnTo>
                  <a:pt x="278" y="71"/>
                </a:lnTo>
                <a:lnTo>
                  <a:pt x="295" y="54"/>
                </a:lnTo>
                <a:lnTo>
                  <a:pt x="311" y="39"/>
                </a:lnTo>
                <a:lnTo>
                  <a:pt x="327" y="26"/>
                </a:lnTo>
                <a:lnTo>
                  <a:pt x="344" y="15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8"/>
                </a:lnTo>
                <a:lnTo>
                  <a:pt x="344" y="16"/>
                </a:lnTo>
                <a:lnTo>
                  <a:pt x="327" y="27"/>
                </a:lnTo>
                <a:lnTo>
                  <a:pt x="311" y="40"/>
                </a:lnTo>
                <a:lnTo>
                  <a:pt x="295" y="55"/>
                </a:lnTo>
                <a:lnTo>
                  <a:pt x="278" y="72"/>
                </a:lnTo>
                <a:lnTo>
                  <a:pt x="262" y="91"/>
                </a:lnTo>
                <a:lnTo>
                  <a:pt x="246" y="110"/>
                </a:lnTo>
                <a:lnTo>
                  <a:pt x="229" y="131"/>
                </a:lnTo>
                <a:lnTo>
                  <a:pt x="213" y="152"/>
                </a:lnTo>
                <a:lnTo>
                  <a:pt x="196" y="174"/>
                </a:lnTo>
                <a:lnTo>
                  <a:pt x="180" y="195"/>
                </a:lnTo>
                <a:lnTo>
                  <a:pt x="164" y="217"/>
                </a:lnTo>
                <a:lnTo>
                  <a:pt x="147" y="237"/>
                </a:lnTo>
                <a:lnTo>
                  <a:pt x="131" y="257"/>
                </a:lnTo>
                <a:lnTo>
                  <a:pt x="114" y="275"/>
                </a:lnTo>
                <a:lnTo>
                  <a:pt x="98" y="292"/>
                </a:lnTo>
                <a:lnTo>
                  <a:pt x="82" y="308"/>
                </a:lnTo>
                <a:lnTo>
                  <a:pt x="65" y="321"/>
                </a:lnTo>
                <a:lnTo>
                  <a:pt x="49" y="332"/>
                </a:lnTo>
                <a:lnTo>
                  <a:pt x="33" y="340"/>
                </a:lnTo>
                <a:lnTo>
                  <a:pt x="16" y="345"/>
                </a:lnTo>
                <a:lnTo>
                  <a:pt x="0" y="34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Freeform 131"/>
          <p:cNvSpPr/>
          <p:nvPr/>
        </p:nvSpPr>
        <p:spPr>
          <a:xfrm>
            <a:off x="2057400" y="3600450"/>
            <a:ext cx="3743325" cy="2752725"/>
          </a:xfrm>
          <a:custGeom>
            <a:avLst/>
            <a:gdLst/>
            <a:ahLst/>
            <a:cxnLst/>
            <a:rect l="l" t="t" r="r" b="b"/>
            <a:pathLst>
              <a:path w="393" h="289">
                <a:moveTo>
                  <a:pt x="0" y="288"/>
                </a:moveTo>
                <a:lnTo>
                  <a:pt x="16" y="287"/>
                </a:lnTo>
                <a:lnTo>
                  <a:pt x="33" y="283"/>
                </a:lnTo>
                <a:lnTo>
                  <a:pt x="49" y="276"/>
                </a:lnTo>
                <a:lnTo>
                  <a:pt x="65" y="267"/>
                </a:lnTo>
                <a:lnTo>
                  <a:pt x="82" y="256"/>
                </a:lnTo>
                <a:lnTo>
                  <a:pt x="98" y="243"/>
                </a:lnTo>
                <a:lnTo>
                  <a:pt x="114" y="229"/>
                </a:lnTo>
                <a:lnTo>
                  <a:pt x="131" y="214"/>
                </a:lnTo>
                <a:lnTo>
                  <a:pt x="147" y="197"/>
                </a:lnTo>
                <a:lnTo>
                  <a:pt x="164" y="180"/>
                </a:lnTo>
                <a:lnTo>
                  <a:pt x="180" y="162"/>
                </a:lnTo>
                <a:lnTo>
                  <a:pt x="196" y="144"/>
                </a:lnTo>
                <a:lnTo>
                  <a:pt x="213" y="126"/>
                </a:lnTo>
                <a:lnTo>
                  <a:pt x="229" y="108"/>
                </a:lnTo>
                <a:lnTo>
                  <a:pt x="246" y="91"/>
                </a:lnTo>
                <a:lnTo>
                  <a:pt x="262" y="75"/>
                </a:lnTo>
                <a:lnTo>
                  <a:pt x="278" y="59"/>
                </a:lnTo>
                <a:lnTo>
                  <a:pt x="295" y="45"/>
                </a:lnTo>
                <a:lnTo>
                  <a:pt x="311" y="32"/>
                </a:lnTo>
                <a:lnTo>
                  <a:pt x="327" y="21"/>
                </a:lnTo>
                <a:lnTo>
                  <a:pt x="344" y="12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6"/>
                </a:lnTo>
                <a:lnTo>
                  <a:pt x="344" y="13"/>
                </a:lnTo>
                <a:lnTo>
                  <a:pt x="327" y="22"/>
                </a:lnTo>
                <a:lnTo>
                  <a:pt x="311" y="33"/>
                </a:lnTo>
                <a:lnTo>
                  <a:pt x="295" y="46"/>
                </a:lnTo>
                <a:lnTo>
                  <a:pt x="278" y="60"/>
                </a:lnTo>
                <a:lnTo>
                  <a:pt x="262" y="76"/>
                </a:lnTo>
                <a:lnTo>
                  <a:pt x="246" y="92"/>
                </a:lnTo>
                <a:lnTo>
                  <a:pt x="229" y="109"/>
                </a:lnTo>
                <a:lnTo>
                  <a:pt x="213" y="127"/>
                </a:lnTo>
                <a:lnTo>
                  <a:pt x="196" y="145"/>
                </a:lnTo>
                <a:lnTo>
                  <a:pt x="180" y="163"/>
                </a:lnTo>
                <a:lnTo>
                  <a:pt x="164" y="181"/>
                </a:lnTo>
                <a:lnTo>
                  <a:pt x="147" y="198"/>
                </a:lnTo>
                <a:lnTo>
                  <a:pt x="131" y="215"/>
                </a:lnTo>
                <a:lnTo>
                  <a:pt x="114" y="230"/>
                </a:lnTo>
                <a:lnTo>
                  <a:pt x="98" y="244"/>
                </a:lnTo>
                <a:lnTo>
                  <a:pt x="82" y="257"/>
                </a:lnTo>
                <a:lnTo>
                  <a:pt x="65" y="268"/>
                </a:lnTo>
                <a:lnTo>
                  <a:pt x="49" y="277"/>
                </a:lnTo>
                <a:lnTo>
                  <a:pt x="33" y="284"/>
                </a:lnTo>
                <a:lnTo>
                  <a:pt x="16" y="288"/>
                </a:lnTo>
                <a:lnTo>
                  <a:pt x="0" y="28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Freeform 132"/>
          <p:cNvSpPr/>
          <p:nvPr/>
        </p:nvSpPr>
        <p:spPr>
          <a:xfrm>
            <a:off x="2057400" y="4143375"/>
            <a:ext cx="3743325" cy="2219325"/>
          </a:xfrm>
          <a:custGeom>
            <a:avLst/>
            <a:gdLst/>
            <a:ahLst/>
            <a:cxnLst/>
            <a:rect l="l" t="t" r="r" b="b"/>
            <a:pathLst>
              <a:path w="393" h="233">
                <a:moveTo>
                  <a:pt x="0" y="232"/>
                </a:moveTo>
                <a:lnTo>
                  <a:pt x="16" y="231"/>
                </a:lnTo>
                <a:lnTo>
                  <a:pt x="33" y="228"/>
                </a:lnTo>
                <a:lnTo>
                  <a:pt x="49" y="222"/>
                </a:lnTo>
                <a:lnTo>
                  <a:pt x="65" y="215"/>
                </a:lnTo>
                <a:lnTo>
                  <a:pt x="82" y="206"/>
                </a:lnTo>
                <a:lnTo>
                  <a:pt x="98" y="196"/>
                </a:lnTo>
                <a:lnTo>
                  <a:pt x="114" y="185"/>
                </a:lnTo>
                <a:lnTo>
                  <a:pt x="131" y="172"/>
                </a:lnTo>
                <a:lnTo>
                  <a:pt x="147" y="159"/>
                </a:lnTo>
                <a:lnTo>
                  <a:pt x="164" y="145"/>
                </a:lnTo>
                <a:lnTo>
                  <a:pt x="180" y="131"/>
                </a:lnTo>
                <a:lnTo>
                  <a:pt x="196" y="116"/>
                </a:lnTo>
                <a:lnTo>
                  <a:pt x="213" y="102"/>
                </a:lnTo>
                <a:lnTo>
                  <a:pt x="229" y="88"/>
                </a:lnTo>
                <a:lnTo>
                  <a:pt x="246" y="74"/>
                </a:lnTo>
                <a:lnTo>
                  <a:pt x="262" y="61"/>
                </a:lnTo>
                <a:lnTo>
                  <a:pt x="278" y="48"/>
                </a:lnTo>
                <a:lnTo>
                  <a:pt x="295" y="37"/>
                </a:lnTo>
                <a:lnTo>
                  <a:pt x="311" y="26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2"/>
                </a:lnTo>
                <a:lnTo>
                  <a:pt x="327" y="19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2"/>
                </a:lnTo>
                <a:lnTo>
                  <a:pt x="246" y="75"/>
                </a:lnTo>
                <a:lnTo>
                  <a:pt x="229" y="89"/>
                </a:lnTo>
                <a:lnTo>
                  <a:pt x="213" y="103"/>
                </a:lnTo>
                <a:lnTo>
                  <a:pt x="196" y="117"/>
                </a:lnTo>
                <a:lnTo>
                  <a:pt x="180" y="132"/>
                </a:lnTo>
                <a:lnTo>
                  <a:pt x="164" y="146"/>
                </a:lnTo>
                <a:lnTo>
                  <a:pt x="147" y="160"/>
                </a:lnTo>
                <a:lnTo>
                  <a:pt x="131" y="173"/>
                </a:lnTo>
                <a:lnTo>
                  <a:pt x="114" y="186"/>
                </a:lnTo>
                <a:lnTo>
                  <a:pt x="98" y="197"/>
                </a:lnTo>
                <a:lnTo>
                  <a:pt x="82" y="207"/>
                </a:lnTo>
                <a:lnTo>
                  <a:pt x="65" y="216"/>
                </a:lnTo>
                <a:lnTo>
                  <a:pt x="49" y="223"/>
                </a:lnTo>
                <a:lnTo>
                  <a:pt x="33" y="229"/>
                </a:lnTo>
                <a:lnTo>
                  <a:pt x="16" y="232"/>
                </a:lnTo>
                <a:lnTo>
                  <a:pt x="0" y="233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2057400" y="4695825"/>
            <a:ext cx="3743325" cy="1676400"/>
          </a:xfrm>
          <a:custGeom>
            <a:avLst/>
            <a:gdLst/>
            <a:ahLst/>
            <a:cxnLst/>
            <a:rect l="l" t="t" r="r" b="b"/>
            <a:pathLst>
              <a:path w="393" h="176">
                <a:moveTo>
                  <a:pt x="0" y="175"/>
                </a:moveTo>
                <a:lnTo>
                  <a:pt x="16" y="174"/>
                </a:lnTo>
                <a:lnTo>
                  <a:pt x="33" y="172"/>
                </a:lnTo>
                <a:lnTo>
                  <a:pt x="49" y="168"/>
                </a:lnTo>
                <a:lnTo>
                  <a:pt x="65" y="162"/>
                </a:lnTo>
                <a:lnTo>
                  <a:pt x="82" y="156"/>
                </a:lnTo>
                <a:lnTo>
                  <a:pt x="98" y="148"/>
                </a:lnTo>
                <a:lnTo>
                  <a:pt x="114" y="139"/>
                </a:lnTo>
                <a:lnTo>
                  <a:pt x="131" y="130"/>
                </a:lnTo>
                <a:lnTo>
                  <a:pt x="147" y="120"/>
                </a:lnTo>
                <a:lnTo>
                  <a:pt x="164" y="109"/>
                </a:lnTo>
                <a:lnTo>
                  <a:pt x="180" y="99"/>
                </a:lnTo>
                <a:lnTo>
                  <a:pt x="196" y="88"/>
                </a:lnTo>
                <a:lnTo>
                  <a:pt x="213" y="77"/>
                </a:lnTo>
                <a:lnTo>
                  <a:pt x="229" y="66"/>
                </a:lnTo>
                <a:lnTo>
                  <a:pt x="246" y="56"/>
                </a:lnTo>
                <a:lnTo>
                  <a:pt x="262" y="46"/>
                </a:lnTo>
                <a:lnTo>
                  <a:pt x="278" y="36"/>
                </a:lnTo>
                <a:lnTo>
                  <a:pt x="295" y="28"/>
                </a:lnTo>
                <a:lnTo>
                  <a:pt x="311" y="20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5"/>
                </a:lnTo>
                <a:lnTo>
                  <a:pt x="344" y="9"/>
                </a:lnTo>
                <a:lnTo>
                  <a:pt x="327" y="14"/>
                </a:lnTo>
                <a:lnTo>
                  <a:pt x="311" y="21"/>
                </a:lnTo>
                <a:lnTo>
                  <a:pt x="295" y="29"/>
                </a:lnTo>
                <a:lnTo>
                  <a:pt x="278" y="37"/>
                </a:lnTo>
                <a:lnTo>
                  <a:pt x="262" y="47"/>
                </a:lnTo>
                <a:lnTo>
                  <a:pt x="246" y="57"/>
                </a:lnTo>
                <a:lnTo>
                  <a:pt x="229" y="67"/>
                </a:lnTo>
                <a:lnTo>
                  <a:pt x="213" y="78"/>
                </a:lnTo>
                <a:lnTo>
                  <a:pt x="196" y="89"/>
                </a:lnTo>
                <a:lnTo>
                  <a:pt x="180" y="100"/>
                </a:lnTo>
                <a:lnTo>
                  <a:pt x="164" y="110"/>
                </a:lnTo>
                <a:lnTo>
                  <a:pt x="147" y="121"/>
                </a:lnTo>
                <a:lnTo>
                  <a:pt x="131" y="131"/>
                </a:lnTo>
                <a:lnTo>
                  <a:pt x="114" y="140"/>
                </a:lnTo>
                <a:lnTo>
                  <a:pt x="98" y="149"/>
                </a:lnTo>
                <a:lnTo>
                  <a:pt x="82" y="157"/>
                </a:lnTo>
                <a:lnTo>
                  <a:pt x="65" y="163"/>
                </a:lnTo>
                <a:lnTo>
                  <a:pt x="49" y="169"/>
                </a:lnTo>
                <a:lnTo>
                  <a:pt x="33" y="173"/>
                </a:lnTo>
                <a:lnTo>
                  <a:pt x="16" y="175"/>
                </a:lnTo>
                <a:lnTo>
                  <a:pt x="0" y="17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Freeform 134"/>
          <p:cNvSpPr/>
          <p:nvPr/>
        </p:nvSpPr>
        <p:spPr>
          <a:xfrm>
            <a:off x="2057400" y="5248275"/>
            <a:ext cx="3743325" cy="1133475"/>
          </a:xfrm>
          <a:custGeom>
            <a:avLst/>
            <a:gdLst/>
            <a:ahLst/>
            <a:cxnLst/>
            <a:rect l="l" t="t" r="r" b="b"/>
            <a:pathLst>
              <a:path w="393" h="119">
                <a:moveTo>
                  <a:pt x="0" y="118"/>
                </a:moveTo>
                <a:lnTo>
                  <a:pt x="16" y="118"/>
                </a:lnTo>
                <a:lnTo>
                  <a:pt x="33" y="116"/>
                </a:lnTo>
                <a:lnTo>
                  <a:pt x="49" y="113"/>
                </a:lnTo>
                <a:lnTo>
                  <a:pt x="65" y="110"/>
                </a:lnTo>
                <a:lnTo>
                  <a:pt x="82" y="105"/>
                </a:lnTo>
                <a:lnTo>
                  <a:pt x="98" y="100"/>
                </a:lnTo>
                <a:lnTo>
                  <a:pt x="114" y="94"/>
                </a:lnTo>
                <a:lnTo>
                  <a:pt x="131" y="88"/>
                </a:lnTo>
                <a:lnTo>
                  <a:pt x="147" y="81"/>
                </a:lnTo>
                <a:lnTo>
                  <a:pt x="164" y="74"/>
                </a:lnTo>
                <a:lnTo>
                  <a:pt x="180" y="66"/>
                </a:lnTo>
                <a:lnTo>
                  <a:pt x="196" y="59"/>
                </a:lnTo>
                <a:lnTo>
                  <a:pt x="213" y="52"/>
                </a:lnTo>
                <a:lnTo>
                  <a:pt x="229" y="44"/>
                </a:lnTo>
                <a:lnTo>
                  <a:pt x="246" y="37"/>
                </a:lnTo>
                <a:lnTo>
                  <a:pt x="262" y="31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9"/>
                </a:lnTo>
                <a:lnTo>
                  <a:pt x="344" y="5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3"/>
                </a:lnTo>
                <a:lnTo>
                  <a:pt x="344" y="6"/>
                </a:lnTo>
                <a:lnTo>
                  <a:pt x="327" y="10"/>
                </a:lnTo>
                <a:lnTo>
                  <a:pt x="311" y="14"/>
                </a:lnTo>
                <a:lnTo>
                  <a:pt x="295" y="19"/>
                </a:lnTo>
                <a:lnTo>
                  <a:pt x="278" y="25"/>
                </a:lnTo>
                <a:lnTo>
                  <a:pt x="262" y="32"/>
                </a:lnTo>
                <a:lnTo>
                  <a:pt x="246" y="38"/>
                </a:lnTo>
                <a:lnTo>
                  <a:pt x="229" y="45"/>
                </a:lnTo>
                <a:lnTo>
                  <a:pt x="213" y="53"/>
                </a:lnTo>
                <a:lnTo>
                  <a:pt x="196" y="60"/>
                </a:lnTo>
                <a:lnTo>
                  <a:pt x="180" y="68"/>
                </a:lnTo>
                <a:lnTo>
                  <a:pt x="164" y="75"/>
                </a:lnTo>
                <a:lnTo>
                  <a:pt x="147" y="82"/>
                </a:lnTo>
                <a:lnTo>
                  <a:pt x="131" y="89"/>
                </a:lnTo>
                <a:lnTo>
                  <a:pt x="114" y="95"/>
                </a:lnTo>
                <a:lnTo>
                  <a:pt x="98" y="101"/>
                </a:lnTo>
                <a:lnTo>
                  <a:pt x="82" y="106"/>
                </a:lnTo>
                <a:lnTo>
                  <a:pt x="65" y="111"/>
                </a:lnTo>
                <a:lnTo>
                  <a:pt x="49" y="114"/>
                </a:lnTo>
                <a:lnTo>
                  <a:pt x="33" y="117"/>
                </a:lnTo>
                <a:lnTo>
                  <a:pt x="16" y="119"/>
                </a:lnTo>
                <a:lnTo>
                  <a:pt x="0" y="11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Freeform 135"/>
          <p:cNvSpPr/>
          <p:nvPr/>
        </p:nvSpPr>
        <p:spPr>
          <a:xfrm>
            <a:off x="2057400" y="5791200"/>
            <a:ext cx="3743325" cy="600075"/>
          </a:xfrm>
          <a:custGeom>
            <a:avLst/>
            <a:gdLst/>
            <a:ahLst/>
            <a:cxnLst/>
            <a:rect l="l" t="t" r="r" b="b"/>
            <a:pathLst>
              <a:path w="393" h="63">
                <a:moveTo>
                  <a:pt x="0" y="62"/>
                </a:moveTo>
                <a:lnTo>
                  <a:pt x="16" y="62"/>
                </a:lnTo>
                <a:lnTo>
                  <a:pt x="33" y="61"/>
                </a:lnTo>
                <a:lnTo>
                  <a:pt x="49" y="60"/>
                </a:lnTo>
                <a:lnTo>
                  <a:pt x="65" y="58"/>
                </a:lnTo>
                <a:lnTo>
                  <a:pt x="82" y="55"/>
                </a:lnTo>
                <a:lnTo>
                  <a:pt x="98" y="53"/>
                </a:lnTo>
                <a:lnTo>
                  <a:pt x="114" y="50"/>
                </a:lnTo>
                <a:lnTo>
                  <a:pt x="131" y="46"/>
                </a:lnTo>
                <a:lnTo>
                  <a:pt x="147" y="43"/>
                </a:lnTo>
                <a:lnTo>
                  <a:pt x="164" y="39"/>
                </a:lnTo>
                <a:lnTo>
                  <a:pt x="180" y="35"/>
                </a:lnTo>
                <a:lnTo>
                  <a:pt x="196" y="31"/>
                </a:lnTo>
                <a:lnTo>
                  <a:pt x="213" y="28"/>
                </a:lnTo>
                <a:lnTo>
                  <a:pt x="229" y="24"/>
                </a:lnTo>
                <a:lnTo>
                  <a:pt x="246" y="20"/>
                </a:lnTo>
                <a:lnTo>
                  <a:pt x="262" y="17"/>
                </a:lnTo>
                <a:lnTo>
                  <a:pt x="278" y="13"/>
                </a:lnTo>
                <a:lnTo>
                  <a:pt x="295" y="10"/>
                </a:lnTo>
                <a:lnTo>
                  <a:pt x="311" y="7"/>
                </a:lnTo>
                <a:lnTo>
                  <a:pt x="327" y="5"/>
                </a:lnTo>
                <a:lnTo>
                  <a:pt x="344" y="3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3"/>
                </a:lnTo>
                <a:lnTo>
                  <a:pt x="344" y="4"/>
                </a:lnTo>
                <a:lnTo>
                  <a:pt x="327" y="6"/>
                </a:lnTo>
                <a:lnTo>
                  <a:pt x="311" y="8"/>
                </a:lnTo>
                <a:lnTo>
                  <a:pt x="295" y="11"/>
                </a:lnTo>
                <a:lnTo>
                  <a:pt x="278" y="14"/>
                </a:lnTo>
                <a:lnTo>
                  <a:pt x="262" y="17"/>
                </a:lnTo>
                <a:lnTo>
                  <a:pt x="246" y="21"/>
                </a:lnTo>
                <a:lnTo>
                  <a:pt x="229" y="25"/>
                </a:lnTo>
                <a:lnTo>
                  <a:pt x="213" y="29"/>
                </a:lnTo>
                <a:lnTo>
                  <a:pt x="196" y="32"/>
                </a:lnTo>
                <a:lnTo>
                  <a:pt x="180" y="36"/>
                </a:lnTo>
                <a:lnTo>
                  <a:pt x="164" y="40"/>
                </a:lnTo>
                <a:lnTo>
                  <a:pt x="147" y="44"/>
                </a:lnTo>
                <a:lnTo>
                  <a:pt x="131" y="47"/>
                </a:lnTo>
                <a:lnTo>
                  <a:pt x="114" y="51"/>
                </a:lnTo>
                <a:lnTo>
                  <a:pt x="98" y="54"/>
                </a:lnTo>
                <a:lnTo>
                  <a:pt x="82" y="56"/>
                </a:lnTo>
                <a:lnTo>
                  <a:pt x="65" y="59"/>
                </a:lnTo>
                <a:lnTo>
                  <a:pt x="49" y="61"/>
                </a:lnTo>
                <a:lnTo>
                  <a:pt x="33" y="62"/>
                </a:lnTo>
                <a:lnTo>
                  <a:pt x="1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Freeform 136"/>
          <p:cNvSpPr/>
          <p:nvPr/>
        </p:nvSpPr>
        <p:spPr>
          <a:xfrm>
            <a:off x="2057400" y="6343650"/>
            <a:ext cx="3743325" cy="57150"/>
          </a:xfrm>
          <a:custGeom>
            <a:avLst/>
            <a:gdLst/>
            <a:ahLst/>
            <a:cxnLst/>
            <a:rect l="l" t="t" r="r" b="b"/>
            <a:pathLst>
              <a:path w="393" h="6">
                <a:moveTo>
                  <a:pt x="0" y="5"/>
                </a:moveTo>
                <a:lnTo>
                  <a:pt x="16" y="5"/>
                </a:lnTo>
                <a:lnTo>
                  <a:pt x="33" y="5"/>
                </a:lnTo>
                <a:lnTo>
                  <a:pt x="49" y="5"/>
                </a:lnTo>
                <a:lnTo>
                  <a:pt x="65" y="5"/>
                </a:lnTo>
                <a:lnTo>
                  <a:pt x="82" y="5"/>
                </a:lnTo>
                <a:lnTo>
                  <a:pt x="98" y="5"/>
                </a:lnTo>
                <a:lnTo>
                  <a:pt x="114" y="4"/>
                </a:lnTo>
                <a:lnTo>
                  <a:pt x="131" y="4"/>
                </a:lnTo>
                <a:lnTo>
                  <a:pt x="147" y="4"/>
                </a:lnTo>
                <a:lnTo>
                  <a:pt x="164" y="3"/>
                </a:lnTo>
                <a:lnTo>
                  <a:pt x="180" y="3"/>
                </a:lnTo>
                <a:lnTo>
                  <a:pt x="196" y="3"/>
                </a:lnTo>
                <a:lnTo>
                  <a:pt x="213" y="2"/>
                </a:lnTo>
                <a:lnTo>
                  <a:pt x="229" y="2"/>
                </a:lnTo>
                <a:lnTo>
                  <a:pt x="246" y="2"/>
                </a:lnTo>
                <a:lnTo>
                  <a:pt x="262" y="1"/>
                </a:lnTo>
                <a:lnTo>
                  <a:pt x="278" y="1"/>
                </a:lnTo>
                <a:lnTo>
                  <a:pt x="295" y="1"/>
                </a:lnTo>
                <a:lnTo>
                  <a:pt x="311" y="1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1"/>
                </a:lnTo>
                <a:lnTo>
                  <a:pt x="344" y="1"/>
                </a:lnTo>
                <a:lnTo>
                  <a:pt x="327" y="2"/>
                </a:lnTo>
                <a:lnTo>
                  <a:pt x="311" y="2"/>
                </a:lnTo>
                <a:lnTo>
                  <a:pt x="295" y="2"/>
                </a:lnTo>
                <a:lnTo>
                  <a:pt x="278" y="2"/>
                </a:lnTo>
                <a:lnTo>
                  <a:pt x="262" y="3"/>
                </a:lnTo>
                <a:lnTo>
                  <a:pt x="246" y="3"/>
                </a:lnTo>
                <a:lnTo>
                  <a:pt x="229" y="3"/>
                </a:lnTo>
                <a:lnTo>
                  <a:pt x="213" y="3"/>
                </a:lnTo>
                <a:lnTo>
                  <a:pt x="196" y="4"/>
                </a:lnTo>
                <a:lnTo>
                  <a:pt x="180" y="4"/>
                </a:lnTo>
                <a:lnTo>
                  <a:pt x="164" y="4"/>
                </a:lnTo>
                <a:lnTo>
                  <a:pt x="147" y="5"/>
                </a:lnTo>
                <a:lnTo>
                  <a:pt x="131" y="5"/>
                </a:lnTo>
                <a:lnTo>
                  <a:pt x="114" y="5"/>
                </a:lnTo>
                <a:lnTo>
                  <a:pt x="98" y="6"/>
                </a:lnTo>
                <a:lnTo>
                  <a:pt x="82" y="6"/>
                </a:lnTo>
                <a:lnTo>
                  <a:pt x="65" y="6"/>
                </a:lnTo>
                <a:lnTo>
                  <a:pt x="49" y="6"/>
                </a:lnTo>
                <a:lnTo>
                  <a:pt x="33" y="6"/>
                </a:lnTo>
                <a:lnTo>
                  <a:pt x="16" y="6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Freeform 137"/>
          <p:cNvSpPr/>
          <p:nvPr/>
        </p:nvSpPr>
        <p:spPr>
          <a:xfrm>
            <a:off x="2057400" y="1962150"/>
            <a:ext cx="3743325" cy="4505325"/>
          </a:xfrm>
          <a:custGeom>
            <a:avLst/>
            <a:gdLst/>
            <a:ahLst/>
            <a:cxnLst/>
            <a:rect l="l" t="t" r="r" b="b"/>
            <a:pathLst>
              <a:path w="393" h="473">
                <a:moveTo>
                  <a:pt x="0" y="472"/>
                </a:moveTo>
                <a:lnTo>
                  <a:pt x="16" y="470"/>
                </a:lnTo>
                <a:lnTo>
                  <a:pt x="33" y="463"/>
                </a:lnTo>
                <a:lnTo>
                  <a:pt x="49" y="452"/>
                </a:lnTo>
                <a:lnTo>
                  <a:pt x="65" y="437"/>
                </a:lnTo>
                <a:lnTo>
                  <a:pt x="82" y="419"/>
                </a:lnTo>
                <a:lnTo>
                  <a:pt x="98" y="399"/>
                </a:lnTo>
                <a:lnTo>
                  <a:pt x="114" y="375"/>
                </a:lnTo>
                <a:lnTo>
                  <a:pt x="131" y="350"/>
                </a:lnTo>
                <a:lnTo>
                  <a:pt x="147" y="323"/>
                </a:lnTo>
                <a:lnTo>
                  <a:pt x="164" y="295"/>
                </a:lnTo>
                <a:lnTo>
                  <a:pt x="180" y="266"/>
                </a:lnTo>
                <a:lnTo>
                  <a:pt x="196" y="236"/>
                </a:lnTo>
                <a:lnTo>
                  <a:pt x="213" y="207"/>
                </a:lnTo>
                <a:lnTo>
                  <a:pt x="229" y="178"/>
                </a:lnTo>
                <a:lnTo>
                  <a:pt x="246" y="149"/>
                </a:lnTo>
                <a:lnTo>
                  <a:pt x="262" y="122"/>
                </a:lnTo>
                <a:lnTo>
                  <a:pt x="278" y="97"/>
                </a:lnTo>
                <a:lnTo>
                  <a:pt x="295" y="74"/>
                </a:lnTo>
                <a:lnTo>
                  <a:pt x="311" y="53"/>
                </a:lnTo>
                <a:lnTo>
                  <a:pt x="327" y="35"/>
                </a:lnTo>
                <a:lnTo>
                  <a:pt x="344" y="20"/>
                </a:lnTo>
                <a:lnTo>
                  <a:pt x="360" y="9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10"/>
                </a:lnTo>
                <a:lnTo>
                  <a:pt x="344" y="21"/>
                </a:lnTo>
                <a:lnTo>
                  <a:pt x="327" y="36"/>
                </a:lnTo>
                <a:lnTo>
                  <a:pt x="311" y="54"/>
                </a:lnTo>
                <a:lnTo>
                  <a:pt x="295" y="75"/>
                </a:lnTo>
                <a:lnTo>
                  <a:pt x="278" y="98"/>
                </a:lnTo>
                <a:lnTo>
                  <a:pt x="262" y="123"/>
                </a:lnTo>
                <a:lnTo>
                  <a:pt x="246" y="150"/>
                </a:lnTo>
                <a:lnTo>
                  <a:pt x="229" y="178"/>
                </a:lnTo>
                <a:lnTo>
                  <a:pt x="213" y="207"/>
                </a:lnTo>
                <a:lnTo>
                  <a:pt x="196" y="237"/>
                </a:lnTo>
                <a:lnTo>
                  <a:pt x="180" y="266"/>
                </a:lnTo>
                <a:lnTo>
                  <a:pt x="164" y="295"/>
                </a:lnTo>
                <a:lnTo>
                  <a:pt x="147" y="324"/>
                </a:lnTo>
                <a:lnTo>
                  <a:pt x="131" y="351"/>
                </a:lnTo>
                <a:lnTo>
                  <a:pt x="114" y="376"/>
                </a:lnTo>
                <a:lnTo>
                  <a:pt x="98" y="399"/>
                </a:lnTo>
                <a:lnTo>
                  <a:pt x="82" y="420"/>
                </a:lnTo>
                <a:lnTo>
                  <a:pt x="65" y="438"/>
                </a:lnTo>
                <a:lnTo>
                  <a:pt x="49" y="453"/>
                </a:lnTo>
                <a:lnTo>
                  <a:pt x="33" y="464"/>
                </a:lnTo>
                <a:lnTo>
                  <a:pt x="16" y="471"/>
                </a:lnTo>
                <a:lnTo>
                  <a:pt x="0" y="473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Freeform 138"/>
          <p:cNvSpPr/>
          <p:nvPr/>
        </p:nvSpPr>
        <p:spPr>
          <a:xfrm>
            <a:off x="2057400" y="2514600"/>
            <a:ext cx="3743325" cy="3962400"/>
          </a:xfrm>
          <a:custGeom>
            <a:avLst/>
            <a:gdLst/>
            <a:ahLst/>
            <a:cxnLst/>
            <a:rect l="l" t="t" r="r" b="b"/>
            <a:pathLst>
              <a:path w="393" h="416">
                <a:moveTo>
                  <a:pt x="0" y="415"/>
                </a:moveTo>
                <a:lnTo>
                  <a:pt x="16" y="413"/>
                </a:lnTo>
                <a:lnTo>
                  <a:pt x="33" y="407"/>
                </a:lnTo>
                <a:lnTo>
                  <a:pt x="49" y="397"/>
                </a:lnTo>
                <a:lnTo>
                  <a:pt x="65" y="384"/>
                </a:lnTo>
                <a:lnTo>
                  <a:pt x="82" y="369"/>
                </a:lnTo>
                <a:lnTo>
                  <a:pt x="98" y="350"/>
                </a:lnTo>
                <a:lnTo>
                  <a:pt x="114" y="330"/>
                </a:lnTo>
                <a:lnTo>
                  <a:pt x="131" y="307"/>
                </a:lnTo>
                <a:lnTo>
                  <a:pt x="147" y="284"/>
                </a:lnTo>
                <a:lnTo>
                  <a:pt x="164" y="259"/>
                </a:lnTo>
                <a:lnTo>
                  <a:pt x="180" y="233"/>
                </a:lnTo>
                <a:lnTo>
                  <a:pt x="196" y="207"/>
                </a:lnTo>
                <a:lnTo>
                  <a:pt x="213" y="181"/>
                </a:lnTo>
                <a:lnTo>
                  <a:pt x="229" y="156"/>
                </a:lnTo>
                <a:lnTo>
                  <a:pt x="246" y="131"/>
                </a:lnTo>
                <a:lnTo>
                  <a:pt x="262" y="107"/>
                </a:lnTo>
                <a:lnTo>
                  <a:pt x="278" y="85"/>
                </a:lnTo>
                <a:lnTo>
                  <a:pt x="295" y="64"/>
                </a:lnTo>
                <a:lnTo>
                  <a:pt x="311" y="46"/>
                </a:lnTo>
                <a:lnTo>
                  <a:pt x="327" y="30"/>
                </a:lnTo>
                <a:lnTo>
                  <a:pt x="344" y="17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0"/>
                </a:lnTo>
                <a:lnTo>
                  <a:pt x="377" y="2"/>
                </a:lnTo>
                <a:lnTo>
                  <a:pt x="360" y="9"/>
                </a:lnTo>
                <a:lnTo>
                  <a:pt x="344" y="18"/>
                </a:lnTo>
                <a:lnTo>
                  <a:pt x="327" y="31"/>
                </a:lnTo>
                <a:lnTo>
                  <a:pt x="311" y="47"/>
                </a:lnTo>
                <a:lnTo>
                  <a:pt x="295" y="65"/>
                </a:lnTo>
                <a:lnTo>
                  <a:pt x="278" y="86"/>
                </a:lnTo>
                <a:lnTo>
                  <a:pt x="262" y="108"/>
                </a:lnTo>
                <a:lnTo>
                  <a:pt x="246" y="132"/>
                </a:lnTo>
                <a:lnTo>
                  <a:pt x="229" y="157"/>
                </a:lnTo>
                <a:lnTo>
                  <a:pt x="213" y="182"/>
                </a:lnTo>
                <a:lnTo>
                  <a:pt x="196" y="208"/>
                </a:lnTo>
                <a:lnTo>
                  <a:pt x="180" y="234"/>
                </a:lnTo>
                <a:lnTo>
                  <a:pt x="164" y="260"/>
                </a:lnTo>
                <a:lnTo>
                  <a:pt x="147" y="284"/>
                </a:lnTo>
                <a:lnTo>
                  <a:pt x="131" y="308"/>
                </a:lnTo>
                <a:lnTo>
                  <a:pt x="114" y="331"/>
                </a:lnTo>
                <a:lnTo>
                  <a:pt x="98" y="351"/>
                </a:lnTo>
                <a:lnTo>
                  <a:pt x="82" y="369"/>
                </a:lnTo>
                <a:lnTo>
                  <a:pt x="65" y="385"/>
                </a:lnTo>
                <a:lnTo>
                  <a:pt x="49" y="398"/>
                </a:lnTo>
                <a:lnTo>
                  <a:pt x="33" y="408"/>
                </a:lnTo>
                <a:lnTo>
                  <a:pt x="16" y="414"/>
                </a:lnTo>
                <a:lnTo>
                  <a:pt x="0" y="41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2057400" y="3057525"/>
            <a:ext cx="3743325" cy="3429000"/>
          </a:xfrm>
          <a:custGeom>
            <a:avLst/>
            <a:gdLst/>
            <a:ahLst/>
            <a:cxnLst/>
            <a:rect l="l" t="t" r="r" b="b"/>
            <a:pathLst>
              <a:path w="393" h="360">
                <a:moveTo>
                  <a:pt x="0" y="359"/>
                </a:moveTo>
                <a:lnTo>
                  <a:pt x="16" y="357"/>
                </a:lnTo>
                <a:lnTo>
                  <a:pt x="33" y="352"/>
                </a:lnTo>
                <a:lnTo>
                  <a:pt x="49" y="344"/>
                </a:lnTo>
                <a:lnTo>
                  <a:pt x="65" y="332"/>
                </a:lnTo>
                <a:lnTo>
                  <a:pt x="82" y="319"/>
                </a:lnTo>
                <a:lnTo>
                  <a:pt x="98" y="303"/>
                </a:lnTo>
                <a:lnTo>
                  <a:pt x="114" y="285"/>
                </a:lnTo>
                <a:lnTo>
                  <a:pt x="131" y="266"/>
                </a:lnTo>
                <a:lnTo>
                  <a:pt x="147" y="245"/>
                </a:lnTo>
                <a:lnTo>
                  <a:pt x="164" y="224"/>
                </a:lnTo>
                <a:lnTo>
                  <a:pt x="180" y="202"/>
                </a:lnTo>
                <a:lnTo>
                  <a:pt x="196" y="180"/>
                </a:lnTo>
                <a:lnTo>
                  <a:pt x="213" y="157"/>
                </a:lnTo>
                <a:lnTo>
                  <a:pt x="229" y="135"/>
                </a:lnTo>
                <a:lnTo>
                  <a:pt x="246" y="114"/>
                </a:lnTo>
                <a:lnTo>
                  <a:pt x="262" y="93"/>
                </a:lnTo>
                <a:lnTo>
                  <a:pt x="278" y="74"/>
                </a:lnTo>
                <a:lnTo>
                  <a:pt x="295" y="56"/>
                </a:lnTo>
                <a:lnTo>
                  <a:pt x="311" y="40"/>
                </a:lnTo>
                <a:lnTo>
                  <a:pt x="327" y="27"/>
                </a:lnTo>
                <a:lnTo>
                  <a:pt x="344" y="15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8"/>
                </a:lnTo>
                <a:lnTo>
                  <a:pt x="344" y="16"/>
                </a:lnTo>
                <a:lnTo>
                  <a:pt x="327" y="28"/>
                </a:lnTo>
                <a:lnTo>
                  <a:pt x="311" y="41"/>
                </a:lnTo>
                <a:lnTo>
                  <a:pt x="295" y="57"/>
                </a:lnTo>
                <a:lnTo>
                  <a:pt x="278" y="75"/>
                </a:lnTo>
                <a:lnTo>
                  <a:pt x="262" y="94"/>
                </a:lnTo>
                <a:lnTo>
                  <a:pt x="246" y="115"/>
                </a:lnTo>
                <a:lnTo>
                  <a:pt x="229" y="136"/>
                </a:lnTo>
                <a:lnTo>
                  <a:pt x="213" y="158"/>
                </a:lnTo>
                <a:lnTo>
                  <a:pt x="196" y="180"/>
                </a:lnTo>
                <a:lnTo>
                  <a:pt x="180" y="203"/>
                </a:lnTo>
                <a:lnTo>
                  <a:pt x="164" y="225"/>
                </a:lnTo>
                <a:lnTo>
                  <a:pt x="147" y="246"/>
                </a:lnTo>
                <a:lnTo>
                  <a:pt x="131" y="267"/>
                </a:lnTo>
                <a:lnTo>
                  <a:pt x="114" y="286"/>
                </a:lnTo>
                <a:lnTo>
                  <a:pt x="98" y="304"/>
                </a:lnTo>
                <a:lnTo>
                  <a:pt x="82" y="320"/>
                </a:lnTo>
                <a:lnTo>
                  <a:pt x="65" y="333"/>
                </a:lnTo>
                <a:lnTo>
                  <a:pt x="49" y="345"/>
                </a:lnTo>
                <a:lnTo>
                  <a:pt x="33" y="353"/>
                </a:lnTo>
                <a:lnTo>
                  <a:pt x="16" y="358"/>
                </a:lnTo>
                <a:lnTo>
                  <a:pt x="0" y="36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Freeform 140"/>
          <p:cNvSpPr/>
          <p:nvPr/>
        </p:nvSpPr>
        <p:spPr>
          <a:xfrm>
            <a:off x="2057400" y="3609975"/>
            <a:ext cx="3743325" cy="2886075"/>
          </a:xfrm>
          <a:custGeom>
            <a:avLst/>
            <a:gdLst/>
            <a:ahLst/>
            <a:cxnLst/>
            <a:rect l="l" t="t" r="r" b="b"/>
            <a:pathLst>
              <a:path w="393" h="303">
                <a:moveTo>
                  <a:pt x="0" y="302"/>
                </a:moveTo>
                <a:lnTo>
                  <a:pt x="16" y="300"/>
                </a:lnTo>
                <a:lnTo>
                  <a:pt x="33" y="296"/>
                </a:lnTo>
                <a:lnTo>
                  <a:pt x="49" y="289"/>
                </a:lnTo>
                <a:lnTo>
                  <a:pt x="65" y="280"/>
                </a:lnTo>
                <a:lnTo>
                  <a:pt x="82" y="268"/>
                </a:lnTo>
                <a:lnTo>
                  <a:pt x="98" y="255"/>
                </a:lnTo>
                <a:lnTo>
                  <a:pt x="114" y="240"/>
                </a:lnTo>
                <a:lnTo>
                  <a:pt x="131" y="224"/>
                </a:lnTo>
                <a:lnTo>
                  <a:pt x="147" y="206"/>
                </a:lnTo>
                <a:lnTo>
                  <a:pt x="164" y="188"/>
                </a:lnTo>
                <a:lnTo>
                  <a:pt x="180" y="170"/>
                </a:lnTo>
                <a:lnTo>
                  <a:pt x="196" y="151"/>
                </a:lnTo>
                <a:lnTo>
                  <a:pt x="213" y="132"/>
                </a:lnTo>
                <a:lnTo>
                  <a:pt x="229" y="113"/>
                </a:lnTo>
                <a:lnTo>
                  <a:pt x="246" y="95"/>
                </a:lnTo>
                <a:lnTo>
                  <a:pt x="262" y="78"/>
                </a:lnTo>
                <a:lnTo>
                  <a:pt x="278" y="62"/>
                </a:lnTo>
                <a:lnTo>
                  <a:pt x="295" y="47"/>
                </a:lnTo>
                <a:lnTo>
                  <a:pt x="311" y="34"/>
                </a:lnTo>
                <a:lnTo>
                  <a:pt x="327" y="22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7"/>
                </a:lnTo>
                <a:lnTo>
                  <a:pt x="344" y="14"/>
                </a:lnTo>
                <a:lnTo>
                  <a:pt x="327" y="23"/>
                </a:lnTo>
                <a:lnTo>
                  <a:pt x="311" y="35"/>
                </a:lnTo>
                <a:lnTo>
                  <a:pt x="295" y="48"/>
                </a:lnTo>
                <a:lnTo>
                  <a:pt x="278" y="63"/>
                </a:lnTo>
                <a:lnTo>
                  <a:pt x="262" y="79"/>
                </a:lnTo>
                <a:lnTo>
                  <a:pt x="246" y="96"/>
                </a:lnTo>
                <a:lnTo>
                  <a:pt x="229" y="114"/>
                </a:lnTo>
                <a:lnTo>
                  <a:pt x="213" y="133"/>
                </a:lnTo>
                <a:lnTo>
                  <a:pt x="196" y="152"/>
                </a:lnTo>
                <a:lnTo>
                  <a:pt x="180" y="171"/>
                </a:lnTo>
                <a:lnTo>
                  <a:pt x="164" y="189"/>
                </a:lnTo>
                <a:lnTo>
                  <a:pt x="147" y="207"/>
                </a:lnTo>
                <a:lnTo>
                  <a:pt x="131" y="224"/>
                </a:lnTo>
                <a:lnTo>
                  <a:pt x="114" y="241"/>
                </a:lnTo>
                <a:lnTo>
                  <a:pt x="98" y="256"/>
                </a:lnTo>
                <a:lnTo>
                  <a:pt x="82" y="269"/>
                </a:lnTo>
                <a:lnTo>
                  <a:pt x="65" y="280"/>
                </a:lnTo>
                <a:lnTo>
                  <a:pt x="49" y="290"/>
                </a:lnTo>
                <a:lnTo>
                  <a:pt x="33" y="297"/>
                </a:lnTo>
                <a:lnTo>
                  <a:pt x="16" y="301"/>
                </a:lnTo>
                <a:lnTo>
                  <a:pt x="0" y="303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Freeform 141"/>
          <p:cNvSpPr/>
          <p:nvPr/>
        </p:nvSpPr>
        <p:spPr>
          <a:xfrm>
            <a:off x="2057400" y="4162425"/>
            <a:ext cx="3743325" cy="2343150"/>
          </a:xfrm>
          <a:custGeom>
            <a:avLst/>
            <a:gdLst/>
            <a:ahLst/>
            <a:cxnLst/>
            <a:rect l="l" t="t" r="r" b="b"/>
            <a:pathLst>
              <a:path w="393" h="246">
                <a:moveTo>
                  <a:pt x="0" y="245"/>
                </a:moveTo>
                <a:lnTo>
                  <a:pt x="16" y="244"/>
                </a:lnTo>
                <a:lnTo>
                  <a:pt x="33" y="240"/>
                </a:lnTo>
                <a:lnTo>
                  <a:pt x="49" y="234"/>
                </a:lnTo>
                <a:lnTo>
                  <a:pt x="65" y="227"/>
                </a:lnTo>
                <a:lnTo>
                  <a:pt x="82" y="217"/>
                </a:lnTo>
                <a:lnTo>
                  <a:pt x="98" y="206"/>
                </a:lnTo>
                <a:lnTo>
                  <a:pt x="114" y="194"/>
                </a:lnTo>
                <a:lnTo>
                  <a:pt x="131" y="181"/>
                </a:lnTo>
                <a:lnTo>
                  <a:pt x="147" y="167"/>
                </a:lnTo>
                <a:lnTo>
                  <a:pt x="164" y="153"/>
                </a:lnTo>
                <a:lnTo>
                  <a:pt x="180" y="137"/>
                </a:lnTo>
                <a:lnTo>
                  <a:pt x="196" y="122"/>
                </a:lnTo>
                <a:lnTo>
                  <a:pt x="213" y="107"/>
                </a:lnTo>
                <a:lnTo>
                  <a:pt x="229" y="92"/>
                </a:lnTo>
                <a:lnTo>
                  <a:pt x="246" y="77"/>
                </a:lnTo>
                <a:lnTo>
                  <a:pt x="262" y="63"/>
                </a:lnTo>
                <a:lnTo>
                  <a:pt x="278" y="50"/>
                </a:lnTo>
                <a:lnTo>
                  <a:pt x="295" y="38"/>
                </a:lnTo>
                <a:lnTo>
                  <a:pt x="311" y="27"/>
                </a:lnTo>
                <a:lnTo>
                  <a:pt x="327" y="18"/>
                </a:lnTo>
                <a:lnTo>
                  <a:pt x="344" y="10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0"/>
                </a:lnTo>
                <a:lnTo>
                  <a:pt x="377" y="2"/>
                </a:lnTo>
                <a:lnTo>
                  <a:pt x="360" y="5"/>
                </a:lnTo>
                <a:lnTo>
                  <a:pt x="344" y="11"/>
                </a:lnTo>
                <a:lnTo>
                  <a:pt x="327" y="18"/>
                </a:lnTo>
                <a:lnTo>
                  <a:pt x="311" y="28"/>
                </a:lnTo>
                <a:lnTo>
                  <a:pt x="295" y="39"/>
                </a:lnTo>
                <a:lnTo>
                  <a:pt x="278" y="51"/>
                </a:lnTo>
                <a:lnTo>
                  <a:pt x="262" y="64"/>
                </a:lnTo>
                <a:lnTo>
                  <a:pt x="246" y="78"/>
                </a:lnTo>
                <a:lnTo>
                  <a:pt x="229" y="93"/>
                </a:lnTo>
                <a:lnTo>
                  <a:pt x="213" y="108"/>
                </a:lnTo>
                <a:lnTo>
                  <a:pt x="196" y="123"/>
                </a:lnTo>
                <a:lnTo>
                  <a:pt x="180" y="138"/>
                </a:lnTo>
                <a:lnTo>
                  <a:pt x="164" y="153"/>
                </a:lnTo>
                <a:lnTo>
                  <a:pt x="147" y="168"/>
                </a:lnTo>
                <a:lnTo>
                  <a:pt x="131" y="182"/>
                </a:lnTo>
                <a:lnTo>
                  <a:pt x="114" y="195"/>
                </a:lnTo>
                <a:lnTo>
                  <a:pt x="98" y="207"/>
                </a:lnTo>
                <a:lnTo>
                  <a:pt x="82" y="218"/>
                </a:lnTo>
                <a:lnTo>
                  <a:pt x="65" y="227"/>
                </a:lnTo>
                <a:lnTo>
                  <a:pt x="49" y="235"/>
                </a:lnTo>
                <a:lnTo>
                  <a:pt x="33" y="241"/>
                </a:lnTo>
                <a:lnTo>
                  <a:pt x="16" y="244"/>
                </a:lnTo>
                <a:lnTo>
                  <a:pt x="0" y="24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Freeform 142"/>
          <p:cNvSpPr/>
          <p:nvPr/>
        </p:nvSpPr>
        <p:spPr>
          <a:xfrm>
            <a:off x="2057400" y="4705350"/>
            <a:ext cx="3743325" cy="1800225"/>
          </a:xfrm>
          <a:custGeom>
            <a:avLst/>
            <a:gdLst/>
            <a:ahLst/>
            <a:cxnLst/>
            <a:rect l="l" t="t" r="r" b="b"/>
            <a:pathLst>
              <a:path w="393" h="189">
                <a:moveTo>
                  <a:pt x="0" y="189"/>
                </a:moveTo>
                <a:lnTo>
                  <a:pt x="16" y="188"/>
                </a:lnTo>
                <a:lnTo>
                  <a:pt x="33" y="185"/>
                </a:lnTo>
                <a:lnTo>
                  <a:pt x="49" y="180"/>
                </a:lnTo>
                <a:lnTo>
                  <a:pt x="65" y="175"/>
                </a:lnTo>
                <a:lnTo>
                  <a:pt x="82" y="167"/>
                </a:lnTo>
                <a:lnTo>
                  <a:pt x="98" y="159"/>
                </a:lnTo>
                <a:lnTo>
                  <a:pt x="114" y="150"/>
                </a:lnTo>
                <a:lnTo>
                  <a:pt x="131" y="140"/>
                </a:lnTo>
                <a:lnTo>
                  <a:pt x="147" y="129"/>
                </a:lnTo>
                <a:lnTo>
                  <a:pt x="164" y="118"/>
                </a:lnTo>
                <a:lnTo>
                  <a:pt x="180" y="106"/>
                </a:lnTo>
                <a:lnTo>
                  <a:pt x="196" y="94"/>
                </a:lnTo>
                <a:lnTo>
                  <a:pt x="213" y="83"/>
                </a:lnTo>
                <a:lnTo>
                  <a:pt x="229" y="71"/>
                </a:lnTo>
                <a:lnTo>
                  <a:pt x="246" y="60"/>
                </a:lnTo>
                <a:lnTo>
                  <a:pt x="262" y="49"/>
                </a:lnTo>
                <a:lnTo>
                  <a:pt x="278" y="39"/>
                </a:lnTo>
                <a:lnTo>
                  <a:pt x="295" y="30"/>
                </a:lnTo>
                <a:lnTo>
                  <a:pt x="311" y="21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5"/>
                </a:lnTo>
                <a:lnTo>
                  <a:pt x="344" y="9"/>
                </a:lnTo>
                <a:lnTo>
                  <a:pt x="327" y="15"/>
                </a:lnTo>
                <a:lnTo>
                  <a:pt x="311" y="22"/>
                </a:lnTo>
                <a:lnTo>
                  <a:pt x="295" y="30"/>
                </a:lnTo>
                <a:lnTo>
                  <a:pt x="278" y="40"/>
                </a:lnTo>
                <a:lnTo>
                  <a:pt x="262" y="50"/>
                </a:lnTo>
                <a:lnTo>
                  <a:pt x="246" y="61"/>
                </a:lnTo>
                <a:lnTo>
                  <a:pt x="229" y="72"/>
                </a:lnTo>
                <a:lnTo>
                  <a:pt x="213" y="83"/>
                </a:lnTo>
                <a:lnTo>
                  <a:pt x="196" y="95"/>
                </a:lnTo>
                <a:lnTo>
                  <a:pt x="180" y="107"/>
                </a:lnTo>
                <a:lnTo>
                  <a:pt x="164" y="119"/>
                </a:lnTo>
                <a:lnTo>
                  <a:pt x="147" y="130"/>
                </a:lnTo>
                <a:lnTo>
                  <a:pt x="131" y="141"/>
                </a:lnTo>
                <a:lnTo>
                  <a:pt x="114" y="151"/>
                </a:lnTo>
                <a:lnTo>
                  <a:pt x="98" y="160"/>
                </a:lnTo>
                <a:lnTo>
                  <a:pt x="82" y="168"/>
                </a:lnTo>
                <a:lnTo>
                  <a:pt x="65" y="175"/>
                </a:lnTo>
                <a:lnTo>
                  <a:pt x="49" y="181"/>
                </a:lnTo>
                <a:lnTo>
                  <a:pt x="33" y="186"/>
                </a:lnTo>
                <a:lnTo>
                  <a:pt x="16" y="188"/>
                </a:lnTo>
                <a:lnTo>
                  <a:pt x="0" y="189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Freeform 143"/>
          <p:cNvSpPr/>
          <p:nvPr/>
        </p:nvSpPr>
        <p:spPr>
          <a:xfrm>
            <a:off x="2057400" y="5257800"/>
            <a:ext cx="3743325" cy="1257300"/>
          </a:xfrm>
          <a:custGeom>
            <a:avLst/>
            <a:gdLst/>
            <a:ahLst/>
            <a:cxnLst/>
            <a:rect l="l" t="t" r="r" b="b"/>
            <a:pathLst>
              <a:path w="393" h="132">
                <a:moveTo>
                  <a:pt x="0" y="131"/>
                </a:moveTo>
                <a:lnTo>
                  <a:pt x="16" y="131"/>
                </a:lnTo>
                <a:lnTo>
                  <a:pt x="33" y="129"/>
                </a:lnTo>
                <a:lnTo>
                  <a:pt x="49" y="126"/>
                </a:lnTo>
                <a:lnTo>
                  <a:pt x="65" y="122"/>
                </a:lnTo>
                <a:lnTo>
                  <a:pt x="82" y="117"/>
                </a:lnTo>
                <a:lnTo>
                  <a:pt x="98" y="111"/>
                </a:lnTo>
                <a:lnTo>
                  <a:pt x="114" y="104"/>
                </a:lnTo>
                <a:lnTo>
                  <a:pt x="131" y="97"/>
                </a:lnTo>
                <a:lnTo>
                  <a:pt x="147" y="90"/>
                </a:lnTo>
                <a:lnTo>
                  <a:pt x="164" y="82"/>
                </a:lnTo>
                <a:lnTo>
                  <a:pt x="180" y="74"/>
                </a:lnTo>
                <a:lnTo>
                  <a:pt x="196" y="66"/>
                </a:lnTo>
                <a:lnTo>
                  <a:pt x="213" y="57"/>
                </a:lnTo>
                <a:lnTo>
                  <a:pt x="229" y="49"/>
                </a:lnTo>
                <a:lnTo>
                  <a:pt x="246" y="41"/>
                </a:lnTo>
                <a:lnTo>
                  <a:pt x="262" y="34"/>
                </a:lnTo>
                <a:lnTo>
                  <a:pt x="278" y="27"/>
                </a:lnTo>
                <a:lnTo>
                  <a:pt x="295" y="20"/>
                </a:lnTo>
                <a:lnTo>
                  <a:pt x="311" y="15"/>
                </a:lnTo>
                <a:lnTo>
                  <a:pt x="327" y="10"/>
                </a:lnTo>
                <a:lnTo>
                  <a:pt x="344" y="6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3"/>
                </a:lnTo>
                <a:lnTo>
                  <a:pt x="344" y="6"/>
                </a:lnTo>
                <a:lnTo>
                  <a:pt x="327" y="10"/>
                </a:lnTo>
                <a:lnTo>
                  <a:pt x="311" y="15"/>
                </a:lnTo>
                <a:lnTo>
                  <a:pt x="295" y="21"/>
                </a:lnTo>
                <a:lnTo>
                  <a:pt x="278" y="28"/>
                </a:lnTo>
                <a:lnTo>
                  <a:pt x="262" y="35"/>
                </a:lnTo>
                <a:lnTo>
                  <a:pt x="246" y="42"/>
                </a:lnTo>
                <a:lnTo>
                  <a:pt x="229" y="50"/>
                </a:lnTo>
                <a:lnTo>
                  <a:pt x="213" y="58"/>
                </a:lnTo>
                <a:lnTo>
                  <a:pt x="196" y="66"/>
                </a:lnTo>
                <a:lnTo>
                  <a:pt x="180" y="75"/>
                </a:lnTo>
                <a:lnTo>
                  <a:pt x="164" y="83"/>
                </a:lnTo>
                <a:lnTo>
                  <a:pt x="147" y="91"/>
                </a:lnTo>
                <a:lnTo>
                  <a:pt x="131" y="98"/>
                </a:lnTo>
                <a:lnTo>
                  <a:pt x="114" y="105"/>
                </a:lnTo>
                <a:lnTo>
                  <a:pt x="98" y="112"/>
                </a:lnTo>
                <a:lnTo>
                  <a:pt x="82" y="117"/>
                </a:lnTo>
                <a:lnTo>
                  <a:pt x="65" y="123"/>
                </a:lnTo>
                <a:lnTo>
                  <a:pt x="49" y="127"/>
                </a:lnTo>
                <a:lnTo>
                  <a:pt x="33" y="130"/>
                </a:lnTo>
                <a:lnTo>
                  <a:pt x="16" y="132"/>
                </a:lnTo>
                <a:lnTo>
                  <a:pt x="0" y="13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Freeform 144"/>
          <p:cNvSpPr/>
          <p:nvPr/>
        </p:nvSpPr>
        <p:spPr>
          <a:xfrm>
            <a:off x="2057400" y="5800725"/>
            <a:ext cx="3743325" cy="723900"/>
          </a:xfrm>
          <a:custGeom>
            <a:avLst/>
            <a:gdLst/>
            <a:ahLst/>
            <a:cxnLst/>
            <a:rect l="l" t="t" r="r" b="b"/>
            <a:pathLst>
              <a:path w="393" h="76">
                <a:moveTo>
                  <a:pt x="0" y="75"/>
                </a:moveTo>
                <a:lnTo>
                  <a:pt x="16" y="75"/>
                </a:lnTo>
                <a:lnTo>
                  <a:pt x="33" y="74"/>
                </a:lnTo>
                <a:lnTo>
                  <a:pt x="49" y="72"/>
                </a:lnTo>
                <a:lnTo>
                  <a:pt x="65" y="70"/>
                </a:lnTo>
                <a:lnTo>
                  <a:pt x="82" y="67"/>
                </a:lnTo>
                <a:lnTo>
                  <a:pt x="98" y="64"/>
                </a:lnTo>
                <a:lnTo>
                  <a:pt x="114" y="60"/>
                </a:lnTo>
                <a:lnTo>
                  <a:pt x="131" y="56"/>
                </a:lnTo>
                <a:lnTo>
                  <a:pt x="147" y="52"/>
                </a:lnTo>
                <a:lnTo>
                  <a:pt x="164" y="47"/>
                </a:lnTo>
                <a:lnTo>
                  <a:pt x="180" y="43"/>
                </a:lnTo>
                <a:lnTo>
                  <a:pt x="196" y="38"/>
                </a:lnTo>
                <a:lnTo>
                  <a:pt x="213" y="33"/>
                </a:lnTo>
                <a:lnTo>
                  <a:pt x="229" y="29"/>
                </a:lnTo>
                <a:lnTo>
                  <a:pt x="246" y="24"/>
                </a:lnTo>
                <a:lnTo>
                  <a:pt x="262" y="20"/>
                </a:lnTo>
                <a:lnTo>
                  <a:pt x="278" y="16"/>
                </a:lnTo>
                <a:lnTo>
                  <a:pt x="295" y="12"/>
                </a:lnTo>
                <a:lnTo>
                  <a:pt x="311" y="9"/>
                </a:lnTo>
                <a:lnTo>
                  <a:pt x="327" y="6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3"/>
                </a:lnTo>
                <a:lnTo>
                  <a:pt x="344" y="5"/>
                </a:lnTo>
                <a:lnTo>
                  <a:pt x="327" y="7"/>
                </a:lnTo>
                <a:lnTo>
                  <a:pt x="311" y="10"/>
                </a:lnTo>
                <a:lnTo>
                  <a:pt x="295" y="13"/>
                </a:lnTo>
                <a:lnTo>
                  <a:pt x="278" y="17"/>
                </a:lnTo>
                <a:lnTo>
                  <a:pt x="262" y="21"/>
                </a:lnTo>
                <a:lnTo>
                  <a:pt x="246" y="25"/>
                </a:lnTo>
                <a:lnTo>
                  <a:pt x="229" y="29"/>
                </a:lnTo>
                <a:lnTo>
                  <a:pt x="213" y="34"/>
                </a:lnTo>
                <a:lnTo>
                  <a:pt x="196" y="39"/>
                </a:lnTo>
                <a:lnTo>
                  <a:pt x="180" y="43"/>
                </a:lnTo>
                <a:lnTo>
                  <a:pt x="164" y="48"/>
                </a:lnTo>
                <a:lnTo>
                  <a:pt x="147" y="52"/>
                </a:lnTo>
                <a:lnTo>
                  <a:pt x="131" y="57"/>
                </a:lnTo>
                <a:lnTo>
                  <a:pt x="114" y="61"/>
                </a:lnTo>
                <a:lnTo>
                  <a:pt x="98" y="64"/>
                </a:lnTo>
                <a:lnTo>
                  <a:pt x="82" y="68"/>
                </a:lnTo>
                <a:lnTo>
                  <a:pt x="65" y="71"/>
                </a:lnTo>
                <a:lnTo>
                  <a:pt x="49" y="73"/>
                </a:lnTo>
                <a:lnTo>
                  <a:pt x="33" y="75"/>
                </a:lnTo>
                <a:lnTo>
                  <a:pt x="16" y="76"/>
                </a:lnTo>
                <a:lnTo>
                  <a:pt x="0" y="7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Freeform 145"/>
          <p:cNvSpPr/>
          <p:nvPr/>
        </p:nvSpPr>
        <p:spPr>
          <a:xfrm>
            <a:off x="2057400" y="6353175"/>
            <a:ext cx="3743325" cy="180975"/>
          </a:xfrm>
          <a:custGeom>
            <a:avLst/>
            <a:gdLst/>
            <a:ahLst/>
            <a:cxnLst/>
            <a:rect l="l" t="t" r="r" b="b"/>
            <a:pathLst>
              <a:path w="393" h="19">
                <a:moveTo>
                  <a:pt x="0" y="18"/>
                </a:moveTo>
                <a:lnTo>
                  <a:pt x="16" y="18"/>
                </a:lnTo>
                <a:lnTo>
                  <a:pt x="33" y="18"/>
                </a:lnTo>
                <a:lnTo>
                  <a:pt x="49" y="17"/>
                </a:lnTo>
                <a:lnTo>
                  <a:pt x="65" y="17"/>
                </a:lnTo>
                <a:lnTo>
                  <a:pt x="82" y="16"/>
                </a:lnTo>
                <a:lnTo>
                  <a:pt x="98" y="15"/>
                </a:lnTo>
                <a:lnTo>
                  <a:pt x="114" y="14"/>
                </a:lnTo>
                <a:lnTo>
                  <a:pt x="131" y="13"/>
                </a:lnTo>
                <a:lnTo>
                  <a:pt x="147" y="12"/>
                </a:lnTo>
                <a:lnTo>
                  <a:pt x="164" y="11"/>
                </a:lnTo>
                <a:lnTo>
                  <a:pt x="180" y="10"/>
                </a:lnTo>
                <a:lnTo>
                  <a:pt x="196" y="9"/>
                </a:lnTo>
                <a:lnTo>
                  <a:pt x="213" y="8"/>
                </a:lnTo>
                <a:lnTo>
                  <a:pt x="229" y="7"/>
                </a:lnTo>
                <a:lnTo>
                  <a:pt x="246" y="6"/>
                </a:lnTo>
                <a:lnTo>
                  <a:pt x="262" y="5"/>
                </a:lnTo>
                <a:lnTo>
                  <a:pt x="278" y="4"/>
                </a:lnTo>
                <a:lnTo>
                  <a:pt x="295" y="3"/>
                </a:lnTo>
                <a:lnTo>
                  <a:pt x="311" y="2"/>
                </a:lnTo>
                <a:lnTo>
                  <a:pt x="327" y="1"/>
                </a:lnTo>
                <a:lnTo>
                  <a:pt x="344" y="1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1"/>
                </a:lnTo>
                <a:lnTo>
                  <a:pt x="344" y="2"/>
                </a:lnTo>
                <a:lnTo>
                  <a:pt x="327" y="2"/>
                </a:lnTo>
                <a:lnTo>
                  <a:pt x="311" y="3"/>
                </a:lnTo>
                <a:lnTo>
                  <a:pt x="295" y="4"/>
                </a:lnTo>
                <a:lnTo>
                  <a:pt x="278" y="5"/>
                </a:lnTo>
                <a:lnTo>
                  <a:pt x="262" y="6"/>
                </a:lnTo>
                <a:lnTo>
                  <a:pt x="246" y="7"/>
                </a:lnTo>
                <a:lnTo>
                  <a:pt x="229" y="8"/>
                </a:lnTo>
                <a:lnTo>
                  <a:pt x="213" y="9"/>
                </a:lnTo>
                <a:lnTo>
                  <a:pt x="196" y="10"/>
                </a:lnTo>
                <a:lnTo>
                  <a:pt x="180" y="11"/>
                </a:lnTo>
                <a:lnTo>
                  <a:pt x="164" y="12"/>
                </a:lnTo>
                <a:lnTo>
                  <a:pt x="147" y="13"/>
                </a:lnTo>
                <a:lnTo>
                  <a:pt x="131" y="14"/>
                </a:lnTo>
                <a:lnTo>
                  <a:pt x="114" y="15"/>
                </a:lnTo>
                <a:lnTo>
                  <a:pt x="98" y="16"/>
                </a:lnTo>
                <a:lnTo>
                  <a:pt x="82" y="17"/>
                </a:lnTo>
                <a:lnTo>
                  <a:pt x="65" y="18"/>
                </a:lnTo>
                <a:lnTo>
                  <a:pt x="49" y="18"/>
                </a:lnTo>
                <a:lnTo>
                  <a:pt x="33" y="19"/>
                </a:lnTo>
                <a:lnTo>
                  <a:pt x="1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941195" y="1304925"/>
            <a:ext cx="114300" cy="737477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941195" y="2099552"/>
            <a:ext cx="114300" cy="475622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941195" y="2632324"/>
            <a:ext cx="114300" cy="39617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941195" y="3085644"/>
            <a:ext cx="114300" cy="381568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941195" y="3524362"/>
            <a:ext cx="114300" cy="339249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941195" y="3920761"/>
            <a:ext cx="114300" cy="323400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1941195" y="4301311"/>
            <a:ext cx="114300" cy="311786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1941195" y="4670248"/>
            <a:ext cx="114300" cy="310358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1941195" y="5037756"/>
            <a:ext cx="114300" cy="24529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1941195" y="5340201"/>
            <a:ext cx="114300" cy="226087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1941195" y="5623438"/>
            <a:ext cx="114300" cy="226067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941195" y="5906656"/>
            <a:ext cx="114300" cy="182462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941195" y="6146268"/>
            <a:ext cx="114300" cy="114074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941195" y="6317491"/>
            <a:ext cx="114300" cy="87483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941195" y="6462125"/>
            <a:ext cx="114300" cy="720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5800725" y="1476375"/>
            <a:ext cx="114300" cy="492127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5800725" y="2025652"/>
            <a:ext cx="114300" cy="492126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5800725" y="2574928"/>
            <a:ext cx="114300" cy="492126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5800725" y="3124203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5800725" y="3673478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5800725" y="4222753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5800725" y="4772028"/>
            <a:ext cx="114300" cy="492124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Rectangle 168"/>
          <p:cNvSpPr/>
          <p:nvPr/>
        </p:nvSpPr>
        <p:spPr>
          <a:xfrm>
            <a:off x="5800725" y="5321302"/>
            <a:ext cx="114300" cy="492124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Rectangle 169"/>
          <p:cNvSpPr/>
          <p:nvPr/>
        </p:nvSpPr>
        <p:spPr>
          <a:xfrm>
            <a:off x="5800725" y="5870576"/>
            <a:ext cx="114300" cy="492124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TextBox 170"/>
          <p:cNvSpPr txBox="1"/>
          <p:nvPr/>
        </p:nvSpPr>
        <p:spPr>
          <a:xfrm>
            <a:off x="257175" y="1602226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2" name="TextBox 171"/>
          <p:cNvSpPr txBox="1"/>
          <p:nvPr/>
        </p:nvSpPr>
        <p:spPr>
          <a:xfrm>
            <a:off x="257175" y="2213538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3" name="TextBox 172"/>
          <p:cNvSpPr txBox="1"/>
          <p:nvPr/>
        </p:nvSpPr>
        <p:spPr>
          <a:xfrm>
            <a:off x="257175" y="2706584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4" name="TextBox 173"/>
          <p:cNvSpPr txBox="1"/>
          <p:nvPr/>
        </p:nvSpPr>
        <p:spPr>
          <a:xfrm>
            <a:off x="257175" y="3152603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5" name="TextBox 174"/>
          <p:cNvSpPr txBox="1"/>
          <p:nvPr/>
        </p:nvSpPr>
        <p:spPr>
          <a:xfrm>
            <a:off x="257175" y="3622549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257175" y="3958636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7" name="TextBox 176"/>
          <p:cNvSpPr txBox="1"/>
          <p:nvPr/>
        </p:nvSpPr>
        <p:spPr>
          <a:xfrm>
            <a:off x="257175" y="4333379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257175" y="469582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9" name="TextBox 178"/>
          <p:cNvSpPr txBox="1"/>
          <p:nvPr/>
        </p:nvSpPr>
        <p:spPr>
          <a:xfrm>
            <a:off x="257175" y="49530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257175" y="521017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1" name="TextBox 180"/>
          <p:cNvSpPr txBox="1"/>
          <p:nvPr/>
        </p:nvSpPr>
        <p:spPr>
          <a:xfrm>
            <a:off x="257175" y="5467350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257175" y="561975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3" name="TextBox 182"/>
          <p:cNvSpPr txBox="1"/>
          <p:nvPr/>
        </p:nvSpPr>
        <p:spPr>
          <a:xfrm>
            <a:off x="257175" y="587692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257175" y="61341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5" name="TextBox 184"/>
          <p:cNvSpPr txBox="1"/>
          <p:nvPr/>
        </p:nvSpPr>
        <p:spPr>
          <a:xfrm>
            <a:off x="257175" y="6391275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6" name="TextBox 185"/>
          <p:cNvSpPr txBox="1"/>
          <p:nvPr/>
        </p:nvSpPr>
        <p:spPr>
          <a:xfrm>
            <a:off x="5972175" y="1598613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5972175" y="2200277"/>
            <a:ext cx="1381125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88" name="TextBox 187"/>
          <p:cNvSpPr txBox="1"/>
          <p:nvPr/>
        </p:nvSpPr>
        <p:spPr>
          <a:xfrm>
            <a:off x="5972175" y="2697165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89" name="TextBox 188"/>
          <p:cNvSpPr txBox="1"/>
          <p:nvPr/>
        </p:nvSpPr>
        <p:spPr>
          <a:xfrm>
            <a:off x="5972175" y="3246441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0" name="TextBox 189"/>
          <p:cNvSpPr txBox="1"/>
          <p:nvPr/>
        </p:nvSpPr>
        <p:spPr>
          <a:xfrm>
            <a:off x="5972175" y="3795716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1" name="TextBox 190"/>
          <p:cNvSpPr txBox="1"/>
          <p:nvPr/>
        </p:nvSpPr>
        <p:spPr>
          <a:xfrm>
            <a:off x="5972175" y="4344991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2" name="TextBox 191"/>
          <p:cNvSpPr txBox="1"/>
          <p:nvPr/>
        </p:nvSpPr>
        <p:spPr>
          <a:xfrm>
            <a:off x="5972175" y="4894265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3" name="TextBox 192"/>
          <p:cNvSpPr txBox="1"/>
          <p:nvPr/>
        </p:nvSpPr>
        <p:spPr>
          <a:xfrm>
            <a:off x="5972175" y="5443539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4" name="TextBox 193"/>
          <p:cNvSpPr txBox="1"/>
          <p:nvPr/>
        </p:nvSpPr>
        <p:spPr>
          <a:xfrm>
            <a:off x="5972175" y="5992813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5" name="Rounded Rectangle 194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TextBox 197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9" name="TextBox 19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524297" y="1613313"/>
            <a:ext cx="130599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1606272"/>
            <a:ext cx="92663" cy="134782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658183" y="2216662"/>
            <a:ext cx="120681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Corrugated liner pre-printing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356866" y="2337363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330322"/>
            <a:ext cx="92663" cy="134782"/>
          </a:xfrm>
          <a:prstGeom prst="rect">
            <a:avLst/>
          </a:prstGeom>
        </p:spPr>
      </p:pic>
      <p:sp>
        <p:nvSpPr>
          <p:cNvPr id="205" name="TextBox 204"/>
          <p:cNvSpPr txBox="1"/>
          <p:nvPr/>
        </p:nvSpPr>
        <p:spPr>
          <a:xfrm>
            <a:off x="358592" y="2709708"/>
            <a:ext cx="150640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Specialty box-forming and assembly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1356866" y="2830409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823368"/>
            <a:ext cx="92663" cy="134782"/>
          </a:xfrm>
          <a:prstGeom prst="rect">
            <a:avLst/>
          </a:prstGeom>
        </p:spPr>
      </p:pic>
      <p:sp>
        <p:nvSpPr>
          <p:cNvPr id="208" name="TextBox 207"/>
          <p:cNvSpPr txBox="1"/>
          <p:nvPr/>
        </p:nvSpPr>
        <p:spPr>
          <a:xfrm>
            <a:off x="365563" y="3216077"/>
            <a:ext cx="146473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Double facers and gluing systems</a:t>
            </a:r>
          </a:p>
        </p:txBody>
      </p:sp>
      <p:pic>
        <p:nvPicPr>
          <p:cNvPr id="209" name="Picture 2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209036"/>
            <a:ext cx="92663" cy="134782"/>
          </a:xfrm>
          <a:prstGeom prst="rect">
            <a:avLst/>
          </a:prstGeom>
        </p:spPr>
      </p:pic>
      <p:sp>
        <p:nvSpPr>
          <p:cNvPr id="210" name="TextBox 209"/>
          <p:cNvSpPr txBox="1"/>
          <p:nvPr/>
        </p:nvSpPr>
        <p:spPr>
          <a:xfrm>
            <a:off x="1231725" y="3633636"/>
            <a:ext cx="59856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Single facers</a:t>
            </a:r>
          </a:p>
        </p:txBody>
      </p:sp>
      <p:pic>
        <p:nvPicPr>
          <p:cNvPr id="211" name="Picture 2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626595"/>
            <a:ext cx="92663" cy="134782"/>
          </a:xfrm>
          <a:prstGeom prst="rect">
            <a:avLst/>
          </a:prstGeom>
        </p:spPr>
      </p:pic>
      <p:sp>
        <p:nvSpPr>
          <p:cNvPr id="212" name="TextBox 211"/>
          <p:cNvSpPr txBox="1"/>
          <p:nvPr/>
        </p:nvSpPr>
        <p:spPr>
          <a:xfrm>
            <a:off x="525774" y="3961760"/>
            <a:ext cx="133922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slotting, scoring and</a:t>
            </a:r>
          </a:p>
        </p:txBody>
      </p:sp>
      <p:sp>
        <p:nvSpPr>
          <p:cNvPr id="213" name="TextBox 212"/>
          <p:cNvSpPr txBox="1"/>
          <p:nvPr/>
        </p:nvSpPr>
        <p:spPr>
          <a:xfrm>
            <a:off x="989302" y="4082461"/>
            <a:ext cx="84099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creasing machines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075420"/>
            <a:ext cx="92663" cy="134782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353484" y="4336503"/>
            <a:ext cx="15115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Slitter-scorers, cut-off machines and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945886" y="4457204"/>
            <a:ext cx="8844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corrugator stackers</a:t>
            </a:r>
          </a:p>
        </p:txBody>
      </p:sp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450163"/>
            <a:ext cx="92663" cy="134782"/>
          </a:xfrm>
          <a:prstGeom prst="rect">
            <a:avLst/>
          </a:prstGeom>
        </p:spPr>
      </p:pic>
      <p:sp>
        <p:nvSpPr>
          <p:cNvPr id="218" name="TextBox 217"/>
          <p:cNvSpPr txBox="1"/>
          <p:nvPr/>
        </p:nvSpPr>
        <p:spPr>
          <a:xfrm>
            <a:off x="315176" y="4698949"/>
            <a:ext cx="154981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Flute laminating and sheet-mounting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356866" y="4819650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812609"/>
            <a:ext cx="92663" cy="134782"/>
          </a:xfrm>
          <a:prstGeom prst="rect">
            <a:avLst/>
          </a:prstGeom>
        </p:spPr>
      </p:pic>
      <p:sp>
        <p:nvSpPr>
          <p:cNvPr id="221" name="TextBox 220"/>
          <p:cNvSpPr txBox="1"/>
          <p:nvPr/>
        </p:nvSpPr>
        <p:spPr>
          <a:xfrm>
            <a:off x="627929" y="4956124"/>
            <a:ext cx="123706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flexo printing and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738038" y="5076825"/>
            <a:ext cx="109225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 machines</a:t>
            </a:r>
          </a:p>
        </p:txBody>
      </p:sp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069784"/>
            <a:ext cx="92663" cy="134782"/>
          </a:xfrm>
          <a:prstGeom prst="rect">
            <a:avLst/>
          </a:prstGeom>
        </p:spPr>
      </p:pic>
      <p:sp>
        <p:nvSpPr>
          <p:cNvPr id="224" name="TextBox 223"/>
          <p:cNvSpPr txBox="1"/>
          <p:nvPr/>
        </p:nvSpPr>
        <p:spPr>
          <a:xfrm>
            <a:off x="340518" y="5213299"/>
            <a:ext cx="152447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pic>
        <p:nvPicPr>
          <p:cNvPr id="225" name="Picture 2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326959"/>
            <a:ext cx="92663" cy="134782"/>
          </a:xfrm>
          <a:prstGeom prst="rect">
            <a:avLst/>
          </a:prstGeom>
        </p:spPr>
      </p:pic>
      <p:sp>
        <p:nvSpPr>
          <p:cNvPr id="226" name="TextBox 225"/>
          <p:cNvSpPr txBox="1"/>
          <p:nvPr/>
        </p:nvSpPr>
        <p:spPr>
          <a:xfrm>
            <a:off x="722912" y="5478437"/>
            <a:ext cx="110738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pic>
        <p:nvPicPr>
          <p:cNvPr id="227" name="Picture 2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471396"/>
            <a:ext cx="92663" cy="134782"/>
          </a:xfrm>
          <a:prstGeom prst="rect">
            <a:avLst/>
          </a:prstGeom>
        </p:spPr>
      </p:pic>
      <p:sp>
        <p:nvSpPr>
          <p:cNvPr id="228" name="TextBox 227"/>
          <p:cNvSpPr txBox="1"/>
          <p:nvPr/>
        </p:nvSpPr>
        <p:spPr>
          <a:xfrm>
            <a:off x="630287" y="5622874"/>
            <a:ext cx="123470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Stitching and box-joint taping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356866" y="5743575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30" name="Picture 2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736534"/>
            <a:ext cx="92663" cy="134782"/>
          </a:xfrm>
          <a:prstGeom prst="rect">
            <a:avLst/>
          </a:prstGeom>
        </p:spPr>
      </p:pic>
      <p:sp>
        <p:nvSpPr>
          <p:cNvPr id="231" name="TextBox 230"/>
          <p:cNvSpPr txBox="1"/>
          <p:nvPr/>
        </p:nvSpPr>
        <p:spPr>
          <a:xfrm>
            <a:off x="1195286" y="5880049"/>
            <a:ext cx="6697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Integrated flexo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497383" y="6000750"/>
            <a:ext cx="13329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printer-slotter-die-cutter lines</a:t>
            </a:r>
          </a:p>
        </p:txBody>
      </p:sp>
      <p:pic>
        <p:nvPicPr>
          <p:cNvPr id="233" name="Picture 2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993709"/>
            <a:ext cx="92663" cy="134782"/>
          </a:xfrm>
          <a:prstGeom prst="rect">
            <a:avLst/>
          </a:prstGeom>
        </p:spPr>
      </p:pic>
      <p:sp>
        <p:nvSpPr>
          <p:cNvPr id="234" name="TextBox 233"/>
          <p:cNvSpPr txBox="1"/>
          <p:nvPr/>
        </p:nvSpPr>
        <p:spPr>
          <a:xfrm>
            <a:off x="340125" y="6137224"/>
            <a:ext cx="152486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Reel stands, splicers, preheaters and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10147" y="6257925"/>
            <a:ext cx="122014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other corrugator auxiliaries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250884"/>
            <a:ext cx="92663" cy="134782"/>
          </a:xfrm>
          <a:prstGeom prst="rect">
            <a:avLst/>
          </a:prstGeom>
        </p:spPr>
      </p:pic>
      <p:sp>
        <p:nvSpPr>
          <p:cNvPr id="237" name="TextBox 236"/>
          <p:cNvSpPr txBox="1"/>
          <p:nvPr/>
        </p:nvSpPr>
        <p:spPr>
          <a:xfrm>
            <a:off x="482257" y="6402362"/>
            <a:ext cx="134803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flatbed die-cutters</a:t>
            </a:r>
          </a:p>
        </p:txBody>
      </p:sp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395321"/>
            <a:ext cx="92663" cy="134782"/>
          </a:xfrm>
          <a:prstGeom prst="rect">
            <a:avLst/>
          </a:prstGeom>
        </p:spPr>
      </p:pic>
      <p:sp>
        <p:nvSpPr>
          <p:cNvPr id="239" name="TextBox 238"/>
          <p:cNvSpPr txBox="1"/>
          <p:nvPr/>
        </p:nvSpPr>
        <p:spPr>
          <a:xfrm>
            <a:off x="5972175" y="1601737"/>
            <a:ext cx="13441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1715397"/>
            <a:ext cx="92663" cy="134782"/>
          </a:xfrm>
          <a:prstGeom prst="rect">
            <a:avLst/>
          </a:prstGeom>
        </p:spPr>
      </p:pic>
      <p:sp>
        <p:nvSpPr>
          <p:cNvPr id="241" name="TextBox 240"/>
          <p:cNvSpPr txBox="1"/>
          <p:nvPr/>
        </p:nvSpPr>
        <p:spPr>
          <a:xfrm>
            <a:off x="5972175" y="2211364"/>
            <a:ext cx="70877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2215" y="2204323"/>
            <a:ext cx="92663" cy="134782"/>
          </a:xfrm>
          <a:prstGeom prst="rect">
            <a:avLst/>
          </a:prstGeom>
        </p:spPr>
      </p:pic>
      <p:sp>
        <p:nvSpPr>
          <p:cNvPr id="243" name="TextBox 242"/>
          <p:cNvSpPr txBox="1"/>
          <p:nvPr/>
        </p:nvSpPr>
        <p:spPr>
          <a:xfrm>
            <a:off x="5972175" y="2700289"/>
            <a:ext cx="132465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2813949"/>
            <a:ext cx="92663" cy="134782"/>
          </a:xfrm>
          <a:prstGeom prst="rect">
            <a:avLst/>
          </a:prstGeom>
        </p:spPr>
      </p:pic>
      <p:sp>
        <p:nvSpPr>
          <p:cNvPr id="245" name="TextBox 244"/>
          <p:cNvSpPr txBox="1"/>
          <p:nvPr/>
        </p:nvSpPr>
        <p:spPr>
          <a:xfrm>
            <a:off x="5972175" y="3249565"/>
            <a:ext cx="136207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3363225"/>
            <a:ext cx="92663" cy="134782"/>
          </a:xfrm>
          <a:prstGeom prst="rect">
            <a:avLst/>
          </a:prstGeom>
        </p:spPr>
      </p:pic>
      <p:sp>
        <p:nvSpPr>
          <p:cNvPr id="247" name="TextBox 246"/>
          <p:cNvSpPr txBox="1"/>
          <p:nvPr/>
        </p:nvSpPr>
        <p:spPr>
          <a:xfrm>
            <a:off x="5972175" y="3798840"/>
            <a:ext cx="128281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Personal care and household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5972175" y="3919541"/>
            <a:ext cx="44513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products</a:t>
            </a:r>
          </a:p>
        </p:txBody>
      </p:sp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575" y="3912500"/>
            <a:ext cx="92663" cy="134782"/>
          </a:xfrm>
          <a:prstGeom prst="rect">
            <a:avLst/>
          </a:prstGeom>
        </p:spPr>
      </p:pic>
      <p:sp>
        <p:nvSpPr>
          <p:cNvPr id="250" name="TextBox 249"/>
          <p:cNvSpPr txBox="1"/>
          <p:nvPr/>
        </p:nvSpPr>
        <p:spPr>
          <a:xfrm>
            <a:off x="5972175" y="4405112"/>
            <a:ext cx="1169439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1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3846" y="4397680"/>
            <a:ext cx="97811" cy="142270"/>
          </a:xfrm>
          <a:prstGeom prst="rect">
            <a:avLst/>
          </a:prstGeom>
        </p:spPr>
      </p:pic>
      <p:sp>
        <p:nvSpPr>
          <p:cNvPr id="252" name="TextBox 251"/>
          <p:cNvSpPr txBox="1"/>
          <p:nvPr/>
        </p:nvSpPr>
        <p:spPr>
          <a:xfrm>
            <a:off x="5972175" y="4894265"/>
            <a:ext cx="96456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Industrial machinery,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5972175" y="5014965"/>
            <a:ext cx="128595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automotive and components</a:t>
            </a:r>
          </a:p>
        </p:txBody>
      </p:sp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5128625"/>
            <a:ext cx="92663" cy="134782"/>
          </a:xfrm>
          <a:prstGeom prst="rect">
            <a:avLst/>
          </a:prstGeom>
        </p:spPr>
      </p:pic>
      <p:sp>
        <p:nvSpPr>
          <p:cNvPr id="255" name="TextBox 254"/>
          <p:cNvSpPr txBox="1"/>
          <p:nvPr/>
        </p:nvSpPr>
        <p:spPr>
          <a:xfrm>
            <a:off x="5972175" y="5446663"/>
            <a:ext cx="132426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Retail-ready and point-of-sale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5972175" y="5567364"/>
            <a:ext cx="49425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packaging</a:t>
            </a:r>
          </a:p>
        </p:txBody>
      </p:sp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7688" y="5560323"/>
            <a:ext cx="92663" cy="134782"/>
          </a:xfrm>
          <a:prstGeom prst="rect">
            <a:avLst/>
          </a:prstGeom>
        </p:spPr>
      </p:pic>
      <p:sp>
        <p:nvSpPr>
          <p:cNvPr id="258" name="TextBox 257"/>
          <p:cNvSpPr txBox="1"/>
          <p:nvPr/>
        </p:nvSpPr>
        <p:spPr>
          <a:xfrm>
            <a:off x="5972175" y="5995937"/>
            <a:ext cx="115194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E-commerce shipping and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5972175" y="6116638"/>
            <a:ext cx="51448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fulfillment</a:t>
            </a:r>
          </a:p>
        </p:txBody>
      </p:sp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27923" y="6109597"/>
            <a:ext cx="92663" cy="134782"/>
          </a:xfrm>
          <a:prstGeom prst="rect">
            <a:avLst/>
          </a:prstGeom>
        </p:spPr>
      </p:pic>
      <p:sp>
        <p:nvSpPr>
          <p:cNvPr id="261" name="TextBox 260"/>
          <p:cNvSpPr txBox="1"/>
          <p:nvPr/>
        </p:nvSpPr>
        <p:spPr>
          <a:xfrm>
            <a:off x="7715250" y="14001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Standalone rotary die-cutters segment is projected to account for the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7715250" y="1575435"/>
            <a:ext cx="3866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largest share of the global corrugated box packaging equipment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7715250" y="1750695"/>
            <a:ext cx="319259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led by processed food and beverages at US$</a:t>
            </a:r>
          </a:p>
        </p:txBody>
      </p:sp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57002" y="1740471"/>
            <a:ext cx="134549" cy="195707"/>
          </a:xfrm>
          <a:prstGeom prst="rect">
            <a:avLst/>
          </a:prstGeom>
        </p:spPr>
      </p:pic>
      <p:sp>
        <p:nvSpPr>
          <p:cNvPr id="265" name="TextBox 264"/>
          <p:cNvSpPr txBox="1"/>
          <p:nvPr/>
        </p:nvSpPr>
        <p:spPr>
          <a:xfrm>
            <a:off x="11032112" y="1750695"/>
            <a:ext cx="7879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in 2036.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7715250" y="192595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'Standalone rotary die-cutters × Processed food and beverages' is the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7715250" y="2101215"/>
            <a:ext cx="20801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single largest cross-sectional cell (</a:t>
            </a:r>
          </a:p>
        </p:txBody>
      </p:sp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44512" y="2090991"/>
            <a:ext cx="134549" cy="195707"/>
          </a:xfrm>
          <a:prstGeom prst="rect">
            <a:avLst/>
          </a:prstGeom>
        </p:spPr>
      </p:pic>
      <p:sp>
        <p:nvSpPr>
          <p:cNvPr id="269" name="TextBox 268"/>
          <p:cNvSpPr txBox="1"/>
          <p:nvPr/>
        </p:nvSpPr>
        <p:spPr>
          <a:xfrm>
            <a:off x="9919621" y="2101215"/>
            <a:ext cx="1418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7715250" y="2276475"/>
            <a:ext cx="39254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'Standalone rotary die-cutters × Pharmaceuticals and healthcare'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7715250" y="2451735"/>
            <a:ext cx="24243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records the fastest growth at a CAGR of</a:t>
            </a:r>
          </a:p>
        </p:txBody>
      </p:sp>
      <p:pic>
        <p:nvPicPr>
          <p:cNvPr id="272" name="Picture 2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796" y="2441511"/>
            <a:ext cx="134549" cy="195707"/>
          </a:xfrm>
          <a:prstGeom prst="rect">
            <a:avLst/>
          </a:prstGeom>
        </p:spPr>
      </p:pic>
      <p:sp>
        <p:nvSpPr>
          <p:cNvPr id="273" name="TextBox 272"/>
          <p:cNvSpPr txBox="1"/>
          <p:nvPr/>
        </p:nvSpPr>
        <p:spPr>
          <a:xfrm>
            <a:off x="10263905" y="2451735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7715250" y="2679573"/>
            <a:ext cx="41698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Combined, the top three equipment type × end use cells generate an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7715250" y="2854832"/>
            <a:ext cx="15940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absolute $ opportunity of</a:t>
            </a:r>
          </a:p>
        </p:txBody>
      </p:sp>
      <p:pic>
        <p:nvPicPr>
          <p:cNvPr id="276" name="Picture 2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58439" y="2844609"/>
            <a:ext cx="134549" cy="195707"/>
          </a:xfrm>
          <a:prstGeom prst="rect">
            <a:avLst/>
          </a:prstGeom>
        </p:spPr>
      </p:pic>
      <p:sp>
        <p:nvSpPr>
          <p:cNvPr id="277" name="TextBox 276"/>
          <p:cNvSpPr txBox="1"/>
          <p:nvPr/>
        </p:nvSpPr>
        <p:spPr>
          <a:xfrm>
            <a:off x="9433549" y="2854832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Equipment Type × End Use, 2026E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429250"/>
          </a:xfrm>
          <a:prstGeom prst="roundRect">
            <a:avLst>
              <a:gd name="adj" fmla="val 14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Equipment Type × End Use, 2026E (% of each row)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49625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7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1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33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54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1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1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942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3198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532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30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380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1017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2103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8095" y="396144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Equipment Type × End Use, 2026E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End Use Mix by Equipment Type, 2026E (% share)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70961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49814" y="2851975"/>
            <a:ext cx="165021" cy="2400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7715250" y="1400175"/>
            <a:ext cx="36347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'Electrical and electronics' holds the highest share of 'Flute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15250" y="1575435"/>
            <a:ext cx="27256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laminating and sheet-mounting machines'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90042" y="156521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0565151" y="1575435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715250" y="1803273"/>
            <a:ext cx="37111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'Flute laminating and sheet-mounting machines' is the most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715250" y="1978533"/>
            <a:ext cx="2990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concentrated equipment type sub-segment, with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54472" y="1968309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829581" y="1978533"/>
            <a:ext cx="9251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715250" y="2153793"/>
            <a:ext cx="16533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'Electrical and electronics'.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2381631"/>
            <a:ext cx="24478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'Agriculture and fresh produce' gains 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2204" y="237140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287314" y="2381631"/>
            <a:ext cx="11998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15250" y="2556891"/>
            <a:ext cx="18787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 cross-section by 2036F.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266825"/>
            <a:ext cx="70961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Equipment Type × End Use, 2026E–2036F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581525"/>
          </a:xfrm>
          <a:prstGeom prst="roundRect">
            <a:avLst>
              <a:gd name="adj" fmla="val 166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Equipment Type × End Use, 2026E–2036F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9351" cy="41148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32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9342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39796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39558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21005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of-sale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328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3625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74283" y="3853644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Equipment Type × End Use, 2026E–2036F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400425"/>
          </a:xfrm>
          <a:prstGeom prst="roundRect">
            <a:avLst>
              <a:gd name="adj" fmla="val 22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Equipment Type × End Use, 2026E–2036F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9549" cy="29337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949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45690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24158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017270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of-sale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02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1814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514850"/>
            <a:ext cx="5600700" cy="2114550"/>
          </a:xfrm>
          <a:prstGeom prst="roundRect">
            <a:avLst>
              <a:gd name="adj" fmla="val 36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600575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83870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924425"/>
            <a:ext cx="53340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5895975" y="4514850"/>
            <a:ext cx="1943100" cy="211455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6029325" y="460057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0" name="Rectangle 19"/>
          <p:cNvSpPr/>
          <p:nvPr/>
        </p:nvSpPr>
        <p:spPr>
          <a:xfrm>
            <a:off x="6029325" y="483870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029325" y="4924425"/>
            <a:ext cx="16764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7991475" y="4514850"/>
            <a:ext cx="1943100" cy="211455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124825" y="460057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4" name="Rectangle 23"/>
          <p:cNvSpPr/>
          <p:nvPr/>
        </p:nvSpPr>
        <p:spPr>
          <a:xfrm>
            <a:off x="8124825" y="483870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124825" y="4924425"/>
            <a:ext cx="16764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0086975" y="4514850"/>
            <a:ext cx="1943100" cy="211455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0220325" y="460057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0220325" y="483870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0220325" y="4924425"/>
            <a:ext cx="16764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'Standalone rotary die-cutters × Agriculture and fresh produce' ranks highest (5/5); 'Single facers × Agriculture and fresh produce' lowest (1/5), a deprioritised cell.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2652" y="3166546"/>
            <a:ext cx="366712" cy="5334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33950"/>
            <a:ext cx="39274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Standalone rotary die-cutters × Processed food and beverages –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1776" y="492417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9272" y="493395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721" y="492417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546217" y="4933950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151882"/>
            <a:ext cx="50764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Standalone rotary die-cutters × Industrial machinery, automotive and components –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0754" y="514210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76225" y="531952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674" y="530974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03170" y="5319522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5537454"/>
            <a:ext cx="44873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Standalone rotary die-cutters × Retail-ready and point-of-sale packaging –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11667" y="5527674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4879163" y="553745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38613" y="5527674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5106108" y="5537454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755386"/>
            <a:ext cx="306174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Standalone rotary die-cutters × Other end uses –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6018" y="5745606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3453514" y="5755386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2963" y="574560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680459" y="5755386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973318"/>
            <a:ext cx="38988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Standalone rotary die-cutters × Agriculture and fresh produce –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3126" y="596353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290622" y="5973318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0072" y="5963538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517568" y="5973318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029325" y="4933950"/>
            <a:ext cx="12600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rotary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5109210"/>
            <a:ext cx="146253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die-cutters × Processed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5284470"/>
            <a:ext cx="15943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food and beverages'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5245" y="5449506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6190354" y="5459729"/>
            <a:ext cx="122463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5245" y="562476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190354" y="5634989"/>
            <a:ext cx="7411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810249"/>
            <a:ext cx="8229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24825" y="4933950"/>
            <a:ext cx="12600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rotary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5109210"/>
            <a:ext cx="8275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die-cutters ×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5284470"/>
            <a:ext cx="13090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Pharmaceuticals and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5459729"/>
            <a:ext cx="13892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healthcare' grows at a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3202" y="5449506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124825" y="5634989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624766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8695529" y="5634989"/>
            <a:ext cx="925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124825" y="5810249"/>
            <a:ext cx="890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476500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781300"/>
            <a:ext cx="7239000" cy="9715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North America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943350"/>
            <a:ext cx="5067300" cy="182753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North America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North America Market Analysis By Country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North America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Equipment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Automation Level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3943350"/>
            <a:ext cx="5067300" cy="18669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Box Style Produced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End-use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Customer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Equipment Type × Customer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Equipment Type × End Use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Summary, By Volume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North America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(UNITS)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(UNITS)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(Units)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Rounded Rectangle 23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048625" y="2046987"/>
            <a:ext cx="36186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corrugated box packaging equipment market is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8048625" y="2214627"/>
            <a:ext cx="124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projected to register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41226" y="2204848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408722" y="2214627"/>
            <a:ext cx="20328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increase in volume by the end of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2382267"/>
            <a:ext cx="36882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period, 2036. North America corrugated box packaging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2549907"/>
            <a:ext cx="20931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 market volume stood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89795" y="2540128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257291" y="2549907"/>
            <a:ext cx="1189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in 2025 and is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048625" y="2717547"/>
            <a:ext cx="11002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reach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96888" y="2707768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264384" y="2717547"/>
            <a:ext cx="188246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by 2036 end, at a CAGR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94896" y="2707768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262392" y="271754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935479"/>
            <a:ext cx="36783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Value is projected to grow faster than volume over the forecast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103119"/>
            <a:ext cx="30497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period, owing to an increase in average selling price.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4456475"/>
            <a:ext cx="2138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leads regional growth at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6079" y="4446251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0311188" y="445647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4684312"/>
            <a:ext cx="38012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'Printing and Converting Equipment'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4859572"/>
            <a:ext cx="14907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Equipment Type.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5087410"/>
            <a:ext cx="32912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048625" y="5315248"/>
            <a:ext cx="2741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56" name="lockshield_16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lockshield_19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Equipment Type  ·  range across 2021–2036 (US$/Units)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657225" y="333693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657225" y="286593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39494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192394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0" cy="188399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28650" y="333693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28659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39494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19239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FMI Scale tick"/>
          <p:cNvSpPr txBox="1"/>
          <p:nvPr/>
        </p:nvSpPr>
        <p:spPr>
          <a:xfrm>
            <a:off x="219075" y="3270260"/>
            <a:ext cx="38100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24" name="FMI Scale tick"/>
          <p:cNvSpPr txBox="1"/>
          <p:nvPr/>
        </p:nvSpPr>
        <p:spPr>
          <a:xfrm>
            <a:off x="219075" y="2328265"/>
            <a:ext cx="38100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25" name="FMI Scale tick"/>
          <p:cNvSpPr txBox="1"/>
          <p:nvPr/>
        </p:nvSpPr>
        <p:spPr>
          <a:xfrm>
            <a:off x="219075" y="1386270"/>
            <a:ext cx="38100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cxnSp>
        <p:nvCxnSpPr>
          <p:cNvPr id="26" name="Connector 25"/>
          <p:cNvCxnSpPr/>
          <p:nvPr/>
        </p:nvCxnSpPr>
        <p:spPr>
          <a:xfrm flipV="1">
            <a:off x="1825625" y="2126290"/>
            <a:ext cx="0" cy="57037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1694180" y="269666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694180" y="21262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606550" y="2279902"/>
            <a:ext cx="438150" cy="28480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0" name="Connector 29"/>
          <p:cNvCxnSpPr/>
          <p:nvPr/>
        </p:nvCxnSpPr>
        <p:spPr>
          <a:xfrm>
            <a:off x="1606550" y="242590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657225" y="1973890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2" name="Connector 31"/>
          <p:cNvCxnSpPr/>
          <p:nvPr/>
        </p:nvCxnSpPr>
        <p:spPr>
          <a:xfrm flipV="1">
            <a:off x="4162425" y="1670329"/>
            <a:ext cx="0" cy="74754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4030980" y="241787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4030980" y="16703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3943350" y="1871723"/>
            <a:ext cx="438150" cy="37326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6" name="Connector 35"/>
          <p:cNvCxnSpPr/>
          <p:nvPr/>
        </p:nvCxnSpPr>
        <p:spPr>
          <a:xfrm>
            <a:off x="3943350" y="2063101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2994025" y="1517929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8" name="Connector 37"/>
          <p:cNvCxnSpPr/>
          <p:nvPr/>
        </p:nvCxnSpPr>
        <p:spPr>
          <a:xfrm flipV="1">
            <a:off x="6499225" y="2603494"/>
            <a:ext cx="0" cy="516058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6367780" y="3119552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6367780" y="260349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6280150" y="2742758"/>
            <a:ext cx="438150" cy="25766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2" name="Connector 41"/>
          <p:cNvCxnSpPr/>
          <p:nvPr/>
        </p:nvCxnSpPr>
        <p:spPr>
          <a:xfrm>
            <a:off x="6280150" y="2874942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5330825" y="2451094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57225" y="3365510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Corrugated Board Prod…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94025" y="3365510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Printing and Converti…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330825" y="3365510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Finishing and Box Ass…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North America  ·  2026–2036</a:t>
            </a:r>
          </a:p>
        </p:txBody>
      </p:sp>
      <p:cxnSp>
        <p:nvCxnSpPr>
          <p:cNvPr id="49" name="Connector 48"/>
          <p:cNvCxnSpPr/>
          <p:nvPr/>
        </p:nvCxnSpPr>
        <p:spPr>
          <a:xfrm>
            <a:off x="619125" y="4324574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619125" y="47588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619125" y="51931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619125" y="562738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619125" y="606165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619125" y="4324574"/>
            <a:ext cx="0" cy="173708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590550" y="4324574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590550" y="47588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590550" y="51931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590550" y="562738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590550" y="606165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FMI Scale tick"/>
          <p:cNvSpPr txBox="1"/>
          <p:nvPr/>
        </p:nvSpPr>
        <p:spPr>
          <a:xfrm>
            <a:off x="138112" y="4257899"/>
            <a:ext cx="442912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+4.9%</a:t>
            </a:r>
          </a:p>
        </p:txBody>
      </p:sp>
      <p:sp>
        <p:nvSpPr>
          <p:cNvPr id="61" name="FMI Scale tick"/>
          <p:cNvSpPr txBox="1"/>
          <p:nvPr/>
        </p:nvSpPr>
        <p:spPr>
          <a:xfrm>
            <a:off x="138112" y="4692170"/>
            <a:ext cx="442912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+2.5%</a:t>
            </a:r>
          </a:p>
        </p:txBody>
      </p:sp>
      <p:sp>
        <p:nvSpPr>
          <p:cNvPr id="62" name="FMI Scale tick"/>
          <p:cNvSpPr txBox="1"/>
          <p:nvPr/>
        </p:nvSpPr>
        <p:spPr>
          <a:xfrm>
            <a:off x="219075" y="5126441"/>
            <a:ext cx="36195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North America</a:t>
            </a:r>
          </a:p>
        </p:txBody>
      </p:sp>
      <p:sp>
        <p:nvSpPr>
          <p:cNvPr id="63" name="FMI Scale tick"/>
          <p:cNvSpPr txBox="1"/>
          <p:nvPr/>
        </p:nvSpPr>
        <p:spPr>
          <a:xfrm>
            <a:off x="164306" y="5560712"/>
            <a:ext cx="416719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-2.5%</a:t>
            </a:r>
          </a:p>
        </p:txBody>
      </p:sp>
      <p:sp>
        <p:nvSpPr>
          <p:cNvPr id="64" name="FMI Scale tick"/>
          <p:cNvSpPr txBox="1"/>
          <p:nvPr/>
        </p:nvSpPr>
        <p:spPr>
          <a:xfrm>
            <a:off x="164306" y="5994983"/>
            <a:ext cx="416719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-4.9%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619125" y="5193116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2152650" y="5193116"/>
            <a:ext cx="457200" cy="33283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MI Data Label"/>
          <p:cNvSpPr txBox="1"/>
          <p:nvPr/>
        </p:nvSpPr>
        <p:spPr>
          <a:xfrm>
            <a:off x="619125" y="5535476"/>
            <a:ext cx="35242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8" name="Rectangle 67"/>
          <p:cNvSpPr/>
          <p:nvPr/>
        </p:nvSpPr>
        <p:spPr>
          <a:xfrm>
            <a:off x="5676900" y="4437287"/>
            <a:ext cx="457200" cy="75582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MI Data Label"/>
          <p:cNvSpPr txBox="1"/>
          <p:nvPr/>
        </p:nvSpPr>
        <p:spPr>
          <a:xfrm>
            <a:off x="4143375" y="4294412"/>
            <a:ext cx="35242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19125" y="6242060"/>
            <a:ext cx="35242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143375" y="6242060"/>
            <a:ext cx="35242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72" name="Rounded Rectangle 71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1275" y="1946966"/>
            <a:ext cx="128699" cy="187198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8075" y="1491005"/>
            <a:ext cx="128699" cy="187198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34875" y="2424170"/>
            <a:ext cx="128699" cy="187198"/>
          </a:xfrm>
          <a:prstGeom prst="rect">
            <a:avLst/>
          </a:prstGeom>
        </p:spPr>
      </p:pic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5508551"/>
            <a:ext cx="128699" cy="187198"/>
          </a:xfrm>
          <a:prstGeom prst="rect">
            <a:avLst/>
          </a:prstGeom>
        </p:spPr>
      </p:pic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26748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8048625" y="1471995"/>
            <a:ext cx="35582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expected to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1647255"/>
            <a:ext cx="26272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command the highest average price of US$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25004" y="1637031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10800113" y="1647255"/>
            <a:ext cx="7066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in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1822515"/>
            <a:ext cx="33853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 Average selling price of corrugated box packaging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1997775"/>
            <a:ext cx="1902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is estimated at US$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00459" y="1987551"/>
            <a:ext cx="134549" cy="195707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075568" y="1997775"/>
            <a:ext cx="14166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in 2025 and is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2173035"/>
            <a:ext cx="1764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projected to increase to US$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62396" y="2162811"/>
            <a:ext cx="134549" cy="195707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9937506" y="2173035"/>
            <a:ext cx="110568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by 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048625" y="2400873"/>
            <a:ext cx="35965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Canada is the highest-priced country, while U.S. is the most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2576133"/>
            <a:ext cx="371489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price-competitive market. Against the North America price of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2741169"/>
            <a:ext cx="134549" cy="195707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8209654" y="2751393"/>
            <a:ext cx="31954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US$/Units, 1 of 2 countries price above and 1 below.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8048625" y="2979230"/>
            <a:ext cx="16773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'Canada' is the dearest at +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75109" y="2969007"/>
            <a:ext cx="134549" cy="195707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850218" y="2979230"/>
            <a:ext cx="19617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North America, 'U.S.' the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048625" y="3154490"/>
            <a:ext cx="8429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14426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015850" y="3154490"/>
            <a:ext cx="27282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048625" y="3329750"/>
            <a:ext cx="14585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North America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7915275" y="1627887"/>
            <a:ext cx="4133850" cy="3051231"/>
          </a:xfrm>
          <a:prstGeom prst="roundRect">
            <a:avLst>
              <a:gd name="adj" fmla="val 24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048625" y="2037462"/>
            <a:ext cx="3867150" cy="2565456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4" name="Rounded Rectangle 23"/>
          <p:cNvSpPr/>
          <p:nvPr/>
        </p:nvSpPr>
        <p:spPr>
          <a:xfrm>
            <a:off x="7915275" y="4733879"/>
            <a:ext cx="4133850" cy="1822506"/>
          </a:xfrm>
          <a:prstGeom prst="roundRect">
            <a:avLst>
              <a:gd name="adj" fmla="val 41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048625" y="4819604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048625" y="5057729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048625" y="5143454"/>
            <a:ext cx="3867150" cy="133673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048625" y="2046987"/>
            <a:ext cx="34887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Corrugated box packaging equipment market value in North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8048625" y="2214627"/>
            <a:ext cx="1875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America is expected to increase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72332" y="2204848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10039828" y="2214627"/>
            <a:ext cx="17343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between 2025 and 2036. In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2382267"/>
            <a:ext cx="37086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2025, the corrugated box packaging equipment market in North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2549907"/>
            <a:ext cx="16101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America was valued at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06848" y="2540128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774343" y="2549907"/>
            <a:ext cx="20693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and is estimated to account for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048625" y="2717547"/>
            <a:ext cx="301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97706" y="2707768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465202" y="2717547"/>
            <a:ext cx="32549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by the end of 2026, reflecting a Y-o-Y growth rate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5157" y="2875408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02653" y="288518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103119"/>
            <a:ext cx="34912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in North America is expected to account for US$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5157" y="3260980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202653" y="3270759"/>
            <a:ext cx="14955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by 2036 at a CAGR of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46261" y="32609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813757" y="3270759"/>
            <a:ext cx="18494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 the forecast period. North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3438399"/>
            <a:ext cx="37648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America is expected to create an incremental opportunity of US$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5157" y="359626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202653" y="3606039"/>
            <a:ext cx="325655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for the overall corrugated box packaging equipment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048625" y="3773679"/>
            <a:ext cx="16101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from 2025 to 2036.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048625" y="3991611"/>
            <a:ext cx="28371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Absolute $ value for 2026 is estimated to be US$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33861" y="3981832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1001357" y="3991611"/>
            <a:ext cx="3043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52979"/>
            <a:ext cx="2138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leads regional growth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6079" y="5142755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0311188" y="5152979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048625" y="5380816"/>
            <a:ext cx="38012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'Printing and Converting Equipment'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8048625" y="5556076"/>
            <a:ext cx="14907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Equipment Type.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048625" y="5783914"/>
            <a:ext cx="32912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048625" y="6011752"/>
            <a:ext cx="2741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6" name="lockshield_16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lockshield_19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North America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4695825" cy="2524125"/>
          </a:xfrm>
          <a:prstGeom prst="roundRect">
            <a:avLst>
              <a:gd name="adj" fmla="val 30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Market, 2021–2025 (Historical)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4505325" cy="21812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4991100" y="981075"/>
            <a:ext cx="7048500" cy="2524125"/>
          </a:xfrm>
          <a:prstGeom prst="roundRect">
            <a:avLst>
              <a:gd name="adj" fmla="val 30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Market, 2026–2036 (Forecast)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5086350" y="1266825"/>
          <a:ext cx="6858000" cy="21812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638550"/>
            <a:ext cx="2514600" cy="68580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2809875" y="3638550"/>
            <a:ext cx="2514600" cy="68580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5476875" y="3638550"/>
            <a:ext cx="3200400" cy="68580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8829675" y="3638550"/>
            <a:ext cx="3200400" cy="68580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4457700"/>
            <a:ext cx="11906250" cy="2152650"/>
          </a:xfrm>
          <a:prstGeom prst="roundRect">
            <a:avLst>
              <a:gd name="adj" fmla="val 35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5434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&amp; Value Analysis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7815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76225" y="4867275"/>
            <a:ext cx="11639550" cy="16668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5356" y="2029222"/>
            <a:ext cx="202455" cy="29448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2694" y="1990329"/>
            <a:ext cx="255933" cy="372266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3950970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3950970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3950970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3950970"/>
            <a:ext cx="157162" cy="22860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6225" y="4876800"/>
            <a:ext cx="53198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Corrugated box packaging equipment market value in North America is expected to increase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44137" y="4867021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711633" y="4876800"/>
            <a:ext cx="61520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between 2025 and 2036. In 2025, the corrugated box packaging equipment market in North America was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44440"/>
            <a:ext cx="8565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valued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0832" y="50346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248327" y="5044440"/>
            <a:ext cx="23258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and is estimated to account for US$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22240" y="5034660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689736" y="5044440"/>
            <a:ext cx="32549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by the end of 2026, reflecting a Y-o-Y growth rate of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92708" y="5034660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060204" y="5044440"/>
            <a:ext cx="35580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market in North America is expected to account for US$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66314" y="50346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733810" y="5044440"/>
            <a:ext cx="8983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by 2036 at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212080"/>
            <a:ext cx="6418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CAGR of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6080" y="5202301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33576" y="5212080"/>
            <a:ext cx="14846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30012"/>
            <a:ext cx="41296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is expected to create an incremental opportunity of US$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53959" y="5420233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4521455" y="5430012"/>
            <a:ext cx="73583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for the overall corrugated box packaging equipment market from 2025 to 2036. Absolute $ value for 2026 is estimated to be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597652"/>
            <a:ext cx="301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5306" y="5587873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692802" y="5597652"/>
            <a:ext cx="5078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Mn. North America corrugated box packaging equipment market is projected to register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19241" y="5587873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5886737" y="5597652"/>
            <a:ext cx="33149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increase in volume by the end of forecast period, 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815584"/>
            <a:ext cx="44546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corrugated box packaging equipment market volume stood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78925" y="580580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846421" y="5815584"/>
            <a:ext cx="22450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in 2025 and is expected to reach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39570" y="5805805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7207065" y="5815584"/>
            <a:ext cx="188246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by 2036 end, at a CAGR of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37577" y="5805805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205073" y="5815584"/>
            <a:ext cx="22879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Value is projected to grow faster than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5983224"/>
            <a:ext cx="45070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volume over the forecast period, owing to an increase in average selling price.</a:t>
            </a:r>
          </a:p>
        </p:txBody>
      </p:sp>
      <p:sp>
        <p:nvSpPr>
          <p:cNvPr id="62" name="lockshield_12"/>
          <p:cNvSpPr/>
          <p:nvPr/>
        </p:nvSpPr>
        <p:spPr>
          <a:xfrm>
            <a:off x="238125" y="1266825"/>
            <a:ext cx="4505325" cy="21812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lockshield_15"/>
          <p:cNvSpPr/>
          <p:nvPr/>
        </p:nvSpPr>
        <p:spPr>
          <a:xfrm>
            <a:off x="5086350" y="1266825"/>
            <a:ext cx="6858000" cy="21812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Summary Country Indices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28892" cy="21320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04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81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81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22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4297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4297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3743325" cy="3091856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4210050" y="4384867"/>
            <a:ext cx="3743325" cy="1493743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24" name="Table 23"/>
          <p:cNvGraphicFramePr>
            <a:graphicFrameLocks noGrp="1"/>
          </p:cNvGraphicFramePr>
          <p:nvPr/>
        </p:nvGraphicFramePr>
        <p:xfrm>
          <a:off x="8096250" y="3547710"/>
          <a:ext cx="3928892" cy="2159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04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81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81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22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5666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5666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32897" y="4496595"/>
            <a:ext cx="355389" cy="51693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24086" y="2838939"/>
            <a:ext cx="115252" cy="167639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24086" y="5131738"/>
            <a:ext cx="115252" cy="167639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75439" y="4490163"/>
            <a:ext cx="357960" cy="520669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57175" y="6160574"/>
            <a:ext cx="44519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U.S. corrugated box packaging equipment market is projected to register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57147" y="6150795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824642" y="6160574"/>
            <a:ext cx="43397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 Canada in 2036. Canada posts the highest CAGR Index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12455" y="6150795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9279951" y="6160574"/>
            <a:ext cx="7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17983" y="6150795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85478" y="6160574"/>
            <a:ext cx="4827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57175" y="6328214"/>
            <a:ext cx="46672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North America benchmark, while U.S. offers the largest absolute opportunity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72426" y="6318435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039922" y="6328214"/>
            <a:ext cx="33119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incremental market between 2026 and 2036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99921" y="6318435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467416" y="6328214"/>
            <a:ext cx="19733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increment).</a:t>
            </a:r>
          </a:p>
        </p:txBody>
      </p:sp>
      <p:sp>
        <p:nvSpPr>
          <p:cNvPr id="46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lockshield_22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142875" y="2800350"/>
            <a:ext cx="11906250" cy="1571625"/>
          </a:xfrm>
          <a:prstGeom prst="roundRect">
            <a:avLst>
              <a:gd name="adj" fmla="val 48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8860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242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209925"/>
            <a:ext cx="11639550" cy="10858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142875" y="4505325"/>
            <a:ext cx="3943350" cy="2124075"/>
          </a:xfrm>
          <a:prstGeom prst="roundRect">
            <a:avLst>
              <a:gd name="adj" fmla="val 3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4591050"/>
            <a:ext cx="3676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8291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914900"/>
            <a:ext cx="3676650" cy="16383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4238625" y="4505325"/>
            <a:ext cx="3819525" cy="2124075"/>
          </a:xfrm>
          <a:prstGeom prst="roundRect">
            <a:avLst>
              <a:gd name="adj" fmla="val 3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4371975" y="4591050"/>
            <a:ext cx="35528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8291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4371975" y="4914900"/>
            <a:ext cx="3552825" cy="16383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8210550" y="4505325"/>
            <a:ext cx="3819525" cy="2124075"/>
          </a:xfrm>
          <a:prstGeom prst="roundRect">
            <a:avLst>
              <a:gd name="adj" fmla="val 3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343900" y="4591050"/>
            <a:ext cx="35528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8291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8343900" y="4914900"/>
            <a:ext cx="3552825" cy="16383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'Printing and Converting Equipment'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Canada outpacing the North America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3 equipment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45130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 corrugated box packaging equipment market is expected to witness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8418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13527" y="1400175"/>
            <a:ext cx="64017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increase in revenue by 2036 end. Global corrugated box packaging equipment market accounted for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64386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1439496" y="1400175"/>
            <a:ext cx="2778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575435"/>
            <a:ext cx="27575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2025, which is expected to increase to US$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2965" y="1565211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158074" y="1575435"/>
            <a:ext cx="15275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in 2036 at a CAGR of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4782" y="156521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09892" y="1575435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03273"/>
            <a:ext cx="116181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global corrugated box packaging equipment market has been analysed on the basis of equipment type, automation level, box style produced and end-use across the globe. U.S. is expected to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1978533"/>
            <a:ext cx="83993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remain the largest market for corrugated box packaging equipment, while demand in Canada is projected to increase at the highest CAGR of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4699" y="196830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99808" y="1978533"/>
            <a:ext cx="19608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throughout the forecast period.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3219450"/>
            <a:ext cx="65676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consolidated: the leading equipment type category 'Printing and Converting Equipment' holds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3070" y="320922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6968180" y="3219450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3447287"/>
            <a:ext cx="521248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 countries and 7 segmentation lenses (3 equipment type categories).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675125"/>
            <a:ext cx="22889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 market at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14293" y="3664902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689402" y="3675125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4924425"/>
            <a:ext cx="36576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'Printing and Converting Equipment'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099685"/>
            <a:ext cx="1204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8946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20902" y="5099685"/>
            <a:ext cx="490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327522"/>
            <a:ext cx="21465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Canada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1889" y="531729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546998" y="5327522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555360"/>
            <a:ext cx="32328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Agriculture and fresh produce within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730620"/>
            <a:ext cx="6310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end-use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6397" y="572039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031507" y="5730620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924425"/>
            <a:ext cx="32579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'Corrugated Board Production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99685"/>
            <a:ext cx="8360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57214" y="50894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332323" y="509968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327522"/>
            <a:ext cx="32641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502782"/>
            <a:ext cx="562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925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502782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730620"/>
            <a:ext cx="2976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'Printing and Converting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905880"/>
            <a:ext cx="26945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Equipment' raises barriers for new entrants.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'Printing and Converting Equipment' and Canada.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equipment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U.S. and Canada.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equipment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30417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'Printing and Converting Equipment'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95395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62891" y="1836039"/>
            <a:ext cx="5430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15205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U.S.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5655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573151" y="205397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3432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'Printing and Converting Equipment'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67573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735069" y="3267075"/>
            <a:ext cx="1323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6530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Canada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7284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44780" y="3485007"/>
            <a:ext cx="22628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9220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'Printing and Converting Equipment'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6289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13785" y="3702939"/>
            <a:ext cx="4669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4210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'Printing and Converting Equipment' and adjacent premium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34715"/>
            <a:ext cx="3635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tiers.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652647"/>
            <a:ext cx="4580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equipment type categories gaining share to 2036.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305550" y="3870579"/>
            <a:ext cx="15943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860800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8015443" y="3870579"/>
            <a:ext cx="9244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4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'Printing and Converting Equipment' tier and Agriculture and fresh produce within end-use.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5131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'Printing and Converting Equipment' with targeted growth in 'Printing and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260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Converting Equipment',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451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560" y="1575435"/>
            <a:ext cx="15518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958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'Printing and Converting Equipment'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467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358577" y="3219450"/>
            <a:ext cx="23447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'Printing and Converting Equipment'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94710"/>
            <a:ext cx="5465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anchors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1962" y="338448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47071" y="3394710"/>
            <a:ext cx="5865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3219450"/>
            <a:ext cx="10834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U.S.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38135" y="3209226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7513244" y="3219450"/>
            <a:ext cx="17723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Canada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4718" y="3209226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409827" y="3219450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038725"/>
            <a:ext cx="2706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Corrugated Box Packaging Equipment adds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1874" y="502850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106983" y="5038725"/>
            <a:ext cx="18151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71245" y="5028501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046354" y="5038725"/>
            <a:ext cx="8227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494400"/>
            <a:ext cx="54494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'Printing and Converting Equipment' as the value anchor of the portfolio.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Corrugated Box Packaging Equipment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426161"/>
            <a:ext cx="635826" cy="879139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ectangle 16"/>
          <p:cNvSpPr/>
          <p:nvPr/>
        </p:nvSpPr>
        <p:spPr>
          <a:xfrm>
            <a:off x="3043936" y="3090057"/>
            <a:ext cx="635826" cy="1215243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ectangle 17"/>
          <p:cNvSpPr/>
          <p:nvPr/>
        </p:nvSpPr>
        <p:spPr>
          <a:xfrm>
            <a:off x="4025725" y="2954397"/>
            <a:ext cx="635826" cy="1350903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ectangle 18"/>
          <p:cNvSpPr/>
          <p:nvPr/>
        </p:nvSpPr>
        <p:spPr>
          <a:xfrm>
            <a:off x="5007515" y="2805113"/>
            <a:ext cx="635826" cy="1500187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56707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51932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endParaRPr/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99532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94757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endParaRPr/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42357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37582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Corrugated Box Packaging Equipment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637332" y="1028326"/>
            <a:ext cx="1030634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OPTIMISTIC (2036)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6321" y="1481625"/>
            <a:ext cx="35711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08575" y="1473019"/>
            <a:ext cx="113255" cy="164734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807156" y="1028326"/>
            <a:ext cx="75866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LIKELY (2036)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940158" y="1481625"/>
            <a:ext cx="35711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42412" y="1473019"/>
            <a:ext cx="113255" cy="164734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48094" y="1028326"/>
            <a:ext cx="1220636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CONSERVATIVE (2036)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9912083" y="1481625"/>
            <a:ext cx="357112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14337" y="1473019"/>
            <a:ext cx="113255" cy="164734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032418" y="2886298"/>
            <a:ext cx="382383" cy="159867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878083"/>
            <a:ext cx="108107" cy="157246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032418" y="2629123"/>
            <a:ext cx="382383" cy="159867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620908"/>
            <a:ext cx="108107" cy="157246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032418" y="2371948"/>
            <a:ext cx="382383" cy="159867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363733"/>
            <a:ext cx="108107" cy="15724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208649" y="5372100"/>
            <a:ext cx="12038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1612" y="536187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2536721" y="5372100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848759" y="5599938"/>
            <a:ext cx="6980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5966" y="5589714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71076" y="5599938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370103" y="5827775"/>
            <a:ext cx="6980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310" y="5817552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192420" y="582777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78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Market Analysis By Country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North America Corrugated Box Packaging Equipment – Country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Analysis By Country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Share Analysis By Country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Share Analysis By Country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– Country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North America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" name="Oval 24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2" name="Oval 31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7" name="Rounded Rectangle 36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Country Insights</a:t>
            </a:r>
          </a:p>
        </p:txBody>
      </p:sp>
      <p:sp>
        <p:nvSpPr>
          <p:cNvPr id="39" name="Rectangle 38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1" name="Rounded Rectangle 40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Country Overview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0888" y="2339922"/>
            <a:ext cx="175498" cy="255270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0888" y="2832772"/>
            <a:ext cx="175498" cy="25527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0888" y="3325622"/>
            <a:ext cx="175498" cy="25527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8663" y="2339922"/>
            <a:ext cx="175498" cy="25527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8663" y="2832772"/>
            <a:ext cx="175498" cy="255270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8663" y="3325622"/>
            <a:ext cx="175498" cy="25527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85775" y="4229437"/>
            <a:ext cx="26944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U.S. corrugated box packaging equipment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85775" y="4397077"/>
            <a:ext cx="18019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is projected to register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35812" y="4387298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403308" y="4397077"/>
            <a:ext cx="8802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564717"/>
            <a:ext cx="26123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Canada in 2036. Among corrugated box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485775" y="4732357"/>
            <a:ext cx="25438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packaging equipment by country, Canada is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899997"/>
            <a:ext cx="23812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witness the highest CAGR of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5059" y="4890217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2982555" y="4899997"/>
            <a:ext cx="3313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85775" y="5067637"/>
            <a:ext cx="119789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period.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28556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terms of value share by country, U.S. is expected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453209"/>
            <a:ext cx="18350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 dominate the market, losing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68827" y="5443430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36323" y="5453209"/>
            <a:ext cx="5340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and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85775" y="5620849"/>
            <a:ext cx="8969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accounting for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30764" y="5611070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498259" y="5620849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4538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U.S.: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0453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0794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67399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34895" y="4229437"/>
            <a:ext cx="1419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6513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Canada: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799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605493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494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632439" y="4447369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North America market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Analysis, By Country Volume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551045" y="203258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>
            <a:off x="4712970" y="202782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4855845" y="1951623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305550" y="201353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551045" y="3866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4712970" y="386138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4855845" y="3785185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305550" y="384709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Rounded Rectangle 26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(UNITS)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(UNITS)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239000" y="1400175"/>
            <a:ext cx="4648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U.S. corrugated box packaging equipment market is projected to register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24920" y="156521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400029" y="1575435"/>
            <a:ext cx="43510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volume than Canada in 2036. Among corrugated box packaging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239000" y="1750695"/>
            <a:ext cx="44730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by country, Canada is expected to witness the highest CAGR of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24920" y="191573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400029" y="192595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239000" y="2153793"/>
            <a:ext cx="42314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volume share by country, U.S. is expected to dominate the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239000" y="2329053"/>
            <a:ext cx="9185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losing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06708" y="231882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281817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76961" y="231882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852070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551045" y="2059364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>
            <a:off x="4712970" y="205460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4855845" y="1978402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305550" y="2040314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551045" y="3892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4712970" y="38881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4855845" y="3811964"/>
            <a:ext cx="1316355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305550" y="387387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Rounded Rectangle 26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239000" y="1400175"/>
            <a:ext cx="4648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U.S. corrugated box packaging equipment market is projected to register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24920" y="156521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400029" y="1575435"/>
            <a:ext cx="42272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Canada in 2036. Among corrugated box packaging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239000" y="1750695"/>
            <a:ext cx="44730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by country, Canada is expected to witness the highest CAGR of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24920" y="191573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400029" y="192595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239000" y="2153793"/>
            <a:ext cx="46031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country, U.S. is expected to dominate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239000" y="2329053"/>
            <a:ext cx="423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losing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11222" y="231882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786331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81475" y="231882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356584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Share Analysis, By Country Volume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Size, By Country (Units)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3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6024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0824" y="1589913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2990850"/>
            <a:ext cx="46508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U.S. corrugated box packaging equipment market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76195" y="298062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051305" y="2990850"/>
            <a:ext cx="63380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volume than Canada in 2036. Among corrugated box packaging equipment by country, Canada is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166110"/>
            <a:ext cx="24860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1386" y="315588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2886495" y="3166110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393947"/>
            <a:ext cx="51069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volume share by country, U.S.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32316" y="338372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5507426" y="3393947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2569" y="338372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077678" y="3393947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Share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62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5829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7436" y="1589913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2990850"/>
            <a:ext cx="46508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U.S. corrugated box packaging equipment market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76195" y="298062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051305" y="2990850"/>
            <a:ext cx="67933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Canada in 2036. Among corrugated box packaging equipment by country, Canada is expected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166110"/>
            <a:ext cx="1906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32320" y="315588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2307429" y="3166110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393947"/>
            <a:ext cx="49831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country, U.S.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08516" y="338372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5383625" y="3393947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8769" y="338372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6953878" y="3393947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By Country (Units)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11715750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By Country (US$ Mn)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152900"/>
          <a:ext cx="11715750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58646" y="2026489"/>
            <a:ext cx="363375" cy="528545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58646" y="4912564"/>
            <a:ext cx="363375" cy="528545"/>
          </a:xfrm>
          <a:prstGeom prst="rect">
            <a:avLst/>
          </a:prstGeom>
        </p:spPr>
      </p:pic>
      <p:sp>
        <p:nvSpPr>
          <p:cNvPr id="19" name="lockshield_12"/>
          <p:cNvSpPr/>
          <p:nvPr/>
        </p:nvSpPr>
        <p:spPr>
          <a:xfrm>
            <a:off x="238125" y="1266825"/>
            <a:ext cx="1171575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lockshield_15"/>
          <p:cNvSpPr/>
          <p:nvPr/>
        </p:nvSpPr>
        <p:spPr>
          <a:xfrm>
            <a:off x="238125" y="4152900"/>
            <a:ext cx="1171575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Corrugated Box Packaging Equipment Market Top 2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North America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by country  ·  2036 (US$ Mn)  ·  tile size = market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38125" y="1266825"/>
            <a:ext cx="7899386" cy="5305425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3" name="Rectangle 12"/>
          <p:cNvSpPr/>
          <p:nvPr/>
        </p:nvSpPr>
        <p:spPr>
          <a:xfrm>
            <a:off x="8137511" y="1266825"/>
            <a:ext cx="3816364" cy="5305425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0192" y="3919537"/>
            <a:ext cx="115252" cy="167639"/>
          </a:xfrm>
          <a:prstGeom prst="rect">
            <a:avLst/>
          </a:prstGeom>
        </p:spPr>
      </p:pic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88066" y="3919537"/>
            <a:ext cx="115252" cy="167639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Equipment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Automation Level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Box Style Produced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End-use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Customer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Equipment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Equipment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Equipment Type,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Equipment Type segment categorizes the market by equipment type.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Printing and Converting Equipment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Corrugated Board Production Equip…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Finishing and Box Assembly Equipm…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44" name="Rounded Rectangle 43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8" name="Rounded Rectangle 47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Equipment Type split shows how demand is distributed across equipment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2" name="Rectangle 51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6" name="Picture 55" descr="1_73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2_71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4_6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949_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1_26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2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923_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1_38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4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485775" y="4229437"/>
            <a:ext cx="269190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85775" y="4390371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equipment type, printing and converting equipment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551305"/>
            <a:ext cx="290484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segment is expected to witness the highest CAGR of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846" y="4702852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633642" y="4712240"/>
            <a:ext cx="270788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forecast period. In terms of value share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873174"/>
            <a:ext cx="266230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by equipment type, the printing and converting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5034109"/>
            <a:ext cx="273722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equipment segment is expected to dominate the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485775" y="5195043"/>
            <a:ext cx="92435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market, gaining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57210" y="5185655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1518006" y="5195043"/>
            <a:ext cx="133402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799111" y="5185655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85775" y="5355977"/>
            <a:ext cx="87510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85775" y="5565192"/>
            <a:ext cx="259577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Printing and converting equipment segment is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726126"/>
            <a:ext cx="119781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projected to register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630672" y="5716739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791468" y="5726126"/>
            <a:ext cx="112866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X higher value than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887061"/>
            <a:ext cx="280008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finishing and box assembly equipment segment in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6047995"/>
            <a:ext cx="38240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2265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Printing and Converting Equipment: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13139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180635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040085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207581" y="4229437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11525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leads 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25542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Corrugated Board Production Equipment: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40834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508330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367780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3838575" y="478264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4434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Finishing and Box Assembly Equipment: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30056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397552" y="500058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257002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7424498" y="5000581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5168221"/>
            <a:ext cx="909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1289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Equipment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Equipment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Equipment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Equipment Type mix within each country (share of 2036 value) · row label = country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Equipment Type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6718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Printing and converting equipment followed by finishing and box assembly equipment are expected to be the two most attractive equipment type segments in the North America corrugated box packaging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93905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 market in terms of value over the forecast period. Printing and converting equipment and finishing and box assembly equipment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574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9763239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0113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0168629" y="5861685"/>
            <a:ext cx="15130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7661" y="6019545"/>
            <a:ext cx="128699" cy="187198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565157" y="602932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051" y="6019545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70547" y="602932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24951" y="6019545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692447" y="6029325"/>
            <a:ext cx="78762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corrugated board production equipment segment is expected to be less attractive as compared to other segments over the forecast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79220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period, owing to its lower CAGR and incremental opportunity. Bubbles right of the CAGR-Index line grow faster than the 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Equipment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Equipment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Corrugated Board Production Equipment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Printing and Converting Equipment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Finishing and Box Assembly Equipment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40762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Equipment Type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38907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05550" y="4474795"/>
            <a:ext cx="5610225" cy="206888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484320"/>
            <a:ext cx="53364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printing and converting equipment segment is anticipated to witness an increase of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92082" y="4642181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6459578" y="4651960"/>
            <a:ext cx="52980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in terms of value as compared to 2026. The printing and converting equipment segment is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819600"/>
            <a:ext cx="31457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create an incremental opportunity of US$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99381" y="4809821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566877" y="4819600"/>
            <a:ext cx="20028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for the overall corrugated box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4987240"/>
            <a:ext cx="28639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packaging equipment market from 2026 to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305550" y="5205172"/>
            <a:ext cx="51236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finishing and box assembly equipment segment is expected to create an incremental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5372812"/>
            <a:ext cx="11596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opportunity of US$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13295" y="5363033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580790" y="5372812"/>
            <a:ext cx="40038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for the overall corrugated box packaging equipment market from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5540452"/>
            <a:ext cx="535860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to 2036. The corrugated board production equipment segment is expected to create an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5708092"/>
            <a:ext cx="18751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opportunity of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28711" y="5698313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296207" y="5708092"/>
            <a:ext cx="325655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for the overall corrugated box packaging equipment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875732"/>
            <a:ext cx="16101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from 2026 to 2036.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Equipment Type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Equipment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Equipment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7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737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252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361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Single facers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Double facers and gluing systems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Slitter-scorers, cut-off machines and corrugator stackers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Reel stands, splicers, preheaters and other corrugator auxiliaries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Integrated flexo printer-slotter-die-cutter lines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flexo printing and printer-slotter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Digital corrugated 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Corrugated liner pre-printing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flatbed die-cutters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rotary die-cutters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30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slotting, scoring and creasing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46164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Equipment Type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Equipment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Equipment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38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95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95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9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951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12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9598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006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Equipment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28526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4074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9982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475092" y="3724275"/>
            <a:ext cx="7293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finishing and box assembly equipment segment in 2036. Among corrugated box packaging equipment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899535"/>
            <a:ext cx="64593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equipment type, printing and converting equipment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4687" y="388931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859797" y="389953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27372"/>
            <a:ext cx="81737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equipment type, the printing and converting equipment segment is expected to dominate the market, gaining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99081" y="411714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574190" y="412737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69334" y="411714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144443" y="4127372"/>
            <a:ext cx="1200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The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4302632"/>
            <a:ext cx="41727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board production equipment segment is expected to lose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8110" y="4292409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573219" y="4302632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0724" y="429240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335833" y="430263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Equipment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Equipment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Equipment Type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221168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220692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213072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Corrugated Board Production Equipment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219263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334230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>
            <a:off x="5090922" y="333754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326134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Finishing and Box Assembly Equipment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332325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50880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508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500710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Printing and Converting Equipment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506902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Equipment Type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29550" y="1400175"/>
            <a:ext cx="39439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equipment type,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575435"/>
            <a:ext cx="40432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expected to witness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829550" y="1750695"/>
            <a:ext cx="1263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highest CAGR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42683" y="174047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217792" y="1750695"/>
            <a:ext cx="25815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 In terms of value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925955"/>
            <a:ext cx="39379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equipment type, the printing and converting equipment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829550" y="2101215"/>
            <a:ext cx="3245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dominate the market, gaining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24645" y="2090991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1199754" y="2101215"/>
            <a:ext cx="554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76475"/>
            <a:ext cx="9342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accounting for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12947" y="22662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888056" y="2276475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504313"/>
            <a:ext cx="39938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corrugated board production equipment segment is expected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79573"/>
            <a:ext cx="475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lose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54544" y="26693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429653" y="2679573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17158" y="266934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1192267" y="2679573"/>
            <a:ext cx="4036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54832"/>
            <a:ext cx="5856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52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Automation Level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Automation Level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Automation Level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Automation Level,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Automation Level segment categorizes the market by automation level.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Semi-automatic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Fully automatic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Manual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4" name="Rounded Rectangle 43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8" name="Rounded Rectangle 47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Automation Level split shows how demand is distributed across automation level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2" name="Rectangle 51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6" name="Picture 55" descr="1_68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2_61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4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_642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2_39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3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279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359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2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485775" y="4229437"/>
            <a:ext cx="2800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85775" y="4397077"/>
            <a:ext cx="26363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automation level, semi-automatic segment is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564717"/>
            <a:ext cx="23812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witness the highest CAGR of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815059" y="455493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982555" y="4564717"/>
            <a:ext cx="3313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732357"/>
            <a:ext cx="26991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period. In terms of value share by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899997"/>
            <a:ext cx="2857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automation level, the semi-automatic segment is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485775" y="5067637"/>
            <a:ext cx="24666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dominate the market, gaining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900479" y="50578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067974" y="5067637"/>
            <a:ext cx="2887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235277"/>
            <a:ext cx="11422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accounting for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576057" y="5225498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743553" y="5235277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453209"/>
            <a:ext cx="28156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Semi-automatic segment is projected to register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307" y="561107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39803" y="5620849"/>
            <a:ext cx="27174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 fully automatic segment in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788489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1274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Semi-automatic: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14123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081619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41069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108565" y="422943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447369"/>
            <a:ext cx="11040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Fully automatic: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890658" y="4437590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5058154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17604" y="443759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085100" y="444736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665301"/>
            <a:ext cx="6617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Manual: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48366" y="4655522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615861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75312" y="4655522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642807" y="4665301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Automation Level segment is projected to grow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Automation Level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Automation Level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Automation Level mix within each country (share of 2036 value) · row label = country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Automation Level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677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Semi-automatic followed by fully automatic are expected to be the two most attractive automation level segments in the North America corrugated box packaging equipment market in terms of value over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461534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period. Semi-automatic and fully automatic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2056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988063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2595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5393454" y="586168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2427" y="585190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7169923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07817" y="585190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575313" y="586168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29717" y="585190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297213" y="5861685"/>
            <a:ext cx="8101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manual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6029325"/>
            <a:ext cx="115490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is expected to be less attractive as compared to other segments over the forecast period, owing to its lower CAGR and incremental opportunity. Bubbles right of the CAGR-Index line grow faster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15987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Automation Level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Automation Level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Manual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Semi-automatic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Fully automatic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40762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Automation Level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38907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05550" y="4474795"/>
            <a:ext cx="5610225" cy="206888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484320"/>
            <a:ext cx="44300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semi-automatic segment is anticipated to witness an increase of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684712" y="447409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859821" y="4484320"/>
            <a:ext cx="829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 terms of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659580"/>
            <a:ext cx="49315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value as compared to 2026. The semi-automatic segment is expected to create an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834840"/>
            <a:ext cx="19568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incremental opportunity of US$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11582" y="4824616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386692" y="4834840"/>
            <a:ext cx="34011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305550" y="5010100"/>
            <a:ext cx="16798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from 2026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5237938"/>
            <a:ext cx="51346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fully automatic segment is expected to create an incremental opportunity of US$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389311" y="5227714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11564420" y="5237938"/>
            <a:ext cx="2778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5413197"/>
            <a:ext cx="55336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 the overall corrugated box packaging equipment market from 2026 to 2036. The manual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5588457"/>
            <a:ext cx="39559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create an incremental opportunity of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10642" y="557823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385751" y="5588457"/>
            <a:ext cx="11521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763717"/>
            <a:ext cx="39288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box packaging equipment market from 2026 to 2036.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Automation Level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Automation Level,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Automation Level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161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Automation Level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Semi-automatic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Fully 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Automation Level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7386" y="1713738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238500"/>
            <a:ext cx="29401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Semi-automatic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65528" y="32282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340637" y="3238500"/>
            <a:ext cx="81246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fully automatic segment in 2036. Among corrugated box packaging equipment by automation level, semi-automatic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413760"/>
            <a:ext cx="31566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2018" y="340353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57127" y="3413760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41597"/>
            <a:ext cx="7086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automation level, the semi-automatic segment is expected to dominate the market, gaining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1408" y="363137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486517" y="3641597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81660" y="363137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056770" y="3641597"/>
            <a:ext cx="23473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The manual segment is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3816857"/>
            <a:ext cx="10549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lose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80285" y="380663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455394" y="3816857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2898" y="380663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218008" y="3816857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Automation Level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Automation Level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Automation Level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82445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181969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74349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Manual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80540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299844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299368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291748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Fully automatic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297939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513143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512667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505047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Semi-automatic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511238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Automation Level</a:t>
            </a:r>
          </a:p>
        </p:txBody>
      </p:sp>
      <p:sp>
        <p:nvSpPr>
          <p:cNvPr id="29" name="Rectangle 28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29550" y="1400175"/>
            <a:ext cx="40018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automation level,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575435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semi-automatic segment is expected to witness the highest CAGR of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174047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990579" y="1750695"/>
            <a:ext cx="38469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 In terms of value share by automation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25955"/>
            <a:ext cx="3830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level, the semi-automatic segment is expected to dominate the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101215"/>
            <a:ext cx="9998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gaining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78556" y="209099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953665" y="2101215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8808" y="209099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523917" y="2101215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29053"/>
            <a:ext cx="24560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manual segment is expected to lose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34777" y="2318829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409886" y="2329053"/>
            <a:ext cx="13461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504313"/>
            <a:ext cx="13353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 to account for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14014" y="249408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289123" y="250431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49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Box Style Produced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Box Style Produced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Box Style Produced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Box Style Produced,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Box Style Produced segment categorizes the market by box style produced.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Folders and Telescopic Boxes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Slotted Shipping Boxes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Wraparound Cases and Sleeves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Die-cut Boxes and Mailers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Protective and Internal Packaging</a:t>
            </a:r>
          </a:p>
        </p:txBody>
      </p:sp>
      <p:sp>
        <p:nvSpPr>
          <p:cNvPr id="50" name="Rectangle 49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Trays and Retail-ready Boxes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65" name="Rounded Rectangle 6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7" name="Rectangle 6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69" name="Rounded Rectangle 6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1" name="Rectangle 7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Box Style Produced split shows how demand is distributed across box style produced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3" name="Rectangle 7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TextBox 7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7" name="Picture 76" descr="1_03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1_41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3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753_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1_06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3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751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1_27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5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477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7" name="Picture 86" descr="754_0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431_5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0" name="Picture 89" descr="537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1" name="Picture 90" descr="2_2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158_7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312_2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7_0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85775" y="4229437"/>
            <a:ext cx="2800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85775" y="4397077"/>
            <a:ext cx="28074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box style produced, trays and retail-ready boxes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564717"/>
            <a:ext cx="28748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is expected to witness the highest CAGR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4732357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6261" y="472257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93757" y="4732357"/>
            <a:ext cx="24726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 the forecast period. In terms of value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899997"/>
            <a:ext cx="2600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box style produced, the folders and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5775" y="5067637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telescopic boxes segment is expected to dominate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85775" y="5235277"/>
            <a:ext cx="11034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market, losing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537312" y="522549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1704808" y="5235277"/>
            <a:ext cx="1386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039293" y="522549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5402917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562084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Folders and telescopic boxes segment is projected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788489"/>
            <a:ext cx="6647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 register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567" y="5778710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266063" y="5788489"/>
            <a:ext cx="19026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 wraparound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956129"/>
            <a:ext cx="20819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cases and sleeves segment in 2036.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0862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Folders and Telescopic Boxes: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94282" y="4220049"/>
            <a:ext cx="123551" cy="179710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755078" y="4229437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80150" y="4220049"/>
            <a:ext cx="123551" cy="179710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40946" y="4229437"/>
            <a:ext cx="91045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90371"/>
            <a:ext cx="58173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99586"/>
            <a:ext cx="146420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Slotted Shipping Boxes: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49863" y="4590198"/>
            <a:ext cx="123551" cy="179710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5410659" y="4599586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5731" y="4590198"/>
            <a:ext cx="123551" cy="179710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6396527" y="4599586"/>
            <a:ext cx="121299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808800"/>
            <a:ext cx="192678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Wraparound Cases and Sleeves: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712444" y="4799413"/>
            <a:ext cx="123551" cy="179710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873240" y="4808800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98313" y="4799413"/>
            <a:ext cx="123551" cy="179710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6859109" y="4808800"/>
            <a:ext cx="85335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969735"/>
            <a:ext cx="40545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178949"/>
            <a:ext cx="164127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Die-cut Boxes and Mailers: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426933" y="5169562"/>
            <a:ext cx="123551" cy="179710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5587729" y="5178949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12801" y="5169562"/>
            <a:ext cx="123551" cy="179710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6573597" y="5178949"/>
            <a:ext cx="121299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838575" y="5388164"/>
            <a:ext cx="205042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Protective and Internal Packaging: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36079" y="5378776"/>
            <a:ext cx="123551" cy="179710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996875" y="5388164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821947" y="5378776"/>
            <a:ext cx="123551" cy="179710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6982743" y="5388164"/>
            <a:ext cx="85335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549099"/>
            <a:ext cx="40545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758313"/>
            <a:ext cx="179136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● Trays and Retail-ready Boxes: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77023" y="5748925"/>
            <a:ext cx="123551" cy="179710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737819" y="5758313"/>
            <a:ext cx="8779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62891" y="5748925"/>
            <a:ext cx="123551" cy="179710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723687" y="5758313"/>
            <a:ext cx="74202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919248"/>
            <a:ext cx="47670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Box Style Produced segment is projected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Box Style Produced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Box Style Produced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Box Style Produced mix within each country (share of 2036 value) · row label = country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Box Style Produced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677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Wraparound cases and sleeves followed by folders and telescopic boxes are expected to be the two most attractive box style produced segments in the North America corrugated box packaging equipment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7930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terms of value over the forecast period. Wraparound cases and sleeves and folders and telescopic boxes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3571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8303210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41104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708600" y="586168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17574" y="585190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485069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722964" y="585190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57175" y="602932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11579" y="601954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979074" y="6029325"/>
            <a:ext cx="86011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protective and internal packaging segment is expected to be less attractive as compared to other segments over the forecast period, owing to its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6196965"/>
            <a:ext cx="67902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lower CAGR and incremental opportunity. Bubbles right of the CAGR-Index line grow faster than the segment average.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Box Style Produced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Box Style Produced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Slotted Shipping Boxes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Die-cut Boxes and Mailers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Trays and Retail-ready Boxes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Folders and Telescopic Boxes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Box Style Produced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Box Style Produced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Protective and Internal Packaging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Wraparound Cases and Sleeves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40762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Box Style Produced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50299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6305550" y="1588720"/>
            <a:ext cx="5610225" cy="496448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598245"/>
            <a:ext cx="53045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wraparound cases and sleeves segment is anticipated to witness an increase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59300" y="158802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734409" y="1598245"/>
            <a:ext cx="1520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773505"/>
            <a:ext cx="51554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as compared to 2026. The wraparound cases and sleeves segment is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948765"/>
            <a:ext cx="32853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expected to create an incremental opportunity of US$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0010" y="193854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715119" y="1948765"/>
            <a:ext cx="20903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2124025"/>
            <a:ext cx="29906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equipment market from 2026 to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2351863"/>
            <a:ext cx="55911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folders and telescopic boxes segment is expected to create an incremental opportunity of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527123"/>
            <a:ext cx="311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65953" y="251689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741062" y="2527123"/>
            <a:ext cx="50379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 2026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2702383"/>
            <a:ext cx="55713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slotted shipping boxes segment is expected to create an incremental opportunity of US$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91470" y="2867419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6579" y="2877643"/>
            <a:ext cx="50379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 2026 to 2036.</a:t>
            </a:r>
          </a:p>
        </p:txBody>
      </p:sp>
      <p:sp>
        <p:nvSpPr>
          <p:cNvPr id="38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Box Style Produced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Box Style Produced,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Box Style Produced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84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Style Produced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Slotted Shipping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Die-cut Boxes and Mailers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Trays and Retail-ready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Folders and Telescopic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Protective and Internal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Wraparound Cases and Sleeves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Box Style Produced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1412" y="208045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971925"/>
            <a:ext cx="37026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Folders and telescopic boxes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7980" y="39617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103089" y="3971925"/>
            <a:ext cx="75592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wraparound cases and sleeves segment in 2036. Among corrugated box packaging equipment by box style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4147185"/>
            <a:ext cx="54831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produced, trays and retail-ready boxes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8548" y="413696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83658" y="414718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375022"/>
            <a:ext cx="78787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box style produced, the folders and telescopic boxes segment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4129" y="436479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279238" y="437502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74381" y="436479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849490" y="437502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Box Style Produced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Box Style Produced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Box Style Produced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80427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>
            <a:off x="5090922" y="17995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723312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Trays and Retail-ready Boxes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78522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216649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216172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208552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Protective and Internal Packaging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214744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2716971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271220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2636008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Die-cut Boxes and Mailers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269792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928997" y="349198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 rot="10800000">
            <a:off x="5090922" y="348722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5233797" y="341102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Slotted Shipping Boxes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896100" y="347293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928997" y="44909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>
            <a:off x="5090922" y="448616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5233797" y="440996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Wraparound Cases and Sleeves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896100" y="447187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5" name="FMI Legend Chip"/>
          <p:cNvSpPr/>
          <p:nvPr/>
        </p:nvSpPr>
        <p:spPr>
          <a:xfrm>
            <a:off x="4928997" y="563988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Isosceles Triangle 35"/>
          <p:cNvSpPr/>
          <p:nvPr/>
        </p:nvSpPr>
        <p:spPr>
          <a:xfrm rot="10800000">
            <a:off x="5090922" y="563512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BPS Name 6"/>
          <p:cNvSpPr txBox="1"/>
          <p:nvPr/>
        </p:nvSpPr>
        <p:spPr>
          <a:xfrm>
            <a:off x="5233797" y="555892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Folders and Telescopic Boxes</a:t>
            </a:r>
          </a:p>
        </p:txBody>
      </p:sp>
      <p:sp>
        <p:nvSpPr>
          <p:cNvPr id="38" name="BPS Value 6"/>
          <p:cNvSpPr txBox="1"/>
          <p:nvPr/>
        </p:nvSpPr>
        <p:spPr>
          <a:xfrm>
            <a:off x="6896100" y="562083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9" name="Rounded Rectangle 38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Box Style Produced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29550" y="1400175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box style produced,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575435"/>
            <a:ext cx="38546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trays and retail-ready boxes segment is expected to witness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1750695"/>
            <a:ext cx="1032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11057" y="174047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986166" y="175069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978533"/>
            <a:ext cx="37477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box style produced, the folders and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153793"/>
            <a:ext cx="37941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telescopic boxes segment is expected to dominate the market,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2329053"/>
            <a:ext cx="423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losing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01772" y="2318829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376881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2025" y="231882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947134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57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End-use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End-use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End-use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9 sub-segments of End-use,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End-use segment categorizes the market by end-use.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Personal care and household produ…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Processed food and beverages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 shipping and fulfillme…</a:t>
            </a:r>
          </a:p>
        </p:txBody>
      </p:sp>
      <p:sp>
        <p:nvSpPr>
          <p:cNvPr id="43" name="Rectangle 42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end uses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58" name="Rounded Rectangle 5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2" name="Rounded Rectangle 6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End-use split shows how demand is distributed across end-use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0" name="Picture 69" descr="721_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03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3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61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838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3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587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7" name="Picture 76" descr="816_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8" name="Picture 77" descr="3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79" name="Picture 78" descr="406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0" name="Picture 79" descr="591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1" name="Picture 80" descr="3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2" name="Picture 81" descr="391_0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3" name="Picture 82" descr="657_7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4" name="Picture 83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485775" y="4229437"/>
            <a:ext cx="2800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85775" y="4397077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end-use, agriculture and fresh produce segment is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564717"/>
            <a:ext cx="23812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expected to witness the highest CAGR of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815059" y="455493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2982555" y="4564717"/>
            <a:ext cx="3313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732357"/>
            <a:ext cx="26991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period. In terms of value share by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899997"/>
            <a:ext cx="24639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end-use, the personal care and household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85775" y="5067637"/>
            <a:ext cx="27280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segment is expected to dominate the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485775" y="5235277"/>
            <a:ext cx="8819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market, losing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315757" y="522549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483253" y="5235277"/>
            <a:ext cx="1386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817737" y="5225498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5402917"/>
            <a:ext cx="908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5620849"/>
            <a:ext cx="28944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 segment is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788489"/>
            <a:ext cx="124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projected to register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678376" y="577871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1845872" y="5788489"/>
            <a:ext cx="11725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higher value than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5956129"/>
            <a:ext cx="29059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pharmaceuticals and healthcare segment in 2036.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4229437"/>
            <a:ext cx="24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Personal care and household products: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192978" y="4219658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60474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219924" y="4219658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87420" y="4229437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4397077"/>
            <a:ext cx="11525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leads the segment.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4615009"/>
            <a:ext cx="20472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Pharmaceuticals and healthcare: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833906" y="460523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001402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860852" y="4605230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7028348" y="4615009"/>
            <a:ext cx="7872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000581"/>
            <a:ext cx="19583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Processed food and beverages: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744956" y="4990801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5912452" y="500058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771902" y="4990801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6939398" y="5000581"/>
            <a:ext cx="8857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5168221"/>
            <a:ext cx="4191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3838575" y="5386153"/>
            <a:ext cx="23195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 shipping and fulfillment: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106182" y="5376373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6273678" y="538615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133128" y="5376373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7300624" y="5386153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5553793"/>
            <a:ext cx="909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3838575" y="5771725"/>
            <a:ext cx="10925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end uses: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879198" y="5761945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5046694" y="577172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906144" y="5761945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6073640" y="5771725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524875" y="5842641"/>
            <a:ext cx="28822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End-use segment is projected to grow at a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End-use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9 sub-segments of End-use,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End-use segment categorizes the market by end-use.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Electrical and electronics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Retail-ready and point-of-sale pa…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Industrial machinery, automotive…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Agriculture and fresh produce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360_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703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325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398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2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08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147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3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8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176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7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16412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Electrical and electronics: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75103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24259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102049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269545" y="4229437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25182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Retail-ready and point-of-sale packaging: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52048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3119543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978994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146489" y="444736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31763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● Industrial machinery, automotive and components: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10166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3777661" y="4665301"/>
            <a:ext cx="9264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5211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4819614" y="4665301"/>
            <a:ext cx="12846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CAGR serves a niche.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19296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Agriculture and fresh produce: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63507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2531003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390453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3557949" y="4883233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End-use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End-use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End-use mix within each country (share of 2036 value) · row label = country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End-use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677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Personal care and household products followed by electrical and electronics are expected to be the two most attractive end-use segments in the North America corrugated box packaging equipment market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77261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terms of value over the forecast period. Personal care and household products and electrical and electronics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3134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8098844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3673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04234" y="586168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13208" y="585190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280704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8598" y="585190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686094" y="5861685"/>
            <a:ext cx="7935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7175" y="6029325"/>
            <a:ext cx="18573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segment average of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62601" y="6019545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30097" y="6029325"/>
            <a:ext cx="9573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industrial machinery, automotive and components segment is expected to be less attractive as compared to other segments over the forecast period, owing to its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6196965"/>
            <a:ext cx="67902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lower CAGR and incremental opportunity. Bubbles right of the CAGR-Index line grow faster than the segment average.</a:t>
            </a:r>
          </a:p>
        </p:txBody>
      </p:sp>
      <p:sp>
        <p:nvSpPr>
          <p:cNvPr id="33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lockshield_15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End-use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End-use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Agriculture and fresh produce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Processed food and beverages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E-commerce shipping and fulfillment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Retail-ready and point-of-sale packaging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End-use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End-use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Personal care and household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Electrical and electronics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Pharmaceuticals and healthcare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Industrial machinery, automotive and components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End-use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End-use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end uses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End-use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49785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electrical and electronics segment is anticipated to witness an increase of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3255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11408364" y="1400175"/>
            <a:ext cx="2955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54241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terms of value as compared to 2026. The electrical and electronics segment is expected to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750695"/>
            <a:ext cx="25470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create an incremental opportunity of US$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01773" y="174047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976882" y="1750695"/>
            <a:ext cx="271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925955"/>
            <a:ext cx="23647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market from 2026 to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2153793"/>
            <a:ext cx="53539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personal care and household products segment is expected to create an incremental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329053"/>
            <a:ext cx="1208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 of US$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63647" y="231882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638756" y="2329053"/>
            <a:ext cx="41824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2504313"/>
            <a:ext cx="55582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to 2036. The other end uses segment is expected to create an incremental opportunity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679573"/>
            <a:ext cx="465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US$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20560" y="266934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895670" y="2679573"/>
            <a:ext cx="46713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 2026 to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2854832"/>
            <a:ext cx="409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36" name="lockshield_12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End-use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End-use,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End-use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3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958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377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End-use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End-use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4631" y="2451926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714875"/>
            <a:ext cx="42771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Personal care and household products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02513" y="47046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677622" y="4714875"/>
            <a:ext cx="70954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pharmaceuticals and healthcare segment in 2036. Among corrugated box packaging equipment by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4890135"/>
            <a:ext cx="54997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end-use, agriculture and fresh produce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5093" y="487991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900202" y="489013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17972"/>
            <a:ext cx="7822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end-use, the personal care and household products segment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48219" y="510774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223328" y="511797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18471" y="510774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793581" y="5117972"/>
            <a:ext cx="19246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 The retail-ready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5293232"/>
            <a:ext cx="33985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point-of-sale packaging segment is expected to lose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23931" y="5283009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99040" y="5293232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86544" y="528300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561654" y="529323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End-use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End-use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End-use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734211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172944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65324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Industrial machinery, automotive and components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71516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187226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>
            <a:off x="5090922" y="186750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179130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185321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2117198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 rot="10800000">
            <a:off x="5090922" y="211243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203623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Retail-ready and point-of-sale packaging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209814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928997" y="2539209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 rot="10800000">
            <a:off x="5090922" y="25344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5233797" y="245824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 shipping and fulfillment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896100" y="252015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928997" y="3071643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>
            <a:off x="5090922" y="306688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5233797" y="2990680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896100" y="305259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5" name="FMI Legend Chip"/>
          <p:cNvSpPr/>
          <p:nvPr/>
        </p:nvSpPr>
        <p:spPr>
          <a:xfrm>
            <a:off x="4928997" y="365164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Isosceles Triangle 35"/>
          <p:cNvSpPr/>
          <p:nvPr/>
        </p:nvSpPr>
        <p:spPr>
          <a:xfrm>
            <a:off x="5090922" y="364688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BPS Name 6"/>
          <p:cNvSpPr txBox="1"/>
          <p:nvPr/>
        </p:nvSpPr>
        <p:spPr>
          <a:xfrm>
            <a:off x="5233797" y="357068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sp>
        <p:nvSpPr>
          <p:cNvPr id="38" name="BPS Value 6"/>
          <p:cNvSpPr txBox="1"/>
          <p:nvPr/>
        </p:nvSpPr>
        <p:spPr>
          <a:xfrm>
            <a:off x="6896100" y="363259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9" name="FMI Legend Chip"/>
          <p:cNvSpPr/>
          <p:nvPr/>
        </p:nvSpPr>
        <p:spPr>
          <a:xfrm>
            <a:off x="4928997" y="429935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Isosceles Triangle 39"/>
          <p:cNvSpPr/>
          <p:nvPr/>
        </p:nvSpPr>
        <p:spPr>
          <a:xfrm rot="10800000">
            <a:off x="5090922" y="429459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BPS Name 7"/>
          <p:cNvSpPr txBox="1"/>
          <p:nvPr/>
        </p:nvSpPr>
        <p:spPr>
          <a:xfrm>
            <a:off x="5233797" y="421839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sp>
        <p:nvSpPr>
          <p:cNvPr id="42" name="BPS Value 7"/>
          <p:cNvSpPr txBox="1"/>
          <p:nvPr/>
        </p:nvSpPr>
        <p:spPr>
          <a:xfrm>
            <a:off x="6896100" y="428030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3" name="FMI Legend Chip"/>
          <p:cNvSpPr/>
          <p:nvPr/>
        </p:nvSpPr>
        <p:spPr>
          <a:xfrm>
            <a:off x="4928997" y="500464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Isosceles Triangle 43"/>
          <p:cNvSpPr/>
          <p:nvPr/>
        </p:nvSpPr>
        <p:spPr>
          <a:xfrm rot="10800000">
            <a:off x="5090922" y="499987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BPS Name 8"/>
          <p:cNvSpPr txBox="1"/>
          <p:nvPr/>
        </p:nvSpPr>
        <p:spPr>
          <a:xfrm>
            <a:off x="5233797" y="492367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46" name="BPS Value 8"/>
          <p:cNvSpPr txBox="1"/>
          <p:nvPr/>
        </p:nvSpPr>
        <p:spPr>
          <a:xfrm>
            <a:off x="6896100" y="498559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7" name="FMI Legend Chip"/>
          <p:cNvSpPr/>
          <p:nvPr/>
        </p:nvSpPr>
        <p:spPr>
          <a:xfrm>
            <a:off x="4928997" y="580280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Isosceles Triangle 47"/>
          <p:cNvSpPr/>
          <p:nvPr/>
        </p:nvSpPr>
        <p:spPr>
          <a:xfrm rot="10800000">
            <a:off x="5090922" y="579803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BPS Name 9"/>
          <p:cNvSpPr txBox="1"/>
          <p:nvPr/>
        </p:nvSpPr>
        <p:spPr>
          <a:xfrm>
            <a:off x="5233797" y="572183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Personal care and household products</a:t>
            </a:r>
          </a:p>
        </p:txBody>
      </p:sp>
      <p:sp>
        <p:nvSpPr>
          <p:cNvPr id="50" name="BPS Value 9"/>
          <p:cNvSpPr txBox="1"/>
          <p:nvPr/>
        </p:nvSpPr>
        <p:spPr>
          <a:xfrm>
            <a:off x="6896100" y="578375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End-use</a:t>
            </a:r>
          </a:p>
        </p:txBody>
      </p:sp>
      <p:sp>
        <p:nvSpPr>
          <p:cNvPr id="53" name="Rectangle 52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829550" y="1400175"/>
            <a:ext cx="34718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end-use,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575435"/>
            <a:ext cx="39633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agriculture and fresh produce segment is expected to witness the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1750695"/>
            <a:ext cx="1032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11057" y="1740471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8986166" y="1750695"/>
            <a:ext cx="25815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 In terms of value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1925955"/>
            <a:ext cx="36684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end-use, the personal care and household products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101215"/>
            <a:ext cx="31646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segment is expected to dominate the market, losing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3347" y="2090991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1118457" y="2101215"/>
            <a:ext cx="554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29550" y="2276475"/>
            <a:ext cx="9342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accounting for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12947" y="2266251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888056" y="2276475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829550" y="2504313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retail-ready and point-of-sale packaging segment is expected to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79573"/>
            <a:ext cx="3166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lose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5372" y="2669349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8270482" y="2679573"/>
            <a:ext cx="2638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forecast period to account for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57986" y="2669349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1033096" y="2679573"/>
            <a:ext cx="5796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7829550" y="2854832"/>
            <a:ext cx="409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6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Customer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Customer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Customer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Customer Type,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Customer Type segment categorizes the market by customer type.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Captive / In-house Box Manufactur…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Corrugated Sheet Feeders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Sheet Plants and Box Converters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Contract and Third-party Packagin…</a:t>
            </a:r>
          </a:p>
        </p:txBody>
      </p:sp>
      <p:sp>
        <p:nvSpPr>
          <p:cNvPr id="43" name="Rectangle 42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Integrated Board and Box Manufact…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58" name="Rounded Rectangle 5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2" name="Rounded Rectangle 6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Customer Type split shows how demand is distributed across customer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0" name="Picture 69" descr="1_17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58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3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90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3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4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80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7" name="Picture 76" descr="1_42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8" name="Picture 77" descr="5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79" name="Picture 78" descr="519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0" name="Picture 79" descr="724_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1" name="Picture 80" descr="3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2" name="Picture 81" descr="204_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3" name="Picture 82" descr="279_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4" name="Picture 83" descr="3_2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485775" y="4229437"/>
            <a:ext cx="269190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Among corrugated box packaging equipment by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85775" y="4390371"/>
            <a:ext cx="278987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customer type, independent sheet plants and box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551305"/>
            <a:ext cx="261018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converters segment is expected to witness the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4712240"/>
            <a:ext cx="95419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highest CAGR of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387054" y="4702852"/>
            <a:ext cx="123551" cy="179710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1547850" y="4712240"/>
            <a:ext cx="156295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forecast period. In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873174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terms of value share by customer type, the captive /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85775" y="5034109"/>
            <a:ext cx="252610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in-house box manufacturing units segment is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485775" y="5195043"/>
            <a:ext cx="229638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expected to dominate the market, losing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729238" y="5185655"/>
            <a:ext cx="123551" cy="179710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2890034" y="5195043"/>
            <a:ext cx="28024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485775" y="5355977"/>
            <a:ext cx="109958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and accounting for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532446" y="5346589"/>
            <a:ext cx="123551" cy="179710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1693242" y="5355977"/>
            <a:ext cx="87510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565192"/>
            <a:ext cx="291465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Captive / in-house box manufacturing units segment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726126"/>
            <a:ext cx="131149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is projected to register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744353" y="5716739"/>
            <a:ext cx="123551" cy="179710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905149" y="5726126"/>
            <a:ext cx="112866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X higher value than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5775" y="5887061"/>
            <a:ext cx="254993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independent sheet plants and box converters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85775" y="6047995"/>
            <a:ext cx="101629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segment in 2036.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229437"/>
            <a:ext cx="27138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Captive / In-house Box Manufacturing Units: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500482" y="4219658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666797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527428" y="4219658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3838575" y="439707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4615009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Independent Corrugated Sheet Feeders: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257342" y="4605230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6424837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284288" y="4605230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3838575" y="478264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000581"/>
            <a:ext cx="28947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Independent Sheet Plants and Box Converters: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681383" y="4990801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848879" y="5000581"/>
            <a:ext cx="9264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3992603" y="5168221"/>
            <a:ext cx="12458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grows fastest.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5386153"/>
            <a:ext cx="31714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● Contract and Third-party Packaging Manufacturers: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958054" y="5376373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7125550" y="5386153"/>
            <a:ext cx="5108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of 2026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553793"/>
            <a:ext cx="4601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value ·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246728" y="5544013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414224" y="5553793"/>
            <a:ext cx="12846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F3CC2"/>
                </a:solidFill>
                <a:latin typeface="Calibri"/>
              </a:rPr>
              <a:t>CAGR 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5771725"/>
            <a:ext cx="25594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Integrated Board and Box Manufacturers: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46048" y="5761945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513544" y="577172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372994" y="5761945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3838575" y="5939365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Customer Type segment is projected to grow at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Customer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Customer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Customer Type mix within each country (share of 2036 value) · row label = country size (US$ Mn), largest first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Customer Type · Bubble size represents 2036 value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57175" y="5694045"/>
            <a:ext cx="11606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Independent sheet plants and box converters followed by captive / in-house box manufacturing units are expected to be the two most attractive customer type segments in the North America corrugated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5861685"/>
            <a:ext cx="110871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box packaging equipment market in terms of value over the forecast period. Independent sheet plants and box converters and captive / in-house box manufacturing units exhibit a CAGR index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9233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459830" y="586168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3707" y="601954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11203" y="6029325"/>
            <a:ext cx="16609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market share index of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20176" y="6019545"/>
            <a:ext cx="128699" cy="187198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187672" y="6029325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25567" y="601954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593062" y="6029325"/>
            <a:ext cx="26063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respectively, against the segment average of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47467" y="601954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5314962" y="6029325"/>
            <a:ext cx="59566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The integrated board and box manufacturers segment is expected to be less attractive as compared to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6196965"/>
            <a:ext cx="98458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segments over the forecast period, owing to its lower CAGR and incremental opportunity. Bubbles right of the CAGR-Index line grow faster than the segment average.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lockshield_15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Customer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Customer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Integrated Board and Box Manufacturers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Independent Corrugated Sheet Feeders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Independent Sheet Plants and Box Converters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Captive / In-house Box Manufacturing Units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Customer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Customer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Contract and Third-party Packaging Manufacturers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40762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Customer Type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50299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05550" y="1588720"/>
            <a:ext cx="5610225" cy="496448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598245"/>
            <a:ext cx="55116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2036, independent sheet plants and box converters segment is anticipated to witness an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6305550" y="1773505"/>
            <a:ext cx="7265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increase of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81282" y="176328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156392" y="1773505"/>
            <a:ext cx="45658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in terms of value as compared to 2026. The independent sheet plants and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948765"/>
            <a:ext cx="48744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box converters segment is expected to create an incremental opportunity of US$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29159" y="193854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04269" y="1948765"/>
            <a:ext cx="4835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2124025"/>
            <a:ext cx="45974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overall corrugated box packaging equipment market from 2026 to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2351863"/>
            <a:ext cx="53685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independent corrugated sheet feeders segment is expected to create an incremental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527123"/>
            <a:ext cx="1208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 of US$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63647" y="251689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638756" y="2527123"/>
            <a:ext cx="41824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 equipment market from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2702383"/>
            <a:ext cx="55547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to 2036. The captive / in-house box manufacturing units segment is expected to create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877643"/>
            <a:ext cx="21365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 incremental opportunity of US$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91292" y="286741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566402" y="2877643"/>
            <a:ext cx="271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for the overall corrugated box packaging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05550" y="3052903"/>
            <a:ext cx="23647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market from 2026 to 2036.</a:t>
            </a:r>
          </a:p>
        </p:txBody>
      </p:sp>
      <p:sp>
        <p:nvSpPr>
          <p:cNvPr id="36" name="lockshield_12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Customer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Customer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Customer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231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9630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428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Customer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Customer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0908" y="1956627"/>
            <a:ext cx="366712" cy="533399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45672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Captive / in-house box manufacturing units segment is projected to register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2616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967725" y="3724275"/>
            <a:ext cx="64011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higher value than independent sheet plants and box converters segment in 2036. Among corrugated box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76225" y="3899535"/>
            <a:ext cx="83000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equipment by customer type, independent sheet plants and box converters segment is expected to witness the highest CAGR of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5431" y="388931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700540" y="389953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27372"/>
            <a:ext cx="8478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customer type, the captive / in-house box manufacturing units segment is expected to dominate the market, losing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03732" y="411714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878842" y="4127372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3985" y="4117149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449094" y="4127372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Customer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Customer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Customer Type ·  2021 / 2026 / 2036 (US$ Mn)  ·  right axis = BPS share shift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4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5" name="FMI Legend Chip"/>
          <p:cNvSpPr/>
          <p:nvPr/>
        </p:nvSpPr>
        <p:spPr>
          <a:xfrm>
            <a:off x="4928997" y="179036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Isosceles Triangle 15"/>
          <p:cNvSpPr/>
          <p:nvPr/>
        </p:nvSpPr>
        <p:spPr>
          <a:xfrm rot="10800000">
            <a:off x="5090922" y="178560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BPS Name 1"/>
          <p:cNvSpPr txBox="1"/>
          <p:nvPr/>
        </p:nvSpPr>
        <p:spPr>
          <a:xfrm>
            <a:off x="5233797" y="1709401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Integrated Board and Box Manufacturers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896100" y="1771314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9" name="FMI Legend Chip"/>
          <p:cNvSpPr/>
          <p:nvPr/>
        </p:nvSpPr>
        <p:spPr>
          <a:xfrm>
            <a:off x="4928997" y="221804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Isosceles Triangle 19"/>
          <p:cNvSpPr/>
          <p:nvPr/>
        </p:nvSpPr>
        <p:spPr>
          <a:xfrm rot="10800000">
            <a:off x="5090922" y="22132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BPS Name 2"/>
          <p:cNvSpPr txBox="1"/>
          <p:nvPr/>
        </p:nvSpPr>
        <p:spPr>
          <a:xfrm>
            <a:off x="5233797" y="213708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Contract and Third-party Packaging Manufacturers</a:t>
            </a:r>
          </a:p>
        </p:txBody>
      </p:sp>
      <p:sp>
        <p:nvSpPr>
          <p:cNvPr id="22" name="BPS Value 2"/>
          <p:cNvSpPr txBox="1"/>
          <p:nvPr/>
        </p:nvSpPr>
        <p:spPr>
          <a:xfrm>
            <a:off x="6896100" y="219899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3" name="FMI Legend Chip"/>
          <p:cNvSpPr/>
          <p:nvPr/>
        </p:nvSpPr>
        <p:spPr>
          <a:xfrm>
            <a:off x="4928997" y="309931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Isosceles Triangle 23"/>
          <p:cNvSpPr/>
          <p:nvPr/>
        </p:nvSpPr>
        <p:spPr>
          <a:xfrm>
            <a:off x="5090922" y="309455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BPS Name 3"/>
          <p:cNvSpPr txBox="1"/>
          <p:nvPr/>
        </p:nvSpPr>
        <p:spPr>
          <a:xfrm>
            <a:off x="5233797" y="301835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Corrugated Sheet Feeders</a:t>
            </a:r>
          </a:p>
        </p:txBody>
      </p:sp>
      <p:sp>
        <p:nvSpPr>
          <p:cNvPr id="26" name="BPS Value 3"/>
          <p:cNvSpPr txBox="1"/>
          <p:nvPr/>
        </p:nvSpPr>
        <p:spPr>
          <a:xfrm>
            <a:off x="6896100" y="308026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7" name="FMI Legend Chip"/>
          <p:cNvSpPr/>
          <p:nvPr/>
        </p:nvSpPr>
        <p:spPr>
          <a:xfrm>
            <a:off x="4928997" y="428094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Isosceles Triangle 27"/>
          <p:cNvSpPr/>
          <p:nvPr/>
        </p:nvSpPr>
        <p:spPr>
          <a:xfrm>
            <a:off x="5090922" y="427617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BPS Name 4"/>
          <p:cNvSpPr txBox="1"/>
          <p:nvPr/>
        </p:nvSpPr>
        <p:spPr>
          <a:xfrm>
            <a:off x="5233797" y="419997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Sheet Plants and Box Converters</a:t>
            </a:r>
          </a:p>
        </p:txBody>
      </p:sp>
      <p:sp>
        <p:nvSpPr>
          <p:cNvPr id="30" name="BPS Value 4"/>
          <p:cNvSpPr txBox="1"/>
          <p:nvPr/>
        </p:nvSpPr>
        <p:spPr>
          <a:xfrm>
            <a:off x="6896100" y="426189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1" name="FMI Legend Chip"/>
          <p:cNvSpPr/>
          <p:nvPr/>
        </p:nvSpPr>
        <p:spPr>
          <a:xfrm>
            <a:off x="4928997" y="556675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Isosceles Triangle 31"/>
          <p:cNvSpPr/>
          <p:nvPr/>
        </p:nvSpPr>
        <p:spPr>
          <a:xfrm rot="10800000">
            <a:off x="5090922" y="556199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BPS Name 5"/>
          <p:cNvSpPr txBox="1"/>
          <p:nvPr/>
        </p:nvSpPr>
        <p:spPr>
          <a:xfrm>
            <a:off x="5233797" y="548579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Captive / In-house Box Manufacturing Units</a:t>
            </a:r>
          </a:p>
        </p:txBody>
      </p:sp>
      <p:sp>
        <p:nvSpPr>
          <p:cNvPr id="34" name="BPS Value 5"/>
          <p:cNvSpPr txBox="1"/>
          <p:nvPr/>
        </p:nvSpPr>
        <p:spPr>
          <a:xfrm>
            <a:off x="6896100" y="554770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Customer Type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829550" y="1400175"/>
            <a:ext cx="38543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Among corrugated box packaging equipment by customer type,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575435"/>
            <a:ext cx="40198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independent sheet plants and box converters segment is expected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1750695"/>
            <a:ext cx="1906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witness the highest CAGR of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85645" y="174047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60754" y="1750695"/>
            <a:ext cx="1548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forecast period.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978533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terms of value share by customer type, the captive / in-house box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153793"/>
            <a:ext cx="4016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manufacturing units segment is expected to dominate the market,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2329053"/>
            <a:ext cx="423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losing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01772" y="23188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8376881" y="2329053"/>
            <a:ext cx="14459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and accounting for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2025" y="231882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947134" y="2329053"/>
            <a:ext cx="9462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by 2036.</a:t>
            </a:r>
          </a:p>
        </p:txBody>
      </p:sp>
      <p:sp>
        <p:nvSpPr>
          <p:cNvPr id="53" name="lockshield_12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Equipment Type × Customer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Equipment Type × End Use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 × Customer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Snapshot: Equipment Type × Customer Type, 2026E vs 2036F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North America market value (US$ Mn) for each equipment type sub-segment across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476875"/>
          </a:xfrm>
          <a:prstGeom prst="roundRect">
            <a:avLst>
              <a:gd name="adj" fmla="val 139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Value, Equipment Type × Customer Type, 2026E and 2036F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50101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14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103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824484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Integrated Board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Corrugated Sheet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Sheet Plants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Captive / In-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Contract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Third-party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216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2579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66735" y="401197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Snapshot: Equipment Type × Customer Type, 2026E vs 2036F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North America market value (US$ Mn) for each equipment type sub-segment across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Flow, Equipment Type → Customer Type, 2036F (US$ Mn)</a:t>
            </a:r>
          </a:p>
        </p:txBody>
      </p:sp>
      <p:sp>
        <p:nvSpPr>
          <p:cNvPr id="12" name="Freeform 11"/>
          <p:cNvSpPr/>
          <p:nvPr/>
        </p:nvSpPr>
        <p:spPr>
          <a:xfrm>
            <a:off x="2057400" y="1304925"/>
            <a:ext cx="3743325" cy="476250"/>
          </a:xfrm>
          <a:custGeom>
            <a:avLst/>
            <a:gdLst/>
            <a:ahLst/>
            <a:cxnLst/>
            <a:rect l="l" t="t" r="r" b="b"/>
            <a:pathLst>
              <a:path w="393" h="50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5"/>
                </a:lnTo>
                <a:lnTo>
                  <a:pt x="114" y="6"/>
                </a:lnTo>
                <a:lnTo>
                  <a:pt x="131" y="8"/>
                </a:lnTo>
                <a:lnTo>
                  <a:pt x="147" y="9"/>
                </a:lnTo>
                <a:lnTo>
                  <a:pt x="164" y="11"/>
                </a:lnTo>
                <a:lnTo>
                  <a:pt x="180" y="13"/>
                </a:lnTo>
                <a:lnTo>
                  <a:pt x="196" y="15"/>
                </a:lnTo>
                <a:lnTo>
                  <a:pt x="213" y="17"/>
                </a:lnTo>
                <a:lnTo>
                  <a:pt x="229" y="19"/>
                </a:lnTo>
                <a:lnTo>
                  <a:pt x="246" y="21"/>
                </a:lnTo>
                <a:lnTo>
                  <a:pt x="262" y="22"/>
                </a:lnTo>
                <a:lnTo>
                  <a:pt x="278" y="24"/>
                </a:lnTo>
                <a:lnTo>
                  <a:pt x="295" y="25"/>
                </a:lnTo>
                <a:lnTo>
                  <a:pt x="311" y="27"/>
                </a:lnTo>
                <a:lnTo>
                  <a:pt x="327" y="28"/>
                </a:lnTo>
                <a:lnTo>
                  <a:pt x="344" y="29"/>
                </a:lnTo>
                <a:lnTo>
                  <a:pt x="360" y="29"/>
                </a:lnTo>
                <a:lnTo>
                  <a:pt x="377" y="30"/>
                </a:lnTo>
                <a:lnTo>
                  <a:pt x="393" y="30"/>
                </a:lnTo>
                <a:lnTo>
                  <a:pt x="393" y="50"/>
                </a:lnTo>
                <a:lnTo>
                  <a:pt x="377" y="50"/>
                </a:lnTo>
                <a:lnTo>
                  <a:pt x="360" y="50"/>
                </a:lnTo>
                <a:lnTo>
                  <a:pt x="344" y="49"/>
                </a:lnTo>
                <a:lnTo>
                  <a:pt x="327" y="48"/>
                </a:lnTo>
                <a:lnTo>
                  <a:pt x="311" y="47"/>
                </a:lnTo>
                <a:lnTo>
                  <a:pt x="295" y="45"/>
                </a:lnTo>
                <a:lnTo>
                  <a:pt x="278" y="44"/>
                </a:lnTo>
                <a:lnTo>
                  <a:pt x="262" y="42"/>
                </a:lnTo>
                <a:lnTo>
                  <a:pt x="246" y="41"/>
                </a:lnTo>
                <a:lnTo>
                  <a:pt x="229" y="39"/>
                </a:lnTo>
                <a:lnTo>
                  <a:pt x="213" y="37"/>
                </a:lnTo>
                <a:lnTo>
                  <a:pt x="196" y="35"/>
                </a:lnTo>
                <a:lnTo>
                  <a:pt x="180" y="33"/>
                </a:lnTo>
                <a:lnTo>
                  <a:pt x="164" y="31"/>
                </a:lnTo>
                <a:lnTo>
                  <a:pt x="147" y="30"/>
                </a:lnTo>
                <a:lnTo>
                  <a:pt x="131" y="28"/>
                </a:lnTo>
                <a:lnTo>
                  <a:pt x="114" y="26"/>
                </a:lnTo>
                <a:lnTo>
                  <a:pt x="98" y="25"/>
                </a:lnTo>
                <a:lnTo>
                  <a:pt x="82" y="24"/>
                </a:lnTo>
                <a:lnTo>
                  <a:pt x="65" y="22"/>
                </a:lnTo>
                <a:lnTo>
                  <a:pt x="49" y="21"/>
                </a:lnTo>
                <a:lnTo>
                  <a:pt x="33" y="21"/>
                </a:lnTo>
                <a:lnTo>
                  <a:pt x="1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Freeform 12"/>
          <p:cNvSpPr/>
          <p:nvPr/>
        </p:nvSpPr>
        <p:spPr>
          <a:xfrm>
            <a:off x="2057400" y="1495425"/>
            <a:ext cx="3743325" cy="1685925"/>
          </a:xfrm>
          <a:custGeom>
            <a:avLst/>
            <a:gdLst/>
            <a:ahLst/>
            <a:cxnLst/>
            <a:rect l="l" t="t" r="r" b="b"/>
            <a:pathLst>
              <a:path w="393" h="177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7"/>
                </a:lnTo>
                <a:lnTo>
                  <a:pt x="98" y="24"/>
                </a:lnTo>
                <a:lnTo>
                  <a:pt x="114" y="32"/>
                </a:lnTo>
                <a:lnTo>
                  <a:pt x="131" y="40"/>
                </a:lnTo>
                <a:lnTo>
                  <a:pt x="147" y="49"/>
                </a:lnTo>
                <a:lnTo>
                  <a:pt x="164" y="58"/>
                </a:lnTo>
                <a:lnTo>
                  <a:pt x="180" y="67"/>
                </a:lnTo>
                <a:lnTo>
                  <a:pt x="196" y="77"/>
                </a:lnTo>
                <a:lnTo>
                  <a:pt x="213" y="86"/>
                </a:lnTo>
                <a:lnTo>
                  <a:pt x="229" y="96"/>
                </a:lnTo>
                <a:lnTo>
                  <a:pt x="246" y="105"/>
                </a:lnTo>
                <a:lnTo>
                  <a:pt x="262" y="114"/>
                </a:lnTo>
                <a:lnTo>
                  <a:pt x="278" y="122"/>
                </a:lnTo>
                <a:lnTo>
                  <a:pt x="295" y="130"/>
                </a:lnTo>
                <a:lnTo>
                  <a:pt x="311" y="136"/>
                </a:lnTo>
                <a:lnTo>
                  <a:pt x="327" y="142"/>
                </a:lnTo>
                <a:lnTo>
                  <a:pt x="344" y="147"/>
                </a:lnTo>
                <a:lnTo>
                  <a:pt x="360" y="151"/>
                </a:lnTo>
                <a:lnTo>
                  <a:pt x="377" y="153"/>
                </a:lnTo>
                <a:lnTo>
                  <a:pt x="393" y="154"/>
                </a:lnTo>
                <a:lnTo>
                  <a:pt x="393" y="177"/>
                </a:lnTo>
                <a:lnTo>
                  <a:pt x="377" y="176"/>
                </a:lnTo>
                <a:lnTo>
                  <a:pt x="360" y="174"/>
                </a:lnTo>
                <a:lnTo>
                  <a:pt x="344" y="171"/>
                </a:lnTo>
                <a:lnTo>
                  <a:pt x="327" y="166"/>
                </a:lnTo>
                <a:lnTo>
                  <a:pt x="311" y="160"/>
                </a:lnTo>
                <a:lnTo>
                  <a:pt x="295" y="153"/>
                </a:lnTo>
                <a:lnTo>
                  <a:pt x="278" y="146"/>
                </a:lnTo>
                <a:lnTo>
                  <a:pt x="262" y="137"/>
                </a:lnTo>
                <a:lnTo>
                  <a:pt x="246" y="129"/>
                </a:lnTo>
                <a:lnTo>
                  <a:pt x="229" y="120"/>
                </a:lnTo>
                <a:lnTo>
                  <a:pt x="213" y="110"/>
                </a:lnTo>
                <a:lnTo>
                  <a:pt x="196" y="100"/>
                </a:lnTo>
                <a:lnTo>
                  <a:pt x="180" y="91"/>
                </a:lnTo>
                <a:lnTo>
                  <a:pt x="164" y="81"/>
                </a:lnTo>
                <a:lnTo>
                  <a:pt x="147" y="72"/>
                </a:lnTo>
                <a:lnTo>
                  <a:pt x="131" y="64"/>
                </a:lnTo>
                <a:lnTo>
                  <a:pt x="114" y="55"/>
                </a:lnTo>
                <a:lnTo>
                  <a:pt x="98" y="48"/>
                </a:lnTo>
                <a:lnTo>
                  <a:pt x="82" y="41"/>
                </a:lnTo>
                <a:lnTo>
                  <a:pt x="65" y="35"/>
                </a:lnTo>
                <a:lnTo>
                  <a:pt x="49" y="30"/>
                </a:lnTo>
                <a:lnTo>
                  <a:pt x="33" y="27"/>
                </a:lnTo>
                <a:lnTo>
                  <a:pt x="16" y="25"/>
                </a:lnTo>
                <a:lnTo>
                  <a:pt x="0" y="24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Freeform 13"/>
          <p:cNvSpPr/>
          <p:nvPr/>
        </p:nvSpPr>
        <p:spPr>
          <a:xfrm>
            <a:off x="2057400" y="1724025"/>
            <a:ext cx="3743325" cy="2676525"/>
          </a:xfrm>
          <a:custGeom>
            <a:avLst/>
            <a:gdLst/>
            <a:ahLst/>
            <a:cxnLst/>
            <a:rect l="l" t="t" r="r" b="b"/>
            <a:pathLst>
              <a:path w="393" h="281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19"/>
                </a:lnTo>
                <a:lnTo>
                  <a:pt x="82" y="29"/>
                </a:lnTo>
                <a:lnTo>
                  <a:pt x="98" y="40"/>
                </a:lnTo>
                <a:lnTo>
                  <a:pt x="114" y="53"/>
                </a:lnTo>
                <a:lnTo>
                  <a:pt x="131" y="67"/>
                </a:lnTo>
                <a:lnTo>
                  <a:pt x="147" y="82"/>
                </a:lnTo>
                <a:lnTo>
                  <a:pt x="164" y="97"/>
                </a:lnTo>
                <a:lnTo>
                  <a:pt x="180" y="113"/>
                </a:lnTo>
                <a:lnTo>
                  <a:pt x="196" y="130"/>
                </a:lnTo>
                <a:lnTo>
                  <a:pt x="213" y="146"/>
                </a:lnTo>
                <a:lnTo>
                  <a:pt x="229" y="162"/>
                </a:lnTo>
                <a:lnTo>
                  <a:pt x="246" y="177"/>
                </a:lnTo>
                <a:lnTo>
                  <a:pt x="262" y="192"/>
                </a:lnTo>
                <a:lnTo>
                  <a:pt x="278" y="206"/>
                </a:lnTo>
                <a:lnTo>
                  <a:pt x="295" y="219"/>
                </a:lnTo>
                <a:lnTo>
                  <a:pt x="311" y="230"/>
                </a:lnTo>
                <a:lnTo>
                  <a:pt x="327" y="240"/>
                </a:lnTo>
                <a:lnTo>
                  <a:pt x="344" y="248"/>
                </a:lnTo>
                <a:lnTo>
                  <a:pt x="360" y="254"/>
                </a:lnTo>
                <a:lnTo>
                  <a:pt x="377" y="258"/>
                </a:lnTo>
                <a:lnTo>
                  <a:pt x="393" y="260"/>
                </a:lnTo>
                <a:lnTo>
                  <a:pt x="393" y="281"/>
                </a:lnTo>
                <a:lnTo>
                  <a:pt x="377" y="279"/>
                </a:lnTo>
                <a:lnTo>
                  <a:pt x="360" y="276"/>
                </a:lnTo>
                <a:lnTo>
                  <a:pt x="344" y="270"/>
                </a:lnTo>
                <a:lnTo>
                  <a:pt x="327" y="262"/>
                </a:lnTo>
                <a:lnTo>
                  <a:pt x="311" y="252"/>
                </a:lnTo>
                <a:lnTo>
                  <a:pt x="295" y="240"/>
                </a:lnTo>
                <a:lnTo>
                  <a:pt x="278" y="227"/>
                </a:lnTo>
                <a:lnTo>
                  <a:pt x="262" y="213"/>
                </a:lnTo>
                <a:lnTo>
                  <a:pt x="246" y="199"/>
                </a:lnTo>
                <a:lnTo>
                  <a:pt x="229" y="183"/>
                </a:lnTo>
                <a:lnTo>
                  <a:pt x="213" y="167"/>
                </a:lnTo>
                <a:lnTo>
                  <a:pt x="196" y="151"/>
                </a:lnTo>
                <a:lnTo>
                  <a:pt x="180" y="135"/>
                </a:lnTo>
                <a:lnTo>
                  <a:pt x="164" y="119"/>
                </a:lnTo>
                <a:lnTo>
                  <a:pt x="147" y="103"/>
                </a:lnTo>
                <a:lnTo>
                  <a:pt x="131" y="88"/>
                </a:lnTo>
                <a:lnTo>
                  <a:pt x="114" y="74"/>
                </a:lnTo>
                <a:lnTo>
                  <a:pt x="98" y="62"/>
                </a:lnTo>
                <a:lnTo>
                  <a:pt x="82" y="50"/>
                </a:lnTo>
                <a:lnTo>
                  <a:pt x="65" y="40"/>
                </a:lnTo>
                <a:lnTo>
                  <a:pt x="49" y="32"/>
                </a:lnTo>
                <a:lnTo>
                  <a:pt x="33" y="26"/>
                </a:lnTo>
                <a:lnTo>
                  <a:pt x="16" y="22"/>
                </a:lnTo>
                <a:lnTo>
                  <a:pt x="0" y="21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reeform 14"/>
          <p:cNvSpPr/>
          <p:nvPr/>
        </p:nvSpPr>
        <p:spPr>
          <a:xfrm>
            <a:off x="2057400" y="1924050"/>
            <a:ext cx="3743325" cy="3533775"/>
          </a:xfrm>
          <a:custGeom>
            <a:avLst/>
            <a:gdLst/>
            <a:ahLst/>
            <a:cxnLst/>
            <a:rect l="l" t="t" r="r" b="b"/>
            <a:pathLst>
              <a:path w="393" h="371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6"/>
                </a:lnTo>
                <a:lnTo>
                  <a:pt x="65" y="27"/>
                </a:lnTo>
                <a:lnTo>
                  <a:pt x="82" y="40"/>
                </a:lnTo>
                <a:lnTo>
                  <a:pt x="98" y="56"/>
                </a:lnTo>
                <a:lnTo>
                  <a:pt x="114" y="74"/>
                </a:lnTo>
                <a:lnTo>
                  <a:pt x="131" y="94"/>
                </a:lnTo>
                <a:lnTo>
                  <a:pt x="147" y="114"/>
                </a:lnTo>
                <a:lnTo>
                  <a:pt x="164" y="136"/>
                </a:lnTo>
                <a:lnTo>
                  <a:pt x="180" y="158"/>
                </a:lnTo>
                <a:lnTo>
                  <a:pt x="196" y="181"/>
                </a:lnTo>
                <a:lnTo>
                  <a:pt x="213" y="203"/>
                </a:lnTo>
                <a:lnTo>
                  <a:pt x="229" y="225"/>
                </a:lnTo>
                <a:lnTo>
                  <a:pt x="246" y="247"/>
                </a:lnTo>
                <a:lnTo>
                  <a:pt x="262" y="267"/>
                </a:lnTo>
                <a:lnTo>
                  <a:pt x="278" y="287"/>
                </a:lnTo>
                <a:lnTo>
                  <a:pt x="295" y="305"/>
                </a:lnTo>
                <a:lnTo>
                  <a:pt x="311" y="321"/>
                </a:lnTo>
                <a:lnTo>
                  <a:pt x="327" y="334"/>
                </a:lnTo>
                <a:lnTo>
                  <a:pt x="344" y="345"/>
                </a:lnTo>
                <a:lnTo>
                  <a:pt x="360" y="354"/>
                </a:lnTo>
                <a:lnTo>
                  <a:pt x="377" y="359"/>
                </a:lnTo>
                <a:lnTo>
                  <a:pt x="393" y="361"/>
                </a:lnTo>
                <a:lnTo>
                  <a:pt x="393" y="371"/>
                </a:lnTo>
                <a:lnTo>
                  <a:pt x="377" y="369"/>
                </a:lnTo>
                <a:lnTo>
                  <a:pt x="360" y="364"/>
                </a:lnTo>
                <a:lnTo>
                  <a:pt x="344" y="355"/>
                </a:lnTo>
                <a:lnTo>
                  <a:pt x="327" y="344"/>
                </a:lnTo>
                <a:lnTo>
                  <a:pt x="311" y="330"/>
                </a:lnTo>
                <a:lnTo>
                  <a:pt x="295" y="314"/>
                </a:lnTo>
                <a:lnTo>
                  <a:pt x="278" y="297"/>
                </a:lnTo>
                <a:lnTo>
                  <a:pt x="262" y="277"/>
                </a:lnTo>
                <a:lnTo>
                  <a:pt x="246" y="257"/>
                </a:lnTo>
                <a:lnTo>
                  <a:pt x="229" y="235"/>
                </a:lnTo>
                <a:lnTo>
                  <a:pt x="213" y="213"/>
                </a:lnTo>
                <a:lnTo>
                  <a:pt x="196" y="190"/>
                </a:lnTo>
                <a:lnTo>
                  <a:pt x="180" y="168"/>
                </a:lnTo>
                <a:lnTo>
                  <a:pt x="164" y="146"/>
                </a:lnTo>
                <a:lnTo>
                  <a:pt x="147" y="124"/>
                </a:lnTo>
                <a:lnTo>
                  <a:pt x="131" y="103"/>
                </a:lnTo>
                <a:lnTo>
                  <a:pt x="114" y="84"/>
                </a:lnTo>
                <a:lnTo>
                  <a:pt x="98" y="66"/>
                </a:lnTo>
                <a:lnTo>
                  <a:pt x="82" y="50"/>
                </a:lnTo>
                <a:lnTo>
                  <a:pt x="65" y="36"/>
                </a:lnTo>
                <a:lnTo>
                  <a:pt x="49" y="25"/>
                </a:lnTo>
                <a:lnTo>
                  <a:pt x="33" y="17"/>
                </a:lnTo>
                <a:lnTo>
                  <a:pt x="16" y="12"/>
                </a:lnTo>
                <a:lnTo>
                  <a:pt x="0" y="1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Freeform 15"/>
          <p:cNvSpPr/>
          <p:nvPr/>
        </p:nvSpPr>
        <p:spPr>
          <a:xfrm>
            <a:off x="2057400" y="2019300"/>
            <a:ext cx="3743325" cy="4048125"/>
          </a:xfrm>
          <a:custGeom>
            <a:avLst/>
            <a:gdLst/>
            <a:ahLst/>
            <a:cxnLst/>
            <a:rect l="l" t="t" r="r" b="b"/>
            <a:pathLst>
              <a:path w="393" h="425">
                <a:moveTo>
                  <a:pt x="0" y="0"/>
                </a:moveTo>
                <a:lnTo>
                  <a:pt x="16" y="2"/>
                </a:lnTo>
                <a:lnTo>
                  <a:pt x="33" y="8"/>
                </a:lnTo>
                <a:lnTo>
                  <a:pt x="49" y="18"/>
                </a:lnTo>
                <a:lnTo>
                  <a:pt x="65" y="31"/>
                </a:lnTo>
                <a:lnTo>
                  <a:pt x="82" y="47"/>
                </a:lnTo>
                <a:lnTo>
                  <a:pt x="98" y="65"/>
                </a:lnTo>
                <a:lnTo>
                  <a:pt x="114" y="86"/>
                </a:lnTo>
                <a:lnTo>
                  <a:pt x="131" y="109"/>
                </a:lnTo>
                <a:lnTo>
                  <a:pt x="147" y="133"/>
                </a:lnTo>
                <a:lnTo>
                  <a:pt x="164" y="158"/>
                </a:lnTo>
                <a:lnTo>
                  <a:pt x="180" y="184"/>
                </a:lnTo>
                <a:lnTo>
                  <a:pt x="196" y="210"/>
                </a:lnTo>
                <a:lnTo>
                  <a:pt x="213" y="236"/>
                </a:lnTo>
                <a:lnTo>
                  <a:pt x="229" y="262"/>
                </a:lnTo>
                <a:lnTo>
                  <a:pt x="246" y="287"/>
                </a:lnTo>
                <a:lnTo>
                  <a:pt x="262" y="311"/>
                </a:lnTo>
                <a:lnTo>
                  <a:pt x="278" y="333"/>
                </a:lnTo>
                <a:lnTo>
                  <a:pt x="295" y="354"/>
                </a:lnTo>
                <a:lnTo>
                  <a:pt x="311" y="373"/>
                </a:lnTo>
                <a:lnTo>
                  <a:pt x="327" y="389"/>
                </a:lnTo>
                <a:lnTo>
                  <a:pt x="344" y="402"/>
                </a:lnTo>
                <a:lnTo>
                  <a:pt x="360" y="412"/>
                </a:lnTo>
                <a:lnTo>
                  <a:pt x="377" y="418"/>
                </a:lnTo>
                <a:lnTo>
                  <a:pt x="393" y="420"/>
                </a:lnTo>
                <a:lnTo>
                  <a:pt x="393" y="425"/>
                </a:lnTo>
                <a:lnTo>
                  <a:pt x="377" y="423"/>
                </a:lnTo>
                <a:lnTo>
                  <a:pt x="360" y="417"/>
                </a:lnTo>
                <a:lnTo>
                  <a:pt x="344" y="407"/>
                </a:lnTo>
                <a:lnTo>
                  <a:pt x="327" y="394"/>
                </a:lnTo>
                <a:lnTo>
                  <a:pt x="311" y="378"/>
                </a:lnTo>
                <a:lnTo>
                  <a:pt x="295" y="359"/>
                </a:lnTo>
                <a:lnTo>
                  <a:pt x="278" y="339"/>
                </a:lnTo>
                <a:lnTo>
                  <a:pt x="262" y="316"/>
                </a:lnTo>
                <a:lnTo>
                  <a:pt x="246" y="292"/>
                </a:lnTo>
                <a:lnTo>
                  <a:pt x="229" y="267"/>
                </a:lnTo>
                <a:lnTo>
                  <a:pt x="213" y="241"/>
                </a:lnTo>
                <a:lnTo>
                  <a:pt x="196" y="215"/>
                </a:lnTo>
                <a:lnTo>
                  <a:pt x="180" y="189"/>
                </a:lnTo>
                <a:lnTo>
                  <a:pt x="164" y="163"/>
                </a:lnTo>
                <a:lnTo>
                  <a:pt x="147" y="138"/>
                </a:lnTo>
                <a:lnTo>
                  <a:pt x="131" y="114"/>
                </a:lnTo>
                <a:lnTo>
                  <a:pt x="114" y="91"/>
                </a:lnTo>
                <a:lnTo>
                  <a:pt x="98" y="70"/>
                </a:lnTo>
                <a:lnTo>
                  <a:pt x="82" y="52"/>
                </a:lnTo>
                <a:lnTo>
                  <a:pt x="65" y="36"/>
                </a:lnTo>
                <a:lnTo>
                  <a:pt x="49" y="23"/>
                </a:lnTo>
                <a:lnTo>
                  <a:pt x="33" y="13"/>
                </a:lnTo>
                <a:lnTo>
                  <a:pt x="16" y="7"/>
                </a:lnTo>
                <a:lnTo>
                  <a:pt x="0" y="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reeform 16"/>
          <p:cNvSpPr/>
          <p:nvPr/>
        </p:nvSpPr>
        <p:spPr>
          <a:xfrm>
            <a:off x="2057400" y="1781175"/>
            <a:ext cx="3743325" cy="476250"/>
          </a:xfrm>
          <a:custGeom>
            <a:avLst/>
            <a:gdLst/>
            <a:ahLst/>
            <a:cxnLst/>
            <a:rect l="l" t="t" r="r" b="b"/>
            <a:pathLst>
              <a:path w="393" h="50">
                <a:moveTo>
                  <a:pt x="0" y="36"/>
                </a:moveTo>
                <a:lnTo>
                  <a:pt x="16" y="36"/>
                </a:lnTo>
                <a:lnTo>
                  <a:pt x="33" y="35"/>
                </a:lnTo>
                <a:lnTo>
                  <a:pt x="49" y="34"/>
                </a:lnTo>
                <a:lnTo>
                  <a:pt x="65" y="33"/>
                </a:lnTo>
                <a:lnTo>
                  <a:pt x="82" y="32"/>
                </a:lnTo>
                <a:lnTo>
                  <a:pt x="98" y="30"/>
                </a:lnTo>
                <a:lnTo>
                  <a:pt x="114" y="29"/>
                </a:lnTo>
                <a:lnTo>
                  <a:pt x="131" y="27"/>
                </a:lnTo>
                <a:lnTo>
                  <a:pt x="147" y="25"/>
                </a:lnTo>
                <a:lnTo>
                  <a:pt x="164" y="22"/>
                </a:lnTo>
                <a:lnTo>
                  <a:pt x="180" y="20"/>
                </a:lnTo>
                <a:lnTo>
                  <a:pt x="196" y="18"/>
                </a:lnTo>
                <a:lnTo>
                  <a:pt x="213" y="16"/>
                </a:lnTo>
                <a:lnTo>
                  <a:pt x="229" y="14"/>
                </a:lnTo>
                <a:lnTo>
                  <a:pt x="246" y="11"/>
                </a:lnTo>
                <a:lnTo>
                  <a:pt x="262" y="9"/>
                </a:lnTo>
                <a:lnTo>
                  <a:pt x="278" y="8"/>
                </a:lnTo>
                <a:lnTo>
                  <a:pt x="295" y="6"/>
                </a:lnTo>
                <a:lnTo>
                  <a:pt x="311" y="4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4"/>
                </a:lnTo>
                <a:lnTo>
                  <a:pt x="377" y="14"/>
                </a:lnTo>
                <a:lnTo>
                  <a:pt x="360" y="15"/>
                </a:lnTo>
                <a:lnTo>
                  <a:pt x="344" y="16"/>
                </a:lnTo>
                <a:lnTo>
                  <a:pt x="327" y="17"/>
                </a:lnTo>
                <a:lnTo>
                  <a:pt x="311" y="18"/>
                </a:lnTo>
                <a:lnTo>
                  <a:pt x="295" y="20"/>
                </a:lnTo>
                <a:lnTo>
                  <a:pt x="278" y="22"/>
                </a:lnTo>
                <a:lnTo>
                  <a:pt x="262" y="24"/>
                </a:lnTo>
                <a:lnTo>
                  <a:pt x="246" y="26"/>
                </a:lnTo>
                <a:lnTo>
                  <a:pt x="229" y="28"/>
                </a:lnTo>
                <a:lnTo>
                  <a:pt x="213" y="30"/>
                </a:lnTo>
                <a:lnTo>
                  <a:pt x="196" y="32"/>
                </a:lnTo>
                <a:lnTo>
                  <a:pt x="180" y="34"/>
                </a:lnTo>
                <a:lnTo>
                  <a:pt x="164" y="37"/>
                </a:lnTo>
                <a:lnTo>
                  <a:pt x="147" y="39"/>
                </a:lnTo>
                <a:lnTo>
                  <a:pt x="131" y="41"/>
                </a:lnTo>
                <a:lnTo>
                  <a:pt x="114" y="43"/>
                </a:lnTo>
                <a:lnTo>
                  <a:pt x="98" y="44"/>
                </a:lnTo>
                <a:lnTo>
                  <a:pt x="82" y="46"/>
                </a:lnTo>
                <a:lnTo>
                  <a:pt x="65" y="47"/>
                </a:lnTo>
                <a:lnTo>
                  <a:pt x="49" y="48"/>
                </a:lnTo>
                <a:lnTo>
                  <a:pt x="33" y="49"/>
                </a:lnTo>
                <a:lnTo>
                  <a:pt x="1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Freeform 17"/>
          <p:cNvSpPr/>
          <p:nvPr/>
        </p:nvSpPr>
        <p:spPr>
          <a:xfrm>
            <a:off x="2057400" y="2257425"/>
            <a:ext cx="3743325" cy="1038225"/>
          </a:xfrm>
          <a:custGeom>
            <a:avLst/>
            <a:gdLst/>
            <a:ahLst/>
            <a:cxnLst/>
            <a:rect l="l" t="t" r="r" b="b"/>
            <a:pathLst>
              <a:path w="393" h="109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1"/>
                </a:lnTo>
                <a:lnTo>
                  <a:pt x="164" y="37"/>
                </a:lnTo>
                <a:lnTo>
                  <a:pt x="180" y="43"/>
                </a:lnTo>
                <a:lnTo>
                  <a:pt x="196" y="49"/>
                </a:lnTo>
                <a:lnTo>
                  <a:pt x="213" y="55"/>
                </a:lnTo>
                <a:lnTo>
                  <a:pt x="229" y="61"/>
                </a:lnTo>
                <a:lnTo>
                  <a:pt x="246" y="66"/>
                </a:lnTo>
                <a:lnTo>
                  <a:pt x="262" y="72"/>
                </a:lnTo>
                <a:lnTo>
                  <a:pt x="278" y="77"/>
                </a:lnTo>
                <a:lnTo>
                  <a:pt x="295" y="82"/>
                </a:lnTo>
                <a:lnTo>
                  <a:pt x="311" y="86"/>
                </a:lnTo>
                <a:lnTo>
                  <a:pt x="327" y="90"/>
                </a:lnTo>
                <a:lnTo>
                  <a:pt x="344" y="93"/>
                </a:lnTo>
                <a:lnTo>
                  <a:pt x="360" y="95"/>
                </a:lnTo>
                <a:lnTo>
                  <a:pt x="377" y="97"/>
                </a:lnTo>
                <a:lnTo>
                  <a:pt x="393" y="97"/>
                </a:lnTo>
                <a:lnTo>
                  <a:pt x="393" y="109"/>
                </a:lnTo>
                <a:lnTo>
                  <a:pt x="377" y="108"/>
                </a:lnTo>
                <a:lnTo>
                  <a:pt x="360" y="107"/>
                </a:lnTo>
                <a:lnTo>
                  <a:pt x="344" y="105"/>
                </a:lnTo>
                <a:lnTo>
                  <a:pt x="327" y="102"/>
                </a:lnTo>
                <a:lnTo>
                  <a:pt x="311" y="98"/>
                </a:lnTo>
                <a:lnTo>
                  <a:pt x="295" y="94"/>
                </a:lnTo>
                <a:lnTo>
                  <a:pt x="278" y="89"/>
                </a:lnTo>
                <a:lnTo>
                  <a:pt x="262" y="84"/>
                </a:lnTo>
                <a:lnTo>
                  <a:pt x="246" y="78"/>
                </a:lnTo>
                <a:lnTo>
                  <a:pt x="229" y="72"/>
                </a:lnTo>
                <a:lnTo>
                  <a:pt x="213" y="66"/>
                </a:lnTo>
                <a:lnTo>
                  <a:pt x="196" y="60"/>
                </a:lnTo>
                <a:lnTo>
                  <a:pt x="180" y="54"/>
                </a:lnTo>
                <a:lnTo>
                  <a:pt x="164" y="48"/>
                </a:lnTo>
                <a:lnTo>
                  <a:pt x="147" y="42"/>
                </a:lnTo>
                <a:lnTo>
                  <a:pt x="131" y="37"/>
                </a:lnTo>
                <a:lnTo>
                  <a:pt x="114" y="32"/>
                </a:lnTo>
                <a:lnTo>
                  <a:pt x="98" y="27"/>
                </a:lnTo>
                <a:lnTo>
                  <a:pt x="82" y="23"/>
                </a:lnTo>
                <a:lnTo>
                  <a:pt x="65" y="19"/>
                </a:lnTo>
                <a:lnTo>
                  <a:pt x="49" y="16"/>
                </a:lnTo>
                <a:lnTo>
                  <a:pt x="33" y="14"/>
                </a:lnTo>
                <a:lnTo>
                  <a:pt x="1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reeform 18"/>
          <p:cNvSpPr/>
          <p:nvPr/>
        </p:nvSpPr>
        <p:spPr>
          <a:xfrm>
            <a:off x="2057400" y="2371725"/>
            <a:ext cx="3743325" cy="2143125"/>
          </a:xfrm>
          <a:custGeom>
            <a:avLst/>
            <a:gdLst/>
            <a:ahLst/>
            <a:cxnLst/>
            <a:rect l="l" t="t" r="r" b="b"/>
            <a:pathLst>
              <a:path w="393" h="225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4"/>
                </a:lnTo>
                <a:lnTo>
                  <a:pt x="98" y="33"/>
                </a:lnTo>
                <a:lnTo>
                  <a:pt x="114" y="43"/>
                </a:lnTo>
                <a:lnTo>
                  <a:pt x="131" y="55"/>
                </a:lnTo>
                <a:lnTo>
                  <a:pt x="147" y="67"/>
                </a:lnTo>
                <a:lnTo>
                  <a:pt x="164" y="80"/>
                </a:lnTo>
                <a:lnTo>
                  <a:pt x="180" y="93"/>
                </a:lnTo>
                <a:lnTo>
                  <a:pt x="196" y="106"/>
                </a:lnTo>
                <a:lnTo>
                  <a:pt x="213" y="119"/>
                </a:lnTo>
                <a:lnTo>
                  <a:pt x="229" y="133"/>
                </a:lnTo>
                <a:lnTo>
                  <a:pt x="246" y="145"/>
                </a:lnTo>
                <a:lnTo>
                  <a:pt x="262" y="158"/>
                </a:lnTo>
                <a:lnTo>
                  <a:pt x="278" y="169"/>
                </a:lnTo>
                <a:lnTo>
                  <a:pt x="295" y="179"/>
                </a:lnTo>
                <a:lnTo>
                  <a:pt x="311" y="189"/>
                </a:lnTo>
                <a:lnTo>
                  <a:pt x="327" y="197"/>
                </a:lnTo>
                <a:lnTo>
                  <a:pt x="344" y="204"/>
                </a:lnTo>
                <a:lnTo>
                  <a:pt x="360" y="209"/>
                </a:lnTo>
                <a:lnTo>
                  <a:pt x="377" y="212"/>
                </a:lnTo>
                <a:lnTo>
                  <a:pt x="393" y="213"/>
                </a:lnTo>
                <a:lnTo>
                  <a:pt x="393" y="225"/>
                </a:lnTo>
                <a:lnTo>
                  <a:pt x="377" y="224"/>
                </a:lnTo>
                <a:lnTo>
                  <a:pt x="360" y="221"/>
                </a:lnTo>
                <a:lnTo>
                  <a:pt x="344" y="216"/>
                </a:lnTo>
                <a:lnTo>
                  <a:pt x="327" y="209"/>
                </a:lnTo>
                <a:lnTo>
                  <a:pt x="311" y="201"/>
                </a:lnTo>
                <a:lnTo>
                  <a:pt x="295" y="192"/>
                </a:lnTo>
                <a:lnTo>
                  <a:pt x="278" y="181"/>
                </a:lnTo>
                <a:lnTo>
                  <a:pt x="262" y="170"/>
                </a:lnTo>
                <a:lnTo>
                  <a:pt x="246" y="158"/>
                </a:lnTo>
                <a:lnTo>
                  <a:pt x="229" y="145"/>
                </a:lnTo>
                <a:lnTo>
                  <a:pt x="213" y="132"/>
                </a:lnTo>
                <a:lnTo>
                  <a:pt x="196" y="119"/>
                </a:lnTo>
                <a:lnTo>
                  <a:pt x="180" y="105"/>
                </a:lnTo>
                <a:lnTo>
                  <a:pt x="164" y="92"/>
                </a:lnTo>
                <a:lnTo>
                  <a:pt x="147" y="80"/>
                </a:lnTo>
                <a:lnTo>
                  <a:pt x="131" y="67"/>
                </a:lnTo>
                <a:lnTo>
                  <a:pt x="114" y="56"/>
                </a:lnTo>
                <a:lnTo>
                  <a:pt x="98" y="45"/>
                </a:lnTo>
                <a:lnTo>
                  <a:pt x="82" y="36"/>
                </a:lnTo>
                <a:lnTo>
                  <a:pt x="65" y="28"/>
                </a:lnTo>
                <a:lnTo>
                  <a:pt x="49" y="21"/>
                </a:lnTo>
                <a:lnTo>
                  <a:pt x="33" y="16"/>
                </a:lnTo>
                <a:lnTo>
                  <a:pt x="16" y="13"/>
                </a:lnTo>
                <a:lnTo>
                  <a:pt x="0" y="1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Freeform 19"/>
          <p:cNvSpPr/>
          <p:nvPr/>
        </p:nvSpPr>
        <p:spPr>
          <a:xfrm>
            <a:off x="2057400" y="2486025"/>
            <a:ext cx="3743325" cy="3038475"/>
          </a:xfrm>
          <a:custGeom>
            <a:avLst/>
            <a:gdLst/>
            <a:ahLst/>
            <a:cxnLst/>
            <a:rect l="l" t="t" r="r" b="b"/>
            <a:pathLst>
              <a:path w="393" h="319">
                <a:moveTo>
                  <a:pt x="0" y="0"/>
                </a:moveTo>
                <a:lnTo>
                  <a:pt x="16" y="2"/>
                </a:lnTo>
                <a:lnTo>
                  <a:pt x="33" y="6"/>
                </a:lnTo>
                <a:lnTo>
                  <a:pt x="49" y="13"/>
                </a:lnTo>
                <a:lnTo>
                  <a:pt x="65" y="23"/>
                </a:lnTo>
                <a:lnTo>
                  <a:pt x="82" y="35"/>
                </a:lnTo>
                <a:lnTo>
                  <a:pt x="98" y="49"/>
                </a:lnTo>
                <a:lnTo>
                  <a:pt x="114" y="64"/>
                </a:lnTo>
                <a:lnTo>
                  <a:pt x="131" y="81"/>
                </a:lnTo>
                <a:lnTo>
                  <a:pt x="147" y="99"/>
                </a:lnTo>
                <a:lnTo>
                  <a:pt x="164" y="117"/>
                </a:lnTo>
                <a:lnTo>
                  <a:pt x="180" y="136"/>
                </a:lnTo>
                <a:lnTo>
                  <a:pt x="196" y="156"/>
                </a:lnTo>
                <a:lnTo>
                  <a:pt x="213" y="175"/>
                </a:lnTo>
                <a:lnTo>
                  <a:pt x="229" y="195"/>
                </a:lnTo>
                <a:lnTo>
                  <a:pt x="246" y="213"/>
                </a:lnTo>
                <a:lnTo>
                  <a:pt x="262" y="231"/>
                </a:lnTo>
                <a:lnTo>
                  <a:pt x="278" y="248"/>
                </a:lnTo>
                <a:lnTo>
                  <a:pt x="295" y="263"/>
                </a:lnTo>
                <a:lnTo>
                  <a:pt x="311" y="277"/>
                </a:lnTo>
                <a:lnTo>
                  <a:pt x="327" y="289"/>
                </a:lnTo>
                <a:lnTo>
                  <a:pt x="344" y="298"/>
                </a:lnTo>
                <a:lnTo>
                  <a:pt x="360" y="306"/>
                </a:lnTo>
                <a:lnTo>
                  <a:pt x="377" y="310"/>
                </a:lnTo>
                <a:lnTo>
                  <a:pt x="393" y="312"/>
                </a:lnTo>
                <a:lnTo>
                  <a:pt x="393" y="319"/>
                </a:lnTo>
                <a:lnTo>
                  <a:pt x="377" y="317"/>
                </a:lnTo>
                <a:lnTo>
                  <a:pt x="360" y="313"/>
                </a:lnTo>
                <a:lnTo>
                  <a:pt x="344" y="306"/>
                </a:lnTo>
                <a:lnTo>
                  <a:pt x="327" y="296"/>
                </a:lnTo>
                <a:lnTo>
                  <a:pt x="311" y="284"/>
                </a:lnTo>
                <a:lnTo>
                  <a:pt x="295" y="270"/>
                </a:lnTo>
                <a:lnTo>
                  <a:pt x="278" y="255"/>
                </a:lnTo>
                <a:lnTo>
                  <a:pt x="262" y="238"/>
                </a:lnTo>
                <a:lnTo>
                  <a:pt x="246" y="220"/>
                </a:lnTo>
                <a:lnTo>
                  <a:pt x="229" y="202"/>
                </a:lnTo>
                <a:lnTo>
                  <a:pt x="213" y="183"/>
                </a:lnTo>
                <a:lnTo>
                  <a:pt x="196" y="163"/>
                </a:lnTo>
                <a:lnTo>
                  <a:pt x="180" y="144"/>
                </a:lnTo>
                <a:lnTo>
                  <a:pt x="164" y="125"/>
                </a:lnTo>
                <a:lnTo>
                  <a:pt x="147" y="106"/>
                </a:lnTo>
                <a:lnTo>
                  <a:pt x="131" y="88"/>
                </a:lnTo>
                <a:lnTo>
                  <a:pt x="114" y="71"/>
                </a:lnTo>
                <a:lnTo>
                  <a:pt x="98" y="56"/>
                </a:lnTo>
                <a:lnTo>
                  <a:pt x="82" y="42"/>
                </a:lnTo>
                <a:lnTo>
                  <a:pt x="65" y="30"/>
                </a:lnTo>
                <a:lnTo>
                  <a:pt x="49" y="21"/>
                </a:lnTo>
                <a:lnTo>
                  <a:pt x="33" y="13"/>
                </a:lnTo>
                <a:lnTo>
                  <a:pt x="16" y="9"/>
                </a:lnTo>
                <a:lnTo>
                  <a:pt x="0" y="7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2057400" y="2552700"/>
            <a:ext cx="3743325" cy="3533775"/>
          </a:xfrm>
          <a:custGeom>
            <a:avLst/>
            <a:gdLst/>
            <a:ahLst/>
            <a:cxnLst/>
            <a:rect l="l" t="t" r="r" b="b"/>
            <a:pathLst>
              <a:path w="393" h="371">
                <a:moveTo>
                  <a:pt x="0" y="0"/>
                </a:moveTo>
                <a:lnTo>
                  <a:pt x="16" y="2"/>
                </a:lnTo>
                <a:lnTo>
                  <a:pt x="33" y="8"/>
                </a:lnTo>
                <a:lnTo>
                  <a:pt x="49" y="16"/>
                </a:lnTo>
                <a:lnTo>
                  <a:pt x="65" y="28"/>
                </a:lnTo>
                <a:lnTo>
                  <a:pt x="82" y="42"/>
                </a:lnTo>
                <a:lnTo>
                  <a:pt x="98" y="58"/>
                </a:lnTo>
                <a:lnTo>
                  <a:pt x="114" y="76"/>
                </a:lnTo>
                <a:lnTo>
                  <a:pt x="131" y="96"/>
                </a:lnTo>
                <a:lnTo>
                  <a:pt x="147" y="117"/>
                </a:lnTo>
                <a:lnTo>
                  <a:pt x="164" y="139"/>
                </a:lnTo>
                <a:lnTo>
                  <a:pt x="180" y="162"/>
                </a:lnTo>
                <a:lnTo>
                  <a:pt x="196" y="185"/>
                </a:lnTo>
                <a:lnTo>
                  <a:pt x="213" y="208"/>
                </a:lnTo>
                <a:lnTo>
                  <a:pt x="229" y="230"/>
                </a:lnTo>
                <a:lnTo>
                  <a:pt x="246" y="252"/>
                </a:lnTo>
                <a:lnTo>
                  <a:pt x="262" y="273"/>
                </a:lnTo>
                <a:lnTo>
                  <a:pt x="278" y="293"/>
                </a:lnTo>
                <a:lnTo>
                  <a:pt x="295" y="311"/>
                </a:lnTo>
                <a:lnTo>
                  <a:pt x="311" y="328"/>
                </a:lnTo>
                <a:lnTo>
                  <a:pt x="327" y="342"/>
                </a:lnTo>
                <a:lnTo>
                  <a:pt x="344" y="353"/>
                </a:lnTo>
                <a:lnTo>
                  <a:pt x="360" y="362"/>
                </a:lnTo>
                <a:lnTo>
                  <a:pt x="377" y="367"/>
                </a:lnTo>
                <a:lnTo>
                  <a:pt x="393" y="369"/>
                </a:lnTo>
                <a:lnTo>
                  <a:pt x="393" y="371"/>
                </a:lnTo>
                <a:lnTo>
                  <a:pt x="377" y="370"/>
                </a:lnTo>
                <a:lnTo>
                  <a:pt x="360" y="364"/>
                </a:lnTo>
                <a:lnTo>
                  <a:pt x="344" y="356"/>
                </a:lnTo>
                <a:lnTo>
                  <a:pt x="327" y="344"/>
                </a:lnTo>
                <a:lnTo>
                  <a:pt x="311" y="330"/>
                </a:lnTo>
                <a:lnTo>
                  <a:pt x="295" y="314"/>
                </a:lnTo>
                <a:lnTo>
                  <a:pt x="278" y="296"/>
                </a:lnTo>
                <a:lnTo>
                  <a:pt x="262" y="276"/>
                </a:lnTo>
                <a:lnTo>
                  <a:pt x="246" y="255"/>
                </a:lnTo>
                <a:lnTo>
                  <a:pt x="229" y="233"/>
                </a:lnTo>
                <a:lnTo>
                  <a:pt x="213" y="210"/>
                </a:lnTo>
                <a:lnTo>
                  <a:pt x="196" y="187"/>
                </a:lnTo>
                <a:lnTo>
                  <a:pt x="180" y="164"/>
                </a:lnTo>
                <a:lnTo>
                  <a:pt x="164" y="141"/>
                </a:lnTo>
                <a:lnTo>
                  <a:pt x="147" y="119"/>
                </a:lnTo>
                <a:lnTo>
                  <a:pt x="131" y="98"/>
                </a:lnTo>
                <a:lnTo>
                  <a:pt x="114" y="79"/>
                </a:lnTo>
                <a:lnTo>
                  <a:pt x="98" y="60"/>
                </a:lnTo>
                <a:lnTo>
                  <a:pt x="82" y="44"/>
                </a:lnTo>
                <a:lnTo>
                  <a:pt x="65" y="30"/>
                </a:lnTo>
                <a:lnTo>
                  <a:pt x="49" y="19"/>
                </a:lnTo>
                <a:lnTo>
                  <a:pt x="33" y="10"/>
                </a:lnTo>
                <a:lnTo>
                  <a:pt x="16" y="5"/>
                </a:lnTo>
                <a:lnTo>
                  <a:pt x="0" y="3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2057400" y="1914525"/>
            <a:ext cx="3743325" cy="847725"/>
          </a:xfrm>
          <a:custGeom>
            <a:avLst/>
            <a:gdLst/>
            <a:ahLst/>
            <a:cxnLst/>
            <a:rect l="l" t="t" r="r" b="b"/>
            <a:pathLst>
              <a:path w="393" h="89">
                <a:moveTo>
                  <a:pt x="0" y="76"/>
                </a:moveTo>
                <a:lnTo>
                  <a:pt x="16" y="75"/>
                </a:lnTo>
                <a:lnTo>
                  <a:pt x="33" y="74"/>
                </a:lnTo>
                <a:lnTo>
                  <a:pt x="49" y="73"/>
                </a:lnTo>
                <a:lnTo>
                  <a:pt x="65" y="70"/>
                </a:lnTo>
                <a:lnTo>
                  <a:pt x="82" y="67"/>
                </a:lnTo>
                <a:lnTo>
                  <a:pt x="98" y="64"/>
                </a:lnTo>
                <a:lnTo>
                  <a:pt x="114" y="60"/>
                </a:lnTo>
                <a:lnTo>
                  <a:pt x="131" y="56"/>
                </a:lnTo>
                <a:lnTo>
                  <a:pt x="147" y="52"/>
                </a:lnTo>
                <a:lnTo>
                  <a:pt x="164" y="47"/>
                </a:lnTo>
                <a:lnTo>
                  <a:pt x="180" y="43"/>
                </a:lnTo>
                <a:lnTo>
                  <a:pt x="196" y="38"/>
                </a:lnTo>
                <a:lnTo>
                  <a:pt x="213" y="33"/>
                </a:lnTo>
                <a:lnTo>
                  <a:pt x="229" y="29"/>
                </a:lnTo>
                <a:lnTo>
                  <a:pt x="246" y="24"/>
                </a:lnTo>
                <a:lnTo>
                  <a:pt x="262" y="20"/>
                </a:lnTo>
                <a:lnTo>
                  <a:pt x="278" y="16"/>
                </a:lnTo>
                <a:lnTo>
                  <a:pt x="295" y="12"/>
                </a:lnTo>
                <a:lnTo>
                  <a:pt x="311" y="9"/>
                </a:lnTo>
                <a:lnTo>
                  <a:pt x="327" y="6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13"/>
                </a:lnTo>
                <a:lnTo>
                  <a:pt x="377" y="14"/>
                </a:lnTo>
                <a:lnTo>
                  <a:pt x="360" y="15"/>
                </a:lnTo>
                <a:lnTo>
                  <a:pt x="344" y="17"/>
                </a:lnTo>
                <a:lnTo>
                  <a:pt x="327" y="19"/>
                </a:lnTo>
                <a:lnTo>
                  <a:pt x="311" y="22"/>
                </a:lnTo>
                <a:lnTo>
                  <a:pt x="295" y="25"/>
                </a:lnTo>
                <a:lnTo>
                  <a:pt x="278" y="29"/>
                </a:lnTo>
                <a:lnTo>
                  <a:pt x="262" y="33"/>
                </a:lnTo>
                <a:lnTo>
                  <a:pt x="246" y="37"/>
                </a:lnTo>
                <a:lnTo>
                  <a:pt x="229" y="42"/>
                </a:lnTo>
                <a:lnTo>
                  <a:pt x="213" y="46"/>
                </a:lnTo>
                <a:lnTo>
                  <a:pt x="196" y="51"/>
                </a:lnTo>
                <a:lnTo>
                  <a:pt x="180" y="56"/>
                </a:lnTo>
                <a:lnTo>
                  <a:pt x="164" y="61"/>
                </a:lnTo>
                <a:lnTo>
                  <a:pt x="147" y="65"/>
                </a:lnTo>
                <a:lnTo>
                  <a:pt x="131" y="69"/>
                </a:lnTo>
                <a:lnTo>
                  <a:pt x="114" y="73"/>
                </a:lnTo>
                <a:lnTo>
                  <a:pt x="98" y="77"/>
                </a:lnTo>
                <a:lnTo>
                  <a:pt x="82" y="80"/>
                </a:lnTo>
                <a:lnTo>
                  <a:pt x="65" y="83"/>
                </a:lnTo>
                <a:lnTo>
                  <a:pt x="49" y="86"/>
                </a:lnTo>
                <a:lnTo>
                  <a:pt x="33" y="87"/>
                </a:lnTo>
                <a:lnTo>
                  <a:pt x="16" y="89"/>
                </a:lnTo>
                <a:lnTo>
                  <a:pt x="0" y="89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2057400" y="2762250"/>
            <a:ext cx="3743325" cy="647700"/>
          </a:xfrm>
          <a:custGeom>
            <a:avLst/>
            <a:gdLst/>
            <a:ahLst/>
            <a:cxnLst/>
            <a:rect l="l" t="t" r="r" b="b"/>
            <a:pathLst>
              <a:path w="393" h="68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6"/>
                </a:lnTo>
                <a:lnTo>
                  <a:pt x="98" y="9"/>
                </a:lnTo>
                <a:lnTo>
                  <a:pt x="114" y="11"/>
                </a:lnTo>
                <a:lnTo>
                  <a:pt x="131" y="14"/>
                </a:lnTo>
                <a:lnTo>
                  <a:pt x="147" y="18"/>
                </a:lnTo>
                <a:lnTo>
                  <a:pt x="164" y="21"/>
                </a:lnTo>
                <a:lnTo>
                  <a:pt x="180" y="24"/>
                </a:lnTo>
                <a:lnTo>
                  <a:pt x="196" y="28"/>
                </a:lnTo>
                <a:lnTo>
                  <a:pt x="213" y="31"/>
                </a:lnTo>
                <a:lnTo>
                  <a:pt x="229" y="35"/>
                </a:lnTo>
                <a:lnTo>
                  <a:pt x="246" y="38"/>
                </a:lnTo>
                <a:lnTo>
                  <a:pt x="262" y="41"/>
                </a:lnTo>
                <a:lnTo>
                  <a:pt x="278" y="44"/>
                </a:lnTo>
                <a:lnTo>
                  <a:pt x="295" y="47"/>
                </a:lnTo>
                <a:lnTo>
                  <a:pt x="311" y="50"/>
                </a:lnTo>
                <a:lnTo>
                  <a:pt x="327" y="52"/>
                </a:lnTo>
                <a:lnTo>
                  <a:pt x="344" y="53"/>
                </a:lnTo>
                <a:lnTo>
                  <a:pt x="360" y="55"/>
                </a:lnTo>
                <a:lnTo>
                  <a:pt x="377" y="56"/>
                </a:lnTo>
                <a:lnTo>
                  <a:pt x="393" y="56"/>
                </a:lnTo>
                <a:lnTo>
                  <a:pt x="393" y="68"/>
                </a:lnTo>
                <a:lnTo>
                  <a:pt x="377" y="68"/>
                </a:lnTo>
                <a:lnTo>
                  <a:pt x="360" y="67"/>
                </a:lnTo>
                <a:lnTo>
                  <a:pt x="344" y="66"/>
                </a:lnTo>
                <a:lnTo>
                  <a:pt x="327" y="64"/>
                </a:lnTo>
                <a:lnTo>
                  <a:pt x="311" y="62"/>
                </a:lnTo>
                <a:lnTo>
                  <a:pt x="295" y="60"/>
                </a:lnTo>
                <a:lnTo>
                  <a:pt x="278" y="57"/>
                </a:lnTo>
                <a:lnTo>
                  <a:pt x="262" y="54"/>
                </a:lnTo>
                <a:lnTo>
                  <a:pt x="246" y="51"/>
                </a:lnTo>
                <a:lnTo>
                  <a:pt x="229" y="47"/>
                </a:lnTo>
                <a:lnTo>
                  <a:pt x="213" y="44"/>
                </a:lnTo>
                <a:lnTo>
                  <a:pt x="196" y="40"/>
                </a:lnTo>
                <a:lnTo>
                  <a:pt x="180" y="37"/>
                </a:lnTo>
                <a:lnTo>
                  <a:pt x="164" y="33"/>
                </a:lnTo>
                <a:lnTo>
                  <a:pt x="147" y="30"/>
                </a:lnTo>
                <a:lnTo>
                  <a:pt x="131" y="27"/>
                </a:lnTo>
                <a:lnTo>
                  <a:pt x="114" y="24"/>
                </a:lnTo>
                <a:lnTo>
                  <a:pt x="98" y="21"/>
                </a:lnTo>
                <a:lnTo>
                  <a:pt x="82" y="19"/>
                </a:lnTo>
                <a:lnTo>
                  <a:pt x="65" y="17"/>
                </a:lnTo>
                <a:lnTo>
                  <a:pt x="49" y="15"/>
                </a:lnTo>
                <a:lnTo>
                  <a:pt x="33" y="13"/>
                </a:lnTo>
                <a:lnTo>
                  <a:pt x="16" y="13"/>
                </a:lnTo>
                <a:lnTo>
                  <a:pt x="0" y="1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2057400" y="2876550"/>
            <a:ext cx="3743325" cy="1752600"/>
          </a:xfrm>
          <a:custGeom>
            <a:avLst/>
            <a:gdLst/>
            <a:ahLst/>
            <a:cxnLst/>
            <a:rect l="l" t="t" r="r" b="b"/>
            <a:pathLst>
              <a:path w="393" h="184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3"/>
                </a:lnTo>
                <a:lnTo>
                  <a:pt x="82" y="20"/>
                </a:lnTo>
                <a:lnTo>
                  <a:pt x="98" y="27"/>
                </a:lnTo>
                <a:lnTo>
                  <a:pt x="114" y="36"/>
                </a:lnTo>
                <a:lnTo>
                  <a:pt x="131" y="45"/>
                </a:lnTo>
                <a:lnTo>
                  <a:pt x="147" y="55"/>
                </a:lnTo>
                <a:lnTo>
                  <a:pt x="164" y="65"/>
                </a:lnTo>
                <a:lnTo>
                  <a:pt x="180" y="76"/>
                </a:lnTo>
                <a:lnTo>
                  <a:pt x="196" y="86"/>
                </a:lnTo>
                <a:lnTo>
                  <a:pt x="213" y="97"/>
                </a:lnTo>
                <a:lnTo>
                  <a:pt x="229" y="108"/>
                </a:lnTo>
                <a:lnTo>
                  <a:pt x="246" y="118"/>
                </a:lnTo>
                <a:lnTo>
                  <a:pt x="262" y="128"/>
                </a:lnTo>
                <a:lnTo>
                  <a:pt x="278" y="137"/>
                </a:lnTo>
                <a:lnTo>
                  <a:pt x="295" y="145"/>
                </a:lnTo>
                <a:lnTo>
                  <a:pt x="311" y="153"/>
                </a:lnTo>
                <a:lnTo>
                  <a:pt x="327" y="160"/>
                </a:lnTo>
                <a:lnTo>
                  <a:pt x="344" y="165"/>
                </a:lnTo>
                <a:lnTo>
                  <a:pt x="360" y="169"/>
                </a:lnTo>
                <a:lnTo>
                  <a:pt x="377" y="171"/>
                </a:lnTo>
                <a:lnTo>
                  <a:pt x="393" y="172"/>
                </a:lnTo>
                <a:lnTo>
                  <a:pt x="393" y="184"/>
                </a:lnTo>
                <a:lnTo>
                  <a:pt x="377" y="183"/>
                </a:lnTo>
                <a:lnTo>
                  <a:pt x="360" y="181"/>
                </a:lnTo>
                <a:lnTo>
                  <a:pt x="344" y="177"/>
                </a:lnTo>
                <a:lnTo>
                  <a:pt x="327" y="171"/>
                </a:lnTo>
                <a:lnTo>
                  <a:pt x="311" y="165"/>
                </a:lnTo>
                <a:lnTo>
                  <a:pt x="295" y="157"/>
                </a:lnTo>
                <a:lnTo>
                  <a:pt x="278" y="149"/>
                </a:lnTo>
                <a:lnTo>
                  <a:pt x="262" y="139"/>
                </a:lnTo>
                <a:lnTo>
                  <a:pt x="246" y="130"/>
                </a:lnTo>
                <a:lnTo>
                  <a:pt x="229" y="119"/>
                </a:lnTo>
                <a:lnTo>
                  <a:pt x="213" y="109"/>
                </a:lnTo>
                <a:lnTo>
                  <a:pt x="196" y="98"/>
                </a:lnTo>
                <a:lnTo>
                  <a:pt x="180" y="87"/>
                </a:lnTo>
                <a:lnTo>
                  <a:pt x="164" y="77"/>
                </a:lnTo>
                <a:lnTo>
                  <a:pt x="147" y="67"/>
                </a:lnTo>
                <a:lnTo>
                  <a:pt x="131" y="57"/>
                </a:lnTo>
                <a:lnTo>
                  <a:pt x="114" y="48"/>
                </a:lnTo>
                <a:lnTo>
                  <a:pt x="98" y="39"/>
                </a:lnTo>
                <a:lnTo>
                  <a:pt x="82" y="31"/>
                </a:lnTo>
                <a:lnTo>
                  <a:pt x="65" y="25"/>
                </a:lnTo>
                <a:lnTo>
                  <a:pt x="49" y="20"/>
                </a:lnTo>
                <a:lnTo>
                  <a:pt x="33" y="16"/>
                </a:lnTo>
                <a:lnTo>
                  <a:pt x="16" y="13"/>
                </a:lnTo>
                <a:lnTo>
                  <a:pt x="0" y="1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Freeform 24"/>
          <p:cNvSpPr/>
          <p:nvPr/>
        </p:nvSpPr>
        <p:spPr>
          <a:xfrm>
            <a:off x="2057400" y="2990850"/>
            <a:ext cx="3743325" cy="2581275"/>
          </a:xfrm>
          <a:custGeom>
            <a:avLst/>
            <a:gdLst/>
            <a:ahLst/>
            <a:cxnLst/>
            <a:rect l="l" t="t" r="r" b="b"/>
            <a:pathLst>
              <a:path w="393" h="271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2"/>
                </a:lnTo>
                <a:lnTo>
                  <a:pt x="65" y="20"/>
                </a:lnTo>
                <a:lnTo>
                  <a:pt x="82" y="30"/>
                </a:lnTo>
                <a:lnTo>
                  <a:pt x="98" y="42"/>
                </a:lnTo>
                <a:lnTo>
                  <a:pt x="114" y="55"/>
                </a:lnTo>
                <a:lnTo>
                  <a:pt x="131" y="69"/>
                </a:lnTo>
                <a:lnTo>
                  <a:pt x="147" y="84"/>
                </a:lnTo>
                <a:lnTo>
                  <a:pt x="164" y="100"/>
                </a:lnTo>
                <a:lnTo>
                  <a:pt x="180" y="117"/>
                </a:lnTo>
                <a:lnTo>
                  <a:pt x="196" y="133"/>
                </a:lnTo>
                <a:lnTo>
                  <a:pt x="213" y="150"/>
                </a:lnTo>
                <a:lnTo>
                  <a:pt x="229" y="166"/>
                </a:lnTo>
                <a:lnTo>
                  <a:pt x="246" y="182"/>
                </a:lnTo>
                <a:lnTo>
                  <a:pt x="262" y="197"/>
                </a:lnTo>
                <a:lnTo>
                  <a:pt x="278" y="211"/>
                </a:lnTo>
                <a:lnTo>
                  <a:pt x="295" y="224"/>
                </a:lnTo>
                <a:lnTo>
                  <a:pt x="311" y="236"/>
                </a:lnTo>
                <a:lnTo>
                  <a:pt x="327" y="246"/>
                </a:lnTo>
                <a:lnTo>
                  <a:pt x="344" y="255"/>
                </a:lnTo>
                <a:lnTo>
                  <a:pt x="360" y="261"/>
                </a:lnTo>
                <a:lnTo>
                  <a:pt x="377" y="265"/>
                </a:lnTo>
                <a:lnTo>
                  <a:pt x="393" y="266"/>
                </a:lnTo>
                <a:lnTo>
                  <a:pt x="393" y="271"/>
                </a:lnTo>
                <a:lnTo>
                  <a:pt x="377" y="269"/>
                </a:lnTo>
                <a:lnTo>
                  <a:pt x="360" y="265"/>
                </a:lnTo>
                <a:lnTo>
                  <a:pt x="344" y="259"/>
                </a:lnTo>
                <a:lnTo>
                  <a:pt x="327" y="251"/>
                </a:lnTo>
                <a:lnTo>
                  <a:pt x="311" y="241"/>
                </a:lnTo>
                <a:lnTo>
                  <a:pt x="295" y="229"/>
                </a:lnTo>
                <a:lnTo>
                  <a:pt x="278" y="216"/>
                </a:lnTo>
                <a:lnTo>
                  <a:pt x="262" y="202"/>
                </a:lnTo>
                <a:lnTo>
                  <a:pt x="246" y="187"/>
                </a:lnTo>
                <a:lnTo>
                  <a:pt x="229" y="171"/>
                </a:lnTo>
                <a:lnTo>
                  <a:pt x="213" y="154"/>
                </a:lnTo>
                <a:lnTo>
                  <a:pt x="196" y="138"/>
                </a:lnTo>
                <a:lnTo>
                  <a:pt x="180" y="121"/>
                </a:lnTo>
                <a:lnTo>
                  <a:pt x="164" y="105"/>
                </a:lnTo>
                <a:lnTo>
                  <a:pt x="147" y="89"/>
                </a:lnTo>
                <a:lnTo>
                  <a:pt x="131" y="74"/>
                </a:lnTo>
                <a:lnTo>
                  <a:pt x="114" y="59"/>
                </a:lnTo>
                <a:lnTo>
                  <a:pt x="98" y="46"/>
                </a:lnTo>
                <a:lnTo>
                  <a:pt x="82" y="35"/>
                </a:lnTo>
                <a:lnTo>
                  <a:pt x="65" y="25"/>
                </a:lnTo>
                <a:lnTo>
                  <a:pt x="49" y="16"/>
                </a:lnTo>
                <a:lnTo>
                  <a:pt x="33" y="10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Freeform 25"/>
          <p:cNvSpPr/>
          <p:nvPr/>
        </p:nvSpPr>
        <p:spPr>
          <a:xfrm>
            <a:off x="2057400" y="3038475"/>
            <a:ext cx="3743325" cy="3076575"/>
          </a:xfrm>
          <a:custGeom>
            <a:avLst/>
            <a:gdLst/>
            <a:ahLst/>
            <a:cxnLst/>
            <a:rect l="l" t="t" r="r" b="b"/>
            <a:pathLst>
              <a:path w="393" h="323">
                <a:moveTo>
                  <a:pt x="0" y="0"/>
                </a:moveTo>
                <a:lnTo>
                  <a:pt x="16" y="1"/>
                </a:lnTo>
                <a:lnTo>
                  <a:pt x="33" y="6"/>
                </a:lnTo>
                <a:lnTo>
                  <a:pt x="49" y="14"/>
                </a:lnTo>
                <a:lnTo>
                  <a:pt x="65" y="24"/>
                </a:lnTo>
                <a:lnTo>
                  <a:pt x="82" y="36"/>
                </a:lnTo>
                <a:lnTo>
                  <a:pt x="98" y="50"/>
                </a:lnTo>
                <a:lnTo>
                  <a:pt x="114" y="66"/>
                </a:lnTo>
                <a:lnTo>
                  <a:pt x="131" y="83"/>
                </a:lnTo>
                <a:lnTo>
                  <a:pt x="147" y="101"/>
                </a:lnTo>
                <a:lnTo>
                  <a:pt x="164" y="120"/>
                </a:lnTo>
                <a:lnTo>
                  <a:pt x="180" y="140"/>
                </a:lnTo>
                <a:lnTo>
                  <a:pt x="196" y="160"/>
                </a:lnTo>
                <a:lnTo>
                  <a:pt x="213" y="180"/>
                </a:lnTo>
                <a:lnTo>
                  <a:pt x="229" y="200"/>
                </a:lnTo>
                <a:lnTo>
                  <a:pt x="246" y="219"/>
                </a:lnTo>
                <a:lnTo>
                  <a:pt x="262" y="237"/>
                </a:lnTo>
                <a:lnTo>
                  <a:pt x="278" y="255"/>
                </a:lnTo>
                <a:lnTo>
                  <a:pt x="295" y="270"/>
                </a:lnTo>
                <a:lnTo>
                  <a:pt x="311" y="284"/>
                </a:lnTo>
                <a:lnTo>
                  <a:pt x="327" y="297"/>
                </a:lnTo>
                <a:lnTo>
                  <a:pt x="344" y="307"/>
                </a:lnTo>
                <a:lnTo>
                  <a:pt x="360" y="314"/>
                </a:lnTo>
                <a:lnTo>
                  <a:pt x="377" y="319"/>
                </a:lnTo>
                <a:lnTo>
                  <a:pt x="393" y="320"/>
                </a:lnTo>
                <a:lnTo>
                  <a:pt x="393" y="323"/>
                </a:lnTo>
                <a:lnTo>
                  <a:pt x="377" y="321"/>
                </a:lnTo>
                <a:lnTo>
                  <a:pt x="360" y="316"/>
                </a:lnTo>
                <a:lnTo>
                  <a:pt x="344" y="309"/>
                </a:lnTo>
                <a:lnTo>
                  <a:pt x="327" y="299"/>
                </a:lnTo>
                <a:lnTo>
                  <a:pt x="311" y="287"/>
                </a:lnTo>
                <a:lnTo>
                  <a:pt x="295" y="273"/>
                </a:lnTo>
                <a:lnTo>
                  <a:pt x="278" y="257"/>
                </a:lnTo>
                <a:lnTo>
                  <a:pt x="262" y="240"/>
                </a:lnTo>
                <a:lnTo>
                  <a:pt x="246" y="221"/>
                </a:lnTo>
                <a:lnTo>
                  <a:pt x="229" y="202"/>
                </a:lnTo>
                <a:lnTo>
                  <a:pt x="213" y="182"/>
                </a:lnTo>
                <a:lnTo>
                  <a:pt x="196" y="162"/>
                </a:lnTo>
                <a:lnTo>
                  <a:pt x="180" y="142"/>
                </a:lnTo>
                <a:lnTo>
                  <a:pt x="164" y="123"/>
                </a:lnTo>
                <a:lnTo>
                  <a:pt x="147" y="104"/>
                </a:lnTo>
                <a:lnTo>
                  <a:pt x="131" y="85"/>
                </a:lnTo>
                <a:lnTo>
                  <a:pt x="114" y="68"/>
                </a:lnTo>
                <a:lnTo>
                  <a:pt x="98" y="52"/>
                </a:lnTo>
                <a:lnTo>
                  <a:pt x="82" y="38"/>
                </a:lnTo>
                <a:lnTo>
                  <a:pt x="65" y="26"/>
                </a:lnTo>
                <a:lnTo>
                  <a:pt x="49" y="16"/>
                </a:lnTo>
                <a:lnTo>
                  <a:pt x="33" y="8"/>
                </a:lnTo>
                <a:lnTo>
                  <a:pt x="16" y="4"/>
                </a:lnTo>
                <a:lnTo>
                  <a:pt x="0" y="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Freeform 26"/>
          <p:cNvSpPr/>
          <p:nvPr/>
        </p:nvSpPr>
        <p:spPr>
          <a:xfrm>
            <a:off x="2057400" y="2038350"/>
            <a:ext cx="3743325" cy="1162050"/>
          </a:xfrm>
          <a:custGeom>
            <a:avLst/>
            <a:gdLst/>
            <a:ahLst/>
            <a:cxnLst/>
            <a:rect l="l" t="t" r="r" b="b"/>
            <a:pathLst>
              <a:path w="393" h="122">
                <a:moveTo>
                  <a:pt x="0" y="113"/>
                </a:moveTo>
                <a:lnTo>
                  <a:pt x="16" y="113"/>
                </a:lnTo>
                <a:lnTo>
                  <a:pt x="33" y="111"/>
                </a:lnTo>
                <a:lnTo>
                  <a:pt x="49" y="108"/>
                </a:lnTo>
                <a:lnTo>
                  <a:pt x="65" y="105"/>
                </a:lnTo>
                <a:lnTo>
                  <a:pt x="82" y="100"/>
                </a:lnTo>
                <a:lnTo>
                  <a:pt x="98" y="95"/>
                </a:lnTo>
                <a:lnTo>
                  <a:pt x="114" y="90"/>
                </a:lnTo>
                <a:lnTo>
                  <a:pt x="131" y="84"/>
                </a:lnTo>
                <a:lnTo>
                  <a:pt x="147" y="77"/>
                </a:lnTo>
                <a:lnTo>
                  <a:pt x="164" y="71"/>
                </a:lnTo>
                <a:lnTo>
                  <a:pt x="180" y="64"/>
                </a:lnTo>
                <a:lnTo>
                  <a:pt x="196" y="57"/>
                </a:lnTo>
                <a:lnTo>
                  <a:pt x="213" y="50"/>
                </a:lnTo>
                <a:lnTo>
                  <a:pt x="229" y="43"/>
                </a:lnTo>
                <a:lnTo>
                  <a:pt x="246" y="36"/>
                </a:lnTo>
                <a:lnTo>
                  <a:pt x="262" y="30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9"/>
                </a:lnTo>
                <a:lnTo>
                  <a:pt x="344" y="5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9"/>
                </a:lnTo>
                <a:lnTo>
                  <a:pt x="377" y="10"/>
                </a:lnTo>
                <a:lnTo>
                  <a:pt x="360" y="12"/>
                </a:lnTo>
                <a:lnTo>
                  <a:pt x="344" y="14"/>
                </a:lnTo>
                <a:lnTo>
                  <a:pt x="327" y="18"/>
                </a:lnTo>
                <a:lnTo>
                  <a:pt x="311" y="22"/>
                </a:lnTo>
                <a:lnTo>
                  <a:pt x="295" y="27"/>
                </a:lnTo>
                <a:lnTo>
                  <a:pt x="278" y="33"/>
                </a:lnTo>
                <a:lnTo>
                  <a:pt x="262" y="39"/>
                </a:lnTo>
                <a:lnTo>
                  <a:pt x="246" y="45"/>
                </a:lnTo>
                <a:lnTo>
                  <a:pt x="229" y="52"/>
                </a:lnTo>
                <a:lnTo>
                  <a:pt x="213" y="59"/>
                </a:lnTo>
                <a:lnTo>
                  <a:pt x="196" y="66"/>
                </a:lnTo>
                <a:lnTo>
                  <a:pt x="180" y="73"/>
                </a:lnTo>
                <a:lnTo>
                  <a:pt x="164" y="80"/>
                </a:lnTo>
                <a:lnTo>
                  <a:pt x="147" y="86"/>
                </a:lnTo>
                <a:lnTo>
                  <a:pt x="131" y="93"/>
                </a:lnTo>
                <a:lnTo>
                  <a:pt x="114" y="99"/>
                </a:lnTo>
                <a:lnTo>
                  <a:pt x="98" y="105"/>
                </a:lnTo>
                <a:lnTo>
                  <a:pt x="82" y="110"/>
                </a:lnTo>
                <a:lnTo>
                  <a:pt x="65" y="114"/>
                </a:lnTo>
                <a:lnTo>
                  <a:pt x="49" y="117"/>
                </a:lnTo>
                <a:lnTo>
                  <a:pt x="33" y="120"/>
                </a:lnTo>
                <a:lnTo>
                  <a:pt x="16" y="122"/>
                </a:lnTo>
                <a:lnTo>
                  <a:pt x="0" y="122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Freeform 27"/>
          <p:cNvSpPr/>
          <p:nvPr/>
        </p:nvSpPr>
        <p:spPr>
          <a:xfrm>
            <a:off x="2057400" y="3200400"/>
            <a:ext cx="3743325" cy="304800"/>
          </a:xfrm>
          <a:custGeom>
            <a:avLst/>
            <a:gdLst/>
            <a:ahLst/>
            <a:cxnLst/>
            <a:rect l="l" t="t" r="r" b="b"/>
            <a:pathLst>
              <a:path w="393" h="3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4"/>
                </a:lnTo>
                <a:lnTo>
                  <a:pt x="114" y="5"/>
                </a:lnTo>
                <a:lnTo>
                  <a:pt x="131" y="6"/>
                </a:lnTo>
                <a:lnTo>
                  <a:pt x="147" y="7"/>
                </a:lnTo>
                <a:lnTo>
                  <a:pt x="164" y="8"/>
                </a:lnTo>
                <a:lnTo>
                  <a:pt x="180" y="10"/>
                </a:lnTo>
                <a:lnTo>
                  <a:pt x="196" y="11"/>
                </a:lnTo>
                <a:lnTo>
                  <a:pt x="213" y="13"/>
                </a:lnTo>
                <a:lnTo>
                  <a:pt x="229" y="14"/>
                </a:lnTo>
                <a:lnTo>
                  <a:pt x="246" y="15"/>
                </a:lnTo>
                <a:lnTo>
                  <a:pt x="262" y="17"/>
                </a:lnTo>
                <a:lnTo>
                  <a:pt x="278" y="18"/>
                </a:lnTo>
                <a:lnTo>
                  <a:pt x="295" y="19"/>
                </a:lnTo>
                <a:lnTo>
                  <a:pt x="311" y="20"/>
                </a:lnTo>
                <a:lnTo>
                  <a:pt x="327" y="21"/>
                </a:lnTo>
                <a:lnTo>
                  <a:pt x="344" y="21"/>
                </a:lnTo>
                <a:lnTo>
                  <a:pt x="360" y="22"/>
                </a:lnTo>
                <a:lnTo>
                  <a:pt x="377" y="22"/>
                </a:lnTo>
                <a:lnTo>
                  <a:pt x="393" y="22"/>
                </a:lnTo>
                <a:lnTo>
                  <a:pt x="393" y="32"/>
                </a:lnTo>
                <a:lnTo>
                  <a:pt x="377" y="32"/>
                </a:lnTo>
                <a:lnTo>
                  <a:pt x="360" y="32"/>
                </a:lnTo>
                <a:lnTo>
                  <a:pt x="344" y="31"/>
                </a:lnTo>
                <a:lnTo>
                  <a:pt x="327" y="31"/>
                </a:lnTo>
                <a:lnTo>
                  <a:pt x="311" y="30"/>
                </a:lnTo>
                <a:lnTo>
                  <a:pt x="295" y="29"/>
                </a:lnTo>
                <a:lnTo>
                  <a:pt x="278" y="28"/>
                </a:lnTo>
                <a:lnTo>
                  <a:pt x="262" y="27"/>
                </a:lnTo>
                <a:lnTo>
                  <a:pt x="246" y="25"/>
                </a:lnTo>
                <a:lnTo>
                  <a:pt x="229" y="24"/>
                </a:lnTo>
                <a:lnTo>
                  <a:pt x="213" y="23"/>
                </a:lnTo>
                <a:lnTo>
                  <a:pt x="196" y="21"/>
                </a:lnTo>
                <a:lnTo>
                  <a:pt x="180" y="20"/>
                </a:lnTo>
                <a:lnTo>
                  <a:pt x="164" y="18"/>
                </a:lnTo>
                <a:lnTo>
                  <a:pt x="147" y="17"/>
                </a:lnTo>
                <a:lnTo>
                  <a:pt x="131" y="16"/>
                </a:lnTo>
                <a:lnTo>
                  <a:pt x="114" y="15"/>
                </a:lnTo>
                <a:lnTo>
                  <a:pt x="98" y="14"/>
                </a:lnTo>
                <a:lnTo>
                  <a:pt x="82" y="13"/>
                </a:lnTo>
                <a:lnTo>
                  <a:pt x="65" y="12"/>
                </a:lnTo>
                <a:lnTo>
                  <a:pt x="49" y="11"/>
                </a:lnTo>
                <a:lnTo>
                  <a:pt x="33" y="11"/>
                </a:lnTo>
                <a:lnTo>
                  <a:pt x="1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Freeform 28"/>
          <p:cNvSpPr/>
          <p:nvPr/>
        </p:nvSpPr>
        <p:spPr>
          <a:xfrm>
            <a:off x="2057400" y="3295650"/>
            <a:ext cx="3743325" cy="1409700"/>
          </a:xfrm>
          <a:custGeom>
            <a:avLst/>
            <a:gdLst/>
            <a:ahLst/>
            <a:cxnLst/>
            <a:rect l="l" t="t" r="r" b="b"/>
            <a:pathLst>
              <a:path w="393" h="148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1"/>
                </a:lnTo>
                <a:lnTo>
                  <a:pt x="82" y="16"/>
                </a:lnTo>
                <a:lnTo>
                  <a:pt x="98" y="22"/>
                </a:lnTo>
                <a:lnTo>
                  <a:pt x="114" y="29"/>
                </a:lnTo>
                <a:lnTo>
                  <a:pt x="131" y="36"/>
                </a:lnTo>
                <a:lnTo>
                  <a:pt x="147" y="44"/>
                </a:lnTo>
                <a:lnTo>
                  <a:pt x="164" y="53"/>
                </a:lnTo>
                <a:lnTo>
                  <a:pt x="180" y="61"/>
                </a:lnTo>
                <a:lnTo>
                  <a:pt x="196" y="70"/>
                </a:lnTo>
                <a:lnTo>
                  <a:pt x="213" y="79"/>
                </a:lnTo>
                <a:lnTo>
                  <a:pt x="229" y="87"/>
                </a:lnTo>
                <a:lnTo>
                  <a:pt x="246" y="96"/>
                </a:lnTo>
                <a:lnTo>
                  <a:pt x="262" y="104"/>
                </a:lnTo>
                <a:lnTo>
                  <a:pt x="278" y="111"/>
                </a:lnTo>
                <a:lnTo>
                  <a:pt x="295" y="118"/>
                </a:lnTo>
                <a:lnTo>
                  <a:pt x="311" y="124"/>
                </a:lnTo>
                <a:lnTo>
                  <a:pt x="327" y="130"/>
                </a:lnTo>
                <a:lnTo>
                  <a:pt x="344" y="134"/>
                </a:lnTo>
                <a:lnTo>
                  <a:pt x="360" y="137"/>
                </a:lnTo>
                <a:lnTo>
                  <a:pt x="377" y="139"/>
                </a:lnTo>
                <a:lnTo>
                  <a:pt x="393" y="140"/>
                </a:lnTo>
                <a:lnTo>
                  <a:pt x="393" y="148"/>
                </a:lnTo>
                <a:lnTo>
                  <a:pt x="377" y="148"/>
                </a:lnTo>
                <a:lnTo>
                  <a:pt x="360" y="146"/>
                </a:lnTo>
                <a:lnTo>
                  <a:pt x="344" y="142"/>
                </a:lnTo>
                <a:lnTo>
                  <a:pt x="327" y="138"/>
                </a:lnTo>
                <a:lnTo>
                  <a:pt x="311" y="133"/>
                </a:lnTo>
                <a:lnTo>
                  <a:pt x="295" y="126"/>
                </a:lnTo>
                <a:lnTo>
                  <a:pt x="278" y="119"/>
                </a:lnTo>
                <a:lnTo>
                  <a:pt x="262" y="112"/>
                </a:lnTo>
                <a:lnTo>
                  <a:pt x="246" y="104"/>
                </a:lnTo>
                <a:lnTo>
                  <a:pt x="229" y="96"/>
                </a:lnTo>
                <a:lnTo>
                  <a:pt x="213" y="87"/>
                </a:lnTo>
                <a:lnTo>
                  <a:pt x="196" y="78"/>
                </a:lnTo>
                <a:lnTo>
                  <a:pt x="180" y="70"/>
                </a:lnTo>
                <a:lnTo>
                  <a:pt x="164" y="61"/>
                </a:lnTo>
                <a:lnTo>
                  <a:pt x="147" y="53"/>
                </a:lnTo>
                <a:lnTo>
                  <a:pt x="131" y="45"/>
                </a:lnTo>
                <a:lnTo>
                  <a:pt x="114" y="37"/>
                </a:lnTo>
                <a:lnTo>
                  <a:pt x="98" y="30"/>
                </a:lnTo>
                <a:lnTo>
                  <a:pt x="82" y="24"/>
                </a:lnTo>
                <a:lnTo>
                  <a:pt x="65" y="19"/>
                </a:lnTo>
                <a:lnTo>
                  <a:pt x="49" y="14"/>
                </a:lnTo>
                <a:lnTo>
                  <a:pt x="33" y="11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Freeform 29"/>
          <p:cNvSpPr/>
          <p:nvPr/>
        </p:nvSpPr>
        <p:spPr>
          <a:xfrm>
            <a:off x="2057400" y="3371850"/>
            <a:ext cx="3743325" cy="2247900"/>
          </a:xfrm>
          <a:custGeom>
            <a:avLst/>
            <a:gdLst/>
            <a:ahLst/>
            <a:cxnLst/>
            <a:rect l="l" t="t" r="r" b="b"/>
            <a:pathLst>
              <a:path w="393" h="236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0"/>
                </a:lnTo>
                <a:lnTo>
                  <a:pt x="65" y="17"/>
                </a:lnTo>
                <a:lnTo>
                  <a:pt x="82" y="26"/>
                </a:lnTo>
                <a:lnTo>
                  <a:pt x="98" y="36"/>
                </a:lnTo>
                <a:lnTo>
                  <a:pt x="114" y="48"/>
                </a:lnTo>
                <a:lnTo>
                  <a:pt x="131" y="60"/>
                </a:lnTo>
                <a:lnTo>
                  <a:pt x="147" y="73"/>
                </a:lnTo>
                <a:lnTo>
                  <a:pt x="164" y="87"/>
                </a:lnTo>
                <a:lnTo>
                  <a:pt x="180" y="101"/>
                </a:lnTo>
                <a:lnTo>
                  <a:pt x="196" y="115"/>
                </a:lnTo>
                <a:lnTo>
                  <a:pt x="213" y="130"/>
                </a:lnTo>
                <a:lnTo>
                  <a:pt x="229" y="144"/>
                </a:lnTo>
                <a:lnTo>
                  <a:pt x="246" y="158"/>
                </a:lnTo>
                <a:lnTo>
                  <a:pt x="262" y="171"/>
                </a:lnTo>
                <a:lnTo>
                  <a:pt x="278" y="183"/>
                </a:lnTo>
                <a:lnTo>
                  <a:pt x="295" y="195"/>
                </a:lnTo>
                <a:lnTo>
                  <a:pt x="311" y="205"/>
                </a:lnTo>
                <a:lnTo>
                  <a:pt x="327" y="214"/>
                </a:lnTo>
                <a:lnTo>
                  <a:pt x="344" y="221"/>
                </a:lnTo>
                <a:lnTo>
                  <a:pt x="360" y="226"/>
                </a:lnTo>
                <a:lnTo>
                  <a:pt x="377" y="229"/>
                </a:lnTo>
                <a:lnTo>
                  <a:pt x="393" y="231"/>
                </a:lnTo>
                <a:lnTo>
                  <a:pt x="393" y="236"/>
                </a:lnTo>
                <a:lnTo>
                  <a:pt x="377" y="235"/>
                </a:lnTo>
                <a:lnTo>
                  <a:pt x="360" y="232"/>
                </a:lnTo>
                <a:lnTo>
                  <a:pt x="344" y="226"/>
                </a:lnTo>
                <a:lnTo>
                  <a:pt x="327" y="219"/>
                </a:lnTo>
                <a:lnTo>
                  <a:pt x="311" y="211"/>
                </a:lnTo>
                <a:lnTo>
                  <a:pt x="295" y="200"/>
                </a:lnTo>
                <a:lnTo>
                  <a:pt x="278" y="189"/>
                </a:lnTo>
                <a:lnTo>
                  <a:pt x="262" y="177"/>
                </a:lnTo>
                <a:lnTo>
                  <a:pt x="246" y="164"/>
                </a:lnTo>
                <a:lnTo>
                  <a:pt x="229" y="150"/>
                </a:lnTo>
                <a:lnTo>
                  <a:pt x="213" y="136"/>
                </a:lnTo>
                <a:lnTo>
                  <a:pt x="196" y="121"/>
                </a:lnTo>
                <a:lnTo>
                  <a:pt x="180" y="107"/>
                </a:lnTo>
                <a:lnTo>
                  <a:pt x="164" y="93"/>
                </a:lnTo>
                <a:lnTo>
                  <a:pt x="147" y="79"/>
                </a:lnTo>
                <a:lnTo>
                  <a:pt x="131" y="66"/>
                </a:lnTo>
                <a:lnTo>
                  <a:pt x="114" y="53"/>
                </a:lnTo>
                <a:lnTo>
                  <a:pt x="98" y="42"/>
                </a:lnTo>
                <a:lnTo>
                  <a:pt x="82" y="32"/>
                </a:lnTo>
                <a:lnTo>
                  <a:pt x="65" y="23"/>
                </a:lnTo>
                <a:lnTo>
                  <a:pt x="49" y="16"/>
                </a:lnTo>
                <a:lnTo>
                  <a:pt x="33" y="11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Freeform 30"/>
          <p:cNvSpPr/>
          <p:nvPr/>
        </p:nvSpPr>
        <p:spPr>
          <a:xfrm>
            <a:off x="2057400" y="3429000"/>
            <a:ext cx="3743325" cy="2695575"/>
          </a:xfrm>
          <a:custGeom>
            <a:avLst/>
            <a:gdLst/>
            <a:ahLst/>
            <a:cxnLst/>
            <a:rect l="l" t="t" r="r" b="b"/>
            <a:pathLst>
              <a:path w="393" h="283">
                <a:moveTo>
                  <a:pt x="0" y="0"/>
                </a:moveTo>
                <a:lnTo>
                  <a:pt x="16" y="2"/>
                </a:lnTo>
                <a:lnTo>
                  <a:pt x="33" y="6"/>
                </a:lnTo>
                <a:lnTo>
                  <a:pt x="49" y="12"/>
                </a:lnTo>
                <a:lnTo>
                  <a:pt x="65" y="21"/>
                </a:lnTo>
                <a:lnTo>
                  <a:pt x="82" y="32"/>
                </a:lnTo>
                <a:lnTo>
                  <a:pt x="98" y="44"/>
                </a:lnTo>
                <a:lnTo>
                  <a:pt x="114" y="58"/>
                </a:lnTo>
                <a:lnTo>
                  <a:pt x="131" y="73"/>
                </a:lnTo>
                <a:lnTo>
                  <a:pt x="147" y="89"/>
                </a:lnTo>
                <a:lnTo>
                  <a:pt x="164" y="106"/>
                </a:lnTo>
                <a:lnTo>
                  <a:pt x="180" y="123"/>
                </a:lnTo>
                <a:lnTo>
                  <a:pt x="196" y="141"/>
                </a:lnTo>
                <a:lnTo>
                  <a:pt x="213" y="158"/>
                </a:lnTo>
                <a:lnTo>
                  <a:pt x="229" y="176"/>
                </a:lnTo>
                <a:lnTo>
                  <a:pt x="246" y="193"/>
                </a:lnTo>
                <a:lnTo>
                  <a:pt x="262" y="209"/>
                </a:lnTo>
                <a:lnTo>
                  <a:pt x="278" y="224"/>
                </a:lnTo>
                <a:lnTo>
                  <a:pt x="295" y="238"/>
                </a:lnTo>
                <a:lnTo>
                  <a:pt x="311" y="250"/>
                </a:lnTo>
                <a:lnTo>
                  <a:pt x="327" y="261"/>
                </a:lnTo>
                <a:lnTo>
                  <a:pt x="344" y="270"/>
                </a:lnTo>
                <a:lnTo>
                  <a:pt x="360" y="276"/>
                </a:lnTo>
                <a:lnTo>
                  <a:pt x="377" y="280"/>
                </a:lnTo>
                <a:lnTo>
                  <a:pt x="393" y="282"/>
                </a:lnTo>
                <a:lnTo>
                  <a:pt x="393" y="283"/>
                </a:lnTo>
                <a:lnTo>
                  <a:pt x="377" y="282"/>
                </a:lnTo>
                <a:lnTo>
                  <a:pt x="360" y="278"/>
                </a:lnTo>
                <a:lnTo>
                  <a:pt x="344" y="271"/>
                </a:lnTo>
                <a:lnTo>
                  <a:pt x="327" y="263"/>
                </a:lnTo>
                <a:lnTo>
                  <a:pt x="311" y="252"/>
                </a:lnTo>
                <a:lnTo>
                  <a:pt x="295" y="239"/>
                </a:lnTo>
                <a:lnTo>
                  <a:pt x="278" y="226"/>
                </a:lnTo>
                <a:lnTo>
                  <a:pt x="262" y="210"/>
                </a:lnTo>
                <a:lnTo>
                  <a:pt x="246" y="194"/>
                </a:lnTo>
                <a:lnTo>
                  <a:pt x="229" y="178"/>
                </a:lnTo>
                <a:lnTo>
                  <a:pt x="213" y="160"/>
                </a:lnTo>
                <a:lnTo>
                  <a:pt x="196" y="143"/>
                </a:lnTo>
                <a:lnTo>
                  <a:pt x="180" y="125"/>
                </a:lnTo>
                <a:lnTo>
                  <a:pt x="164" y="108"/>
                </a:lnTo>
                <a:lnTo>
                  <a:pt x="147" y="91"/>
                </a:lnTo>
                <a:lnTo>
                  <a:pt x="131" y="75"/>
                </a:lnTo>
                <a:lnTo>
                  <a:pt x="114" y="60"/>
                </a:lnTo>
                <a:lnTo>
                  <a:pt x="98" y="46"/>
                </a:lnTo>
                <a:lnTo>
                  <a:pt x="82" y="33"/>
                </a:lnTo>
                <a:lnTo>
                  <a:pt x="65" y="23"/>
                </a:lnTo>
                <a:lnTo>
                  <a:pt x="49" y="14"/>
                </a:lnTo>
                <a:lnTo>
                  <a:pt x="33" y="7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Freeform 31"/>
          <p:cNvSpPr/>
          <p:nvPr/>
        </p:nvSpPr>
        <p:spPr>
          <a:xfrm>
            <a:off x="2057400" y="2124075"/>
            <a:ext cx="3743325" cy="1476375"/>
          </a:xfrm>
          <a:custGeom>
            <a:avLst/>
            <a:gdLst/>
            <a:ahLst/>
            <a:cxnLst/>
            <a:rect l="l" t="t" r="r" b="b"/>
            <a:pathLst>
              <a:path w="393" h="155">
                <a:moveTo>
                  <a:pt x="0" y="145"/>
                </a:moveTo>
                <a:lnTo>
                  <a:pt x="16" y="144"/>
                </a:lnTo>
                <a:lnTo>
                  <a:pt x="33" y="142"/>
                </a:lnTo>
                <a:lnTo>
                  <a:pt x="49" y="139"/>
                </a:lnTo>
                <a:lnTo>
                  <a:pt x="65" y="134"/>
                </a:lnTo>
                <a:lnTo>
                  <a:pt x="82" y="129"/>
                </a:lnTo>
                <a:lnTo>
                  <a:pt x="98" y="122"/>
                </a:lnTo>
                <a:lnTo>
                  <a:pt x="114" y="115"/>
                </a:lnTo>
                <a:lnTo>
                  <a:pt x="131" y="107"/>
                </a:lnTo>
                <a:lnTo>
                  <a:pt x="147" y="99"/>
                </a:lnTo>
                <a:lnTo>
                  <a:pt x="164" y="91"/>
                </a:lnTo>
                <a:lnTo>
                  <a:pt x="180" y="82"/>
                </a:lnTo>
                <a:lnTo>
                  <a:pt x="196" y="73"/>
                </a:lnTo>
                <a:lnTo>
                  <a:pt x="213" y="64"/>
                </a:lnTo>
                <a:lnTo>
                  <a:pt x="229" y="55"/>
                </a:lnTo>
                <a:lnTo>
                  <a:pt x="246" y="46"/>
                </a:lnTo>
                <a:lnTo>
                  <a:pt x="262" y="38"/>
                </a:lnTo>
                <a:lnTo>
                  <a:pt x="278" y="30"/>
                </a:lnTo>
                <a:lnTo>
                  <a:pt x="295" y="23"/>
                </a:lnTo>
                <a:lnTo>
                  <a:pt x="311" y="17"/>
                </a:lnTo>
                <a:lnTo>
                  <a:pt x="327" y="11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1"/>
                </a:lnTo>
                <a:lnTo>
                  <a:pt x="360" y="13"/>
                </a:lnTo>
                <a:lnTo>
                  <a:pt x="344" y="16"/>
                </a:lnTo>
                <a:lnTo>
                  <a:pt x="327" y="21"/>
                </a:lnTo>
                <a:lnTo>
                  <a:pt x="311" y="26"/>
                </a:lnTo>
                <a:lnTo>
                  <a:pt x="295" y="33"/>
                </a:lnTo>
                <a:lnTo>
                  <a:pt x="278" y="40"/>
                </a:lnTo>
                <a:lnTo>
                  <a:pt x="262" y="48"/>
                </a:lnTo>
                <a:lnTo>
                  <a:pt x="246" y="56"/>
                </a:lnTo>
                <a:lnTo>
                  <a:pt x="229" y="64"/>
                </a:lnTo>
                <a:lnTo>
                  <a:pt x="213" y="73"/>
                </a:lnTo>
                <a:lnTo>
                  <a:pt x="196" y="82"/>
                </a:lnTo>
                <a:lnTo>
                  <a:pt x="180" y="91"/>
                </a:lnTo>
                <a:lnTo>
                  <a:pt x="164" y="100"/>
                </a:lnTo>
                <a:lnTo>
                  <a:pt x="147" y="109"/>
                </a:lnTo>
                <a:lnTo>
                  <a:pt x="131" y="117"/>
                </a:lnTo>
                <a:lnTo>
                  <a:pt x="114" y="125"/>
                </a:lnTo>
                <a:lnTo>
                  <a:pt x="98" y="132"/>
                </a:lnTo>
                <a:lnTo>
                  <a:pt x="82" y="138"/>
                </a:lnTo>
                <a:lnTo>
                  <a:pt x="65" y="144"/>
                </a:lnTo>
                <a:lnTo>
                  <a:pt x="49" y="148"/>
                </a:lnTo>
                <a:lnTo>
                  <a:pt x="33" y="152"/>
                </a:lnTo>
                <a:lnTo>
                  <a:pt x="16" y="154"/>
                </a:lnTo>
                <a:lnTo>
                  <a:pt x="0" y="15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Freeform 32"/>
          <p:cNvSpPr/>
          <p:nvPr/>
        </p:nvSpPr>
        <p:spPr>
          <a:xfrm>
            <a:off x="2057400" y="3505200"/>
            <a:ext cx="3743325" cy="180975"/>
          </a:xfrm>
          <a:custGeom>
            <a:avLst/>
            <a:gdLst/>
            <a:ahLst/>
            <a:cxnLst/>
            <a:rect l="l" t="t" r="r" b="b"/>
            <a:pathLst>
              <a:path w="393" h="19">
                <a:moveTo>
                  <a:pt x="0" y="10"/>
                </a:moveTo>
                <a:lnTo>
                  <a:pt x="16" y="9"/>
                </a:lnTo>
                <a:lnTo>
                  <a:pt x="33" y="9"/>
                </a:lnTo>
                <a:lnTo>
                  <a:pt x="49" y="9"/>
                </a:lnTo>
                <a:lnTo>
                  <a:pt x="65" y="9"/>
                </a:lnTo>
                <a:lnTo>
                  <a:pt x="82" y="8"/>
                </a:lnTo>
                <a:lnTo>
                  <a:pt x="98" y="8"/>
                </a:lnTo>
                <a:lnTo>
                  <a:pt x="114" y="8"/>
                </a:lnTo>
                <a:lnTo>
                  <a:pt x="131" y="7"/>
                </a:lnTo>
                <a:lnTo>
                  <a:pt x="147" y="7"/>
                </a:lnTo>
                <a:lnTo>
                  <a:pt x="164" y="6"/>
                </a:lnTo>
                <a:lnTo>
                  <a:pt x="180" y="5"/>
                </a:lnTo>
                <a:lnTo>
                  <a:pt x="196" y="5"/>
                </a:lnTo>
                <a:lnTo>
                  <a:pt x="213" y="4"/>
                </a:lnTo>
                <a:lnTo>
                  <a:pt x="229" y="4"/>
                </a:lnTo>
                <a:lnTo>
                  <a:pt x="246" y="3"/>
                </a:lnTo>
                <a:lnTo>
                  <a:pt x="262" y="3"/>
                </a:lnTo>
                <a:lnTo>
                  <a:pt x="278" y="2"/>
                </a:lnTo>
                <a:lnTo>
                  <a:pt x="295" y="2"/>
                </a:lnTo>
                <a:lnTo>
                  <a:pt x="311" y="1"/>
                </a:lnTo>
                <a:lnTo>
                  <a:pt x="327" y="1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0"/>
                </a:lnTo>
                <a:lnTo>
                  <a:pt x="377" y="10"/>
                </a:lnTo>
                <a:lnTo>
                  <a:pt x="360" y="10"/>
                </a:lnTo>
                <a:lnTo>
                  <a:pt x="344" y="10"/>
                </a:lnTo>
                <a:lnTo>
                  <a:pt x="327" y="10"/>
                </a:lnTo>
                <a:lnTo>
                  <a:pt x="311" y="11"/>
                </a:lnTo>
                <a:lnTo>
                  <a:pt x="295" y="11"/>
                </a:lnTo>
                <a:lnTo>
                  <a:pt x="278" y="11"/>
                </a:lnTo>
                <a:lnTo>
                  <a:pt x="262" y="12"/>
                </a:lnTo>
                <a:lnTo>
                  <a:pt x="246" y="12"/>
                </a:lnTo>
                <a:lnTo>
                  <a:pt x="229" y="13"/>
                </a:lnTo>
                <a:lnTo>
                  <a:pt x="213" y="14"/>
                </a:lnTo>
                <a:lnTo>
                  <a:pt x="196" y="14"/>
                </a:lnTo>
                <a:lnTo>
                  <a:pt x="180" y="15"/>
                </a:lnTo>
                <a:lnTo>
                  <a:pt x="164" y="15"/>
                </a:lnTo>
                <a:lnTo>
                  <a:pt x="147" y="16"/>
                </a:lnTo>
                <a:lnTo>
                  <a:pt x="131" y="16"/>
                </a:lnTo>
                <a:lnTo>
                  <a:pt x="114" y="17"/>
                </a:lnTo>
                <a:lnTo>
                  <a:pt x="98" y="17"/>
                </a:lnTo>
                <a:lnTo>
                  <a:pt x="82" y="18"/>
                </a:lnTo>
                <a:lnTo>
                  <a:pt x="65" y="18"/>
                </a:lnTo>
                <a:lnTo>
                  <a:pt x="49" y="18"/>
                </a:lnTo>
                <a:lnTo>
                  <a:pt x="33" y="19"/>
                </a:lnTo>
                <a:lnTo>
                  <a:pt x="1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Freeform 33"/>
          <p:cNvSpPr/>
          <p:nvPr/>
        </p:nvSpPr>
        <p:spPr>
          <a:xfrm>
            <a:off x="2057400" y="3686175"/>
            <a:ext cx="3743325" cy="1095375"/>
          </a:xfrm>
          <a:custGeom>
            <a:avLst/>
            <a:gdLst/>
            <a:ahLst/>
            <a:cxnLst/>
            <a:rect l="l" t="t" r="r" b="b"/>
            <a:pathLst>
              <a:path w="393" h="115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8"/>
                </a:lnTo>
                <a:lnTo>
                  <a:pt x="82" y="12"/>
                </a:lnTo>
                <a:lnTo>
                  <a:pt x="98" y="17"/>
                </a:lnTo>
                <a:lnTo>
                  <a:pt x="114" y="22"/>
                </a:lnTo>
                <a:lnTo>
                  <a:pt x="131" y="28"/>
                </a:lnTo>
                <a:lnTo>
                  <a:pt x="147" y="34"/>
                </a:lnTo>
                <a:lnTo>
                  <a:pt x="164" y="40"/>
                </a:lnTo>
                <a:lnTo>
                  <a:pt x="180" y="47"/>
                </a:lnTo>
                <a:lnTo>
                  <a:pt x="196" y="54"/>
                </a:lnTo>
                <a:lnTo>
                  <a:pt x="213" y="60"/>
                </a:lnTo>
                <a:lnTo>
                  <a:pt x="229" y="67"/>
                </a:lnTo>
                <a:lnTo>
                  <a:pt x="246" y="73"/>
                </a:lnTo>
                <a:lnTo>
                  <a:pt x="262" y="79"/>
                </a:lnTo>
                <a:lnTo>
                  <a:pt x="278" y="85"/>
                </a:lnTo>
                <a:lnTo>
                  <a:pt x="295" y="90"/>
                </a:lnTo>
                <a:lnTo>
                  <a:pt x="311" y="95"/>
                </a:lnTo>
                <a:lnTo>
                  <a:pt x="327" y="99"/>
                </a:lnTo>
                <a:lnTo>
                  <a:pt x="344" y="103"/>
                </a:lnTo>
                <a:lnTo>
                  <a:pt x="360" y="105"/>
                </a:lnTo>
                <a:lnTo>
                  <a:pt x="377" y="107"/>
                </a:lnTo>
                <a:lnTo>
                  <a:pt x="393" y="107"/>
                </a:lnTo>
                <a:lnTo>
                  <a:pt x="393" y="115"/>
                </a:lnTo>
                <a:lnTo>
                  <a:pt x="377" y="115"/>
                </a:lnTo>
                <a:lnTo>
                  <a:pt x="360" y="113"/>
                </a:lnTo>
                <a:lnTo>
                  <a:pt x="344" y="111"/>
                </a:lnTo>
                <a:lnTo>
                  <a:pt x="327" y="108"/>
                </a:lnTo>
                <a:lnTo>
                  <a:pt x="311" y="103"/>
                </a:lnTo>
                <a:lnTo>
                  <a:pt x="295" y="99"/>
                </a:lnTo>
                <a:lnTo>
                  <a:pt x="278" y="93"/>
                </a:lnTo>
                <a:lnTo>
                  <a:pt x="262" y="88"/>
                </a:lnTo>
                <a:lnTo>
                  <a:pt x="246" y="81"/>
                </a:lnTo>
                <a:lnTo>
                  <a:pt x="229" y="75"/>
                </a:lnTo>
                <a:lnTo>
                  <a:pt x="213" y="68"/>
                </a:lnTo>
                <a:lnTo>
                  <a:pt x="196" y="62"/>
                </a:lnTo>
                <a:lnTo>
                  <a:pt x="180" y="55"/>
                </a:lnTo>
                <a:lnTo>
                  <a:pt x="164" y="48"/>
                </a:lnTo>
                <a:lnTo>
                  <a:pt x="147" y="42"/>
                </a:lnTo>
                <a:lnTo>
                  <a:pt x="131" y="36"/>
                </a:lnTo>
                <a:lnTo>
                  <a:pt x="114" y="30"/>
                </a:lnTo>
                <a:lnTo>
                  <a:pt x="98" y="25"/>
                </a:lnTo>
                <a:lnTo>
                  <a:pt x="82" y="20"/>
                </a:lnTo>
                <a:lnTo>
                  <a:pt x="65" y="16"/>
                </a:lnTo>
                <a:lnTo>
                  <a:pt x="49" y="13"/>
                </a:lnTo>
                <a:lnTo>
                  <a:pt x="33" y="10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Freeform 34"/>
          <p:cNvSpPr/>
          <p:nvPr/>
        </p:nvSpPr>
        <p:spPr>
          <a:xfrm>
            <a:off x="2057400" y="3762375"/>
            <a:ext cx="3743325" cy="1914525"/>
          </a:xfrm>
          <a:custGeom>
            <a:avLst/>
            <a:gdLst/>
            <a:ahLst/>
            <a:cxnLst/>
            <a:rect l="l" t="t" r="r" b="b"/>
            <a:pathLst>
              <a:path w="393" h="201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4"/>
                </a:lnTo>
                <a:lnTo>
                  <a:pt x="82" y="22"/>
                </a:lnTo>
                <a:lnTo>
                  <a:pt x="98" y="30"/>
                </a:lnTo>
                <a:lnTo>
                  <a:pt x="114" y="40"/>
                </a:lnTo>
                <a:lnTo>
                  <a:pt x="131" y="51"/>
                </a:lnTo>
                <a:lnTo>
                  <a:pt x="147" y="62"/>
                </a:lnTo>
                <a:lnTo>
                  <a:pt x="164" y="73"/>
                </a:lnTo>
                <a:lnTo>
                  <a:pt x="180" y="85"/>
                </a:lnTo>
                <a:lnTo>
                  <a:pt x="196" y="98"/>
                </a:lnTo>
                <a:lnTo>
                  <a:pt x="213" y="110"/>
                </a:lnTo>
                <a:lnTo>
                  <a:pt x="229" y="122"/>
                </a:lnTo>
                <a:lnTo>
                  <a:pt x="246" y="134"/>
                </a:lnTo>
                <a:lnTo>
                  <a:pt x="262" y="145"/>
                </a:lnTo>
                <a:lnTo>
                  <a:pt x="278" y="155"/>
                </a:lnTo>
                <a:lnTo>
                  <a:pt x="295" y="165"/>
                </a:lnTo>
                <a:lnTo>
                  <a:pt x="311" y="173"/>
                </a:lnTo>
                <a:lnTo>
                  <a:pt x="327" y="181"/>
                </a:lnTo>
                <a:lnTo>
                  <a:pt x="344" y="187"/>
                </a:lnTo>
                <a:lnTo>
                  <a:pt x="360" y="192"/>
                </a:lnTo>
                <a:lnTo>
                  <a:pt x="377" y="194"/>
                </a:lnTo>
                <a:lnTo>
                  <a:pt x="393" y="195"/>
                </a:lnTo>
                <a:lnTo>
                  <a:pt x="393" y="201"/>
                </a:lnTo>
                <a:lnTo>
                  <a:pt x="377" y="200"/>
                </a:lnTo>
                <a:lnTo>
                  <a:pt x="360" y="197"/>
                </a:lnTo>
                <a:lnTo>
                  <a:pt x="344" y="192"/>
                </a:lnTo>
                <a:lnTo>
                  <a:pt x="327" y="186"/>
                </a:lnTo>
                <a:lnTo>
                  <a:pt x="311" y="179"/>
                </a:lnTo>
                <a:lnTo>
                  <a:pt x="295" y="170"/>
                </a:lnTo>
                <a:lnTo>
                  <a:pt x="278" y="161"/>
                </a:lnTo>
                <a:lnTo>
                  <a:pt x="262" y="150"/>
                </a:lnTo>
                <a:lnTo>
                  <a:pt x="246" y="139"/>
                </a:lnTo>
                <a:lnTo>
                  <a:pt x="229" y="127"/>
                </a:lnTo>
                <a:lnTo>
                  <a:pt x="213" y="115"/>
                </a:lnTo>
                <a:lnTo>
                  <a:pt x="196" y="103"/>
                </a:lnTo>
                <a:lnTo>
                  <a:pt x="180" y="91"/>
                </a:lnTo>
                <a:lnTo>
                  <a:pt x="164" y="79"/>
                </a:lnTo>
                <a:lnTo>
                  <a:pt x="147" y="67"/>
                </a:lnTo>
                <a:lnTo>
                  <a:pt x="131" y="56"/>
                </a:lnTo>
                <a:lnTo>
                  <a:pt x="114" y="45"/>
                </a:lnTo>
                <a:lnTo>
                  <a:pt x="98" y="36"/>
                </a:lnTo>
                <a:lnTo>
                  <a:pt x="82" y="27"/>
                </a:lnTo>
                <a:lnTo>
                  <a:pt x="65" y="20"/>
                </a:lnTo>
                <a:lnTo>
                  <a:pt x="49" y="14"/>
                </a:lnTo>
                <a:lnTo>
                  <a:pt x="33" y="9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Freeform 35"/>
          <p:cNvSpPr/>
          <p:nvPr/>
        </p:nvSpPr>
        <p:spPr>
          <a:xfrm>
            <a:off x="2057400" y="3810000"/>
            <a:ext cx="3743325" cy="2333625"/>
          </a:xfrm>
          <a:custGeom>
            <a:avLst/>
            <a:gdLst/>
            <a:ahLst/>
            <a:cxnLst/>
            <a:rect l="l" t="t" r="r" b="b"/>
            <a:pathLst>
              <a:path w="393" h="245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1"/>
                </a:lnTo>
                <a:lnTo>
                  <a:pt x="65" y="18"/>
                </a:lnTo>
                <a:lnTo>
                  <a:pt x="82" y="28"/>
                </a:lnTo>
                <a:lnTo>
                  <a:pt x="98" y="38"/>
                </a:lnTo>
                <a:lnTo>
                  <a:pt x="114" y="50"/>
                </a:lnTo>
                <a:lnTo>
                  <a:pt x="131" y="63"/>
                </a:lnTo>
                <a:lnTo>
                  <a:pt x="147" y="77"/>
                </a:lnTo>
                <a:lnTo>
                  <a:pt x="164" y="92"/>
                </a:lnTo>
                <a:lnTo>
                  <a:pt x="180" y="107"/>
                </a:lnTo>
                <a:lnTo>
                  <a:pt x="196" y="122"/>
                </a:lnTo>
                <a:lnTo>
                  <a:pt x="213" y="137"/>
                </a:lnTo>
                <a:lnTo>
                  <a:pt x="229" y="152"/>
                </a:lnTo>
                <a:lnTo>
                  <a:pt x="246" y="167"/>
                </a:lnTo>
                <a:lnTo>
                  <a:pt x="262" y="180"/>
                </a:lnTo>
                <a:lnTo>
                  <a:pt x="278" y="193"/>
                </a:lnTo>
                <a:lnTo>
                  <a:pt x="295" y="205"/>
                </a:lnTo>
                <a:lnTo>
                  <a:pt x="311" y="216"/>
                </a:lnTo>
                <a:lnTo>
                  <a:pt x="327" y="225"/>
                </a:lnTo>
                <a:lnTo>
                  <a:pt x="344" y="233"/>
                </a:lnTo>
                <a:lnTo>
                  <a:pt x="360" y="239"/>
                </a:lnTo>
                <a:lnTo>
                  <a:pt x="377" y="242"/>
                </a:lnTo>
                <a:lnTo>
                  <a:pt x="393" y="243"/>
                </a:lnTo>
                <a:lnTo>
                  <a:pt x="393" y="245"/>
                </a:lnTo>
                <a:lnTo>
                  <a:pt x="377" y="244"/>
                </a:lnTo>
                <a:lnTo>
                  <a:pt x="360" y="240"/>
                </a:lnTo>
                <a:lnTo>
                  <a:pt x="344" y="235"/>
                </a:lnTo>
                <a:lnTo>
                  <a:pt x="327" y="227"/>
                </a:lnTo>
                <a:lnTo>
                  <a:pt x="311" y="218"/>
                </a:lnTo>
                <a:lnTo>
                  <a:pt x="295" y="207"/>
                </a:lnTo>
                <a:lnTo>
                  <a:pt x="278" y="195"/>
                </a:lnTo>
                <a:lnTo>
                  <a:pt x="262" y="182"/>
                </a:lnTo>
                <a:lnTo>
                  <a:pt x="246" y="168"/>
                </a:lnTo>
                <a:lnTo>
                  <a:pt x="229" y="154"/>
                </a:lnTo>
                <a:lnTo>
                  <a:pt x="213" y="139"/>
                </a:lnTo>
                <a:lnTo>
                  <a:pt x="196" y="123"/>
                </a:lnTo>
                <a:lnTo>
                  <a:pt x="180" y="108"/>
                </a:lnTo>
                <a:lnTo>
                  <a:pt x="164" y="93"/>
                </a:lnTo>
                <a:lnTo>
                  <a:pt x="147" y="79"/>
                </a:lnTo>
                <a:lnTo>
                  <a:pt x="131" y="65"/>
                </a:lnTo>
                <a:lnTo>
                  <a:pt x="114" y="52"/>
                </a:lnTo>
                <a:lnTo>
                  <a:pt x="98" y="40"/>
                </a:lnTo>
                <a:lnTo>
                  <a:pt x="82" y="29"/>
                </a:lnTo>
                <a:lnTo>
                  <a:pt x="65" y="20"/>
                </a:lnTo>
                <a:lnTo>
                  <a:pt x="49" y="12"/>
                </a:lnTo>
                <a:lnTo>
                  <a:pt x="33" y="7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Freeform 36"/>
          <p:cNvSpPr/>
          <p:nvPr/>
        </p:nvSpPr>
        <p:spPr>
          <a:xfrm>
            <a:off x="2057400" y="2219325"/>
            <a:ext cx="3743325" cy="1762125"/>
          </a:xfrm>
          <a:custGeom>
            <a:avLst/>
            <a:gdLst/>
            <a:ahLst/>
            <a:cxnLst/>
            <a:rect l="l" t="t" r="r" b="b"/>
            <a:pathLst>
              <a:path w="393" h="185">
                <a:moveTo>
                  <a:pt x="0" y="175"/>
                </a:moveTo>
                <a:lnTo>
                  <a:pt x="16" y="174"/>
                </a:lnTo>
                <a:lnTo>
                  <a:pt x="33" y="171"/>
                </a:lnTo>
                <a:lnTo>
                  <a:pt x="49" y="167"/>
                </a:lnTo>
                <a:lnTo>
                  <a:pt x="65" y="162"/>
                </a:lnTo>
                <a:lnTo>
                  <a:pt x="82" y="155"/>
                </a:lnTo>
                <a:lnTo>
                  <a:pt x="98" y="148"/>
                </a:lnTo>
                <a:lnTo>
                  <a:pt x="114" y="139"/>
                </a:lnTo>
                <a:lnTo>
                  <a:pt x="131" y="130"/>
                </a:lnTo>
                <a:lnTo>
                  <a:pt x="147" y="120"/>
                </a:lnTo>
                <a:lnTo>
                  <a:pt x="164" y="109"/>
                </a:lnTo>
                <a:lnTo>
                  <a:pt x="180" y="98"/>
                </a:lnTo>
                <a:lnTo>
                  <a:pt x="196" y="87"/>
                </a:lnTo>
                <a:lnTo>
                  <a:pt x="213" y="77"/>
                </a:lnTo>
                <a:lnTo>
                  <a:pt x="229" y="66"/>
                </a:lnTo>
                <a:lnTo>
                  <a:pt x="246" y="55"/>
                </a:lnTo>
                <a:lnTo>
                  <a:pt x="262" y="45"/>
                </a:lnTo>
                <a:lnTo>
                  <a:pt x="278" y="36"/>
                </a:lnTo>
                <a:lnTo>
                  <a:pt x="295" y="27"/>
                </a:lnTo>
                <a:lnTo>
                  <a:pt x="311" y="20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1"/>
                </a:lnTo>
                <a:lnTo>
                  <a:pt x="377" y="11"/>
                </a:lnTo>
                <a:lnTo>
                  <a:pt x="360" y="14"/>
                </a:lnTo>
                <a:lnTo>
                  <a:pt x="344" y="18"/>
                </a:lnTo>
                <a:lnTo>
                  <a:pt x="327" y="23"/>
                </a:lnTo>
                <a:lnTo>
                  <a:pt x="311" y="30"/>
                </a:lnTo>
                <a:lnTo>
                  <a:pt x="295" y="38"/>
                </a:lnTo>
                <a:lnTo>
                  <a:pt x="278" y="46"/>
                </a:lnTo>
                <a:lnTo>
                  <a:pt x="262" y="56"/>
                </a:lnTo>
                <a:lnTo>
                  <a:pt x="246" y="66"/>
                </a:lnTo>
                <a:lnTo>
                  <a:pt x="229" y="76"/>
                </a:lnTo>
                <a:lnTo>
                  <a:pt x="213" y="87"/>
                </a:lnTo>
                <a:lnTo>
                  <a:pt x="196" y="98"/>
                </a:lnTo>
                <a:lnTo>
                  <a:pt x="180" y="109"/>
                </a:lnTo>
                <a:lnTo>
                  <a:pt x="164" y="120"/>
                </a:lnTo>
                <a:lnTo>
                  <a:pt x="147" y="130"/>
                </a:lnTo>
                <a:lnTo>
                  <a:pt x="131" y="140"/>
                </a:lnTo>
                <a:lnTo>
                  <a:pt x="114" y="149"/>
                </a:lnTo>
                <a:lnTo>
                  <a:pt x="98" y="158"/>
                </a:lnTo>
                <a:lnTo>
                  <a:pt x="82" y="166"/>
                </a:lnTo>
                <a:lnTo>
                  <a:pt x="65" y="172"/>
                </a:lnTo>
                <a:lnTo>
                  <a:pt x="49" y="178"/>
                </a:lnTo>
                <a:lnTo>
                  <a:pt x="33" y="182"/>
                </a:lnTo>
                <a:lnTo>
                  <a:pt x="16" y="184"/>
                </a:lnTo>
                <a:lnTo>
                  <a:pt x="0" y="185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Freeform 37"/>
          <p:cNvSpPr/>
          <p:nvPr/>
        </p:nvSpPr>
        <p:spPr>
          <a:xfrm>
            <a:off x="2057400" y="3600450"/>
            <a:ext cx="3743325" cy="447675"/>
          </a:xfrm>
          <a:custGeom>
            <a:avLst/>
            <a:gdLst/>
            <a:ahLst/>
            <a:cxnLst/>
            <a:rect l="l" t="t" r="r" b="b"/>
            <a:pathLst>
              <a:path w="393" h="47">
                <a:moveTo>
                  <a:pt x="0" y="40"/>
                </a:moveTo>
                <a:lnTo>
                  <a:pt x="16" y="40"/>
                </a:lnTo>
                <a:lnTo>
                  <a:pt x="33" y="40"/>
                </a:lnTo>
                <a:lnTo>
                  <a:pt x="49" y="39"/>
                </a:lnTo>
                <a:lnTo>
                  <a:pt x="65" y="37"/>
                </a:lnTo>
                <a:lnTo>
                  <a:pt x="82" y="36"/>
                </a:lnTo>
                <a:lnTo>
                  <a:pt x="98" y="34"/>
                </a:lnTo>
                <a:lnTo>
                  <a:pt x="114" y="32"/>
                </a:lnTo>
                <a:lnTo>
                  <a:pt x="131" y="30"/>
                </a:lnTo>
                <a:lnTo>
                  <a:pt x="147" y="27"/>
                </a:lnTo>
                <a:lnTo>
                  <a:pt x="164" y="25"/>
                </a:lnTo>
                <a:lnTo>
                  <a:pt x="180" y="22"/>
                </a:lnTo>
                <a:lnTo>
                  <a:pt x="196" y="20"/>
                </a:lnTo>
                <a:lnTo>
                  <a:pt x="213" y="17"/>
                </a:lnTo>
                <a:lnTo>
                  <a:pt x="229" y="15"/>
                </a:lnTo>
                <a:lnTo>
                  <a:pt x="246" y="12"/>
                </a:lnTo>
                <a:lnTo>
                  <a:pt x="262" y="10"/>
                </a:lnTo>
                <a:lnTo>
                  <a:pt x="278" y="8"/>
                </a:lnTo>
                <a:lnTo>
                  <a:pt x="295" y="6"/>
                </a:lnTo>
                <a:lnTo>
                  <a:pt x="311" y="4"/>
                </a:lnTo>
                <a:lnTo>
                  <a:pt x="327" y="3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7"/>
                </a:lnTo>
                <a:lnTo>
                  <a:pt x="377" y="7"/>
                </a:lnTo>
                <a:lnTo>
                  <a:pt x="360" y="8"/>
                </a:lnTo>
                <a:lnTo>
                  <a:pt x="344" y="8"/>
                </a:lnTo>
                <a:lnTo>
                  <a:pt x="327" y="10"/>
                </a:lnTo>
                <a:lnTo>
                  <a:pt x="311" y="11"/>
                </a:lnTo>
                <a:lnTo>
                  <a:pt x="295" y="13"/>
                </a:lnTo>
                <a:lnTo>
                  <a:pt x="278" y="15"/>
                </a:lnTo>
                <a:lnTo>
                  <a:pt x="262" y="17"/>
                </a:lnTo>
                <a:lnTo>
                  <a:pt x="246" y="20"/>
                </a:lnTo>
                <a:lnTo>
                  <a:pt x="229" y="22"/>
                </a:lnTo>
                <a:lnTo>
                  <a:pt x="213" y="25"/>
                </a:lnTo>
                <a:lnTo>
                  <a:pt x="196" y="27"/>
                </a:lnTo>
                <a:lnTo>
                  <a:pt x="180" y="30"/>
                </a:lnTo>
                <a:lnTo>
                  <a:pt x="164" y="32"/>
                </a:lnTo>
                <a:lnTo>
                  <a:pt x="147" y="35"/>
                </a:lnTo>
                <a:lnTo>
                  <a:pt x="131" y="37"/>
                </a:lnTo>
                <a:lnTo>
                  <a:pt x="114" y="39"/>
                </a:lnTo>
                <a:lnTo>
                  <a:pt x="98" y="41"/>
                </a:lnTo>
                <a:lnTo>
                  <a:pt x="82" y="43"/>
                </a:lnTo>
                <a:lnTo>
                  <a:pt x="65" y="44"/>
                </a:lnTo>
                <a:lnTo>
                  <a:pt x="49" y="46"/>
                </a:lnTo>
                <a:lnTo>
                  <a:pt x="33" y="47"/>
                </a:lnTo>
                <a:lnTo>
                  <a:pt x="1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Freeform 38"/>
          <p:cNvSpPr/>
          <p:nvPr/>
        </p:nvSpPr>
        <p:spPr>
          <a:xfrm>
            <a:off x="2057400" y="4048125"/>
            <a:ext cx="3743325" cy="828675"/>
          </a:xfrm>
          <a:custGeom>
            <a:avLst/>
            <a:gdLst/>
            <a:ahLst/>
            <a:cxnLst/>
            <a:rect l="l" t="t" r="r" b="b"/>
            <a:pathLst>
              <a:path w="393" h="87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6"/>
                </a:lnTo>
                <a:lnTo>
                  <a:pt x="82" y="9"/>
                </a:lnTo>
                <a:lnTo>
                  <a:pt x="98" y="13"/>
                </a:lnTo>
                <a:lnTo>
                  <a:pt x="114" y="16"/>
                </a:lnTo>
                <a:lnTo>
                  <a:pt x="131" y="20"/>
                </a:lnTo>
                <a:lnTo>
                  <a:pt x="147" y="25"/>
                </a:lnTo>
                <a:lnTo>
                  <a:pt x="164" y="29"/>
                </a:lnTo>
                <a:lnTo>
                  <a:pt x="180" y="34"/>
                </a:lnTo>
                <a:lnTo>
                  <a:pt x="196" y="39"/>
                </a:lnTo>
                <a:lnTo>
                  <a:pt x="213" y="44"/>
                </a:lnTo>
                <a:lnTo>
                  <a:pt x="229" y="49"/>
                </a:lnTo>
                <a:lnTo>
                  <a:pt x="246" y="53"/>
                </a:lnTo>
                <a:lnTo>
                  <a:pt x="262" y="58"/>
                </a:lnTo>
                <a:lnTo>
                  <a:pt x="278" y="62"/>
                </a:lnTo>
                <a:lnTo>
                  <a:pt x="295" y="65"/>
                </a:lnTo>
                <a:lnTo>
                  <a:pt x="311" y="69"/>
                </a:lnTo>
                <a:lnTo>
                  <a:pt x="327" y="72"/>
                </a:lnTo>
                <a:lnTo>
                  <a:pt x="344" y="74"/>
                </a:lnTo>
                <a:lnTo>
                  <a:pt x="360" y="76"/>
                </a:lnTo>
                <a:lnTo>
                  <a:pt x="377" y="77"/>
                </a:lnTo>
                <a:lnTo>
                  <a:pt x="393" y="77"/>
                </a:lnTo>
                <a:lnTo>
                  <a:pt x="393" y="87"/>
                </a:lnTo>
                <a:lnTo>
                  <a:pt x="377" y="86"/>
                </a:lnTo>
                <a:lnTo>
                  <a:pt x="360" y="85"/>
                </a:lnTo>
                <a:lnTo>
                  <a:pt x="344" y="84"/>
                </a:lnTo>
                <a:lnTo>
                  <a:pt x="327" y="81"/>
                </a:lnTo>
                <a:lnTo>
                  <a:pt x="311" y="78"/>
                </a:lnTo>
                <a:lnTo>
                  <a:pt x="295" y="75"/>
                </a:lnTo>
                <a:lnTo>
                  <a:pt x="278" y="71"/>
                </a:lnTo>
                <a:lnTo>
                  <a:pt x="262" y="67"/>
                </a:lnTo>
                <a:lnTo>
                  <a:pt x="246" y="62"/>
                </a:lnTo>
                <a:lnTo>
                  <a:pt x="229" y="58"/>
                </a:lnTo>
                <a:lnTo>
                  <a:pt x="213" y="53"/>
                </a:lnTo>
                <a:lnTo>
                  <a:pt x="196" y="48"/>
                </a:lnTo>
                <a:lnTo>
                  <a:pt x="180" y="44"/>
                </a:lnTo>
                <a:lnTo>
                  <a:pt x="164" y="39"/>
                </a:lnTo>
                <a:lnTo>
                  <a:pt x="147" y="34"/>
                </a:lnTo>
                <a:lnTo>
                  <a:pt x="131" y="30"/>
                </a:lnTo>
                <a:lnTo>
                  <a:pt x="114" y="26"/>
                </a:lnTo>
                <a:lnTo>
                  <a:pt x="98" y="22"/>
                </a:lnTo>
                <a:lnTo>
                  <a:pt x="82" y="18"/>
                </a:lnTo>
                <a:lnTo>
                  <a:pt x="65" y="16"/>
                </a:lnTo>
                <a:lnTo>
                  <a:pt x="49" y="13"/>
                </a:lnTo>
                <a:lnTo>
                  <a:pt x="33" y="11"/>
                </a:lnTo>
                <a:lnTo>
                  <a:pt x="1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Freeform 39"/>
          <p:cNvSpPr/>
          <p:nvPr/>
        </p:nvSpPr>
        <p:spPr>
          <a:xfrm>
            <a:off x="2057400" y="4143375"/>
            <a:ext cx="3743325" cy="1581150"/>
          </a:xfrm>
          <a:custGeom>
            <a:avLst/>
            <a:gdLst/>
            <a:ahLst/>
            <a:cxnLst/>
            <a:rect l="l" t="t" r="r" b="b"/>
            <a:pathLst>
              <a:path w="393" h="166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8"/>
                </a:lnTo>
                <a:lnTo>
                  <a:pt x="98" y="25"/>
                </a:lnTo>
                <a:lnTo>
                  <a:pt x="114" y="33"/>
                </a:lnTo>
                <a:lnTo>
                  <a:pt x="131" y="42"/>
                </a:lnTo>
                <a:lnTo>
                  <a:pt x="147" y="51"/>
                </a:lnTo>
                <a:lnTo>
                  <a:pt x="164" y="60"/>
                </a:lnTo>
                <a:lnTo>
                  <a:pt x="180" y="70"/>
                </a:lnTo>
                <a:lnTo>
                  <a:pt x="196" y="80"/>
                </a:lnTo>
                <a:lnTo>
                  <a:pt x="213" y="90"/>
                </a:lnTo>
                <a:lnTo>
                  <a:pt x="229" y="100"/>
                </a:lnTo>
                <a:lnTo>
                  <a:pt x="246" y="110"/>
                </a:lnTo>
                <a:lnTo>
                  <a:pt x="262" y="119"/>
                </a:lnTo>
                <a:lnTo>
                  <a:pt x="278" y="128"/>
                </a:lnTo>
                <a:lnTo>
                  <a:pt x="295" y="136"/>
                </a:lnTo>
                <a:lnTo>
                  <a:pt x="311" y="143"/>
                </a:lnTo>
                <a:lnTo>
                  <a:pt x="327" y="149"/>
                </a:lnTo>
                <a:lnTo>
                  <a:pt x="344" y="154"/>
                </a:lnTo>
                <a:lnTo>
                  <a:pt x="360" y="158"/>
                </a:lnTo>
                <a:lnTo>
                  <a:pt x="377" y="160"/>
                </a:lnTo>
                <a:lnTo>
                  <a:pt x="393" y="161"/>
                </a:lnTo>
                <a:lnTo>
                  <a:pt x="393" y="166"/>
                </a:lnTo>
                <a:lnTo>
                  <a:pt x="377" y="165"/>
                </a:lnTo>
                <a:lnTo>
                  <a:pt x="360" y="163"/>
                </a:lnTo>
                <a:lnTo>
                  <a:pt x="344" y="159"/>
                </a:lnTo>
                <a:lnTo>
                  <a:pt x="327" y="154"/>
                </a:lnTo>
                <a:lnTo>
                  <a:pt x="311" y="148"/>
                </a:lnTo>
                <a:lnTo>
                  <a:pt x="295" y="141"/>
                </a:lnTo>
                <a:lnTo>
                  <a:pt x="278" y="133"/>
                </a:lnTo>
                <a:lnTo>
                  <a:pt x="262" y="124"/>
                </a:lnTo>
                <a:lnTo>
                  <a:pt x="246" y="115"/>
                </a:lnTo>
                <a:lnTo>
                  <a:pt x="229" y="105"/>
                </a:lnTo>
                <a:lnTo>
                  <a:pt x="213" y="95"/>
                </a:lnTo>
                <a:lnTo>
                  <a:pt x="196" y="85"/>
                </a:lnTo>
                <a:lnTo>
                  <a:pt x="180" y="75"/>
                </a:lnTo>
                <a:lnTo>
                  <a:pt x="164" y="65"/>
                </a:lnTo>
                <a:lnTo>
                  <a:pt x="147" y="56"/>
                </a:lnTo>
                <a:lnTo>
                  <a:pt x="131" y="47"/>
                </a:lnTo>
                <a:lnTo>
                  <a:pt x="114" y="38"/>
                </a:lnTo>
                <a:lnTo>
                  <a:pt x="98" y="30"/>
                </a:lnTo>
                <a:lnTo>
                  <a:pt x="82" y="23"/>
                </a:lnTo>
                <a:lnTo>
                  <a:pt x="65" y="17"/>
                </a:lnTo>
                <a:lnTo>
                  <a:pt x="49" y="12"/>
                </a:lnTo>
                <a:lnTo>
                  <a:pt x="33" y="8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Freeform 40"/>
          <p:cNvSpPr/>
          <p:nvPr/>
        </p:nvSpPr>
        <p:spPr>
          <a:xfrm>
            <a:off x="2057400" y="4191000"/>
            <a:ext cx="3743325" cy="1971675"/>
          </a:xfrm>
          <a:custGeom>
            <a:avLst/>
            <a:gdLst/>
            <a:ahLst/>
            <a:cxnLst/>
            <a:rect l="l" t="t" r="r" b="b"/>
            <a:pathLst>
              <a:path w="393" h="207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3"/>
                </a:lnTo>
                <a:lnTo>
                  <a:pt x="98" y="32"/>
                </a:lnTo>
                <a:lnTo>
                  <a:pt x="114" y="42"/>
                </a:lnTo>
                <a:lnTo>
                  <a:pt x="131" y="53"/>
                </a:lnTo>
                <a:lnTo>
                  <a:pt x="147" y="65"/>
                </a:lnTo>
                <a:lnTo>
                  <a:pt x="164" y="77"/>
                </a:lnTo>
                <a:lnTo>
                  <a:pt x="180" y="90"/>
                </a:lnTo>
                <a:lnTo>
                  <a:pt x="196" y="103"/>
                </a:lnTo>
                <a:lnTo>
                  <a:pt x="213" y="115"/>
                </a:lnTo>
                <a:lnTo>
                  <a:pt x="229" y="128"/>
                </a:lnTo>
                <a:lnTo>
                  <a:pt x="246" y="140"/>
                </a:lnTo>
                <a:lnTo>
                  <a:pt x="262" y="152"/>
                </a:lnTo>
                <a:lnTo>
                  <a:pt x="278" y="163"/>
                </a:lnTo>
                <a:lnTo>
                  <a:pt x="295" y="173"/>
                </a:lnTo>
                <a:lnTo>
                  <a:pt x="311" y="182"/>
                </a:lnTo>
                <a:lnTo>
                  <a:pt x="327" y="190"/>
                </a:lnTo>
                <a:lnTo>
                  <a:pt x="344" y="196"/>
                </a:lnTo>
                <a:lnTo>
                  <a:pt x="360" y="201"/>
                </a:lnTo>
                <a:lnTo>
                  <a:pt x="377" y="204"/>
                </a:lnTo>
                <a:lnTo>
                  <a:pt x="393" y="205"/>
                </a:lnTo>
                <a:lnTo>
                  <a:pt x="393" y="207"/>
                </a:lnTo>
                <a:lnTo>
                  <a:pt x="377" y="206"/>
                </a:lnTo>
                <a:lnTo>
                  <a:pt x="360" y="203"/>
                </a:lnTo>
                <a:lnTo>
                  <a:pt x="344" y="198"/>
                </a:lnTo>
                <a:lnTo>
                  <a:pt x="327" y="192"/>
                </a:lnTo>
                <a:lnTo>
                  <a:pt x="311" y="184"/>
                </a:lnTo>
                <a:lnTo>
                  <a:pt x="295" y="175"/>
                </a:lnTo>
                <a:lnTo>
                  <a:pt x="278" y="165"/>
                </a:lnTo>
                <a:lnTo>
                  <a:pt x="262" y="154"/>
                </a:lnTo>
                <a:lnTo>
                  <a:pt x="246" y="142"/>
                </a:lnTo>
                <a:lnTo>
                  <a:pt x="229" y="130"/>
                </a:lnTo>
                <a:lnTo>
                  <a:pt x="213" y="117"/>
                </a:lnTo>
                <a:lnTo>
                  <a:pt x="196" y="104"/>
                </a:lnTo>
                <a:lnTo>
                  <a:pt x="180" y="91"/>
                </a:lnTo>
                <a:lnTo>
                  <a:pt x="164" y="79"/>
                </a:lnTo>
                <a:lnTo>
                  <a:pt x="147" y="67"/>
                </a:lnTo>
                <a:lnTo>
                  <a:pt x="131" y="55"/>
                </a:lnTo>
                <a:lnTo>
                  <a:pt x="114" y="44"/>
                </a:lnTo>
                <a:lnTo>
                  <a:pt x="98" y="34"/>
                </a:lnTo>
                <a:lnTo>
                  <a:pt x="82" y="25"/>
                </a:lnTo>
                <a:lnTo>
                  <a:pt x="65" y="17"/>
                </a:lnTo>
                <a:lnTo>
                  <a:pt x="49" y="10"/>
                </a:lnTo>
                <a:lnTo>
                  <a:pt x="33" y="6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Freeform 41"/>
          <p:cNvSpPr/>
          <p:nvPr/>
        </p:nvSpPr>
        <p:spPr>
          <a:xfrm>
            <a:off x="2057400" y="2324100"/>
            <a:ext cx="3743325" cy="2038350"/>
          </a:xfrm>
          <a:custGeom>
            <a:avLst/>
            <a:gdLst/>
            <a:ahLst/>
            <a:cxnLst/>
            <a:rect l="l" t="t" r="r" b="b"/>
            <a:pathLst>
              <a:path w="393" h="214">
                <a:moveTo>
                  <a:pt x="0" y="204"/>
                </a:moveTo>
                <a:lnTo>
                  <a:pt x="16" y="203"/>
                </a:lnTo>
                <a:lnTo>
                  <a:pt x="33" y="200"/>
                </a:lnTo>
                <a:lnTo>
                  <a:pt x="49" y="195"/>
                </a:lnTo>
                <a:lnTo>
                  <a:pt x="65" y="189"/>
                </a:lnTo>
                <a:lnTo>
                  <a:pt x="82" y="181"/>
                </a:lnTo>
                <a:lnTo>
                  <a:pt x="98" y="172"/>
                </a:lnTo>
                <a:lnTo>
                  <a:pt x="114" y="162"/>
                </a:lnTo>
                <a:lnTo>
                  <a:pt x="131" y="151"/>
                </a:lnTo>
                <a:lnTo>
                  <a:pt x="147" y="139"/>
                </a:lnTo>
                <a:lnTo>
                  <a:pt x="164" y="127"/>
                </a:lnTo>
                <a:lnTo>
                  <a:pt x="180" y="114"/>
                </a:lnTo>
                <a:lnTo>
                  <a:pt x="196" y="102"/>
                </a:lnTo>
                <a:lnTo>
                  <a:pt x="213" y="89"/>
                </a:lnTo>
                <a:lnTo>
                  <a:pt x="229" y="76"/>
                </a:lnTo>
                <a:lnTo>
                  <a:pt x="246" y="64"/>
                </a:lnTo>
                <a:lnTo>
                  <a:pt x="262" y="52"/>
                </a:lnTo>
                <a:lnTo>
                  <a:pt x="278" y="41"/>
                </a:lnTo>
                <a:lnTo>
                  <a:pt x="295" y="31"/>
                </a:lnTo>
                <a:lnTo>
                  <a:pt x="311" y="22"/>
                </a:lnTo>
                <a:lnTo>
                  <a:pt x="327" y="15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1"/>
                </a:lnTo>
                <a:lnTo>
                  <a:pt x="360" y="14"/>
                </a:lnTo>
                <a:lnTo>
                  <a:pt x="344" y="19"/>
                </a:lnTo>
                <a:lnTo>
                  <a:pt x="327" y="25"/>
                </a:lnTo>
                <a:lnTo>
                  <a:pt x="311" y="33"/>
                </a:lnTo>
                <a:lnTo>
                  <a:pt x="295" y="42"/>
                </a:lnTo>
                <a:lnTo>
                  <a:pt x="278" y="52"/>
                </a:lnTo>
                <a:lnTo>
                  <a:pt x="262" y="63"/>
                </a:lnTo>
                <a:lnTo>
                  <a:pt x="246" y="75"/>
                </a:lnTo>
                <a:lnTo>
                  <a:pt x="229" y="87"/>
                </a:lnTo>
                <a:lnTo>
                  <a:pt x="213" y="99"/>
                </a:lnTo>
                <a:lnTo>
                  <a:pt x="196" y="112"/>
                </a:lnTo>
                <a:lnTo>
                  <a:pt x="180" y="125"/>
                </a:lnTo>
                <a:lnTo>
                  <a:pt x="164" y="137"/>
                </a:lnTo>
                <a:lnTo>
                  <a:pt x="147" y="150"/>
                </a:lnTo>
                <a:lnTo>
                  <a:pt x="131" y="161"/>
                </a:lnTo>
                <a:lnTo>
                  <a:pt x="114" y="172"/>
                </a:lnTo>
                <a:lnTo>
                  <a:pt x="98" y="182"/>
                </a:lnTo>
                <a:lnTo>
                  <a:pt x="82" y="191"/>
                </a:lnTo>
                <a:lnTo>
                  <a:pt x="65" y="199"/>
                </a:lnTo>
                <a:lnTo>
                  <a:pt x="49" y="205"/>
                </a:lnTo>
                <a:lnTo>
                  <a:pt x="33" y="210"/>
                </a:lnTo>
                <a:lnTo>
                  <a:pt x="16" y="213"/>
                </a:lnTo>
                <a:lnTo>
                  <a:pt x="0" y="21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Freeform 42"/>
          <p:cNvSpPr/>
          <p:nvPr/>
        </p:nvSpPr>
        <p:spPr>
          <a:xfrm>
            <a:off x="2057400" y="3667125"/>
            <a:ext cx="3743325" cy="790575"/>
          </a:xfrm>
          <a:custGeom>
            <a:avLst/>
            <a:gdLst/>
            <a:ahLst/>
            <a:cxnLst/>
            <a:rect l="l" t="t" r="r" b="b"/>
            <a:pathLst>
              <a:path w="393" h="83">
                <a:moveTo>
                  <a:pt x="0" y="73"/>
                </a:moveTo>
                <a:lnTo>
                  <a:pt x="16" y="73"/>
                </a:lnTo>
                <a:lnTo>
                  <a:pt x="33" y="72"/>
                </a:lnTo>
                <a:lnTo>
                  <a:pt x="49" y="70"/>
                </a:lnTo>
                <a:lnTo>
                  <a:pt x="65" y="68"/>
                </a:lnTo>
                <a:lnTo>
                  <a:pt x="82" y="65"/>
                </a:lnTo>
                <a:lnTo>
                  <a:pt x="98" y="62"/>
                </a:lnTo>
                <a:lnTo>
                  <a:pt x="114" y="58"/>
                </a:lnTo>
                <a:lnTo>
                  <a:pt x="131" y="54"/>
                </a:lnTo>
                <a:lnTo>
                  <a:pt x="147" y="50"/>
                </a:lnTo>
                <a:lnTo>
                  <a:pt x="164" y="46"/>
                </a:lnTo>
                <a:lnTo>
                  <a:pt x="180" y="41"/>
                </a:lnTo>
                <a:lnTo>
                  <a:pt x="196" y="36"/>
                </a:lnTo>
                <a:lnTo>
                  <a:pt x="213" y="32"/>
                </a:lnTo>
                <a:lnTo>
                  <a:pt x="229" y="27"/>
                </a:lnTo>
                <a:lnTo>
                  <a:pt x="246" y="23"/>
                </a:lnTo>
                <a:lnTo>
                  <a:pt x="262" y="19"/>
                </a:lnTo>
                <a:lnTo>
                  <a:pt x="278" y="15"/>
                </a:lnTo>
                <a:lnTo>
                  <a:pt x="295" y="11"/>
                </a:lnTo>
                <a:lnTo>
                  <a:pt x="311" y="8"/>
                </a:lnTo>
                <a:lnTo>
                  <a:pt x="327" y="5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9"/>
                </a:lnTo>
                <a:lnTo>
                  <a:pt x="377" y="10"/>
                </a:lnTo>
                <a:lnTo>
                  <a:pt x="360" y="11"/>
                </a:lnTo>
                <a:lnTo>
                  <a:pt x="344" y="13"/>
                </a:lnTo>
                <a:lnTo>
                  <a:pt x="327" y="15"/>
                </a:lnTo>
                <a:lnTo>
                  <a:pt x="311" y="18"/>
                </a:lnTo>
                <a:lnTo>
                  <a:pt x="295" y="21"/>
                </a:lnTo>
                <a:lnTo>
                  <a:pt x="278" y="25"/>
                </a:lnTo>
                <a:lnTo>
                  <a:pt x="262" y="29"/>
                </a:lnTo>
                <a:lnTo>
                  <a:pt x="246" y="33"/>
                </a:lnTo>
                <a:lnTo>
                  <a:pt x="229" y="37"/>
                </a:lnTo>
                <a:lnTo>
                  <a:pt x="213" y="42"/>
                </a:lnTo>
                <a:lnTo>
                  <a:pt x="196" y="46"/>
                </a:lnTo>
                <a:lnTo>
                  <a:pt x="180" y="51"/>
                </a:lnTo>
                <a:lnTo>
                  <a:pt x="164" y="55"/>
                </a:lnTo>
                <a:lnTo>
                  <a:pt x="147" y="60"/>
                </a:lnTo>
                <a:lnTo>
                  <a:pt x="131" y="64"/>
                </a:lnTo>
                <a:lnTo>
                  <a:pt x="114" y="68"/>
                </a:lnTo>
                <a:lnTo>
                  <a:pt x="98" y="71"/>
                </a:lnTo>
                <a:lnTo>
                  <a:pt x="82" y="75"/>
                </a:lnTo>
                <a:lnTo>
                  <a:pt x="65" y="77"/>
                </a:lnTo>
                <a:lnTo>
                  <a:pt x="49" y="80"/>
                </a:lnTo>
                <a:lnTo>
                  <a:pt x="33" y="81"/>
                </a:lnTo>
                <a:lnTo>
                  <a:pt x="16" y="83"/>
                </a:lnTo>
                <a:lnTo>
                  <a:pt x="0" y="83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Freeform 43"/>
          <p:cNvSpPr/>
          <p:nvPr/>
        </p:nvSpPr>
        <p:spPr>
          <a:xfrm>
            <a:off x="2057400" y="4457700"/>
            <a:ext cx="3743325" cy="476250"/>
          </a:xfrm>
          <a:custGeom>
            <a:avLst/>
            <a:gdLst/>
            <a:ahLst/>
            <a:cxnLst/>
            <a:rect l="l" t="t" r="r" b="b"/>
            <a:pathLst>
              <a:path w="393" h="50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9"/>
                </a:lnTo>
                <a:lnTo>
                  <a:pt x="131" y="11"/>
                </a:lnTo>
                <a:lnTo>
                  <a:pt x="147" y="14"/>
                </a:lnTo>
                <a:lnTo>
                  <a:pt x="164" y="16"/>
                </a:lnTo>
                <a:lnTo>
                  <a:pt x="180" y="19"/>
                </a:lnTo>
                <a:lnTo>
                  <a:pt x="196" y="22"/>
                </a:lnTo>
                <a:lnTo>
                  <a:pt x="213" y="25"/>
                </a:lnTo>
                <a:lnTo>
                  <a:pt x="229" y="27"/>
                </a:lnTo>
                <a:lnTo>
                  <a:pt x="246" y="30"/>
                </a:lnTo>
                <a:lnTo>
                  <a:pt x="262" y="32"/>
                </a:lnTo>
                <a:lnTo>
                  <a:pt x="278" y="35"/>
                </a:lnTo>
                <a:lnTo>
                  <a:pt x="295" y="37"/>
                </a:lnTo>
                <a:lnTo>
                  <a:pt x="311" y="39"/>
                </a:lnTo>
                <a:lnTo>
                  <a:pt x="327" y="41"/>
                </a:lnTo>
                <a:lnTo>
                  <a:pt x="344" y="42"/>
                </a:lnTo>
                <a:lnTo>
                  <a:pt x="360" y="43"/>
                </a:lnTo>
                <a:lnTo>
                  <a:pt x="377" y="44"/>
                </a:lnTo>
                <a:lnTo>
                  <a:pt x="393" y="44"/>
                </a:lnTo>
                <a:lnTo>
                  <a:pt x="393" y="50"/>
                </a:lnTo>
                <a:lnTo>
                  <a:pt x="377" y="50"/>
                </a:lnTo>
                <a:lnTo>
                  <a:pt x="360" y="50"/>
                </a:lnTo>
                <a:lnTo>
                  <a:pt x="344" y="48"/>
                </a:lnTo>
                <a:lnTo>
                  <a:pt x="327" y="47"/>
                </a:lnTo>
                <a:lnTo>
                  <a:pt x="311" y="45"/>
                </a:lnTo>
                <a:lnTo>
                  <a:pt x="295" y="44"/>
                </a:lnTo>
                <a:lnTo>
                  <a:pt x="278" y="41"/>
                </a:lnTo>
                <a:lnTo>
                  <a:pt x="262" y="39"/>
                </a:lnTo>
                <a:lnTo>
                  <a:pt x="246" y="36"/>
                </a:lnTo>
                <a:lnTo>
                  <a:pt x="229" y="34"/>
                </a:lnTo>
                <a:lnTo>
                  <a:pt x="213" y="31"/>
                </a:lnTo>
                <a:lnTo>
                  <a:pt x="196" y="28"/>
                </a:lnTo>
                <a:lnTo>
                  <a:pt x="180" y="26"/>
                </a:lnTo>
                <a:lnTo>
                  <a:pt x="164" y="23"/>
                </a:lnTo>
                <a:lnTo>
                  <a:pt x="147" y="20"/>
                </a:lnTo>
                <a:lnTo>
                  <a:pt x="131" y="18"/>
                </a:lnTo>
                <a:lnTo>
                  <a:pt x="114" y="15"/>
                </a:lnTo>
                <a:lnTo>
                  <a:pt x="98" y="13"/>
                </a:lnTo>
                <a:lnTo>
                  <a:pt x="82" y="11"/>
                </a:lnTo>
                <a:lnTo>
                  <a:pt x="65" y="10"/>
                </a:lnTo>
                <a:lnTo>
                  <a:pt x="49" y="8"/>
                </a:lnTo>
                <a:lnTo>
                  <a:pt x="33" y="7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Freeform 44"/>
          <p:cNvSpPr/>
          <p:nvPr/>
        </p:nvSpPr>
        <p:spPr>
          <a:xfrm>
            <a:off x="2057400" y="4514850"/>
            <a:ext cx="3743325" cy="1247775"/>
          </a:xfrm>
          <a:custGeom>
            <a:avLst/>
            <a:gdLst/>
            <a:ahLst/>
            <a:cxnLst/>
            <a:rect l="l" t="t" r="r" b="b"/>
            <a:pathLst>
              <a:path w="393" h="131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0"/>
                </a:lnTo>
                <a:lnTo>
                  <a:pt x="82" y="15"/>
                </a:lnTo>
                <a:lnTo>
                  <a:pt x="98" y="20"/>
                </a:lnTo>
                <a:lnTo>
                  <a:pt x="114" y="26"/>
                </a:lnTo>
                <a:lnTo>
                  <a:pt x="131" y="33"/>
                </a:lnTo>
                <a:lnTo>
                  <a:pt x="147" y="40"/>
                </a:lnTo>
                <a:lnTo>
                  <a:pt x="164" y="48"/>
                </a:lnTo>
                <a:lnTo>
                  <a:pt x="180" y="56"/>
                </a:lnTo>
                <a:lnTo>
                  <a:pt x="196" y="64"/>
                </a:lnTo>
                <a:lnTo>
                  <a:pt x="213" y="72"/>
                </a:lnTo>
                <a:lnTo>
                  <a:pt x="229" y="79"/>
                </a:lnTo>
                <a:lnTo>
                  <a:pt x="246" y="87"/>
                </a:lnTo>
                <a:lnTo>
                  <a:pt x="262" y="94"/>
                </a:lnTo>
                <a:lnTo>
                  <a:pt x="278" y="101"/>
                </a:lnTo>
                <a:lnTo>
                  <a:pt x="295" y="107"/>
                </a:lnTo>
                <a:lnTo>
                  <a:pt x="311" y="113"/>
                </a:lnTo>
                <a:lnTo>
                  <a:pt x="327" y="117"/>
                </a:lnTo>
                <a:lnTo>
                  <a:pt x="344" y="121"/>
                </a:lnTo>
                <a:lnTo>
                  <a:pt x="360" y="124"/>
                </a:lnTo>
                <a:lnTo>
                  <a:pt x="377" y="126"/>
                </a:lnTo>
                <a:lnTo>
                  <a:pt x="393" y="127"/>
                </a:lnTo>
                <a:lnTo>
                  <a:pt x="393" y="131"/>
                </a:lnTo>
                <a:lnTo>
                  <a:pt x="377" y="130"/>
                </a:lnTo>
                <a:lnTo>
                  <a:pt x="360" y="128"/>
                </a:lnTo>
                <a:lnTo>
                  <a:pt x="344" y="125"/>
                </a:lnTo>
                <a:lnTo>
                  <a:pt x="327" y="122"/>
                </a:lnTo>
                <a:lnTo>
                  <a:pt x="311" y="117"/>
                </a:lnTo>
                <a:lnTo>
                  <a:pt x="295" y="111"/>
                </a:lnTo>
                <a:lnTo>
                  <a:pt x="278" y="105"/>
                </a:lnTo>
                <a:lnTo>
                  <a:pt x="262" y="98"/>
                </a:lnTo>
                <a:lnTo>
                  <a:pt x="246" y="91"/>
                </a:lnTo>
                <a:lnTo>
                  <a:pt x="229" y="83"/>
                </a:lnTo>
                <a:lnTo>
                  <a:pt x="213" y="76"/>
                </a:lnTo>
                <a:lnTo>
                  <a:pt x="196" y="68"/>
                </a:lnTo>
                <a:lnTo>
                  <a:pt x="180" y="60"/>
                </a:lnTo>
                <a:lnTo>
                  <a:pt x="164" y="52"/>
                </a:lnTo>
                <a:lnTo>
                  <a:pt x="147" y="45"/>
                </a:lnTo>
                <a:lnTo>
                  <a:pt x="131" y="37"/>
                </a:lnTo>
                <a:lnTo>
                  <a:pt x="114" y="31"/>
                </a:lnTo>
                <a:lnTo>
                  <a:pt x="98" y="24"/>
                </a:lnTo>
                <a:lnTo>
                  <a:pt x="82" y="19"/>
                </a:lnTo>
                <a:lnTo>
                  <a:pt x="65" y="14"/>
                </a:lnTo>
                <a:lnTo>
                  <a:pt x="49" y="10"/>
                </a:lnTo>
                <a:lnTo>
                  <a:pt x="33" y="7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reeform 45"/>
          <p:cNvSpPr/>
          <p:nvPr/>
        </p:nvSpPr>
        <p:spPr>
          <a:xfrm>
            <a:off x="2057400" y="4562475"/>
            <a:ext cx="3743325" cy="1609725"/>
          </a:xfrm>
          <a:custGeom>
            <a:avLst/>
            <a:gdLst/>
            <a:ahLst/>
            <a:cxnLst/>
            <a:rect l="l" t="t" r="r" b="b"/>
            <a:pathLst>
              <a:path w="393" h="169">
                <a:moveTo>
                  <a:pt x="0" y="0"/>
                </a:moveTo>
                <a:lnTo>
                  <a:pt x="16" y="0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8"/>
                </a:lnTo>
                <a:lnTo>
                  <a:pt x="98" y="26"/>
                </a:lnTo>
                <a:lnTo>
                  <a:pt x="114" y="34"/>
                </a:lnTo>
                <a:lnTo>
                  <a:pt x="131" y="43"/>
                </a:lnTo>
                <a:lnTo>
                  <a:pt x="147" y="53"/>
                </a:lnTo>
                <a:lnTo>
                  <a:pt x="164" y="63"/>
                </a:lnTo>
                <a:lnTo>
                  <a:pt x="180" y="73"/>
                </a:lnTo>
                <a:lnTo>
                  <a:pt x="196" y="84"/>
                </a:lnTo>
                <a:lnTo>
                  <a:pt x="213" y="94"/>
                </a:lnTo>
                <a:lnTo>
                  <a:pt x="229" y="104"/>
                </a:lnTo>
                <a:lnTo>
                  <a:pt x="246" y="115"/>
                </a:lnTo>
                <a:lnTo>
                  <a:pt x="262" y="124"/>
                </a:lnTo>
                <a:lnTo>
                  <a:pt x="278" y="133"/>
                </a:lnTo>
                <a:lnTo>
                  <a:pt x="295" y="141"/>
                </a:lnTo>
                <a:lnTo>
                  <a:pt x="311" y="149"/>
                </a:lnTo>
                <a:lnTo>
                  <a:pt x="327" y="155"/>
                </a:lnTo>
                <a:lnTo>
                  <a:pt x="344" y="161"/>
                </a:lnTo>
                <a:lnTo>
                  <a:pt x="360" y="164"/>
                </a:lnTo>
                <a:lnTo>
                  <a:pt x="377" y="167"/>
                </a:lnTo>
                <a:lnTo>
                  <a:pt x="393" y="168"/>
                </a:lnTo>
                <a:lnTo>
                  <a:pt x="393" y="169"/>
                </a:lnTo>
                <a:lnTo>
                  <a:pt x="377" y="169"/>
                </a:lnTo>
                <a:lnTo>
                  <a:pt x="360" y="166"/>
                </a:lnTo>
                <a:lnTo>
                  <a:pt x="344" y="162"/>
                </a:lnTo>
                <a:lnTo>
                  <a:pt x="327" y="157"/>
                </a:lnTo>
                <a:lnTo>
                  <a:pt x="311" y="151"/>
                </a:lnTo>
                <a:lnTo>
                  <a:pt x="295" y="143"/>
                </a:lnTo>
                <a:lnTo>
                  <a:pt x="278" y="135"/>
                </a:lnTo>
                <a:lnTo>
                  <a:pt x="262" y="126"/>
                </a:lnTo>
                <a:lnTo>
                  <a:pt x="246" y="116"/>
                </a:lnTo>
                <a:lnTo>
                  <a:pt x="229" y="106"/>
                </a:lnTo>
                <a:lnTo>
                  <a:pt x="213" y="96"/>
                </a:lnTo>
                <a:lnTo>
                  <a:pt x="196" y="85"/>
                </a:lnTo>
                <a:lnTo>
                  <a:pt x="180" y="75"/>
                </a:lnTo>
                <a:lnTo>
                  <a:pt x="164" y="64"/>
                </a:lnTo>
                <a:lnTo>
                  <a:pt x="147" y="54"/>
                </a:lnTo>
                <a:lnTo>
                  <a:pt x="131" y="45"/>
                </a:lnTo>
                <a:lnTo>
                  <a:pt x="114" y="36"/>
                </a:lnTo>
                <a:lnTo>
                  <a:pt x="98" y="27"/>
                </a:lnTo>
                <a:lnTo>
                  <a:pt x="82" y="20"/>
                </a:lnTo>
                <a:lnTo>
                  <a:pt x="65" y="14"/>
                </a:lnTo>
                <a:lnTo>
                  <a:pt x="49" y="8"/>
                </a:lnTo>
                <a:lnTo>
                  <a:pt x="33" y="4"/>
                </a:lnTo>
                <a:lnTo>
                  <a:pt x="16" y="2"/>
                </a:lnTo>
                <a:lnTo>
                  <a:pt x="0" y="1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2057400" y="2419350"/>
            <a:ext cx="3743325" cy="2295525"/>
          </a:xfrm>
          <a:custGeom>
            <a:avLst/>
            <a:gdLst/>
            <a:ahLst/>
            <a:cxnLst/>
            <a:rect l="l" t="t" r="r" b="b"/>
            <a:pathLst>
              <a:path w="393" h="241">
                <a:moveTo>
                  <a:pt x="0" y="232"/>
                </a:moveTo>
                <a:lnTo>
                  <a:pt x="16" y="231"/>
                </a:lnTo>
                <a:lnTo>
                  <a:pt x="33" y="228"/>
                </a:lnTo>
                <a:lnTo>
                  <a:pt x="49" y="222"/>
                </a:lnTo>
                <a:lnTo>
                  <a:pt x="65" y="215"/>
                </a:lnTo>
                <a:lnTo>
                  <a:pt x="82" y="206"/>
                </a:lnTo>
                <a:lnTo>
                  <a:pt x="98" y="196"/>
                </a:lnTo>
                <a:lnTo>
                  <a:pt x="114" y="184"/>
                </a:lnTo>
                <a:lnTo>
                  <a:pt x="131" y="172"/>
                </a:lnTo>
                <a:lnTo>
                  <a:pt x="147" y="159"/>
                </a:lnTo>
                <a:lnTo>
                  <a:pt x="164" y="145"/>
                </a:lnTo>
                <a:lnTo>
                  <a:pt x="180" y="131"/>
                </a:lnTo>
                <a:lnTo>
                  <a:pt x="196" y="116"/>
                </a:lnTo>
                <a:lnTo>
                  <a:pt x="213" y="102"/>
                </a:lnTo>
                <a:lnTo>
                  <a:pt x="229" y="87"/>
                </a:lnTo>
                <a:lnTo>
                  <a:pt x="246" y="73"/>
                </a:lnTo>
                <a:lnTo>
                  <a:pt x="262" y="60"/>
                </a:lnTo>
                <a:lnTo>
                  <a:pt x="278" y="48"/>
                </a:lnTo>
                <a:lnTo>
                  <a:pt x="295" y="36"/>
                </a:lnTo>
                <a:lnTo>
                  <a:pt x="311" y="26"/>
                </a:lnTo>
                <a:lnTo>
                  <a:pt x="327" y="17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9"/>
                </a:lnTo>
                <a:lnTo>
                  <a:pt x="377" y="10"/>
                </a:lnTo>
                <a:lnTo>
                  <a:pt x="360" y="14"/>
                </a:lnTo>
                <a:lnTo>
                  <a:pt x="344" y="19"/>
                </a:lnTo>
                <a:lnTo>
                  <a:pt x="327" y="26"/>
                </a:lnTo>
                <a:lnTo>
                  <a:pt x="311" y="35"/>
                </a:lnTo>
                <a:lnTo>
                  <a:pt x="295" y="45"/>
                </a:lnTo>
                <a:lnTo>
                  <a:pt x="278" y="57"/>
                </a:lnTo>
                <a:lnTo>
                  <a:pt x="262" y="69"/>
                </a:lnTo>
                <a:lnTo>
                  <a:pt x="246" y="83"/>
                </a:lnTo>
                <a:lnTo>
                  <a:pt x="229" y="96"/>
                </a:lnTo>
                <a:lnTo>
                  <a:pt x="213" y="111"/>
                </a:lnTo>
                <a:lnTo>
                  <a:pt x="196" y="125"/>
                </a:lnTo>
                <a:lnTo>
                  <a:pt x="180" y="140"/>
                </a:lnTo>
                <a:lnTo>
                  <a:pt x="164" y="154"/>
                </a:lnTo>
                <a:lnTo>
                  <a:pt x="147" y="168"/>
                </a:lnTo>
                <a:lnTo>
                  <a:pt x="131" y="181"/>
                </a:lnTo>
                <a:lnTo>
                  <a:pt x="114" y="194"/>
                </a:lnTo>
                <a:lnTo>
                  <a:pt x="98" y="205"/>
                </a:lnTo>
                <a:lnTo>
                  <a:pt x="82" y="215"/>
                </a:lnTo>
                <a:lnTo>
                  <a:pt x="65" y="224"/>
                </a:lnTo>
                <a:lnTo>
                  <a:pt x="49" y="231"/>
                </a:lnTo>
                <a:lnTo>
                  <a:pt x="33" y="237"/>
                </a:lnTo>
                <a:lnTo>
                  <a:pt x="16" y="240"/>
                </a:lnTo>
                <a:lnTo>
                  <a:pt x="0" y="241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Freeform 47"/>
          <p:cNvSpPr/>
          <p:nvPr/>
        </p:nvSpPr>
        <p:spPr>
          <a:xfrm>
            <a:off x="2057400" y="3752850"/>
            <a:ext cx="3743325" cy="1038225"/>
          </a:xfrm>
          <a:custGeom>
            <a:avLst/>
            <a:gdLst/>
            <a:ahLst/>
            <a:cxnLst/>
            <a:rect l="l" t="t" r="r" b="b"/>
            <a:pathLst>
              <a:path w="393" h="109">
                <a:moveTo>
                  <a:pt x="0" y="101"/>
                </a:moveTo>
                <a:lnTo>
                  <a:pt x="16" y="101"/>
                </a:lnTo>
                <a:lnTo>
                  <a:pt x="33" y="99"/>
                </a:lnTo>
                <a:lnTo>
                  <a:pt x="49" y="97"/>
                </a:lnTo>
                <a:lnTo>
                  <a:pt x="65" y="94"/>
                </a:lnTo>
                <a:lnTo>
                  <a:pt x="82" y="90"/>
                </a:lnTo>
                <a:lnTo>
                  <a:pt x="98" y="86"/>
                </a:lnTo>
                <a:lnTo>
                  <a:pt x="114" y="81"/>
                </a:lnTo>
                <a:lnTo>
                  <a:pt x="131" y="75"/>
                </a:lnTo>
                <a:lnTo>
                  <a:pt x="147" y="69"/>
                </a:lnTo>
                <a:lnTo>
                  <a:pt x="164" y="63"/>
                </a:lnTo>
                <a:lnTo>
                  <a:pt x="180" y="57"/>
                </a:lnTo>
                <a:lnTo>
                  <a:pt x="196" y="51"/>
                </a:lnTo>
                <a:lnTo>
                  <a:pt x="213" y="45"/>
                </a:lnTo>
                <a:lnTo>
                  <a:pt x="229" y="38"/>
                </a:lnTo>
                <a:lnTo>
                  <a:pt x="246" y="32"/>
                </a:lnTo>
                <a:lnTo>
                  <a:pt x="262" y="27"/>
                </a:lnTo>
                <a:lnTo>
                  <a:pt x="278" y="21"/>
                </a:lnTo>
                <a:lnTo>
                  <a:pt x="295" y="16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8"/>
                </a:lnTo>
                <a:lnTo>
                  <a:pt x="377" y="9"/>
                </a:lnTo>
                <a:lnTo>
                  <a:pt x="360" y="10"/>
                </a:lnTo>
                <a:lnTo>
                  <a:pt x="344" y="13"/>
                </a:lnTo>
                <a:lnTo>
                  <a:pt x="327" y="16"/>
                </a:lnTo>
                <a:lnTo>
                  <a:pt x="311" y="20"/>
                </a:lnTo>
                <a:lnTo>
                  <a:pt x="295" y="24"/>
                </a:lnTo>
                <a:lnTo>
                  <a:pt x="278" y="29"/>
                </a:lnTo>
                <a:lnTo>
                  <a:pt x="262" y="35"/>
                </a:lnTo>
                <a:lnTo>
                  <a:pt x="246" y="40"/>
                </a:lnTo>
                <a:lnTo>
                  <a:pt x="229" y="46"/>
                </a:lnTo>
                <a:lnTo>
                  <a:pt x="213" y="53"/>
                </a:lnTo>
                <a:lnTo>
                  <a:pt x="196" y="59"/>
                </a:lnTo>
                <a:lnTo>
                  <a:pt x="180" y="65"/>
                </a:lnTo>
                <a:lnTo>
                  <a:pt x="164" y="71"/>
                </a:lnTo>
                <a:lnTo>
                  <a:pt x="147" y="77"/>
                </a:lnTo>
                <a:lnTo>
                  <a:pt x="131" y="83"/>
                </a:lnTo>
                <a:lnTo>
                  <a:pt x="114" y="89"/>
                </a:lnTo>
                <a:lnTo>
                  <a:pt x="98" y="94"/>
                </a:lnTo>
                <a:lnTo>
                  <a:pt x="82" y="98"/>
                </a:lnTo>
                <a:lnTo>
                  <a:pt x="65" y="102"/>
                </a:lnTo>
                <a:lnTo>
                  <a:pt x="49" y="105"/>
                </a:lnTo>
                <a:lnTo>
                  <a:pt x="33" y="107"/>
                </a:lnTo>
                <a:lnTo>
                  <a:pt x="16" y="109"/>
                </a:lnTo>
                <a:lnTo>
                  <a:pt x="0" y="109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Freeform 48"/>
          <p:cNvSpPr/>
          <p:nvPr/>
        </p:nvSpPr>
        <p:spPr>
          <a:xfrm>
            <a:off x="2057400" y="4791075"/>
            <a:ext cx="3743325" cy="228600"/>
          </a:xfrm>
          <a:custGeom>
            <a:avLst/>
            <a:gdLst/>
            <a:ahLst/>
            <a:cxnLst/>
            <a:rect l="l" t="t" r="r" b="b"/>
            <a:pathLst>
              <a:path w="393" h="24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3"/>
                </a:lnTo>
                <a:lnTo>
                  <a:pt x="131" y="4"/>
                </a:lnTo>
                <a:lnTo>
                  <a:pt x="147" y="5"/>
                </a:lnTo>
                <a:lnTo>
                  <a:pt x="164" y="6"/>
                </a:lnTo>
                <a:lnTo>
                  <a:pt x="180" y="7"/>
                </a:lnTo>
                <a:lnTo>
                  <a:pt x="196" y="8"/>
                </a:lnTo>
                <a:lnTo>
                  <a:pt x="213" y="9"/>
                </a:lnTo>
                <a:lnTo>
                  <a:pt x="229" y="10"/>
                </a:lnTo>
                <a:lnTo>
                  <a:pt x="246" y="11"/>
                </a:lnTo>
                <a:lnTo>
                  <a:pt x="262" y="11"/>
                </a:lnTo>
                <a:lnTo>
                  <a:pt x="278" y="12"/>
                </a:lnTo>
                <a:lnTo>
                  <a:pt x="295" y="13"/>
                </a:lnTo>
                <a:lnTo>
                  <a:pt x="311" y="14"/>
                </a:lnTo>
                <a:lnTo>
                  <a:pt x="327" y="14"/>
                </a:lnTo>
                <a:lnTo>
                  <a:pt x="344" y="15"/>
                </a:lnTo>
                <a:lnTo>
                  <a:pt x="360" y="15"/>
                </a:lnTo>
                <a:lnTo>
                  <a:pt x="377" y="15"/>
                </a:lnTo>
                <a:lnTo>
                  <a:pt x="393" y="15"/>
                </a:lnTo>
                <a:lnTo>
                  <a:pt x="393" y="24"/>
                </a:lnTo>
                <a:lnTo>
                  <a:pt x="377" y="23"/>
                </a:lnTo>
                <a:lnTo>
                  <a:pt x="360" y="23"/>
                </a:lnTo>
                <a:lnTo>
                  <a:pt x="344" y="23"/>
                </a:lnTo>
                <a:lnTo>
                  <a:pt x="327" y="22"/>
                </a:lnTo>
                <a:lnTo>
                  <a:pt x="311" y="22"/>
                </a:lnTo>
                <a:lnTo>
                  <a:pt x="295" y="21"/>
                </a:lnTo>
                <a:lnTo>
                  <a:pt x="278" y="20"/>
                </a:lnTo>
                <a:lnTo>
                  <a:pt x="262" y="20"/>
                </a:lnTo>
                <a:lnTo>
                  <a:pt x="246" y="19"/>
                </a:lnTo>
                <a:lnTo>
                  <a:pt x="229" y="18"/>
                </a:lnTo>
                <a:lnTo>
                  <a:pt x="213" y="17"/>
                </a:lnTo>
                <a:lnTo>
                  <a:pt x="196" y="16"/>
                </a:lnTo>
                <a:lnTo>
                  <a:pt x="180" y="15"/>
                </a:lnTo>
                <a:lnTo>
                  <a:pt x="164" y="14"/>
                </a:lnTo>
                <a:lnTo>
                  <a:pt x="147" y="13"/>
                </a:lnTo>
                <a:lnTo>
                  <a:pt x="131" y="12"/>
                </a:lnTo>
                <a:lnTo>
                  <a:pt x="114" y="12"/>
                </a:lnTo>
                <a:lnTo>
                  <a:pt x="98" y="11"/>
                </a:lnTo>
                <a:lnTo>
                  <a:pt x="82" y="10"/>
                </a:lnTo>
                <a:lnTo>
                  <a:pt x="65" y="10"/>
                </a:lnTo>
                <a:lnTo>
                  <a:pt x="49" y="9"/>
                </a:lnTo>
                <a:lnTo>
                  <a:pt x="33" y="9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Freeform 49"/>
          <p:cNvSpPr/>
          <p:nvPr/>
        </p:nvSpPr>
        <p:spPr>
          <a:xfrm>
            <a:off x="2057400" y="4867275"/>
            <a:ext cx="3743325" cy="933450"/>
          </a:xfrm>
          <a:custGeom>
            <a:avLst/>
            <a:gdLst/>
            <a:ahLst/>
            <a:cxnLst/>
            <a:rect l="l" t="t" r="r" b="b"/>
            <a:pathLst>
              <a:path w="393" h="98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0"/>
                </a:lnTo>
                <a:lnTo>
                  <a:pt x="164" y="36"/>
                </a:lnTo>
                <a:lnTo>
                  <a:pt x="180" y="41"/>
                </a:lnTo>
                <a:lnTo>
                  <a:pt x="196" y="47"/>
                </a:lnTo>
                <a:lnTo>
                  <a:pt x="213" y="53"/>
                </a:lnTo>
                <a:lnTo>
                  <a:pt x="229" y="59"/>
                </a:lnTo>
                <a:lnTo>
                  <a:pt x="246" y="64"/>
                </a:lnTo>
                <a:lnTo>
                  <a:pt x="262" y="70"/>
                </a:lnTo>
                <a:lnTo>
                  <a:pt x="278" y="75"/>
                </a:lnTo>
                <a:lnTo>
                  <a:pt x="295" y="79"/>
                </a:lnTo>
                <a:lnTo>
                  <a:pt x="311" y="83"/>
                </a:lnTo>
                <a:lnTo>
                  <a:pt x="327" y="87"/>
                </a:lnTo>
                <a:lnTo>
                  <a:pt x="344" y="90"/>
                </a:lnTo>
                <a:lnTo>
                  <a:pt x="360" y="92"/>
                </a:lnTo>
                <a:lnTo>
                  <a:pt x="377" y="93"/>
                </a:lnTo>
                <a:lnTo>
                  <a:pt x="393" y="94"/>
                </a:lnTo>
                <a:lnTo>
                  <a:pt x="393" y="98"/>
                </a:lnTo>
                <a:lnTo>
                  <a:pt x="377" y="98"/>
                </a:lnTo>
                <a:lnTo>
                  <a:pt x="360" y="96"/>
                </a:lnTo>
                <a:lnTo>
                  <a:pt x="344" y="94"/>
                </a:lnTo>
                <a:lnTo>
                  <a:pt x="327" y="91"/>
                </a:lnTo>
                <a:lnTo>
                  <a:pt x="311" y="88"/>
                </a:lnTo>
                <a:lnTo>
                  <a:pt x="295" y="83"/>
                </a:lnTo>
                <a:lnTo>
                  <a:pt x="278" y="79"/>
                </a:lnTo>
                <a:lnTo>
                  <a:pt x="262" y="74"/>
                </a:lnTo>
                <a:lnTo>
                  <a:pt x="246" y="68"/>
                </a:lnTo>
                <a:lnTo>
                  <a:pt x="229" y="63"/>
                </a:lnTo>
                <a:lnTo>
                  <a:pt x="213" y="57"/>
                </a:lnTo>
                <a:lnTo>
                  <a:pt x="196" y="51"/>
                </a:lnTo>
                <a:lnTo>
                  <a:pt x="180" y="45"/>
                </a:lnTo>
                <a:lnTo>
                  <a:pt x="164" y="40"/>
                </a:lnTo>
                <a:lnTo>
                  <a:pt x="147" y="34"/>
                </a:lnTo>
                <a:lnTo>
                  <a:pt x="131" y="29"/>
                </a:lnTo>
                <a:lnTo>
                  <a:pt x="114" y="24"/>
                </a:lnTo>
                <a:lnTo>
                  <a:pt x="98" y="19"/>
                </a:lnTo>
                <a:lnTo>
                  <a:pt x="82" y="15"/>
                </a:lnTo>
                <a:lnTo>
                  <a:pt x="65" y="11"/>
                </a:lnTo>
                <a:lnTo>
                  <a:pt x="49" y="9"/>
                </a:lnTo>
                <a:lnTo>
                  <a:pt x="33" y="6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2057400" y="4914900"/>
            <a:ext cx="3743325" cy="1276350"/>
          </a:xfrm>
          <a:custGeom>
            <a:avLst/>
            <a:gdLst/>
            <a:ahLst/>
            <a:cxnLst/>
            <a:rect l="l" t="t" r="r" b="b"/>
            <a:pathLst>
              <a:path w="393" h="134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5"/>
                </a:lnTo>
                <a:lnTo>
                  <a:pt x="65" y="9"/>
                </a:lnTo>
                <a:lnTo>
                  <a:pt x="82" y="14"/>
                </a:lnTo>
                <a:lnTo>
                  <a:pt x="98" y="20"/>
                </a:lnTo>
                <a:lnTo>
                  <a:pt x="114" y="27"/>
                </a:lnTo>
                <a:lnTo>
                  <a:pt x="131" y="34"/>
                </a:lnTo>
                <a:lnTo>
                  <a:pt x="147" y="42"/>
                </a:lnTo>
                <a:lnTo>
                  <a:pt x="164" y="50"/>
                </a:lnTo>
                <a:lnTo>
                  <a:pt x="180" y="58"/>
                </a:lnTo>
                <a:lnTo>
                  <a:pt x="196" y="66"/>
                </a:lnTo>
                <a:lnTo>
                  <a:pt x="213" y="74"/>
                </a:lnTo>
                <a:lnTo>
                  <a:pt x="229" y="82"/>
                </a:lnTo>
                <a:lnTo>
                  <a:pt x="246" y="90"/>
                </a:lnTo>
                <a:lnTo>
                  <a:pt x="262" y="98"/>
                </a:lnTo>
                <a:lnTo>
                  <a:pt x="278" y="105"/>
                </a:lnTo>
                <a:lnTo>
                  <a:pt x="295" y="112"/>
                </a:lnTo>
                <a:lnTo>
                  <a:pt x="311" y="117"/>
                </a:lnTo>
                <a:lnTo>
                  <a:pt x="327" y="123"/>
                </a:lnTo>
                <a:lnTo>
                  <a:pt x="344" y="127"/>
                </a:lnTo>
                <a:lnTo>
                  <a:pt x="360" y="130"/>
                </a:lnTo>
                <a:lnTo>
                  <a:pt x="377" y="132"/>
                </a:lnTo>
                <a:lnTo>
                  <a:pt x="393" y="132"/>
                </a:lnTo>
                <a:lnTo>
                  <a:pt x="393" y="134"/>
                </a:lnTo>
                <a:lnTo>
                  <a:pt x="377" y="134"/>
                </a:lnTo>
                <a:lnTo>
                  <a:pt x="360" y="132"/>
                </a:lnTo>
                <a:lnTo>
                  <a:pt x="344" y="128"/>
                </a:lnTo>
                <a:lnTo>
                  <a:pt x="327" y="124"/>
                </a:lnTo>
                <a:lnTo>
                  <a:pt x="311" y="119"/>
                </a:lnTo>
                <a:lnTo>
                  <a:pt x="295" y="113"/>
                </a:lnTo>
                <a:lnTo>
                  <a:pt x="278" y="107"/>
                </a:lnTo>
                <a:lnTo>
                  <a:pt x="262" y="100"/>
                </a:lnTo>
                <a:lnTo>
                  <a:pt x="246" y="92"/>
                </a:lnTo>
                <a:lnTo>
                  <a:pt x="229" y="84"/>
                </a:lnTo>
                <a:lnTo>
                  <a:pt x="213" y="76"/>
                </a:lnTo>
                <a:lnTo>
                  <a:pt x="196" y="68"/>
                </a:lnTo>
                <a:lnTo>
                  <a:pt x="180" y="59"/>
                </a:lnTo>
                <a:lnTo>
                  <a:pt x="164" y="51"/>
                </a:lnTo>
                <a:lnTo>
                  <a:pt x="147" y="43"/>
                </a:lnTo>
                <a:lnTo>
                  <a:pt x="131" y="36"/>
                </a:lnTo>
                <a:lnTo>
                  <a:pt x="114" y="29"/>
                </a:lnTo>
                <a:lnTo>
                  <a:pt x="98" y="22"/>
                </a:lnTo>
                <a:lnTo>
                  <a:pt x="82" y="16"/>
                </a:lnTo>
                <a:lnTo>
                  <a:pt x="65" y="11"/>
                </a:lnTo>
                <a:lnTo>
                  <a:pt x="49" y="7"/>
                </a:lnTo>
                <a:lnTo>
                  <a:pt x="33" y="4"/>
                </a:lnTo>
                <a:lnTo>
                  <a:pt x="16" y="2"/>
                </a:lnTo>
                <a:lnTo>
                  <a:pt x="0" y="1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Freeform 51"/>
          <p:cNvSpPr/>
          <p:nvPr/>
        </p:nvSpPr>
        <p:spPr>
          <a:xfrm>
            <a:off x="2057400" y="2505075"/>
            <a:ext cx="3743325" cy="2571750"/>
          </a:xfrm>
          <a:custGeom>
            <a:avLst/>
            <a:gdLst/>
            <a:ahLst/>
            <a:cxnLst/>
            <a:rect l="l" t="t" r="r" b="b"/>
            <a:pathLst>
              <a:path w="393" h="270">
                <a:moveTo>
                  <a:pt x="0" y="260"/>
                </a:moveTo>
                <a:lnTo>
                  <a:pt x="16" y="259"/>
                </a:lnTo>
                <a:lnTo>
                  <a:pt x="33" y="255"/>
                </a:lnTo>
                <a:lnTo>
                  <a:pt x="49" y="249"/>
                </a:lnTo>
                <a:lnTo>
                  <a:pt x="65" y="241"/>
                </a:lnTo>
                <a:lnTo>
                  <a:pt x="82" y="231"/>
                </a:lnTo>
                <a:lnTo>
                  <a:pt x="98" y="220"/>
                </a:lnTo>
                <a:lnTo>
                  <a:pt x="114" y="207"/>
                </a:lnTo>
                <a:lnTo>
                  <a:pt x="131" y="193"/>
                </a:lnTo>
                <a:lnTo>
                  <a:pt x="147" y="178"/>
                </a:lnTo>
                <a:lnTo>
                  <a:pt x="164" y="162"/>
                </a:lnTo>
                <a:lnTo>
                  <a:pt x="180" y="146"/>
                </a:lnTo>
                <a:lnTo>
                  <a:pt x="196" y="130"/>
                </a:lnTo>
                <a:lnTo>
                  <a:pt x="213" y="114"/>
                </a:lnTo>
                <a:lnTo>
                  <a:pt x="229" y="98"/>
                </a:lnTo>
                <a:lnTo>
                  <a:pt x="246" y="82"/>
                </a:lnTo>
                <a:lnTo>
                  <a:pt x="262" y="68"/>
                </a:lnTo>
                <a:lnTo>
                  <a:pt x="278" y="54"/>
                </a:lnTo>
                <a:lnTo>
                  <a:pt x="295" y="41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10"/>
                </a:lnTo>
                <a:lnTo>
                  <a:pt x="377" y="11"/>
                </a:lnTo>
                <a:lnTo>
                  <a:pt x="360" y="15"/>
                </a:lnTo>
                <a:lnTo>
                  <a:pt x="344" y="21"/>
                </a:lnTo>
                <a:lnTo>
                  <a:pt x="327" y="29"/>
                </a:lnTo>
                <a:lnTo>
                  <a:pt x="311" y="39"/>
                </a:lnTo>
                <a:lnTo>
                  <a:pt x="295" y="51"/>
                </a:lnTo>
                <a:lnTo>
                  <a:pt x="278" y="64"/>
                </a:lnTo>
                <a:lnTo>
                  <a:pt x="262" y="78"/>
                </a:lnTo>
                <a:lnTo>
                  <a:pt x="246" y="92"/>
                </a:lnTo>
                <a:lnTo>
                  <a:pt x="229" y="108"/>
                </a:lnTo>
                <a:lnTo>
                  <a:pt x="213" y="124"/>
                </a:lnTo>
                <a:lnTo>
                  <a:pt x="196" y="140"/>
                </a:lnTo>
                <a:lnTo>
                  <a:pt x="180" y="156"/>
                </a:lnTo>
                <a:lnTo>
                  <a:pt x="164" y="172"/>
                </a:lnTo>
                <a:lnTo>
                  <a:pt x="147" y="188"/>
                </a:lnTo>
                <a:lnTo>
                  <a:pt x="131" y="203"/>
                </a:lnTo>
                <a:lnTo>
                  <a:pt x="114" y="217"/>
                </a:lnTo>
                <a:lnTo>
                  <a:pt x="98" y="230"/>
                </a:lnTo>
                <a:lnTo>
                  <a:pt x="82" y="241"/>
                </a:lnTo>
                <a:lnTo>
                  <a:pt x="65" y="251"/>
                </a:lnTo>
                <a:lnTo>
                  <a:pt x="49" y="259"/>
                </a:lnTo>
                <a:lnTo>
                  <a:pt x="33" y="265"/>
                </a:lnTo>
                <a:lnTo>
                  <a:pt x="16" y="269"/>
                </a:lnTo>
                <a:lnTo>
                  <a:pt x="0" y="270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2057400" y="3829050"/>
            <a:ext cx="3743325" cy="1314450"/>
          </a:xfrm>
          <a:custGeom>
            <a:avLst/>
            <a:gdLst/>
            <a:ahLst/>
            <a:cxnLst/>
            <a:rect l="l" t="t" r="r" b="b"/>
            <a:pathLst>
              <a:path w="393" h="138">
                <a:moveTo>
                  <a:pt x="0" y="131"/>
                </a:moveTo>
                <a:lnTo>
                  <a:pt x="16" y="131"/>
                </a:lnTo>
                <a:lnTo>
                  <a:pt x="33" y="129"/>
                </a:lnTo>
                <a:lnTo>
                  <a:pt x="49" y="126"/>
                </a:lnTo>
                <a:lnTo>
                  <a:pt x="65" y="122"/>
                </a:lnTo>
                <a:lnTo>
                  <a:pt x="82" y="117"/>
                </a:lnTo>
                <a:lnTo>
                  <a:pt x="98" y="111"/>
                </a:lnTo>
                <a:lnTo>
                  <a:pt x="114" y="104"/>
                </a:lnTo>
                <a:lnTo>
                  <a:pt x="131" y="97"/>
                </a:lnTo>
                <a:lnTo>
                  <a:pt x="147" y="90"/>
                </a:lnTo>
                <a:lnTo>
                  <a:pt x="164" y="82"/>
                </a:lnTo>
                <a:lnTo>
                  <a:pt x="180" y="74"/>
                </a:lnTo>
                <a:lnTo>
                  <a:pt x="196" y="66"/>
                </a:lnTo>
                <a:lnTo>
                  <a:pt x="213" y="58"/>
                </a:lnTo>
                <a:lnTo>
                  <a:pt x="229" y="50"/>
                </a:lnTo>
                <a:lnTo>
                  <a:pt x="246" y="42"/>
                </a:lnTo>
                <a:lnTo>
                  <a:pt x="262" y="34"/>
                </a:lnTo>
                <a:lnTo>
                  <a:pt x="278" y="27"/>
                </a:lnTo>
                <a:lnTo>
                  <a:pt x="295" y="21"/>
                </a:lnTo>
                <a:lnTo>
                  <a:pt x="311" y="15"/>
                </a:lnTo>
                <a:lnTo>
                  <a:pt x="327" y="10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0"/>
                </a:lnTo>
                <a:lnTo>
                  <a:pt x="344" y="13"/>
                </a:lnTo>
                <a:lnTo>
                  <a:pt x="327" y="17"/>
                </a:lnTo>
                <a:lnTo>
                  <a:pt x="311" y="22"/>
                </a:lnTo>
                <a:lnTo>
                  <a:pt x="295" y="28"/>
                </a:lnTo>
                <a:lnTo>
                  <a:pt x="278" y="34"/>
                </a:lnTo>
                <a:lnTo>
                  <a:pt x="262" y="41"/>
                </a:lnTo>
                <a:lnTo>
                  <a:pt x="246" y="49"/>
                </a:lnTo>
                <a:lnTo>
                  <a:pt x="229" y="57"/>
                </a:lnTo>
                <a:lnTo>
                  <a:pt x="213" y="65"/>
                </a:lnTo>
                <a:lnTo>
                  <a:pt x="196" y="73"/>
                </a:lnTo>
                <a:lnTo>
                  <a:pt x="180" y="81"/>
                </a:lnTo>
                <a:lnTo>
                  <a:pt x="164" y="89"/>
                </a:lnTo>
                <a:lnTo>
                  <a:pt x="147" y="97"/>
                </a:lnTo>
                <a:lnTo>
                  <a:pt x="131" y="104"/>
                </a:lnTo>
                <a:lnTo>
                  <a:pt x="114" y="111"/>
                </a:lnTo>
                <a:lnTo>
                  <a:pt x="98" y="118"/>
                </a:lnTo>
                <a:lnTo>
                  <a:pt x="82" y="123"/>
                </a:lnTo>
                <a:lnTo>
                  <a:pt x="65" y="128"/>
                </a:lnTo>
                <a:lnTo>
                  <a:pt x="49" y="133"/>
                </a:lnTo>
                <a:lnTo>
                  <a:pt x="33" y="136"/>
                </a:lnTo>
                <a:lnTo>
                  <a:pt x="16" y="137"/>
                </a:lnTo>
                <a:lnTo>
                  <a:pt x="0" y="138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Freeform 53"/>
          <p:cNvSpPr/>
          <p:nvPr/>
        </p:nvSpPr>
        <p:spPr>
          <a:xfrm>
            <a:off x="2057400" y="5019675"/>
            <a:ext cx="3743325" cy="190500"/>
          </a:xfrm>
          <a:custGeom>
            <a:avLst/>
            <a:gdLst/>
            <a:ahLst/>
            <a:cxnLst/>
            <a:rect l="l" t="t" r="r" b="b"/>
            <a:pathLst>
              <a:path w="393" h="20">
                <a:moveTo>
                  <a:pt x="0" y="13"/>
                </a:moveTo>
                <a:lnTo>
                  <a:pt x="16" y="13"/>
                </a:lnTo>
                <a:lnTo>
                  <a:pt x="33" y="13"/>
                </a:lnTo>
                <a:lnTo>
                  <a:pt x="49" y="13"/>
                </a:lnTo>
                <a:lnTo>
                  <a:pt x="65" y="12"/>
                </a:lnTo>
                <a:lnTo>
                  <a:pt x="82" y="12"/>
                </a:lnTo>
                <a:lnTo>
                  <a:pt x="98" y="11"/>
                </a:lnTo>
                <a:lnTo>
                  <a:pt x="114" y="10"/>
                </a:lnTo>
                <a:lnTo>
                  <a:pt x="131" y="10"/>
                </a:lnTo>
                <a:lnTo>
                  <a:pt x="147" y="9"/>
                </a:lnTo>
                <a:lnTo>
                  <a:pt x="164" y="8"/>
                </a:lnTo>
                <a:lnTo>
                  <a:pt x="180" y="7"/>
                </a:lnTo>
                <a:lnTo>
                  <a:pt x="196" y="6"/>
                </a:lnTo>
                <a:lnTo>
                  <a:pt x="213" y="6"/>
                </a:lnTo>
                <a:lnTo>
                  <a:pt x="229" y="5"/>
                </a:lnTo>
                <a:lnTo>
                  <a:pt x="246" y="4"/>
                </a:lnTo>
                <a:lnTo>
                  <a:pt x="262" y="3"/>
                </a:lnTo>
                <a:lnTo>
                  <a:pt x="278" y="2"/>
                </a:lnTo>
                <a:lnTo>
                  <a:pt x="295" y="2"/>
                </a:lnTo>
                <a:lnTo>
                  <a:pt x="311" y="1"/>
                </a:lnTo>
                <a:lnTo>
                  <a:pt x="327" y="1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7"/>
                </a:lnTo>
                <a:lnTo>
                  <a:pt x="360" y="7"/>
                </a:lnTo>
                <a:lnTo>
                  <a:pt x="344" y="7"/>
                </a:lnTo>
                <a:lnTo>
                  <a:pt x="327" y="7"/>
                </a:lnTo>
                <a:lnTo>
                  <a:pt x="311" y="8"/>
                </a:lnTo>
                <a:lnTo>
                  <a:pt x="295" y="9"/>
                </a:lnTo>
                <a:lnTo>
                  <a:pt x="278" y="9"/>
                </a:lnTo>
                <a:lnTo>
                  <a:pt x="262" y="10"/>
                </a:lnTo>
                <a:lnTo>
                  <a:pt x="246" y="11"/>
                </a:lnTo>
                <a:lnTo>
                  <a:pt x="229" y="12"/>
                </a:lnTo>
                <a:lnTo>
                  <a:pt x="213" y="12"/>
                </a:lnTo>
                <a:lnTo>
                  <a:pt x="196" y="13"/>
                </a:lnTo>
                <a:lnTo>
                  <a:pt x="180" y="14"/>
                </a:lnTo>
                <a:lnTo>
                  <a:pt x="164" y="15"/>
                </a:lnTo>
                <a:lnTo>
                  <a:pt x="147" y="16"/>
                </a:lnTo>
                <a:lnTo>
                  <a:pt x="131" y="17"/>
                </a:lnTo>
                <a:lnTo>
                  <a:pt x="114" y="17"/>
                </a:lnTo>
                <a:lnTo>
                  <a:pt x="98" y="18"/>
                </a:lnTo>
                <a:lnTo>
                  <a:pt x="82" y="19"/>
                </a:lnTo>
                <a:lnTo>
                  <a:pt x="65" y="19"/>
                </a:lnTo>
                <a:lnTo>
                  <a:pt x="49" y="19"/>
                </a:lnTo>
                <a:lnTo>
                  <a:pt x="33" y="20"/>
                </a:lnTo>
                <a:lnTo>
                  <a:pt x="1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reeform 54"/>
          <p:cNvSpPr/>
          <p:nvPr/>
        </p:nvSpPr>
        <p:spPr>
          <a:xfrm>
            <a:off x="2057400" y="5210175"/>
            <a:ext cx="3743325" cy="628650"/>
          </a:xfrm>
          <a:custGeom>
            <a:avLst/>
            <a:gdLst/>
            <a:ahLst/>
            <a:cxnLst/>
            <a:rect l="l" t="t" r="r" b="b"/>
            <a:pathLst>
              <a:path w="393" h="66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5"/>
                </a:lnTo>
                <a:lnTo>
                  <a:pt x="82" y="7"/>
                </a:lnTo>
                <a:lnTo>
                  <a:pt x="98" y="10"/>
                </a:lnTo>
                <a:lnTo>
                  <a:pt x="114" y="13"/>
                </a:lnTo>
                <a:lnTo>
                  <a:pt x="131" y="16"/>
                </a:lnTo>
                <a:lnTo>
                  <a:pt x="147" y="20"/>
                </a:lnTo>
                <a:lnTo>
                  <a:pt x="164" y="23"/>
                </a:lnTo>
                <a:lnTo>
                  <a:pt x="180" y="27"/>
                </a:lnTo>
                <a:lnTo>
                  <a:pt x="196" y="31"/>
                </a:lnTo>
                <a:lnTo>
                  <a:pt x="213" y="35"/>
                </a:lnTo>
                <a:lnTo>
                  <a:pt x="229" y="39"/>
                </a:lnTo>
                <a:lnTo>
                  <a:pt x="246" y="42"/>
                </a:lnTo>
                <a:lnTo>
                  <a:pt x="262" y="46"/>
                </a:lnTo>
                <a:lnTo>
                  <a:pt x="278" y="49"/>
                </a:lnTo>
                <a:lnTo>
                  <a:pt x="295" y="52"/>
                </a:lnTo>
                <a:lnTo>
                  <a:pt x="311" y="55"/>
                </a:lnTo>
                <a:lnTo>
                  <a:pt x="327" y="57"/>
                </a:lnTo>
                <a:lnTo>
                  <a:pt x="344" y="59"/>
                </a:lnTo>
                <a:lnTo>
                  <a:pt x="360" y="61"/>
                </a:lnTo>
                <a:lnTo>
                  <a:pt x="377" y="62"/>
                </a:lnTo>
                <a:lnTo>
                  <a:pt x="393" y="62"/>
                </a:lnTo>
                <a:lnTo>
                  <a:pt x="393" y="66"/>
                </a:lnTo>
                <a:lnTo>
                  <a:pt x="377" y="66"/>
                </a:lnTo>
                <a:lnTo>
                  <a:pt x="360" y="65"/>
                </a:lnTo>
                <a:lnTo>
                  <a:pt x="344" y="64"/>
                </a:lnTo>
                <a:lnTo>
                  <a:pt x="327" y="62"/>
                </a:lnTo>
                <a:lnTo>
                  <a:pt x="311" y="60"/>
                </a:lnTo>
                <a:lnTo>
                  <a:pt x="295" y="57"/>
                </a:lnTo>
                <a:lnTo>
                  <a:pt x="278" y="54"/>
                </a:lnTo>
                <a:lnTo>
                  <a:pt x="262" y="50"/>
                </a:lnTo>
                <a:lnTo>
                  <a:pt x="246" y="47"/>
                </a:lnTo>
                <a:lnTo>
                  <a:pt x="229" y="43"/>
                </a:lnTo>
                <a:lnTo>
                  <a:pt x="213" y="39"/>
                </a:lnTo>
                <a:lnTo>
                  <a:pt x="196" y="36"/>
                </a:lnTo>
                <a:lnTo>
                  <a:pt x="180" y="32"/>
                </a:lnTo>
                <a:lnTo>
                  <a:pt x="164" y="28"/>
                </a:lnTo>
                <a:lnTo>
                  <a:pt x="147" y="24"/>
                </a:lnTo>
                <a:lnTo>
                  <a:pt x="131" y="21"/>
                </a:lnTo>
                <a:lnTo>
                  <a:pt x="114" y="17"/>
                </a:lnTo>
                <a:lnTo>
                  <a:pt x="98" y="14"/>
                </a:lnTo>
                <a:lnTo>
                  <a:pt x="82" y="11"/>
                </a:lnTo>
                <a:lnTo>
                  <a:pt x="65" y="9"/>
                </a:lnTo>
                <a:lnTo>
                  <a:pt x="49" y="7"/>
                </a:lnTo>
                <a:lnTo>
                  <a:pt x="33" y="6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Freeform 55"/>
          <p:cNvSpPr/>
          <p:nvPr/>
        </p:nvSpPr>
        <p:spPr>
          <a:xfrm>
            <a:off x="2057400" y="5257800"/>
            <a:ext cx="3743325" cy="942975"/>
          </a:xfrm>
          <a:custGeom>
            <a:avLst/>
            <a:gdLst/>
            <a:ahLst/>
            <a:cxnLst/>
            <a:rect l="l" t="t" r="r" b="b"/>
            <a:pathLst>
              <a:path w="393" h="99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1"/>
                </a:lnTo>
                <a:lnTo>
                  <a:pt x="164" y="37"/>
                </a:lnTo>
                <a:lnTo>
                  <a:pt x="180" y="43"/>
                </a:lnTo>
                <a:lnTo>
                  <a:pt x="196" y="49"/>
                </a:lnTo>
                <a:lnTo>
                  <a:pt x="213" y="55"/>
                </a:lnTo>
                <a:lnTo>
                  <a:pt x="229" y="61"/>
                </a:lnTo>
                <a:lnTo>
                  <a:pt x="246" y="67"/>
                </a:lnTo>
                <a:lnTo>
                  <a:pt x="262" y="73"/>
                </a:lnTo>
                <a:lnTo>
                  <a:pt x="278" y="78"/>
                </a:lnTo>
                <a:lnTo>
                  <a:pt x="295" y="83"/>
                </a:lnTo>
                <a:lnTo>
                  <a:pt x="311" y="87"/>
                </a:lnTo>
                <a:lnTo>
                  <a:pt x="327" y="91"/>
                </a:lnTo>
                <a:lnTo>
                  <a:pt x="344" y="94"/>
                </a:lnTo>
                <a:lnTo>
                  <a:pt x="360" y="96"/>
                </a:lnTo>
                <a:lnTo>
                  <a:pt x="377" y="98"/>
                </a:lnTo>
                <a:lnTo>
                  <a:pt x="393" y="98"/>
                </a:lnTo>
                <a:lnTo>
                  <a:pt x="393" y="99"/>
                </a:lnTo>
                <a:lnTo>
                  <a:pt x="377" y="99"/>
                </a:lnTo>
                <a:lnTo>
                  <a:pt x="360" y="97"/>
                </a:lnTo>
                <a:lnTo>
                  <a:pt x="344" y="95"/>
                </a:lnTo>
                <a:lnTo>
                  <a:pt x="327" y="92"/>
                </a:lnTo>
                <a:lnTo>
                  <a:pt x="311" y="88"/>
                </a:lnTo>
                <a:lnTo>
                  <a:pt x="295" y="84"/>
                </a:lnTo>
                <a:lnTo>
                  <a:pt x="278" y="79"/>
                </a:lnTo>
                <a:lnTo>
                  <a:pt x="262" y="74"/>
                </a:lnTo>
                <a:lnTo>
                  <a:pt x="246" y="68"/>
                </a:lnTo>
                <a:lnTo>
                  <a:pt x="229" y="62"/>
                </a:lnTo>
                <a:lnTo>
                  <a:pt x="213" y="56"/>
                </a:lnTo>
                <a:lnTo>
                  <a:pt x="196" y="50"/>
                </a:lnTo>
                <a:lnTo>
                  <a:pt x="180" y="44"/>
                </a:lnTo>
                <a:lnTo>
                  <a:pt x="164" y="38"/>
                </a:lnTo>
                <a:lnTo>
                  <a:pt x="147" y="32"/>
                </a:lnTo>
                <a:lnTo>
                  <a:pt x="131" y="26"/>
                </a:lnTo>
                <a:lnTo>
                  <a:pt x="114" y="21"/>
                </a:lnTo>
                <a:lnTo>
                  <a:pt x="98" y="16"/>
                </a:lnTo>
                <a:lnTo>
                  <a:pt x="82" y="12"/>
                </a:lnTo>
                <a:lnTo>
                  <a:pt x="65" y="8"/>
                </a:lnTo>
                <a:lnTo>
                  <a:pt x="49" y="5"/>
                </a:lnTo>
                <a:lnTo>
                  <a:pt x="33" y="3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Freeform 56"/>
          <p:cNvSpPr/>
          <p:nvPr/>
        </p:nvSpPr>
        <p:spPr>
          <a:xfrm>
            <a:off x="2057400" y="2600325"/>
            <a:ext cx="3743325" cy="2781300"/>
          </a:xfrm>
          <a:custGeom>
            <a:avLst/>
            <a:gdLst/>
            <a:ahLst/>
            <a:cxnLst/>
            <a:rect l="l" t="t" r="r" b="b"/>
            <a:pathLst>
              <a:path w="393" h="292">
                <a:moveTo>
                  <a:pt x="0" y="286"/>
                </a:moveTo>
                <a:lnTo>
                  <a:pt x="16" y="284"/>
                </a:lnTo>
                <a:lnTo>
                  <a:pt x="33" y="280"/>
                </a:lnTo>
                <a:lnTo>
                  <a:pt x="49" y="273"/>
                </a:lnTo>
                <a:lnTo>
                  <a:pt x="65" y="265"/>
                </a:lnTo>
                <a:lnTo>
                  <a:pt x="82" y="254"/>
                </a:lnTo>
                <a:lnTo>
                  <a:pt x="98" y="241"/>
                </a:lnTo>
                <a:lnTo>
                  <a:pt x="114" y="227"/>
                </a:lnTo>
                <a:lnTo>
                  <a:pt x="131" y="212"/>
                </a:lnTo>
                <a:lnTo>
                  <a:pt x="147" y="195"/>
                </a:lnTo>
                <a:lnTo>
                  <a:pt x="164" y="178"/>
                </a:lnTo>
                <a:lnTo>
                  <a:pt x="180" y="161"/>
                </a:lnTo>
                <a:lnTo>
                  <a:pt x="196" y="143"/>
                </a:lnTo>
                <a:lnTo>
                  <a:pt x="213" y="125"/>
                </a:lnTo>
                <a:lnTo>
                  <a:pt x="229" y="108"/>
                </a:lnTo>
                <a:lnTo>
                  <a:pt x="246" y="90"/>
                </a:lnTo>
                <a:lnTo>
                  <a:pt x="262" y="74"/>
                </a:lnTo>
                <a:lnTo>
                  <a:pt x="278" y="59"/>
                </a:lnTo>
                <a:lnTo>
                  <a:pt x="295" y="45"/>
                </a:lnTo>
                <a:lnTo>
                  <a:pt x="311" y="32"/>
                </a:lnTo>
                <a:lnTo>
                  <a:pt x="327" y="21"/>
                </a:lnTo>
                <a:lnTo>
                  <a:pt x="344" y="12"/>
                </a:lnTo>
                <a:lnTo>
                  <a:pt x="360" y="6"/>
                </a:lnTo>
                <a:lnTo>
                  <a:pt x="377" y="2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2"/>
                </a:lnTo>
                <a:lnTo>
                  <a:pt x="344" y="19"/>
                </a:lnTo>
                <a:lnTo>
                  <a:pt x="327" y="28"/>
                </a:lnTo>
                <a:lnTo>
                  <a:pt x="311" y="39"/>
                </a:lnTo>
                <a:lnTo>
                  <a:pt x="295" y="51"/>
                </a:lnTo>
                <a:lnTo>
                  <a:pt x="278" y="65"/>
                </a:lnTo>
                <a:lnTo>
                  <a:pt x="262" y="81"/>
                </a:lnTo>
                <a:lnTo>
                  <a:pt x="246" y="97"/>
                </a:lnTo>
                <a:lnTo>
                  <a:pt x="229" y="114"/>
                </a:lnTo>
                <a:lnTo>
                  <a:pt x="213" y="132"/>
                </a:lnTo>
                <a:lnTo>
                  <a:pt x="196" y="150"/>
                </a:lnTo>
                <a:lnTo>
                  <a:pt x="180" y="167"/>
                </a:lnTo>
                <a:lnTo>
                  <a:pt x="164" y="185"/>
                </a:lnTo>
                <a:lnTo>
                  <a:pt x="147" y="202"/>
                </a:lnTo>
                <a:lnTo>
                  <a:pt x="131" y="218"/>
                </a:lnTo>
                <a:lnTo>
                  <a:pt x="114" y="234"/>
                </a:lnTo>
                <a:lnTo>
                  <a:pt x="98" y="248"/>
                </a:lnTo>
                <a:lnTo>
                  <a:pt x="82" y="260"/>
                </a:lnTo>
                <a:lnTo>
                  <a:pt x="65" y="271"/>
                </a:lnTo>
                <a:lnTo>
                  <a:pt x="49" y="280"/>
                </a:lnTo>
                <a:lnTo>
                  <a:pt x="33" y="287"/>
                </a:lnTo>
                <a:lnTo>
                  <a:pt x="16" y="291"/>
                </a:lnTo>
                <a:lnTo>
                  <a:pt x="0" y="292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Freeform 57"/>
          <p:cNvSpPr/>
          <p:nvPr/>
        </p:nvSpPr>
        <p:spPr>
          <a:xfrm>
            <a:off x="2057400" y="3895725"/>
            <a:ext cx="3743325" cy="1552575"/>
          </a:xfrm>
          <a:custGeom>
            <a:avLst/>
            <a:gdLst/>
            <a:ahLst/>
            <a:cxnLst/>
            <a:rect l="l" t="t" r="r" b="b"/>
            <a:pathLst>
              <a:path w="393" h="163">
                <a:moveTo>
                  <a:pt x="0" y="156"/>
                </a:moveTo>
                <a:lnTo>
                  <a:pt x="16" y="156"/>
                </a:lnTo>
                <a:lnTo>
                  <a:pt x="33" y="153"/>
                </a:lnTo>
                <a:lnTo>
                  <a:pt x="49" y="150"/>
                </a:lnTo>
                <a:lnTo>
                  <a:pt x="65" y="145"/>
                </a:lnTo>
                <a:lnTo>
                  <a:pt x="82" y="139"/>
                </a:lnTo>
                <a:lnTo>
                  <a:pt x="98" y="132"/>
                </a:lnTo>
                <a:lnTo>
                  <a:pt x="114" y="124"/>
                </a:lnTo>
                <a:lnTo>
                  <a:pt x="131" y="116"/>
                </a:lnTo>
                <a:lnTo>
                  <a:pt x="147" y="107"/>
                </a:lnTo>
                <a:lnTo>
                  <a:pt x="164" y="98"/>
                </a:lnTo>
                <a:lnTo>
                  <a:pt x="180" y="88"/>
                </a:lnTo>
                <a:lnTo>
                  <a:pt x="196" y="78"/>
                </a:lnTo>
                <a:lnTo>
                  <a:pt x="213" y="69"/>
                </a:lnTo>
                <a:lnTo>
                  <a:pt x="229" y="59"/>
                </a:lnTo>
                <a:lnTo>
                  <a:pt x="246" y="50"/>
                </a:lnTo>
                <a:lnTo>
                  <a:pt x="262" y="41"/>
                </a:lnTo>
                <a:lnTo>
                  <a:pt x="278" y="32"/>
                </a:lnTo>
                <a:lnTo>
                  <a:pt x="295" y="25"/>
                </a:lnTo>
                <a:lnTo>
                  <a:pt x="311" y="18"/>
                </a:lnTo>
                <a:lnTo>
                  <a:pt x="327" y="12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0"/>
                </a:lnTo>
                <a:lnTo>
                  <a:pt x="344" y="14"/>
                </a:lnTo>
                <a:lnTo>
                  <a:pt x="327" y="19"/>
                </a:lnTo>
                <a:lnTo>
                  <a:pt x="311" y="25"/>
                </a:lnTo>
                <a:lnTo>
                  <a:pt x="295" y="32"/>
                </a:lnTo>
                <a:lnTo>
                  <a:pt x="278" y="39"/>
                </a:lnTo>
                <a:lnTo>
                  <a:pt x="262" y="48"/>
                </a:lnTo>
                <a:lnTo>
                  <a:pt x="246" y="57"/>
                </a:lnTo>
                <a:lnTo>
                  <a:pt x="229" y="66"/>
                </a:lnTo>
                <a:lnTo>
                  <a:pt x="213" y="76"/>
                </a:lnTo>
                <a:lnTo>
                  <a:pt x="196" y="85"/>
                </a:lnTo>
                <a:lnTo>
                  <a:pt x="180" y="95"/>
                </a:lnTo>
                <a:lnTo>
                  <a:pt x="164" y="105"/>
                </a:lnTo>
                <a:lnTo>
                  <a:pt x="147" y="114"/>
                </a:lnTo>
                <a:lnTo>
                  <a:pt x="131" y="123"/>
                </a:lnTo>
                <a:lnTo>
                  <a:pt x="114" y="131"/>
                </a:lnTo>
                <a:lnTo>
                  <a:pt x="98" y="139"/>
                </a:lnTo>
                <a:lnTo>
                  <a:pt x="82" y="146"/>
                </a:lnTo>
                <a:lnTo>
                  <a:pt x="65" y="152"/>
                </a:lnTo>
                <a:lnTo>
                  <a:pt x="49" y="157"/>
                </a:lnTo>
                <a:lnTo>
                  <a:pt x="33" y="160"/>
                </a:lnTo>
                <a:lnTo>
                  <a:pt x="16" y="163"/>
                </a:lnTo>
                <a:lnTo>
                  <a:pt x="0" y="163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reeform 58"/>
          <p:cNvSpPr/>
          <p:nvPr/>
        </p:nvSpPr>
        <p:spPr>
          <a:xfrm>
            <a:off x="2057400" y="5076825"/>
            <a:ext cx="3743325" cy="438150"/>
          </a:xfrm>
          <a:custGeom>
            <a:avLst/>
            <a:gdLst/>
            <a:ahLst/>
            <a:cxnLst/>
            <a:rect l="l" t="t" r="r" b="b"/>
            <a:pathLst>
              <a:path w="393" h="46">
                <a:moveTo>
                  <a:pt x="0" y="39"/>
                </a:moveTo>
                <a:lnTo>
                  <a:pt x="16" y="39"/>
                </a:lnTo>
                <a:lnTo>
                  <a:pt x="33" y="39"/>
                </a:lnTo>
                <a:lnTo>
                  <a:pt x="49" y="38"/>
                </a:lnTo>
                <a:lnTo>
                  <a:pt x="65" y="37"/>
                </a:lnTo>
                <a:lnTo>
                  <a:pt x="82" y="35"/>
                </a:lnTo>
                <a:lnTo>
                  <a:pt x="98" y="33"/>
                </a:lnTo>
                <a:lnTo>
                  <a:pt x="114" y="31"/>
                </a:lnTo>
                <a:lnTo>
                  <a:pt x="131" y="29"/>
                </a:lnTo>
                <a:lnTo>
                  <a:pt x="147" y="27"/>
                </a:lnTo>
                <a:lnTo>
                  <a:pt x="164" y="25"/>
                </a:lnTo>
                <a:lnTo>
                  <a:pt x="180" y="22"/>
                </a:lnTo>
                <a:lnTo>
                  <a:pt x="196" y="20"/>
                </a:lnTo>
                <a:lnTo>
                  <a:pt x="213" y="18"/>
                </a:lnTo>
                <a:lnTo>
                  <a:pt x="229" y="15"/>
                </a:lnTo>
                <a:lnTo>
                  <a:pt x="246" y="13"/>
                </a:lnTo>
                <a:lnTo>
                  <a:pt x="262" y="11"/>
                </a:lnTo>
                <a:lnTo>
                  <a:pt x="278" y="9"/>
                </a:lnTo>
                <a:lnTo>
                  <a:pt x="295" y="7"/>
                </a:lnTo>
                <a:lnTo>
                  <a:pt x="311" y="5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7"/>
                </a:lnTo>
                <a:lnTo>
                  <a:pt x="360" y="8"/>
                </a:lnTo>
                <a:lnTo>
                  <a:pt x="344" y="9"/>
                </a:lnTo>
                <a:lnTo>
                  <a:pt x="327" y="10"/>
                </a:lnTo>
                <a:lnTo>
                  <a:pt x="311" y="12"/>
                </a:lnTo>
                <a:lnTo>
                  <a:pt x="295" y="13"/>
                </a:lnTo>
                <a:lnTo>
                  <a:pt x="278" y="15"/>
                </a:lnTo>
                <a:lnTo>
                  <a:pt x="262" y="17"/>
                </a:lnTo>
                <a:lnTo>
                  <a:pt x="246" y="20"/>
                </a:lnTo>
                <a:lnTo>
                  <a:pt x="229" y="22"/>
                </a:lnTo>
                <a:lnTo>
                  <a:pt x="213" y="24"/>
                </a:lnTo>
                <a:lnTo>
                  <a:pt x="196" y="27"/>
                </a:lnTo>
                <a:lnTo>
                  <a:pt x="180" y="29"/>
                </a:lnTo>
                <a:lnTo>
                  <a:pt x="164" y="32"/>
                </a:lnTo>
                <a:lnTo>
                  <a:pt x="147" y="34"/>
                </a:lnTo>
                <a:lnTo>
                  <a:pt x="131" y="36"/>
                </a:lnTo>
                <a:lnTo>
                  <a:pt x="114" y="38"/>
                </a:lnTo>
                <a:lnTo>
                  <a:pt x="98" y="40"/>
                </a:lnTo>
                <a:lnTo>
                  <a:pt x="82" y="42"/>
                </a:lnTo>
                <a:lnTo>
                  <a:pt x="65" y="43"/>
                </a:lnTo>
                <a:lnTo>
                  <a:pt x="49" y="45"/>
                </a:lnTo>
                <a:lnTo>
                  <a:pt x="33" y="45"/>
                </a:lnTo>
                <a:lnTo>
                  <a:pt x="1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Freeform 59"/>
          <p:cNvSpPr/>
          <p:nvPr/>
        </p:nvSpPr>
        <p:spPr>
          <a:xfrm>
            <a:off x="2057400" y="5514975"/>
            <a:ext cx="3743325" cy="361950"/>
          </a:xfrm>
          <a:custGeom>
            <a:avLst/>
            <a:gdLst/>
            <a:ahLst/>
            <a:cxnLst/>
            <a:rect l="l" t="t" r="r" b="b"/>
            <a:pathLst>
              <a:path w="393" h="38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4"/>
                </a:lnTo>
                <a:lnTo>
                  <a:pt x="98" y="6"/>
                </a:lnTo>
                <a:lnTo>
                  <a:pt x="114" y="7"/>
                </a:lnTo>
                <a:lnTo>
                  <a:pt x="131" y="9"/>
                </a:lnTo>
                <a:lnTo>
                  <a:pt x="147" y="11"/>
                </a:lnTo>
                <a:lnTo>
                  <a:pt x="164" y="13"/>
                </a:lnTo>
                <a:lnTo>
                  <a:pt x="180" y="15"/>
                </a:lnTo>
                <a:lnTo>
                  <a:pt x="196" y="17"/>
                </a:lnTo>
                <a:lnTo>
                  <a:pt x="213" y="20"/>
                </a:lnTo>
                <a:lnTo>
                  <a:pt x="229" y="22"/>
                </a:lnTo>
                <a:lnTo>
                  <a:pt x="246" y="24"/>
                </a:lnTo>
                <a:lnTo>
                  <a:pt x="262" y="26"/>
                </a:lnTo>
                <a:lnTo>
                  <a:pt x="278" y="27"/>
                </a:lnTo>
                <a:lnTo>
                  <a:pt x="295" y="29"/>
                </a:lnTo>
                <a:lnTo>
                  <a:pt x="311" y="31"/>
                </a:lnTo>
                <a:lnTo>
                  <a:pt x="327" y="32"/>
                </a:lnTo>
                <a:lnTo>
                  <a:pt x="344" y="33"/>
                </a:lnTo>
                <a:lnTo>
                  <a:pt x="360" y="34"/>
                </a:lnTo>
                <a:lnTo>
                  <a:pt x="377" y="34"/>
                </a:lnTo>
                <a:lnTo>
                  <a:pt x="393" y="34"/>
                </a:lnTo>
                <a:lnTo>
                  <a:pt x="393" y="38"/>
                </a:lnTo>
                <a:lnTo>
                  <a:pt x="377" y="38"/>
                </a:lnTo>
                <a:lnTo>
                  <a:pt x="360" y="37"/>
                </a:lnTo>
                <a:lnTo>
                  <a:pt x="344" y="36"/>
                </a:lnTo>
                <a:lnTo>
                  <a:pt x="327" y="35"/>
                </a:lnTo>
                <a:lnTo>
                  <a:pt x="311" y="34"/>
                </a:lnTo>
                <a:lnTo>
                  <a:pt x="295" y="32"/>
                </a:lnTo>
                <a:lnTo>
                  <a:pt x="278" y="31"/>
                </a:lnTo>
                <a:lnTo>
                  <a:pt x="262" y="29"/>
                </a:lnTo>
                <a:lnTo>
                  <a:pt x="246" y="27"/>
                </a:lnTo>
                <a:lnTo>
                  <a:pt x="229" y="25"/>
                </a:lnTo>
                <a:lnTo>
                  <a:pt x="213" y="23"/>
                </a:lnTo>
                <a:lnTo>
                  <a:pt x="196" y="21"/>
                </a:lnTo>
                <a:lnTo>
                  <a:pt x="180" y="19"/>
                </a:lnTo>
                <a:lnTo>
                  <a:pt x="164" y="16"/>
                </a:lnTo>
                <a:lnTo>
                  <a:pt x="147" y="14"/>
                </a:lnTo>
                <a:lnTo>
                  <a:pt x="131" y="12"/>
                </a:lnTo>
                <a:lnTo>
                  <a:pt x="114" y="11"/>
                </a:lnTo>
                <a:lnTo>
                  <a:pt x="98" y="9"/>
                </a:lnTo>
                <a:lnTo>
                  <a:pt x="82" y="7"/>
                </a:lnTo>
                <a:lnTo>
                  <a:pt x="65" y="6"/>
                </a:lnTo>
                <a:lnTo>
                  <a:pt x="49" y="5"/>
                </a:lnTo>
                <a:lnTo>
                  <a:pt x="33" y="4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Freeform 60"/>
          <p:cNvSpPr/>
          <p:nvPr/>
        </p:nvSpPr>
        <p:spPr>
          <a:xfrm>
            <a:off x="2057400" y="5553075"/>
            <a:ext cx="3743325" cy="666750"/>
          </a:xfrm>
          <a:custGeom>
            <a:avLst/>
            <a:gdLst/>
            <a:ahLst/>
            <a:cxnLst/>
            <a:rect l="l" t="t" r="r" b="b"/>
            <a:pathLst>
              <a:path w="393" h="70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5"/>
                </a:lnTo>
                <a:lnTo>
                  <a:pt x="82" y="7"/>
                </a:lnTo>
                <a:lnTo>
                  <a:pt x="98" y="10"/>
                </a:lnTo>
                <a:lnTo>
                  <a:pt x="114" y="14"/>
                </a:lnTo>
                <a:lnTo>
                  <a:pt x="131" y="17"/>
                </a:lnTo>
                <a:lnTo>
                  <a:pt x="147" y="21"/>
                </a:lnTo>
                <a:lnTo>
                  <a:pt x="164" y="25"/>
                </a:lnTo>
                <a:lnTo>
                  <a:pt x="180" y="30"/>
                </a:lnTo>
                <a:lnTo>
                  <a:pt x="196" y="34"/>
                </a:lnTo>
                <a:lnTo>
                  <a:pt x="213" y="38"/>
                </a:lnTo>
                <a:lnTo>
                  <a:pt x="229" y="42"/>
                </a:lnTo>
                <a:lnTo>
                  <a:pt x="246" y="47"/>
                </a:lnTo>
                <a:lnTo>
                  <a:pt x="262" y="50"/>
                </a:lnTo>
                <a:lnTo>
                  <a:pt x="278" y="54"/>
                </a:lnTo>
                <a:lnTo>
                  <a:pt x="295" y="58"/>
                </a:lnTo>
                <a:lnTo>
                  <a:pt x="311" y="61"/>
                </a:lnTo>
                <a:lnTo>
                  <a:pt x="327" y="63"/>
                </a:lnTo>
                <a:lnTo>
                  <a:pt x="344" y="65"/>
                </a:lnTo>
                <a:lnTo>
                  <a:pt x="360" y="67"/>
                </a:lnTo>
                <a:lnTo>
                  <a:pt x="377" y="68"/>
                </a:lnTo>
                <a:lnTo>
                  <a:pt x="393" y="68"/>
                </a:lnTo>
                <a:lnTo>
                  <a:pt x="393" y="70"/>
                </a:lnTo>
                <a:lnTo>
                  <a:pt x="377" y="69"/>
                </a:lnTo>
                <a:lnTo>
                  <a:pt x="360" y="68"/>
                </a:lnTo>
                <a:lnTo>
                  <a:pt x="344" y="67"/>
                </a:lnTo>
                <a:lnTo>
                  <a:pt x="327" y="65"/>
                </a:lnTo>
                <a:lnTo>
                  <a:pt x="311" y="62"/>
                </a:lnTo>
                <a:lnTo>
                  <a:pt x="295" y="59"/>
                </a:lnTo>
                <a:lnTo>
                  <a:pt x="278" y="56"/>
                </a:lnTo>
                <a:lnTo>
                  <a:pt x="262" y="52"/>
                </a:lnTo>
                <a:lnTo>
                  <a:pt x="246" y="48"/>
                </a:lnTo>
                <a:lnTo>
                  <a:pt x="229" y="44"/>
                </a:lnTo>
                <a:lnTo>
                  <a:pt x="213" y="40"/>
                </a:lnTo>
                <a:lnTo>
                  <a:pt x="196" y="35"/>
                </a:lnTo>
                <a:lnTo>
                  <a:pt x="180" y="31"/>
                </a:lnTo>
                <a:lnTo>
                  <a:pt x="164" y="27"/>
                </a:lnTo>
                <a:lnTo>
                  <a:pt x="147" y="23"/>
                </a:lnTo>
                <a:lnTo>
                  <a:pt x="131" y="19"/>
                </a:lnTo>
                <a:lnTo>
                  <a:pt x="114" y="15"/>
                </a:lnTo>
                <a:lnTo>
                  <a:pt x="98" y="12"/>
                </a:lnTo>
                <a:lnTo>
                  <a:pt x="82" y="9"/>
                </a:lnTo>
                <a:lnTo>
                  <a:pt x="65" y="6"/>
                </a:lnTo>
                <a:lnTo>
                  <a:pt x="49" y="4"/>
                </a:lnTo>
                <a:lnTo>
                  <a:pt x="33" y="2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reeform 61"/>
          <p:cNvSpPr/>
          <p:nvPr/>
        </p:nvSpPr>
        <p:spPr>
          <a:xfrm>
            <a:off x="2057400" y="2667000"/>
            <a:ext cx="3743325" cy="3028950"/>
          </a:xfrm>
          <a:custGeom>
            <a:avLst/>
            <a:gdLst/>
            <a:ahLst/>
            <a:cxnLst/>
            <a:rect l="l" t="t" r="r" b="b"/>
            <a:pathLst>
              <a:path w="393" h="318">
                <a:moveTo>
                  <a:pt x="0" y="310"/>
                </a:moveTo>
                <a:lnTo>
                  <a:pt x="16" y="308"/>
                </a:lnTo>
                <a:lnTo>
                  <a:pt x="33" y="304"/>
                </a:lnTo>
                <a:lnTo>
                  <a:pt x="49" y="297"/>
                </a:lnTo>
                <a:lnTo>
                  <a:pt x="65" y="287"/>
                </a:lnTo>
                <a:lnTo>
                  <a:pt x="82" y="275"/>
                </a:lnTo>
                <a:lnTo>
                  <a:pt x="98" y="261"/>
                </a:lnTo>
                <a:lnTo>
                  <a:pt x="114" y="246"/>
                </a:lnTo>
                <a:lnTo>
                  <a:pt x="131" y="230"/>
                </a:lnTo>
                <a:lnTo>
                  <a:pt x="147" y="212"/>
                </a:lnTo>
                <a:lnTo>
                  <a:pt x="164" y="193"/>
                </a:lnTo>
                <a:lnTo>
                  <a:pt x="180" y="174"/>
                </a:lnTo>
                <a:lnTo>
                  <a:pt x="196" y="155"/>
                </a:lnTo>
                <a:lnTo>
                  <a:pt x="213" y="136"/>
                </a:lnTo>
                <a:lnTo>
                  <a:pt x="229" y="116"/>
                </a:lnTo>
                <a:lnTo>
                  <a:pt x="246" y="98"/>
                </a:lnTo>
                <a:lnTo>
                  <a:pt x="262" y="80"/>
                </a:lnTo>
                <a:lnTo>
                  <a:pt x="278" y="64"/>
                </a:lnTo>
                <a:lnTo>
                  <a:pt x="295" y="48"/>
                </a:lnTo>
                <a:lnTo>
                  <a:pt x="311" y="35"/>
                </a:lnTo>
                <a:lnTo>
                  <a:pt x="327" y="23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8"/>
                </a:lnTo>
                <a:lnTo>
                  <a:pt x="377" y="10"/>
                </a:lnTo>
                <a:lnTo>
                  <a:pt x="360" y="14"/>
                </a:lnTo>
                <a:lnTo>
                  <a:pt x="344" y="21"/>
                </a:lnTo>
                <a:lnTo>
                  <a:pt x="327" y="31"/>
                </a:lnTo>
                <a:lnTo>
                  <a:pt x="311" y="43"/>
                </a:lnTo>
                <a:lnTo>
                  <a:pt x="295" y="57"/>
                </a:lnTo>
                <a:lnTo>
                  <a:pt x="278" y="72"/>
                </a:lnTo>
                <a:lnTo>
                  <a:pt x="262" y="88"/>
                </a:lnTo>
                <a:lnTo>
                  <a:pt x="246" y="106"/>
                </a:lnTo>
                <a:lnTo>
                  <a:pt x="229" y="125"/>
                </a:lnTo>
                <a:lnTo>
                  <a:pt x="213" y="144"/>
                </a:lnTo>
                <a:lnTo>
                  <a:pt x="196" y="163"/>
                </a:lnTo>
                <a:lnTo>
                  <a:pt x="180" y="182"/>
                </a:lnTo>
                <a:lnTo>
                  <a:pt x="164" y="202"/>
                </a:lnTo>
                <a:lnTo>
                  <a:pt x="147" y="220"/>
                </a:lnTo>
                <a:lnTo>
                  <a:pt x="131" y="238"/>
                </a:lnTo>
                <a:lnTo>
                  <a:pt x="114" y="254"/>
                </a:lnTo>
                <a:lnTo>
                  <a:pt x="98" y="270"/>
                </a:lnTo>
                <a:lnTo>
                  <a:pt x="82" y="283"/>
                </a:lnTo>
                <a:lnTo>
                  <a:pt x="65" y="295"/>
                </a:lnTo>
                <a:lnTo>
                  <a:pt x="49" y="305"/>
                </a:lnTo>
                <a:lnTo>
                  <a:pt x="33" y="312"/>
                </a:lnTo>
                <a:lnTo>
                  <a:pt x="16" y="317"/>
                </a:lnTo>
                <a:lnTo>
                  <a:pt x="0" y="318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2057400" y="3962400"/>
            <a:ext cx="3743325" cy="1790700"/>
          </a:xfrm>
          <a:custGeom>
            <a:avLst/>
            <a:gdLst/>
            <a:ahLst/>
            <a:cxnLst/>
            <a:rect l="l" t="t" r="r" b="b"/>
            <a:pathLst>
              <a:path w="393" h="188">
                <a:moveTo>
                  <a:pt x="0" y="182"/>
                </a:moveTo>
                <a:lnTo>
                  <a:pt x="16" y="181"/>
                </a:lnTo>
                <a:lnTo>
                  <a:pt x="33" y="179"/>
                </a:lnTo>
                <a:lnTo>
                  <a:pt x="49" y="174"/>
                </a:lnTo>
                <a:lnTo>
                  <a:pt x="65" y="169"/>
                </a:lnTo>
                <a:lnTo>
                  <a:pt x="82" y="162"/>
                </a:lnTo>
                <a:lnTo>
                  <a:pt x="98" y="154"/>
                </a:lnTo>
                <a:lnTo>
                  <a:pt x="114" y="145"/>
                </a:lnTo>
                <a:lnTo>
                  <a:pt x="131" y="135"/>
                </a:lnTo>
                <a:lnTo>
                  <a:pt x="147" y="125"/>
                </a:lnTo>
                <a:lnTo>
                  <a:pt x="164" y="114"/>
                </a:lnTo>
                <a:lnTo>
                  <a:pt x="180" y="103"/>
                </a:lnTo>
                <a:lnTo>
                  <a:pt x="196" y="91"/>
                </a:lnTo>
                <a:lnTo>
                  <a:pt x="213" y="80"/>
                </a:lnTo>
                <a:lnTo>
                  <a:pt x="229" y="69"/>
                </a:lnTo>
                <a:lnTo>
                  <a:pt x="246" y="58"/>
                </a:lnTo>
                <a:lnTo>
                  <a:pt x="262" y="48"/>
                </a:lnTo>
                <a:lnTo>
                  <a:pt x="278" y="38"/>
                </a:lnTo>
                <a:lnTo>
                  <a:pt x="295" y="29"/>
                </a:lnTo>
                <a:lnTo>
                  <a:pt x="311" y="21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7"/>
                </a:lnTo>
                <a:lnTo>
                  <a:pt x="377" y="8"/>
                </a:lnTo>
                <a:lnTo>
                  <a:pt x="360" y="10"/>
                </a:lnTo>
                <a:lnTo>
                  <a:pt x="344" y="14"/>
                </a:lnTo>
                <a:lnTo>
                  <a:pt x="327" y="20"/>
                </a:lnTo>
                <a:lnTo>
                  <a:pt x="311" y="27"/>
                </a:lnTo>
                <a:lnTo>
                  <a:pt x="295" y="35"/>
                </a:lnTo>
                <a:lnTo>
                  <a:pt x="278" y="44"/>
                </a:lnTo>
                <a:lnTo>
                  <a:pt x="262" y="54"/>
                </a:lnTo>
                <a:lnTo>
                  <a:pt x="246" y="64"/>
                </a:lnTo>
                <a:lnTo>
                  <a:pt x="229" y="75"/>
                </a:lnTo>
                <a:lnTo>
                  <a:pt x="213" y="86"/>
                </a:lnTo>
                <a:lnTo>
                  <a:pt x="196" y="98"/>
                </a:lnTo>
                <a:lnTo>
                  <a:pt x="180" y="109"/>
                </a:lnTo>
                <a:lnTo>
                  <a:pt x="164" y="120"/>
                </a:lnTo>
                <a:lnTo>
                  <a:pt x="147" y="131"/>
                </a:lnTo>
                <a:lnTo>
                  <a:pt x="131" y="141"/>
                </a:lnTo>
                <a:lnTo>
                  <a:pt x="114" y="151"/>
                </a:lnTo>
                <a:lnTo>
                  <a:pt x="98" y="160"/>
                </a:lnTo>
                <a:lnTo>
                  <a:pt x="82" y="168"/>
                </a:lnTo>
                <a:lnTo>
                  <a:pt x="65" y="175"/>
                </a:lnTo>
                <a:lnTo>
                  <a:pt x="49" y="181"/>
                </a:lnTo>
                <a:lnTo>
                  <a:pt x="33" y="185"/>
                </a:lnTo>
                <a:lnTo>
                  <a:pt x="16" y="188"/>
                </a:lnTo>
                <a:lnTo>
                  <a:pt x="0" y="188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2057400" y="5143500"/>
            <a:ext cx="3743325" cy="666750"/>
          </a:xfrm>
          <a:custGeom>
            <a:avLst/>
            <a:gdLst/>
            <a:ahLst/>
            <a:cxnLst/>
            <a:rect l="l" t="t" r="r" b="b"/>
            <a:pathLst>
              <a:path w="393" h="70">
                <a:moveTo>
                  <a:pt x="0" y="64"/>
                </a:moveTo>
                <a:lnTo>
                  <a:pt x="16" y="64"/>
                </a:lnTo>
                <a:lnTo>
                  <a:pt x="33" y="63"/>
                </a:lnTo>
                <a:lnTo>
                  <a:pt x="49" y="62"/>
                </a:lnTo>
                <a:lnTo>
                  <a:pt x="65" y="60"/>
                </a:lnTo>
                <a:lnTo>
                  <a:pt x="82" y="57"/>
                </a:lnTo>
                <a:lnTo>
                  <a:pt x="98" y="54"/>
                </a:lnTo>
                <a:lnTo>
                  <a:pt x="114" y="51"/>
                </a:lnTo>
                <a:lnTo>
                  <a:pt x="131" y="48"/>
                </a:lnTo>
                <a:lnTo>
                  <a:pt x="147" y="44"/>
                </a:lnTo>
                <a:lnTo>
                  <a:pt x="164" y="40"/>
                </a:lnTo>
                <a:lnTo>
                  <a:pt x="180" y="36"/>
                </a:lnTo>
                <a:lnTo>
                  <a:pt x="196" y="32"/>
                </a:lnTo>
                <a:lnTo>
                  <a:pt x="213" y="28"/>
                </a:lnTo>
                <a:lnTo>
                  <a:pt x="229" y="24"/>
                </a:lnTo>
                <a:lnTo>
                  <a:pt x="246" y="21"/>
                </a:lnTo>
                <a:lnTo>
                  <a:pt x="262" y="17"/>
                </a:lnTo>
                <a:lnTo>
                  <a:pt x="278" y="13"/>
                </a:lnTo>
                <a:lnTo>
                  <a:pt x="295" y="10"/>
                </a:lnTo>
                <a:lnTo>
                  <a:pt x="311" y="7"/>
                </a:lnTo>
                <a:lnTo>
                  <a:pt x="327" y="5"/>
                </a:lnTo>
                <a:lnTo>
                  <a:pt x="344" y="3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7"/>
                </a:lnTo>
                <a:lnTo>
                  <a:pt x="344" y="9"/>
                </a:lnTo>
                <a:lnTo>
                  <a:pt x="327" y="11"/>
                </a:lnTo>
                <a:lnTo>
                  <a:pt x="311" y="13"/>
                </a:lnTo>
                <a:lnTo>
                  <a:pt x="295" y="16"/>
                </a:lnTo>
                <a:lnTo>
                  <a:pt x="278" y="19"/>
                </a:lnTo>
                <a:lnTo>
                  <a:pt x="262" y="23"/>
                </a:lnTo>
                <a:lnTo>
                  <a:pt x="246" y="26"/>
                </a:lnTo>
                <a:lnTo>
                  <a:pt x="229" y="30"/>
                </a:lnTo>
                <a:lnTo>
                  <a:pt x="213" y="34"/>
                </a:lnTo>
                <a:lnTo>
                  <a:pt x="196" y="38"/>
                </a:lnTo>
                <a:lnTo>
                  <a:pt x="180" y="42"/>
                </a:lnTo>
                <a:lnTo>
                  <a:pt x="164" y="46"/>
                </a:lnTo>
                <a:lnTo>
                  <a:pt x="147" y="50"/>
                </a:lnTo>
                <a:lnTo>
                  <a:pt x="131" y="54"/>
                </a:lnTo>
                <a:lnTo>
                  <a:pt x="114" y="57"/>
                </a:lnTo>
                <a:lnTo>
                  <a:pt x="98" y="60"/>
                </a:lnTo>
                <a:lnTo>
                  <a:pt x="82" y="63"/>
                </a:lnTo>
                <a:lnTo>
                  <a:pt x="65" y="65"/>
                </a:lnTo>
                <a:lnTo>
                  <a:pt x="49" y="67"/>
                </a:lnTo>
                <a:lnTo>
                  <a:pt x="33" y="69"/>
                </a:lnTo>
                <a:lnTo>
                  <a:pt x="16" y="70"/>
                </a:lnTo>
                <a:lnTo>
                  <a:pt x="0" y="70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Freeform 64"/>
          <p:cNvSpPr/>
          <p:nvPr/>
        </p:nvSpPr>
        <p:spPr>
          <a:xfrm>
            <a:off x="2057400" y="5810250"/>
            <a:ext cx="3743325" cy="85725"/>
          </a:xfrm>
          <a:custGeom>
            <a:avLst/>
            <a:gdLst/>
            <a:ahLst/>
            <a:cxnLst/>
            <a:rect l="l" t="t" r="r" b="b"/>
            <a:pathLst>
              <a:path w="393" h="9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1"/>
                </a:lnTo>
                <a:lnTo>
                  <a:pt x="98" y="1"/>
                </a:lnTo>
                <a:lnTo>
                  <a:pt x="114" y="2"/>
                </a:lnTo>
                <a:lnTo>
                  <a:pt x="131" y="2"/>
                </a:lnTo>
                <a:lnTo>
                  <a:pt x="147" y="2"/>
                </a:lnTo>
                <a:lnTo>
                  <a:pt x="164" y="3"/>
                </a:lnTo>
                <a:lnTo>
                  <a:pt x="180" y="3"/>
                </a:lnTo>
                <a:lnTo>
                  <a:pt x="196" y="3"/>
                </a:lnTo>
                <a:lnTo>
                  <a:pt x="213" y="4"/>
                </a:lnTo>
                <a:lnTo>
                  <a:pt x="229" y="4"/>
                </a:lnTo>
                <a:lnTo>
                  <a:pt x="246" y="5"/>
                </a:lnTo>
                <a:lnTo>
                  <a:pt x="262" y="5"/>
                </a:lnTo>
                <a:lnTo>
                  <a:pt x="278" y="5"/>
                </a:lnTo>
                <a:lnTo>
                  <a:pt x="295" y="6"/>
                </a:lnTo>
                <a:lnTo>
                  <a:pt x="311" y="6"/>
                </a:lnTo>
                <a:lnTo>
                  <a:pt x="327" y="6"/>
                </a:lnTo>
                <a:lnTo>
                  <a:pt x="344" y="7"/>
                </a:lnTo>
                <a:lnTo>
                  <a:pt x="360" y="7"/>
                </a:lnTo>
                <a:lnTo>
                  <a:pt x="377" y="7"/>
                </a:lnTo>
                <a:lnTo>
                  <a:pt x="393" y="7"/>
                </a:lnTo>
                <a:lnTo>
                  <a:pt x="393" y="9"/>
                </a:lnTo>
                <a:lnTo>
                  <a:pt x="377" y="9"/>
                </a:lnTo>
                <a:lnTo>
                  <a:pt x="360" y="9"/>
                </a:lnTo>
                <a:lnTo>
                  <a:pt x="344" y="9"/>
                </a:lnTo>
                <a:lnTo>
                  <a:pt x="327" y="9"/>
                </a:lnTo>
                <a:lnTo>
                  <a:pt x="311" y="8"/>
                </a:lnTo>
                <a:lnTo>
                  <a:pt x="295" y="8"/>
                </a:lnTo>
                <a:lnTo>
                  <a:pt x="278" y="8"/>
                </a:lnTo>
                <a:lnTo>
                  <a:pt x="262" y="7"/>
                </a:lnTo>
                <a:lnTo>
                  <a:pt x="246" y="7"/>
                </a:lnTo>
                <a:lnTo>
                  <a:pt x="229" y="7"/>
                </a:lnTo>
                <a:lnTo>
                  <a:pt x="213" y="6"/>
                </a:lnTo>
                <a:lnTo>
                  <a:pt x="196" y="6"/>
                </a:lnTo>
                <a:lnTo>
                  <a:pt x="180" y="5"/>
                </a:lnTo>
                <a:lnTo>
                  <a:pt x="164" y="5"/>
                </a:lnTo>
                <a:lnTo>
                  <a:pt x="147" y="5"/>
                </a:lnTo>
                <a:lnTo>
                  <a:pt x="131" y="4"/>
                </a:lnTo>
                <a:lnTo>
                  <a:pt x="114" y="4"/>
                </a:lnTo>
                <a:lnTo>
                  <a:pt x="98" y="3"/>
                </a:lnTo>
                <a:lnTo>
                  <a:pt x="82" y="3"/>
                </a:lnTo>
                <a:lnTo>
                  <a:pt x="65" y="3"/>
                </a:lnTo>
                <a:lnTo>
                  <a:pt x="49" y="3"/>
                </a:lnTo>
                <a:lnTo>
                  <a:pt x="33" y="3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Freeform 65"/>
          <p:cNvSpPr/>
          <p:nvPr/>
        </p:nvSpPr>
        <p:spPr>
          <a:xfrm>
            <a:off x="2057400" y="5829300"/>
            <a:ext cx="3743325" cy="400050"/>
          </a:xfrm>
          <a:custGeom>
            <a:avLst/>
            <a:gdLst/>
            <a:ahLst/>
            <a:cxnLst/>
            <a:rect l="l" t="t" r="r" b="b"/>
            <a:pathLst>
              <a:path w="393" h="42">
                <a:moveTo>
                  <a:pt x="0" y="0"/>
                </a:moveTo>
                <a:lnTo>
                  <a:pt x="16" y="1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9"/>
                </a:lnTo>
                <a:lnTo>
                  <a:pt x="131" y="11"/>
                </a:lnTo>
                <a:lnTo>
                  <a:pt x="147" y="13"/>
                </a:lnTo>
                <a:lnTo>
                  <a:pt x="164" y="16"/>
                </a:lnTo>
                <a:lnTo>
                  <a:pt x="180" y="18"/>
                </a:lnTo>
                <a:lnTo>
                  <a:pt x="196" y="21"/>
                </a:lnTo>
                <a:lnTo>
                  <a:pt x="213" y="23"/>
                </a:lnTo>
                <a:lnTo>
                  <a:pt x="229" y="26"/>
                </a:lnTo>
                <a:lnTo>
                  <a:pt x="246" y="28"/>
                </a:lnTo>
                <a:lnTo>
                  <a:pt x="262" y="30"/>
                </a:lnTo>
                <a:lnTo>
                  <a:pt x="278" y="32"/>
                </a:lnTo>
                <a:lnTo>
                  <a:pt x="295" y="34"/>
                </a:lnTo>
                <a:lnTo>
                  <a:pt x="311" y="36"/>
                </a:lnTo>
                <a:lnTo>
                  <a:pt x="327" y="38"/>
                </a:lnTo>
                <a:lnTo>
                  <a:pt x="344" y="39"/>
                </a:lnTo>
                <a:lnTo>
                  <a:pt x="360" y="40"/>
                </a:lnTo>
                <a:lnTo>
                  <a:pt x="377" y="40"/>
                </a:lnTo>
                <a:lnTo>
                  <a:pt x="393" y="41"/>
                </a:lnTo>
                <a:lnTo>
                  <a:pt x="393" y="42"/>
                </a:lnTo>
                <a:lnTo>
                  <a:pt x="377" y="41"/>
                </a:lnTo>
                <a:lnTo>
                  <a:pt x="360" y="41"/>
                </a:lnTo>
                <a:lnTo>
                  <a:pt x="344" y="40"/>
                </a:lnTo>
                <a:lnTo>
                  <a:pt x="327" y="39"/>
                </a:lnTo>
                <a:lnTo>
                  <a:pt x="311" y="37"/>
                </a:lnTo>
                <a:lnTo>
                  <a:pt x="295" y="35"/>
                </a:lnTo>
                <a:lnTo>
                  <a:pt x="278" y="33"/>
                </a:lnTo>
                <a:lnTo>
                  <a:pt x="262" y="31"/>
                </a:lnTo>
                <a:lnTo>
                  <a:pt x="246" y="29"/>
                </a:lnTo>
                <a:lnTo>
                  <a:pt x="229" y="26"/>
                </a:lnTo>
                <a:lnTo>
                  <a:pt x="213" y="24"/>
                </a:lnTo>
                <a:lnTo>
                  <a:pt x="196" y="21"/>
                </a:lnTo>
                <a:lnTo>
                  <a:pt x="180" y="19"/>
                </a:lnTo>
                <a:lnTo>
                  <a:pt x="164" y="16"/>
                </a:lnTo>
                <a:lnTo>
                  <a:pt x="147" y="14"/>
                </a:lnTo>
                <a:lnTo>
                  <a:pt x="131" y="12"/>
                </a:lnTo>
                <a:lnTo>
                  <a:pt x="114" y="10"/>
                </a:lnTo>
                <a:lnTo>
                  <a:pt x="98" y="8"/>
                </a:lnTo>
                <a:lnTo>
                  <a:pt x="82" y="6"/>
                </a:lnTo>
                <a:lnTo>
                  <a:pt x="65" y="4"/>
                </a:lnTo>
                <a:lnTo>
                  <a:pt x="49" y="3"/>
                </a:lnTo>
                <a:lnTo>
                  <a:pt x="33" y="2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reeform 66"/>
          <p:cNvSpPr/>
          <p:nvPr/>
        </p:nvSpPr>
        <p:spPr>
          <a:xfrm>
            <a:off x="2057400" y="2743200"/>
            <a:ext cx="3743325" cy="3219450"/>
          </a:xfrm>
          <a:custGeom>
            <a:avLst/>
            <a:gdLst/>
            <a:ahLst/>
            <a:cxnLst/>
            <a:rect l="l" t="t" r="r" b="b"/>
            <a:pathLst>
              <a:path w="393" h="338">
                <a:moveTo>
                  <a:pt x="0" y="331"/>
                </a:moveTo>
                <a:lnTo>
                  <a:pt x="16" y="330"/>
                </a:lnTo>
                <a:lnTo>
                  <a:pt x="33" y="325"/>
                </a:lnTo>
                <a:lnTo>
                  <a:pt x="49" y="317"/>
                </a:lnTo>
                <a:lnTo>
                  <a:pt x="65" y="307"/>
                </a:lnTo>
                <a:lnTo>
                  <a:pt x="82" y="294"/>
                </a:lnTo>
                <a:lnTo>
                  <a:pt x="98" y="280"/>
                </a:lnTo>
                <a:lnTo>
                  <a:pt x="114" y="263"/>
                </a:lnTo>
                <a:lnTo>
                  <a:pt x="131" y="245"/>
                </a:lnTo>
                <a:lnTo>
                  <a:pt x="147" y="226"/>
                </a:lnTo>
                <a:lnTo>
                  <a:pt x="164" y="207"/>
                </a:lnTo>
                <a:lnTo>
                  <a:pt x="180" y="186"/>
                </a:lnTo>
                <a:lnTo>
                  <a:pt x="196" y="166"/>
                </a:lnTo>
                <a:lnTo>
                  <a:pt x="213" y="145"/>
                </a:lnTo>
                <a:lnTo>
                  <a:pt x="229" y="125"/>
                </a:lnTo>
                <a:lnTo>
                  <a:pt x="246" y="105"/>
                </a:lnTo>
                <a:lnTo>
                  <a:pt x="262" y="86"/>
                </a:lnTo>
                <a:lnTo>
                  <a:pt x="278" y="68"/>
                </a:lnTo>
                <a:lnTo>
                  <a:pt x="295" y="52"/>
                </a:lnTo>
                <a:lnTo>
                  <a:pt x="311" y="37"/>
                </a:lnTo>
                <a:lnTo>
                  <a:pt x="327" y="25"/>
                </a:lnTo>
                <a:lnTo>
                  <a:pt x="344" y="14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6"/>
                </a:lnTo>
                <a:lnTo>
                  <a:pt x="377" y="8"/>
                </a:lnTo>
                <a:lnTo>
                  <a:pt x="360" y="13"/>
                </a:lnTo>
                <a:lnTo>
                  <a:pt x="344" y="21"/>
                </a:lnTo>
                <a:lnTo>
                  <a:pt x="327" y="31"/>
                </a:lnTo>
                <a:lnTo>
                  <a:pt x="311" y="43"/>
                </a:lnTo>
                <a:lnTo>
                  <a:pt x="295" y="58"/>
                </a:lnTo>
                <a:lnTo>
                  <a:pt x="278" y="74"/>
                </a:lnTo>
                <a:lnTo>
                  <a:pt x="262" y="92"/>
                </a:lnTo>
                <a:lnTo>
                  <a:pt x="246" y="111"/>
                </a:lnTo>
                <a:lnTo>
                  <a:pt x="229" y="131"/>
                </a:lnTo>
                <a:lnTo>
                  <a:pt x="213" y="151"/>
                </a:lnTo>
                <a:lnTo>
                  <a:pt x="196" y="172"/>
                </a:lnTo>
                <a:lnTo>
                  <a:pt x="180" y="193"/>
                </a:lnTo>
                <a:lnTo>
                  <a:pt x="164" y="213"/>
                </a:lnTo>
                <a:lnTo>
                  <a:pt x="147" y="233"/>
                </a:lnTo>
                <a:lnTo>
                  <a:pt x="131" y="252"/>
                </a:lnTo>
                <a:lnTo>
                  <a:pt x="114" y="269"/>
                </a:lnTo>
                <a:lnTo>
                  <a:pt x="98" y="286"/>
                </a:lnTo>
                <a:lnTo>
                  <a:pt x="82" y="300"/>
                </a:lnTo>
                <a:lnTo>
                  <a:pt x="65" y="313"/>
                </a:lnTo>
                <a:lnTo>
                  <a:pt x="49" y="323"/>
                </a:lnTo>
                <a:lnTo>
                  <a:pt x="33" y="331"/>
                </a:lnTo>
                <a:lnTo>
                  <a:pt x="16" y="336"/>
                </a:lnTo>
                <a:lnTo>
                  <a:pt x="0" y="338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Freeform 67"/>
          <p:cNvSpPr/>
          <p:nvPr/>
        </p:nvSpPr>
        <p:spPr>
          <a:xfrm>
            <a:off x="2057400" y="4029075"/>
            <a:ext cx="3743325" cy="1971675"/>
          </a:xfrm>
          <a:custGeom>
            <a:avLst/>
            <a:gdLst/>
            <a:ahLst/>
            <a:cxnLst/>
            <a:rect l="l" t="t" r="r" b="b"/>
            <a:pathLst>
              <a:path w="393" h="207">
                <a:moveTo>
                  <a:pt x="0" y="203"/>
                </a:moveTo>
                <a:lnTo>
                  <a:pt x="16" y="201"/>
                </a:lnTo>
                <a:lnTo>
                  <a:pt x="33" y="199"/>
                </a:lnTo>
                <a:lnTo>
                  <a:pt x="49" y="194"/>
                </a:lnTo>
                <a:lnTo>
                  <a:pt x="65" y="187"/>
                </a:lnTo>
                <a:lnTo>
                  <a:pt x="82" y="180"/>
                </a:lnTo>
                <a:lnTo>
                  <a:pt x="98" y="171"/>
                </a:lnTo>
                <a:lnTo>
                  <a:pt x="114" y="161"/>
                </a:lnTo>
                <a:lnTo>
                  <a:pt x="131" y="150"/>
                </a:lnTo>
                <a:lnTo>
                  <a:pt x="147" y="138"/>
                </a:lnTo>
                <a:lnTo>
                  <a:pt x="164" y="126"/>
                </a:lnTo>
                <a:lnTo>
                  <a:pt x="180" y="114"/>
                </a:lnTo>
                <a:lnTo>
                  <a:pt x="196" y="101"/>
                </a:lnTo>
                <a:lnTo>
                  <a:pt x="213" y="88"/>
                </a:lnTo>
                <a:lnTo>
                  <a:pt x="229" y="76"/>
                </a:lnTo>
                <a:lnTo>
                  <a:pt x="246" y="64"/>
                </a:lnTo>
                <a:lnTo>
                  <a:pt x="262" y="52"/>
                </a:lnTo>
                <a:lnTo>
                  <a:pt x="278" y="41"/>
                </a:lnTo>
                <a:lnTo>
                  <a:pt x="295" y="31"/>
                </a:lnTo>
                <a:lnTo>
                  <a:pt x="311" y="22"/>
                </a:lnTo>
                <a:lnTo>
                  <a:pt x="327" y="15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8"/>
                </a:lnTo>
                <a:lnTo>
                  <a:pt x="344" y="13"/>
                </a:lnTo>
                <a:lnTo>
                  <a:pt x="327" y="19"/>
                </a:lnTo>
                <a:lnTo>
                  <a:pt x="311" y="27"/>
                </a:lnTo>
                <a:lnTo>
                  <a:pt x="295" y="36"/>
                </a:lnTo>
                <a:lnTo>
                  <a:pt x="278" y="46"/>
                </a:lnTo>
                <a:lnTo>
                  <a:pt x="262" y="57"/>
                </a:lnTo>
                <a:lnTo>
                  <a:pt x="246" y="69"/>
                </a:lnTo>
                <a:lnTo>
                  <a:pt x="229" y="81"/>
                </a:lnTo>
                <a:lnTo>
                  <a:pt x="213" y="93"/>
                </a:lnTo>
                <a:lnTo>
                  <a:pt x="196" y="106"/>
                </a:lnTo>
                <a:lnTo>
                  <a:pt x="180" y="118"/>
                </a:lnTo>
                <a:lnTo>
                  <a:pt x="164" y="131"/>
                </a:lnTo>
                <a:lnTo>
                  <a:pt x="147" y="143"/>
                </a:lnTo>
                <a:lnTo>
                  <a:pt x="131" y="155"/>
                </a:lnTo>
                <a:lnTo>
                  <a:pt x="114" y="166"/>
                </a:lnTo>
                <a:lnTo>
                  <a:pt x="98" y="176"/>
                </a:lnTo>
                <a:lnTo>
                  <a:pt x="82" y="184"/>
                </a:lnTo>
                <a:lnTo>
                  <a:pt x="65" y="192"/>
                </a:lnTo>
                <a:lnTo>
                  <a:pt x="49" y="198"/>
                </a:lnTo>
                <a:lnTo>
                  <a:pt x="33" y="203"/>
                </a:lnTo>
                <a:lnTo>
                  <a:pt x="16" y="206"/>
                </a:lnTo>
                <a:lnTo>
                  <a:pt x="0" y="207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2057400" y="5200650"/>
            <a:ext cx="3743325" cy="847725"/>
          </a:xfrm>
          <a:custGeom>
            <a:avLst/>
            <a:gdLst/>
            <a:ahLst/>
            <a:cxnLst/>
            <a:rect l="l" t="t" r="r" b="b"/>
            <a:pathLst>
              <a:path w="393" h="89">
                <a:moveTo>
                  <a:pt x="0" y="84"/>
                </a:moveTo>
                <a:lnTo>
                  <a:pt x="16" y="84"/>
                </a:lnTo>
                <a:lnTo>
                  <a:pt x="33" y="83"/>
                </a:lnTo>
                <a:lnTo>
                  <a:pt x="49" y="81"/>
                </a:lnTo>
                <a:lnTo>
                  <a:pt x="65" y="78"/>
                </a:lnTo>
                <a:lnTo>
                  <a:pt x="82" y="75"/>
                </a:lnTo>
                <a:lnTo>
                  <a:pt x="98" y="71"/>
                </a:lnTo>
                <a:lnTo>
                  <a:pt x="114" y="67"/>
                </a:lnTo>
                <a:lnTo>
                  <a:pt x="131" y="62"/>
                </a:lnTo>
                <a:lnTo>
                  <a:pt x="147" y="58"/>
                </a:lnTo>
                <a:lnTo>
                  <a:pt x="164" y="53"/>
                </a:lnTo>
                <a:lnTo>
                  <a:pt x="180" y="47"/>
                </a:lnTo>
                <a:lnTo>
                  <a:pt x="196" y="42"/>
                </a:lnTo>
                <a:lnTo>
                  <a:pt x="213" y="37"/>
                </a:lnTo>
                <a:lnTo>
                  <a:pt x="229" y="32"/>
                </a:lnTo>
                <a:lnTo>
                  <a:pt x="246" y="27"/>
                </a:lnTo>
                <a:lnTo>
                  <a:pt x="262" y="22"/>
                </a:lnTo>
                <a:lnTo>
                  <a:pt x="278" y="17"/>
                </a:lnTo>
                <a:lnTo>
                  <a:pt x="295" y="13"/>
                </a:lnTo>
                <a:lnTo>
                  <a:pt x="311" y="9"/>
                </a:lnTo>
                <a:lnTo>
                  <a:pt x="327" y="6"/>
                </a:lnTo>
                <a:lnTo>
                  <a:pt x="344" y="4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6"/>
                </a:lnTo>
                <a:lnTo>
                  <a:pt x="344" y="8"/>
                </a:lnTo>
                <a:lnTo>
                  <a:pt x="327" y="11"/>
                </a:lnTo>
                <a:lnTo>
                  <a:pt x="311" y="14"/>
                </a:lnTo>
                <a:lnTo>
                  <a:pt x="295" y="18"/>
                </a:lnTo>
                <a:lnTo>
                  <a:pt x="278" y="22"/>
                </a:lnTo>
                <a:lnTo>
                  <a:pt x="262" y="26"/>
                </a:lnTo>
                <a:lnTo>
                  <a:pt x="246" y="31"/>
                </a:lnTo>
                <a:lnTo>
                  <a:pt x="229" y="36"/>
                </a:lnTo>
                <a:lnTo>
                  <a:pt x="213" y="42"/>
                </a:lnTo>
                <a:lnTo>
                  <a:pt x="196" y="47"/>
                </a:lnTo>
                <a:lnTo>
                  <a:pt x="180" y="52"/>
                </a:lnTo>
                <a:lnTo>
                  <a:pt x="164" y="57"/>
                </a:lnTo>
                <a:lnTo>
                  <a:pt x="147" y="62"/>
                </a:lnTo>
                <a:lnTo>
                  <a:pt x="131" y="67"/>
                </a:lnTo>
                <a:lnTo>
                  <a:pt x="114" y="72"/>
                </a:lnTo>
                <a:lnTo>
                  <a:pt x="98" y="76"/>
                </a:lnTo>
                <a:lnTo>
                  <a:pt x="82" y="79"/>
                </a:lnTo>
                <a:lnTo>
                  <a:pt x="65" y="83"/>
                </a:lnTo>
                <a:lnTo>
                  <a:pt x="49" y="85"/>
                </a:lnTo>
                <a:lnTo>
                  <a:pt x="33" y="87"/>
                </a:lnTo>
                <a:lnTo>
                  <a:pt x="16" y="88"/>
                </a:lnTo>
                <a:lnTo>
                  <a:pt x="0" y="89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Freeform 69"/>
          <p:cNvSpPr/>
          <p:nvPr/>
        </p:nvSpPr>
        <p:spPr>
          <a:xfrm>
            <a:off x="2057400" y="5895975"/>
            <a:ext cx="3743325" cy="180975"/>
          </a:xfrm>
          <a:custGeom>
            <a:avLst/>
            <a:gdLst/>
            <a:ahLst/>
            <a:cxnLst/>
            <a:rect l="l" t="t" r="r" b="b"/>
            <a:pathLst>
              <a:path w="393" h="19">
                <a:moveTo>
                  <a:pt x="0" y="16"/>
                </a:moveTo>
                <a:lnTo>
                  <a:pt x="16" y="16"/>
                </a:lnTo>
                <a:lnTo>
                  <a:pt x="33" y="16"/>
                </a:lnTo>
                <a:lnTo>
                  <a:pt x="49" y="15"/>
                </a:lnTo>
                <a:lnTo>
                  <a:pt x="65" y="15"/>
                </a:lnTo>
                <a:lnTo>
                  <a:pt x="82" y="14"/>
                </a:lnTo>
                <a:lnTo>
                  <a:pt x="98" y="13"/>
                </a:lnTo>
                <a:lnTo>
                  <a:pt x="114" y="13"/>
                </a:lnTo>
                <a:lnTo>
                  <a:pt x="131" y="12"/>
                </a:lnTo>
                <a:lnTo>
                  <a:pt x="147" y="11"/>
                </a:lnTo>
                <a:lnTo>
                  <a:pt x="164" y="10"/>
                </a:lnTo>
                <a:lnTo>
                  <a:pt x="180" y="9"/>
                </a:lnTo>
                <a:lnTo>
                  <a:pt x="196" y="8"/>
                </a:lnTo>
                <a:lnTo>
                  <a:pt x="213" y="7"/>
                </a:lnTo>
                <a:lnTo>
                  <a:pt x="229" y="6"/>
                </a:lnTo>
                <a:lnTo>
                  <a:pt x="246" y="5"/>
                </a:lnTo>
                <a:lnTo>
                  <a:pt x="262" y="4"/>
                </a:lnTo>
                <a:lnTo>
                  <a:pt x="278" y="3"/>
                </a:lnTo>
                <a:lnTo>
                  <a:pt x="295" y="3"/>
                </a:lnTo>
                <a:lnTo>
                  <a:pt x="311" y="2"/>
                </a:lnTo>
                <a:lnTo>
                  <a:pt x="327" y="1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3"/>
                </a:lnTo>
                <a:lnTo>
                  <a:pt x="344" y="4"/>
                </a:lnTo>
                <a:lnTo>
                  <a:pt x="327" y="4"/>
                </a:lnTo>
                <a:lnTo>
                  <a:pt x="311" y="5"/>
                </a:lnTo>
                <a:lnTo>
                  <a:pt x="295" y="5"/>
                </a:lnTo>
                <a:lnTo>
                  <a:pt x="278" y="6"/>
                </a:lnTo>
                <a:lnTo>
                  <a:pt x="262" y="7"/>
                </a:lnTo>
                <a:lnTo>
                  <a:pt x="246" y="8"/>
                </a:lnTo>
                <a:lnTo>
                  <a:pt x="229" y="9"/>
                </a:lnTo>
                <a:lnTo>
                  <a:pt x="213" y="10"/>
                </a:lnTo>
                <a:lnTo>
                  <a:pt x="196" y="11"/>
                </a:lnTo>
                <a:lnTo>
                  <a:pt x="180" y="12"/>
                </a:lnTo>
                <a:lnTo>
                  <a:pt x="164" y="13"/>
                </a:lnTo>
                <a:lnTo>
                  <a:pt x="147" y="14"/>
                </a:lnTo>
                <a:lnTo>
                  <a:pt x="131" y="15"/>
                </a:lnTo>
                <a:lnTo>
                  <a:pt x="114" y="15"/>
                </a:lnTo>
                <a:lnTo>
                  <a:pt x="98" y="16"/>
                </a:lnTo>
                <a:lnTo>
                  <a:pt x="82" y="17"/>
                </a:lnTo>
                <a:lnTo>
                  <a:pt x="65" y="17"/>
                </a:lnTo>
                <a:lnTo>
                  <a:pt x="49" y="18"/>
                </a:lnTo>
                <a:lnTo>
                  <a:pt x="33" y="18"/>
                </a:lnTo>
                <a:lnTo>
                  <a:pt x="1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Freeform 70"/>
          <p:cNvSpPr/>
          <p:nvPr/>
        </p:nvSpPr>
        <p:spPr>
          <a:xfrm>
            <a:off x="2057400" y="6076950"/>
            <a:ext cx="3743325" cy="161925"/>
          </a:xfrm>
          <a:custGeom>
            <a:avLst/>
            <a:gdLst/>
            <a:ahLst/>
            <a:cxnLst/>
            <a:rect l="l" t="t" r="r" b="b"/>
            <a:pathLst>
              <a:path w="393" h="17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1"/>
                </a:lnTo>
                <a:lnTo>
                  <a:pt x="98" y="2"/>
                </a:lnTo>
                <a:lnTo>
                  <a:pt x="114" y="3"/>
                </a:lnTo>
                <a:lnTo>
                  <a:pt x="131" y="4"/>
                </a:lnTo>
                <a:lnTo>
                  <a:pt x="147" y="5"/>
                </a:lnTo>
                <a:lnTo>
                  <a:pt x="164" y="6"/>
                </a:lnTo>
                <a:lnTo>
                  <a:pt x="180" y="7"/>
                </a:lnTo>
                <a:lnTo>
                  <a:pt x="196" y="8"/>
                </a:lnTo>
                <a:lnTo>
                  <a:pt x="213" y="9"/>
                </a:lnTo>
                <a:lnTo>
                  <a:pt x="229" y="10"/>
                </a:lnTo>
                <a:lnTo>
                  <a:pt x="246" y="10"/>
                </a:lnTo>
                <a:lnTo>
                  <a:pt x="262" y="11"/>
                </a:lnTo>
                <a:lnTo>
                  <a:pt x="278" y="12"/>
                </a:lnTo>
                <a:lnTo>
                  <a:pt x="295" y="13"/>
                </a:lnTo>
                <a:lnTo>
                  <a:pt x="311" y="14"/>
                </a:lnTo>
                <a:lnTo>
                  <a:pt x="327" y="14"/>
                </a:lnTo>
                <a:lnTo>
                  <a:pt x="344" y="15"/>
                </a:lnTo>
                <a:lnTo>
                  <a:pt x="360" y="15"/>
                </a:lnTo>
                <a:lnTo>
                  <a:pt x="377" y="15"/>
                </a:lnTo>
                <a:lnTo>
                  <a:pt x="393" y="16"/>
                </a:lnTo>
                <a:lnTo>
                  <a:pt x="393" y="17"/>
                </a:lnTo>
                <a:lnTo>
                  <a:pt x="377" y="16"/>
                </a:lnTo>
                <a:lnTo>
                  <a:pt x="360" y="16"/>
                </a:lnTo>
                <a:lnTo>
                  <a:pt x="344" y="16"/>
                </a:lnTo>
                <a:lnTo>
                  <a:pt x="327" y="15"/>
                </a:lnTo>
                <a:lnTo>
                  <a:pt x="311" y="15"/>
                </a:lnTo>
                <a:lnTo>
                  <a:pt x="295" y="14"/>
                </a:lnTo>
                <a:lnTo>
                  <a:pt x="278" y="13"/>
                </a:lnTo>
                <a:lnTo>
                  <a:pt x="262" y="12"/>
                </a:lnTo>
                <a:lnTo>
                  <a:pt x="246" y="11"/>
                </a:lnTo>
                <a:lnTo>
                  <a:pt x="229" y="11"/>
                </a:lnTo>
                <a:lnTo>
                  <a:pt x="213" y="10"/>
                </a:lnTo>
                <a:lnTo>
                  <a:pt x="196" y="9"/>
                </a:lnTo>
                <a:lnTo>
                  <a:pt x="180" y="8"/>
                </a:lnTo>
                <a:lnTo>
                  <a:pt x="164" y="7"/>
                </a:lnTo>
                <a:lnTo>
                  <a:pt x="147" y="6"/>
                </a:lnTo>
                <a:lnTo>
                  <a:pt x="131" y="5"/>
                </a:lnTo>
                <a:lnTo>
                  <a:pt x="114" y="4"/>
                </a:lnTo>
                <a:lnTo>
                  <a:pt x="98" y="3"/>
                </a:lnTo>
                <a:lnTo>
                  <a:pt x="82" y="2"/>
                </a:lnTo>
                <a:lnTo>
                  <a:pt x="65" y="2"/>
                </a:lnTo>
                <a:lnTo>
                  <a:pt x="49" y="1"/>
                </a:lnTo>
                <a:lnTo>
                  <a:pt x="33" y="1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Freeform 71"/>
          <p:cNvSpPr/>
          <p:nvPr/>
        </p:nvSpPr>
        <p:spPr>
          <a:xfrm>
            <a:off x="2057400" y="2800350"/>
            <a:ext cx="3743325" cy="3381375"/>
          </a:xfrm>
          <a:custGeom>
            <a:avLst/>
            <a:gdLst/>
            <a:ahLst/>
            <a:cxnLst/>
            <a:rect l="l" t="t" r="r" b="b"/>
            <a:pathLst>
              <a:path w="393" h="355">
                <a:moveTo>
                  <a:pt x="0" y="351"/>
                </a:moveTo>
                <a:lnTo>
                  <a:pt x="16" y="349"/>
                </a:lnTo>
                <a:lnTo>
                  <a:pt x="33" y="344"/>
                </a:lnTo>
                <a:lnTo>
                  <a:pt x="49" y="336"/>
                </a:lnTo>
                <a:lnTo>
                  <a:pt x="65" y="325"/>
                </a:lnTo>
                <a:lnTo>
                  <a:pt x="82" y="311"/>
                </a:lnTo>
                <a:lnTo>
                  <a:pt x="98" y="296"/>
                </a:lnTo>
                <a:lnTo>
                  <a:pt x="114" y="279"/>
                </a:lnTo>
                <a:lnTo>
                  <a:pt x="131" y="260"/>
                </a:lnTo>
                <a:lnTo>
                  <a:pt x="147" y="240"/>
                </a:lnTo>
                <a:lnTo>
                  <a:pt x="164" y="219"/>
                </a:lnTo>
                <a:lnTo>
                  <a:pt x="180" y="197"/>
                </a:lnTo>
                <a:lnTo>
                  <a:pt x="196" y="175"/>
                </a:lnTo>
                <a:lnTo>
                  <a:pt x="213" y="154"/>
                </a:lnTo>
                <a:lnTo>
                  <a:pt x="229" y="132"/>
                </a:lnTo>
                <a:lnTo>
                  <a:pt x="246" y="111"/>
                </a:lnTo>
                <a:lnTo>
                  <a:pt x="262" y="91"/>
                </a:lnTo>
                <a:lnTo>
                  <a:pt x="278" y="72"/>
                </a:lnTo>
                <a:lnTo>
                  <a:pt x="295" y="55"/>
                </a:lnTo>
                <a:lnTo>
                  <a:pt x="311" y="40"/>
                </a:lnTo>
                <a:lnTo>
                  <a:pt x="327" y="26"/>
                </a:lnTo>
                <a:lnTo>
                  <a:pt x="344" y="15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5"/>
                </a:lnTo>
                <a:lnTo>
                  <a:pt x="377" y="7"/>
                </a:lnTo>
                <a:lnTo>
                  <a:pt x="360" y="12"/>
                </a:lnTo>
                <a:lnTo>
                  <a:pt x="344" y="20"/>
                </a:lnTo>
                <a:lnTo>
                  <a:pt x="327" y="31"/>
                </a:lnTo>
                <a:lnTo>
                  <a:pt x="311" y="44"/>
                </a:lnTo>
                <a:lnTo>
                  <a:pt x="295" y="60"/>
                </a:lnTo>
                <a:lnTo>
                  <a:pt x="278" y="77"/>
                </a:lnTo>
                <a:lnTo>
                  <a:pt x="262" y="96"/>
                </a:lnTo>
                <a:lnTo>
                  <a:pt x="246" y="116"/>
                </a:lnTo>
                <a:lnTo>
                  <a:pt x="229" y="137"/>
                </a:lnTo>
                <a:lnTo>
                  <a:pt x="213" y="158"/>
                </a:lnTo>
                <a:lnTo>
                  <a:pt x="196" y="180"/>
                </a:lnTo>
                <a:lnTo>
                  <a:pt x="180" y="202"/>
                </a:lnTo>
                <a:lnTo>
                  <a:pt x="164" y="223"/>
                </a:lnTo>
                <a:lnTo>
                  <a:pt x="147" y="244"/>
                </a:lnTo>
                <a:lnTo>
                  <a:pt x="131" y="264"/>
                </a:lnTo>
                <a:lnTo>
                  <a:pt x="114" y="283"/>
                </a:lnTo>
                <a:lnTo>
                  <a:pt x="98" y="300"/>
                </a:lnTo>
                <a:lnTo>
                  <a:pt x="82" y="316"/>
                </a:lnTo>
                <a:lnTo>
                  <a:pt x="65" y="329"/>
                </a:lnTo>
                <a:lnTo>
                  <a:pt x="49" y="340"/>
                </a:lnTo>
                <a:lnTo>
                  <a:pt x="33" y="348"/>
                </a:lnTo>
                <a:lnTo>
                  <a:pt x="16" y="353"/>
                </a:lnTo>
                <a:lnTo>
                  <a:pt x="0" y="35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Freeform 72"/>
          <p:cNvSpPr/>
          <p:nvPr/>
        </p:nvSpPr>
        <p:spPr>
          <a:xfrm>
            <a:off x="2057400" y="4067175"/>
            <a:ext cx="3743325" cy="2143125"/>
          </a:xfrm>
          <a:custGeom>
            <a:avLst/>
            <a:gdLst/>
            <a:ahLst/>
            <a:cxnLst/>
            <a:rect l="l" t="t" r="r" b="b"/>
            <a:pathLst>
              <a:path w="393" h="225">
                <a:moveTo>
                  <a:pt x="0" y="222"/>
                </a:moveTo>
                <a:lnTo>
                  <a:pt x="16" y="221"/>
                </a:lnTo>
                <a:lnTo>
                  <a:pt x="33" y="218"/>
                </a:lnTo>
                <a:lnTo>
                  <a:pt x="49" y="213"/>
                </a:lnTo>
                <a:lnTo>
                  <a:pt x="65" y="206"/>
                </a:lnTo>
                <a:lnTo>
                  <a:pt x="82" y="197"/>
                </a:lnTo>
                <a:lnTo>
                  <a:pt x="98" y="188"/>
                </a:lnTo>
                <a:lnTo>
                  <a:pt x="114" y="177"/>
                </a:lnTo>
                <a:lnTo>
                  <a:pt x="131" y="165"/>
                </a:lnTo>
                <a:lnTo>
                  <a:pt x="147" y="152"/>
                </a:lnTo>
                <a:lnTo>
                  <a:pt x="164" y="139"/>
                </a:lnTo>
                <a:lnTo>
                  <a:pt x="180" y="125"/>
                </a:lnTo>
                <a:lnTo>
                  <a:pt x="196" y="111"/>
                </a:lnTo>
                <a:lnTo>
                  <a:pt x="213" y="97"/>
                </a:lnTo>
                <a:lnTo>
                  <a:pt x="229" y="84"/>
                </a:lnTo>
                <a:lnTo>
                  <a:pt x="246" y="71"/>
                </a:lnTo>
                <a:lnTo>
                  <a:pt x="262" y="58"/>
                </a:lnTo>
                <a:lnTo>
                  <a:pt x="278" y="46"/>
                </a:lnTo>
                <a:lnTo>
                  <a:pt x="295" y="35"/>
                </a:lnTo>
                <a:lnTo>
                  <a:pt x="311" y="25"/>
                </a:lnTo>
                <a:lnTo>
                  <a:pt x="327" y="17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3"/>
                </a:lnTo>
                <a:lnTo>
                  <a:pt x="327" y="20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1"/>
                </a:lnTo>
                <a:lnTo>
                  <a:pt x="246" y="73"/>
                </a:lnTo>
                <a:lnTo>
                  <a:pt x="229" y="87"/>
                </a:lnTo>
                <a:lnTo>
                  <a:pt x="213" y="100"/>
                </a:lnTo>
                <a:lnTo>
                  <a:pt x="196" y="114"/>
                </a:lnTo>
                <a:lnTo>
                  <a:pt x="180" y="128"/>
                </a:lnTo>
                <a:lnTo>
                  <a:pt x="164" y="142"/>
                </a:lnTo>
                <a:lnTo>
                  <a:pt x="147" y="155"/>
                </a:lnTo>
                <a:lnTo>
                  <a:pt x="131" y="168"/>
                </a:lnTo>
                <a:lnTo>
                  <a:pt x="114" y="180"/>
                </a:lnTo>
                <a:lnTo>
                  <a:pt x="98" y="190"/>
                </a:lnTo>
                <a:lnTo>
                  <a:pt x="82" y="200"/>
                </a:lnTo>
                <a:lnTo>
                  <a:pt x="65" y="209"/>
                </a:lnTo>
                <a:lnTo>
                  <a:pt x="49" y="216"/>
                </a:lnTo>
                <a:lnTo>
                  <a:pt x="33" y="221"/>
                </a:lnTo>
                <a:lnTo>
                  <a:pt x="16" y="224"/>
                </a:lnTo>
                <a:lnTo>
                  <a:pt x="0" y="22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2057400" y="5248275"/>
            <a:ext cx="3743325" cy="990600"/>
          </a:xfrm>
          <a:custGeom>
            <a:avLst/>
            <a:gdLst/>
            <a:ahLst/>
            <a:cxnLst/>
            <a:rect l="l" t="t" r="r" b="b"/>
            <a:pathLst>
              <a:path w="393" h="104">
                <a:moveTo>
                  <a:pt x="0" y="101"/>
                </a:moveTo>
                <a:lnTo>
                  <a:pt x="16" y="101"/>
                </a:lnTo>
                <a:lnTo>
                  <a:pt x="33" y="99"/>
                </a:lnTo>
                <a:lnTo>
                  <a:pt x="49" y="97"/>
                </a:lnTo>
                <a:lnTo>
                  <a:pt x="65" y="94"/>
                </a:lnTo>
                <a:lnTo>
                  <a:pt x="82" y="90"/>
                </a:lnTo>
                <a:lnTo>
                  <a:pt x="98" y="85"/>
                </a:lnTo>
                <a:lnTo>
                  <a:pt x="114" y="80"/>
                </a:lnTo>
                <a:lnTo>
                  <a:pt x="131" y="75"/>
                </a:lnTo>
                <a:lnTo>
                  <a:pt x="147" y="69"/>
                </a:lnTo>
                <a:lnTo>
                  <a:pt x="164" y="63"/>
                </a:lnTo>
                <a:lnTo>
                  <a:pt x="180" y="57"/>
                </a:lnTo>
                <a:lnTo>
                  <a:pt x="196" y="50"/>
                </a:lnTo>
                <a:lnTo>
                  <a:pt x="213" y="44"/>
                </a:lnTo>
                <a:lnTo>
                  <a:pt x="229" y="38"/>
                </a:lnTo>
                <a:lnTo>
                  <a:pt x="246" y="32"/>
                </a:lnTo>
                <a:lnTo>
                  <a:pt x="262" y="26"/>
                </a:lnTo>
                <a:lnTo>
                  <a:pt x="278" y="21"/>
                </a:lnTo>
                <a:lnTo>
                  <a:pt x="295" y="16"/>
                </a:lnTo>
                <a:lnTo>
                  <a:pt x="311" y="11"/>
                </a:lnTo>
                <a:lnTo>
                  <a:pt x="327" y="7"/>
                </a:lnTo>
                <a:lnTo>
                  <a:pt x="344" y="4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4"/>
                </a:lnTo>
                <a:lnTo>
                  <a:pt x="344" y="7"/>
                </a:lnTo>
                <a:lnTo>
                  <a:pt x="327" y="10"/>
                </a:lnTo>
                <a:lnTo>
                  <a:pt x="311" y="14"/>
                </a:lnTo>
                <a:lnTo>
                  <a:pt x="295" y="18"/>
                </a:lnTo>
                <a:lnTo>
                  <a:pt x="278" y="23"/>
                </a:lnTo>
                <a:lnTo>
                  <a:pt x="262" y="29"/>
                </a:lnTo>
                <a:lnTo>
                  <a:pt x="246" y="34"/>
                </a:lnTo>
                <a:lnTo>
                  <a:pt x="229" y="40"/>
                </a:lnTo>
                <a:lnTo>
                  <a:pt x="213" y="47"/>
                </a:lnTo>
                <a:lnTo>
                  <a:pt x="196" y="53"/>
                </a:lnTo>
                <a:lnTo>
                  <a:pt x="180" y="59"/>
                </a:lnTo>
                <a:lnTo>
                  <a:pt x="164" y="66"/>
                </a:lnTo>
                <a:lnTo>
                  <a:pt x="147" y="72"/>
                </a:lnTo>
                <a:lnTo>
                  <a:pt x="131" y="77"/>
                </a:lnTo>
                <a:lnTo>
                  <a:pt x="114" y="83"/>
                </a:lnTo>
                <a:lnTo>
                  <a:pt x="98" y="88"/>
                </a:lnTo>
                <a:lnTo>
                  <a:pt x="82" y="92"/>
                </a:lnTo>
                <a:lnTo>
                  <a:pt x="65" y="96"/>
                </a:lnTo>
                <a:lnTo>
                  <a:pt x="49" y="99"/>
                </a:lnTo>
                <a:lnTo>
                  <a:pt x="33" y="102"/>
                </a:lnTo>
                <a:lnTo>
                  <a:pt x="16" y="103"/>
                </a:lnTo>
                <a:lnTo>
                  <a:pt x="0" y="104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2057400" y="5924550"/>
            <a:ext cx="3743325" cy="333375"/>
          </a:xfrm>
          <a:custGeom>
            <a:avLst/>
            <a:gdLst/>
            <a:ahLst/>
            <a:cxnLst/>
            <a:rect l="l" t="t" r="r" b="b"/>
            <a:pathLst>
              <a:path w="393" h="35">
                <a:moveTo>
                  <a:pt x="0" y="33"/>
                </a:moveTo>
                <a:lnTo>
                  <a:pt x="16" y="33"/>
                </a:lnTo>
                <a:lnTo>
                  <a:pt x="33" y="32"/>
                </a:lnTo>
                <a:lnTo>
                  <a:pt x="49" y="31"/>
                </a:lnTo>
                <a:lnTo>
                  <a:pt x="65" y="30"/>
                </a:lnTo>
                <a:lnTo>
                  <a:pt x="82" y="29"/>
                </a:lnTo>
                <a:lnTo>
                  <a:pt x="98" y="28"/>
                </a:lnTo>
                <a:lnTo>
                  <a:pt x="114" y="26"/>
                </a:lnTo>
                <a:lnTo>
                  <a:pt x="131" y="24"/>
                </a:lnTo>
                <a:lnTo>
                  <a:pt x="147" y="22"/>
                </a:lnTo>
                <a:lnTo>
                  <a:pt x="164" y="20"/>
                </a:lnTo>
                <a:lnTo>
                  <a:pt x="180" y="18"/>
                </a:lnTo>
                <a:lnTo>
                  <a:pt x="196" y="16"/>
                </a:lnTo>
                <a:lnTo>
                  <a:pt x="213" y="14"/>
                </a:lnTo>
                <a:lnTo>
                  <a:pt x="229" y="12"/>
                </a:lnTo>
                <a:lnTo>
                  <a:pt x="246" y="10"/>
                </a:lnTo>
                <a:lnTo>
                  <a:pt x="262" y="8"/>
                </a:lnTo>
                <a:lnTo>
                  <a:pt x="278" y="7"/>
                </a:lnTo>
                <a:lnTo>
                  <a:pt x="295" y="5"/>
                </a:lnTo>
                <a:lnTo>
                  <a:pt x="311" y="4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2"/>
                </a:lnTo>
                <a:lnTo>
                  <a:pt x="344" y="3"/>
                </a:lnTo>
                <a:lnTo>
                  <a:pt x="327" y="4"/>
                </a:lnTo>
                <a:lnTo>
                  <a:pt x="311" y="5"/>
                </a:lnTo>
                <a:lnTo>
                  <a:pt x="295" y="7"/>
                </a:lnTo>
                <a:lnTo>
                  <a:pt x="278" y="9"/>
                </a:lnTo>
                <a:lnTo>
                  <a:pt x="262" y="10"/>
                </a:lnTo>
                <a:lnTo>
                  <a:pt x="246" y="12"/>
                </a:lnTo>
                <a:lnTo>
                  <a:pt x="229" y="14"/>
                </a:lnTo>
                <a:lnTo>
                  <a:pt x="213" y="16"/>
                </a:lnTo>
                <a:lnTo>
                  <a:pt x="196" y="18"/>
                </a:lnTo>
                <a:lnTo>
                  <a:pt x="180" y="20"/>
                </a:lnTo>
                <a:lnTo>
                  <a:pt x="164" y="22"/>
                </a:lnTo>
                <a:lnTo>
                  <a:pt x="147" y="24"/>
                </a:lnTo>
                <a:lnTo>
                  <a:pt x="131" y="26"/>
                </a:lnTo>
                <a:lnTo>
                  <a:pt x="114" y="28"/>
                </a:lnTo>
                <a:lnTo>
                  <a:pt x="98" y="30"/>
                </a:lnTo>
                <a:lnTo>
                  <a:pt x="82" y="31"/>
                </a:lnTo>
                <a:lnTo>
                  <a:pt x="65" y="32"/>
                </a:lnTo>
                <a:lnTo>
                  <a:pt x="49" y="33"/>
                </a:lnTo>
                <a:lnTo>
                  <a:pt x="33" y="34"/>
                </a:lnTo>
                <a:lnTo>
                  <a:pt x="1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2057400" y="6238875"/>
            <a:ext cx="3743325" cy="19050"/>
          </a:xfrm>
          <a:custGeom>
            <a:avLst/>
            <a:gdLst/>
            <a:ahLst/>
            <a:cxnLst/>
            <a:rect l="l" t="t" r="r" b="b"/>
            <a:pathLst>
              <a:path w="393" h="2">
                <a:moveTo>
                  <a:pt x="0" y="2"/>
                </a:moveTo>
                <a:lnTo>
                  <a:pt x="16" y="2"/>
                </a:lnTo>
                <a:lnTo>
                  <a:pt x="33" y="2"/>
                </a:lnTo>
                <a:lnTo>
                  <a:pt x="49" y="2"/>
                </a:lnTo>
                <a:lnTo>
                  <a:pt x="65" y="2"/>
                </a:lnTo>
                <a:lnTo>
                  <a:pt x="82" y="1"/>
                </a:lnTo>
                <a:lnTo>
                  <a:pt x="98" y="1"/>
                </a:lnTo>
                <a:lnTo>
                  <a:pt x="114" y="1"/>
                </a:lnTo>
                <a:lnTo>
                  <a:pt x="131" y="1"/>
                </a:lnTo>
                <a:lnTo>
                  <a:pt x="147" y="1"/>
                </a:lnTo>
                <a:lnTo>
                  <a:pt x="164" y="1"/>
                </a:lnTo>
                <a:lnTo>
                  <a:pt x="180" y="1"/>
                </a:lnTo>
                <a:lnTo>
                  <a:pt x="196" y="1"/>
                </a:lnTo>
                <a:lnTo>
                  <a:pt x="213" y="0"/>
                </a:lnTo>
                <a:lnTo>
                  <a:pt x="229" y="0"/>
                </a:lnTo>
                <a:lnTo>
                  <a:pt x="246" y="0"/>
                </a:lnTo>
                <a:lnTo>
                  <a:pt x="262" y="0"/>
                </a:lnTo>
                <a:lnTo>
                  <a:pt x="278" y="0"/>
                </a:lnTo>
                <a:lnTo>
                  <a:pt x="295" y="0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0"/>
                </a:lnTo>
                <a:lnTo>
                  <a:pt x="377" y="0"/>
                </a:lnTo>
                <a:lnTo>
                  <a:pt x="360" y="0"/>
                </a:lnTo>
                <a:lnTo>
                  <a:pt x="344" y="0"/>
                </a:lnTo>
                <a:lnTo>
                  <a:pt x="327" y="0"/>
                </a:lnTo>
                <a:lnTo>
                  <a:pt x="311" y="0"/>
                </a:lnTo>
                <a:lnTo>
                  <a:pt x="295" y="0"/>
                </a:lnTo>
                <a:lnTo>
                  <a:pt x="278" y="0"/>
                </a:lnTo>
                <a:lnTo>
                  <a:pt x="262" y="1"/>
                </a:lnTo>
                <a:lnTo>
                  <a:pt x="246" y="1"/>
                </a:lnTo>
                <a:lnTo>
                  <a:pt x="229" y="1"/>
                </a:lnTo>
                <a:lnTo>
                  <a:pt x="213" y="1"/>
                </a:lnTo>
                <a:lnTo>
                  <a:pt x="196" y="1"/>
                </a:lnTo>
                <a:lnTo>
                  <a:pt x="180" y="1"/>
                </a:lnTo>
                <a:lnTo>
                  <a:pt x="164" y="1"/>
                </a:lnTo>
                <a:lnTo>
                  <a:pt x="147" y="2"/>
                </a:lnTo>
                <a:lnTo>
                  <a:pt x="131" y="2"/>
                </a:lnTo>
                <a:lnTo>
                  <a:pt x="114" y="2"/>
                </a:lnTo>
                <a:lnTo>
                  <a:pt x="98" y="2"/>
                </a:lnTo>
                <a:lnTo>
                  <a:pt x="82" y="2"/>
                </a:lnTo>
                <a:lnTo>
                  <a:pt x="65" y="2"/>
                </a:lnTo>
                <a:lnTo>
                  <a:pt x="49" y="2"/>
                </a:lnTo>
                <a:lnTo>
                  <a:pt x="33" y="2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reeform 76"/>
          <p:cNvSpPr/>
          <p:nvPr/>
        </p:nvSpPr>
        <p:spPr>
          <a:xfrm>
            <a:off x="2057400" y="2847975"/>
            <a:ext cx="3743325" cy="3505200"/>
          </a:xfrm>
          <a:custGeom>
            <a:avLst/>
            <a:gdLst/>
            <a:ahLst/>
            <a:cxnLst/>
            <a:rect l="l" t="t" r="r" b="b"/>
            <a:pathLst>
              <a:path w="393" h="368">
                <a:moveTo>
                  <a:pt x="0" y="364"/>
                </a:moveTo>
                <a:lnTo>
                  <a:pt x="16" y="362"/>
                </a:lnTo>
                <a:lnTo>
                  <a:pt x="33" y="357"/>
                </a:lnTo>
                <a:lnTo>
                  <a:pt x="49" y="349"/>
                </a:lnTo>
                <a:lnTo>
                  <a:pt x="65" y="337"/>
                </a:lnTo>
                <a:lnTo>
                  <a:pt x="82" y="323"/>
                </a:lnTo>
                <a:lnTo>
                  <a:pt x="98" y="307"/>
                </a:lnTo>
                <a:lnTo>
                  <a:pt x="114" y="289"/>
                </a:lnTo>
                <a:lnTo>
                  <a:pt x="131" y="270"/>
                </a:lnTo>
                <a:lnTo>
                  <a:pt x="147" y="249"/>
                </a:lnTo>
                <a:lnTo>
                  <a:pt x="164" y="227"/>
                </a:lnTo>
                <a:lnTo>
                  <a:pt x="180" y="205"/>
                </a:lnTo>
                <a:lnTo>
                  <a:pt x="196" y="182"/>
                </a:lnTo>
                <a:lnTo>
                  <a:pt x="213" y="159"/>
                </a:lnTo>
                <a:lnTo>
                  <a:pt x="229" y="137"/>
                </a:lnTo>
                <a:lnTo>
                  <a:pt x="246" y="115"/>
                </a:lnTo>
                <a:lnTo>
                  <a:pt x="262" y="94"/>
                </a:lnTo>
                <a:lnTo>
                  <a:pt x="278" y="75"/>
                </a:lnTo>
                <a:lnTo>
                  <a:pt x="295" y="57"/>
                </a:lnTo>
                <a:lnTo>
                  <a:pt x="311" y="41"/>
                </a:lnTo>
                <a:lnTo>
                  <a:pt x="327" y="27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0"/>
                </a:lnTo>
                <a:lnTo>
                  <a:pt x="344" y="19"/>
                </a:lnTo>
                <a:lnTo>
                  <a:pt x="327" y="30"/>
                </a:lnTo>
                <a:lnTo>
                  <a:pt x="311" y="44"/>
                </a:lnTo>
                <a:lnTo>
                  <a:pt x="295" y="60"/>
                </a:lnTo>
                <a:lnTo>
                  <a:pt x="278" y="78"/>
                </a:lnTo>
                <a:lnTo>
                  <a:pt x="262" y="98"/>
                </a:lnTo>
                <a:lnTo>
                  <a:pt x="246" y="118"/>
                </a:lnTo>
                <a:lnTo>
                  <a:pt x="229" y="140"/>
                </a:lnTo>
                <a:lnTo>
                  <a:pt x="213" y="163"/>
                </a:lnTo>
                <a:lnTo>
                  <a:pt x="196" y="185"/>
                </a:lnTo>
                <a:lnTo>
                  <a:pt x="180" y="208"/>
                </a:lnTo>
                <a:lnTo>
                  <a:pt x="164" y="230"/>
                </a:lnTo>
                <a:lnTo>
                  <a:pt x="147" y="252"/>
                </a:lnTo>
                <a:lnTo>
                  <a:pt x="131" y="273"/>
                </a:lnTo>
                <a:lnTo>
                  <a:pt x="114" y="293"/>
                </a:lnTo>
                <a:lnTo>
                  <a:pt x="98" y="311"/>
                </a:lnTo>
                <a:lnTo>
                  <a:pt x="82" y="327"/>
                </a:lnTo>
                <a:lnTo>
                  <a:pt x="65" y="341"/>
                </a:lnTo>
                <a:lnTo>
                  <a:pt x="49" y="352"/>
                </a:lnTo>
                <a:lnTo>
                  <a:pt x="33" y="360"/>
                </a:lnTo>
                <a:lnTo>
                  <a:pt x="16" y="366"/>
                </a:lnTo>
                <a:lnTo>
                  <a:pt x="0" y="368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2057400" y="4095750"/>
            <a:ext cx="3743325" cy="2276475"/>
          </a:xfrm>
          <a:custGeom>
            <a:avLst/>
            <a:gdLst/>
            <a:ahLst/>
            <a:cxnLst/>
            <a:rect l="l" t="t" r="r" b="b"/>
            <a:pathLst>
              <a:path w="393" h="239">
                <a:moveTo>
                  <a:pt x="0" y="237"/>
                </a:moveTo>
                <a:lnTo>
                  <a:pt x="16" y="235"/>
                </a:lnTo>
                <a:lnTo>
                  <a:pt x="33" y="232"/>
                </a:lnTo>
                <a:lnTo>
                  <a:pt x="49" y="226"/>
                </a:lnTo>
                <a:lnTo>
                  <a:pt x="65" y="219"/>
                </a:lnTo>
                <a:lnTo>
                  <a:pt x="82" y="210"/>
                </a:lnTo>
                <a:lnTo>
                  <a:pt x="98" y="200"/>
                </a:lnTo>
                <a:lnTo>
                  <a:pt x="114" y="188"/>
                </a:lnTo>
                <a:lnTo>
                  <a:pt x="131" y="175"/>
                </a:lnTo>
                <a:lnTo>
                  <a:pt x="147" y="162"/>
                </a:lnTo>
                <a:lnTo>
                  <a:pt x="164" y="148"/>
                </a:lnTo>
                <a:lnTo>
                  <a:pt x="180" y="133"/>
                </a:lnTo>
                <a:lnTo>
                  <a:pt x="196" y="118"/>
                </a:lnTo>
                <a:lnTo>
                  <a:pt x="213" y="104"/>
                </a:lnTo>
                <a:lnTo>
                  <a:pt x="229" y="89"/>
                </a:lnTo>
                <a:lnTo>
                  <a:pt x="246" y="75"/>
                </a:lnTo>
                <a:lnTo>
                  <a:pt x="262" y="62"/>
                </a:lnTo>
                <a:lnTo>
                  <a:pt x="278" y="49"/>
                </a:lnTo>
                <a:lnTo>
                  <a:pt x="295" y="37"/>
                </a:lnTo>
                <a:lnTo>
                  <a:pt x="311" y="27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7"/>
                </a:lnTo>
                <a:lnTo>
                  <a:pt x="344" y="13"/>
                </a:lnTo>
                <a:lnTo>
                  <a:pt x="327" y="20"/>
                </a:lnTo>
                <a:lnTo>
                  <a:pt x="311" y="29"/>
                </a:lnTo>
                <a:lnTo>
                  <a:pt x="295" y="40"/>
                </a:lnTo>
                <a:lnTo>
                  <a:pt x="278" y="51"/>
                </a:lnTo>
                <a:lnTo>
                  <a:pt x="262" y="64"/>
                </a:lnTo>
                <a:lnTo>
                  <a:pt x="246" y="77"/>
                </a:lnTo>
                <a:lnTo>
                  <a:pt x="229" y="91"/>
                </a:lnTo>
                <a:lnTo>
                  <a:pt x="213" y="106"/>
                </a:lnTo>
                <a:lnTo>
                  <a:pt x="196" y="121"/>
                </a:lnTo>
                <a:lnTo>
                  <a:pt x="180" y="135"/>
                </a:lnTo>
                <a:lnTo>
                  <a:pt x="164" y="150"/>
                </a:lnTo>
                <a:lnTo>
                  <a:pt x="147" y="164"/>
                </a:lnTo>
                <a:lnTo>
                  <a:pt x="131" y="178"/>
                </a:lnTo>
                <a:lnTo>
                  <a:pt x="114" y="190"/>
                </a:lnTo>
                <a:lnTo>
                  <a:pt x="98" y="202"/>
                </a:lnTo>
                <a:lnTo>
                  <a:pt x="82" y="212"/>
                </a:lnTo>
                <a:lnTo>
                  <a:pt x="65" y="221"/>
                </a:lnTo>
                <a:lnTo>
                  <a:pt x="49" y="229"/>
                </a:lnTo>
                <a:lnTo>
                  <a:pt x="33" y="234"/>
                </a:lnTo>
                <a:lnTo>
                  <a:pt x="16" y="238"/>
                </a:lnTo>
                <a:lnTo>
                  <a:pt x="0" y="23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Freeform 78"/>
          <p:cNvSpPr/>
          <p:nvPr/>
        </p:nvSpPr>
        <p:spPr>
          <a:xfrm>
            <a:off x="2057400" y="5267325"/>
            <a:ext cx="3743325" cy="1123950"/>
          </a:xfrm>
          <a:custGeom>
            <a:avLst/>
            <a:gdLst/>
            <a:ahLst/>
            <a:cxnLst/>
            <a:rect l="l" t="t" r="r" b="b"/>
            <a:pathLst>
              <a:path w="393" h="118">
                <a:moveTo>
                  <a:pt x="0" y="116"/>
                </a:moveTo>
                <a:lnTo>
                  <a:pt x="16" y="115"/>
                </a:lnTo>
                <a:lnTo>
                  <a:pt x="33" y="114"/>
                </a:lnTo>
                <a:lnTo>
                  <a:pt x="49" y="111"/>
                </a:lnTo>
                <a:lnTo>
                  <a:pt x="65" y="107"/>
                </a:lnTo>
                <a:lnTo>
                  <a:pt x="82" y="103"/>
                </a:lnTo>
                <a:lnTo>
                  <a:pt x="98" y="98"/>
                </a:lnTo>
                <a:lnTo>
                  <a:pt x="114" y="92"/>
                </a:lnTo>
                <a:lnTo>
                  <a:pt x="131" y="86"/>
                </a:lnTo>
                <a:lnTo>
                  <a:pt x="147" y="79"/>
                </a:lnTo>
                <a:lnTo>
                  <a:pt x="164" y="72"/>
                </a:lnTo>
                <a:lnTo>
                  <a:pt x="180" y="65"/>
                </a:lnTo>
                <a:lnTo>
                  <a:pt x="196" y="58"/>
                </a:lnTo>
                <a:lnTo>
                  <a:pt x="213" y="51"/>
                </a:lnTo>
                <a:lnTo>
                  <a:pt x="229" y="44"/>
                </a:lnTo>
                <a:lnTo>
                  <a:pt x="246" y="37"/>
                </a:lnTo>
                <a:lnTo>
                  <a:pt x="262" y="30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9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7"/>
                </a:lnTo>
                <a:lnTo>
                  <a:pt x="327" y="11"/>
                </a:lnTo>
                <a:lnTo>
                  <a:pt x="311" y="15"/>
                </a:lnTo>
                <a:lnTo>
                  <a:pt x="295" y="20"/>
                </a:lnTo>
                <a:lnTo>
                  <a:pt x="278" y="26"/>
                </a:lnTo>
                <a:lnTo>
                  <a:pt x="262" y="32"/>
                </a:lnTo>
                <a:lnTo>
                  <a:pt x="246" y="39"/>
                </a:lnTo>
                <a:lnTo>
                  <a:pt x="229" y="46"/>
                </a:lnTo>
                <a:lnTo>
                  <a:pt x="213" y="53"/>
                </a:lnTo>
                <a:lnTo>
                  <a:pt x="196" y="60"/>
                </a:lnTo>
                <a:lnTo>
                  <a:pt x="180" y="67"/>
                </a:lnTo>
                <a:lnTo>
                  <a:pt x="164" y="74"/>
                </a:lnTo>
                <a:lnTo>
                  <a:pt x="147" y="81"/>
                </a:lnTo>
                <a:lnTo>
                  <a:pt x="131" y="88"/>
                </a:lnTo>
                <a:lnTo>
                  <a:pt x="114" y="94"/>
                </a:lnTo>
                <a:lnTo>
                  <a:pt x="98" y="100"/>
                </a:lnTo>
                <a:lnTo>
                  <a:pt x="82" y="105"/>
                </a:lnTo>
                <a:lnTo>
                  <a:pt x="65" y="109"/>
                </a:lnTo>
                <a:lnTo>
                  <a:pt x="49" y="113"/>
                </a:lnTo>
                <a:lnTo>
                  <a:pt x="33" y="116"/>
                </a:lnTo>
                <a:lnTo>
                  <a:pt x="16" y="117"/>
                </a:lnTo>
                <a:lnTo>
                  <a:pt x="0" y="118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Freeform 79"/>
          <p:cNvSpPr/>
          <p:nvPr/>
        </p:nvSpPr>
        <p:spPr>
          <a:xfrm>
            <a:off x="2057400" y="5943600"/>
            <a:ext cx="3743325" cy="457200"/>
          </a:xfrm>
          <a:custGeom>
            <a:avLst/>
            <a:gdLst/>
            <a:ahLst/>
            <a:cxnLst/>
            <a:rect l="l" t="t" r="r" b="b"/>
            <a:pathLst>
              <a:path w="393" h="48">
                <a:moveTo>
                  <a:pt x="0" y="47"/>
                </a:moveTo>
                <a:lnTo>
                  <a:pt x="16" y="47"/>
                </a:lnTo>
                <a:lnTo>
                  <a:pt x="33" y="46"/>
                </a:lnTo>
                <a:lnTo>
                  <a:pt x="49" y="45"/>
                </a:lnTo>
                <a:lnTo>
                  <a:pt x="65" y="43"/>
                </a:lnTo>
                <a:lnTo>
                  <a:pt x="82" y="42"/>
                </a:lnTo>
                <a:lnTo>
                  <a:pt x="98" y="40"/>
                </a:lnTo>
                <a:lnTo>
                  <a:pt x="114" y="37"/>
                </a:lnTo>
                <a:lnTo>
                  <a:pt x="131" y="35"/>
                </a:lnTo>
                <a:lnTo>
                  <a:pt x="147" y="32"/>
                </a:lnTo>
                <a:lnTo>
                  <a:pt x="164" y="29"/>
                </a:lnTo>
                <a:lnTo>
                  <a:pt x="180" y="26"/>
                </a:lnTo>
                <a:lnTo>
                  <a:pt x="196" y="23"/>
                </a:lnTo>
                <a:lnTo>
                  <a:pt x="213" y="20"/>
                </a:lnTo>
                <a:lnTo>
                  <a:pt x="229" y="18"/>
                </a:lnTo>
                <a:lnTo>
                  <a:pt x="246" y="15"/>
                </a:lnTo>
                <a:lnTo>
                  <a:pt x="262" y="12"/>
                </a:lnTo>
                <a:lnTo>
                  <a:pt x="278" y="10"/>
                </a:lnTo>
                <a:lnTo>
                  <a:pt x="295" y="7"/>
                </a:lnTo>
                <a:lnTo>
                  <a:pt x="311" y="5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2"/>
                </a:lnTo>
                <a:lnTo>
                  <a:pt x="344" y="3"/>
                </a:lnTo>
                <a:lnTo>
                  <a:pt x="327" y="4"/>
                </a:lnTo>
                <a:lnTo>
                  <a:pt x="311" y="6"/>
                </a:lnTo>
                <a:lnTo>
                  <a:pt x="295" y="8"/>
                </a:lnTo>
                <a:lnTo>
                  <a:pt x="278" y="11"/>
                </a:lnTo>
                <a:lnTo>
                  <a:pt x="262" y="13"/>
                </a:lnTo>
                <a:lnTo>
                  <a:pt x="246" y="16"/>
                </a:lnTo>
                <a:lnTo>
                  <a:pt x="229" y="19"/>
                </a:lnTo>
                <a:lnTo>
                  <a:pt x="213" y="22"/>
                </a:lnTo>
                <a:lnTo>
                  <a:pt x="196" y="25"/>
                </a:lnTo>
                <a:lnTo>
                  <a:pt x="180" y="28"/>
                </a:lnTo>
                <a:lnTo>
                  <a:pt x="164" y="30"/>
                </a:lnTo>
                <a:lnTo>
                  <a:pt x="147" y="33"/>
                </a:lnTo>
                <a:lnTo>
                  <a:pt x="131" y="36"/>
                </a:lnTo>
                <a:lnTo>
                  <a:pt x="114" y="38"/>
                </a:lnTo>
                <a:lnTo>
                  <a:pt x="98" y="41"/>
                </a:lnTo>
                <a:lnTo>
                  <a:pt x="82" y="43"/>
                </a:lnTo>
                <a:lnTo>
                  <a:pt x="65" y="45"/>
                </a:lnTo>
                <a:lnTo>
                  <a:pt x="49" y="46"/>
                </a:lnTo>
                <a:lnTo>
                  <a:pt x="33" y="47"/>
                </a:lnTo>
                <a:lnTo>
                  <a:pt x="1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Freeform 80"/>
          <p:cNvSpPr/>
          <p:nvPr/>
        </p:nvSpPr>
        <p:spPr>
          <a:xfrm>
            <a:off x="2057400" y="6238875"/>
            <a:ext cx="3743325" cy="171450"/>
          </a:xfrm>
          <a:custGeom>
            <a:avLst/>
            <a:gdLst/>
            <a:ahLst/>
            <a:cxnLst/>
            <a:rect l="l" t="t" r="r" b="b"/>
            <a:pathLst>
              <a:path w="393" h="18">
                <a:moveTo>
                  <a:pt x="0" y="17"/>
                </a:moveTo>
                <a:lnTo>
                  <a:pt x="16" y="17"/>
                </a:lnTo>
                <a:lnTo>
                  <a:pt x="33" y="17"/>
                </a:lnTo>
                <a:lnTo>
                  <a:pt x="49" y="16"/>
                </a:lnTo>
                <a:lnTo>
                  <a:pt x="65" y="16"/>
                </a:lnTo>
                <a:lnTo>
                  <a:pt x="82" y="15"/>
                </a:lnTo>
                <a:lnTo>
                  <a:pt x="98" y="14"/>
                </a:lnTo>
                <a:lnTo>
                  <a:pt x="114" y="14"/>
                </a:lnTo>
                <a:lnTo>
                  <a:pt x="131" y="13"/>
                </a:lnTo>
                <a:lnTo>
                  <a:pt x="147" y="12"/>
                </a:lnTo>
                <a:lnTo>
                  <a:pt x="164" y="11"/>
                </a:lnTo>
                <a:lnTo>
                  <a:pt x="180" y="10"/>
                </a:lnTo>
                <a:lnTo>
                  <a:pt x="196" y="9"/>
                </a:lnTo>
                <a:lnTo>
                  <a:pt x="213" y="8"/>
                </a:lnTo>
                <a:lnTo>
                  <a:pt x="229" y="6"/>
                </a:lnTo>
                <a:lnTo>
                  <a:pt x="246" y="5"/>
                </a:lnTo>
                <a:lnTo>
                  <a:pt x="262" y="4"/>
                </a:lnTo>
                <a:lnTo>
                  <a:pt x="278" y="4"/>
                </a:lnTo>
                <a:lnTo>
                  <a:pt x="295" y="3"/>
                </a:lnTo>
                <a:lnTo>
                  <a:pt x="311" y="2"/>
                </a:lnTo>
                <a:lnTo>
                  <a:pt x="327" y="1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1"/>
                </a:lnTo>
                <a:lnTo>
                  <a:pt x="344" y="1"/>
                </a:lnTo>
                <a:lnTo>
                  <a:pt x="327" y="2"/>
                </a:lnTo>
                <a:lnTo>
                  <a:pt x="311" y="3"/>
                </a:lnTo>
                <a:lnTo>
                  <a:pt x="295" y="3"/>
                </a:lnTo>
                <a:lnTo>
                  <a:pt x="278" y="4"/>
                </a:lnTo>
                <a:lnTo>
                  <a:pt x="262" y="5"/>
                </a:lnTo>
                <a:lnTo>
                  <a:pt x="246" y="6"/>
                </a:lnTo>
                <a:lnTo>
                  <a:pt x="229" y="7"/>
                </a:lnTo>
                <a:lnTo>
                  <a:pt x="213" y="8"/>
                </a:lnTo>
                <a:lnTo>
                  <a:pt x="196" y="9"/>
                </a:lnTo>
                <a:lnTo>
                  <a:pt x="180" y="10"/>
                </a:lnTo>
                <a:lnTo>
                  <a:pt x="164" y="11"/>
                </a:lnTo>
                <a:lnTo>
                  <a:pt x="147" y="12"/>
                </a:lnTo>
                <a:lnTo>
                  <a:pt x="131" y="13"/>
                </a:lnTo>
                <a:lnTo>
                  <a:pt x="114" y="14"/>
                </a:lnTo>
                <a:lnTo>
                  <a:pt x="98" y="15"/>
                </a:lnTo>
                <a:lnTo>
                  <a:pt x="82" y="16"/>
                </a:lnTo>
                <a:lnTo>
                  <a:pt x="65" y="17"/>
                </a:lnTo>
                <a:lnTo>
                  <a:pt x="49" y="17"/>
                </a:lnTo>
                <a:lnTo>
                  <a:pt x="33" y="17"/>
                </a:lnTo>
                <a:lnTo>
                  <a:pt x="1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reeform 81"/>
          <p:cNvSpPr/>
          <p:nvPr/>
        </p:nvSpPr>
        <p:spPr>
          <a:xfrm>
            <a:off x="2057400" y="2876550"/>
            <a:ext cx="3743325" cy="3609975"/>
          </a:xfrm>
          <a:custGeom>
            <a:avLst/>
            <a:gdLst/>
            <a:ahLst/>
            <a:cxnLst/>
            <a:rect l="l" t="t" r="r" b="b"/>
            <a:pathLst>
              <a:path w="393" h="379">
                <a:moveTo>
                  <a:pt x="0" y="377"/>
                </a:moveTo>
                <a:lnTo>
                  <a:pt x="16" y="375"/>
                </a:lnTo>
                <a:lnTo>
                  <a:pt x="33" y="369"/>
                </a:lnTo>
                <a:lnTo>
                  <a:pt x="49" y="361"/>
                </a:lnTo>
                <a:lnTo>
                  <a:pt x="65" y="349"/>
                </a:lnTo>
                <a:lnTo>
                  <a:pt x="82" y="335"/>
                </a:lnTo>
                <a:lnTo>
                  <a:pt x="98" y="318"/>
                </a:lnTo>
                <a:lnTo>
                  <a:pt x="114" y="299"/>
                </a:lnTo>
                <a:lnTo>
                  <a:pt x="131" y="279"/>
                </a:lnTo>
                <a:lnTo>
                  <a:pt x="147" y="258"/>
                </a:lnTo>
                <a:lnTo>
                  <a:pt x="164" y="235"/>
                </a:lnTo>
                <a:lnTo>
                  <a:pt x="180" y="212"/>
                </a:lnTo>
                <a:lnTo>
                  <a:pt x="196" y="188"/>
                </a:lnTo>
                <a:lnTo>
                  <a:pt x="213" y="165"/>
                </a:lnTo>
                <a:lnTo>
                  <a:pt x="229" y="142"/>
                </a:lnTo>
                <a:lnTo>
                  <a:pt x="246" y="119"/>
                </a:lnTo>
                <a:lnTo>
                  <a:pt x="262" y="98"/>
                </a:lnTo>
                <a:lnTo>
                  <a:pt x="278" y="78"/>
                </a:lnTo>
                <a:lnTo>
                  <a:pt x="295" y="59"/>
                </a:lnTo>
                <a:lnTo>
                  <a:pt x="311" y="42"/>
                </a:lnTo>
                <a:lnTo>
                  <a:pt x="327" y="28"/>
                </a:lnTo>
                <a:lnTo>
                  <a:pt x="344" y="16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0"/>
                </a:lnTo>
                <a:lnTo>
                  <a:pt x="344" y="19"/>
                </a:lnTo>
                <a:lnTo>
                  <a:pt x="327" y="31"/>
                </a:lnTo>
                <a:lnTo>
                  <a:pt x="311" y="45"/>
                </a:lnTo>
                <a:lnTo>
                  <a:pt x="295" y="62"/>
                </a:lnTo>
                <a:lnTo>
                  <a:pt x="278" y="80"/>
                </a:lnTo>
                <a:lnTo>
                  <a:pt x="262" y="100"/>
                </a:lnTo>
                <a:lnTo>
                  <a:pt x="246" y="122"/>
                </a:lnTo>
                <a:lnTo>
                  <a:pt x="229" y="144"/>
                </a:lnTo>
                <a:lnTo>
                  <a:pt x="213" y="167"/>
                </a:lnTo>
                <a:lnTo>
                  <a:pt x="196" y="191"/>
                </a:lnTo>
                <a:lnTo>
                  <a:pt x="180" y="214"/>
                </a:lnTo>
                <a:lnTo>
                  <a:pt x="164" y="238"/>
                </a:lnTo>
                <a:lnTo>
                  <a:pt x="147" y="260"/>
                </a:lnTo>
                <a:lnTo>
                  <a:pt x="131" y="282"/>
                </a:lnTo>
                <a:lnTo>
                  <a:pt x="114" y="302"/>
                </a:lnTo>
                <a:lnTo>
                  <a:pt x="98" y="320"/>
                </a:lnTo>
                <a:lnTo>
                  <a:pt x="82" y="337"/>
                </a:lnTo>
                <a:lnTo>
                  <a:pt x="65" y="351"/>
                </a:lnTo>
                <a:lnTo>
                  <a:pt x="49" y="363"/>
                </a:lnTo>
                <a:lnTo>
                  <a:pt x="33" y="372"/>
                </a:lnTo>
                <a:lnTo>
                  <a:pt x="16" y="377"/>
                </a:lnTo>
                <a:lnTo>
                  <a:pt x="0" y="379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Freeform 82"/>
          <p:cNvSpPr/>
          <p:nvPr/>
        </p:nvSpPr>
        <p:spPr>
          <a:xfrm>
            <a:off x="2057400" y="4124325"/>
            <a:ext cx="3743325" cy="2381250"/>
          </a:xfrm>
          <a:custGeom>
            <a:avLst/>
            <a:gdLst/>
            <a:ahLst/>
            <a:cxnLst/>
            <a:rect l="l" t="t" r="r" b="b"/>
            <a:pathLst>
              <a:path w="393" h="250">
                <a:moveTo>
                  <a:pt x="0" y="248"/>
                </a:moveTo>
                <a:lnTo>
                  <a:pt x="16" y="247"/>
                </a:lnTo>
                <a:lnTo>
                  <a:pt x="33" y="243"/>
                </a:lnTo>
                <a:lnTo>
                  <a:pt x="49" y="238"/>
                </a:lnTo>
                <a:lnTo>
                  <a:pt x="65" y="230"/>
                </a:lnTo>
                <a:lnTo>
                  <a:pt x="82" y="220"/>
                </a:lnTo>
                <a:lnTo>
                  <a:pt x="98" y="209"/>
                </a:lnTo>
                <a:lnTo>
                  <a:pt x="114" y="197"/>
                </a:lnTo>
                <a:lnTo>
                  <a:pt x="131" y="184"/>
                </a:lnTo>
                <a:lnTo>
                  <a:pt x="147" y="170"/>
                </a:lnTo>
                <a:lnTo>
                  <a:pt x="164" y="155"/>
                </a:lnTo>
                <a:lnTo>
                  <a:pt x="180" y="139"/>
                </a:lnTo>
                <a:lnTo>
                  <a:pt x="196" y="124"/>
                </a:lnTo>
                <a:lnTo>
                  <a:pt x="213" y="108"/>
                </a:lnTo>
                <a:lnTo>
                  <a:pt x="229" y="93"/>
                </a:lnTo>
                <a:lnTo>
                  <a:pt x="246" y="78"/>
                </a:lnTo>
                <a:lnTo>
                  <a:pt x="262" y="64"/>
                </a:lnTo>
                <a:lnTo>
                  <a:pt x="278" y="51"/>
                </a:lnTo>
                <a:lnTo>
                  <a:pt x="295" y="38"/>
                </a:lnTo>
                <a:lnTo>
                  <a:pt x="311" y="27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2"/>
                </a:lnTo>
                <a:lnTo>
                  <a:pt x="327" y="20"/>
                </a:lnTo>
                <a:lnTo>
                  <a:pt x="311" y="29"/>
                </a:lnTo>
                <a:lnTo>
                  <a:pt x="295" y="40"/>
                </a:lnTo>
                <a:lnTo>
                  <a:pt x="278" y="53"/>
                </a:lnTo>
                <a:lnTo>
                  <a:pt x="262" y="66"/>
                </a:lnTo>
                <a:lnTo>
                  <a:pt x="246" y="80"/>
                </a:lnTo>
                <a:lnTo>
                  <a:pt x="229" y="95"/>
                </a:lnTo>
                <a:lnTo>
                  <a:pt x="213" y="110"/>
                </a:lnTo>
                <a:lnTo>
                  <a:pt x="196" y="126"/>
                </a:lnTo>
                <a:lnTo>
                  <a:pt x="180" y="141"/>
                </a:lnTo>
                <a:lnTo>
                  <a:pt x="164" y="157"/>
                </a:lnTo>
                <a:lnTo>
                  <a:pt x="147" y="172"/>
                </a:lnTo>
                <a:lnTo>
                  <a:pt x="131" y="186"/>
                </a:lnTo>
                <a:lnTo>
                  <a:pt x="114" y="199"/>
                </a:lnTo>
                <a:lnTo>
                  <a:pt x="98" y="211"/>
                </a:lnTo>
                <a:lnTo>
                  <a:pt x="82" y="222"/>
                </a:lnTo>
                <a:lnTo>
                  <a:pt x="65" y="232"/>
                </a:lnTo>
                <a:lnTo>
                  <a:pt x="49" y="239"/>
                </a:lnTo>
                <a:lnTo>
                  <a:pt x="33" y="245"/>
                </a:lnTo>
                <a:lnTo>
                  <a:pt x="16" y="249"/>
                </a:lnTo>
                <a:lnTo>
                  <a:pt x="0" y="25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Freeform 83"/>
          <p:cNvSpPr/>
          <p:nvPr/>
        </p:nvSpPr>
        <p:spPr>
          <a:xfrm>
            <a:off x="2057400" y="5286375"/>
            <a:ext cx="3743325" cy="1238250"/>
          </a:xfrm>
          <a:custGeom>
            <a:avLst/>
            <a:gdLst/>
            <a:ahLst/>
            <a:cxnLst/>
            <a:rect l="l" t="t" r="r" b="b"/>
            <a:pathLst>
              <a:path w="393" h="130">
                <a:moveTo>
                  <a:pt x="0" y="128"/>
                </a:moveTo>
                <a:lnTo>
                  <a:pt x="16" y="128"/>
                </a:lnTo>
                <a:lnTo>
                  <a:pt x="33" y="126"/>
                </a:lnTo>
                <a:lnTo>
                  <a:pt x="49" y="123"/>
                </a:lnTo>
                <a:lnTo>
                  <a:pt x="65" y="119"/>
                </a:lnTo>
                <a:lnTo>
                  <a:pt x="82" y="114"/>
                </a:lnTo>
                <a:lnTo>
                  <a:pt x="98" y="108"/>
                </a:lnTo>
                <a:lnTo>
                  <a:pt x="114" y="102"/>
                </a:lnTo>
                <a:lnTo>
                  <a:pt x="131" y="95"/>
                </a:lnTo>
                <a:lnTo>
                  <a:pt x="147" y="88"/>
                </a:lnTo>
                <a:lnTo>
                  <a:pt x="164" y="80"/>
                </a:lnTo>
                <a:lnTo>
                  <a:pt x="180" y="72"/>
                </a:lnTo>
                <a:lnTo>
                  <a:pt x="196" y="64"/>
                </a:lnTo>
                <a:lnTo>
                  <a:pt x="213" y="56"/>
                </a:lnTo>
                <a:lnTo>
                  <a:pt x="229" y="48"/>
                </a:lnTo>
                <a:lnTo>
                  <a:pt x="246" y="41"/>
                </a:lnTo>
                <a:lnTo>
                  <a:pt x="262" y="33"/>
                </a:lnTo>
                <a:lnTo>
                  <a:pt x="278" y="27"/>
                </a:lnTo>
                <a:lnTo>
                  <a:pt x="295" y="20"/>
                </a:lnTo>
                <a:lnTo>
                  <a:pt x="311" y="15"/>
                </a:lnTo>
                <a:lnTo>
                  <a:pt x="327" y="10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8"/>
                </a:lnTo>
                <a:lnTo>
                  <a:pt x="327" y="11"/>
                </a:lnTo>
                <a:lnTo>
                  <a:pt x="311" y="16"/>
                </a:lnTo>
                <a:lnTo>
                  <a:pt x="295" y="22"/>
                </a:lnTo>
                <a:lnTo>
                  <a:pt x="278" y="28"/>
                </a:lnTo>
                <a:lnTo>
                  <a:pt x="262" y="35"/>
                </a:lnTo>
                <a:lnTo>
                  <a:pt x="246" y="42"/>
                </a:lnTo>
                <a:lnTo>
                  <a:pt x="229" y="50"/>
                </a:lnTo>
                <a:lnTo>
                  <a:pt x="213" y="58"/>
                </a:lnTo>
                <a:lnTo>
                  <a:pt x="196" y="66"/>
                </a:lnTo>
                <a:lnTo>
                  <a:pt x="180" y="74"/>
                </a:lnTo>
                <a:lnTo>
                  <a:pt x="164" y="82"/>
                </a:lnTo>
                <a:lnTo>
                  <a:pt x="147" y="89"/>
                </a:lnTo>
                <a:lnTo>
                  <a:pt x="131" y="97"/>
                </a:lnTo>
                <a:lnTo>
                  <a:pt x="114" y="104"/>
                </a:lnTo>
                <a:lnTo>
                  <a:pt x="98" y="110"/>
                </a:lnTo>
                <a:lnTo>
                  <a:pt x="82" y="116"/>
                </a:lnTo>
                <a:lnTo>
                  <a:pt x="65" y="120"/>
                </a:lnTo>
                <a:lnTo>
                  <a:pt x="49" y="124"/>
                </a:lnTo>
                <a:lnTo>
                  <a:pt x="33" y="127"/>
                </a:lnTo>
                <a:lnTo>
                  <a:pt x="16" y="129"/>
                </a:lnTo>
                <a:lnTo>
                  <a:pt x="0" y="13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2057400" y="5953125"/>
            <a:ext cx="3743325" cy="581025"/>
          </a:xfrm>
          <a:custGeom>
            <a:avLst/>
            <a:gdLst/>
            <a:ahLst/>
            <a:cxnLst/>
            <a:rect l="l" t="t" r="r" b="b"/>
            <a:pathLst>
              <a:path w="393" h="61">
                <a:moveTo>
                  <a:pt x="0" y="60"/>
                </a:moveTo>
                <a:lnTo>
                  <a:pt x="16" y="60"/>
                </a:lnTo>
                <a:lnTo>
                  <a:pt x="33" y="59"/>
                </a:lnTo>
                <a:lnTo>
                  <a:pt x="49" y="57"/>
                </a:lnTo>
                <a:lnTo>
                  <a:pt x="65" y="55"/>
                </a:lnTo>
                <a:lnTo>
                  <a:pt x="82" y="53"/>
                </a:lnTo>
                <a:lnTo>
                  <a:pt x="98" y="50"/>
                </a:lnTo>
                <a:lnTo>
                  <a:pt x="114" y="48"/>
                </a:lnTo>
                <a:lnTo>
                  <a:pt x="131" y="44"/>
                </a:lnTo>
                <a:lnTo>
                  <a:pt x="147" y="41"/>
                </a:lnTo>
                <a:lnTo>
                  <a:pt x="164" y="37"/>
                </a:lnTo>
                <a:lnTo>
                  <a:pt x="180" y="34"/>
                </a:lnTo>
                <a:lnTo>
                  <a:pt x="196" y="30"/>
                </a:lnTo>
                <a:lnTo>
                  <a:pt x="213" y="26"/>
                </a:lnTo>
                <a:lnTo>
                  <a:pt x="229" y="23"/>
                </a:lnTo>
                <a:lnTo>
                  <a:pt x="246" y="19"/>
                </a:lnTo>
                <a:lnTo>
                  <a:pt x="262" y="16"/>
                </a:lnTo>
                <a:lnTo>
                  <a:pt x="278" y="12"/>
                </a:lnTo>
                <a:lnTo>
                  <a:pt x="295" y="9"/>
                </a:lnTo>
                <a:lnTo>
                  <a:pt x="311" y="7"/>
                </a:lnTo>
                <a:lnTo>
                  <a:pt x="327" y="4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2"/>
                </a:lnTo>
                <a:lnTo>
                  <a:pt x="344" y="3"/>
                </a:lnTo>
                <a:lnTo>
                  <a:pt x="327" y="5"/>
                </a:lnTo>
                <a:lnTo>
                  <a:pt x="311" y="7"/>
                </a:lnTo>
                <a:lnTo>
                  <a:pt x="295" y="10"/>
                </a:lnTo>
                <a:lnTo>
                  <a:pt x="278" y="13"/>
                </a:lnTo>
                <a:lnTo>
                  <a:pt x="262" y="16"/>
                </a:lnTo>
                <a:lnTo>
                  <a:pt x="246" y="20"/>
                </a:lnTo>
                <a:lnTo>
                  <a:pt x="229" y="23"/>
                </a:lnTo>
                <a:lnTo>
                  <a:pt x="213" y="27"/>
                </a:lnTo>
                <a:lnTo>
                  <a:pt x="196" y="31"/>
                </a:lnTo>
                <a:lnTo>
                  <a:pt x="180" y="34"/>
                </a:lnTo>
                <a:lnTo>
                  <a:pt x="164" y="38"/>
                </a:lnTo>
                <a:lnTo>
                  <a:pt x="147" y="42"/>
                </a:lnTo>
                <a:lnTo>
                  <a:pt x="131" y="45"/>
                </a:lnTo>
                <a:lnTo>
                  <a:pt x="114" y="48"/>
                </a:lnTo>
                <a:lnTo>
                  <a:pt x="98" y="51"/>
                </a:lnTo>
                <a:lnTo>
                  <a:pt x="82" y="54"/>
                </a:lnTo>
                <a:lnTo>
                  <a:pt x="65" y="56"/>
                </a:lnTo>
                <a:lnTo>
                  <a:pt x="49" y="58"/>
                </a:lnTo>
                <a:lnTo>
                  <a:pt x="33" y="59"/>
                </a:lnTo>
                <a:lnTo>
                  <a:pt x="16" y="60"/>
                </a:lnTo>
                <a:lnTo>
                  <a:pt x="0" y="61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reeform 85"/>
          <p:cNvSpPr/>
          <p:nvPr/>
        </p:nvSpPr>
        <p:spPr>
          <a:xfrm>
            <a:off x="2057400" y="6248400"/>
            <a:ext cx="3743325" cy="285750"/>
          </a:xfrm>
          <a:custGeom>
            <a:avLst/>
            <a:gdLst/>
            <a:ahLst/>
            <a:cxnLst/>
            <a:rect l="l" t="t" r="r" b="b"/>
            <a:pathLst>
              <a:path w="393" h="30">
                <a:moveTo>
                  <a:pt x="0" y="30"/>
                </a:moveTo>
                <a:lnTo>
                  <a:pt x="16" y="29"/>
                </a:lnTo>
                <a:lnTo>
                  <a:pt x="33" y="29"/>
                </a:lnTo>
                <a:lnTo>
                  <a:pt x="49" y="28"/>
                </a:lnTo>
                <a:lnTo>
                  <a:pt x="65" y="27"/>
                </a:lnTo>
                <a:lnTo>
                  <a:pt x="82" y="26"/>
                </a:lnTo>
                <a:lnTo>
                  <a:pt x="98" y="25"/>
                </a:lnTo>
                <a:lnTo>
                  <a:pt x="114" y="23"/>
                </a:lnTo>
                <a:lnTo>
                  <a:pt x="131" y="22"/>
                </a:lnTo>
                <a:lnTo>
                  <a:pt x="147" y="20"/>
                </a:lnTo>
                <a:lnTo>
                  <a:pt x="164" y="18"/>
                </a:lnTo>
                <a:lnTo>
                  <a:pt x="180" y="17"/>
                </a:lnTo>
                <a:lnTo>
                  <a:pt x="196" y="15"/>
                </a:lnTo>
                <a:lnTo>
                  <a:pt x="213" y="13"/>
                </a:lnTo>
                <a:lnTo>
                  <a:pt x="229" y="11"/>
                </a:lnTo>
                <a:lnTo>
                  <a:pt x="246" y="9"/>
                </a:lnTo>
                <a:lnTo>
                  <a:pt x="262" y="7"/>
                </a:lnTo>
                <a:lnTo>
                  <a:pt x="278" y="6"/>
                </a:lnTo>
                <a:lnTo>
                  <a:pt x="295" y="4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0"/>
                </a:lnTo>
                <a:lnTo>
                  <a:pt x="377" y="0"/>
                </a:lnTo>
                <a:lnTo>
                  <a:pt x="360" y="1"/>
                </a:lnTo>
                <a:lnTo>
                  <a:pt x="344" y="1"/>
                </a:lnTo>
                <a:lnTo>
                  <a:pt x="327" y="2"/>
                </a:lnTo>
                <a:lnTo>
                  <a:pt x="311" y="3"/>
                </a:lnTo>
                <a:lnTo>
                  <a:pt x="295" y="5"/>
                </a:lnTo>
                <a:lnTo>
                  <a:pt x="278" y="6"/>
                </a:lnTo>
                <a:lnTo>
                  <a:pt x="262" y="8"/>
                </a:lnTo>
                <a:lnTo>
                  <a:pt x="246" y="10"/>
                </a:lnTo>
                <a:lnTo>
                  <a:pt x="229" y="11"/>
                </a:lnTo>
                <a:lnTo>
                  <a:pt x="213" y="13"/>
                </a:lnTo>
                <a:lnTo>
                  <a:pt x="196" y="15"/>
                </a:lnTo>
                <a:lnTo>
                  <a:pt x="180" y="17"/>
                </a:lnTo>
                <a:lnTo>
                  <a:pt x="164" y="19"/>
                </a:lnTo>
                <a:lnTo>
                  <a:pt x="147" y="21"/>
                </a:lnTo>
                <a:lnTo>
                  <a:pt x="131" y="22"/>
                </a:lnTo>
                <a:lnTo>
                  <a:pt x="114" y="24"/>
                </a:lnTo>
                <a:lnTo>
                  <a:pt x="98" y="25"/>
                </a:lnTo>
                <a:lnTo>
                  <a:pt x="82" y="27"/>
                </a:lnTo>
                <a:lnTo>
                  <a:pt x="65" y="28"/>
                </a:lnTo>
                <a:lnTo>
                  <a:pt x="49" y="29"/>
                </a:lnTo>
                <a:lnTo>
                  <a:pt x="33" y="29"/>
                </a:lnTo>
                <a:lnTo>
                  <a:pt x="1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941195" y="1304925"/>
            <a:ext cx="114300" cy="760612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941195" y="2122687"/>
            <a:ext cx="114300" cy="457030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941195" y="2636866"/>
            <a:ext cx="114300" cy="42154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941195" y="3115561"/>
            <a:ext cx="114300" cy="331247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941195" y="3503958"/>
            <a:ext cx="114300" cy="324042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941195" y="3885150"/>
            <a:ext cx="114300" cy="321487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941195" y="4263787"/>
            <a:ext cx="114300" cy="309971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941195" y="4630908"/>
            <a:ext cx="114300" cy="296990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941195" y="4985048"/>
            <a:ext cx="114300" cy="2791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941195" y="5321318"/>
            <a:ext cx="114300" cy="240798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941195" y="5619266"/>
            <a:ext cx="114300" cy="222234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941195" y="5898650"/>
            <a:ext cx="114300" cy="184070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941195" y="6139870"/>
            <a:ext cx="114300" cy="119831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941195" y="6316851"/>
            <a:ext cx="114300" cy="91496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941195" y="6465497"/>
            <a:ext cx="114300" cy="686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800725" y="1590675"/>
            <a:ext cx="114300" cy="1311349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800725" y="2959174"/>
            <a:ext cx="114300" cy="1179707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5800725" y="4196031"/>
            <a:ext cx="114300" cy="1109496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5800725" y="5362677"/>
            <a:ext cx="114300" cy="597821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5800725" y="6017648"/>
            <a:ext cx="114300" cy="230752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257175" y="1613793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257175" y="2227377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09" name="TextBox 108"/>
          <p:cNvSpPr txBox="1"/>
          <p:nvPr/>
        </p:nvSpPr>
        <p:spPr>
          <a:xfrm>
            <a:off x="257175" y="2723814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257175" y="315736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257175" y="3594542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57175" y="3922068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57175" y="4294947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4" name="TextBox 113"/>
          <p:cNvSpPr txBox="1"/>
          <p:nvPr/>
        </p:nvSpPr>
        <p:spPr>
          <a:xfrm>
            <a:off x="257175" y="4655578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257175" y="49530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257175" y="5210175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257175" y="536257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8" name="TextBox 117"/>
          <p:cNvSpPr txBox="1"/>
          <p:nvPr/>
        </p:nvSpPr>
        <p:spPr>
          <a:xfrm>
            <a:off x="257175" y="561975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257175" y="587692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20" name="TextBox 119"/>
          <p:cNvSpPr txBox="1"/>
          <p:nvPr/>
        </p:nvSpPr>
        <p:spPr>
          <a:xfrm>
            <a:off x="257175" y="61341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257175" y="6391275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5972175" y="2122525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3" name="TextBox 122"/>
          <p:cNvSpPr txBox="1"/>
          <p:nvPr/>
        </p:nvSpPr>
        <p:spPr>
          <a:xfrm>
            <a:off x="5972175" y="3425203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5972175" y="4626954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5" name="TextBox 124"/>
          <p:cNvSpPr txBox="1"/>
          <p:nvPr/>
        </p:nvSpPr>
        <p:spPr>
          <a:xfrm>
            <a:off x="5972175" y="5537763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5972175" y="6009199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27" name="Rounded Rectangle 126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31" name="TextBox 1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524297" y="1624880"/>
            <a:ext cx="130599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1617839"/>
            <a:ext cx="92663" cy="134782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658183" y="2230501"/>
            <a:ext cx="120681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Corrugated liner pre-printing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356866" y="2351202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344161"/>
            <a:ext cx="92663" cy="13478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358592" y="2726938"/>
            <a:ext cx="150640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Specialty box-forming and assembly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356866" y="2847639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840598"/>
            <a:ext cx="92663" cy="134782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525774" y="3160484"/>
            <a:ext cx="133922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slotting, scoring and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89302" y="3281185"/>
            <a:ext cx="84099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creasing machines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274144"/>
            <a:ext cx="92663" cy="134782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231725" y="3605629"/>
            <a:ext cx="59856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Single facers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598588"/>
            <a:ext cx="92663" cy="134782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365563" y="3985542"/>
            <a:ext cx="146473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Double facers and gluing systems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978501"/>
            <a:ext cx="92663" cy="134782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353484" y="4298071"/>
            <a:ext cx="15115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Slitter-scorers, cut-off machines and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45886" y="4418772"/>
            <a:ext cx="8844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corrugator stackers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411731"/>
            <a:ext cx="92663" cy="13478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315176" y="4658702"/>
            <a:ext cx="154981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Flute laminating and sheet-mounting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1356866" y="4779403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772362"/>
            <a:ext cx="92663" cy="13478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27929" y="4956124"/>
            <a:ext cx="123706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flexo printing and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738038" y="5076825"/>
            <a:ext cx="109225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 machines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069784"/>
            <a:ext cx="92663" cy="134782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722912" y="5221262"/>
            <a:ext cx="110738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214221"/>
            <a:ext cx="92663" cy="13478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340518" y="5365699"/>
            <a:ext cx="152447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479359"/>
            <a:ext cx="92663" cy="13478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30287" y="5622874"/>
            <a:ext cx="123470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Stitching and box-joint taping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1356866" y="5743575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736534"/>
            <a:ext cx="92663" cy="134782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1195286" y="5880049"/>
            <a:ext cx="6697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Integrated flexo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97383" y="6000750"/>
            <a:ext cx="13329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printer-slotter-die-cutter lines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993709"/>
            <a:ext cx="92663" cy="13478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340125" y="6137224"/>
            <a:ext cx="152486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Reel stands, splicers, preheaters and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10147" y="6257925"/>
            <a:ext cx="122014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other corrugator auxiliaries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250884"/>
            <a:ext cx="92663" cy="134782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482257" y="6402362"/>
            <a:ext cx="134803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flatbed die-cutters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395321"/>
            <a:ext cx="92663" cy="134782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5972175" y="2125649"/>
            <a:ext cx="102388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Captive / In-house Box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972175" y="2246350"/>
            <a:ext cx="9390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Manufacturing Units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2458" y="2239309"/>
            <a:ext cx="92663" cy="134782"/>
          </a:xfrm>
          <a:prstGeom prst="rect">
            <a:avLst/>
          </a:prstGeom>
        </p:spPr>
      </p:pic>
      <p:sp>
        <p:nvSpPr>
          <p:cNvPr id="174" name="TextBox 173"/>
          <p:cNvSpPr txBox="1"/>
          <p:nvPr/>
        </p:nvSpPr>
        <p:spPr>
          <a:xfrm>
            <a:off x="5972175" y="3428327"/>
            <a:ext cx="1335464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Independent Sheet Plants and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972175" y="3549028"/>
            <a:ext cx="71231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Box Converters</a:t>
            </a:r>
          </a:p>
        </p:txBody>
      </p:sp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5751" y="3541987"/>
            <a:ext cx="92663" cy="134782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5972175" y="4630078"/>
            <a:ext cx="136207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Independent Corrugated Sheet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972175" y="4750779"/>
            <a:ext cx="40425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Feeders</a:t>
            </a:r>
          </a:p>
        </p:txBody>
      </p:sp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7691" y="4743738"/>
            <a:ext cx="92663" cy="134782"/>
          </a:xfrm>
          <a:prstGeom prst="rect">
            <a:avLst/>
          </a:prstGeom>
        </p:spPr>
      </p:pic>
      <p:sp>
        <p:nvSpPr>
          <p:cNvPr id="180" name="TextBox 179"/>
          <p:cNvSpPr txBox="1"/>
          <p:nvPr/>
        </p:nvSpPr>
        <p:spPr>
          <a:xfrm>
            <a:off x="5972175" y="5540887"/>
            <a:ext cx="110973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Contract and Third-party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972175" y="5661588"/>
            <a:ext cx="113724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Packaging Manufacturers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50679" y="5654547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5972175" y="6012323"/>
            <a:ext cx="1148244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Integrated Board and Box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5972175" y="6133024"/>
            <a:ext cx="69679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Manufacturers</a:t>
            </a:r>
          </a:p>
        </p:txBody>
      </p:sp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10231" y="6125983"/>
            <a:ext cx="92663" cy="134782"/>
          </a:xfrm>
          <a:prstGeom prst="rect">
            <a:avLst/>
          </a:prstGeom>
        </p:spPr>
      </p:pic>
      <p:sp>
        <p:nvSpPr>
          <p:cNvPr id="186" name="TextBox 185"/>
          <p:cNvSpPr txBox="1"/>
          <p:nvPr/>
        </p:nvSpPr>
        <p:spPr>
          <a:xfrm>
            <a:off x="7715250" y="14001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Standalone rotary die-cutters segment is projected to account for the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7715250" y="1575435"/>
            <a:ext cx="36940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largest share of the North America corrugated box packaging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7715250" y="1750695"/>
            <a:ext cx="36743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market, led by independent sheet plants and box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7715250" y="1925955"/>
            <a:ext cx="11316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 at US$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6043" y="1915731"/>
            <a:ext cx="134549" cy="195707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8971152" y="1925955"/>
            <a:ext cx="27045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in 2036. 'Standalone rotary die-cutters ×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715250" y="2101215"/>
            <a:ext cx="38720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Captive / In-house Box Manufacturing Units' is the single largest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715250" y="2276475"/>
            <a:ext cx="12691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cross-sectional cell (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3535" y="2266251"/>
            <a:ext cx="134549" cy="195707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9108645" y="2276475"/>
            <a:ext cx="22569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'Stitching and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7715250" y="2451735"/>
            <a:ext cx="37953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box-joint taping machines × Independent Sheet Plants and Box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7715250" y="2626995"/>
            <a:ext cx="3140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Converters' records the fastest growth at a CAGR of</a:t>
            </a:r>
          </a:p>
        </p:txBody>
      </p:sp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05354" y="2616771"/>
            <a:ext cx="134549" cy="195707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10980463" y="2626995"/>
            <a:ext cx="3429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7715250" y="2802255"/>
            <a:ext cx="9171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2026E–2036F.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7715250" y="3030092"/>
            <a:ext cx="38175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Combined, the top three equipment type × customer type cells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715250" y="3205352"/>
            <a:ext cx="23405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generate an absolute $ opportunity of</a:t>
            </a:r>
          </a:p>
        </p:txBody>
      </p:sp>
      <p:pic>
        <p:nvPicPr>
          <p:cNvPr id="203" name="Picture 2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04949" y="3195129"/>
            <a:ext cx="134549" cy="195707"/>
          </a:xfrm>
          <a:prstGeom prst="rect">
            <a:avLst/>
          </a:prstGeom>
        </p:spPr>
      </p:pic>
      <p:sp>
        <p:nvSpPr>
          <p:cNvPr id="204" name="TextBox 203"/>
          <p:cNvSpPr txBox="1"/>
          <p:nvPr/>
        </p:nvSpPr>
        <p:spPr>
          <a:xfrm>
            <a:off x="10180058" y="3205352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Share Analysis: Equipment Type × Customer Type, 2026E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North America market value, each row split across all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229225"/>
          </a:xfrm>
          <a:prstGeom prst="roundRect">
            <a:avLst>
              <a:gd name="adj" fmla="val 145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Share, Equipment Type × Customer Type, 2026E (% of each row)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4762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7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1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535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998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176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380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244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0102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8095" y="376504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Share Analysis: Equipment Type × Customer Type, 2026E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North America market value, each row split across all customer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Customer Type Mix by Equipment Type, 2026E (% share)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70961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49814" y="2851975"/>
            <a:ext cx="165021" cy="2400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7715250" y="14001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'Captive / In-house Box Manufacturing Units' holds the highest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15250" y="1575435"/>
            <a:ext cx="32139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'Integrated flexo printer-slotter-die-cutter lines'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78396" y="156521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053506" y="1575435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715250" y="1803273"/>
            <a:ext cx="36803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'Integrated flexo printer-slotter-die-cutter lines' is the most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715250" y="1978533"/>
            <a:ext cx="2990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concentrated equipment type sub-segment, with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54472" y="1968309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829581" y="1978533"/>
            <a:ext cx="9251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715250" y="2153793"/>
            <a:ext cx="27747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'Captive / In-house Box Manufacturing Units'.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2381631"/>
            <a:ext cx="33951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'Independent Sheet Plants and Box Converters' gains 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59533" y="237140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1234642" y="2381631"/>
            <a:ext cx="4530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15250" y="2556891"/>
            <a:ext cx="31142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of the North America cross-section by 2036F.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266825"/>
            <a:ext cx="70961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&amp; Attractiveness: Equipment Type × Customer Type, 2026E–2036F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476875"/>
          </a:xfrm>
          <a:prstGeom prst="roundRect">
            <a:avLst>
              <a:gd name="adj" fmla="val 139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Equipment Type × Customer Type, 2026E–2036F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50101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200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305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824484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Integrated Board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Corrugated Sheet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Independent Sheet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Plants and Box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Captive / In-house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Manufacturing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Contract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Third-party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216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2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2579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69353" y="401197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&amp; Attractiveness: Equipment Type × Customer Type, 2026E–2036F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600700" cy="5648325"/>
          </a:xfrm>
          <a:prstGeom prst="roundRect">
            <a:avLst>
              <a:gd name="adj" fmla="val 13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334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5895975" y="981075"/>
            <a:ext cx="1943100" cy="56483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029325" y="10668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029325" y="13049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029325" y="1390650"/>
            <a:ext cx="16764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7991475" y="981075"/>
            <a:ext cx="1943100" cy="56483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8124825" y="10668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124825" y="13049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124825" y="1390650"/>
            <a:ext cx="16764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10086975" y="981075"/>
            <a:ext cx="1943100" cy="56483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0220325" y="10668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0220325" y="13049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10220325" y="1390650"/>
            <a:ext cx="16764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'Slitter-scorers, cut-off machines and corrugator stackers × Independent Sheet Plants and Box Converters' ranks highest (5/5); 'Single facers × Integrated Board and Box Manufacturers' lowest (1/5), a deprioritised cell.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1400175"/>
            <a:ext cx="50199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Standalone rotary die-cutters × Independent Sheet Plants and Box Converters –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5314" y="138995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420423" y="1400175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156521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37254" y="1575435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03273"/>
            <a:ext cx="46382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Standalone rotary die-cutters × Independent Corrugated Sheet Feeders –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63613" y="179304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5038722" y="1803273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0874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275983" y="1803273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1978533"/>
            <a:ext cx="2810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2206371"/>
            <a:ext cx="48924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Standalone rotary die-cutters × Captive / In-house Box Manufacturing Units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17805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292915" y="2206371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2371407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37254" y="2381631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2609469"/>
            <a:ext cx="47994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Corrugated liner pre-printing machines × Independent Sheet Plants and Box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2784729"/>
            <a:ext cx="8332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 –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8642" y="277450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233752" y="2784729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903" y="277450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471013" y="2784729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012566"/>
            <a:ext cx="52164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Specialty box-forming and assembly machines × Independent Sheet Plants and Box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187826"/>
            <a:ext cx="8332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 –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8642" y="31776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233752" y="3187826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903" y="3177603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471013" y="3187826"/>
            <a:ext cx="3508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029325" y="1400175"/>
            <a:ext cx="12600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rotary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029325" y="1575435"/>
            <a:ext cx="16251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die-cutters × Independent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029325" y="1750695"/>
            <a:ext cx="13190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Sheet Plants and Box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1925955"/>
            <a:ext cx="10731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Converters' adds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51641" y="1915731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7226750" y="1925955"/>
            <a:ext cx="311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2101215"/>
            <a:ext cx="9564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2090991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7110081" y="2101215"/>
            <a:ext cx="4293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2276475"/>
            <a:ext cx="11347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24825" y="1400175"/>
            <a:ext cx="15327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'Stitching and box-joint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1575435"/>
            <a:ext cx="11553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taping machines ×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1750695"/>
            <a:ext cx="16071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Independent Sheet Plants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1925955"/>
            <a:ext cx="16573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Box Converters' grows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2101215"/>
            <a:ext cx="2981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72106" y="2090991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547215" y="2101215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42811" y="2090991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9117920" y="2101215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2276475"/>
            <a:ext cx="15170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the cross-section.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 × End Use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Snapshot: Equipment Type × End Use, 2026E vs 2036F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North America market value (US$ Mn) for each equipment type sub-segment across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391025"/>
          </a:xfrm>
          <a:prstGeom prst="roundRect">
            <a:avLst>
              <a:gd name="adj" fmla="val 17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Value, Equipment Type × End Use, 2026E and 2036F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908767" cy="39242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13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91376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39602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1293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017270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of-sale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49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95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auxiliaries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74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1720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99060" y="356570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Snapshot: Equipment Type × End Use, 2026E vs 2036F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North America market value (US$ Mn) for each equipment type sub-segment across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209925"/>
          </a:xfrm>
          <a:prstGeom prst="roundRect">
            <a:avLst>
              <a:gd name="adj" fmla="val 23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Value, Equipment Type × End Use, 2026E and 2036F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9008" cy="2743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949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3461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3642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017270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point-of-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6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909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8675" y="29750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Snapshot: Equipment Type × End Use, 2026E vs 2036F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North America market value (US$ Mn) for each equipment type sub-segment across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Flow, Equipment Type → End Use, 2036F (US$ Mn)</a:t>
            </a:r>
          </a:p>
        </p:txBody>
      </p:sp>
      <p:sp>
        <p:nvSpPr>
          <p:cNvPr id="12" name="Freeform 11"/>
          <p:cNvSpPr/>
          <p:nvPr/>
        </p:nvSpPr>
        <p:spPr>
          <a:xfrm>
            <a:off x="2057400" y="1304925"/>
            <a:ext cx="3743325" cy="266700"/>
          </a:xfrm>
          <a:custGeom>
            <a:avLst/>
            <a:gdLst/>
            <a:ahLst/>
            <a:cxnLst/>
            <a:rect l="l" t="t" r="r" b="b"/>
            <a:pathLst>
              <a:path w="393" h="28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5"/>
                </a:lnTo>
                <a:lnTo>
                  <a:pt x="147" y="6"/>
                </a:lnTo>
                <a:lnTo>
                  <a:pt x="164" y="7"/>
                </a:lnTo>
                <a:lnTo>
                  <a:pt x="180" y="8"/>
                </a:lnTo>
                <a:lnTo>
                  <a:pt x="196" y="9"/>
                </a:lnTo>
                <a:lnTo>
                  <a:pt x="213" y="10"/>
                </a:lnTo>
                <a:lnTo>
                  <a:pt x="229" y="11"/>
                </a:lnTo>
                <a:lnTo>
                  <a:pt x="246" y="12"/>
                </a:lnTo>
                <a:lnTo>
                  <a:pt x="262" y="13"/>
                </a:lnTo>
                <a:lnTo>
                  <a:pt x="278" y="14"/>
                </a:lnTo>
                <a:lnTo>
                  <a:pt x="295" y="15"/>
                </a:lnTo>
                <a:lnTo>
                  <a:pt x="311" y="16"/>
                </a:lnTo>
                <a:lnTo>
                  <a:pt x="327" y="17"/>
                </a:lnTo>
                <a:lnTo>
                  <a:pt x="344" y="17"/>
                </a:lnTo>
                <a:lnTo>
                  <a:pt x="360" y="18"/>
                </a:lnTo>
                <a:lnTo>
                  <a:pt x="377" y="18"/>
                </a:lnTo>
                <a:lnTo>
                  <a:pt x="393" y="18"/>
                </a:lnTo>
                <a:lnTo>
                  <a:pt x="393" y="28"/>
                </a:lnTo>
                <a:lnTo>
                  <a:pt x="377" y="28"/>
                </a:lnTo>
                <a:lnTo>
                  <a:pt x="360" y="27"/>
                </a:lnTo>
                <a:lnTo>
                  <a:pt x="344" y="27"/>
                </a:lnTo>
                <a:lnTo>
                  <a:pt x="327" y="26"/>
                </a:lnTo>
                <a:lnTo>
                  <a:pt x="311" y="26"/>
                </a:lnTo>
                <a:lnTo>
                  <a:pt x="295" y="25"/>
                </a:lnTo>
                <a:lnTo>
                  <a:pt x="278" y="24"/>
                </a:lnTo>
                <a:lnTo>
                  <a:pt x="262" y="23"/>
                </a:lnTo>
                <a:lnTo>
                  <a:pt x="246" y="22"/>
                </a:lnTo>
                <a:lnTo>
                  <a:pt x="229" y="21"/>
                </a:lnTo>
                <a:lnTo>
                  <a:pt x="213" y="20"/>
                </a:lnTo>
                <a:lnTo>
                  <a:pt x="196" y="19"/>
                </a:lnTo>
                <a:lnTo>
                  <a:pt x="180" y="17"/>
                </a:lnTo>
                <a:lnTo>
                  <a:pt x="164" y="16"/>
                </a:lnTo>
                <a:lnTo>
                  <a:pt x="147" y="15"/>
                </a:lnTo>
                <a:lnTo>
                  <a:pt x="131" y="14"/>
                </a:lnTo>
                <a:lnTo>
                  <a:pt x="114" y="13"/>
                </a:lnTo>
                <a:lnTo>
                  <a:pt x="98" y="12"/>
                </a:lnTo>
                <a:lnTo>
                  <a:pt x="82" y="12"/>
                </a:lnTo>
                <a:lnTo>
                  <a:pt x="65" y="11"/>
                </a:lnTo>
                <a:lnTo>
                  <a:pt x="49" y="10"/>
                </a:lnTo>
                <a:lnTo>
                  <a:pt x="33" y="10"/>
                </a:lnTo>
                <a:lnTo>
                  <a:pt x="1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Freeform 12"/>
          <p:cNvSpPr/>
          <p:nvPr/>
        </p:nvSpPr>
        <p:spPr>
          <a:xfrm>
            <a:off x="2057400" y="1400175"/>
            <a:ext cx="3743325" cy="714375"/>
          </a:xfrm>
          <a:custGeom>
            <a:avLst/>
            <a:gdLst/>
            <a:ahLst/>
            <a:cxnLst/>
            <a:rect l="l" t="t" r="r" b="b"/>
            <a:pathLst>
              <a:path w="393" h="75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7"/>
                </a:lnTo>
                <a:lnTo>
                  <a:pt x="98" y="10"/>
                </a:lnTo>
                <a:lnTo>
                  <a:pt x="114" y="13"/>
                </a:lnTo>
                <a:lnTo>
                  <a:pt x="131" y="17"/>
                </a:lnTo>
                <a:lnTo>
                  <a:pt x="147" y="21"/>
                </a:lnTo>
                <a:lnTo>
                  <a:pt x="164" y="24"/>
                </a:lnTo>
                <a:lnTo>
                  <a:pt x="180" y="29"/>
                </a:lnTo>
                <a:lnTo>
                  <a:pt x="196" y="33"/>
                </a:lnTo>
                <a:lnTo>
                  <a:pt x="213" y="37"/>
                </a:lnTo>
                <a:lnTo>
                  <a:pt x="229" y="41"/>
                </a:lnTo>
                <a:lnTo>
                  <a:pt x="246" y="45"/>
                </a:lnTo>
                <a:lnTo>
                  <a:pt x="262" y="49"/>
                </a:lnTo>
                <a:lnTo>
                  <a:pt x="278" y="52"/>
                </a:lnTo>
                <a:lnTo>
                  <a:pt x="295" y="55"/>
                </a:lnTo>
                <a:lnTo>
                  <a:pt x="311" y="58"/>
                </a:lnTo>
                <a:lnTo>
                  <a:pt x="327" y="61"/>
                </a:lnTo>
                <a:lnTo>
                  <a:pt x="344" y="63"/>
                </a:lnTo>
                <a:lnTo>
                  <a:pt x="360" y="64"/>
                </a:lnTo>
                <a:lnTo>
                  <a:pt x="377" y="65"/>
                </a:lnTo>
                <a:lnTo>
                  <a:pt x="393" y="66"/>
                </a:lnTo>
                <a:lnTo>
                  <a:pt x="393" y="75"/>
                </a:lnTo>
                <a:lnTo>
                  <a:pt x="377" y="75"/>
                </a:lnTo>
                <a:lnTo>
                  <a:pt x="360" y="74"/>
                </a:lnTo>
                <a:lnTo>
                  <a:pt x="344" y="72"/>
                </a:lnTo>
                <a:lnTo>
                  <a:pt x="327" y="70"/>
                </a:lnTo>
                <a:lnTo>
                  <a:pt x="311" y="67"/>
                </a:lnTo>
                <a:lnTo>
                  <a:pt x="295" y="65"/>
                </a:lnTo>
                <a:lnTo>
                  <a:pt x="278" y="61"/>
                </a:lnTo>
                <a:lnTo>
                  <a:pt x="262" y="58"/>
                </a:lnTo>
                <a:lnTo>
                  <a:pt x="246" y="54"/>
                </a:lnTo>
                <a:lnTo>
                  <a:pt x="229" y="50"/>
                </a:lnTo>
                <a:lnTo>
                  <a:pt x="213" y="46"/>
                </a:lnTo>
                <a:lnTo>
                  <a:pt x="196" y="42"/>
                </a:lnTo>
                <a:lnTo>
                  <a:pt x="180" y="38"/>
                </a:lnTo>
                <a:lnTo>
                  <a:pt x="164" y="34"/>
                </a:lnTo>
                <a:lnTo>
                  <a:pt x="147" y="30"/>
                </a:lnTo>
                <a:lnTo>
                  <a:pt x="131" y="26"/>
                </a:lnTo>
                <a:lnTo>
                  <a:pt x="114" y="22"/>
                </a:lnTo>
                <a:lnTo>
                  <a:pt x="98" y="19"/>
                </a:lnTo>
                <a:lnTo>
                  <a:pt x="82" y="16"/>
                </a:lnTo>
                <a:lnTo>
                  <a:pt x="65" y="14"/>
                </a:lnTo>
                <a:lnTo>
                  <a:pt x="49" y="12"/>
                </a:lnTo>
                <a:lnTo>
                  <a:pt x="33" y="10"/>
                </a:lnTo>
                <a:lnTo>
                  <a:pt x="16" y="9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Freeform 13"/>
          <p:cNvSpPr/>
          <p:nvPr/>
        </p:nvSpPr>
        <p:spPr>
          <a:xfrm>
            <a:off x="2057400" y="1485900"/>
            <a:ext cx="3743325" cy="1171575"/>
          </a:xfrm>
          <a:custGeom>
            <a:avLst/>
            <a:gdLst/>
            <a:ahLst/>
            <a:cxnLst/>
            <a:rect l="l" t="t" r="r" b="b"/>
            <a:pathLst>
              <a:path w="393" h="123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5"/>
                </a:lnTo>
                <a:lnTo>
                  <a:pt x="65" y="8"/>
                </a:lnTo>
                <a:lnTo>
                  <a:pt x="82" y="13"/>
                </a:lnTo>
                <a:lnTo>
                  <a:pt x="98" y="18"/>
                </a:lnTo>
                <a:lnTo>
                  <a:pt x="114" y="23"/>
                </a:lnTo>
                <a:lnTo>
                  <a:pt x="131" y="30"/>
                </a:lnTo>
                <a:lnTo>
                  <a:pt x="147" y="36"/>
                </a:lnTo>
                <a:lnTo>
                  <a:pt x="164" y="43"/>
                </a:lnTo>
                <a:lnTo>
                  <a:pt x="180" y="50"/>
                </a:lnTo>
                <a:lnTo>
                  <a:pt x="196" y="57"/>
                </a:lnTo>
                <a:lnTo>
                  <a:pt x="213" y="64"/>
                </a:lnTo>
                <a:lnTo>
                  <a:pt x="229" y="71"/>
                </a:lnTo>
                <a:lnTo>
                  <a:pt x="246" y="78"/>
                </a:lnTo>
                <a:lnTo>
                  <a:pt x="262" y="85"/>
                </a:lnTo>
                <a:lnTo>
                  <a:pt x="278" y="91"/>
                </a:lnTo>
                <a:lnTo>
                  <a:pt x="295" y="96"/>
                </a:lnTo>
                <a:lnTo>
                  <a:pt x="311" y="101"/>
                </a:lnTo>
                <a:lnTo>
                  <a:pt x="327" y="106"/>
                </a:lnTo>
                <a:lnTo>
                  <a:pt x="344" y="109"/>
                </a:lnTo>
                <a:lnTo>
                  <a:pt x="360" y="112"/>
                </a:lnTo>
                <a:lnTo>
                  <a:pt x="377" y="114"/>
                </a:lnTo>
                <a:lnTo>
                  <a:pt x="393" y="114"/>
                </a:lnTo>
                <a:lnTo>
                  <a:pt x="393" y="123"/>
                </a:lnTo>
                <a:lnTo>
                  <a:pt x="377" y="123"/>
                </a:lnTo>
                <a:lnTo>
                  <a:pt x="360" y="121"/>
                </a:lnTo>
                <a:lnTo>
                  <a:pt x="344" y="119"/>
                </a:lnTo>
                <a:lnTo>
                  <a:pt x="327" y="115"/>
                </a:lnTo>
                <a:lnTo>
                  <a:pt x="311" y="111"/>
                </a:lnTo>
                <a:lnTo>
                  <a:pt x="295" y="106"/>
                </a:lnTo>
                <a:lnTo>
                  <a:pt x="278" y="100"/>
                </a:lnTo>
                <a:lnTo>
                  <a:pt x="262" y="94"/>
                </a:lnTo>
                <a:lnTo>
                  <a:pt x="246" y="87"/>
                </a:lnTo>
                <a:lnTo>
                  <a:pt x="229" y="80"/>
                </a:lnTo>
                <a:lnTo>
                  <a:pt x="213" y="73"/>
                </a:lnTo>
                <a:lnTo>
                  <a:pt x="196" y="66"/>
                </a:lnTo>
                <a:lnTo>
                  <a:pt x="180" y="59"/>
                </a:lnTo>
                <a:lnTo>
                  <a:pt x="164" y="52"/>
                </a:lnTo>
                <a:lnTo>
                  <a:pt x="147" y="45"/>
                </a:lnTo>
                <a:lnTo>
                  <a:pt x="131" y="39"/>
                </a:lnTo>
                <a:lnTo>
                  <a:pt x="114" y="32"/>
                </a:lnTo>
                <a:lnTo>
                  <a:pt x="98" y="27"/>
                </a:lnTo>
                <a:lnTo>
                  <a:pt x="82" y="22"/>
                </a:lnTo>
                <a:lnTo>
                  <a:pt x="65" y="17"/>
                </a:lnTo>
                <a:lnTo>
                  <a:pt x="49" y="14"/>
                </a:lnTo>
                <a:lnTo>
                  <a:pt x="33" y="11"/>
                </a:lnTo>
                <a:lnTo>
                  <a:pt x="16" y="9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reeform 14"/>
          <p:cNvSpPr/>
          <p:nvPr/>
        </p:nvSpPr>
        <p:spPr>
          <a:xfrm>
            <a:off x="2057400" y="1571625"/>
            <a:ext cx="3743325" cy="1628775"/>
          </a:xfrm>
          <a:custGeom>
            <a:avLst/>
            <a:gdLst/>
            <a:ahLst/>
            <a:cxnLst/>
            <a:rect l="l" t="t" r="r" b="b"/>
            <a:pathLst>
              <a:path w="393" h="171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8"/>
                </a:lnTo>
                <a:lnTo>
                  <a:pt x="98" y="25"/>
                </a:lnTo>
                <a:lnTo>
                  <a:pt x="114" y="33"/>
                </a:lnTo>
                <a:lnTo>
                  <a:pt x="131" y="42"/>
                </a:lnTo>
                <a:lnTo>
                  <a:pt x="147" y="52"/>
                </a:lnTo>
                <a:lnTo>
                  <a:pt x="164" y="61"/>
                </a:lnTo>
                <a:lnTo>
                  <a:pt x="180" y="71"/>
                </a:lnTo>
                <a:lnTo>
                  <a:pt x="196" y="81"/>
                </a:lnTo>
                <a:lnTo>
                  <a:pt x="213" y="92"/>
                </a:lnTo>
                <a:lnTo>
                  <a:pt x="229" y="102"/>
                </a:lnTo>
                <a:lnTo>
                  <a:pt x="246" y="111"/>
                </a:lnTo>
                <a:lnTo>
                  <a:pt x="262" y="121"/>
                </a:lnTo>
                <a:lnTo>
                  <a:pt x="278" y="129"/>
                </a:lnTo>
                <a:lnTo>
                  <a:pt x="295" y="138"/>
                </a:lnTo>
                <a:lnTo>
                  <a:pt x="311" y="145"/>
                </a:lnTo>
                <a:lnTo>
                  <a:pt x="327" y="151"/>
                </a:lnTo>
                <a:lnTo>
                  <a:pt x="344" y="156"/>
                </a:lnTo>
                <a:lnTo>
                  <a:pt x="360" y="160"/>
                </a:lnTo>
                <a:lnTo>
                  <a:pt x="377" y="162"/>
                </a:lnTo>
                <a:lnTo>
                  <a:pt x="393" y="163"/>
                </a:lnTo>
                <a:lnTo>
                  <a:pt x="393" y="171"/>
                </a:lnTo>
                <a:lnTo>
                  <a:pt x="377" y="170"/>
                </a:lnTo>
                <a:lnTo>
                  <a:pt x="360" y="167"/>
                </a:lnTo>
                <a:lnTo>
                  <a:pt x="344" y="164"/>
                </a:lnTo>
                <a:lnTo>
                  <a:pt x="327" y="159"/>
                </a:lnTo>
                <a:lnTo>
                  <a:pt x="311" y="152"/>
                </a:lnTo>
                <a:lnTo>
                  <a:pt x="295" y="145"/>
                </a:lnTo>
                <a:lnTo>
                  <a:pt x="278" y="137"/>
                </a:lnTo>
                <a:lnTo>
                  <a:pt x="262" y="128"/>
                </a:lnTo>
                <a:lnTo>
                  <a:pt x="246" y="119"/>
                </a:lnTo>
                <a:lnTo>
                  <a:pt x="229" y="109"/>
                </a:lnTo>
                <a:lnTo>
                  <a:pt x="213" y="99"/>
                </a:lnTo>
                <a:lnTo>
                  <a:pt x="196" y="89"/>
                </a:lnTo>
                <a:lnTo>
                  <a:pt x="180" y="79"/>
                </a:lnTo>
                <a:lnTo>
                  <a:pt x="164" y="69"/>
                </a:lnTo>
                <a:lnTo>
                  <a:pt x="147" y="59"/>
                </a:lnTo>
                <a:lnTo>
                  <a:pt x="131" y="50"/>
                </a:lnTo>
                <a:lnTo>
                  <a:pt x="114" y="41"/>
                </a:lnTo>
                <a:lnTo>
                  <a:pt x="98" y="33"/>
                </a:lnTo>
                <a:lnTo>
                  <a:pt x="82" y="26"/>
                </a:lnTo>
                <a:lnTo>
                  <a:pt x="65" y="20"/>
                </a:lnTo>
                <a:lnTo>
                  <a:pt x="49" y="15"/>
                </a:lnTo>
                <a:lnTo>
                  <a:pt x="33" y="11"/>
                </a:lnTo>
                <a:lnTo>
                  <a:pt x="16" y="8"/>
                </a:lnTo>
                <a:lnTo>
                  <a:pt x="0" y="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Freeform 15"/>
          <p:cNvSpPr/>
          <p:nvPr/>
        </p:nvSpPr>
        <p:spPr>
          <a:xfrm>
            <a:off x="2057400" y="1647825"/>
            <a:ext cx="3743325" cy="2105025"/>
          </a:xfrm>
          <a:custGeom>
            <a:avLst/>
            <a:gdLst/>
            <a:ahLst/>
            <a:cxnLst/>
            <a:rect l="l" t="t" r="r" b="b"/>
            <a:pathLst>
              <a:path w="393" h="221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3"/>
                </a:lnTo>
                <a:lnTo>
                  <a:pt x="98" y="33"/>
                </a:lnTo>
                <a:lnTo>
                  <a:pt x="114" y="43"/>
                </a:lnTo>
                <a:lnTo>
                  <a:pt x="131" y="55"/>
                </a:lnTo>
                <a:lnTo>
                  <a:pt x="147" y="67"/>
                </a:lnTo>
                <a:lnTo>
                  <a:pt x="164" y="80"/>
                </a:lnTo>
                <a:lnTo>
                  <a:pt x="180" y="93"/>
                </a:lnTo>
                <a:lnTo>
                  <a:pt x="196" y="106"/>
                </a:lnTo>
                <a:lnTo>
                  <a:pt x="213" y="119"/>
                </a:lnTo>
                <a:lnTo>
                  <a:pt x="229" y="132"/>
                </a:lnTo>
                <a:lnTo>
                  <a:pt x="246" y="145"/>
                </a:lnTo>
                <a:lnTo>
                  <a:pt x="262" y="157"/>
                </a:lnTo>
                <a:lnTo>
                  <a:pt x="278" y="169"/>
                </a:lnTo>
                <a:lnTo>
                  <a:pt x="295" y="179"/>
                </a:lnTo>
                <a:lnTo>
                  <a:pt x="311" y="189"/>
                </a:lnTo>
                <a:lnTo>
                  <a:pt x="327" y="197"/>
                </a:lnTo>
                <a:lnTo>
                  <a:pt x="344" y="204"/>
                </a:lnTo>
                <a:lnTo>
                  <a:pt x="360" y="208"/>
                </a:lnTo>
                <a:lnTo>
                  <a:pt x="377" y="212"/>
                </a:lnTo>
                <a:lnTo>
                  <a:pt x="393" y="213"/>
                </a:lnTo>
                <a:lnTo>
                  <a:pt x="393" y="221"/>
                </a:lnTo>
                <a:lnTo>
                  <a:pt x="377" y="220"/>
                </a:lnTo>
                <a:lnTo>
                  <a:pt x="360" y="216"/>
                </a:lnTo>
                <a:lnTo>
                  <a:pt x="344" y="212"/>
                </a:lnTo>
                <a:lnTo>
                  <a:pt x="327" y="205"/>
                </a:lnTo>
                <a:lnTo>
                  <a:pt x="311" y="197"/>
                </a:lnTo>
                <a:lnTo>
                  <a:pt x="295" y="187"/>
                </a:lnTo>
                <a:lnTo>
                  <a:pt x="278" y="177"/>
                </a:lnTo>
                <a:lnTo>
                  <a:pt x="262" y="165"/>
                </a:lnTo>
                <a:lnTo>
                  <a:pt x="246" y="153"/>
                </a:lnTo>
                <a:lnTo>
                  <a:pt x="229" y="141"/>
                </a:lnTo>
                <a:lnTo>
                  <a:pt x="213" y="127"/>
                </a:lnTo>
                <a:lnTo>
                  <a:pt x="196" y="114"/>
                </a:lnTo>
                <a:lnTo>
                  <a:pt x="180" y="101"/>
                </a:lnTo>
                <a:lnTo>
                  <a:pt x="164" y="88"/>
                </a:lnTo>
                <a:lnTo>
                  <a:pt x="147" y="75"/>
                </a:lnTo>
                <a:lnTo>
                  <a:pt x="131" y="63"/>
                </a:lnTo>
                <a:lnTo>
                  <a:pt x="114" y="51"/>
                </a:lnTo>
                <a:lnTo>
                  <a:pt x="98" y="41"/>
                </a:lnTo>
                <a:lnTo>
                  <a:pt x="82" y="31"/>
                </a:lnTo>
                <a:lnTo>
                  <a:pt x="65" y="23"/>
                </a:lnTo>
                <a:lnTo>
                  <a:pt x="49" y="17"/>
                </a:lnTo>
                <a:lnTo>
                  <a:pt x="33" y="12"/>
                </a:lnTo>
                <a:lnTo>
                  <a:pt x="16" y="9"/>
                </a:lnTo>
                <a:lnTo>
                  <a:pt x="0" y="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reeform 16"/>
          <p:cNvSpPr/>
          <p:nvPr/>
        </p:nvSpPr>
        <p:spPr>
          <a:xfrm>
            <a:off x="2057400" y="1724025"/>
            <a:ext cx="3743325" cy="2571750"/>
          </a:xfrm>
          <a:custGeom>
            <a:avLst/>
            <a:gdLst/>
            <a:ahLst/>
            <a:cxnLst/>
            <a:rect l="l" t="t" r="r" b="b"/>
            <a:pathLst>
              <a:path w="393" h="270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19"/>
                </a:lnTo>
                <a:lnTo>
                  <a:pt x="82" y="29"/>
                </a:lnTo>
                <a:lnTo>
                  <a:pt x="98" y="41"/>
                </a:lnTo>
                <a:lnTo>
                  <a:pt x="114" y="54"/>
                </a:lnTo>
                <a:lnTo>
                  <a:pt x="131" y="68"/>
                </a:lnTo>
                <a:lnTo>
                  <a:pt x="147" y="83"/>
                </a:lnTo>
                <a:lnTo>
                  <a:pt x="164" y="98"/>
                </a:lnTo>
                <a:lnTo>
                  <a:pt x="180" y="115"/>
                </a:lnTo>
                <a:lnTo>
                  <a:pt x="196" y="131"/>
                </a:lnTo>
                <a:lnTo>
                  <a:pt x="213" y="147"/>
                </a:lnTo>
                <a:lnTo>
                  <a:pt x="229" y="163"/>
                </a:lnTo>
                <a:lnTo>
                  <a:pt x="246" y="179"/>
                </a:lnTo>
                <a:lnTo>
                  <a:pt x="262" y="194"/>
                </a:lnTo>
                <a:lnTo>
                  <a:pt x="278" y="208"/>
                </a:lnTo>
                <a:lnTo>
                  <a:pt x="295" y="221"/>
                </a:lnTo>
                <a:lnTo>
                  <a:pt x="311" y="233"/>
                </a:lnTo>
                <a:lnTo>
                  <a:pt x="327" y="243"/>
                </a:lnTo>
                <a:lnTo>
                  <a:pt x="344" y="251"/>
                </a:lnTo>
                <a:lnTo>
                  <a:pt x="360" y="257"/>
                </a:lnTo>
                <a:lnTo>
                  <a:pt x="377" y="261"/>
                </a:lnTo>
                <a:lnTo>
                  <a:pt x="393" y="262"/>
                </a:lnTo>
                <a:lnTo>
                  <a:pt x="393" y="270"/>
                </a:lnTo>
                <a:lnTo>
                  <a:pt x="377" y="269"/>
                </a:lnTo>
                <a:lnTo>
                  <a:pt x="360" y="265"/>
                </a:lnTo>
                <a:lnTo>
                  <a:pt x="344" y="259"/>
                </a:lnTo>
                <a:lnTo>
                  <a:pt x="327" y="251"/>
                </a:lnTo>
                <a:lnTo>
                  <a:pt x="311" y="241"/>
                </a:lnTo>
                <a:lnTo>
                  <a:pt x="295" y="229"/>
                </a:lnTo>
                <a:lnTo>
                  <a:pt x="278" y="216"/>
                </a:lnTo>
                <a:lnTo>
                  <a:pt x="262" y="202"/>
                </a:lnTo>
                <a:lnTo>
                  <a:pt x="246" y="187"/>
                </a:lnTo>
                <a:lnTo>
                  <a:pt x="229" y="171"/>
                </a:lnTo>
                <a:lnTo>
                  <a:pt x="213" y="155"/>
                </a:lnTo>
                <a:lnTo>
                  <a:pt x="196" y="139"/>
                </a:lnTo>
                <a:lnTo>
                  <a:pt x="180" y="122"/>
                </a:lnTo>
                <a:lnTo>
                  <a:pt x="164" y="106"/>
                </a:lnTo>
                <a:lnTo>
                  <a:pt x="147" y="90"/>
                </a:lnTo>
                <a:lnTo>
                  <a:pt x="131" y="75"/>
                </a:lnTo>
                <a:lnTo>
                  <a:pt x="114" y="61"/>
                </a:lnTo>
                <a:lnTo>
                  <a:pt x="98" y="48"/>
                </a:lnTo>
                <a:lnTo>
                  <a:pt x="82" y="37"/>
                </a:lnTo>
                <a:lnTo>
                  <a:pt x="65" y="27"/>
                </a:lnTo>
                <a:lnTo>
                  <a:pt x="49" y="18"/>
                </a:lnTo>
                <a:lnTo>
                  <a:pt x="33" y="12"/>
                </a:lnTo>
                <a:lnTo>
                  <a:pt x="16" y="9"/>
                </a:lnTo>
                <a:lnTo>
                  <a:pt x="0" y="7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Freeform 17"/>
          <p:cNvSpPr/>
          <p:nvPr/>
        </p:nvSpPr>
        <p:spPr>
          <a:xfrm>
            <a:off x="2057400" y="1790700"/>
            <a:ext cx="3743325" cy="3076575"/>
          </a:xfrm>
          <a:custGeom>
            <a:avLst/>
            <a:gdLst/>
            <a:ahLst/>
            <a:cxnLst/>
            <a:rect l="l" t="t" r="r" b="b"/>
            <a:pathLst>
              <a:path w="393" h="323">
                <a:moveTo>
                  <a:pt x="0" y="0"/>
                </a:moveTo>
                <a:lnTo>
                  <a:pt x="16" y="2"/>
                </a:lnTo>
                <a:lnTo>
                  <a:pt x="33" y="6"/>
                </a:lnTo>
                <a:lnTo>
                  <a:pt x="49" y="14"/>
                </a:lnTo>
                <a:lnTo>
                  <a:pt x="65" y="23"/>
                </a:lnTo>
                <a:lnTo>
                  <a:pt x="82" y="35"/>
                </a:lnTo>
                <a:lnTo>
                  <a:pt x="98" y="49"/>
                </a:lnTo>
                <a:lnTo>
                  <a:pt x="114" y="65"/>
                </a:lnTo>
                <a:lnTo>
                  <a:pt x="131" y="81"/>
                </a:lnTo>
                <a:lnTo>
                  <a:pt x="147" y="99"/>
                </a:lnTo>
                <a:lnTo>
                  <a:pt x="164" y="118"/>
                </a:lnTo>
                <a:lnTo>
                  <a:pt x="180" y="137"/>
                </a:lnTo>
                <a:lnTo>
                  <a:pt x="196" y="157"/>
                </a:lnTo>
                <a:lnTo>
                  <a:pt x="213" y="176"/>
                </a:lnTo>
                <a:lnTo>
                  <a:pt x="229" y="195"/>
                </a:lnTo>
                <a:lnTo>
                  <a:pt x="246" y="214"/>
                </a:lnTo>
                <a:lnTo>
                  <a:pt x="262" y="232"/>
                </a:lnTo>
                <a:lnTo>
                  <a:pt x="278" y="249"/>
                </a:lnTo>
                <a:lnTo>
                  <a:pt x="295" y="264"/>
                </a:lnTo>
                <a:lnTo>
                  <a:pt x="311" y="278"/>
                </a:lnTo>
                <a:lnTo>
                  <a:pt x="327" y="290"/>
                </a:lnTo>
                <a:lnTo>
                  <a:pt x="344" y="300"/>
                </a:lnTo>
                <a:lnTo>
                  <a:pt x="360" y="307"/>
                </a:lnTo>
                <a:lnTo>
                  <a:pt x="377" y="311"/>
                </a:lnTo>
                <a:lnTo>
                  <a:pt x="393" y="313"/>
                </a:lnTo>
                <a:lnTo>
                  <a:pt x="393" y="323"/>
                </a:lnTo>
                <a:lnTo>
                  <a:pt x="377" y="321"/>
                </a:lnTo>
                <a:lnTo>
                  <a:pt x="360" y="316"/>
                </a:lnTo>
                <a:lnTo>
                  <a:pt x="344" y="309"/>
                </a:lnTo>
                <a:lnTo>
                  <a:pt x="327" y="299"/>
                </a:lnTo>
                <a:lnTo>
                  <a:pt x="311" y="288"/>
                </a:lnTo>
                <a:lnTo>
                  <a:pt x="295" y="274"/>
                </a:lnTo>
                <a:lnTo>
                  <a:pt x="278" y="258"/>
                </a:lnTo>
                <a:lnTo>
                  <a:pt x="262" y="242"/>
                </a:lnTo>
                <a:lnTo>
                  <a:pt x="246" y="224"/>
                </a:lnTo>
                <a:lnTo>
                  <a:pt x="229" y="205"/>
                </a:lnTo>
                <a:lnTo>
                  <a:pt x="213" y="186"/>
                </a:lnTo>
                <a:lnTo>
                  <a:pt x="196" y="166"/>
                </a:lnTo>
                <a:lnTo>
                  <a:pt x="180" y="147"/>
                </a:lnTo>
                <a:lnTo>
                  <a:pt x="164" y="128"/>
                </a:lnTo>
                <a:lnTo>
                  <a:pt x="147" y="109"/>
                </a:lnTo>
                <a:lnTo>
                  <a:pt x="131" y="91"/>
                </a:lnTo>
                <a:lnTo>
                  <a:pt x="114" y="74"/>
                </a:lnTo>
                <a:lnTo>
                  <a:pt x="98" y="59"/>
                </a:lnTo>
                <a:lnTo>
                  <a:pt x="82" y="45"/>
                </a:lnTo>
                <a:lnTo>
                  <a:pt x="65" y="33"/>
                </a:lnTo>
                <a:lnTo>
                  <a:pt x="49" y="23"/>
                </a:lnTo>
                <a:lnTo>
                  <a:pt x="33" y="16"/>
                </a:lnTo>
                <a:lnTo>
                  <a:pt x="16" y="11"/>
                </a:lnTo>
                <a:lnTo>
                  <a:pt x="0" y="1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reeform 18"/>
          <p:cNvSpPr/>
          <p:nvPr/>
        </p:nvSpPr>
        <p:spPr>
          <a:xfrm>
            <a:off x="2057400" y="1885950"/>
            <a:ext cx="3743325" cy="3524250"/>
          </a:xfrm>
          <a:custGeom>
            <a:avLst/>
            <a:gdLst/>
            <a:ahLst/>
            <a:cxnLst/>
            <a:rect l="l" t="t" r="r" b="b"/>
            <a:pathLst>
              <a:path w="393" h="370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5"/>
                </a:lnTo>
                <a:lnTo>
                  <a:pt x="65" y="27"/>
                </a:lnTo>
                <a:lnTo>
                  <a:pt x="82" y="40"/>
                </a:lnTo>
                <a:lnTo>
                  <a:pt x="98" y="56"/>
                </a:lnTo>
                <a:lnTo>
                  <a:pt x="114" y="74"/>
                </a:lnTo>
                <a:lnTo>
                  <a:pt x="131" y="93"/>
                </a:lnTo>
                <a:lnTo>
                  <a:pt x="147" y="114"/>
                </a:lnTo>
                <a:lnTo>
                  <a:pt x="164" y="136"/>
                </a:lnTo>
                <a:lnTo>
                  <a:pt x="180" y="158"/>
                </a:lnTo>
                <a:lnTo>
                  <a:pt x="196" y="180"/>
                </a:lnTo>
                <a:lnTo>
                  <a:pt x="213" y="203"/>
                </a:lnTo>
                <a:lnTo>
                  <a:pt x="229" y="225"/>
                </a:lnTo>
                <a:lnTo>
                  <a:pt x="246" y="247"/>
                </a:lnTo>
                <a:lnTo>
                  <a:pt x="262" y="267"/>
                </a:lnTo>
                <a:lnTo>
                  <a:pt x="278" y="286"/>
                </a:lnTo>
                <a:lnTo>
                  <a:pt x="295" y="304"/>
                </a:lnTo>
                <a:lnTo>
                  <a:pt x="311" y="320"/>
                </a:lnTo>
                <a:lnTo>
                  <a:pt x="327" y="334"/>
                </a:lnTo>
                <a:lnTo>
                  <a:pt x="344" y="345"/>
                </a:lnTo>
                <a:lnTo>
                  <a:pt x="360" y="354"/>
                </a:lnTo>
                <a:lnTo>
                  <a:pt x="377" y="359"/>
                </a:lnTo>
                <a:lnTo>
                  <a:pt x="393" y="361"/>
                </a:lnTo>
                <a:lnTo>
                  <a:pt x="393" y="370"/>
                </a:lnTo>
                <a:lnTo>
                  <a:pt x="377" y="368"/>
                </a:lnTo>
                <a:lnTo>
                  <a:pt x="360" y="362"/>
                </a:lnTo>
                <a:lnTo>
                  <a:pt x="344" y="354"/>
                </a:lnTo>
                <a:lnTo>
                  <a:pt x="327" y="343"/>
                </a:lnTo>
                <a:lnTo>
                  <a:pt x="311" y="329"/>
                </a:lnTo>
                <a:lnTo>
                  <a:pt x="295" y="313"/>
                </a:lnTo>
                <a:lnTo>
                  <a:pt x="278" y="295"/>
                </a:lnTo>
                <a:lnTo>
                  <a:pt x="262" y="276"/>
                </a:lnTo>
                <a:lnTo>
                  <a:pt x="246" y="255"/>
                </a:lnTo>
                <a:lnTo>
                  <a:pt x="229" y="234"/>
                </a:lnTo>
                <a:lnTo>
                  <a:pt x="213" y="212"/>
                </a:lnTo>
                <a:lnTo>
                  <a:pt x="196" y="189"/>
                </a:lnTo>
                <a:lnTo>
                  <a:pt x="180" y="167"/>
                </a:lnTo>
                <a:lnTo>
                  <a:pt x="164" y="144"/>
                </a:lnTo>
                <a:lnTo>
                  <a:pt x="147" y="123"/>
                </a:lnTo>
                <a:lnTo>
                  <a:pt x="131" y="102"/>
                </a:lnTo>
                <a:lnTo>
                  <a:pt x="114" y="83"/>
                </a:lnTo>
                <a:lnTo>
                  <a:pt x="98" y="65"/>
                </a:lnTo>
                <a:lnTo>
                  <a:pt x="82" y="49"/>
                </a:lnTo>
                <a:lnTo>
                  <a:pt x="65" y="35"/>
                </a:lnTo>
                <a:lnTo>
                  <a:pt x="49" y="24"/>
                </a:lnTo>
                <a:lnTo>
                  <a:pt x="33" y="16"/>
                </a:lnTo>
                <a:lnTo>
                  <a:pt x="16" y="11"/>
                </a:lnTo>
                <a:lnTo>
                  <a:pt x="0" y="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Freeform 19"/>
          <p:cNvSpPr/>
          <p:nvPr/>
        </p:nvSpPr>
        <p:spPr>
          <a:xfrm>
            <a:off x="2057400" y="1971675"/>
            <a:ext cx="3743325" cy="3990975"/>
          </a:xfrm>
          <a:custGeom>
            <a:avLst/>
            <a:gdLst/>
            <a:ahLst/>
            <a:cxnLst/>
            <a:rect l="l" t="t" r="r" b="b"/>
            <a:pathLst>
              <a:path w="393" h="419">
                <a:moveTo>
                  <a:pt x="0" y="0"/>
                </a:moveTo>
                <a:lnTo>
                  <a:pt x="16" y="2"/>
                </a:lnTo>
                <a:lnTo>
                  <a:pt x="33" y="8"/>
                </a:lnTo>
                <a:lnTo>
                  <a:pt x="49" y="17"/>
                </a:lnTo>
                <a:lnTo>
                  <a:pt x="65" y="30"/>
                </a:lnTo>
                <a:lnTo>
                  <a:pt x="82" y="46"/>
                </a:lnTo>
                <a:lnTo>
                  <a:pt x="98" y="64"/>
                </a:lnTo>
                <a:lnTo>
                  <a:pt x="114" y="84"/>
                </a:lnTo>
                <a:lnTo>
                  <a:pt x="131" y="106"/>
                </a:lnTo>
                <a:lnTo>
                  <a:pt x="147" y="129"/>
                </a:lnTo>
                <a:lnTo>
                  <a:pt x="164" y="154"/>
                </a:lnTo>
                <a:lnTo>
                  <a:pt x="180" y="179"/>
                </a:lnTo>
                <a:lnTo>
                  <a:pt x="196" y="205"/>
                </a:lnTo>
                <a:lnTo>
                  <a:pt x="213" y="230"/>
                </a:lnTo>
                <a:lnTo>
                  <a:pt x="229" y="255"/>
                </a:lnTo>
                <a:lnTo>
                  <a:pt x="246" y="280"/>
                </a:lnTo>
                <a:lnTo>
                  <a:pt x="262" y="303"/>
                </a:lnTo>
                <a:lnTo>
                  <a:pt x="278" y="325"/>
                </a:lnTo>
                <a:lnTo>
                  <a:pt x="295" y="345"/>
                </a:lnTo>
                <a:lnTo>
                  <a:pt x="311" y="363"/>
                </a:lnTo>
                <a:lnTo>
                  <a:pt x="327" y="379"/>
                </a:lnTo>
                <a:lnTo>
                  <a:pt x="344" y="392"/>
                </a:lnTo>
                <a:lnTo>
                  <a:pt x="360" y="401"/>
                </a:lnTo>
                <a:lnTo>
                  <a:pt x="377" y="407"/>
                </a:lnTo>
                <a:lnTo>
                  <a:pt x="393" y="409"/>
                </a:lnTo>
                <a:lnTo>
                  <a:pt x="393" y="419"/>
                </a:lnTo>
                <a:lnTo>
                  <a:pt x="377" y="417"/>
                </a:lnTo>
                <a:lnTo>
                  <a:pt x="360" y="411"/>
                </a:lnTo>
                <a:lnTo>
                  <a:pt x="344" y="402"/>
                </a:lnTo>
                <a:lnTo>
                  <a:pt x="327" y="389"/>
                </a:lnTo>
                <a:lnTo>
                  <a:pt x="311" y="374"/>
                </a:lnTo>
                <a:lnTo>
                  <a:pt x="295" y="355"/>
                </a:lnTo>
                <a:lnTo>
                  <a:pt x="278" y="335"/>
                </a:lnTo>
                <a:lnTo>
                  <a:pt x="262" y="313"/>
                </a:lnTo>
                <a:lnTo>
                  <a:pt x="246" y="290"/>
                </a:lnTo>
                <a:lnTo>
                  <a:pt x="229" y="265"/>
                </a:lnTo>
                <a:lnTo>
                  <a:pt x="213" y="240"/>
                </a:lnTo>
                <a:lnTo>
                  <a:pt x="196" y="215"/>
                </a:lnTo>
                <a:lnTo>
                  <a:pt x="180" y="189"/>
                </a:lnTo>
                <a:lnTo>
                  <a:pt x="164" y="164"/>
                </a:lnTo>
                <a:lnTo>
                  <a:pt x="147" y="139"/>
                </a:lnTo>
                <a:lnTo>
                  <a:pt x="131" y="116"/>
                </a:lnTo>
                <a:lnTo>
                  <a:pt x="114" y="94"/>
                </a:lnTo>
                <a:lnTo>
                  <a:pt x="98" y="74"/>
                </a:lnTo>
                <a:lnTo>
                  <a:pt x="82" y="56"/>
                </a:lnTo>
                <a:lnTo>
                  <a:pt x="65" y="40"/>
                </a:lnTo>
                <a:lnTo>
                  <a:pt x="49" y="27"/>
                </a:lnTo>
                <a:lnTo>
                  <a:pt x="33" y="18"/>
                </a:lnTo>
                <a:lnTo>
                  <a:pt x="16" y="12"/>
                </a:lnTo>
                <a:lnTo>
                  <a:pt x="0" y="1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2057400" y="1571625"/>
            <a:ext cx="3743325" cy="590550"/>
          </a:xfrm>
          <a:custGeom>
            <a:avLst/>
            <a:gdLst/>
            <a:ahLst/>
            <a:cxnLst/>
            <a:rect l="l" t="t" r="r" b="b"/>
            <a:pathLst>
              <a:path w="393" h="62">
                <a:moveTo>
                  <a:pt x="0" y="58"/>
                </a:moveTo>
                <a:lnTo>
                  <a:pt x="16" y="58"/>
                </a:lnTo>
                <a:lnTo>
                  <a:pt x="33" y="57"/>
                </a:lnTo>
                <a:lnTo>
                  <a:pt x="49" y="55"/>
                </a:lnTo>
                <a:lnTo>
                  <a:pt x="65" y="54"/>
                </a:lnTo>
                <a:lnTo>
                  <a:pt x="82" y="51"/>
                </a:lnTo>
                <a:lnTo>
                  <a:pt x="98" y="49"/>
                </a:lnTo>
                <a:lnTo>
                  <a:pt x="114" y="46"/>
                </a:lnTo>
                <a:lnTo>
                  <a:pt x="131" y="43"/>
                </a:lnTo>
                <a:lnTo>
                  <a:pt x="147" y="39"/>
                </a:lnTo>
                <a:lnTo>
                  <a:pt x="164" y="36"/>
                </a:lnTo>
                <a:lnTo>
                  <a:pt x="180" y="32"/>
                </a:lnTo>
                <a:lnTo>
                  <a:pt x="196" y="29"/>
                </a:lnTo>
                <a:lnTo>
                  <a:pt x="213" y="25"/>
                </a:lnTo>
                <a:lnTo>
                  <a:pt x="229" y="22"/>
                </a:lnTo>
                <a:lnTo>
                  <a:pt x="246" y="18"/>
                </a:lnTo>
                <a:lnTo>
                  <a:pt x="262" y="15"/>
                </a:lnTo>
                <a:lnTo>
                  <a:pt x="278" y="12"/>
                </a:lnTo>
                <a:lnTo>
                  <a:pt x="295" y="9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5"/>
                </a:lnTo>
                <a:lnTo>
                  <a:pt x="344" y="6"/>
                </a:lnTo>
                <a:lnTo>
                  <a:pt x="327" y="8"/>
                </a:lnTo>
                <a:lnTo>
                  <a:pt x="311" y="10"/>
                </a:lnTo>
                <a:lnTo>
                  <a:pt x="295" y="13"/>
                </a:lnTo>
                <a:lnTo>
                  <a:pt x="278" y="16"/>
                </a:lnTo>
                <a:lnTo>
                  <a:pt x="262" y="19"/>
                </a:lnTo>
                <a:lnTo>
                  <a:pt x="246" y="22"/>
                </a:lnTo>
                <a:lnTo>
                  <a:pt x="229" y="26"/>
                </a:lnTo>
                <a:lnTo>
                  <a:pt x="213" y="29"/>
                </a:lnTo>
                <a:lnTo>
                  <a:pt x="196" y="33"/>
                </a:lnTo>
                <a:lnTo>
                  <a:pt x="180" y="37"/>
                </a:lnTo>
                <a:lnTo>
                  <a:pt x="164" y="40"/>
                </a:lnTo>
                <a:lnTo>
                  <a:pt x="147" y="44"/>
                </a:lnTo>
                <a:lnTo>
                  <a:pt x="131" y="47"/>
                </a:lnTo>
                <a:lnTo>
                  <a:pt x="114" y="50"/>
                </a:lnTo>
                <a:lnTo>
                  <a:pt x="98" y="53"/>
                </a:lnTo>
                <a:lnTo>
                  <a:pt x="82" y="55"/>
                </a:lnTo>
                <a:lnTo>
                  <a:pt x="65" y="58"/>
                </a:lnTo>
                <a:lnTo>
                  <a:pt x="49" y="60"/>
                </a:lnTo>
                <a:lnTo>
                  <a:pt x="33" y="61"/>
                </a:lnTo>
                <a:lnTo>
                  <a:pt x="1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2057400" y="2114550"/>
            <a:ext cx="3743325" cy="104775"/>
          </a:xfrm>
          <a:custGeom>
            <a:avLst/>
            <a:gdLst/>
            <a:ahLst/>
            <a:cxnLst/>
            <a:rect l="l" t="t" r="r" b="b"/>
            <a:pathLst>
              <a:path w="393" h="11">
                <a:moveTo>
                  <a:pt x="0" y="5"/>
                </a:moveTo>
                <a:lnTo>
                  <a:pt x="16" y="5"/>
                </a:lnTo>
                <a:lnTo>
                  <a:pt x="33" y="5"/>
                </a:lnTo>
                <a:lnTo>
                  <a:pt x="49" y="5"/>
                </a:lnTo>
                <a:lnTo>
                  <a:pt x="65" y="5"/>
                </a:lnTo>
                <a:lnTo>
                  <a:pt x="82" y="4"/>
                </a:lnTo>
                <a:lnTo>
                  <a:pt x="98" y="4"/>
                </a:lnTo>
                <a:lnTo>
                  <a:pt x="114" y="4"/>
                </a:lnTo>
                <a:lnTo>
                  <a:pt x="131" y="4"/>
                </a:lnTo>
                <a:lnTo>
                  <a:pt x="147" y="3"/>
                </a:lnTo>
                <a:lnTo>
                  <a:pt x="164" y="3"/>
                </a:lnTo>
                <a:lnTo>
                  <a:pt x="180" y="3"/>
                </a:lnTo>
                <a:lnTo>
                  <a:pt x="196" y="2"/>
                </a:lnTo>
                <a:lnTo>
                  <a:pt x="213" y="2"/>
                </a:lnTo>
                <a:lnTo>
                  <a:pt x="229" y="2"/>
                </a:lnTo>
                <a:lnTo>
                  <a:pt x="246" y="2"/>
                </a:lnTo>
                <a:lnTo>
                  <a:pt x="262" y="1"/>
                </a:lnTo>
                <a:lnTo>
                  <a:pt x="278" y="1"/>
                </a:lnTo>
                <a:lnTo>
                  <a:pt x="295" y="1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6"/>
                </a:lnTo>
                <a:lnTo>
                  <a:pt x="344" y="6"/>
                </a:lnTo>
                <a:lnTo>
                  <a:pt x="327" y="6"/>
                </a:lnTo>
                <a:lnTo>
                  <a:pt x="311" y="6"/>
                </a:lnTo>
                <a:lnTo>
                  <a:pt x="295" y="6"/>
                </a:lnTo>
                <a:lnTo>
                  <a:pt x="278" y="7"/>
                </a:lnTo>
                <a:lnTo>
                  <a:pt x="262" y="7"/>
                </a:lnTo>
                <a:lnTo>
                  <a:pt x="246" y="7"/>
                </a:lnTo>
                <a:lnTo>
                  <a:pt x="229" y="8"/>
                </a:lnTo>
                <a:lnTo>
                  <a:pt x="213" y="8"/>
                </a:lnTo>
                <a:lnTo>
                  <a:pt x="196" y="8"/>
                </a:lnTo>
                <a:lnTo>
                  <a:pt x="180" y="8"/>
                </a:lnTo>
                <a:lnTo>
                  <a:pt x="164" y="9"/>
                </a:lnTo>
                <a:lnTo>
                  <a:pt x="147" y="9"/>
                </a:lnTo>
                <a:lnTo>
                  <a:pt x="131" y="9"/>
                </a:lnTo>
                <a:lnTo>
                  <a:pt x="114" y="10"/>
                </a:lnTo>
                <a:lnTo>
                  <a:pt x="98" y="10"/>
                </a:lnTo>
                <a:lnTo>
                  <a:pt x="82" y="10"/>
                </a:lnTo>
                <a:lnTo>
                  <a:pt x="65" y="10"/>
                </a:lnTo>
                <a:lnTo>
                  <a:pt x="49" y="10"/>
                </a:lnTo>
                <a:lnTo>
                  <a:pt x="33" y="11"/>
                </a:lnTo>
                <a:lnTo>
                  <a:pt x="1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2057400" y="2219325"/>
            <a:ext cx="3743325" cy="495300"/>
          </a:xfrm>
          <a:custGeom>
            <a:avLst/>
            <a:gdLst/>
            <a:ahLst/>
            <a:cxnLst/>
            <a:rect l="l" t="t" r="r" b="b"/>
            <a:pathLst>
              <a:path w="393" h="5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9"/>
                </a:lnTo>
                <a:lnTo>
                  <a:pt x="131" y="12"/>
                </a:lnTo>
                <a:lnTo>
                  <a:pt x="147" y="14"/>
                </a:lnTo>
                <a:lnTo>
                  <a:pt x="164" y="17"/>
                </a:lnTo>
                <a:lnTo>
                  <a:pt x="180" y="20"/>
                </a:lnTo>
                <a:lnTo>
                  <a:pt x="196" y="23"/>
                </a:lnTo>
                <a:lnTo>
                  <a:pt x="213" y="26"/>
                </a:lnTo>
                <a:lnTo>
                  <a:pt x="229" y="29"/>
                </a:lnTo>
                <a:lnTo>
                  <a:pt x="246" y="32"/>
                </a:lnTo>
                <a:lnTo>
                  <a:pt x="262" y="34"/>
                </a:lnTo>
                <a:lnTo>
                  <a:pt x="278" y="37"/>
                </a:lnTo>
                <a:lnTo>
                  <a:pt x="295" y="39"/>
                </a:lnTo>
                <a:lnTo>
                  <a:pt x="311" y="41"/>
                </a:lnTo>
                <a:lnTo>
                  <a:pt x="327" y="43"/>
                </a:lnTo>
                <a:lnTo>
                  <a:pt x="344" y="44"/>
                </a:lnTo>
                <a:lnTo>
                  <a:pt x="360" y="46"/>
                </a:lnTo>
                <a:lnTo>
                  <a:pt x="377" y="46"/>
                </a:lnTo>
                <a:lnTo>
                  <a:pt x="393" y="46"/>
                </a:lnTo>
                <a:lnTo>
                  <a:pt x="393" y="52"/>
                </a:lnTo>
                <a:lnTo>
                  <a:pt x="377" y="52"/>
                </a:lnTo>
                <a:lnTo>
                  <a:pt x="360" y="51"/>
                </a:lnTo>
                <a:lnTo>
                  <a:pt x="344" y="50"/>
                </a:lnTo>
                <a:lnTo>
                  <a:pt x="327" y="49"/>
                </a:lnTo>
                <a:lnTo>
                  <a:pt x="311" y="47"/>
                </a:lnTo>
                <a:lnTo>
                  <a:pt x="295" y="45"/>
                </a:lnTo>
                <a:lnTo>
                  <a:pt x="278" y="43"/>
                </a:lnTo>
                <a:lnTo>
                  <a:pt x="262" y="40"/>
                </a:lnTo>
                <a:lnTo>
                  <a:pt x="246" y="38"/>
                </a:lnTo>
                <a:lnTo>
                  <a:pt x="229" y="35"/>
                </a:lnTo>
                <a:lnTo>
                  <a:pt x="213" y="32"/>
                </a:lnTo>
                <a:lnTo>
                  <a:pt x="196" y="29"/>
                </a:lnTo>
                <a:lnTo>
                  <a:pt x="180" y="26"/>
                </a:lnTo>
                <a:lnTo>
                  <a:pt x="164" y="23"/>
                </a:lnTo>
                <a:lnTo>
                  <a:pt x="147" y="20"/>
                </a:lnTo>
                <a:lnTo>
                  <a:pt x="131" y="18"/>
                </a:lnTo>
                <a:lnTo>
                  <a:pt x="114" y="15"/>
                </a:lnTo>
                <a:lnTo>
                  <a:pt x="98" y="13"/>
                </a:lnTo>
                <a:lnTo>
                  <a:pt x="82" y="11"/>
                </a:lnTo>
                <a:lnTo>
                  <a:pt x="65" y="9"/>
                </a:lnTo>
                <a:lnTo>
                  <a:pt x="49" y="8"/>
                </a:lnTo>
                <a:lnTo>
                  <a:pt x="33" y="6"/>
                </a:lnTo>
                <a:lnTo>
                  <a:pt x="16" y="6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2057400" y="2276475"/>
            <a:ext cx="3743325" cy="971550"/>
          </a:xfrm>
          <a:custGeom>
            <a:avLst/>
            <a:gdLst/>
            <a:ahLst/>
            <a:cxnLst/>
            <a:rect l="l" t="t" r="r" b="b"/>
            <a:pathLst>
              <a:path w="393" h="10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4"/>
                </a:lnTo>
                <a:lnTo>
                  <a:pt x="65" y="7"/>
                </a:lnTo>
                <a:lnTo>
                  <a:pt x="82" y="10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0"/>
                </a:lnTo>
                <a:lnTo>
                  <a:pt x="164" y="36"/>
                </a:lnTo>
                <a:lnTo>
                  <a:pt x="180" y="42"/>
                </a:lnTo>
                <a:lnTo>
                  <a:pt x="196" y="48"/>
                </a:lnTo>
                <a:lnTo>
                  <a:pt x="213" y="54"/>
                </a:lnTo>
                <a:lnTo>
                  <a:pt x="229" y="60"/>
                </a:lnTo>
                <a:lnTo>
                  <a:pt x="246" y="66"/>
                </a:lnTo>
                <a:lnTo>
                  <a:pt x="262" y="71"/>
                </a:lnTo>
                <a:lnTo>
                  <a:pt x="278" y="77"/>
                </a:lnTo>
                <a:lnTo>
                  <a:pt x="295" y="81"/>
                </a:lnTo>
                <a:lnTo>
                  <a:pt x="311" y="86"/>
                </a:lnTo>
                <a:lnTo>
                  <a:pt x="327" y="89"/>
                </a:lnTo>
                <a:lnTo>
                  <a:pt x="344" y="92"/>
                </a:lnTo>
                <a:lnTo>
                  <a:pt x="360" y="95"/>
                </a:lnTo>
                <a:lnTo>
                  <a:pt x="377" y="96"/>
                </a:lnTo>
                <a:lnTo>
                  <a:pt x="393" y="97"/>
                </a:lnTo>
                <a:lnTo>
                  <a:pt x="393" y="102"/>
                </a:lnTo>
                <a:lnTo>
                  <a:pt x="377" y="102"/>
                </a:lnTo>
                <a:lnTo>
                  <a:pt x="360" y="100"/>
                </a:lnTo>
                <a:lnTo>
                  <a:pt x="344" y="98"/>
                </a:lnTo>
                <a:lnTo>
                  <a:pt x="327" y="95"/>
                </a:lnTo>
                <a:lnTo>
                  <a:pt x="311" y="91"/>
                </a:lnTo>
                <a:lnTo>
                  <a:pt x="295" y="87"/>
                </a:lnTo>
                <a:lnTo>
                  <a:pt x="278" y="82"/>
                </a:lnTo>
                <a:lnTo>
                  <a:pt x="262" y="77"/>
                </a:lnTo>
                <a:lnTo>
                  <a:pt x="246" y="71"/>
                </a:lnTo>
                <a:lnTo>
                  <a:pt x="229" y="66"/>
                </a:lnTo>
                <a:lnTo>
                  <a:pt x="213" y="60"/>
                </a:lnTo>
                <a:lnTo>
                  <a:pt x="196" y="54"/>
                </a:lnTo>
                <a:lnTo>
                  <a:pt x="180" y="47"/>
                </a:lnTo>
                <a:lnTo>
                  <a:pt x="164" y="41"/>
                </a:lnTo>
                <a:lnTo>
                  <a:pt x="147" y="36"/>
                </a:lnTo>
                <a:lnTo>
                  <a:pt x="131" y="30"/>
                </a:lnTo>
                <a:lnTo>
                  <a:pt x="114" y="25"/>
                </a:lnTo>
                <a:lnTo>
                  <a:pt x="98" y="20"/>
                </a:lnTo>
                <a:lnTo>
                  <a:pt x="82" y="16"/>
                </a:lnTo>
                <a:lnTo>
                  <a:pt x="65" y="12"/>
                </a:lnTo>
                <a:lnTo>
                  <a:pt x="49" y="9"/>
                </a:lnTo>
                <a:lnTo>
                  <a:pt x="33" y="7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Freeform 24"/>
          <p:cNvSpPr/>
          <p:nvPr/>
        </p:nvSpPr>
        <p:spPr>
          <a:xfrm>
            <a:off x="2057400" y="2324100"/>
            <a:ext cx="3743325" cy="1485900"/>
          </a:xfrm>
          <a:custGeom>
            <a:avLst/>
            <a:gdLst/>
            <a:ahLst/>
            <a:cxnLst/>
            <a:rect l="l" t="t" r="r" b="b"/>
            <a:pathLst>
              <a:path w="393" h="156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1"/>
                </a:lnTo>
                <a:lnTo>
                  <a:pt x="82" y="17"/>
                </a:lnTo>
                <a:lnTo>
                  <a:pt x="98" y="23"/>
                </a:lnTo>
                <a:lnTo>
                  <a:pt x="114" y="31"/>
                </a:lnTo>
                <a:lnTo>
                  <a:pt x="131" y="39"/>
                </a:lnTo>
                <a:lnTo>
                  <a:pt x="147" y="47"/>
                </a:lnTo>
                <a:lnTo>
                  <a:pt x="164" y="56"/>
                </a:lnTo>
                <a:lnTo>
                  <a:pt x="180" y="66"/>
                </a:lnTo>
                <a:lnTo>
                  <a:pt x="196" y="75"/>
                </a:lnTo>
                <a:lnTo>
                  <a:pt x="213" y="84"/>
                </a:lnTo>
                <a:lnTo>
                  <a:pt x="229" y="93"/>
                </a:lnTo>
                <a:lnTo>
                  <a:pt x="246" y="102"/>
                </a:lnTo>
                <a:lnTo>
                  <a:pt x="262" y="111"/>
                </a:lnTo>
                <a:lnTo>
                  <a:pt x="278" y="119"/>
                </a:lnTo>
                <a:lnTo>
                  <a:pt x="295" y="126"/>
                </a:lnTo>
                <a:lnTo>
                  <a:pt x="311" y="133"/>
                </a:lnTo>
                <a:lnTo>
                  <a:pt x="327" y="139"/>
                </a:lnTo>
                <a:lnTo>
                  <a:pt x="344" y="143"/>
                </a:lnTo>
                <a:lnTo>
                  <a:pt x="360" y="147"/>
                </a:lnTo>
                <a:lnTo>
                  <a:pt x="377" y="149"/>
                </a:lnTo>
                <a:lnTo>
                  <a:pt x="393" y="150"/>
                </a:lnTo>
                <a:lnTo>
                  <a:pt x="393" y="156"/>
                </a:lnTo>
                <a:lnTo>
                  <a:pt x="377" y="155"/>
                </a:lnTo>
                <a:lnTo>
                  <a:pt x="360" y="153"/>
                </a:lnTo>
                <a:lnTo>
                  <a:pt x="344" y="149"/>
                </a:lnTo>
                <a:lnTo>
                  <a:pt x="327" y="144"/>
                </a:lnTo>
                <a:lnTo>
                  <a:pt x="311" y="139"/>
                </a:lnTo>
                <a:lnTo>
                  <a:pt x="295" y="132"/>
                </a:lnTo>
                <a:lnTo>
                  <a:pt x="278" y="125"/>
                </a:lnTo>
                <a:lnTo>
                  <a:pt x="262" y="117"/>
                </a:lnTo>
                <a:lnTo>
                  <a:pt x="246" y="108"/>
                </a:lnTo>
                <a:lnTo>
                  <a:pt x="229" y="99"/>
                </a:lnTo>
                <a:lnTo>
                  <a:pt x="213" y="90"/>
                </a:lnTo>
                <a:lnTo>
                  <a:pt x="196" y="81"/>
                </a:lnTo>
                <a:lnTo>
                  <a:pt x="180" y="71"/>
                </a:lnTo>
                <a:lnTo>
                  <a:pt x="164" y="62"/>
                </a:lnTo>
                <a:lnTo>
                  <a:pt x="147" y="53"/>
                </a:lnTo>
                <a:lnTo>
                  <a:pt x="131" y="45"/>
                </a:lnTo>
                <a:lnTo>
                  <a:pt x="114" y="37"/>
                </a:lnTo>
                <a:lnTo>
                  <a:pt x="98" y="29"/>
                </a:lnTo>
                <a:lnTo>
                  <a:pt x="82" y="23"/>
                </a:lnTo>
                <a:lnTo>
                  <a:pt x="65" y="17"/>
                </a:lnTo>
                <a:lnTo>
                  <a:pt x="49" y="12"/>
                </a:lnTo>
                <a:lnTo>
                  <a:pt x="33" y="9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Freeform 25"/>
          <p:cNvSpPr/>
          <p:nvPr/>
        </p:nvSpPr>
        <p:spPr>
          <a:xfrm>
            <a:off x="2057400" y="2381250"/>
            <a:ext cx="3743325" cy="1971675"/>
          </a:xfrm>
          <a:custGeom>
            <a:avLst/>
            <a:gdLst/>
            <a:ahLst/>
            <a:cxnLst/>
            <a:rect l="l" t="t" r="r" b="b"/>
            <a:pathLst>
              <a:path w="393" h="207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2"/>
                </a:lnTo>
                <a:lnTo>
                  <a:pt x="98" y="31"/>
                </a:lnTo>
                <a:lnTo>
                  <a:pt x="114" y="41"/>
                </a:lnTo>
                <a:lnTo>
                  <a:pt x="131" y="52"/>
                </a:lnTo>
                <a:lnTo>
                  <a:pt x="147" y="64"/>
                </a:lnTo>
                <a:lnTo>
                  <a:pt x="164" y="76"/>
                </a:lnTo>
                <a:lnTo>
                  <a:pt x="180" y="88"/>
                </a:lnTo>
                <a:lnTo>
                  <a:pt x="196" y="100"/>
                </a:lnTo>
                <a:lnTo>
                  <a:pt x="213" y="113"/>
                </a:lnTo>
                <a:lnTo>
                  <a:pt x="229" y="125"/>
                </a:lnTo>
                <a:lnTo>
                  <a:pt x="246" y="137"/>
                </a:lnTo>
                <a:lnTo>
                  <a:pt x="262" y="149"/>
                </a:lnTo>
                <a:lnTo>
                  <a:pt x="278" y="160"/>
                </a:lnTo>
                <a:lnTo>
                  <a:pt x="295" y="170"/>
                </a:lnTo>
                <a:lnTo>
                  <a:pt x="311" y="178"/>
                </a:lnTo>
                <a:lnTo>
                  <a:pt x="327" y="186"/>
                </a:lnTo>
                <a:lnTo>
                  <a:pt x="344" y="192"/>
                </a:lnTo>
                <a:lnTo>
                  <a:pt x="360" y="197"/>
                </a:lnTo>
                <a:lnTo>
                  <a:pt x="377" y="200"/>
                </a:lnTo>
                <a:lnTo>
                  <a:pt x="393" y="201"/>
                </a:lnTo>
                <a:lnTo>
                  <a:pt x="393" y="207"/>
                </a:lnTo>
                <a:lnTo>
                  <a:pt x="377" y="206"/>
                </a:lnTo>
                <a:lnTo>
                  <a:pt x="360" y="203"/>
                </a:lnTo>
                <a:lnTo>
                  <a:pt x="344" y="198"/>
                </a:lnTo>
                <a:lnTo>
                  <a:pt x="327" y="192"/>
                </a:lnTo>
                <a:lnTo>
                  <a:pt x="311" y="185"/>
                </a:lnTo>
                <a:lnTo>
                  <a:pt x="295" y="176"/>
                </a:lnTo>
                <a:lnTo>
                  <a:pt x="278" y="166"/>
                </a:lnTo>
                <a:lnTo>
                  <a:pt x="262" y="155"/>
                </a:lnTo>
                <a:lnTo>
                  <a:pt x="246" y="143"/>
                </a:lnTo>
                <a:lnTo>
                  <a:pt x="229" y="131"/>
                </a:lnTo>
                <a:lnTo>
                  <a:pt x="213" y="119"/>
                </a:lnTo>
                <a:lnTo>
                  <a:pt x="196" y="107"/>
                </a:lnTo>
                <a:lnTo>
                  <a:pt x="180" y="94"/>
                </a:lnTo>
                <a:lnTo>
                  <a:pt x="164" y="82"/>
                </a:lnTo>
                <a:lnTo>
                  <a:pt x="147" y="70"/>
                </a:lnTo>
                <a:lnTo>
                  <a:pt x="131" y="58"/>
                </a:lnTo>
                <a:lnTo>
                  <a:pt x="114" y="47"/>
                </a:lnTo>
                <a:lnTo>
                  <a:pt x="98" y="37"/>
                </a:lnTo>
                <a:lnTo>
                  <a:pt x="82" y="29"/>
                </a:lnTo>
                <a:lnTo>
                  <a:pt x="65" y="21"/>
                </a:lnTo>
                <a:lnTo>
                  <a:pt x="49" y="15"/>
                </a:lnTo>
                <a:lnTo>
                  <a:pt x="33" y="10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Freeform 26"/>
          <p:cNvSpPr/>
          <p:nvPr/>
        </p:nvSpPr>
        <p:spPr>
          <a:xfrm>
            <a:off x="2057400" y="2438400"/>
            <a:ext cx="3743325" cy="2476500"/>
          </a:xfrm>
          <a:custGeom>
            <a:avLst/>
            <a:gdLst/>
            <a:ahLst/>
            <a:cxnLst/>
            <a:rect l="l" t="t" r="r" b="b"/>
            <a:pathLst>
              <a:path w="393" h="260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19"/>
                </a:lnTo>
                <a:lnTo>
                  <a:pt x="82" y="29"/>
                </a:lnTo>
                <a:lnTo>
                  <a:pt x="98" y="40"/>
                </a:lnTo>
                <a:lnTo>
                  <a:pt x="114" y="52"/>
                </a:lnTo>
                <a:lnTo>
                  <a:pt x="131" y="66"/>
                </a:lnTo>
                <a:lnTo>
                  <a:pt x="147" y="81"/>
                </a:lnTo>
                <a:lnTo>
                  <a:pt x="164" y="96"/>
                </a:lnTo>
                <a:lnTo>
                  <a:pt x="180" y="111"/>
                </a:lnTo>
                <a:lnTo>
                  <a:pt x="196" y="127"/>
                </a:lnTo>
                <a:lnTo>
                  <a:pt x="213" y="143"/>
                </a:lnTo>
                <a:lnTo>
                  <a:pt x="229" y="159"/>
                </a:lnTo>
                <a:lnTo>
                  <a:pt x="246" y="174"/>
                </a:lnTo>
                <a:lnTo>
                  <a:pt x="262" y="189"/>
                </a:lnTo>
                <a:lnTo>
                  <a:pt x="278" y="202"/>
                </a:lnTo>
                <a:lnTo>
                  <a:pt x="295" y="215"/>
                </a:lnTo>
                <a:lnTo>
                  <a:pt x="311" y="226"/>
                </a:lnTo>
                <a:lnTo>
                  <a:pt x="327" y="236"/>
                </a:lnTo>
                <a:lnTo>
                  <a:pt x="344" y="244"/>
                </a:lnTo>
                <a:lnTo>
                  <a:pt x="360" y="250"/>
                </a:lnTo>
                <a:lnTo>
                  <a:pt x="377" y="253"/>
                </a:lnTo>
                <a:lnTo>
                  <a:pt x="393" y="255"/>
                </a:lnTo>
                <a:lnTo>
                  <a:pt x="393" y="260"/>
                </a:lnTo>
                <a:lnTo>
                  <a:pt x="377" y="258"/>
                </a:lnTo>
                <a:lnTo>
                  <a:pt x="360" y="255"/>
                </a:lnTo>
                <a:lnTo>
                  <a:pt x="344" y="249"/>
                </a:lnTo>
                <a:lnTo>
                  <a:pt x="327" y="241"/>
                </a:lnTo>
                <a:lnTo>
                  <a:pt x="311" y="231"/>
                </a:lnTo>
                <a:lnTo>
                  <a:pt x="295" y="220"/>
                </a:lnTo>
                <a:lnTo>
                  <a:pt x="278" y="207"/>
                </a:lnTo>
                <a:lnTo>
                  <a:pt x="262" y="194"/>
                </a:lnTo>
                <a:lnTo>
                  <a:pt x="246" y="179"/>
                </a:lnTo>
                <a:lnTo>
                  <a:pt x="229" y="164"/>
                </a:lnTo>
                <a:lnTo>
                  <a:pt x="213" y="148"/>
                </a:lnTo>
                <a:lnTo>
                  <a:pt x="196" y="132"/>
                </a:lnTo>
                <a:lnTo>
                  <a:pt x="180" y="117"/>
                </a:lnTo>
                <a:lnTo>
                  <a:pt x="164" y="101"/>
                </a:lnTo>
                <a:lnTo>
                  <a:pt x="147" y="86"/>
                </a:lnTo>
                <a:lnTo>
                  <a:pt x="131" y="71"/>
                </a:lnTo>
                <a:lnTo>
                  <a:pt x="114" y="57"/>
                </a:lnTo>
                <a:lnTo>
                  <a:pt x="98" y="45"/>
                </a:lnTo>
                <a:lnTo>
                  <a:pt x="82" y="34"/>
                </a:lnTo>
                <a:lnTo>
                  <a:pt x="65" y="24"/>
                </a:lnTo>
                <a:lnTo>
                  <a:pt x="49" y="16"/>
                </a:lnTo>
                <a:lnTo>
                  <a:pt x="33" y="10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Freeform 27"/>
          <p:cNvSpPr/>
          <p:nvPr/>
        </p:nvSpPr>
        <p:spPr>
          <a:xfrm>
            <a:off x="2057400" y="2486025"/>
            <a:ext cx="3743325" cy="2971800"/>
          </a:xfrm>
          <a:custGeom>
            <a:avLst/>
            <a:gdLst/>
            <a:ahLst/>
            <a:cxnLst/>
            <a:rect l="l" t="t" r="r" b="b"/>
            <a:pathLst>
              <a:path w="393" h="312">
                <a:moveTo>
                  <a:pt x="0" y="0"/>
                </a:moveTo>
                <a:lnTo>
                  <a:pt x="16" y="2"/>
                </a:lnTo>
                <a:lnTo>
                  <a:pt x="33" y="6"/>
                </a:lnTo>
                <a:lnTo>
                  <a:pt x="49" y="13"/>
                </a:lnTo>
                <a:lnTo>
                  <a:pt x="65" y="23"/>
                </a:lnTo>
                <a:lnTo>
                  <a:pt x="82" y="34"/>
                </a:lnTo>
                <a:lnTo>
                  <a:pt x="98" y="48"/>
                </a:lnTo>
                <a:lnTo>
                  <a:pt x="114" y="63"/>
                </a:lnTo>
                <a:lnTo>
                  <a:pt x="131" y="80"/>
                </a:lnTo>
                <a:lnTo>
                  <a:pt x="147" y="97"/>
                </a:lnTo>
                <a:lnTo>
                  <a:pt x="164" y="115"/>
                </a:lnTo>
                <a:lnTo>
                  <a:pt x="180" y="134"/>
                </a:lnTo>
                <a:lnTo>
                  <a:pt x="196" y="153"/>
                </a:lnTo>
                <a:lnTo>
                  <a:pt x="213" y="172"/>
                </a:lnTo>
                <a:lnTo>
                  <a:pt x="229" y="191"/>
                </a:lnTo>
                <a:lnTo>
                  <a:pt x="246" y="210"/>
                </a:lnTo>
                <a:lnTo>
                  <a:pt x="262" y="227"/>
                </a:lnTo>
                <a:lnTo>
                  <a:pt x="278" y="244"/>
                </a:lnTo>
                <a:lnTo>
                  <a:pt x="295" y="259"/>
                </a:lnTo>
                <a:lnTo>
                  <a:pt x="311" y="272"/>
                </a:lnTo>
                <a:lnTo>
                  <a:pt x="327" y="284"/>
                </a:lnTo>
                <a:lnTo>
                  <a:pt x="344" y="293"/>
                </a:lnTo>
                <a:lnTo>
                  <a:pt x="360" y="301"/>
                </a:lnTo>
                <a:lnTo>
                  <a:pt x="377" y="305"/>
                </a:lnTo>
                <a:lnTo>
                  <a:pt x="393" y="307"/>
                </a:lnTo>
                <a:lnTo>
                  <a:pt x="393" y="312"/>
                </a:lnTo>
                <a:lnTo>
                  <a:pt x="377" y="311"/>
                </a:lnTo>
                <a:lnTo>
                  <a:pt x="360" y="306"/>
                </a:lnTo>
                <a:lnTo>
                  <a:pt x="344" y="299"/>
                </a:lnTo>
                <a:lnTo>
                  <a:pt x="327" y="290"/>
                </a:lnTo>
                <a:lnTo>
                  <a:pt x="311" y="278"/>
                </a:lnTo>
                <a:lnTo>
                  <a:pt x="295" y="264"/>
                </a:lnTo>
                <a:lnTo>
                  <a:pt x="278" y="249"/>
                </a:lnTo>
                <a:lnTo>
                  <a:pt x="262" y="233"/>
                </a:lnTo>
                <a:lnTo>
                  <a:pt x="246" y="215"/>
                </a:lnTo>
                <a:lnTo>
                  <a:pt x="229" y="197"/>
                </a:lnTo>
                <a:lnTo>
                  <a:pt x="213" y="178"/>
                </a:lnTo>
                <a:lnTo>
                  <a:pt x="196" y="159"/>
                </a:lnTo>
                <a:lnTo>
                  <a:pt x="180" y="140"/>
                </a:lnTo>
                <a:lnTo>
                  <a:pt x="164" y="121"/>
                </a:lnTo>
                <a:lnTo>
                  <a:pt x="147" y="103"/>
                </a:lnTo>
                <a:lnTo>
                  <a:pt x="131" y="85"/>
                </a:lnTo>
                <a:lnTo>
                  <a:pt x="114" y="69"/>
                </a:lnTo>
                <a:lnTo>
                  <a:pt x="98" y="54"/>
                </a:lnTo>
                <a:lnTo>
                  <a:pt x="82" y="40"/>
                </a:lnTo>
                <a:lnTo>
                  <a:pt x="65" y="28"/>
                </a:lnTo>
                <a:lnTo>
                  <a:pt x="49" y="19"/>
                </a:lnTo>
                <a:lnTo>
                  <a:pt x="33" y="12"/>
                </a:lnTo>
                <a:lnTo>
                  <a:pt x="16" y="7"/>
                </a:lnTo>
                <a:lnTo>
                  <a:pt x="0" y="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Freeform 28"/>
          <p:cNvSpPr/>
          <p:nvPr/>
        </p:nvSpPr>
        <p:spPr>
          <a:xfrm>
            <a:off x="2057400" y="2543175"/>
            <a:ext cx="3743325" cy="3467100"/>
          </a:xfrm>
          <a:custGeom>
            <a:avLst/>
            <a:gdLst/>
            <a:ahLst/>
            <a:cxnLst/>
            <a:rect l="l" t="t" r="r" b="b"/>
            <a:pathLst>
              <a:path w="393" h="364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5"/>
                </a:lnTo>
                <a:lnTo>
                  <a:pt x="65" y="26"/>
                </a:lnTo>
                <a:lnTo>
                  <a:pt x="82" y="40"/>
                </a:lnTo>
                <a:lnTo>
                  <a:pt x="98" y="56"/>
                </a:lnTo>
                <a:lnTo>
                  <a:pt x="114" y="74"/>
                </a:lnTo>
                <a:lnTo>
                  <a:pt x="131" y="93"/>
                </a:lnTo>
                <a:lnTo>
                  <a:pt x="147" y="114"/>
                </a:lnTo>
                <a:lnTo>
                  <a:pt x="164" y="135"/>
                </a:lnTo>
                <a:lnTo>
                  <a:pt x="180" y="157"/>
                </a:lnTo>
                <a:lnTo>
                  <a:pt x="196" y="180"/>
                </a:lnTo>
                <a:lnTo>
                  <a:pt x="213" y="202"/>
                </a:lnTo>
                <a:lnTo>
                  <a:pt x="229" y="224"/>
                </a:lnTo>
                <a:lnTo>
                  <a:pt x="246" y="246"/>
                </a:lnTo>
                <a:lnTo>
                  <a:pt x="262" y="266"/>
                </a:lnTo>
                <a:lnTo>
                  <a:pt x="278" y="286"/>
                </a:lnTo>
                <a:lnTo>
                  <a:pt x="295" y="303"/>
                </a:lnTo>
                <a:lnTo>
                  <a:pt x="311" y="319"/>
                </a:lnTo>
                <a:lnTo>
                  <a:pt x="327" y="333"/>
                </a:lnTo>
                <a:lnTo>
                  <a:pt x="344" y="344"/>
                </a:lnTo>
                <a:lnTo>
                  <a:pt x="360" y="352"/>
                </a:lnTo>
                <a:lnTo>
                  <a:pt x="377" y="358"/>
                </a:lnTo>
                <a:lnTo>
                  <a:pt x="393" y="359"/>
                </a:lnTo>
                <a:lnTo>
                  <a:pt x="393" y="364"/>
                </a:lnTo>
                <a:lnTo>
                  <a:pt x="377" y="362"/>
                </a:lnTo>
                <a:lnTo>
                  <a:pt x="360" y="356"/>
                </a:lnTo>
                <a:lnTo>
                  <a:pt x="344" y="348"/>
                </a:lnTo>
                <a:lnTo>
                  <a:pt x="327" y="337"/>
                </a:lnTo>
                <a:lnTo>
                  <a:pt x="311" y="323"/>
                </a:lnTo>
                <a:lnTo>
                  <a:pt x="295" y="307"/>
                </a:lnTo>
                <a:lnTo>
                  <a:pt x="278" y="290"/>
                </a:lnTo>
                <a:lnTo>
                  <a:pt x="262" y="270"/>
                </a:lnTo>
                <a:lnTo>
                  <a:pt x="246" y="250"/>
                </a:lnTo>
                <a:lnTo>
                  <a:pt x="229" y="228"/>
                </a:lnTo>
                <a:lnTo>
                  <a:pt x="213" y="206"/>
                </a:lnTo>
                <a:lnTo>
                  <a:pt x="196" y="184"/>
                </a:lnTo>
                <a:lnTo>
                  <a:pt x="180" y="161"/>
                </a:lnTo>
                <a:lnTo>
                  <a:pt x="164" y="139"/>
                </a:lnTo>
                <a:lnTo>
                  <a:pt x="147" y="118"/>
                </a:lnTo>
                <a:lnTo>
                  <a:pt x="131" y="97"/>
                </a:lnTo>
                <a:lnTo>
                  <a:pt x="114" y="78"/>
                </a:lnTo>
                <a:lnTo>
                  <a:pt x="98" y="60"/>
                </a:lnTo>
                <a:lnTo>
                  <a:pt x="82" y="44"/>
                </a:lnTo>
                <a:lnTo>
                  <a:pt x="65" y="30"/>
                </a:lnTo>
                <a:lnTo>
                  <a:pt x="49" y="19"/>
                </a:lnTo>
                <a:lnTo>
                  <a:pt x="33" y="11"/>
                </a:lnTo>
                <a:lnTo>
                  <a:pt x="16" y="6"/>
                </a:lnTo>
                <a:lnTo>
                  <a:pt x="0" y="4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Freeform 29"/>
          <p:cNvSpPr/>
          <p:nvPr/>
        </p:nvSpPr>
        <p:spPr>
          <a:xfrm>
            <a:off x="2057400" y="1609725"/>
            <a:ext cx="3743325" cy="1076325"/>
          </a:xfrm>
          <a:custGeom>
            <a:avLst/>
            <a:gdLst/>
            <a:ahLst/>
            <a:cxnLst/>
            <a:rect l="l" t="t" r="r" b="b"/>
            <a:pathLst>
              <a:path w="393" h="113">
                <a:moveTo>
                  <a:pt x="0" y="108"/>
                </a:moveTo>
                <a:lnTo>
                  <a:pt x="16" y="107"/>
                </a:lnTo>
                <a:lnTo>
                  <a:pt x="33" y="106"/>
                </a:lnTo>
                <a:lnTo>
                  <a:pt x="49" y="103"/>
                </a:lnTo>
                <a:lnTo>
                  <a:pt x="65" y="100"/>
                </a:lnTo>
                <a:lnTo>
                  <a:pt x="82" y="96"/>
                </a:lnTo>
                <a:lnTo>
                  <a:pt x="98" y="91"/>
                </a:lnTo>
                <a:lnTo>
                  <a:pt x="114" y="86"/>
                </a:lnTo>
                <a:lnTo>
                  <a:pt x="131" y="80"/>
                </a:lnTo>
                <a:lnTo>
                  <a:pt x="147" y="74"/>
                </a:lnTo>
                <a:lnTo>
                  <a:pt x="164" y="67"/>
                </a:lnTo>
                <a:lnTo>
                  <a:pt x="180" y="61"/>
                </a:lnTo>
                <a:lnTo>
                  <a:pt x="196" y="54"/>
                </a:lnTo>
                <a:lnTo>
                  <a:pt x="213" y="47"/>
                </a:lnTo>
                <a:lnTo>
                  <a:pt x="229" y="40"/>
                </a:lnTo>
                <a:lnTo>
                  <a:pt x="246" y="34"/>
                </a:lnTo>
                <a:lnTo>
                  <a:pt x="262" y="28"/>
                </a:lnTo>
                <a:lnTo>
                  <a:pt x="278" y="22"/>
                </a:lnTo>
                <a:lnTo>
                  <a:pt x="295" y="17"/>
                </a:lnTo>
                <a:lnTo>
                  <a:pt x="311" y="12"/>
                </a:lnTo>
                <a:lnTo>
                  <a:pt x="327" y="8"/>
                </a:lnTo>
                <a:lnTo>
                  <a:pt x="344" y="4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7"/>
                </a:lnTo>
                <a:lnTo>
                  <a:pt x="344" y="9"/>
                </a:lnTo>
                <a:lnTo>
                  <a:pt x="327" y="13"/>
                </a:lnTo>
                <a:lnTo>
                  <a:pt x="311" y="17"/>
                </a:lnTo>
                <a:lnTo>
                  <a:pt x="295" y="22"/>
                </a:lnTo>
                <a:lnTo>
                  <a:pt x="278" y="27"/>
                </a:lnTo>
                <a:lnTo>
                  <a:pt x="262" y="33"/>
                </a:lnTo>
                <a:lnTo>
                  <a:pt x="246" y="39"/>
                </a:lnTo>
                <a:lnTo>
                  <a:pt x="229" y="45"/>
                </a:lnTo>
                <a:lnTo>
                  <a:pt x="213" y="52"/>
                </a:lnTo>
                <a:lnTo>
                  <a:pt x="196" y="59"/>
                </a:lnTo>
                <a:lnTo>
                  <a:pt x="180" y="65"/>
                </a:lnTo>
                <a:lnTo>
                  <a:pt x="164" y="72"/>
                </a:lnTo>
                <a:lnTo>
                  <a:pt x="147" y="79"/>
                </a:lnTo>
                <a:lnTo>
                  <a:pt x="131" y="85"/>
                </a:lnTo>
                <a:lnTo>
                  <a:pt x="114" y="90"/>
                </a:lnTo>
                <a:lnTo>
                  <a:pt x="98" y="96"/>
                </a:lnTo>
                <a:lnTo>
                  <a:pt x="82" y="101"/>
                </a:lnTo>
                <a:lnTo>
                  <a:pt x="65" y="105"/>
                </a:lnTo>
                <a:lnTo>
                  <a:pt x="49" y="108"/>
                </a:lnTo>
                <a:lnTo>
                  <a:pt x="33" y="111"/>
                </a:lnTo>
                <a:lnTo>
                  <a:pt x="16" y="112"/>
                </a:lnTo>
                <a:lnTo>
                  <a:pt x="0" y="113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Freeform 30"/>
          <p:cNvSpPr/>
          <p:nvPr/>
        </p:nvSpPr>
        <p:spPr>
          <a:xfrm>
            <a:off x="2057400" y="2171700"/>
            <a:ext cx="3743325" cy="552450"/>
          </a:xfrm>
          <a:custGeom>
            <a:avLst/>
            <a:gdLst/>
            <a:ahLst/>
            <a:cxnLst/>
            <a:rect l="l" t="t" r="r" b="b"/>
            <a:pathLst>
              <a:path w="393" h="58">
                <a:moveTo>
                  <a:pt x="0" y="54"/>
                </a:moveTo>
                <a:lnTo>
                  <a:pt x="16" y="53"/>
                </a:lnTo>
                <a:lnTo>
                  <a:pt x="33" y="53"/>
                </a:lnTo>
                <a:lnTo>
                  <a:pt x="49" y="51"/>
                </a:lnTo>
                <a:lnTo>
                  <a:pt x="65" y="50"/>
                </a:lnTo>
                <a:lnTo>
                  <a:pt x="82" y="48"/>
                </a:lnTo>
                <a:lnTo>
                  <a:pt x="98" y="45"/>
                </a:lnTo>
                <a:lnTo>
                  <a:pt x="114" y="43"/>
                </a:lnTo>
                <a:lnTo>
                  <a:pt x="131" y="40"/>
                </a:lnTo>
                <a:lnTo>
                  <a:pt x="147" y="37"/>
                </a:lnTo>
                <a:lnTo>
                  <a:pt x="164" y="33"/>
                </a:lnTo>
                <a:lnTo>
                  <a:pt x="180" y="30"/>
                </a:lnTo>
                <a:lnTo>
                  <a:pt x="196" y="27"/>
                </a:lnTo>
                <a:lnTo>
                  <a:pt x="213" y="23"/>
                </a:lnTo>
                <a:lnTo>
                  <a:pt x="229" y="20"/>
                </a:lnTo>
                <a:lnTo>
                  <a:pt x="246" y="17"/>
                </a:lnTo>
                <a:lnTo>
                  <a:pt x="262" y="14"/>
                </a:lnTo>
                <a:lnTo>
                  <a:pt x="278" y="11"/>
                </a:lnTo>
                <a:lnTo>
                  <a:pt x="295" y="8"/>
                </a:lnTo>
                <a:lnTo>
                  <a:pt x="311" y="6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5"/>
                </a:lnTo>
                <a:lnTo>
                  <a:pt x="344" y="7"/>
                </a:lnTo>
                <a:lnTo>
                  <a:pt x="327" y="8"/>
                </a:lnTo>
                <a:lnTo>
                  <a:pt x="311" y="10"/>
                </a:lnTo>
                <a:lnTo>
                  <a:pt x="295" y="13"/>
                </a:lnTo>
                <a:lnTo>
                  <a:pt x="278" y="15"/>
                </a:lnTo>
                <a:lnTo>
                  <a:pt x="262" y="18"/>
                </a:lnTo>
                <a:lnTo>
                  <a:pt x="246" y="21"/>
                </a:lnTo>
                <a:lnTo>
                  <a:pt x="229" y="25"/>
                </a:lnTo>
                <a:lnTo>
                  <a:pt x="213" y="28"/>
                </a:lnTo>
                <a:lnTo>
                  <a:pt x="196" y="31"/>
                </a:lnTo>
                <a:lnTo>
                  <a:pt x="180" y="35"/>
                </a:lnTo>
                <a:lnTo>
                  <a:pt x="164" y="38"/>
                </a:lnTo>
                <a:lnTo>
                  <a:pt x="147" y="41"/>
                </a:lnTo>
                <a:lnTo>
                  <a:pt x="131" y="44"/>
                </a:lnTo>
                <a:lnTo>
                  <a:pt x="114" y="47"/>
                </a:lnTo>
                <a:lnTo>
                  <a:pt x="98" y="50"/>
                </a:lnTo>
                <a:lnTo>
                  <a:pt x="82" y="52"/>
                </a:lnTo>
                <a:lnTo>
                  <a:pt x="65" y="54"/>
                </a:lnTo>
                <a:lnTo>
                  <a:pt x="49" y="56"/>
                </a:lnTo>
                <a:lnTo>
                  <a:pt x="33" y="57"/>
                </a:lnTo>
                <a:lnTo>
                  <a:pt x="1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Freeform 31"/>
          <p:cNvSpPr/>
          <p:nvPr/>
        </p:nvSpPr>
        <p:spPr>
          <a:xfrm>
            <a:off x="2057400" y="2714625"/>
            <a:ext cx="3743325" cy="66675"/>
          </a:xfrm>
          <a:custGeom>
            <a:avLst/>
            <a:gdLst/>
            <a:ahLst/>
            <a:cxnLst/>
            <a:rect l="l" t="t" r="r" b="b"/>
            <a:pathLst>
              <a:path w="393" h="7">
                <a:moveTo>
                  <a:pt x="0" y="1"/>
                </a:moveTo>
                <a:lnTo>
                  <a:pt x="16" y="1"/>
                </a:lnTo>
                <a:lnTo>
                  <a:pt x="33" y="1"/>
                </a:lnTo>
                <a:lnTo>
                  <a:pt x="49" y="1"/>
                </a:lnTo>
                <a:lnTo>
                  <a:pt x="65" y="1"/>
                </a:lnTo>
                <a:lnTo>
                  <a:pt x="82" y="1"/>
                </a:lnTo>
                <a:lnTo>
                  <a:pt x="98" y="1"/>
                </a:lnTo>
                <a:lnTo>
                  <a:pt x="114" y="1"/>
                </a:lnTo>
                <a:lnTo>
                  <a:pt x="131" y="1"/>
                </a:lnTo>
                <a:lnTo>
                  <a:pt x="147" y="1"/>
                </a:lnTo>
                <a:lnTo>
                  <a:pt x="164" y="1"/>
                </a:lnTo>
                <a:lnTo>
                  <a:pt x="180" y="1"/>
                </a:lnTo>
                <a:lnTo>
                  <a:pt x="196" y="1"/>
                </a:lnTo>
                <a:lnTo>
                  <a:pt x="213" y="1"/>
                </a:lnTo>
                <a:lnTo>
                  <a:pt x="229" y="1"/>
                </a:lnTo>
                <a:lnTo>
                  <a:pt x="246" y="1"/>
                </a:lnTo>
                <a:lnTo>
                  <a:pt x="262" y="1"/>
                </a:lnTo>
                <a:lnTo>
                  <a:pt x="278" y="1"/>
                </a:lnTo>
                <a:lnTo>
                  <a:pt x="295" y="0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6"/>
                </a:lnTo>
                <a:lnTo>
                  <a:pt x="377" y="6"/>
                </a:lnTo>
                <a:lnTo>
                  <a:pt x="360" y="6"/>
                </a:lnTo>
                <a:lnTo>
                  <a:pt x="344" y="6"/>
                </a:lnTo>
                <a:lnTo>
                  <a:pt x="327" y="6"/>
                </a:lnTo>
                <a:lnTo>
                  <a:pt x="311" y="6"/>
                </a:lnTo>
                <a:lnTo>
                  <a:pt x="295" y="6"/>
                </a:lnTo>
                <a:lnTo>
                  <a:pt x="278" y="6"/>
                </a:lnTo>
                <a:lnTo>
                  <a:pt x="262" y="6"/>
                </a:lnTo>
                <a:lnTo>
                  <a:pt x="246" y="6"/>
                </a:lnTo>
                <a:lnTo>
                  <a:pt x="229" y="6"/>
                </a:lnTo>
                <a:lnTo>
                  <a:pt x="213" y="6"/>
                </a:lnTo>
                <a:lnTo>
                  <a:pt x="196" y="6"/>
                </a:lnTo>
                <a:lnTo>
                  <a:pt x="180" y="6"/>
                </a:lnTo>
                <a:lnTo>
                  <a:pt x="164" y="6"/>
                </a:lnTo>
                <a:lnTo>
                  <a:pt x="147" y="6"/>
                </a:lnTo>
                <a:lnTo>
                  <a:pt x="131" y="6"/>
                </a:lnTo>
                <a:lnTo>
                  <a:pt x="114" y="7"/>
                </a:lnTo>
                <a:lnTo>
                  <a:pt x="98" y="7"/>
                </a:lnTo>
                <a:lnTo>
                  <a:pt x="82" y="7"/>
                </a:lnTo>
                <a:lnTo>
                  <a:pt x="65" y="7"/>
                </a:lnTo>
                <a:lnTo>
                  <a:pt x="49" y="7"/>
                </a:lnTo>
                <a:lnTo>
                  <a:pt x="33" y="7"/>
                </a:lnTo>
                <a:lnTo>
                  <a:pt x="16" y="7"/>
                </a:lnTo>
                <a:lnTo>
                  <a:pt x="0" y="7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Freeform 32"/>
          <p:cNvSpPr/>
          <p:nvPr/>
        </p:nvSpPr>
        <p:spPr>
          <a:xfrm>
            <a:off x="2057400" y="2781300"/>
            <a:ext cx="3743325" cy="514350"/>
          </a:xfrm>
          <a:custGeom>
            <a:avLst/>
            <a:gdLst/>
            <a:ahLst/>
            <a:cxnLst/>
            <a:rect l="l" t="t" r="r" b="b"/>
            <a:pathLst>
              <a:path w="393" h="54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10"/>
                </a:lnTo>
                <a:lnTo>
                  <a:pt x="131" y="13"/>
                </a:lnTo>
                <a:lnTo>
                  <a:pt x="147" y="15"/>
                </a:lnTo>
                <a:lnTo>
                  <a:pt x="164" y="18"/>
                </a:lnTo>
                <a:lnTo>
                  <a:pt x="180" y="21"/>
                </a:lnTo>
                <a:lnTo>
                  <a:pt x="196" y="24"/>
                </a:lnTo>
                <a:lnTo>
                  <a:pt x="213" y="27"/>
                </a:lnTo>
                <a:lnTo>
                  <a:pt x="229" y="31"/>
                </a:lnTo>
                <a:lnTo>
                  <a:pt x="246" y="33"/>
                </a:lnTo>
                <a:lnTo>
                  <a:pt x="262" y="36"/>
                </a:lnTo>
                <a:lnTo>
                  <a:pt x="278" y="39"/>
                </a:lnTo>
                <a:lnTo>
                  <a:pt x="295" y="41"/>
                </a:lnTo>
                <a:lnTo>
                  <a:pt x="311" y="44"/>
                </a:lnTo>
                <a:lnTo>
                  <a:pt x="327" y="45"/>
                </a:lnTo>
                <a:lnTo>
                  <a:pt x="344" y="47"/>
                </a:lnTo>
                <a:lnTo>
                  <a:pt x="360" y="48"/>
                </a:lnTo>
                <a:lnTo>
                  <a:pt x="377" y="49"/>
                </a:lnTo>
                <a:lnTo>
                  <a:pt x="393" y="49"/>
                </a:lnTo>
                <a:lnTo>
                  <a:pt x="393" y="54"/>
                </a:lnTo>
                <a:lnTo>
                  <a:pt x="377" y="54"/>
                </a:lnTo>
                <a:lnTo>
                  <a:pt x="360" y="53"/>
                </a:lnTo>
                <a:lnTo>
                  <a:pt x="344" y="52"/>
                </a:lnTo>
                <a:lnTo>
                  <a:pt x="327" y="51"/>
                </a:lnTo>
                <a:lnTo>
                  <a:pt x="311" y="49"/>
                </a:lnTo>
                <a:lnTo>
                  <a:pt x="295" y="47"/>
                </a:lnTo>
                <a:lnTo>
                  <a:pt x="278" y="44"/>
                </a:lnTo>
                <a:lnTo>
                  <a:pt x="262" y="42"/>
                </a:lnTo>
                <a:lnTo>
                  <a:pt x="246" y="39"/>
                </a:lnTo>
                <a:lnTo>
                  <a:pt x="229" y="36"/>
                </a:lnTo>
                <a:lnTo>
                  <a:pt x="213" y="33"/>
                </a:lnTo>
                <a:lnTo>
                  <a:pt x="196" y="30"/>
                </a:lnTo>
                <a:lnTo>
                  <a:pt x="180" y="27"/>
                </a:lnTo>
                <a:lnTo>
                  <a:pt x="164" y="24"/>
                </a:lnTo>
                <a:lnTo>
                  <a:pt x="147" y="21"/>
                </a:lnTo>
                <a:lnTo>
                  <a:pt x="131" y="18"/>
                </a:lnTo>
                <a:lnTo>
                  <a:pt x="114" y="15"/>
                </a:lnTo>
                <a:lnTo>
                  <a:pt x="98" y="13"/>
                </a:lnTo>
                <a:lnTo>
                  <a:pt x="82" y="11"/>
                </a:lnTo>
                <a:lnTo>
                  <a:pt x="65" y="9"/>
                </a:lnTo>
                <a:lnTo>
                  <a:pt x="49" y="7"/>
                </a:lnTo>
                <a:lnTo>
                  <a:pt x="33" y="6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Freeform 33"/>
          <p:cNvSpPr/>
          <p:nvPr/>
        </p:nvSpPr>
        <p:spPr>
          <a:xfrm>
            <a:off x="2057400" y="2828925"/>
            <a:ext cx="3743325" cy="1028700"/>
          </a:xfrm>
          <a:custGeom>
            <a:avLst/>
            <a:gdLst/>
            <a:ahLst/>
            <a:cxnLst/>
            <a:rect l="l" t="t" r="r" b="b"/>
            <a:pathLst>
              <a:path w="393" h="108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4"/>
                </a:lnTo>
                <a:lnTo>
                  <a:pt x="65" y="8"/>
                </a:lnTo>
                <a:lnTo>
                  <a:pt x="82" y="12"/>
                </a:lnTo>
                <a:lnTo>
                  <a:pt x="98" y="16"/>
                </a:lnTo>
                <a:lnTo>
                  <a:pt x="114" y="21"/>
                </a:lnTo>
                <a:lnTo>
                  <a:pt x="131" y="27"/>
                </a:lnTo>
                <a:lnTo>
                  <a:pt x="147" y="32"/>
                </a:lnTo>
                <a:lnTo>
                  <a:pt x="164" y="39"/>
                </a:lnTo>
                <a:lnTo>
                  <a:pt x="180" y="45"/>
                </a:lnTo>
                <a:lnTo>
                  <a:pt x="196" y="51"/>
                </a:lnTo>
                <a:lnTo>
                  <a:pt x="213" y="58"/>
                </a:lnTo>
                <a:lnTo>
                  <a:pt x="229" y="64"/>
                </a:lnTo>
                <a:lnTo>
                  <a:pt x="246" y="70"/>
                </a:lnTo>
                <a:lnTo>
                  <a:pt x="262" y="76"/>
                </a:lnTo>
                <a:lnTo>
                  <a:pt x="278" y="81"/>
                </a:lnTo>
                <a:lnTo>
                  <a:pt x="295" y="87"/>
                </a:lnTo>
                <a:lnTo>
                  <a:pt x="311" y="91"/>
                </a:lnTo>
                <a:lnTo>
                  <a:pt x="327" y="95"/>
                </a:lnTo>
                <a:lnTo>
                  <a:pt x="344" y="98"/>
                </a:lnTo>
                <a:lnTo>
                  <a:pt x="360" y="101"/>
                </a:lnTo>
                <a:lnTo>
                  <a:pt x="377" y="102"/>
                </a:lnTo>
                <a:lnTo>
                  <a:pt x="393" y="103"/>
                </a:lnTo>
                <a:lnTo>
                  <a:pt x="393" y="108"/>
                </a:lnTo>
                <a:lnTo>
                  <a:pt x="377" y="107"/>
                </a:lnTo>
                <a:lnTo>
                  <a:pt x="360" y="105"/>
                </a:lnTo>
                <a:lnTo>
                  <a:pt x="344" y="103"/>
                </a:lnTo>
                <a:lnTo>
                  <a:pt x="327" y="100"/>
                </a:lnTo>
                <a:lnTo>
                  <a:pt x="311" y="96"/>
                </a:lnTo>
                <a:lnTo>
                  <a:pt x="295" y="91"/>
                </a:lnTo>
                <a:lnTo>
                  <a:pt x="278" y="86"/>
                </a:lnTo>
                <a:lnTo>
                  <a:pt x="262" y="81"/>
                </a:lnTo>
                <a:lnTo>
                  <a:pt x="246" y="75"/>
                </a:lnTo>
                <a:lnTo>
                  <a:pt x="229" y="69"/>
                </a:lnTo>
                <a:lnTo>
                  <a:pt x="213" y="63"/>
                </a:lnTo>
                <a:lnTo>
                  <a:pt x="196" y="56"/>
                </a:lnTo>
                <a:lnTo>
                  <a:pt x="180" y="50"/>
                </a:lnTo>
                <a:lnTo>
                  <a:pt x="164" y="44"/>
                </a:lnTo>
                <a:lnTo>
                  <a:pt x="147" y="37"/>
                </a:lnTo>
                <a:lnTo>
                  <a:pt x="131" y="32"/>
                </a:lnTo>
                <a:lnTo>
                  <a:pt x="114" y="26"/>
                </a:lnTo>
                <a:lnTo>
                  <a:pt x="98" y="21"/>
                </a:lnTo>
                <a:lnTo>
                  <a:pt x="82" y="16"/>
                </a:lnTo>
                <a:lnTo>
                  <a:pt x="65" y="13"/>
                </a:lnTo>
                <a:lnTo>
                  <a:pt x="49" y="9"/>
                </a:lnTo>
                <a:lnTo>
                  <a:pt x="33" y="7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Freeform 34"/>
          <p:cNvSpPr/>
          <p:nvPr/>
        </p:nvSpPr>
        <p:spPr>
          <a:xfrm>
            <a:off x="2057400" y="2876550"/>
            <a:ext cx="3743325" cy="1514475"/>
          </a:xfrm>
          <a:custGeom>
            <a:avLst/>
            <a:gdLst/>
            <a:ahLst/>
            <a:cxnLst/>
            <a:rect l="l" t="t" r="r" b="b"/>
            <a:pathLst>
              <a:path w="393" h="159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1"/>
                </a:lnTo>
                <a:lnTo>
                  <a:pt x="82" y="17"/>
                </a:lnTo>
                <a:lnTo>
                  <a:pt x="98" y="24"/>
                </a:lnTo>
                <a:lnTo>
                  <a:pt x="114" y="32"/>
                </a:lnTo>
                <a:lnTo>
                  <a:pt x="131" y="40"/>
                </a:lnTo>
                <a:lnTo>
                  <a:pt x="147" y="49"/>
                </a:lnTo>
                <a:lnTo>
                  <a:pt x="164" y="58"/>
                </a:lnTo>
                <a:lnTo>
                  <a:pt x="180" y="68"/>
                </a:lnTo>
                <a:lnTo>
                  <a:pt x="196" y="78"/>
                </a:lnTo>
                <a:lnTo>
                  <a:pt x="213" y="87"/>
                </a:lnTo>
                <a:lnTo>
                  <a:pt x="229" y="97"/>
                </a:lnTo>
                <a:lnTo>
                  <a:pt x="246" y="106"/>
                </a:lnTo>
                <a:lnTo>
                  <a:pt x="262" y="115"/>
                </a:lnTo>
                <a:lnTo>
                  <a:pt x="278" y="123"/>
                </a:lnTo>
                <a:lnTo>
                  <a:pt x="295" y="131"/>
                </a:lnTo>
                <a:lnTo>
                  <a:pt x="311" y="138"/>
                </a:lnTo>
                <a:lnTo>
                  <a:pt x="327" y="144"/>
                </a:lnTo>
                <a:lnTo>
                  <a:pt x="344" y="148"/>
                </a:lnTo>
                <a:lnTo>
                  <a:pt x="360" y="152"/>
                </a:lnTo>
                <a:lnTo>
                  <a:pt x="377" y="154"/>
                </a:lnTo>
                <a:lnTo>
                  <a:pt x="393" y="155"/>
                </a:lnTo>
                <a:lnTo>
                  <a:pt x="393" y="159"/>
                </a:lnTo>
                <a:lnTo>
                  <a:pt x="377" y="159"/>
                </a:lnTo>
                <a:lnTo>
                  <a:pt x="360" y="156"/>
                </a:lnTo>
                <a:lnTo>
                  <a:pt x="344" y="153"/>
                </a:lnTo>
                <a:lnTo>
                  <a:pt x="327" y="148"/>
                </a:lnTo>
                <a:lnTo>
                  <a:pt x="311" y="142"/>
                </a:lnTo>
                <a:lnTo>
                  <a:pt x="295" y="135"/>
                </a:lnTo>
                <a:lnTo>
                  <a:pt x="278" y="128"/>
                </a:lnTo>
                <a:lnTo>
                  <a:pt x="262" y="119"/>
                </a:lnTo>
                <a:lnTo>
                  <a:pt x="246" y="110"/>
                </a:lnTo>
                <a:lnTo>
                  <a:pt x="229" y="101"/>
                </a:lnTo>
                <a:lnTo>
                  <a:pt x="213" y="92"/>
                </a:lnTo>
                <a:lnTo>
                  <a:pt x="196" y="82"/>
                </a:lnTo>
                <a:lnTo>
                  <a:pt x="180" y="72"/>
                </a:lnTo>
                <a:lnTo>
                  <a:pt x="164" y="63"/>
                </a:lnTo>
                <a:lnTo>
                  <a:pt x="147" y="53"/>
                </a:lnTo>
                <a:lnTo>
                  <a:pt x="131" y="45"/>
                </a:lnTo>
                <a:lnTo>
                  <a:pt x="114" y="36"/>
                </a:lnTo>
                <a:lnTo>
                  <a:pt x="98" y="29"/>
                </a:lnTo>
                <a:lnTo>
                  <a:pt x="82" y="22"/>
                </a:lnTo>
                <a:lnTo>
                  <a:pt x="65" y="16"/>
                </a:lnTo>
                <a:lnTo>
                  <a:pt x="49" y="11"/>
                </a:lnTo>
                <a:lnTo>
                  <a:pt x="33" y="7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Freeform 35"/>
          <p:cNvSpPr/>
          <p:nvPr/>
        </p:nvSpPr>
        <p:spPr>
          <a:xfrm>
            <a:off x="2057400" y="2914650"/>
            <a:ext cx="3743325" cy="2047875"/>
          </a:xfrm>
          <a:custGeom>
            <a:avLst/>
            <a:gdLst/>
            <a:ahLst/>
            <a:cxnLst/>
            <a:rect l="l" t="t" r="r" b="b"/>
            <a:pathLst>
              <a:path w="393" h="215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6"/>
                </a:lnTo>
                <a:lnTo>
                  <a:pt x="82" y="24"/>
                </a:lnTo>
                <a:lnTo>
                  <a:pt x="98" y="33"/>
                </a:lnTo>
                <a:lnTo>
                  <a:pt x="114" y="43"/>
                </a:lnTo>
                <a:lnTo>
                  <a:pt x="131" y="55"/>
                </a:lnTo>
                <a:lnTo>
                  <a:pt x="147" y="67"/>
                </a:lnTo>
                <a:lnTo>
                  <a:pt x="164" y="79"/>
                </a:lnTo>
                <a:lnTo>
                  <a:pt x="180" y="92"/>
                </a:lnTo>
                <a:lnTo>
                  <a:pt x="196" y="105"/>
                </a:lnTo>
                <a:lnTo>
                  <a:pt x="213" y="118"/>
                </a:lnTo>
                <a:lnTo>
                  <a:pt x="229" y="131"/>
                </a:lnTo>
                <a:lnTo>
                  <a:pt x="246" y="143"/>
                </a:lnTo>
                <a:lnTo>
                  <a:pt x="262" y="155"/>
                </a:lnTo>
                <a:lnTo>
                  <a:pt x="278" y="167"/>
                </a:lnTo>
                <a:lnTo>
                  <a:pt x="295" y="177"/>
                </a:lnTo>
                <a:lnTo>
                  <a:pt x="311" y="186"/>
                </a:lnTo>
                <a:lnTo>
                  <a:pt x="327" y="194"/>
                </a:lnTo>
                <a:lnTo>
                  <a:pt x="344" y="201"/>
                </a:lnTo>
                <a:lnTo>
                  <a:pt x="360" y="206"/>
                </a:lnTo>
                <a:lnTo>
                  <a:pt x="377" y="209"/>
                </a:lnTo>
                <a:lnTo>
                  <a:pt x="393" y="210"/>
                </a:lnTo>
                <a:lnTo>
                  <a:pt x="393" y="215"/>
                </a:lnTo>
                <a:lnTo>
                  <a:pt x="377" y="214"/>
                </a:lnTo>
                <a:lnTo>
                  <a:pt x="360" y="210"/>
                </a:lnTo>
                <a:lnTo>
                  <a:pt x="344" y="206"/>
                </a:lnTo>
                <a:lnTo>
                  <a:pt x="327" y="199"/>
                </a:lnTo>
                <a:lnTo>
                  <a:pt x="311" y="191"/>
                </a:lnTo>
                <a:lnTo>
                  <a:pt x="295" y="182"/>
                </a:lnTo>
                <a:lnTo>
                  <a:pt x="278" y="172"/>
                </a:lnTo>
                <a:lnTo>
                  <a:pt x="262" y="160"/>
                </a:lnTo>
                <a:lnTo>
                  <a:pt x="246" y="148"/>
                </a:lnTo>
                <a:lnTo>
                  <a:pt x="229" y="136"/>
                </a:lnTo>
                <a:lnTo>
                  <a:pt x="213" y="123"/>
                </a:lnTo>
                <a:lnTo>
                  <a:pt x="196" y="110"/>
                </a:lnTo>
                <a:lnTo>
                  <a:pt x="180" y="97"/>
                </a:lnTo>
                <a:lnTo>
                  <a:pt x="164" y="84"/>
                </a:lnTo>
                <a:lnTo>
                  <a:pt x="147" y="71"/>
                </a:lnTo>
                <a:lnTo>
                  <a:pt x="131" y="60"/>
                </a:lnTo>
                <a:lnTo>
                  <a:pt x="114" y="48"/>
                </a:lnTo>
                <a:lnTo>
                  <a:pt x="98" y="38"/>
                </a:lnTo>
                <a:lnTo>
                  <a:pt x="82" y="29"/>
                </a:lnTo>
                <a:lnTo>
                  <a:pt x="65" y="21"/>
                </a:lnTo>
                <a:lnTo>
                  <a:pt x="49" y="14"/>
                </a:lnTo>
                <a:lnTo>
                  <a:pt x="33" y="9"/>
                </a:lnTo>
                <a:lnTo>
                  <a:pt x="16" y="6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Freeform 36"/>
          <p:cNvSpPr/>
          <p:nvPr/>
        </p:nvSpPr>
        <p:spPr>
          <a:xfrm>
            <a:off x="2057400" y="2962275"/>
            <a:ext cx="3743325" cy="2552700"/>
          </a:xfrm>
          <a:custGeom>
            <a:avLst/>
            <a:gdLst/>
            <a:ahLst/>
            <a:cxnLst/>
            <a:rect l="l" t="t" r="r" b="b"/>
            <a:pathLst>
              <a:path w="393" h="268">
                <a:moveTo>
                  <a:pt x="0" y="0"/>
                </a:moveTo>
                <a:lnTo>
                  <a:pt x="16" y="2"/>
                </a:lnTo>
                <a:lnTo>
                  <a:pt x="33" y="5"/>
                </a:lnTo>
                <a:lnTo>
                  <a:pt x="49" y="12"/>
                </a:lnTo>
                <a:lnTo>
                  <a:pt x="65" y="20"/>
                </a:lnTo>
                <a:lnTo>
                  <a:pt x="82" y="30"/>
                </a:lnTo>
                <a:lnTo>
                  <a:pt x="98" y="41"/>
                </a:lnTo>
                <a:lnTo>
                  <a:pt x="114" y="54"/>
                </a:lnTo>
                <a:lnTo>
                  <a:pt x="131" y="68"/>
                </a:lnTo>
                <a:lnTo>
                  <a:pt x="147" y="83"/>
                </a:lnTo>
                <a:lnTo>
                  <a:pt x="164" y="99"/>
                </a:lnTo>
                <a:lnTo>
                  <a:pt x="180" y="115"/>
                </a:lnTo>
                <a:lnTo>
                  <a:pt x="196" y="131"/>
                </a:lnTo>
                <a:lnTo>
                  <a:pt x="213" y="148"/>
                </a:lnTo>
                <a:lnTo>
                  <a:pt x="229" y="164"/>
                </a:lnTo>
                <a:lnTo>
                  <a:pt x="246" y="179"/>
                </a:lnTo>
                <a:lnTo>
                  <a:pt x="262" y="194"/>
                </a:lnTo>
                <a:lnTo>
                  <a:pt x="278" y="208"/>
                </a:lnTo>
                <a:lnTo>
                  <a:pt x="295" y="221"/>
                </a:lnTo>
                <a:lnTo>
                  <a:pt x="311" y="233"/>
                </a:lnTo>
                <a:lnTo>
                  <a:pt x="327" y="243"/>
                </a:lnTo>
                <a:lnTo>
                  <a:pt x="344" y="251"/>
                </a:lnTo>
                <a:lnTo>
                  <a:pt x="360" y="257"/>
                </a:lnTo>
                <a:lnTo>
                  <a:pt x="377" y="261"/>
                </a:lnTo>
                <a:lnTo>
                  <a:pt x="393" y="262"/>
                </a:lnTo>
                <a:lnTo>
                  <a:pt x="393" y="268"/>
                </a:lnTo>
                <a:lnTo>
                  <a:pt x="377" y="266"/>
                </a:lnTo>
                <a:lnTo>
                  <a:pt x="360" y="262"/>
                </a:lnTo>
                <a:lnTo>
                  <a:pt x="344" y="256"/>
                </a:lnTo>
                <a:lnTo>
                  <a:pt x="327" y="248"/>
                </a:lnTo>
                <a:lnTo>
                  <a:pt x="311" y="238"/>
                </a:lnTo>
                <a:lnTo>
                  <a:pt x="295" y="227"/>
                </a:lnTo>
                <a:lnTo>
                  <a:pt x="278" y="214"/>
                </a:lnTo>
                <a:lnTo>
                  <a:pt x="262" y="200"/>
                </a:lnTo>
                <a:lnTo>
                  <a:pt x="246" y="185"/>
                </a:lnTo>
                <a:lnTo>
                  <a:pt x="229" y="169"/>
                </a:lnTo>
                <a:lnTo>
                  <a:pt x="213" y="153"/>
                </a:lnTo>
                <a:lnTo>
                  <a:pt x="196" y="137"/>
                </a:lnTo>
                <a:lnTo>
                  <a:pt x="180" y="120"/>
                </a:lnTo>
                <a:lnTo>
                  <a:pt x="164" y="104"/>
                </a:lnTo>
                <a:lnTo>
                  <a:pt x="147" y="88"/>
                </a:lnTo>
                <a:lnTo>
                  <a:pt x="131" y="73"/>
                </a:lnTo>
                <a:lnTo>
                  <a:pt x="114" y="59"/>
                </a:lnTo>
                <a:lnTo>
                  <a:pt x="98" y="46"/>
                </a:lnTo>
                <a:lnTo>
                  <a:pt x="82" y="35"/>
                </a:lnTo>
                <a:lnTo>
                  <a:pt x="65" y="25"/>
                </a:lnTo>
                <a:lnTo>
                  <a:pt x="49" y="17"/>
                </a:lnTo>
                <a:lnTo>
                  <a:pt x="33" y="11"/>
                </a:lnTo>
                <a:lnTo>
                  <a:pt x="16" y="7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Freeform 37"/>
          <p:cNvSpPr/>
          <p:nvPr/>
        </p:nvSpPr>
        <p:spPr>
          <a:xfrm>
            <a:off x="2057400" y="3009900"/>
            <a:ext cx="3743325" cy="3038475"/>
          </a:xfrm>
          <a:custGeom>
            <a:avLst/>
            <a:gdLst/>
            <a:ahLst/>
            <a:cxnLst/>
            <a:rect l="l" t="t" r="r" b="b"/>
            <a:pathLst>
              <a:path w="393" h="319">
                <a:moveTo>
                  <a:pt x="0" y="0"/>
                </a:moveTo>
                <a:lnTo>
                  <a:pt x="16" y="2"/>
                </a:lnTo>
                <a:lnTo>
                  <a:pt x="33" y="7"/>
                </a:lnTo>
                <a:lnTo>
                  <a:pt x="49" y="14"/>
                </a:lnTo>
                <a:lnTo>
                  <a:pt x="65" y="24"/>
                </a:lnTo>
                <a:lnTo>
                  <a:pt x="82" y="36"/>
                </a:lnTo>
                <a:lnTo>
                  <a:pt x="98" y="50"/>
                </a:lnTo>
                <a:lnTo>
                  <a:pt x="114" y="65"/>
                </a:lnTo>
                <a:lnTo>
                  <a:pt x="131" y="82"/>
                </a:lnTo>
                <a:lnTo>
                  <a:pt x="147" y="100"/>
                </a:lnTo>
                <a:lnTo>
                  <a:pt x="164" y="119"/>
                </a:lnTo>
                <a:lnTo>
                  <a:pt x="180" y="138"/>
                </a:lnTo>
                <a:lnTo>
                  <a:pt x="196" y="158"/>
                </a:lnTo>
                <a:lnTo>
                  <a:pt x="213" y="177"/>
                </a:lnTo>
                <a:lnTo>
                  <a:pt x="229" y="196"/>
                </a:lnTo>
                <a:lnTo>
                  <a:pt x="246" y="215"/>
                </a:lnTo>
                <a:lnTo>
                  <a:pt x="262" y="233"/>
                </a:lnTo>
                <a:lnTo>
                  <a:pt x="278" y="250"/>
                </a:lnTo>
                <a:lnTo>
                  <a:pt x="295" y="265"/>
                </a:lnTo>
                <a:lnTo>
                  <a:pt x="311" y="279"/>
                </a:lnTo>
                <a:lnTo>
                  <a:pt x="327" y="291"/>
                </a:lnTo>
                <a:lnTo>
                  <a:pt x="344" y="301"/>
                </a:lnTo>
                <a:lnTo>
                  <a:pt x="360" y="308"/>
                </a:lnTo>
                <a:lnTo>
                  <a:pt x="377" y="313"/>
                </a:lnTo>
                <a:lnTo>
                  <a:pt x="393" y="315"/>
                </a:lnTo>
                <a:lnTo>
                  <a:pt x="393" y="319"/>
                </a:lnTo>
                <a:lnTo>
                  <a:pt x="377" y="318"/>
                </a:lnTo>
                <a:lnTo>
                  <a:pt x="360" y="313"/>
                </a:lnTo>
                <a:lnTo>
                  <a:pt x="344" y="306"/>
                </a:lnTo>
                <a:lnTo>
                  <a:pt x="327" y="296"/>
                </a:lnTo>
                <a:lnTo>
                  <a:pt x="311" y="284"/>
                </a:lnTo>
                <a:lnTo>
                  <a:pt x="295" y="270"/>
                </a:lnTo>
                <a:lnTo>
                  <a:pt x="278" y="255"/>
                </a:lnTo>
                <a:lnTo>
                  <a:pt x="262" y="238"/>
                </a:lnTo>
                <a:lnTo>
                  <a:pt x="246" y="220"/>
                </a:lnTo>
                <a:lnTo>
                  <a:pt x="229" y="201"/>
                </a:lnTo>
                <a:lnTo>
                  <a:pt x="213" y="182"/>
                </a:lnTo>
                <a:lnTo>
                  <a:pt x="196" y="162"/>
                </a:lnTo>
                <a:lnTo>
                  <a:pt x="180" y="143"/>
                </a:lnTo>
                <a:lnTo>
                  <a:pt x="164" y="123"/>
                </a:lnTo>
                <a:lnTo>
                  <a:pt x="147" y="104"/>
                </a:lnTo>
                <a:lnTo>
                  <a:pt x="131" y="87"/>
                </a:lnTo>
                <a:lnTo>
                  <a:pt x="114" y="70"/>
                </a:lnTo>
                <a:lnTo>
                  <a:pt x="98" y="54"/>
                </a:lnTo>
                <a:lnTo>
                  <a:pt x="82" y="40"/>
                </a:lnTo>
                <a:lnTo>
                  <a:pt x="65" y="28"/>
                </a:lnTo>
                <a:lnTo>
                  <a:pt x="49" y="19"/>
                </a:lnTo>
                <a:lnTo>
                  <a:pt x="33" y="11"/>
                </a:lnTo>
                <a:lnTo>
                  <a:pt x="16" y="7"/>
                </a:lnTo>
                <a:lnTo>
                  <a:pt x="0" y="5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Freeform 38"/>
          <p:cNvSpPr/>
          <p:nvPr/>
        </p:nvSpPr>
        <p:spPr>
          <a:xfrm>
            <a:off x="2057400" y="1657350"/>
            <a:ext cx="3743325" cy="1495425"/>
          </a:xfrm>
          <a:custGeom>
            <a:avLst/>
            <a:gdLst/>
            <a:ahLst/>
            <a:cxnLst/>
            <a:rect l="l" t="t" r="r" b="b"/>
            <a:pathLst>
              <a:path w="393" h="157">
                <a:moveTo>
                  <a:pt x="0" y="153"/>
                </a:moveTo>
                <a:lnTo>
                  <a:pt x="16" y="152"/>
                </a:lnTo>
                <a:lnTo>
                  <a:pt x="33" y="150"/>
                </a:lnTo>
                <a:lnTo>
                  <a:pt x="49" y="146"/>
                </a:lnTo>
                <a:lnTo>
                  <a:pt x="65" y="142"/>
                </a:lnTo>
                <a:lnTo>
                  <a:pt x="82" y="136"/>
                </a:lnTo>
                <a:lnTo>
                  <a:pt x="98" y="129"/>
                </a:lnTo>
                <a:lnTo>
                  <a:pt x="114" y="122"/>
                </a:lnTo>
                <a:lnTo>
                  <a:pt x="131" y="113"/>
                </a:lnTo>
                <a:lnTo>
                  <a:pt x="147" y="105"/>
                </a:lnTo>
                <a:lnTo>
                  <a:pt x="164" y="95"/>
                </a:lnTo>
                <a:lnTo>
                  <a:pt x="180" y="86"/>
                </a:lnTo>
                <a:lnTo>
                  <a:pt x="196" y="76"/>
                </a:lnTo>
                <a:lnTo>
                  <a:pt x="213" y="67"/>
                </a:lnTo>
                <a:lnTo>
                  <a:pt x="229" y="57"/>
                </a:lnTo>
                <a:lnTo>
                  <a:pt x="246" y="48"/>
                </a:lnTo>
                <a:lnTo>
                  <a:pt x="262" y="39"/>
                </a:lnTo>
                <a:lnTo>
                  <a:pt x="278" y="31"/>
                </a:lnTo>
                <a:lnTo>
                  <a:pt x="295" y="24"/>
                </a:lnTo>
                <a:lnTo>
                  <a:pt x="311" y="17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7"/>
                </a:lnTo>
                <a:lnTo>
                  <a:pt x="344" y="10"/>
                </a:lnTo>
                <a:lnTo>
                  <a:pt x="327" y="15"/>
                </a:lnTo>
                <a:lnTo>
                  <a:pt x="311" y="21"/>
                </a:lnTo>
                <a:lnTo>
                  <a:pt x="295" y="28"/>
                </a:lnTo>
                <a:lnTo>
                  <a:pt x="278" y="35"/>
                </a:lnTo>
                <a:lnTo>
                  <a:pt x="262" y="43"/>
                </a:lnTo>
                <a:lnTo>
                  <a:pt x="246" y="52"/>
                </a:lnTo>
                <a:lnTo>
                  <a:pt x="229" y="61"/>
                </a:lnTo>
                <a:lnTo>
                  <a:pt x="213" y="71"/>
                </a:lnTo>
                <a:lnTo>
                  <a:pt x="196" y="80"/>
                </a:lnTo>
                <a:lnTo>
                  <a:pt x="180" y="90"/>
                </a:lnTo>
                <a:lnTo>
                  <a:pt x="164" y="99"/>
                </a:lnTo>
                <a:lnTo>
                  <a:pt x="147" y="109"/>
                </a:lnTo>
                <a:lnTo>
                  <a:pt x="131" y="117"/>
                </a:lnTo>
                <a:lnTo>
                  <a:pt x="114" y="126"/>
                </a:lnTo>
                <a:lnTo>
                  <a:pt x="98" y="133"/>
                </a:lnTo>
                <a:lnTo>
                  <a:pt x="82" y="140"/>
                </a:lnTo>
                <a:lnTo>
                  <a:pt x="65" y="146"/>
                </a:lnTo>
                <a:lnTo>
                  <a:pt x="49" y="151"/>
                </a:lnTo>
                <a:lnTo>
                  <a:pt x="33" y="154"/>
                </a:lnTo>
                <a:lnTo>
                  <a:pt x="16" y="156"/>
                </a:lnTo>
                <a:lnTo>
                  <a:pt x="0" y="157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Freeform 39"/>
          <p:cNvSpPr/>
          <p:nvPr/>
        </p:nvSpPr>
        <p:spPr>
          <a:xfrm>
            <a:off x="2057400" y="2209800"/>
            <a:ext cx="3743325" cy="981075"/>
          </a:xfrm>
          <a:custGeom>
            <a:avLst/>
            <a:gdLst/>
            <a:ahLst/>
            <a:cxnLst/>
            <a:rect l="l" t="t" r="r" b="b"/>
            <a:pathLst>
              <a:path w="393" h="103">
                <a:moveTo>
                  <a:pt x="0" y="99"/>
                </a:moveTo>
                <a:lnTo>
                  <a:pt x="16" y="99"/>
                </a:lnTo>
                <a:lnTo>
                  <a:pt x="33" y="97"/>
                </a:lnTo>
                <a:lnTo>
                  <a:pt x="49" y="95"/>
                </a:lnTo>
                <a:lnTo>
                  <a:pt x="65" y="92"/>
                </a:lnTo>
                <a:lnTo>
                  <a:pt x="82" y="88"/>
                </a:lnTo>
                <a:lnTo>
                  <a:pt x="98" y="84"/>
                </a:lnTo>
                <a:lnTo>
                  <a:pt x="114" y="79"/>
                </a:lnTo>
                <a:lnTo>
                  <a:pt x="131" y="74"/>
                </a:lnTo>
                <a:lnTo>
                  <a:pt x="147" y="68"/>
                </a:lnTo>
                <a:lnTo>
                  <a:pt x="164" y="62"/>
                </a:lnTo>
                <a:lnTo>
                  <a:pt x="180" y="56"/>
                </a:lnTo>
                <a:lnTo>
                  <a:pt x="196" y="50"/>
                </a:lnTo>
                <a:lnTo>
                  <a:pt x="213" y="44"/>
                </a:lnTo>
                <a:lnTo>
                  <a:pt x="229" y="38"/>
                </a:lnTo>
                <a:lnTo>
                  <a:pt x="246" y="32"/>
                </a:lnTo>
                <a:lnTo>
                  <a:pt x="262" y="26"/>
                </a:lnTo>
                <a:lnTo>
                  <a:pt x="278" y="21"/>
                </a:lnTo>
                <a:lnTo>
                  <a:pt x="295" y="16"/>
                </a:lnTo>
                <a:lnTo>
                  <a:pt x="311" y="11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6"/>
                </a:lnTo>
                <a:lnTo>
                  <a:pt x="344" y="9"/>
                </a:lnTo>
                <a:lnTo>
                  <a:pt x="327" y="12"/>
                </a:lnTo>
                <a:lnTo>
                  <a:pt x="311" y="16"/>
                </a:lnTo>
                <a:lnTo>
                  <a:pt x="295" y="20"/>
                </a:lnTo>
                <a:lnTo>
                  <a:pt x="278" y="25"/>
                </a:lnTo>
                <a:lnTo>
                  <a:pt x="262" y="30"/>
                </a:lnTo>
                <a:lnTo>
                  <a:pt x="246" y="36"/>
                </a:lnTo>
                <a:lnTo>
                  <a:pt x="229" y="42"/>
                </a:lnTo>
                <a:lnTo>
                  <a:pt x="213" y="48"/>
                </a:lnTo>
                <a:lnTo>
                  <a:pt x="196" y="54"/>
                </a:lnTo>
                <a:lnTo>
                  <a:pt x="180" y="60"/>
                </a:lnTo>
                <a:lnTo>
                  <a:pt x="164" y="66"/>
                </a:lnTo>
                <a:lnTo>
                  <a:pt x="147" y="72"/>
                </a:lnTo>
                <a:lnTo>
                  <a:pt x="131" y="78"/>
                </a:lnTo>
                <a:lnTo>
                  <a:pt x="114" y="83"/>
                </a:lnTo>
                <a:lnTo>
                  <a:pt x="98" y="88"/>
                </a:lnTo>
                <a:lnTo>
                  <a:pt x="82" y="92"/>
                </a:lnTo>
                <a:lnTo>
                  <a:pt x="65" y="96"/>
                </a:lnTo>
                <a:lnTo>
                  <a:pt x="49" y="99"/>
                </a:lnTo>
                <a:lnTo>
                  <a:pt x="33" y="101"/>
                </a:lnTo>
                <a:lnTo>
                  <a:pt x="16" y="103"/>
                </a:lnTo>
                <a:lnTo>
                  <a:pt x="0" y="103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Freeform 40"/>
          <p:cNvSpPr/>
          <p:nvPr/>
        </p:nvSpPr>
        <p:spPr>
          <a:xfrm>
            <a:off x="2057400" y="2771775"/>
            <a:ext cx="3743325" cy="447675"/>
          </a:xfrm>
          <a:custGeom>
            <a:avLst/>
            <a:gdLst/>
            <a:ahLst/>
            <a:cxnLst/>
            <a:rect l="l" t="t" r="r" b="b"/>
            <a:pathLst>
              <a:path w="393" h="47">
                <a:moveTo>
                  <a:pt x="0" y="44"/>
                </a:moveTo>
                <a:lnTo>
                  <a:pt x="16" y="44"/>
                </a:lnTo>
                <a:lnTo>
                  <a:pt x="33" y="43"/>
                </a:lnTo>
                <a:lnTo>
                  <a:pt x="49" y="42"/>
                </a:lnTo>
                <a:lnTo>
                  <a:pt x="65" y="41"/>
                </a:lnTo>
                <a:lnTo>
                  <a:pt x="82" y="39"/>
                </a:lnTo>
                <a:lnTo>
                  <a:pt x="98" y="37"/>
                </a:lnTo>
                <a:lnTo>
                  <a:pt x="114" y="35"/>
                </a:lnTo>
                <a:lnTo>
                  <a:pt x="131" y="33"/>
                </a:lnTo>
                <a:lnTo>
                  <a:pt x="147" y="30"/>
                </a:lnTo>
                <a:lnTo>
                  <a:pt x="164" y="27"/>
                </a:lnTo>
                <a:lnTo>
                  <a:pt x="180" y="25"/>
                </a:lnTo>
                <a:lnTo>
                  <a:pt x="196" y="22"/>
                </a:lnTo>
                <a:lnTo>
                  <a:pt x="213" y="19"/>
                </a:lnTo>
                <a:lnTo>
                  <a:pt x="229" y="16"/>
                </a:lnTo>
                <a:lnTo>
                  <a:pt x="246" y="14"/>
                </a:lnTo>
                <a:lnTo>
                  <a:pt x="262" y="11"/>
                </a:lnTo>
                <a:lnTo>
                  <a:pt x="278" y="9"/>
                </a:lnTo>
                <a:lnTo>
                  <a:pt x="295" y="7"/>
                </a:lnTo>
                <a:lnTo>
                  <a:pt x="311" y="5"/>
                </a:lnTo>
                <a:lnTo>
                  <a:pt x="327" y="3"/>
                </a:lnTo>
                <a:lnTo>
                  <a:pt x="344" y="2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4"/>
                </a:lnTo>
                <a:lnTo>
                  <a:pt x="344" y="5"/>
                </a:lnTo>
                <a:lnTo>
                  <a:pt x="327" y="6"/>
                </a:lnTo>
                <a:lnTo>
                  <a:pt x="311" y="8"/>
                </a:lnTo>
                <a:lnTo>
                  <a:pt x="295" y="10"/>
                </a:lnTo>
                <a:lnTo>
                  <a:pt x="278" y="12"/>
                </a:lnTo>
                <a:lnTo>
                  <a:pt x="262" y="14"/>
                </a:lnTo>
                <a:lnTo>
                  <a:pt x="246" y="17"/>
                </a:lnTo>
                <a:lnTo>
                  <a:pt x="229" y="19"/>
                </a:lnTo>
                <a:lnTo>
                  <a:pt x="213" y="22"/>
                </a:lnTo>
                <a:lnTo>
                  <a:pt x="196" y="25"/>
                </a:lnTo>
                <a:lnTo>
                  <a:pt x="180" y="28"/>
                </a:lnTo>
                <a:lnTo>
                  <a:pt x="164" y="31"/>
                </a:lnTo>
                <a:lnTo>
                  <a:pt x="147" y="33"/>
                </a:lnTo>
                <a:lnTo>
                  <a:pt x="131" y="36"/>
                </a:lnTo>
                <a:lnTo>
                  <a:pt x="114" y="38"/>
                </a:lnTo>
                <a:lnTo>
                  <a:pt x="98" y="40"/>
                </a:lnTo>
                <a:lnTo>
                  <a:pt x="82" y="42"/>
                </a:lnTo>
                <a:lnTo>
                  <a:pt x="65" y="44"/>
                </a:lnTo>
                <a:lnTo>
                  <a:pt x="49" y="45"/>
                </a:lnTo>
                <a:lnTo>
                  <a:pt x="33" y="46"/>
                </a:lnTo>
                <a:lnTo>
                  <a:pt x="1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Freeform 41"/>
          <p:cNvSpPr/>
          <p:nvPr/>
        </p:nvSpPr>
        <p:spPr>
          <a:xfrm>
            <a:off x="2057400" y="3219450"/>
            <a:ext cx="3743325" cy="114300"/>
          </a:xfrm>
          <a:custGeom>
            <a:avLst/>
            <a:gdLst/>
            <a:ahLst/>
            <a:cxnLst/>
            <a:rect l="l" t="t" r="r" b="b"/>
            <a:pathLst>
              <a:path w="393" h="1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1"/>
                </a:lnTo>
                <a:lnTo>
                  <a:pt x="65" y="1"/>
                </a:lnTo>
                <a:lnTo>
                  <a:pt x="82" y="1"/>
                </a:lnTo>
                <a:lnTo>
                  <a:pt x="98" y="2"/>
                </a:lnTo>
                <a:lnTo>
                  <a:pt x="114" y="2"/>
                </a:lnTo>
                <a:lnTo>
                  <a:pt x="131" y="2"/>
                </a:lnTo>
                <a:lnTo>
                  <a:pt x="147" y="3"/>
                </a:lnTo>
                <a:lnTo>
                  <a:pt x="164" y="3"/>
                </a:lnTo>
                <a:lnTo>
                  <a:pt x="180" y="4"/>
                </a:lnTo>
                <a:lnTo>
                  <a:pt x="196" y="4"/>
                </a:lnTo>
                <a:lnTo>
                  <a:pt x="213" y="5"/>
                </a:lnTo>
                <a:lnTo>
                  <a:pt x="229" y="5"/>
                </a:lnTo>
                <a:lnTo>
                  <a:pt x="246" y="6"/>
                </a:lnTo>
                <a:lnTo>
                  <a:pt x="262" y="6"/>
                </a:lnTo>
                <a:lnTo>
                  <a:pt x="278" y="7"/>
                </a:lnTo>
                <a:lnTo>
                  <a:pt x="295" y="7"/>
                </a:lnTo>
                <a:lnTo>
                  <a:pt x="311" y="7"/>
                </a:lnTo>
                <a:lnTo>
                  <a:pt x="327" y="8"/>
                </a:lnTo>
                <a:lnTo>
                  <a:pt x="344" y="8"/>
                </a:lnTo>
                <a:lnTo>
                  <a:pt x="360" y="8"/>
                </a:lnTo>
                <a:lnTo>
                  <a:pt x="377" y="8"/>
                </a:lnTo>
                <a:lnTo>
                  <a:pt x="393" y="8"/>
                </a:lnTo>
                <a:lnTo>
                  <a:pt x="393" y="12"/>
                </a:lnTo>
                <a:lnTo>
                  <a:pt x="377" y="12"/>
                </a:lnTo>
                <a:lnTo>
                  <a:pt x="360" y="12"/>
                </a:lnTo>
                <a:lnTo>
                  <a:pt x="344" y="12"/>
                </a:lnTo>
                <a:lnTo>
                  <a:pt x="327" y="12"/>
                </a:lnTo>
                <a:lnTo>
                  <a:pt x="311" y="12"/>
                </a:lnTo>
                <a:lnTo>
                  <a:pt x="295" y="11"/>
                </a:lnTo>
                <a:lnTo>
                  <a:pt x="278" y="11"/>
                </a:lnTo>
                <a:lnTo>
                  <a:pt x="262" y="10"/>
                </a:lnTo>
                <a:lnTo>
                  <a:pt x="246" y="10"/>
                </a:lnTo>
                <a:lnTo>
                  <a:pt x="229" y="9"/>
                </a:lnTo>
                <a:lnTo>
                  <a:pt x="213" y="9"/>
                </a:lnTo>
                <a:lnTo>
                  <a:pt x="196" y="8"/>
                </a:lnTo>
                <a:lnTo>
                  <a:pt x="180" y="8"/>
                </a:lnTo>
                <a:lnTo>
                  <a:pt x="164" y="7"/>
                </a:lnTo>
                <a:lnTo>
                  <a:pt x="147" y="7"/>
                </a:lnTo>
                <a:lnTo>
                  <a:pt x="131" y="7"/>
                </a:lnTo>
                <a:lnTo>
                  <a:pt x="114" y="6"/>
                </a:lnTo>
                <a:lnTo>
                  <a:pt x="98" y="6"/>
                </a:lnTo>
                <a:lnTo>
                  <a:pt x="82" y="5"/>
                </a:lnTo>
                <a:lnTo>
                  <a:pt x="65" y="5"/>
                </a:lnTo>
                <a:lnTo>
                  <a:pt x="49" y="5"/>
                </a:lnTo>
                <a:lnTo>
                  <a:pt x="33" y="5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Freeform 42"/>
          <p:cNvSpPr/>
          <p:nvPr/>
        </p:nvSpPr>
        <p:spPr>
          <a:xfrm>
            <a:off x="2057400" y="3267075"/>
            <a:ext cx="3743325" cy="619125"/>
          </a:xfrm>
          <a:custGeom>
            <a:avLst/>
            <a:gdLst/>
            <a:ahLst/>
            <a:cxnLst/>
            <a:rect l="l" t="t" r="r" b="b"/>
            <a:pathLst>
              <a:path w="393" h="65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6"/>
                </a:lnTo>
                <a:lnTo>
                  <a:pt x="98" y="9"/>
                </a:lnTo>
                <a:lnTo>
                  <a:pt x="114" y="12"/>
                </a:lnTo>
                <a:lnTo>
                  <a:pt x="131" y="16"/>
                </a:lnTo>
                <a:lnTo>
                  <a:pt x="147" y="19"/>
                </a:lnTo>
                <a:lnTo>
                  <a:pt x="164" y="23"/>
                </a:lnTo>
                <a:lnTo>
                  <a:pt x="180" y="27"/>
                </a:lnTo>
                <a:lnTo>
                  <a:pt x="196" y="31"/>
                </a:lnTo>
                <a:lnTo>
                  <a:pt x="213" y="34"/>
                </a:lnTo>
                <a:lnTo>
                  <a:pt x="229" y="38"/>
                </a:lnTo>
                <a:lnTo>
                  <a:pt x="246" y="42"/>
                </a:lnTo>
                <a:lnTo>
                  <a:pt x="262" y="45"/>
                </a:lnTo>
                <a:lnTo>
                  <a:pt x="278" y="49"/>
                </a:lnTo>
                <a:lnTo>
                  <a:pt x="295" y="52"/>
                </a:lnTo>
                <a:lnTo>
                  <a:pt x="311" y="55"/>
                </a:lnTo>
                <a:lnTo>
                  <a:pt x="327" y="57"/>
                </a:lnTo>
                <a:lnTo>
                  <a:pt x="344" y="59"/>
                </a:lnTo>
                <a:lnTo>
                  <a:pt x="360" y="60"/>
                </a:lnTo>
                <a:lnTo>
                  <a:pt x="377" y="61"/>
                </a:lnTo>
                <a:lnTo>
                  <a:pt x="393" y="62"/>
                </a:lnTo>
                <a:lnTo>
                  <a:pt x="393" y="65"/>
                </a:lnTo>
                <a:lnTo>
                  <a:pt x="377" y="65"/>
                </a:lnTo>
                <a:lnTo>
                  <a:pt x="360" y="64"/>
                </a:lnTo>
                <a:lnTo>
                  <a:pt x="344" y="62"/>
                </a:lnTo>
                <a:lnTo>
                  <a:pt x="327" y="60"/>
                </a:lnTo>
                <a:lnTo>
                  <a:pt x="311" y="58"/>
                </a:lnTo>
                <a:lnTo>
                  <a:pt x="295" y="55"/>
                </a:lnTo>
                <a:lnTo>
                  <a:pt x="278" y="52"/>
                </a:lnTo>
                <a:lnTo>
                  <a:pt x="262" y="49"/>
                </a:lnTo>
                <a:lnTo>
                  <a:pt x="246" y="45"/>
                </a:lnTo>
                <a:lnTo>
                  <a:pt x="229" y="42"/>
                </a:lnTo>
                <a:lnTo>
                  <a:pt x="213" y="38"/>
                </a:lnTo>
                <a:lnTo>
                  <a:pt x="196" y="34"/>
                </a:lnTo>
                <a:lnTo>
                  <a:pt x="180" y="30"/>
                </a:lnTo>
                <a:lnTo>
                  <a:pt x="164" y="26"/>
                </a:lnTo>
                <a:lnTo>
                  <a:pt x="147" y="23"/>
                </a:lnTo>
                <a:lnTo>
                  <a:pt x="131" y="19"/>
                </a:lnTo>
                <a:lnTo>
                  <a:pt x="114" y="16"/>
                </a:lnTo>
                <a:lnTo>
                  <a:pt x="98" y="13"/>
                </a:lnTo>
                <a:lnTo>
                  <a:pt x="82" y="10"/>
                </a:lnTo>
                <a:lnTo>
                  <a:pt x="65" y="8"/>
                </a:lnTo>
                <a:lnTo>
                  <a:pt x="49" y="6"/>
                </a:lnTo>
                <a:lnTo>
                  <a:pt x="33" y="4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Freeform 43"/>
          <p:cNvSpPr/>
          <p:nvPr/>
        </p:nvSpPr>
        <p:spPr>
          <a:xfrm>
            <a:off x="2057400" y="3295650"/>
            <a:ext cx="3743325" cy="1143000"/>
          </a:xfrm>
          <a:custGeom>
            <a:avLst/>
            <a:gdLst/>
            <a:ahLst/>
            <a:cxnLst/>
            <a:rect l="l" t="t" r="r" b="b"/>
            <a:pathLst>
              <a:path w="393" h="120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5"/>
                </a:lnTo>
                <a:lnTo>
                  <a:pt x="65" y="8"/>
                </a:lnTo>
                <a:lnTo>
                  <a:pt x="82" y="13"/>
                </a:lnTo>
                <a:lnTo>
                  <a:pt x="98" y="18"/>
                </a:lnTo>
                <a:lnTo>
                  <a:pt x="114" y="24"/>
                </a:lnTo>
                <a:lnTo>
                  <a:pt x="131" y="30"/>
                </a:lnTo>
                <a:lnTo>
                  <a:pt x="147" y="36"/>
                </a:lnTo>
                <a:lnTo>
                  <a:pt x="164" y="43"/>
                </a:lnTo>
                <a:lnTo>
                  <a:pt x="180" y="50"/>
                </a:lnTo>
                <a:lnTo>
                  <a:pt x="196" y="58"/>
                </a:lnTo>
                <a:lnTo>
                  <a:pt x="213" y="65"/>
                </a:lnTo>
                <a:lnTo>
                  <a:pt x="229" y="72"/>
                </a:lnTo>
                <a:lnTo>
                  <a:pt x="246" y="79"/>
                </a:lnTo>
                <a:lnTo>
                  <a:pt x="262" y="86"/>
                </a:lnTo>
                <a:lnTo>
                  <a:pt x="278" y="92"/>
                </a:lnTo>
                <a:lnTo>
                  <a:pt x="295" y="97"/>
                </a:lnTo>
                <a:lnTo>
                  <a:pt x="311" y="103"/>
                </a:lnTo>
                <a:lnTo>
                  <a:pt x="327" y="107"/>
                </a:lnTo>
                <a:lnTo>
                  <a:pt x="344" y="111"/>
                </a:lnTo>
                <a:lnTo>
                  <a:pt x="360" y="113"/>
                </a:lnTo>
                <a:lnTo>
                  <a:pt x="377" y="115"/>
                </a:lnTo>
                <a:lnTo>
                  <a:pt x="393" y="115"/>
                </a:lnTo>
                <a:lnTo>
                  <a:pt x="393" y="120"/>
                </a:lnTo>
                <a:lnTo>
                  <a:pt x="377" y="119"/>
                </a:lnTo>
                <a:lnTo>
                  <a:pt x="360" y="118"/>
                </a:lnTo>
                <a:lnTo>
                  <a:pt x="344" y="115"/>
                </a:lnTo>
                <a:lnTo>
                  <a:pt x="327" y="112"/>
                </a:lnTo>
                <a:lnTo>
                  <a:pt x="311" y="107"/>
                </a:lnTo>
                <a:lnTo>
                  <a:pt x="295" y="102"/>
                </a:lnTo>
                <a:lnTo>
                  <a:pt x="278" y="96"/>
                </a:lnTo>
                <a:lnTo>
                  <a:pt x="262" y="90"/>
                </a:lnTo>
                <a:lnTo>
                  <a:pt x="246" y="84"/>
                </a:lnTo>
                <a:lnTo>
                  <a:pt x="229" y="77"/>
                </a:lnTo>
                <a:lnTo>
                  <a:pt x="213" y="70"/>
                </a:lnTo>
                <a:lnTo>
                  <a:pt x="196" y="62"/>
                </a:lnTo>
                <a:lnTo>
                  <a:pt x="180" y="55"/>
                </a:lnTo>
                <a:lnTo>
                  <a:pt x="164" y="48"/>
                </a:lnTo>
                <a:lnTo>
                  <a:pt x="147" y="41"/>
                </a:lnTo>
                <a:lnTo>
                  <a:pt x="131" y="34"/>
                </a:lnTo>
                <a:lnTo>
                  <a:pt x="114" y="28"/>
                </a:lnTo>
                <a:lnTo>
                  <a:pt x="98" y="23"/>
                </a:lnTo>
                <a:lnTo>
                  <a:pt x="82" y="17"/>
                </a:lnTo>
                <a:lnTo>
                  <a:pt x="65" y="13"/>
                </a:lnTo>
                <a:lnTo>
                  <a:pt x="49" y="9"/>
                </a:lnTo>
                <a:lnTo>
                  <a:pt x="33" y="7"/>
                </a:lnTo>
                <a:lnTo>
                  <a:pt x="16" y="5"/>
                </a:lnTo>
                <a:lnTo>
                  <a:pt x="0" y="5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Freeform 44"/>
          <p:cNvSpPr/>
          <p:nvPr/>
        </p:nvSpPr>
        <p:spPr>
          <a:xfrm>
            <a:off x="2057400" y="3343275"/>
            <a:ext cx="3743325" cy="1657350"/>
          </a:xfrm>
          <a:custGeom>
            <a:avLst/>
            <a:gdLst/>
            <a:ahLst/>
            <a:cxnLst/>
            <a:rect l="l" t="t" r="r" b="b"/>
            <a:pathLst>
              <a:path w="393" h="174">
                <a:moveTo>
                  <a:pt x="0" y="0"/>
                </a:moveTo>
                <a:lnTo>
                  <a:pt x="16" y="0"/>
                </a:lnTo>
                <a:lnTo>
                  <a:pt x="33" y="3"/>
                </a:lnTo>
                <a:lnTo>
                  <a:pt x="49" y="7"/>
                </a:lnTo>
                <a:lnTo>
                  <a:pt x="65" y="12"/>
                </a:lnTo>
                <a:lnTo>
                  <a:pt x="82" y="19"/>
                </a:lnTo>
                <a:lnTo>
                  <a:pt x="98" y="26"/>
                </a:lnTo>
                <a:lnTo>
                  <a:pt x="114" y="34"/>
                </a:lnTo>
                <a:lnTo>
                  <a:pt x="131" y="44"/>
                </a:lnTo>
                <a:lnTo>
                  <a:pt x="147" y="53"/>
                </a:lnTo>
                <a:lnTo>
                  <a:pt x="164" y="64"/>
                </a:lnTo>
                <a:lnTo>
                  <a:pt x="180" y="74"/>
                </a:lnTo>
                <a:lnTo>
                  <a:pt x="196" y="85"/>
                </a:lnTo>
                <a:lnTo>
                  <a:pt x="213" y="95"/>
                </a:lnTo>
                <a:lnTo>
                  <a:pt x="229" y="106"/>
                </a:lnTo>
                <a:lnTo>
                  <a:pt x="246" y="116"/>
                </a:lnTo>
                <a:lnTo>
                  <a:pt x="262" y="126"/>
                </a:lnTo>
                <a:lnTo>
                  <a:pt x="278" y="135"/>
                </a:lnTo>
                <a:lnTo>
                  <a:pt x="295" y="143"/>
                </a:lnTo>
                <a:lnTo>
                  <a:pt x="311" y="151"/>
                </a:lnTo>
                <a:lnTo>
                  <a:pt x="327" y="157"/>
                </a:lnTo>
                <a:lnTo>
                  <a:pt x="344" y="162"/>
                </a:lnTo>
                <a:lnTo>
                  <a:pt x="360" y="166"/>
                </a:lnTo>
                <a:lnTo>
                  <a:pt x="377" y="169"/>
                </a:lnTo>
                <a:lnTo>
                  <a:pt x="393" y="170"/>
                </a:lnTo>
                <a:lnTo>
                  <a:pt x="393" y="174"/>
                </a:lnTo>
                <a:lnTo>
                  <a:pt x="377" y="173"/>
                </a:lnTo>
                <a:lnTo>
                  <a:pt x="360" y="170"/>
                </a:lnTo>
                <a:lnTo>
                  <a:pt x="344" y="166"/>
                </a:lnTo>
                <a:lnTo>
                  <a:pt x="327" y="161"/>
                </a:lnTo>
                <a:lnTo>
                  <a:pt x="311" y="155"/>
                </a:lnTo>
                <a:lnTo>
                  <a:pt x="295" y="147"/>
                </a:lnTo>
                <a:lnTo>
                  <a:pt x="278" y="139"/>
                </a:lnTo>
                <a:lnTo>
                  <a:pt x="262" y="130"/>
                </a:lnTo>
                <a:lnTo>
                  <a:pt x="246" y="120"/>
                </a:lnTo>
                <a:lnTo>
                  <a:pt x="229" y="110"/>
                </a:lnTo>
                <a:lnTo>
                  <a:pt x="213" y="99"/>
                </a:lnTo>
                <a:lnTo>
                  <a:pt x="196" y="89"/>
                </a:lnTo>
                <a:lnTo>
                  <a:pt x="180" y="78"/>
                </a:lnTo>
                <a:lnTo>
                  <a:pt x="164" y="68"/>
                </a:lnTo>
                <a:lnTo>
                  <a:pt x="147" y="57"/>
                </a:lnTo>
                <a:lnTo>
                  <a:pt x="131" y="48"/>
                </a:lnTo>
                <a:lnTo>
                  <a:pt x="114" y="39"/>
                </a:lnTo>
                <a:lnTo>
                  <a:pt x="98" y="30"/>
                </a:lnTo>
                <a:lnTo>
                  <a:pt x="82" y="23"/>
                </a:lnTo>
                <a:lnTo>
                  <a:pt x="65" y="16"/>
                </a:lnTo>
                <a:lnTo>
                  <a:pt x="49" y="11"/>
                </a:lnTo>
                <a:lnTo>
                  <a:pt x="33" y="7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reeform 45"/>
          <p:cNvSpPr/>
          <p:nvPr/>
        </p:nvSpPr>
        <p:spPr>
          <a:xfrm>
            <a:off x="2057400" y="3381375"/>
            <a:ext cx="3743325" cy="2162175"/>
          </a:xfrm>
          <a:custGeom>
            <a:avLst/>
            <a:gdLst/>
            <a:ahLst/>
            <a:cxnLst/>
            <a:rect l="l" t="t" r="r" b="b"/>
            <a:pathLst>
              <a:path w="393" h="227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6"/>
                </a:lnTo>
                <a:lnTo>
                  <a:pt x="82" y="25"/>
                </a:lnTo>
                <a:lnTo>
                  <a:pt x="98" y="35"/>
                </a:lnTo>
                <a:lnTo>
                  <a:pt x="114" y="46"/>
                </a:lnTo>
                <a:lnTo>
                  <a:pt x="131" y="58"/>
                </a:lnTo>
                <a:lnTo>
                  <a:pt x="147" y="70"/>
                </a:lnTo>
                <a:lnTo>
                  <a:pt x="164" y="84"/>
                </a:lnTo>
                <a:lnTo>
                  <a:pt x="180" y="98"/>
                </a:lnTo>
                <a:lnTo>
                  <a:pt x="196" y="112"/>
                </a:lnTo>
                <a:lnTo>
                  <a:pt x="213" y="126"/>
                </a:lnTo>
                <a:lnTo>
                  <a:pt x="229" y="139"/>
                </a:lnTo>
                <a:lnTo>
                  <a:pt x="246" y="153"/>
                </a:lnTo>
                <a:lnTo>
                  <a:pt x="262" y="165"/>
                </a:lnTo>
                <a:lnTo>
                  <a:pt x="278" y="177"/>
                </a:lnTo>
                <a:lnTo>
                  <a:pt x="295" y="189"/>
                </a:lnTo>
                <a:lnTo>
                  <a:pt x="311" y="198"/>
                </a:lnTo>
                <a:lnTo>
                  <a:pt x="327" y="207"/>
                </a:lnTo>
                <a:lnTo>
                  <a:pt x="344" y="214"/>
                </a:lnTo>
                <a:lnTo>
                  <a:pt x="360" y="219"/>
                </a:lnTo>
                <a:lnTo>
                  <a:pt x="377" y="222"/>
                </a:lnTo>
                <a:lnTo>
                  <a:pt x="393" y="224"/>
                </a:lnTo>
                <a:lnTo>
                  <a:pt x="393" y="227"/>
                </a:lnTo>
                <a:lnTo>
                  <a:pt x="377" y="226"/>
                </a:lnTo>
                <a:lnTo>
                  <a:pt x="360" y="223"/>
                </a:lnTo>
                <a:lnTo>
                  <a:pt x="344" y="217"/>
                </a:lnTo>
                <a:lnTo>
                  <a:pt x="327" y="210"/>
                </a:lnTo>
                <a:lnTo>
                  <a:pt x="311" y="202"/>
                </a:lnTo>
                <a:lnTo>
                  <a:pt x="295" y="192"/>
                </a:lnTo>
                <a:lnTo>
                  <a:pt x="278" y="181"/>
                </a:lnTo>
                <a:lnTo>
                  <a:pt x="262" y="169"/>
                </a:lnTo>
                <a:lnTo>
                  <a:pt x="246" y="156"/>
                </a:lnTo>
                <a:lnTo>
                  <a:pt x="229" y="143"/>
                </a:lnTo>
                <a:lnTo>
                  <a:pt x="213" y="129"/>
                </a:lnTo>
                <a:lnTo>
                  <a:pt x="196" y="115"/>
                </a:lnTo>
                <a:lnTo>
                  <a:pt x="180" y="101"/>
                </a:lnTo>
                <a:lnTo>
                  <a:pt x="164" y="87"/>
                </a:lnTo>
                <a:lnTo>
                  <a:pt x="147" y="74"/>
                </a:lnTo>
                <a:lnTo>
                  <a:pt x="131" y="61"/>
                </a:lnTo>
                <a:lnTo>
                  <a:pt x="114" y="49"/>
                </a:lnTo>
                <a:lnTo>
                  <a:pt x="98" y="38"/>
                </a:lnTo>
                <a:lnTo>
                  <a:pt x="82" y="28"/>
                </a:lnTo>
                <a:lnTo>
                  <a:pt x="65" y="20"/>
                </a:lnTo>
                <a:lnTo>
                  <a:pt x="49" y="13"/>
                </a:lnTo>
                <a:lnTo>
                  <a:pt x="33" y="7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2057400" y="3409950"/>
            <a:ext cx="3743325" cy="2676525"/>
          </a:xfrm>
          <a:custGeom>
            <a:avLst/>
            <a:gdLst/>
            <a:ahLst/>
            <a:cxnLst/>
            <a:rect l="l" t="t" r="r" b="b"/>
            <a:pathLst>
              <a:path w="393" h="281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2"/>
                </a:lnTo>
                <a:lnTo>
                  <a:pt x="65" y="21"/>
                </a:lnTo>
                <a:lnTo>
                  <a:pt x="82" y="31"/>
                </a:lnTo>
                <a:lnTo>
                  <a:pt x="98" y="43"/>
                </a:lnTo>
                <a:lnTo>
                  <a:pt x="114" y="57"/>
                </a:lnTo>
                <a:lnTo>
                  <a:pt x="131" y="72"/>
                </a:lnTo>
                <a:lnTo>
                  <a:pt x="147" y="88"/>
                </a:lnTo>
                <a:lnTo>
                  <a:pt x="164" y="104"/>
                </a:lnTo>
                <a:lnTo>
                  <a:pt x="180" y="121"/>
                </a:lnTo>
                <a:lnTo>
                  <a:pt x="196" y="139"/>
                </a:lnTo>
                <a:lnTo>
                  <a:pt x="213" y="156"/>
                </a:lnTo>
                <a:lnTo>
                  <a:pt x="229" y="173"/>
                </a:lnTo>
                <a:lnTo>
                  <a:pt x="246" y="189"/>
                </a:lnTo>
                <a:lnTo>
                  <a:pt x="262" y="205"/>
                </a:lnTo>
                <a:lnTo>
                  <a:pt x="278" y="220"/>
                </a:lnTo>
                <a:lnTo>
                  <a:pt x="295" y="234"/>
                </a:lnTo>
                <a:lnTo>
                  <a:pt x="311" y="246"/>
                </a:lnTo>
                <a:lnTo>
                  <a:pt x="327" y="257"/>
                </a:lnTo>
                <a:lnTo>
                  <a:pt x="344" y="265"/>
                </a:lnTo>
                <a:lnTo>
                  <a:pt x="360" y="272"/>
                </a:lnTo>
                <a:lnTo>
                  <a:pt x="377" y="276"/>
                </a:lnTo>
                <a:lnTo>
                  <a:pt x="393" y="277"/>
                </a:lnTo>
                <a:lnTo>
                  <a:pt x="393" y="281"/>
                </a:lnTo>
                <a:lnTo>
                  <a:pt x="377" y="280"/>
                </a:lnTo>
                <a:lnTo>
                  <a:pt x="360" y="276"/>
                </a:lnTo>
                <a:lnTo>
                  <a:pt x="344" y="269"/>
                </a:lnTo>
                <a:lnTo>
                  <a:pt x="327" y="260"/>
                </a:lnTo>
                <a:lnTo>
                  <a:pt x="311" y="250"/>
                </a:lnTo>
                <a:lnTo>
                  <a:pt x="295" y="238"/>
                </a:lnTo>
                <a:lnTo>
                  <a:pt x="278" y="224"/>
                </a:lnTo>
                <a:lnTo>
                  <a:pt x="262" y="209"/>
                </a:lnTo>
                <a:lnTo>
                  <a:pt x="246" y="193"/>
                </a:lnTo>
                <a:lnTo>
                  <a:pt x="229" y="177"/>
                </a:lnTo>
                <a:lnTo>
                  <a:pt x="213" y="160"/>
                </a:lnTo>
                <a:lnTo>
                  <a:pt x="196" y="142"/>
                </a:lnTo>
                <a:lnTo>
                  <a:pt x="180" y="125"/>
                </a:lnTo>
                <a:lnTo>
                  <a:pt x="164" y="108"/>
                </a:lnTo>
                <a:lnTo>
                  <a:pt x="147" y="92"/>
                </a:lnTo>
                <a:lnTo>
                  <a:pt x="131" y="76"/>
                </a:lnTo>
                <a:lnTo>
                  <a:pt x="114" y="61"/>
                </a:lnTo>
                <a:lnTo>
                  <a:pt x="98" y="47"/>
                </a:lnTo>
                <a:lnTo>
                  <a:pt x="82" y="35"/>
                </a:lnTo>
                <a:lnTo>
                  <a:pt x="65" y="24"/>
                </a:lnTo>
                <a:lnTo>
                  <a:pt x="49" y="16"/>
                </a:lnTo>
                <a:lnTo>
                  <a:pt x="33" y="9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40315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Freeform 47"/>
          <p:cNvSpPr/>
          <p:nvPr/>
        </p:nvSpPr>
        <p:spPr>
          <a:xfrm>
            <a:off x="2057400" y="1695450"/>
            <a:ext cx="3743325" cy="1847850"/>
          </a:xfrm>
          <a:custGeom>
            <a:avLst/>
            <a:gdLst/>
            <a:ahLst/>
            <a:cxnLst/>
            <a:rect l="l" t="t" r="r" b="b"/>
            <a:pathLst>
              <a:path w="393" h="194">
                <a:moveTo>
                  <a:pt x="0" y="190"/>
                </a:moveTo>
                <a:lnTo>
                  <a:pt x="16" y="189"/>
                </a:lnTo>
                <a:lnTo>
                  <a:pt x="33" y="186"/>
                </a:lnTo>
                <a:lnTo>
                  <a:pt x="49" y="182"/>
                </a:lnTo>
                <a:lnTo>
                  <a:pt x="65" y="176"/>
                </a:lnTo>
                <a:lnTo>
                  <a:pt x="82" y="169"/>
                </a:lnTo>
                <a:lnTo>
                  <a:pt x="98" y="160"/>
                </a:lnTo>
                <a:lnTo>
                  <a:pt x="114" y="151"/>
                </a:lnTo>
                <a:lnTo>
                  <a:pt x="131" y="141"/>
                </a:lnTo>
                <a:lnTo>
                  <a:pt x="147" y="130"/>
                </a:lnTo>
                <a:lnTo>
                  <a:pt x="164" y="118"/>
                </a:lnTo>
                <a:lnTo>
                  <a:pt x="180" y="107"/>
                </a:lnTo>
                <a:lnTo>
                  <a:pt x="196" y="95"/>
                </a:lnTo>
                <a:lnTo>
                  <a:pt x="213" y="83"/>
                </a:lnTo>
                <a:lnTo>
                  <a:pt x="229" y="71"/>
                </a:lnTo>
                <a:lnTo>
                  <a:pt x="246" y="60"/>
                </a:lnTo>
                <a:lnTo>
                  <a:pt x="262" y="49"/>
                </a:lnTo>
                <a:lnTo>
                  <a:pt x="278" y="39"/>
                </a:lnTo>
                <a:lnTo>
                  <a:pt x="295" y="29"/>
                </a:lnTo>
                <a:lnTo>
                  <a:pt x="311" y="21"/>
                </a:lnTo>
                <a:lnTo>
                  <a:pt x="327" y="14"/>
                </a:lnTo>
                <a:lnTo>
                  <a:pt x="344" y="8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2"/>
                </a:lnTo>
                <a:lnTo>
                  <a:pt x="327" y="18"/>
                </a:lnTo>
                <a:lnTo>
                  <a:pt x="311" y="25"/>
                </a:lnTo>
                <a:lnTo>
                  <a:pt x="295" y="33"/>
                </a:lnTo>
                <a:lnTo>
                  <a:pt x="278" y="43"/>
                </a:lnTo>
                <a:lnTo>
                  <a:pt x="262" y="53"/>
                </a:lnTo>
                <a:lnTo>
                  <a:pt x="246" y="64"/>
                </a:lnTo>
                <a:lnTo>
                  <a:pt x="229" y="75"/>
                </a:lnTo>
                <a:lnTo>
                  <a:pt x="213" y="87"/>
                </a:lnTo>
                <a:lnTo>
                  <a:pt x="196" y="99"/>
                </a:lnTo>
                <a:lnTo>
                  <a:pt x="180" y="111"/>
                </a:lnTo>
                <a:lnTo>
                  <a:pt x="164" y="122"/>
                </a:lnTo>
                <a:lnTo>
                  <a:pt x="147" y="134"/>
                </a:lnTo>
                <a:lnTo>
                  <a:pt x="131" y="145"/>
                </a:lnTo>
                <a:lnTo>
                  <a:pt x="114" y="155"/>
                </a:lnTo>
                <a:lnTo>
                  <a:pt x="98" y="164"/>
                </a:lnTo>
                <a:lnTo>
                  <a:pt x="82" y="173"/>
                </a:lnTo>
                <a:lnTo>
                  <a:pt x="65" y="180"/>
                </a:lnTo>
                <a:lnTo>
                  <a:pt x="49" y="186"/>
                </a:lnTo>
                <a:lnTo>
                  <a:pt x="33" y="190"/>
                </a:lnTo>
                <a:lnTo>
                  <a:pt x="16" y="193"/>
                </a:lnTo>
                <a:lnTo>
                  <a:pt x="0" y="19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Freeform 48"/>
          <p:cNvSpPr/>
          <p:nvPr/>
        </p:nvSpPr>
        <p:spPr>
          <a:xfrm>
            <a:off x="2057400" y="2247900"/>
            <a:ext cx="3743325" cy="1323975"/>
          </a:xfrm>
          <a:custGeom>
            <a:avLst/>
            <a:gdLst/>
            <a:ahLst/>
            <a:cxnLst/>
            <a:rect l="l" t="t" r="r" b="b"/>
            <a:pathLst>
              <a:path w="393" h="139">
                <a:moveTo>
                  <a:pt x="0" y="136"/>
                </a:moveTo>
                <a:lnTo>
                  <a:pt x="16" y="135"/>
                </a:lnTo>
                <a:lnTo>
                  <a:pt x="33" y="133"/>
                </a:lnTo>
                <a:lnTo>
                  <a:pt x="49" y="130"/>
                </a:lnTo>
                <a:lnTo>
                  <a:pt x="65" y="126"/>
                </a:lnTo>
                <a:lnTo>
                  <a:pt x="82" y="121"/>
                </a:lnTo>
                <a:lnTo>
                  <a:pt x="98" y="115"/>
                </a:lnTo>
                <a:lnTo>
                  <a:pt x="114" y="108"/>
                </a:lnTo>
                <a:lnTo>
                  <a:pt x="131" y="101"/>
                </a:lnTo>
                <a:lnTo>
                  <a:pt x="147" y="93"/>
                </a:lnTo>
                <a:lnTo>
                  <a:pt x="164" y="85"/>
                </a:lnTo>
                <a:lnTo>
                  <a:pt x="180" y="77"/>
                </a:lnTo>
                <a:lnTo>
                  <a:pt x="196" y="68"/>
                </a:lnTo>
                <a:lnTo>
                  <a:pt x="213" y="60"/>
                </a:lnTo>
                <a:lnTo>
                  <a:pt x="229" y="51"/>
                </a:lnTo>
                <a:lnTo>
                  <a:pt x="246" y="43"/>
                </a:lnTo>
                <a:lnTo>
                  <a:pt x="262" y="36"/>
                </a:lnTo>
                <a:lnTo>
                  <a:pt x="278" y="28"/>
                </a:lnTo>
                <a:lnTo>
                  <a:pt x="295" y="22"/>
                </a:lnTo>
                <a:lnTo>
                  <a:pt x="311" y="16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6"/>
                </a:lnTo>
                <a:lnTo>
                  <a:pt x="344" y="9"/>
                </a:lnTo>
                <a:lnTo>
                  <a:pt x="327" y="13"/>
                </a:lnTo>
                <a:lnTo>
                  <a:pt x="311" y="19"/>
                </a:lnTo>
                <a:lnTo>
                  <a:pt x="295" y="25"/>
                </a:lnTo>
                <a:lnTo>
                  <a:pt x="278" y="31"/>
                </a:lnTo>
                <a:lnTo>
                  <a:pt x="262" y="39"/>
                </a:lnTo>
                <a:lnTo>
                  <a:pt x="246" y="46"/>
                </a:lnTo>
                <a:lnTo>
                  <a:pt x="229" y="54"/>
                </a:lnTo>
                <a:lnTo>
                  <a:pt x="213" y="63"/>
                </a:lnTo>
                <a:lnTo>
                  <a:pt x="196" y="71"/>
                </a:lnTo>
                <a:lnTo>
                  <a:pt x="180" y="80"/>
                </a:lnTo>
                <a:lnTo>
                  <a:pt x="164" y="88"/>
                </a:lnTo>
                <a:lnTo>
                  <a:pt x="147" y="96"/>
                </a:lnTo>
                <a:lnTo>
                  <a:pt x="131" y="104"/>
                </a:lnTo>
                <a:lnTo>
                  <a:pt x="114" y="111"/>
                </a:lnTo>
                <a:lnTo>
                  <a:pt x="98" y="118"/>
                </a:lnTo>
                <a:lnTo>
                  <a:pt x="82" y="124"/>
                </a:lnTo>
                <a:lnTo>
                  <a:pt x="65" y="129"/>
                </a:lnTo>
                <a:lnTo>
                  <a:pt x="49" y="133"/>
                </a:lnTo>
                <a:lnTo>
                  <a:pt x="33" y="136"/>
                </a:lnTo>
                <a:lnTo>
                  <a:pt x="16" y="138"/>
                </a:lnTo>
                <a:lnTo>
                  <a:pt x="0" y="139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Freeform 49"/>
          <p:cNvSpPr/>
          <p:nvPr/>
        </p:nvSpPr>
        <p:spPr>
          <a:xfrm>
            <a:off x="2057400" y="2800350"/>
            <a:ext cx="3743325" cy="809625"/>
          </a:xfrm>
          <a:custGeom>
            <a:avLst/>
            <a:gdLst/>
            <a:ahLst/>
            <a:cxnLst/>
            <a:rect l="l" t="t" r="r" b="b"/>
            <a:pathLst>
              <a:path w="393" h="85">
                <a:moveTo>
                  <a:pt x="0" y="81"/>
                </a:moveTo>
                <a:lnTo>
                  <a:pt x="16" y="80"/>
                </a:lnTo>
                <a:lnTo>
                  <a:pt x="33" y="79"/>
                </a:lnTo>
                <a:lnTo>
                  <a:pt x="49" y="77"/>
                </a:lnTo>
                <a:lnTo>
                  <a:pt x="65" y="75"/>
                </a:lnTo>
                <a:lnTo>
                  <a:pt x="82" y="72"/>
                </a:lnTo>
                <a:lnTo>
                  <a:pt x="98" y="68"/>
                </a:lnTo>
                <a:lnTo>
                  <a:pt x="114" y="64"/>
                </a:lnTo>
                <a:lnTo>
                  <a:pt x="131" y="60"/>
                </a:lnTo>
                <a:lnTo>
                  <a:pt x="147" y="55"/>
                </a:lnTo>
                <a:lnTo>
                  <a:pt x="164" y="50"/>
                </a:lnTo>
                <a:lnTo>
                  <a:pt x="180" y="45"/>
                </a:lnTo>
                <a:lnTo>
                  <a:pt x="196" y="40"/>
                </a:lnTo>
                <a:lnTo>
                  <a:pt x="213" y="35"/>
                </a:lnTo>
                <a:lnTo>
                  <a:pt x="229" y="30"/>
                </a:lnTo>
                <a:lnTo>
                  <a:pt x="246" y="25"/>
                </a:lnTo>
                <a:lnTo>
                  <a:pt x="262" y="21"/>
                </a:lnTo>
                <a:lnTo>
                  <a:pt x="278" y="16"/>
                </a:lnTo>
                <a:lnTo>
                  <a:pt x="295" y="12"/>
                </a:lnTo>
                <a:lnTo>
                  <a:pt x="311" y="9"/>
                </a:lnTo>
                <a:lnTo>
                  <a:pt x="327" y="6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5"/>
                </a:lnTo>
                <a:lnTo>
                  <a:pt x="344" y="7"/>
                </a:lnTo>
                <a:lnTo>
                  <a:pt x="327" y="9"/>
                </a:lnTo>
                <a:lnTo>
                  <a:pt x="311" y="12"/>
                </a:lnTo>
                <a:lnTo>
                  <a:pt x="295" y="16"/>
                </a:lnTo>
                <a:lnTo>
                  <a:pt x="278" y="20"/>
                </a:lnTo>
                <a:lnTo>
                  <a:pt x="262" y="24"/>
                </a:lnTo>
                <a:lnTo>
                  <a:pt x="246" y="29"/>
                </a:lnTo>
                <a:lnTo>
                  <a:pt x="229" y="34"/>
                </a:lnTo>
                <a:lnTo>
                  <a:pt x="213" y="39"/>
                </a:lnTo>
                <a:lnTo>
                  <a:pt x="196" y="44"/>
                </a:lnTo>
                <a:lnTo>
                  <a:pt x="180" y="49"/>
                </a:lnTo>
                <a:lnTo>
                  <a:pt x="164" y="54"/>
                </a:lnTo>
                <a:lnTo>
                  <a:pt x="147" y="59"/>
                </a:lnTo>
                <a:lnTo>
                  <a:pt x="131" y="63"/>
                </a:lnTo>
                <a:lnTo>
                  <a:pt x="114" y="68"/>
                </a:lnTo>
                <a:lnTo>
                  <a:pt x="98" y="72"/>
                </a:lnTo>
                <a:lnTo>
                  <a:pt x="82" y="75"/>
                </a:lnTo>
                <a:lnTo>
                  <a:pt x="65" y="79"/>
                </a:lnTo>
                <a:lnTo>
                  <a:pt x="49" y="81"/>
                </a:lnTo>
                <a:lnTo>
                  <a:pt x="33" y="83"/>
                </a:lnTo>
                <a:lnTo>
                  <a:pt x="16" y="84"/>
                </a:lnTo>
                <a:lnTo>
                  <a:pt x="0" y="85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2057400" y="3333750"/>
            <a:ext cx="3743325" cy="314325"/>
          </a:xfrm>
          <a:custGeom>
            <a:avLst/>
            <a:gdLst/>
            <a:ahLst/>
            <a:cxnLst/>
            <a:rect l="l" t="t" r="r" b="b"/>
            <a:pathLst>
              <a:path w="393" h="33">
                <a:moveTo>
                  <a:pt x="0" y="29"/>
                </a:moveTo>
                <a:lnTo>
                  <a:pt x="16" y="28"/>
                </a:lnTo>
                <a:lnTo>
                  <a:pt x="33" y="28"/>
                </a:lnTo>
                <a:lnTo>
                  <a:pt x="49" y="27"/>
                </a:lnTo>
                <a:lnTo>
                  <a:pt x="65" y="26"/>
                </a:lnTo>
                <a:lnTo>
                  <a:pt x="82" y="25"/>
                </a:lnTo>
                <a:lnTo>
                  <a:pt x="98" y="24"/>
                </a:lnTo>
                <a:lnTo>
                  <a:pt x="114" y="23"/>
                </a:lnTo>
                <a:lnTo>
                  <a:pt x="131" y="21"/>
                </a:lnTo>
                <a:lnTo>
                  <a:pt x="147" y="20"/>
                </a:lnTo>
                <a:lnTo>
                  <a:pt x="164" y="18"/>
                </a:lnTo>
                <a:lnTo>
                  <a:pt x="180" y="16"/>
                </a:lnTo>
                <a:lnTo>
                  <a:pt x="196" y="14"/>
                </a:lnTo>
                <a:lnTo>
                  <a:pt x="213" y="13"/>
                </a:lnTo>
                <a:lnTo>
                  <a:pt x="229" y="11"/>
                </a:lnTo>
                <a:lnTo>
                  <a:pt x="246" y="9"/>
                </a:lnTo>
                <a:lnTo>
                  <a:pt x="262" y="8"/>
                </a:lnTo>
                <a:lnTo>
                  <a:pt x="278" y="6"/>
                </a:lnTo>
                <a:lnTo>
                  <a:pt x="295" y="5"/>
                </a:lnTo>
                <a:lnTo>
                  <a:pt x="311" y="4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5"/>
                </a:lnTo>
                <a:lnTo>
                  <a:pt x="360" y="5"/>
                </a:lnTo>
                <a:lnTo>
                  <a:pt x="344" y="6"/>
                </a:lnTo>
                <a:lnTo>
                  <a:pt x="327" y="7"/>
                </a:lnTo>
                <a:lnTo>
                  <a:pt x="311" y="8"/>
                </a:lnTo>
                <a:lnTo>
                  <a:pt x="295" y="9"/>
                </a:lnTo>
                <a:lnTo>
                  <a:pt x="278" y="10"/>
                </a:lnTo>
                <a:lnTo>
                  <a:pt x="262" y="12"/>
                </a:lnTo>
                <a:lnTo>
                  <a:pt x="246" y="13"/>
                </a:lnTo>
                <a:lnTo>
                  <a:pt x="229" y="15"/>
                </a:lnTo>
                <a:lnTo>
                  <a:pt x="213" y="17"/>
                </a:lnTo>
                <a:lnTo>
                  <a:pt x="196" y="19"/>
                </a:lnTo>
                <a:lnTo>
                  <a:pt x="180" y="20"/>
                </a:lnTo>
                <a:lnTo>
                  <a:pt x="164" y="22"/>
                </a:lnTo>
                <a:lnTo>
                  <a:pt x="147" y="24"/>
                </a:lnTo>
                <a:lnTo>
                  <a:pt x="131" y="25"/>
                </a:lnTo>
                <a:lnTo>
                  <a:pt x="114" y="27"/>
                </a:lnTo>
                <a:lnTo>
                  <a:pt x="98" y="28"/>
                </a:lnTo>
                <a:lnTo>
                  <a:pt x="82" y="30"/>
                </a:lnTo>
                <a:lnTo>
                  <a:pt x="65" y="31"/>
                </a:lnTo>
                <a:lnTo>
                  <a:pt x="49" y="31"/>
                </a:lnTo>
                <a:lnTo>
                  <a:pt x="33" y="32"/>
                </a:lnTo>
                <a:lnTo>
                  <a:pt x="1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Freeform 51"/>
          <p:cNvSpPr/>
          <p:nvPr/>
        </p:nvSpPr>
        <p:spPr>
          <a:xfrm>
            <a:off x="2057400" y="3648075"/>
            <a:ext cx="3743325" cy="276225"/>
          </a:xfrm>
          <a:custGeom>
            <a:avLst/>
            <a:gdLst/>
            <a:ahLst/>
            <a:cxnLst/>
            <a:rect l="l" t="t" r="r" b="b"/>
            <a:pathLst>
              <a:path w="393" h="29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2"/>
                </a:lnTo>
                <a:lnTo>
                  <a:pt x="82" y="2"/>
                </a:lnTo>
                <a:lnTo>
                  <a:pt x="98" y="4"/>
                </a:lnTo>
                <a:lnTo>
                  <a:pt x="114" y="5"/>
                </a:lnTo>
                <a:lnTo>
                  <a:pt x="131" y="6"/>
                </a:lnTo>
                <a:lnTo>
                  <a:pt x="147" y="8"/>
                </a:lnTo>
                <a:lnTo>
                  <a:pt x="164" y="9"/>
                </a:lnTo>
                <a:lnTo>
                  <a:pt x="180" y="11"/>
                </a:lnTo>
                <a:lnTo>
                  <a:pt x="196" y="12"/>
                </a:lnTo>
                <a:lnTo>
                  <a:pt x="213" y="14"/>
                </a:lnTo>
                <a:lnTo>
                  <a:pt x="229" y="15"/>
                </a:lnTo>
                <a:lnTo>
                  <a:pt x="246" y="17"/>
                </a:lnTo>
                <a:lnTo>
                  <a:pt x="262" y="18"/>
                </a:lnTo>
                <a:lnTo>
                  <a:pt x="278" y="20"/>
                </a:lnTo>
                <a:lnTo>
                  <a:pt x="295" y="21"/>
                </a:lnTo>
                <a:lnTo>
                  <a:pt x="311" y="22"/>
                </a:lnTo>
                <a:lnTo>
                  <a:pt x="327" y="23"/>
                </a:lnTo>
                <a:lnTo>
                  <a:pt x="344" y="24"/>
                </a:lnTo>
                <a:lnTo>
                  <a:pt x="360" y="24"/>
                </a:lnTo>
                <a:lnTo>
                  <a:pt x="377" y="25"/>
                </a:lnTo>
                <a:lnTo>
                  <a:pt x="393" y="25"/>
                </a:lnTo>
                <a:lnTo>
                  <a:pt x="393" y="29"/>
                </a:lnTo>
                <a:lnTo>
                  <a:pt x="377" y="29"/>
                </a:lnTo>
                <a:lnTo>
                  <a:pt x="360" y="28"/>
                </a:lnTo>
                <a:lnTo>
                  <a:pt x="344" y="28"/>
                </a:lnTo>
                <a:lnTo>
                  <a:pt x="327" y="27"/>
                </a:lnTo>
                <a:lnTo>
                  <a:pt x="311" y="26"/>
                </a:lnTo>
                <a:lnTo>
                  <a:pt x="295" y="25"/>
                </a:lnTo>
                <a:lnTo>
                  <a:pt x="278" y="24"/>
                </a:lnTo>
                <a:lnTo>
                  <a:pt x="262" y="22"/>
                </a:lnTo>
                <a:lnTo>
                  <a:pt x="246" y="21"/>
                </a:lnTo>
                <a:lnTo>
                  <a:pt x="229" y="19"/>
                </a:lnTo>
                <a:lnTo>
                  <a:pt x="213" y="18"/>
                </a:lnTo>
                <a:lnTo>
                  <a:pt x="196" y="16"/>
                </a:lnTo>
                <a:lnTo>
                  <a:pt x="180" y="15"/>
                </a:lnTo>
                <a:lnTo>
                  <a:pt x="164" y="13"/>
                </a:lnTo>
                <a:lnTo>
                  <a:pt x="147" y="12"/>
                </a:lnTo>
                <a:lnTo>
                  <a:pt x="131" y="10"/>
                </a:lnTo>
                <a:lnTo>
                  <a:pt x="114" y="9"/>
                </a:lnTo>
                <a:lnTo>
                  <a:pt x="98" y="8"/>
                </a:lnTo>
                <a:lnTo>
                  <a:pt x="82" y="7"/>
                </a:lnTo>
                <a:lnTo>
                  <a:pt x="65" y="6"/>
                </a:lnTo>
                <a:lnTo>
                  <a:pt x="49" y="5"/>
                </a:lnTo>
                <a:lnTo>
                  <a:pt x="33" y="4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2057400" y="3686175"/>
            <a:ext cx="3743325" cy="800100"/>
          </a:xfrm>
          <a:custGeom>
            <a:avLst/>
            <a:gdLst/>
            <a:ahLst/>
            <a:cxnLst/>
            <a:rect l="l" t="t" r="r" b="b"/>
            <a:pathLst>
              <a:path w="393" h="84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6"/>
                </a:lnTo>
                <a:lnTo>
                  <a:pt x="82" y="9"/>
                </a:lnTo>
                <a:lnTo>
                  <a:pt x="98" y="12"/>
                </a:lnTo>
                <a:lnTo>
                  <a:pt x="114" y="16"/>
                </a:lnTo>
                <a:lnTo>
                  <a:pt x="131" y="20"/>
                </a:lnTo>
                <a:lnTo>
                  <a:pt x="147" y="25"/>
                </a:lnTo>
                <a:lnTo>
                  <a:pt x="164" y="30"/>
                </a:lnTo>
                <a:lnTo>
                  <a:pt x="180" y="34"/>
                </a:lnTo>
                <a:lnTo>
                  <a:pt x="196" y="39"/>
                </a:lnTo>
                <a:lnTo>
                  <a:pt x="213" y="44"/>
                </a:lnTo>
                <a:lnTo>
                  <a:pt x="229" y="49"/>
                </a:lnTo>
                <a:lnTo>
                  <a:pt x="246" y="54"/>
                </a:lnTo>
                <a:lnTo>
                  <a:pt x="262" y="58"/>
                </a:lnTo>
                <a:lnTo>
                  <a:pt x="278" y="63"/>
                </a:lnTo>
                <a:lnTo>
                  <a:pt x="295" y="67"/>
                </a:lnTo>
                <a:lnTo>
                  <a:pt x="311" y="70"/>
                </a:lnTo>
                <a:lnTo>
                  <a:pt x="327" y="73"/>
                </a:lnTo>
                <a:lnTo>
                  <a:pt x="344" y="76"/>
                </a:lnTo>
                <a:lnTo>
                  <a:pt x="360" y="78"/>
                </a:lnTo>
                <a:lnTo>
                  <a:pt x="377" y="79"/>
                </a:lnTo>
                <a:lnTo>
                  <a:pt x="393" y="79"/>
                </a:lnTo>
                <a:lnTo>
                  <a:pt x="393" y="84"/>
                </a:lnTo>
                <a:lnTo>
                  <a:pt x="377" y="83"/>
                </a:lnTo>
                <a:lnTo>
                  <a:pt x="360" y="82"/>
                </a:lnTo>
                <a:lnTo>
                  <a:pt x="344" y="80"/>
                </a:lnTo>
                <a:lnTo>
                  <a:pt x="327" y="78"/>
                </a:lnTo>
                <a:lnTo>
                  <a:pt x="311" y="75"/>
                </a:lnTo>
                <a:lnTo>
                  <a:pt x="295" y="71"/>
                </a:lnTo>
                <a:lnTo>
                  <a:pt x="278" y="67"/>
                </a:lnTo>
                <a:lnTo>
                  <a:pt x="262" y="63"/>
                </a:lnTo>
                <a:lnTo>
                  <a:pt x="246" y="59"/>
                </a:lnTo>
                <a:lnTo>
                  <a:pt x="229" y="54"/>
                </a:lnTo>
                <a:lnTo>
                  <a:pt x="213" y="49"/>
                </a:lnTo>
                <a:lnTo>
                  <a:pt x="196" y="44"/>
                </a:lnTo>
                <a:lnTo>
                  <a:pt x="180" y="39"/>
                </a:lnTo>
                <a:lnTo>
                  <a:pt x="164" y="34"/>
                </a:lnTo>
                <a:lnTo>
                  <a:pt x="147" y="29"/>
                </a:lnTo>
                <a:lnTo>
                  <a:pt x="131" y="25"/>
                </a:lnTo>
                <a:lnTo>
                  <a:pt x="114" y="21"/>
                </a:lnTo>
                <a:lnTo>
                  <a:pt x="98" y="17"/>
                </a:lnTo>
                <a:lnTo>
                  <a:pt x="82" y="13"/>
                </a:lnTo>
                <a:lnTo>
                  <a:pt x="65" y="10"/>
                </a:lnTo>
                <a:lnTo>
                  <a:pt x="49" y="8"/>
                </a:lnTo>
                <a:lnTo>
                  <a:pt x="33" y="6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Freeform 53"/>
          <p:cNvSpPr/>
          <p:nvPr/>
        </p:nvSpPr>
        <p:spPr>
          <a:xfrm>
            <a:off x="2057400" y="3724275"/>
            <a:ext cx="3743325" cy="1304925"/>
          </a:xfrm>
          <a:custGeom>
            <a:avLst/>
            <a:gdLst/>
            <a:ahLst/>
            <a:cxnLst/>
            <a:rect l="l" t="t" r="r" b="b"/>
            <a:pathLst>
              <a:path w="393" h="137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0"/>
                </a:lnTo>
                <a:lnTo>
                  <a:pt x="82" y="15"/>
                </a:lnTo>
                <a:lnTo>
                  <a:pt x="98" y="21"/>
                </a:lnTo>
                <a:lnTo>
                  <a:pt x="114" y="28"/>
                </a:lnTo>
                <a:lnTo>
                  <a:pt x="131" y="35"/>
                </a:lnTo>
                <a:lnTo>
                  <a:pt x="147" y="42"/>
                </a:lnTo>
                <a:lnTo>
                  <a:pt x="164" y="50"/>
                </a:lnTo>
                <a:lnTo>
                  <a:pt x="180" y="59"/>
                </a:lnTo>
                <a:lnTo>
                  <a:pt x="196" y="67"/>
                </a:lnTo>
                <a:lnTo>
                  <a:pt x="213" y="75"/>
                </a:lnTo>
                <a:lnTo>
                  <a:pt x="229" y="83"/>
                </a:lnTo>
                <a:lnTo>
                  <a:pt x="246" y="91"/>
                </a:lnTo>
                <a:lnTo>
                  <a:pt x="262" y="99"/>
                </a:lnTo>
                <a:lnTo>
                  <a:pt x="278" y="106"/>
                </a:lnTo>
                <a:lnTo>
                  <a:pt x="295" y="113"/>
                </a:lnTo>
                <a:lnTo>
                  <a:pt x="311" y="119"/>
                </a:lnTo>
                <a:lnTo>
                  <a:pt x="327" y="124"/>
                </a:lnTo>
                <a:lnTo>
                  <a:pt x="344" y="128"/>
                </a:lnTo>
                <a:lnTo>
                  <a:pt x="360" y="131"/>
                </a:lnTo>
                <a:lnTo>
                  <a:pt x="377" y="133"/>
                </a:lnTo>
                <a:lnTo>
                  <a:pt x="393" y="134"/>
                </a:lnTo>
                <a:lnTo>
                  <a:pt x="393" y="137"/>
                </a:lnTo>
                <a:lnTo>
                  <a:pt x="377" y="137"/>
                </a:lnTo>
                <a:lnTo>
                  <a:pt x="360" y="135"/>
                </a:lnTo>
                <a:lnTo>
                  <a:pt x="344" y="132"/>
                </a:lnTo>
                <a:lnTo>
                  <a:pt x="327" y="128"/>
                </a:lnTo>
                <a:lnTo>
                  <a:pt x="311" y="123"/>
                </a:lnTo>
                <a:lnTo>
                  <a:pt x="295" y="117"/>
                </a:lnTo>
                <a:lnTo>
                  <a:pt x="278" y="110"/>
                </a:lnTo>
                <a:lnTo>
                  <a:pt x="262" y="103"/>
                </a:lnTo>
                <a:lnTo>
                  <a:pt x="246" y="95"/>
                </a:lnTo>
                <a:lnTo>
                  <a:pt x="229" y="87"/>
                </a:lnTo>
                <a:lnTo>
                  <a:pt x="213" y="79"/>
                </a:lnTo>
                <a:lnTo>
                  <a:pt x="196" y="71"/>
                </a:lnTo>
                <a:lnTo>
                  <a:pt x="180" y="62"/>
                </a:lnTo>
                <a:lnTo>
                  <a:pt x="164" y="54"/>
                </a:lnTo>
                <a:lnTo>
                  <a:pt x="147" y="46"/>
                </a:lnTo>
                <a:lnTo>
                  <a:pt x="131" y="39"/>
                </a:lnTo>
                <a:lnTo>
                  <a:pt x="114" y="31"/>
                </a:lnTo>
                <a:lnTo>
                  <a:pt x="98" y="25"/>
                </a:lnTo>
                <a:lnTo>
                  <a:pt x="82" y="19"/>
                </a:lnTo>
                <a:lnTo>
                  <a:pt x="65" y="14"/>
                </a:lnTo>
                <a:lnTo>
                  <a:pt x="49" y="10"/>
                </a:lnTo>
                <a:lnTo>
                  <a:pt x="33" y="7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reeform 54"/>
          <p:cNvSpPr/>
          <p:nvPr/>
        </p:nvSpPr>
        <p:spPr>
          <a:xfrm>
            <a:off x="2057400" y="3762375"/>
            <a:ext cx="3743325" cy="1809750"/>
          </a:xfrm>
          <a:custGeom>
            <a:avLst/>
            <a:gdLst/>
            <a:ahLst/>
            <a:cxnLst/>
            <a:rect l="l" t="t" r="r" b="b"/>
            <a:pathLst>
              <a:path w="393" h="190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8"/>
                </a:lnTo>
                <a:lnTo>
                  <a:pt x="65" y="14"/>
                </a:lnTo>
                <a:lnTo>
                  <a:pt x="82" y="21"/>
                </a:lnTo>
                <a:lnTo>
                  <a:pt x="98" y="29"/>
                </a:lnTo>
                <a:lnTo>
                  <a:pt x="114" y="38"/>
                </a:lnTo>
                <a:lnTo>
                  <a:pt x="131" y="48"/>
                </a:lnTo>
                <a:lnTo>
                  <a:pt x="147" y="59"/>
                </a:lnTo>
                <a:lnTo>
                  <a:pt x="164" y="70"/>
                </a:lnTo>
                <a:lnTo>
                  <a:pt x="180" y="82"/>
                </a:lnTo>
                <a:lnTo>
                  <a:pt x="196" y="93"/>
                </a:lnTo>
                <a:lnTo>
                  <a:pt x="213" y="105"/>
                </a:lnTo>
                <a:lnTo>
                  <a:pt x="229" y="117"/>
                </a:lnTo>
                <a:lnTo>
                  <a:pt x="246" y="128"/>
                </a:lnTo>
                <a:lnTo>
                  <a:pt x="262" y="138"/>
                </a:lnTo>
                <a:lnTo>
                  <a:pt x="278" y="149"/>
                </a:lnTo>
                <a:lnTo>
                  <a:pt x="295" y="158"/>
                </a:lnTo>
                <a:lnTo>
                  <a:pt x="311" y="166"/>
                </a:lnTo>
                <a:lnTo>
                  <a:pt x="327" y="173"/>
                </a:lnTo>
                <a:lnTo>
                  <a:pt x="344" y="179"/>
                </a:lnTo>
                <a:lnTo>
                  <a:pt x="360" y="183"/>
                </a:lnTo>
                <a:lnTo>
                  <a:pt x="377" y="186"/>
                </a:lnTo>
                <a:lnTo>
                  <a:pt x="393" y="187"/>
                </a:lnTo>
                <a:lnTo>
                  <a:pt x="393" y="190"/>
                </a:lnTo>
                <a:lnTo>
                  <a:pt x="377" y="189"/>
                </a:lnTo>
                <a:lnTo>
                  <a:pt x="360" y="186"/>
                </a:lnTo>
                <a:lnTo>
                  <a:pt x="344" y="182"/>
                </a:lnTo>
                <a:lnTo>
                  <a:pt x="327" y="176"/>
                </a:lnTo>
                <a:lnTo>
                  <a:pt x="311" y="169"/>
                </a:lnTo>
                <a:lnTo>
                  <a:pt x="295" y="161"/>
                </a:lnTo>
                <a:lnTo>
                  <a:pt x="278" y="152"/>
                </a:lnTo>
                <a:lnTo>
                  <a:pt x="262" y="142"/>
                </a:lnTo>
                <a:lnTo>
                  <a:pt x="246" y="131"/>
                </a:lnTo>
                <a:lnTo>
                  <a:pt x="229" y="120"/>
                </a:lnTo>
                <a:lnTo>
                  <a:pt x="213" y="108"/>
                </a:lnTo>
                <a:lnTo>
                  <a:pt x="196" y="97"/>
                </a:lnTo>
                <a:lnTo>
                  <a:pt x="180" y="85"/>
                </a:lnTo>
                <a:lnTo>
                  <a:pt x="164" y="74"/>
                </a:lnTo>
                <a:lnTo>
                  <a:pt x="147" y="62"/>
                </a:lnTo>
                <a:lnTo>
                  <a:pt x="131" y="52"/>
                </a:lnTo>
                <a:lnTo>
                  <a:pt x="114" y="42"/>
                </a:lnTo>
                <a:lnTo>
                  <a:pt x="98" y="32"/>
                </a:lnTo>
                <a:lnTo>
                  <a:pt x="82" y="24"/>
                </a:lnTo>
                <a:lnTo>
                  <a:pt x="65" y="17"/>
                </a:lnTo>
                <a:lnTo>
                  <a:pt x="49" y="11"/>
                </a:lnTo>
                <a:lnTo>
                  <a:pt x="33" y="7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Freeform 55"/>
          <p:cNvSpPr/>
          <p:nvPr/>
        </p:nvSpPr>
        <p:spPr>
          <a:xfrm>
            <a:off x="2057400" y="3790950"/>
            <a:ext cx="3743325" cy="2333625"/>
          </a:xfrm>
          <a:custGeom>
            <a:avLst/>
            <a:gdLst/>
            <a:ahLst/>
            <a:cxnLst/>
            <a:rect l="l" t="t" r="r" b="b"/>
            <a:pathLst>
              <a:path w="393" h="245">
                <a:moveTo>
                  <a:pt x="0" y="0"/>
                </a:moveTo>
                <a:lnTo>
                  <a:pt x="16" y="1"/>
                </a:lnTo>
                <a:lnTo>
                  <a:pt x="33" y="5"/>
                </a:lnTo>
                <a:lnTo>
                  <a:pt x="49" y="11"/>
                </a:lnTo>
                <a:lnTo>
                  <a:pt x="65" y="18"/>
                </a:lnTo>
                <a:lnTo>
                  <a:pt x="82" y="27"/>
                </a:lnTo>
                <a:lnTo>
                  <a:pt x="98" y="38"/>
                </a:lnTo>
                <a:lnTo>
                  <a:pt x="114" y="50"/>
                </a:lnTo>
                <a:lnTo>
                  <a:pt x="131" y="63"/>
                </a:lnTo>
                <a:lnTo>
                  <a:pt x="147" y="76"/>
                </a:lnTo>
                <a:lnTo>
                  <a:pt x="164" y="91"/>
                </a:lnTo>
                <a:lnTo>
                  <a:pt x="180" y="106"/>
                </a:lnTo>
                <a:lnTo>
                  <a:pt x="196" y="121"/>
                </a:lnTo>
                <a:lnTo>
                  <a:pt x="213" y="136"/>
                </a:lnTo>
                <a:lnTo>
                  <a:pt x="229" y="150"/>
                </a:lnTo>
                <a:lnTo>
                  <a:pt x="246" y="165"/>
                </a:lnTo>
                <a:lnTo>
                  <a:pt x="262" y="179"/>
                </a:lnTo>
                <a:lnTo>
                  <a:pt x="278" y="191"/>
                </a:lnTo>
                <a:lnTo>
                  <a:pt x="295" y="203"/>
                </a:lnTo>
                <a:lnTo>
                  <a:pt x="311" y="214"/>
                </a:lnTo>
                <a:lnTo>
                  <a:pt x="327" y="223"/>
                </a:lnTo>
                <a:lnTo>
                  <a:pt x="344" y="231"/>
                </a:lnTo>
                <a:lnTo>
                  <a:pt x="360" y="236"/>
                </a:lnTo>
                <a:lnTo>
                  <a:pt x="377" y="240"/>
                </a:lnTo>
                <a:lnTo>
                  <a:pt x="393" y="241"/>
                </a:lnTo>
                <a:lnTo>
                  <a:pt x="393" y="245"/>
                </a:lnTo>
                <a:lnTo>
                  <a:pt x="377" y="243"/>
                </a:lnTo>
                <a:lnTo>
                  <a:pt x="360" y="240"/>
                </a:lnTo>
                <a:lnTo>
                  <a:pt x="344" y="234"/>
                </a:lnTo>
                <a:lnTo>
                  <a:pt x="327" y="227"/>
                </a:lnTo>
                <a:lnTo>
                  <a:pt x="311" y="218"/>
                </a:lnTo>
                <a:lnTo>
                  <a:pt x="295" y="207"/>
                </a:lnTo>
                <a:lnTo>
                  <a:pt x="278" y="195"/>
                </a:lnTo>
                <a:lnTo>
                  <a:pt x="262" y="182"/>
                </a:lnTo>
                <a:lnTo>
                  <a:pt x="246" y="168"/>
                </a:lnTo>
                <a:lnTo>
                  <a:pt x="229" y="154"/>
                </a:lnTo>
                <a:lnTo>
                  <a:pt x="213" y="139"/>
                </a:lnTo>
                <a:lnTo>
                  <a:pt x="196" y="124"/>
                </a:lnTo>
                <a:lnTo>
                  <a:pt x="180" y="109"/>
                </a:lnTo>
                <a:lnTo>
                  <a:pt x="164" y="94"/>
                </a:lnTo>
                <a:lnTo>
                  <a:pt x="147" y="80"/>
                </a:lnTo>
                <a:lnTo>
                  <a:pt x="131" y="66"/>
                </a:lnTo>
                <a:lnTo>
                  <a:pt x="114" y="53"/>
                </a:lnTo>
                <a:lnTo>
                  <a:pt x="98" y="42"/>
                </a:lnTo>
                <a:lnTo>
                  <a:pt x="82" y="31"/>
                </a:lnTo>
                <a:lnTo>
                  <a:pt x="65" y="22"/>
                </a:lnTo>
                <a:lnTo>
                  <a:pt x="49" y="14"/>
                </a:lnTo>
                <a:lnTo>
                  <a:pt x="33" y="9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A35313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Freeform 56"/>
          <p:cNvSpPr/>
          <p:nvPr/>
        </p:nvSpPr>
        <p:spPr>
          <a:xfrm>
            <a:off x="2057400" y="1733550"/>
            <a:ext cx="3743325" cy="2181225"/>
          </a:xfrm>
          <a:custGeom>
            <a:avLst/>
            <a:gdLst/>
            <a:ahLst/>
            <a:cxnLst/>
            <a:rect l="l" t="t" r="r" b="b"/>
            <a:pathLst>
              <a:path w="393" h="229">
                <a:moveTo>
                  <a:pt x="0" y="226"/>
                </a:moveTo>
                <a:lnTo>
                  <a:pt x="16" y="225"/>
                </a:lnTo>
                <a:lnTo>
                  <a:pt x="33" y="221"/>
                </a:lnTo>
                <a:lnTo>
                  <a:pt x="49" y="216"/>
                </a:lnTo>
                <a:lnTo>
                  <a:pt x="65" y="209"/>
                </a:lnTo>
                <a:lnTo>
                  <a:pt x="82" y="201"/>
                </a:lnTo>
                <a:lnTo>
                  <a:pt x="98" y="191"/>
                </a:lnTo>
                <a:lnTo>
                  <a:pt x="114" y="179"/>
                </a:lnTo>
                <a:lnTo>
                  <a:pt x="131" y="167"/>
                </a:lnTo>
                <a:lnTo>
                  <a:pt x="147" y="154"/>
                </a:lnTo>
                <a:lnTo>
                  <a:pt x="164" y="141"/>
                </a:lnTo>
                <a:lnTo>
                  <a:pt x="180" y="127"/>
                </a:lnTo>
                <a:lnTo>
                  <a:pt x="196" y="113"/>
                </a:lnTo>
                <a:lnTo>
                  <a:pt x="213" y="99"/>
                </a:lnTo>
                <a:lnTo>
                  <a:pt x="229" y="85"/>
                </a:lnTo>
                <a:lnTo>
                  <a:pt x="246" y="71"/>
                </a:lnTo>
                <a:lnTo>
                  <a:pt x="262" y="58"/>
                </a:lnTo>
                <a:lnTo>
                  <a:pt x="278" y="46"/>
                </a:lnTo>
                <a:lnTo>
                  <a:pt x="295" y="35"/>
                </a:lnTo>
                <a:lnTo>
                  <a:pt x="311" y="25"/>
                </a:lnTo>
                <a:lnTo>
                  <a:pt x="327" y="16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7"/>
                </a:lnTo>
                <a:lnTo>
                  <a:pt x="344" y="12"/>
                </a:lnTo>
                <a:lnTo>
                  <a:pt x="327" y="20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1"/>
                </a:lnTo>
                <a:lnTo>
                  <a:pt x="246" y="74"/>
                </a:lnTo>
                <a:lnTo>
                  <a:pt x="229" y="88"/>
                </a:lnTo>
                <a:lnTo>
                  <a:pt x="213" y="102"/>
                </a:lnTo>
                <a:lnTo>
                  <a:pt x="196" y="116"/>
                </a:lnTo>
                <a:lnTo>
                  <a:pt x="180" y="130"/>
                </a:lnTo>
                <a:lnTo>
                  <a:pt x="164" y="144"/>
                </a:lnTo>
                <a:lnTo>
                  <a:pt x="147" y="157"/>
                </a:lnTo>
                <a:lnTo>
                  <a:pt x="131" y="170"/>
                </a:lnTo>
                <a:lnTo>
                  <a:pt x="114" y="182"/>
                </a:lnTo>
                <a:lnTo>
                  <a:pt x="98" y="194"/>
                </a:lnTo>
                <a:lnTo>
                  <a:pt x="82" y="204"/>
                </a:lnTo>
                <a:lnTo>
                  <a:pt x="65" y="212"/>
                </a:lnTo>
                <a:lnTo>
                  <a:pt x="49" y="219"/>
                </a:lnTo>
                <a:lnTo>
                  <a:pt x="33" y="225"/>
                </a:lnTo>
                <a:lnTo>
                  <a:pt x="16" y="228"/>
                </a:lnTo>
                <a:lnTo>
                  <a:pt x="0" y="229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Freeform 57"/>
          <p:cNvSpPr/>
          <p:nvPr/>
        </p:nvSpPr>
        <p:spPr>
          <a:xfrm>
            <a:off x="2057400" y="2276475"/>
            <a:ext cx="3743325" cy="1676400"/>
          </a:xfrm>
          <a:custGeom>
            <a:avLst/>
            <a:gdLst/>
            <a:ahLst/>
            <a:cxnLst/>
            <a:rect l="l" t="t" r="r" b="b"/>
            <a:pathLst>
              <a:path w="393" h="176">
                <a:moveTo>
                  <a:pt x="0" y="172"/>
                </a:moveTo>
                <a:lnTo>
                  <a:pt x="16" y="171"/>
                </a:lnTo>
                <a:lnTo>
                  <a:pt x="33" y="169"/>
                </a:lnTo>
                <a:lnTo>
                  <a:pt x="49" y="165"/>
                </a:lnTo>
                <a:lnTo>
                  <a:pt x="65" y="159"/>
                </a:lnTo>
                <a:lnTo>
                  <a:pt x="82" y="153"/>
                </a:lnTo>
                <a:lnTo>
                  <a:pt x="98" y="145"/>
                </a:lnTo>
                <a:lnTo>
                  <a:pt x="114" y="137"/>
                </a:lnTo>
                <a:lnTo>
                  <a:pt x="131" y="128"/>
                </a:lnTo>
                <a:lnTo>
                  <a:pt x="147" y="118"/>
                </a:lnTo>
                <a:lnTo>
                  <a:pt x="164" y="107"/>
                </a:lnTo>
                <a:lnTo>
                  <a:pt x="180" y="97"/>
                </a:lnTo>
                <a:lnTo>
                  <a:pt x="196" y="86"/>
                </a:lnTo>
                <a:lnTo>
                  <a:pt x="213" y="76"/>
                </a:lnTo>
                <a:lnTo>
                  <a:pt x="229" y="65"/>
                </a:lnTo>
                <a:lnTo>
                  <a:pt x="246" y="55"/>
                </a:lnTo>
                <a:lnTo>
                  <a:pt x="262" y="45"/>
                </a:lnTo>
                <a:lnTo>
                  <a:pt x="278" y="36"/>
                </a:lnTo>
                <a:lnTo>
                  <a:pt x="295" y="27"/>
                </a:lnTo>
                <a:lnTo>
                  <a:pt x="311" y="20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5"/>
                </a:lnTo>
                <a:lnTo>
                  <a:pt x="377" y="6"/>
                </a:lnTo>
                <a:lnTo>
                  <a:pt x="360" y="8"/>
                </a:lnTo>
                <a:lnTo>
                  <a:pt x="344" y="12"/>
                </a:lnTo>
                <a:lnTo>
                  <a:pt x="327" y="17"/>
                </a:lnTo>
                <a:lnTo>
                  <a:pt x="311" y="24"/>
                </a:lnTo>
                <a:lnTo>
                  <a:pt x="295" y="32"/>
                </a:lnTo>
                <a:lnTo>
                  <a:pt x="278" y="40"/>
                </a:lnTo>
                <a:lnTo>
                  <a:pt x="262" y="49"/>
                </a:lnTo>
                <a:lnTo>
                  <a:pt x="246" y="59"/>
                </a:lnTo>
                <a:lnTo>
                  <a:pt x="229" y="69"/>
                </a:lnTo>
                <a:lnTo>
                  <a:pt x="213" y="80"/>
                </a:lnTo>
                <a:lnTo>
                  <a:pt x="196" y="90"/>
                </a:lnTo>
                <a:lnTo>
                  <a:pt x="180" y="101"/>
                </a:lnTo>
                <a:lnTo>
                  <a:pt x="164" y="112"/>
                </a:lnTo>
                <a:lnTo>
                  <a:pt x="147" y="122"/>
                </a:lnTo>
                <a:lnTo>
                  <a:pt x="131" y="132"/>
                </a:lnTo>
                <a:lnTo>
                  <a:pt x="114" y="141"/>
                </a:lnTo>
                <a:lnTo>
                  <a:pt x="98" y="149"/>
                </a:lnTo>
                <a:lnTo>
                  <a:pt x="82" y="157"/>
                </a:lnTo>
                <a:lnTo>
                  <a:pt x="65" y="164"/>
                </a:lnTo>
                <a:lnTo>
                  <a:pt x="49" y="169"/>
                </a:lnTo>
                <a:lnTo>
                  <a:pt x="33" y="173"/>
                </a:lnTo>
                <a:lnTo>
                  <a:pt x="16" y="175"/>
                </a:lnTo>
                <a:lnTo>
                  <a:pt x="0" y="176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reeform 58"/>
          <p:cNvSpPr/>
          <p:nvPr/>
        </p:nvSpPr>
        <p:spPr>
          <a:xfrm>
            <a:off x="2057400" y="2828925"/>
            <a:ext cx="3743325" cy="1162050"/>
          </a:xfrm>
          <a:custGeom>
            <a:avLst/>
            <a:gdLst/>
            <a:ahLst/>
            <a:cxnLst/>
            <a:rect l="l" t="t" r="r" b="b"/>
            <a:pathLst>
              <a:path w="393" h="122">
                <a:moveTo>
                  <a:pt x="0" y="118"/>
                </a:moveTo>
                <a:lnTo>
                  <a:pt x="16" y="118"/>
                </a:lnTo>
                <a:lnTo>
                  <a:pt x="33" y="116"/>
                </a:lnTo>
                <a:lnTo>
                  <a:pt x="49" y="113"/>
                </a:lnTo>
                <a:lnTo>
                  <a:pt x="65" y="109"/>
                </a:lnTo>
                <a:lnTo>
                  <a:pt x="82" y="105"/>
                </a:lnTo>
                <a:lnTo>
                  <a:pt x="98" y="100"/>
                </a:lnTo>
                <a:lnTo>
                  <a:pt x="114" y="94"/>
                </a:lnTo>
                <a:lnTo>
                  <a:pt x="131" y="88"/>
                </a:lnTo>
                <a:lnTo>
                  <a:pt x="147" y="81"/>
                </a:lnTo>
                <a:lnTo>
                  <a:pt x="164" y="74"/>
                </a:lnTo>
                <a:lnTo>
                  <a:pt x="180" y="67"/>
                </a:lnTo>
                <a:lnTo>
                  <a:pt x="196" y="59"/>
                </a:lnTo>
                <a:lnTo>
                  <a:pt x="213" y="52"/>
                </a:lnTo>
                <a:lnTo>
                  <a:pt x="229" y="45"/>
                </a:lnTo>
                <a:lnTo>
                  <a:pt x="246" y="38"/>
                </a:lnTo>
                <a:lnTo>
                  <a:pt x="262" y="31"/>
                </a:lnTo>
                <a:lnTo>
                  <a:pt x="278" y="25"/>
                </a:lnTo>
                <a:lnTo>
                  <a:pt x="295" y="19"/>
                </a:lnTo>
                <a:lnTo>
                  <a:pt x="311" y="14"/>
                </a:lnTo>
                <a:lnTo>
                  <a:pt x="327" y="9"/>
                </a:lnTo>
                <a:lnTo>
                  <a:pt x="344" y="5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6"/>
                </a:lnTo>
                <a:lnTo>
                  <a:pt x="344" y="9"/>
                </a:lnTo>
                <a:lnTo>
                  <a:pt x="327" y="13"/>
                </a:lnTo>
                <a:lnTo>
                  <a:pt x="311" y="17"/>
                </a:lnTo>
                <a:lnTo>
                  <a:pt x="295" y="22"/>
                </a:lnTo>
                <a:lnTo>
                  <a:pt x="278" y="28"/>
                </a:lnTo>
                <a:lnTo>
                  <a:pt x="262" y="35"/>
                </a:lnTo>
                <a:lnTo>
                  <a:pt x="246" y="41"/>
                </a:lnTo>
                <a:lnTo>
                  <a:pt x="229" y="48"/>
                </a:lnTo>
                <a:lnTo>
                  <a:pt x="213" y="56"/>
                </a:lnTo>
                <a:lnTo>
                  <a:pt x="196" y="63"/>
                </a:lnTo>
                <a:lnTo>
                  <a:pt x="180" y="70"/>
                </a:lnTo>
                <a:lnTo>
                  <a:pt x="164" y="77"/>
                </a:lnTo>
                <a:lnTo>
                  <a:pt x="147" y="85"/>
                </a:lnTo>
                <a:lnTo>
                  <a:pt x="131" y="91"/>
                </a:lnTo>
                <a:lnTo>
                  <a:pt x="114" y="98"/>
                </a:lnTo>
                <a:lnTo>
                  <a:pt x="98" y="103"/>
                </a:lnTo>
                <a:lnTo>
                  <a:pt x="82" y="109"/>
                </a:lnTo>
                <a:lnTo>
                  <a:pt x="65" y="113"/>
                </a:lnTo>
                <a:lnTo>
                  <a:pt x="49" y="117"/>
                </a:lnTo>
                <a:lnTo>
                  <a:pt x="33" y="119"/>
                </a:lnTo>
                <a:lnTo>
                  <a:pt x="16" y="121"/>
                </a:lnTo>
                <a:lnTo>
                  <a:pt x="0" y="122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Freeform 59"/>
          <p:cNvSpPr/>
          <p:nvPr/>
        </p:nvSpPr>
        <p:spPr>
          <a:xfrm>
            <a:off x="2057400" y="3381375"/>
            <a:ext cx="3743325" cy="647700"/>
          </a:xfrm>
          <a:custGeom>
            <a:avLst/>
            <a:gdLst/>
            <a:ahLst/>
            <a:cxnLst/>
            <a:rect l="l" t="t" r="r" b="b"/>
            <a:pathLst>
              <a:path w="393" h="68">
                <a:moveTo>
                  <a:pt x="0" y="64"/>
                </a:moveTo>
                <a:lnTo>
                  <a:pt x="16" y="63"/>
                </a:lnTo>
                <a:lnTo>
                  <a:pt x="33" y="63"/>
                </a:lnTo>
                <a:lnTo>
                  <a:pt x="49" y="61"/>
                </a:lnTo>
                <a:lnTo>
                  <a:pt x="65" y="59"/>
                </a:lnTo>
                <a:lnTo>
                  <a:pt x="82" y="57"/>
                </a:lnTo>
                <a:lnTo>
                  <a:pt x="98" y="54"/>
                </a:lnTo>
                <a:lnTo>
                  <a:pt x="114" y="51"/>
                </a:lnTo>
                <a:lnTo>
                  <a:pt x="131" y="47"/>
                </a:lnTo>
                <a:lnTo>
                  <a:pt x="147" y="43"/>
                </a:lnTo>
                <a:lnTo>
                  <a:pt x="164" y="40"/>
                </a:lnTo>
                <a:lnTo>
                  <a:pt x="180" y="36"/>
                </a:lnTo>
                <a:lnTo>
                  <a:pt x="196" y="32"/>
                </a:lnTo>
                <a:lnTo>
                  <a:pt x="213" y="28"/>
                </a:lnTo>
                <a:lnTo>
                  <a:pt x="229" y="24"/>
                </a:lnTo>
                <a:lnTo>
                  <a:pt x="246" y="20"/>
                </a:lnTo>
                <a:lnTo>
                  <a:pt x="262" y="16"/>
                </a:lnTo>
                <a:lnTo>
                  <a:pt x="278" y="13"/>
                </a:lnTo>
                <a:lnTo>
                  <a:pt x="295" y="10"/>
                </a:lnTo>
                <a:lnTo>
                  <a:pt x="311" y="7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5"/>
                </a:lnTo>
                <a:lnTo>
                  <a:pt x="344" y="7"/>
                </a:lnTo>
                <a:lnTo>
                  <a:pt x="327" y="9"/>
                </a:lnTo>
                <a:lnTo>
                  <a:pt x="311" y="11"/>
                </a:lnTo>
                <a:lnTo>
                  <a:pt x="295" y="14"/>
                </a:lnTo>
                <a:lnTo>
                  <a:pt x="278" y="17"/>
                </a:lnTo>
                <a:lnTo>
                  <a:pt x="262" y="20"/>
                </a:lnTo>
                <a:lnTo>
                  <a:pt x="246" y="24"/>
                </a:lnTo>
                <a:lnTo>
                  <a:pt x="229" y="28"/>
                </a:lnTo>
                <a:lnTo>
                  <a:pt x="213" y="32"/>
                </a:lnTo>
                <a:lnTo>
                  <a:pt x="196" y="36"/>
                </a:lnTo>
                <a:lnTo>
                  <a:pt x="180" y="40"/>
                </a:lnTo>
                <a:lnTo>
                  <a:pt x="164" y="44"/>
                </a:lnTo>
                <a:lnTo>
                  <a:pt x="147" y="48"/>
                </a:lnTo>
                <a:lnTo>
                  <a:pt x="131" y="51"/>
                </a:lnTo>
                <a:lnTo>
                  <a:pt x="114" y="55"/>
                </a:lnTo>
                <a:lnTo>
                  <a:pt x="98" y="58"/>
                </a:lnTo>
                <a:lnTo>
                  <a:pt x="82" y="61"/>
                </a:lnTo>
                <a:lnTo>
                  <a:pt x="65" y="63"/>
                </a:lnTo>
                <a:lnTo>
                  <a:pt x="49" y="65"/>
                </a:lnTo>
                <a:lnTo>
                  <a:pt x="33" y="67"/>
                </a:lnTo>
                <a:lnTo>
                  <a:pt x="16" y="68"/>
                </a:lnTo>
                <a:lnTo>
                  <a:pt x="0" y="68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Freeform 60"/>
          <p:cNvSpPr/>
          <p:nvPr/>
        </p:nvSpPr>
        <p:spPr>
          <a:xfrm>
            <a:off x="2057400" y="3924300"/>
            <a:ext cx="3743325" cy="142875"/>
          </a:xfrm>
          <a:custGeom>
            <a:avLst/>
            <a:gdLst/>
            <a:ahLst/>
            <a:cxnLst/>
            <a:rect l="l" t="t" r="r" b="b"/>
            <a:pathLst>
              <a:path w="393" h="15">
                <a:moveTo>
                  <a:pt x="0" y="11"/>
                </a:moveTo>
                <a:lnTo>
                  <a:pt x="16" y="11"/>
                </a:lnTo>
                <a:lnTo>
                  <a:pt x="33" y="11"/>
                </a:lnTo>
                <a:lnTo>
                  <a:pt x="49" y="11"/>
                </a:lnTo>
                <a:lnTo>
                  <a:pt x="65" y="10"/>
                </a:lnTo>
                <a:lnTo>
                  <a:pt x="82" y="10"/>
                </a:lnTo>
                <a:lnTo>
                  <a:pt x="98" y="9"/>
                </a:lnTo>
                <a:lnTo>
                  <a:pt x="114" y="9"/>
                </a:lnTo>
                <a:lnTo>
                  <a:pt x="131" y="8"/>
                </a:lnTo>
                <a:lnTo>
                  <a:pt x="147" y="8"/>
                </a:lnTo>
                <a:lnTo>
                  <a:pt x="164" y="7"/>
                </a:lnTo>
                <a:lnTo>
                  <a:pt x="180" y="6"/>
                </a:lnTo>
                <a:lnTo>
                  <a:pt x="196" y="5"/>
                </a:lnTo>
                <a:lnTo>
                  <a:pt x="213" y="5"/>
                </a:lnTo>
                <a:lnTo>
                  <a:pt x="229" y="4"/>
                </a:lnTo>
                <a:lnTo>
                  <a:pt x="246" y="3"/>
                </a:lnTo>
                <a:lnTo>
                  <a:pt x="262" y="3"/>
                </a:lnTo>
                <a:lnTo>
                  <a:pt x="278" y="2"/>
                </a:lnTo>
                <a:lnTo>
                  <a:pt x="295" y="2"/>
                </a:lnTo>
                <a:lnTo>
                  <a:pt x="311" y="1"/>
                </a:lnTo>
                <a:lnTo>
                  <a:pt x="327" y="1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4"/>
                </a:lnTo>
                <a:lnTo>
                  <a:pt x="344" y="4"/>
                </a:lnTo>
                <a:lnTo>
                  <a:pt x="327" y="5"/>
                </a:lnTo>
                <a:lnTo>
                  <a:pt x="311" y="5"/>
                </a:lnTo>
                <a:lnTo>
                  <a:pt x="295" y="6"/>
                </a:lnTo>
                <a:lnTo>
                  <a:pt x="278" y="6"/>
                </a:lnTo>
                <a:lnTo>
                  <a:pt x="262" y="7"/>
                </a:lnTo>
                <a:lnTo>
                  <a:pt x="246" y="7"/>
                </a:lnTo>
                <a:lnTo>
                  <a:pt x="229" y="8"/>
                </a:lnTo>
                <a:lnTo>
                  <a:pt x="213" y="9"/>
                </a:lnTo>
                <a:lnTo>
                  <a:pt x="196" y="9"/>
                </a:lnTo>
                <a:lnTo>
                  <a:pt x="180" y="10"/>
                </a:lnTo>
                <a:lnTo>
                  <a:pt x="164" y="11"/>
                </a:lnTo>
                <a:lnTo>
                  <a:pt x="147" y="12"/>
                </a:lnTo>
                <a:lnTo>
                  <a:pt x="131" y="12"/>
                </a:lnTo>
                <a:lnTo>
                  <a:pt x="114" y="13"/>
                </a:lnTo>
                <a:lnTo>
                  <a:pt x="98" y="13"/>
                </a:lnTo>
                <a:lnTo>
                  <a:pt x="82" y="14"/>
                </a:lnTo>
                <a:lnTo>
                  <a:pt x="65" y="14"/>
                </a:lnTo>
                <a:lnTo>
                  <a:pt x="49" y="15"/>
                </a:lnTo>
                <a:lnTo>
                  <a:pt x="33" y="15"/>
                </a:lnTo>
                <a:lnTo>
                  <a:pt x="1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reeform 61"/>
          <p:cNvSpPr/>
          <p:nvPr/>
        </p:nvSpPr>
        <p:spPr>
          <a:xfrm>
            <a:off x="2057400" y="4067175"/>
            <a:ext cx="3743325" cy="447675"/>
          </a:xfrm>
          <a:custGeom>
            <a:avLst/>
            <a:gdLst/>
            <a:ahLst/>
            <a:cxnLst/>
            <a:rect l="l" t="t" r="r" b="b"/>
            <a:pathLst>
              <a:path w="393" h="47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9"/>
                </a:lnTo>
                <a:lnTo>
                  <a:pt x="131" y="11"/>
                </a:lnTo>
                <a:lnTo>
                  <a:pt x="147" y="14"/>
                </a:lnTo>
                <a:lnTo>
                  <a:pt x="164" y="16"/>
                </a:lnTo>
                <a:lnTo>
                  <a:pt x="180" y="19"/>
                </a:lnTo>
                <a:lnTo>
                  <a:pt x="196" y="22"/>
                </a:lnTo>
                <a:lnTo>
                  <a:pt x="213" y="25"/>
                </a:lnTo>
                <a:lnTo>
                  <a:pt x="229" y="27"/>
                </a:lnTo>
                <a:lnTo>
                  <a:pt x="246" y="30"/>
                </a:lnTo>
                <a:lnTo>
                  <a:pt x="262" y="32"/>
                </a:lnTo>
                <a:lnTo>
                  <a:pt x="278" y="35"/>
                </a:lnTo>
                <a:lnTo>
                  <a:pt x="295" y="37"/>
                </a:lnTo>
                <a:lnTo>
                  <a:pt x="311" y="39"/>
                </a:lnTo>
                <a:lnTo>
                  <a:pt x="327" y="40"/>
                </a:lnTo>
                <a:lnTo>
                  <a:pt x="344" y="42"/>
                </a:lnTo>
                <a:lnTo>
                  <a:pt x="360" y="43"/>
                </a:lnTo>
                <a:lnTo>
                  <a:pt x="377" y="43"/>
                </a:lnTo>
                <a:lnTo>
                  <a:pt x="393" y="44"/>
                </a:lnTo>
                <a:lnTo>
                  <a:pt x="393" y="47"/>
                </a:lnTo>
                <a:lnTo>
                  <a:pt x="377" y="47"/>
                </a:lnTo>
                <a:lnTo>
                  <a:pt x="360" y="46"/>
                </a:lnTo>
                <a:lnTo>
                  <a:pt x="344" y="45"/>
                </a:lnTo>
                <a:lnTo>
                  <a:pt x="327" y="44"/>
                </a:lnTo>
                <a:lnTo>
                  <a:pt x="311" y="42"/>
                </a:lnTo>
                <a:lnTo>
                  <a:pt x="295" y="40"/>
                </a:lnTo>
                <a:lnTo>
                  <a:pt x="278" y="38"/>
                </a:lnTo>
                <a:lnTo>
                  <a:pt x="262" y="36"/>
                </a:lnTo>
                <a:lnTo>
                  <a:pt x="246" y="33"/>
                </a:lnTo>
                <a:lnTo>
                  <a:pt x="229" y="31"/>
                </a:lnTo>
                <a:lnTo>
                  <a:pt x="213" y="28"/>
                </a:lnTo>
                <a:lnTo>
                  <a:pt x="196" y="25"/>
                </a:lnTo>
                <a:lnTo>
                  <a:pt x="180" y="23"/>
                </a:lnTo>
                <a:lnTo>
                  <a:pt x="164" y="20"/>
                </a:lnTo>
                <a:lnTo>
                  <a:pt x="147" y="17"/>
                </a:lnTo>
                <a:lnTo>
                  <a:pt x="131" y="15"/>
                </a:lnTo>
                <a:lnTo>
                  <a:pt x="114" y="13"/>
                </a:lnTo>
                <a:lnTo>
                  <a:pt x="98" y="10"/>
                </a:lnTo>
                <a:lnTo>
                  <a:pt x="82" y="9"/>
                </a:lnTo>
                <a:lnTo>
                  <a:pt x="65" y="7"/>
                </a:lnTo>
                <a:lnTo>
                  <a:pt x="49" y="6"/>
                </a:lnTo>
                <a:lnTo>
                  <a:pt x="33" y="5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2057400" y="4105275"/>
            <a:ext cx="3743325" cy="962025"/>
          </a:xfrm>
          <a:custGeom>
            <a:avLst/>
            <a:gdLst/>
            <a:ahLst/>
            <a:cxnLst/>
            <a:rect l="l" t="t" r="r" b="b"/>
            <a:pathLst>
              <a:path w="393" h="101">
                <a:moveTo>
                  <a:pt x="0" y="0"/>
                </a:moveTo>
                <a:lnTo>
                  <a:pt x="16" y="0"/>
                </a:lnTo>
                <a:lnTo>
                  <a:pt x="33" y="2"/>
                </a:lnTo>
                <a:lnTo>
                  <a:pt x="49" y="4"/>
                </a:lnTo>
                <a:lnTo>
                  <a:pt x="65" y="7"/>
                </a:lnTo>
                <a:lnTo>
                  <a:pt x="82" y="11"/>
                </a:lnTo>
                <a:lnTo>
                  <a:pt x="98" y="15"/>
                </a:lnTo>
                <a:lnTo>
                  <a:pt x="114" y="20"/>
                </a:lnTo>
                <a:lnTo>
                  <a:pt x="131" y="25"/>
                </a:lnTo>
                <a:lnTo>
                  <a:pt x="147" y="31"/>
                </a:lnTo>
                <a:lnTo>
                  <a:pt x="164" y="36"/>
                </a:lnTo>
                <a:lnTo>
                  <a:pt x="180" y="42"/>
                </a:lnTo>
                <a:lnTo>
                  <a:pt x="196" y="49"/>
                </a:lnTo>
                <a:lnTo>
                  <a:pt x="213" y="55"/>
                </a:lnTo>
                <a:lnTo>
                  <a:pt x="229" y="61"/>
                </a:lnTo>
                <a:lnTo>
                  <a:pt x="246" y="67"/>
                </a:lnTo>
                <a:lnTo>
                  <a:pt x="262" y="72"/>
                </a:lnTo>
                <a:lnTo>
                  <a:pt x="278" y="77"/>
                </a:lnTo>
                <a:lnTo>
                  <a:pt x="295" y="82"/>
                </a:lnTo>
                <a:lnTo>
                  <a:pt x="311" y="87"/>
                </a:lnTo>
                <a:lnTo>
                  <a:pt x="327" y="90"/>
                </a:lnTo>
                <a:lnTo>
                  <a:pt x="344" y="93"/>
                </a:lnTo>
                <a:lnTo>
                  <a:pt x="360" y="96"/>
                </a:lnTo>
                <a:lnTo>
                  <a:pt x="377" y="97"/>
                </a:lnTo>
                <a:lnTo>
                  <a:pt x="393" y="97"/>
                </a:lnTo>
                <a:lnTo>
                  <a:pt x="393" y="101"/>
                </a:lnTo>
                <a:lnTo>
                  <a:pt x="377" y="100"/>
                </a:lnTo>
                <a:lnTo>
                  <a:pt x="360" y="99"/>
                </a:lnTo>
                <a:lnTo>
                  <a:pt x="344" y="96"/>
                </a:lnTo>
                <a:lnTo>
                  <a:pt x="327" y="93"/>
                </a:lnTo>
                <a:lnTo>
                  <a:pt x="311" y="90"/>
                </a:lnTo>
                <a:lnTo>
                  <a:pt x="295" y="85"/>
                </a:lnTo>
                <a:lnTo>
                  <a:pt x="278" y="81"/>
                </a:lnTo>
                <a:lnTo>
                  <a:pt x="262" y="75"/>
                </a:lnTo>
                <a:lnTo>
                  <a:pt x="246" y="70"/>
                </a:lnTo>
                <a:lnTo>
                  <a:pt x="229" y="64"/>
                </a:lnTo>
                <a:lnTo>
                  <a:pt x="213" y="58"/>
                </a:lnTo>
                <a:lnTo>
                  <a:pt x="196" y="52"/>
                </a:lnTo>
                <a:lnTo>
                  <a:pt x="180" y="46"/>
                </a:lnTo>
                <a:lnTo>
                  <a:pt x="164" y="40"/>
                </a:lnTo>
                <a:lnTo>
                  <a:pt x="147" y="34"/>
                </a:lnTo>
                <a:lnTo>
                  <a:pt x="131" y="28"/>
                </a:lnTo>
                <a:lnTo>
                  <a:pt x="114" y="23"/>
                </a:lnTo>
                <a:lnTo>
                  <a:pt x="98" y="18"/>
                </a:lnTo>
                <a:lnTo>
                  <a:pt x="82" y="14"/>
                </a:lnTo>
                <a:lnTo>
                  <a:pt x="65" y="10"/>
                </a:lnTo>
                <a:lnTo>
                  <a:pt x="49" y="7"/>
                </a:lnTo>
                <a:lnTo>
                  <a:pt x="33" y="5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2057400" y="4133850"/>
            <a:ext cx="3743325" cy="1476375"/>
          </a:xfrm>
          <a:custGeom>
            <a:avLst/>
            <a:gdLst/>
            <a:ahLst/>
            <a:cxnLst/>
            <a:rect l="l" t="t" r="r" b="b"/>
            <a:pathLst>
              <a:path w="393" h="155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1"/>
                </a:lnTo>
                <a:lnTo>
                  <a:pt x="82" y="17"/>
                </a:lnTo>
                <a:lnTo>
                  <a:pt x="98" y="24"/>
                </a:lnTo>
                <a:lnTo>
                  <a:pt x="114" y="31"/>
                </a:lnTo>
                <a:lnTo>
                  <a:pt x="131" y="39"/>
                </a:lnTo>
                <a:lnTo>
                  <a:pt x="147" y="48"/>
                </a:lnTo>
                <a:lnTo>
                  <a:pt x="164" y="57"/>
                </a:lnTo>
                <a:lnTo>
                  <a:pt x="180" y="66"/>
                </a:lnTo>
                <a:lnTo>
                  <a:pt x="196" y="75"/>
                </a:lnTo>
                <a:lnTo>
                  <a:pt x="213" y="85"/>
                </a:lnTo>
                <a:lnTo>
                  <a:pt x="229" y="94"/>
                </a:lnTo>
                <a:lnTo>
                  <a:pt x="246" y="103"/>
                </a:lnTo>
                <a:lnTo>
                  <a:pt x="262" y="112"/>
                </a:lnTo>
                <a:lnTo>
                  <a:pt x="278" y="120"/>
                </a:lnTo>
                <a:lnTo>
                  <a:pt x="295" y="127"/>
                </a:lnTo>
                <a:lnTo>
                  <a:pt x="311" y="134"/>
                </a:lnTo>
                <a:lnTo>
                  <a:pt x="327" y="140"/>
                </a:lnTo>
                <a:lnTo>
                  <a:pt x="344" y="145"/>
                </a:lnTo>
                <a:lnTo>
                  <a:pt x="360" y="148"/>
                </a:lnTo>
                <a:lnTo>
                  <a:pt x="377" y="150"/>
                </a:lnTo>
                <a:lnTo>
                  <a:pt x="393" y="151"/>
                </a:lnTo>
                <a:lnTo>
                  <a:pt x="393" y="155"/>
                </a:lnTo>
                <a:lnTo>
                  <a:pt x="377" y="154"/>
                </a:lnTo>
                <a:lnTo>
                  <a:pt x="360" y="152"/>
                </a:lnTo>
                <a:lnTo>
                  <a:pt x="344" y="149"/>
                </a:lnTo>
                <a:lnTo>
                  <a:pt x="327" y="144"/>
                </a:lnTo>
                <a:lnTo>
                  <a:pt x="311" y="138"/>
                </a:lnTo>
                <a:lnTo>
                  <a:pt x="295" y="131"/>
                </a:lnTo>
                <a:lnTo>
                  <a:pt x="278" y="124"/>
                </a:lnTo>
                <a:lnTo>
                  <a:pt x="262" y="116"/>
                </a:lnTo>
                <a:lnTo>
                  <a:pt x="246" y="107"/>
                </a:lnTo>
                <a:lnTo>
                  <a:pt x="229" y="98"/>
                </a:lnTo>
                <a:lnTo>
                  <a:pt x="213" y="89"/>
                </a:lnTo>
                <a:lnTo>
                  <a:pt x="196" y="79"/>
                </a:lnTo>
                <a:lnTo>
                  <a:pt x="180" y="70"/>
                </a:lnTo>
                <a:lnTo>
                  <a:pt x="164" y="61"/>
                </a:lnTo>
                <a:lnTo>
                  <a:pt x="147" y="52"/>
                </a:lnTo>
                <a:lnTo>
                  <a:pt x="131" y="43"/>
                </a:lnTo>
                <a:lnTo>
                  <a:pt x="114" y="35"/>
                </a:lnTo>
                <a:lnTo>
                  <a:pt x="98" y="28"/>
                </a:lnTo>
                <a:lnTo>
                  <a:pt x="82" y="21"/>
                </a:lnTo>
                <a:lnTo>
                  <a:pt x="65" y="15"/>
                </a:lnTo>
                <a:lnTo>
                  <a:pt x="49" y="10"/>
                </a:lnTo>
                <a:lnTo>
                  <a:pt x="33" y="7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Freeform 64"/>
          <p:cNvSpPr/>
          <p:nvPr/>
        </p:nvSpPr>
        <p:spPr>
          <a:xfrm>
            <a:off x="2057400" y="4171950"/>
            <a:ext cx="3743325" cy="1981200"/>
          </a:xfrm>
          <a:custGeom>
            <a:avLst/>
            <a:gdLst/>
            <a:ahLst/>
            <a:cxnLst/>
            <a:rect l="l" t="t" r="r" b="b"/>
            <a:pathLst>
              <a:path w="393" h="208">
                <a:moveTo>
                  <a:pt x="0" y="0"/>
                </a:moveTo>
                <a:lnTo>
                  <a:pt x="16" y="1"/>
                </a:lnTo>
                <a:lnTo>
                  <a:pt x="33" y="4"/>
                </a:lnTo>
                <a:lnTo>
                  <a:pt x="49" y="9"/>
                </a:lnTo>
                <a:lnTo>
                  <a:pt x="65" y="15"/>
                </a:lnTo>
                <a:lnTo>
                  <a:pt x="82" y="23"/>
                </a:lnTo>
                <a:lnTo>
                  <a:pt x="98" y="32"/>
                </a:lnTo>
                <a:lnTo>
                  <a:pt x="114" y="42"/>
                </a:lnTo>
                <a:lnTo>
                  <a:pt x="131" y="53"/>
                </a:lnTo>
                <a:lnTo>
                  <a:pt x="147" y="65"/>
                </a:lnTo>
                <a:lnTo>
                  <a:pt x="164" y="77"/>
                </a:lnTo>
                <a:lnTo>
                  <a:pt x="180" y="89"/>
                </a:lnTo>
                <a:lnTo>
                  <a:pt x="196" y="102"/>
                </a:lnTo>
                <a:lnTo>
                  <a:pt x="213" y="115"/>
                </a:lnTo>
                <a:lnTo>
                  <a:pt x="229" y="128"/>
                </a:lnTo>
                <a:lnTo>
                  <a:pt x="246" y="140"/>
                </a:lnTo>
                <a:lnTo>
                  <a:pt x="262" y="152"/>
                </a:lnTo>
                <a:lnTo>
                  <a:pt x="278" y="163"/>
                </a:lnTo>
                <a:lnTo>
                  <a:pt x="295" y="173"/>
                </a:lnTo>
                <a:lnTo>
                  <a:pt x="311" y="182"/>
                </a:lnTo>
                <a:lnTo>
                  <a:pt x="327" y="189"/>
                </a:lnTo>
                <a:lnTo>
                  <a:pt x="344" y="196"/>
                </a:lnTo>
                <a:lnTo>
                  <a:pt x="360" y="201"/>
                </a:lnTo>
                <a:lnTo>
                  <a:pt x="377" y="204"/>
                </a:lnTo>
                <a:lnTo>
                  <a:pt x="393" y="205"/>
                </a:lnTo>
                <a:lnTo>
                  <a:pt x="393" y="208"/>
                </a:lnTo>
                <a:lnTo>
                  <a:pt x="377" y="207"/>
                </a:lnTo>
                <a:lnTo>
                  <a:pt x="360" y="204"/>
                </a:lnTo>
                <a:lnTo>
                  <a:pt x="344" y="200"/>
                </a:lnTo>
                <a:lnTo>
                  <a:pt x="327" y="193"/>
                </a:lnTo>
                <a:lnTo>
                  <a:pt x="311" y="185"/>
                </a:lnTo>
                <a:lnTo>
                  <a:pt x="295" y="176"/>
                </a:lnTo>
                <a:lnTo>
                  <a:pt x="278" y="166"/>
                </a:lnTo>
                <a:lnTo>
                  <a:pt x="262" y="155"/>
                </a:lnTo>
                <a:lnTo>
                  <a:pt x="246" y="144"/>
                </a:lnTo>
                <a:lnTo>
                  <a:pt x="229" y="131"/>
                </a:lnTo>
                <a:lnTo>
                  <a:pt x="213" y="119"/>
                </a:lnTo>
                <a:lnTo>
                  <a:pt x="196" y="106"/>
                </a:lnTo>
                <a:lnTo>
                  <a:pt x="180" y="93"/>
                </a:lnTo>
                <a:lnTo>
                  <a:pt x="164" y="81"/>
                </a:lnTo>
                <a:lnTo>
                  <a:pt x="147" y="68"/>
                </a:lnTo>
                <a:lnTo>
                  <a:pt x="131" y="57"/>
                </a:lnTo>
                <a:lnTo>
                  <a:pt x="114" y="46"/>
                </a:lnTo>
                <a:lnTo>
                  <a:pt x="98" y="36"/>
                </a:lnTo>
                <a:lnTo>
                  <a:pt x="82" y="27"/>
                </a:lnTo>
                <a:lnTo>
                  <a:pt x="65" y="19"/>
                </a:lnTo>
                <a:lnTo>
                  <a:pt x="49" y="12"/>
                </a:lnTo>
                <a:lnTo>
                  <a:pt x="33" y="8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80808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Freeform 65"/>
          <p:cNvSpPr/>
          <p:nvPr/>
        </p:nvSpPr>
        <p:spPr>
          <a:xfrm>
            <a:off x="2057400" y="1762125"/>
            <a:ext cx="3743325" cy="2533650"/>
          </a:xfrm>
          <a:custGeom>
            <a:avLst/>
            <a:gdLst/>
            <a:ahLst/>
            <a:cxnLst/>
            <a:rect l="l" t="t" r="r" b="b"/>
            <a:pathLst>
              <a:path w="393" h="266">
                <a:moveTo>
                  <a:pt x="0" y="263"/>
                </a:moveTo>
                <a:lnTo>
                  <a:pt x="16" y="261"/>
                </a:lnTo>
                <a:lnTo>
                  <a:pt x="33" y="257"/>
                </a:lnTo>
                <a:lnTo>
                  <a:pt x="49" y="251"/>
                </a:lnTo>
                <a:lnTo>
                  <a:pt x="65" y="243"/>
                </a:lnTo>
                <a:lnTo>
                  <a:pt x="82" y="233"/>
                </a:lnTo>
                <a:lnTo>
                  <a:pt x="98" y="222"/>
                </a:lnTo>
                <a:lnTo>
                  <a:pt x="114" y="209"/>
                </a:lnTo>
                <a:lnTo>
                  <a:pt x="131" y="194"/>
                </a:lnTo>
                <a:lnTo>
                  <a:pt x="147" y="179"/>
                </a:lnTo>
                <a:lnTo>
                  <a:pt x="164" y="164"/>
                </a:lnTo>
                <a:lnTo>
                  <a:pt x="180" y="148"/>
                </a:lnTo>
                <a:lnTo>
                  <a:pt x="196" y="131"/>
                </a:lnTo>
                <a:lnTo>
                  <a:pt x="213" y="115"/>
                </a:lnTo>
                <a:lnTo>
                  <a:pt x="229" y="99"/>
                </a:lnTo>
                <a:lnTo>
                  <a:pt x="246" y="83"/>
                </a:lnTo>
                <a:lnTo>
                  <a:pt x="262" y="68"/>
                </a:lnTo>
                <a:lnTo>
                  <a:pt x="278" y="54"/>
                </a:lnTo>
                <a:lnTo>
                  <a:pt x="295" y="41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9"/>
                </a:lnTo>
                <a:lnTo>
                  <a:pt x="344" y="15"/>
                </a:lnTo>
                <a:lnTo>
                  <a:pt x="327" y="23"/>
                </a:lnTo>
                <a:lnTo>
                  <a:pt x="311" y="33"/>
                </a:lnTo>
                <a:lnTo>
                  <a:pt x="295" y="45"/>
                </a:lnTo>
                <a:lnTo>
                  <a:pt x="278" y="58"/>
                </a:lnTo>
                <a:lnTo>
                  <a:pt x="262" y="72"/>
                </a:lnTo>
                <a:lnTo>
                  <a:pt x="246" y="87"/>
                </a:lnTo>
                <a:lnTo>
                  <a:pt x="229" y="102"/>
                </a:lnTo>
                <a:lnTo>
                  <a:pt x="213" y="119"/>
                </a:lnTo>
                <a:lnTo>
                  <a:pt x="196" y="135"/>
                </a:lnTo>
                <a:lnTo>
                  <a:pt x="180" y="151"/>
                </a:lnTo>
                <a:lnTo>
                  <a:pt x="164" y="167"/>
                </a:lnTo>
                <a:lnTo>
                  <a:pt x="147" y="183"/>
                </a:lnTo>
                <a:lnTo>
                  <a:pt x="131" y="198"/>
                </a:lnTo>
                <a:lnTo>
                  <a:pt x="114" y="212"/>
                </a:lnTo>
                <a:lnTo>
                  <a:pt x="98" y="225"/>
                </a:lnTo>
                <a:lnTo>
                  <a:pt x="82" y="237"/>
                </a:lnTo>
                <a:lnTo>
                  <a:pt x="65" y="247"/>
                </a:lnTo>
                <a:lnTo>
                  <a:pt x="49" y="255"/>
                </a:lnTo>
                <a:lnTo>
                  <a:pt x="33" y="261"/>
                </a:lnTo>
                <a:lnTo>
                  <a:pt x="16" y="265"/>
                </a:lnTo>
                <a:lnTo>
                  <a:pt x="0" y="266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reeform 66"/>
          <p:cNvSpPr/>
          <p:nvPr/>
        </p:nvSpPr>
        <p:spPr>
          <a:xfrm>
            <a:off x="2057400" y="2324100"/>
            <a:ext cx="3743325" cy="2000250"/>
          </a:xfrm>
          <a:custGeom>
            <a:avLst/>
            <a:gdLst/>
            <a:ahLst/>
            <a:cxnLst/>
            <a:rect l="l" t="t" r="r" b="b"/>
            <a:pathLst>
              <a:path w="393" h="210">
                <a:moveTo>
                  <a:pt x="0" y="207"/>
                </a:moveTo>
                <a:lnTo>
                  <a:pt x="16" y="206"/>
                </a:lnTo>
                <a:lnTo>
                  <a:pt x="33" y="203"/>
                </a:lnTo>
                <a:lnTo>
                  <a:pt x="49" y="198"/>
                </a:lnTo>
                <a:lnTo>
                  <a:pt x="65" y="192"/>
                </a:lnTo>
                <a:lnTo>
                  <a:pt x="82" y="184"/>
                </a:lnTo>
                <a:lnTo>
                  <a:pt x="98" y="175"/>
                </a:lnTo>
                <a:lnTo>
                  <a:pt x="114" y="165"/>
                </a:lnTo>
                <a:lnTo>
                  <a:pt x="131" y="154"/>
                </a:lnTo>
                <a:lnTo>
                  <a:pt x="147" y="142"/>
                </a:lnTo>
                <a:lnTo>
                  <a:pt x="164" y="129"/>
                </a:lnTo>
                <a:lnTo>
                  <a:pt x="180" y="116"/>
                </a:lnTo>
                <a:lnTo>
                  <a:pt x="196" y="104"/>
                </a:lnTo>
                <a:lnTo>
                  <a:pt x="213" y="91"/>
                </a:lnTo>
                <a:lnTo>
                  <a:pt x="229" y="78"/>
                </a:lnTo>
                <a:lnTo>
                  <a:pt x="246" y="65"/>
                </a:lnTo>
                <a:lnTo>
                  <a:pt x="262" y="54"/>
                </a:lnTo>
                <a:lnTo>
                  <a:pt x="278" y="42"/>
                </a:lnTo>
                <a:lnTo>
                  <a:pt x="295" y="32"/>
                </a:lnTo>
                <a:lnTo>
                  <a:pt x="311" y="23"/>
                </a:lnTo>
                <a:lnTo>
                  <a:pt x="327" y="15"/>
                </a:lnTo>
                <a:lnTo>
                  <a:pt x="344" y="9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7"/>
                </a:lnTo>
                <a:lnTo>
                  <a:pt x="344" y="12"/>
                </a:lnTo>
                <a:lnTo>
                  <a:pt x="327" y="18"/>
                </a:lnTo>
                <a:lnTo>
                  <a:pt x="311" y="26"/>
                </a:lnTo>
                <a:lnTo>
                  <a:pt x="295" y="35"/>
                </a:lnTo>
                <a:lnTo>
                  <a:pt x="278" y="45"/>
                </a:lnTo>
                <a:lnTo>
                  <a:pt x="262" y="57"/>
                </a:lnTo>
                <a:lnTo>
                  <a:pt x="246" y="69"/>
                </a:lnTo>
                <a:lnTo>
                  <a:pt x="229" y="81"/>
                </a:lnTo>
                <a:lnTo>
                  <a:pt x="213" y="94"/>
                </a:lnTo>
                <a:lnTo>
                  <a:pt x="196" y="107"/>
                </a:lnTo>
                <a:lnTo>
                  <a:pt x="180" y="120"/>
                </a:lnTo>
                <a:lnTo>
                  <a:pt x="164" y="132"/>
                </a:lnTo>
                <a:lnTo>
                  <a:pt x="147" y="145"/>
                </a:lnTo>
                <a:lnTo>
                  <a:pt x="131" y="157"/>
                </a:lnTo>
                <a:lnTo>
                  <a:pt x="114" y="168"/>
                </a:lnTo>
                <a:lnTo>
                  <a:pt x="98" y="178"/>
                </a:lnTo>
                <a:lnTo>
                  <a:pt x="82" y="187"/>
                </a:lnTo>
                <a:lnTo>
                  <a:pt x="65" y="195"/>
                </a:lnTo>
                <a:lnTo>
                  <a:pt x="49" y="202"/>
                </a:lnTo>
                <a:lnTo>
                  <a:pt x="33" y="206"/>
                </a:lnTo>
                <a:lnTo>
                  <a:pt x="16" y="209"/>
                </a:lnTo>
                <a:lnTo>
                  <a:pt x="0" y="210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Freeform 67"/>
          <p:cNvSpPr/>
          <p:nvPr/>
        </p:nvSpPr>
        <p:spPr>
          <a:xfrm>
            <a:off x="2057400" y="2867025"/>
            <a:ext cx="3743325" cy="1504950"/>
          </a:xfrm>
          <a:custGeom>
            <a:avLst/>
            <a:gdLst/>
            <a:ahLst/>
            <a:cxnLst/>
            <a:rect l="l" t="t" r="r" b="b"/>
            <a:pathLst>
              <a:path w="393" h="158">
                <a:moveTo>
                  <a:pt x="0" y="153"/>
                </a:moveTo>
                <a:lnTo>
                  <a:pt x="16" y="153"/>
                </a:lnTo>
                <a:lnTo>
                  <a:pt x="33" y="150"/>
                </a:lnTo>
                <a:lnTo>
                  <a:pt x="49" y="147"/>
                </a:lnTo>
                <a:lnTo>
                  <a:pt x="65" y="142"/>
                </a:lnTo>
                <a:lnTo>
                  <a:pt x="82" y="136"/>
                </a:lnTo>
                <a:lnTo>
                  <a:pt x="98" y="129"/>
                </a:lnTo>
                <a:lnTo>
                  <a:pt x="114" y="122"/>
                </a:lnTo>
                <a:lnTo>
                  <a:pt x="131" y="114"/>
                </a:lnTo>
                <a:lnTo>
                  <a:pt x="147" y="105"/>
                </a:lnTo>
                <a:lnTo>
                  <a:pt x="164" y="96"/>
                </a:lnTo>
                <a:lnTo>
                  <a:pt x="180" y="86"/>
                </a:lnTo>
                <a:lnTo>
                  <a:pt x="196" y="77"/>
                </a:lnTo>
                <a:lnTo>
                  <a:pt x="213" y="67"/>
                </a:lnTo>
                <a:lnTo>
                  <a:pt x="229" y="58"/>
                </a:lnTo>
                <a:lnTo>
                  <a:pt x="246" y="49"/>
                </a:lnTo>
                <a:lnTo>
                  <a:pt x="262" y="40"/>
                </a:lnTo>
                <a:lnTo>
                  <a:pt x="278" y="32"/>
                </a:lnTo>
                <a:lnTo>
                  <a:pt x="295" y="24"/>
                </a:lnTo>
                <a:lnTo>
                  <a:pt x="311" y="17"/>
                </a:lnTo>
                <a:lnTo>
                  <a:pt x="327" y="11"/>
                </a:lnTo>
                <a:lnTo>
                  <a:pt x="344" y="7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1"/>
                </a:lnTo>
                <a:lnTo>
                  <a:pt x="327" y="16"/>
                </a:lnTo>
                <a:lnTo>
                  <a:pt x="311" y="22"/>
                </a:lnTo>
                <a:lnTo>
                  <a:pt x="295" y="28"/>
                </a:lnTo>
                <a:lnTo>
                  <a:pt x="278" y="36"/>
                </a:lnTo>
                <a:lnTo>
                  <a:pt x="262" y="44"/>
                </a:lnTo>
                <a:lnTo>
                  <a:pt x="246" y="53"/>
                </a:lnTo>
                <a:lnTo>
                  <a:pt x="229" y="62"/>
                </a:lnTo>
                <a:lnTo>
                  <a:pt x="213" y="72"/>
                </a:lnTo>
                <a:lnTo>
                  <a:pt x="196" y="81"/>
                </a:lnTo>
                <a:lnTo>
                  <a:pt x="180" y="91"/>
                </a:lnTo>
                <a:lnTo>
                  <a:pt x="164" y="100"/>
                </a:lnTo>
                <a:lnTo>
                  <a:pt x="147" y="109"/>
                </a:lnTo>
                <a:lnTo>
                  <a:pt x="131" y="118"/>
                </a:lnTo>
                <a:lnTo>
                  <a:pt x="114" y="126"/>
                </a:lnTo>
                <a:lnTo>
                  <a:pt x="98" y="134"/>
                </a:lnTo>
                <a:lnTo>
                  <a:pt x="82" y="141"/>
                </a:lnTo>
                <a:lnTo>
                  <a:pt x="65" y="146"/>
                </a:lnTo>
                <a:lnTo>
                  <a:pt x="49" y="151"/>
                </a:lnTo>
                <a:lnTo>
                  <a:pt x="33" y="155"/>
                </a:lnTo>
                <a:lnTo>
                  <a:pt x="16" y="157"/>
                </a:lnTo>
                <a:lnTo>
                  <a:pt x="0" y="158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2057400" y="3419475"/>
            <a:ext cx="3743325" cy="990600"/>
          </a:xfrm>
          <a:custGeom>
            <a:avLst/>
            <a:gdLst/>
            <a:ahLst/>
            <a:cxnLst/>
            <a:rect l="l" t="t" r="r" b="b"/>
            <a:pathLst>
              <a:path w="393" h="104">
                <a:moveTo>
                  <a:pt x="0" y="100"/>
                </a:moveTo>
                <a:lnTo>
                  <a:pt x="16" y="99"/>
                </a:lnTo>
                <a:lnTo>
                  <a:pt x="33" y="98"/>
                </a:lnTo>
                <a:lnTo>
                  <a:pt x="49" y="96"/>
                </a:lnTo>
                <a:lnTo>
                  <a:pt x="65" y="92"/>
                </a:lnTo>
                <a:lnTo>
                  <a:pt x="82" y="89"/>
                </a:lnTo>
                <a:lnTo>
                  <a:pt x="98" y="84"/>
                </a:lnTo>
                <a:lnTo>
                  <a:pt x="114" y="79"/>
                </a:lnTo>
                <a:lnTo>
                  <a:pt x="131" y="74"/>
                </a:lnTo>
                <a:lnTo>
                  <a:pt x="147" y="68"/>
                </a:lnTo>
                <a:lnTo>
                  <a:pt x="164" y="62"/>
                </a:lnTo>
                <a:lnTo>
                  <a:pt x="180" y="56"/>
                </a:lnTo>
                <a:lnTo>
                  <a:pt x="196" y="50"/>
                </a:lnTo>
                <a:lnTo>
                  <a:pt x="213" y="44"/>
                </a:lnTo>
                <a:lnTo>
                  <a:pt x="229" y="37"/>
                </a:lnTo>
                <a:lnTo>
                  <a:pt x="246" y="31"/>
                </a:lnTo>
                <a:lnTo>
                  <a:pt x="262" y="26"/>
                </a:lnTo>
                <a:lnTo>
                  <a:pt x="278" y="20"/>
                </a:lnTo>
                <a:lnTo>
                  <a:pt x="295" y="15"/>
                </a:lnTo>
                <a:lnTo>
                  <a:pt x="311" y="11"/>
                </a:lnTo>
                <a:lnTo>
                  <a:pt x="327" y="7"/>
                </a:lnTo>
                <a:lnTo>
                  <a:pt x="344" y="4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6"/>
                </a:lnTo>
                <a:lnTo>
                  <a:pt x="344" y="8"/>
                </a:lnTo>
                <a:lnTo>
                  <a:pt x="327" y="11"/>
                </a:lnTo>
                <a:lnTo>
                  <a:pt x="311" y="15"/>
                </a:lnTo>
                <a:lnTo>
                  <a:pt x="295" y="19"/>
                </a:lnTo>
                <a:lnTo>
                  <a:pt x="278" y="24"/>
                </a:lnTo>
                <a:lnTo>
                  <a:pt x="262" y="30"/>
                </a:lnTo>
                <a:lnTo>
                  <a:pt x="246" y="35"/>
                </a:lnTo>
                <a:lnTo>
                  <a:pt x="229" y="41"/>
                </a:lnTo>
                <a:lnTo>
                  <a:pt x="213" y="47"/>
                </a:lnTo>
                <a:lnTo>
                  <a:pt x="196" y="54"/>
                </a:lnTo>
                <a:lnTo>
                  <a:pt x="180" y="60"/>
                </a:lnTo>
                <a:lnTo>
                  <a:pt x="164" y="66"/>
                </a:lnTo>
                <a:lnTo>
                  <a:pt x="147" y="72"/>
                </a:lnTo>
                <a:lnTo>
                  <a:pt x="131" y="78"/>
                </a:lnTo>
                <a:lnTo>
                  <a:pt x="114" y="83"/>
                </a:lnTo>
                <a:lnTo>
                  <a:pt x="98" y="88"/>
                </a:lnTo>
                <a:lnTo>
                  <a:pt x="82" y="92"/>
                </a:lnTo>
                <a:lnTo>
                  <a:pt x="65" y="96"/>
                </a:lnTo>
                <a:lnTo>
                  <a:pt x="49" y="99"/>
                </a:lnTo>
                <a:lnTo>
                  <a:pt x="33" y="102"/>
                </a:lnTo>
                <a:lnTo>
                  <a:pt x="16" y="103"/>
                </a:lnTo>
                <a:lnTo>
                  <a:pt x="0" y="10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Freeform 69"/>
          <p:cNvSpPr/>
          <p:nvPr/>
        </p:nvSpPr>
        <p:spPr>
          <a:xfrm>
            <a:off x="2057400" y="3962400"/>
            <a:ext cx="3743325" cy="476250"/>
          </a:xfrm>
          <a:custGeom>
            <a:avLst/>
            <a:gdLst/>
            <a:ahLst/>
            <a:cxnLst/>
            <a:rect l="l" t="t" r="r" b="b"/>
            <a:pathLst>
              <a:path w="393" h="50">
                <a:moveTo>
                  <a:pt x="0" y="47"/>
                </a:moveTo>
                <a:lnTo>
                  <a:pt x="16" y="46"/>
                </a:lnTo>
                <a:lnTo>
                  <a:pt x="33" y="46"/>
                </a:lnTo>
                <a:lnTo>
                  <a:pt x="49" y="45"/>
                </a:lnTo>
                <a:lnTo>
                  <a:pt x="65" y="43"/>
                </a:lnTo>
                <a:lnTo>
                  <a:pt x="82" y="41"/>
                </a:lnTo>
                <a:lnTo>
                  <a:pt x="98" y="39"/>
                </a:lnTo>
                <a:lnTo>
                  <a:pt x="114" y="37"/>
                </a:lnTo>
                <a:lnTo>
                  <a:pt x="131" y="35"/>
                </a:lnTo>
                <a:lnTo>
                  <a:pt x="147" y="32"/>
                </a:lnTo>
                <a:lnTo>
                  <a:pt x="164" y="29"/>
                </a:lnTo>
                <a:lnTo>
                  <a:pt x="180" y="26"/>
                </a:lnTo>
                <a:lnTo>
                  <a:pt x="196" y="23"/>
                </a:lnTo>
                <a:lnTo>
                  <a:pt x="213" y="20"/>
                </a:lnTo>
                <a:lnTo>
                  <a:pt x="229" y="18"/>
                </a:lnTo>
                <a:lnTo>
                  <a:pt x="246" y="15"/>
                </a:lnTo>
                <a:lnTo>
                  <a:pt x="262" y="12"/>
                </a:lnTo>
                <a:lnTo>
                  <a:pt x="278" y="10"/>
                </a:lnTo>
                <a:lnTo>
                  <a:pt x="295" y="7"/>
                </a:lnTo>
                <a:lnTo>
                  <a:pt x="311" y="5"/>
                </a:lnTo>
                <a:lnTo>
                  <a:pt x="327" y="3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4"/>
                </a:lnTo>
                <a:lnTo>
                  <a:pt x="344" y="5"/>
                </a:lnTo>
                <a:lnTo>
                  <a:pt x="327" y="7"/>
                </a:lnTo>
                <a:lnTo>
                  <a:pt x="311" y="9"/>
                </a:lnTo>
                <a:lnTo>
                  <a:pt x="295" y="11"/>
                </a:lnTo>
                <a:lnTo>
                  <a:pt x="278" y="13"/>
                </a:lnTo>
                <a:lnTo>
                  <a:pt x="262" y="16"/>
                </a:lnTo>
                <a:lnTo>
                  <a:pt x="246" y="18"/>
                </a:lnTo>
                <a:lnTo>
                  <a:pt x="229" y="21"/>
                </a:lnTo>
                <a:lnTo>
                  <a:pt x="213" y="24"/>
                </a:lnTo>
                <a:lnTo>
                  <a:pt x="196" y="27"/>
                </a:lnTo>
                <a:lnTo>
                  <a:pt x="180" y="30"/>
                </a:lnTo>
                <a:lnTo>
                  <a:pt x="164" y="33"/>
                </a:lnTo>
                <a:lnTo>
                  <a:pt x="147" y="35"/>
                </a:lnTo>
                <a:lnTo>
                  <a:pt x="131" y="38"/>
                </a:lnTo>
                <a:lnTo>
                  <a:pt x="114" y="40"/>
                </a:lnTo>
                <a:lnTo>
                  <a:pt x="98" y="43"/>
                </a:lnTo>
                <a:lnTo>
                  <a:pt x="82" y="45"/>
                </a:lnTo>
                <a:lnTo>
                  <a:pt x="65" y="47"/>
                </a:lnTo>
                <a:lnTo>
                  <a:pt x="49" y="48"/>
                </a:lnTo>
                <a:lnTo>
                  <a:pt x="33" y="49"/>
                </a:lnTo>
                <a:lnTo>
                  <a:pt x="1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Freeform 70"/>
          <p:cNvSpPr/>
          <p:nvPr/>
        </p:nvSpPr>
        <p:spPr>
          <a:xfrm>
            <a:off x="2057400" y="4438650"/>
            <a:ext cx="3743325" cy="104775"/>
          </a:xfrm>
          <a:custGeom>
            <a:avLst/>
            <a:gdLst/>
            <a:ahLst/>
            <a:cxnLst/>
            <a:rect l="l" t="t" r="r" b="b"/>
            <a:pathLst>
              <a:path w="393" h="11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1"/>
                </a:lnTo>
                <a:lnTo>
                  <a:pt x="98" y="1"/>
                </a:lnTo>
                <a:lnTo>
                  <a:pt x="114" y="2"/>
                </a:lnTo>
                <a:lnTo>
                  <a:pt x="131" y="2"/>
                </a:lnTo>
                <a:lnTo>
                  <a:pt x="147" y="3"/>
                </a:lnTo>
                <a:lnTo>
                  <a:pt x="164" y="3"/>
                </a:lnTo>
                <a:lnTo>
                  <a:pt x="180" y="4"/>
                </a:lnTo>
                <a:lnTo>
                  <a:pt x="196" y="4"/>
                </a:lnTo>
                <a:lnTo>
                  <a:pt x="213" y="5"/>
                </a:lnTo>
                <a:lnTo>
                  <a:pt x="229" y="5"/>
                </a:lnTo>
                <a:lnTo>
                  <a:pt x="246" y="6"/>
                </a:lnTo>
                <a:lnTo>
                  <a:pt x="262" y="6"/>
                </a:lnTo>
                <a:lnTo>
                  <a:pt x="278" y="7"/>
                </a:lnTo>
                <a:lnTo>
                  <a:pt x="295" y="7"/>
                </a:lnTo>
                <a:lnTo>
                  <a:pt x="311" y="7"/>
                </a:lnTo>
                <a:lnTo>
                  <a:pt x="327" y="8"/>
                </a:lnTo>
                <a:lnTo>
                  <a:pt x="344" y="8"/>
                </a:lnTo>
                <a:lnTo>
                  <a:pt x="360" y="8"/>
                </a:lnTo>
                <a:lnTo>
                  <a:pt x="377" y="8"/>
                </a:lnTo>
                <a:lnTo>
                  <a:pt x="393" y="8"/>
                </a:lnTo>
                <a:lnTo>
                  <a:pt x="393" y="11"/>
                </a:lnTo>
                <a:lnTo>
                  <a:pt x="377" y="11"/>
                </a:lnTo>
                <a:lnTo>
                  <a:pt x="360" y="11"/>
                </a:lnTo>
                <a:lnTo>
                  <a:pt x="344" y="11"/>
                </a:lnTo>
                <a:lnTo>
                  <a:pt x="327" y="11"/>
                </a:lnTo>
                <a:lnTo>
                  <a:pt x="311" y="10"/>
                </a:lnTo>
                <a:lnTo>
                  <a:pt x="295" y="10"/>
                </a:lnTo>
                <a:lnTo>
                  <a:pt x="278" y="9"/>
                </a:lnTo>
                <a:lnTo>
                  <a:pt x="262" y="9"/>
                </a:lnTo>
                <a:lnTo>
                  <a:pt x="246" y="9"/>
                </a:lnTo>
                <a:lnTo>
                  <a:pt x="229" y="8"/>
                </a:lnTo>
                <a:lnTo>
                  <a:pt x="213" y="8"/>
                </a:lnTo>
                <a:lnTo>
                  <a:pt x="196" y="7"/>
                </a:lnTo>
                <a:lnTo>
                  <a:pt x="180" y="7"/>
                </a:lnTo>
                <a:lnTo>
                  <a:pt x="164" y="6"/>
                </a:lnTo>
                <a:lnTo>
                  <a:pt x="147" y="6"/>
                </a:lnTo>
                <a:lnTo>
                  <a:pt x="131" y="5"/>
                </a:lnTo>
                <a:lnTo>
                  <a:pt x="114" y="5"/>
                </a:lnTo>
                <a:lnTo>
                  <a:pt x="98" y="4"/>
                </a:lnTo>
                <a:lnTo>
                  <a:pt x="82" y="4"/>
                </a:lnTo>
                <a:lnTo>
                  <a:pt x="65" y="4"/>
                </a:lnTo>
                <a:lnTo>
                  <a:pt x="49" y="3"/>
                </a:lnTo>
                <a:lnTo>
                  <a:pt x="33" y="3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Freeform 71"/>
          <p:cNvSpPr/>
          <p:nvPr/>
        </p:nvSpPr>
        <p:spPr>
          <a:xfrm>
            <a:off x="2057400" y="4467225"/>
            <a:ext cx="3743325" cy="628650"/>
          </a:xfrm>
          <a:custGeom>
            <a:avLst/>
            <a:gdLst/>
            <a:ahLst/>
            <a:cxnLst/>
            <a:rect l="l" t="t" r="r" b="b"/>
            <a:pathLst>
              <a:path w="393" h="66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5"/>
                </a:lnTo>
                <a:lnTo>
                  <a:pt x="82" y="7"/>
                </a:lnTo>
                <a:lnTo>
                  <a:pt x="98" y="10"/>
                </a:lnTo>
                <a:lnTo>
                  <a:pt x="114" y="13"/>
                </a:lnTo>
                <a:lnTo>
                  <a:pt x="131" y="16"/>
                </a:lnTo>
                <a:lnTo>
                  <a:pt x="147" y="20"/>
                </a:lnTo>
                <a:lnTo>
                  <a:pt x="164" y="24"/>
                </a:lnTo>
                <a:lnTo>
                  <a:pt x="180" y="27"/>
                </a:lnTo>
                <a:lnTo>
                  <a:pt x="196" y="31"/>
                </a:lnTo>
                <a:lnTo>
                  <a:pt x="213" y="35"/>
                </a:lnTo>
                <a:lnTo>
                  <a:pt x="229" y="39"/>
                </a:lnTo>
                <a:lnTo>
                  <a:pt x="246" y="43"/>
                </a:lnTo>
                <a:lnTo>
                  <a:pt x="262" y="46"/>
                </a:lnTo>
                <a:lnTo>
                  <a:pt x="278" y="50"/>
                </a:lnTo>
                <a:lnTo>
                  <a:pt x="295" y="53"/>
                </a:lnTo>
                <a:lnTo>
                  <a:pt x="311" y="56"/>
                </a:lnTo>
                <a:lnTo>
                  <a:pt x="327" y="58"/>
                </a:lnTo>
                <a:lnTo>
                  <a:pt x="344" y="60"/>
                </a:lnTo>
                <a:lnTo>
                  <a:pt x="360" y="61"/>
                </a:lnTo>
                <a:lnTo>
                  <a:pt x="377" y="62"/>
                </a:lnTo>
                <a:lnTo>
                  <a:pt x="393" y="63"/>
                </a:lnTo>
                <a:lnTo>
                  <a:pt x="393" y="66"/>
                </a:lnTo>
                <a:lnTo>
                  <a:pt x="377" y="66"/>
                </a:lnTo>
                <a:lnTo>
                  <a:pt x="360" y="65"/>
                </a:lnTo>
                <a:lnTo>
                  <a:pt x="344" y="63"/>
                </a:lnTo>
                <a:lnTo>
                  <a:pt x="327" y="61"/>
                </a:lnTo>
                <a:lnTo>
                  <a:pt x="311" y="59"/>
                </a:lnTo>
                <a:lnTo>
                  <a:pt x="295" y="56"/>
                </a:lnTo>
                <a:lnTo>
                  <a:pt x="278" y="53"/>
                </a:lnTo>
                <a:lnTo>
                  <a:pt x="262" y="50"/>
                </a:lnTo>
                <a:lnTo>
                  <a:pt x="246" y="46"/>
                </a:lnTo>
                <a:lnTo>
                  <a:pt x="229" y="43"/>
                </a:lnTo>
                <a:lnTo>
                  <a:pt x="213" y="39"/>
                </a:lnTo>
                <a:lnTo>
                  <a:pt x="196" y="35"/>
                </a:lnTo>
                <a:lnTo>
                  <a:pt x="180" y="31"/>
                </a:lnTo>
                <a:lnTo>
                  <a:pt x="164" y="27"/>
                </a:lnTo>
                <a:lnTo>
                  <a:pt x="147" y="23"/>
                </a:lnTo>
                <a:lnTo>
                  <a:pt x="131" y="20"/>
                </a:lnTo>
                <a:lnTo>
                  <a:pt x="114" y="16"/>
                </a:lnTo>
                <a:lnTo>
                  <a:pt x="98" y="13"/>
                </a:lnTo>
                <a:lnTo>
                  <a:pt x="82" y="10"/>
                </a:lnTo>
                <a:lnTo>
                  <a:pt x="65" y="8"/>
                </a:lnTo>
                <a:lnTo>
                  <a:pt x="49" y="6"/>
                </a:lnTo>
                <a:lnTo>
                  <a:pt x="33" y="5"/>
                </a:lnTo>
                <a:lnTo>
                  <a:pt x="16" y="4"/>
                </a:lnTo>
                <a:lnTo>
                  <a:pt x="0" y="3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Freeform 72"/>
          <p:cNvSpPr/>
          <p:nvPr/>
        </p:nvSpPr>
        <p:spPr>
          <a:xfrm>
            <a:off x="2057400" y="4495800"/>
            <a:ext cx="3743325" cy="1152525"/>
          </a:xfrm>
          <a:custGeom>
            <a:avLst/>
            <a:gdLst/>
            <a:ahLst/>
            <a:cxnLst/>
            <a:rect l="l" t="t" r="r" b="b"/>
            <a:pathLst>
              <a:path w="393" h="121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5"/>
                </a:lnTo>
                <a:lnTo>
                  <a:pt x="65" y="9"/>
                </a:lnTo>
                <a:lnTo>
                  <a:pt x="82" y="14"/>
                </a:lnTo>
                <a:lnTo>
                  <a:pt x="98" y="19"/>
                </a:lnTo>
                <a:lnTo>
                  <a:pt x="114" y="24"/>
                </a:lnTo>
                <a:lnTo>
                  <a:pt x="131" y="31"/>
                </a:lnTo>
                <a:lnTo>
                  <a:pt x="147" y="37"/>
                </a:lnTo>
                <a:lnTo>
                  <a:pt x="164" y="44"/>
                </a:lnTo>
                <a:lnTo>
                  <a:pt x="180" y="52"/>
                </a:lnTo>
                <a:lnTo>
                  <a:pt x="196" y="59"/>
                </a:lnTo>
                <a:lnTo>
                  <a:pt x="213" y="66"/>
                </a:lnTo>
                <a:lnTo>
                  <a:pt x="229" y="73"/>
                </a:lnTo>
                <a:lnTo>
                  <a:pt x="246" y="80"/>
                </a:lnTo>
                <a:lnTo>
                  <a:pt x="262" y="87"/>
                </a:lnTo>
                <a:lnTo>
                  <a:pt x="278" y="93"/>
                </a:lnTo>
                <a:lnTo>
                  <a:pt x="295" y="99"/>
                </a:lnTo>
                <a:lnTo>
                  <a:pt x="311" y="104"/>
                </a:lnTo>
                <a:lnTo>
                  <a:pt x="327" y="108"/>
                </a:lnTo>
                <a:lnTo>
                  <a:pt x="344" y="112"/>
                </a:lnTo>
                <a:lnTo>
                  <a:pt x="360" y="115"/>
                </a:lnTo>
                <a:lnTo>
                  <a:pt x="377" y="117"/>
                </a:lnTo>
                <a:lnTo>
                  <a:pt x="393" y="117"/>
                </a:lnTo>
                <a:lnTo>
                  <a:pt x="393" y="121"/>
                </a:lnTo>
                <a:lnTo>
                  <a:pt x="377" y="120"/>
                </a:lnTo>
                <a:lnTo>
                  <a:pt x="360" y="118"/>
                </a:lnTo>
                <a:lnTo>
                  <a:pt x="344" y="116"/>
                </a:lnTo>
                <a:lnTo>
                  <a:pt x="327" y="112"/>
                </a:lnTo>
                <a:lnTo>
                  <a:pt x="311" y="108"/>
                </a:lnTo>
                <a:lnTo>
                  <a:pt x="295" y="102"/>
                </a:lnTo>
                <a:lnTo>
                  <a:pt x="278" y="97"/>
                </a:lnTo>
                <a:lnTo>
                  <a:pt x="262" y="90"/>
                </a:lnTo>
                <a:lnTo>
                  <a:pt x="246" y="84"/>
                </a:lnTo>
                <a:lnTo>
                  <a:pt x="229" y="77"/>
                </a:lnTo>
                <a:lnTo>
                  <a:pt x="213" y="70"/>
                </a:lnTo>
                <a:lnTo>
                  <a:pt x="196" y="62"/>
                </a:lnTo>
                <a:lnTo>
                  <a:pt x="180" y="55"/>
                </a:lnTo>
                <a:lnTo>
                  <a:pt x="164" y="48"/>
                </a:lnTo>
                <a:lnTo>
                  <a:pt x="147" y="41"/>
                </a:lnTo>
                <a:lnTo>
                  <a:pt x="131" y="34"/>
                </a:lnTo>
                <a:lnTo>
                  <a:pt x="114" y="28"/>
                </a:lnTo>
                <a:lnTo>
                  <a:pt x="98" y="22"/>
                </a:lnTo>
                <a:lnTo>
                  <a:pt x="82" y="17"/>
                </a:lnTo>
                <a:lnTo>
                  <a:pt x="65" y="13"/>
                </a:lnTo>
                <a:lnTo>
                  <a:pt x="49" y="9"/>
                </a:lnTo>
                <a:lnTo>
                  <a:pt x="33" y="6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2057400" y="4533900"/>
            <a:ext cx="3743325" cy="1666875"/>
          </a:xfrm>
          <a:custGeom>
            <a:avLst/>
            <a:gdLst/>
            <a:ahLst/>
            <a:cxnLst/>
            <a:rect l="l" t="t" r="r" b="b"/>
            <a:pathLst>
              <a:path w="393" h="175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7"/>
                </a:lnTo>
                <a:lnTo>
                  <a:pt x="65" y="13"/>
                </a:lnTo>
                <a:lnTo>
                  <a:pt x="82" y="19"/>
                </a:lnTo>
                <a:lnTo>
                  <a:pt x="98" y="27"/>
                </a:lnTo>
                <a:lnTo>
                  <a:pt x="114" y="35"/>
                </a:lnTo>
                <a:lnTo>
                  <a:pt x="131" y="44"/>
                </a:lnTo>
                <a:lnTo>
                  <a:pt x="147" y="54"/>
                </a:lnTo>
                <a:lnTo>
                  <a:pt x="164" y="64"/>
                </a:lnTo>
                <a:lnTo>
                  <a:pt x="180" y="75"/>
                </a:lnTo>
                <a:lnTo>
                  <a:pt x="196" y="85"/>
                </a:lnTo>
                <a:lnTo>
                  <a:pt x="213" y="96"/>
                </a:lnTo>
                <a:lnTo>
                  <a:pt x="229" y="106"/>
                </a:lnTo>
                <a:lnTo>
                  <a:pt x="246" y="116"/>
                </a:lnTo>
                <a:lnTo>
                  <a:pt x="262" y="126"/>
                </a:lnTo>
                <a:lnTo>
                  <a:pt x="278" y="135"/>
                </a:lnTo>
                <a:lnTo>
                  <a:pt x="295" y="144"/>
                </a:lnTo>
                <a:lnTo>
                  <a:pt x="311" y="151"/>
                </a:lnTo>
                <a:lnTo>
                  <a:pt x="327" y="158"/>
                </a:lnTo>
                <a:lnTo>
                  <a:pt x="344" y="163"/>
                </a:lnTo>
                <a:lnTo>
                  <a:pt x="360" y="167"/>
                </a:lnTo>
                <a:lnTo>
                  <a:pt x="377" y="170"/>
                </a:lnTo>
                <a:lnTo>
                  <a:pt x="393" y="170"/>
                </a:lnTo>
                <a:lnTo>
                  <a:pt x="393" y="175"/>
                </a:lnTo>
                <a:lnTo>
                  <a:pt x="377" y="174"/>
                </a:lnTo>
                <a:lnTo>
                  <a:pt x="360" y="171"/>
                </a:lnTo>
                <a:lnTo>
                  <a:pt x="344" y="167"/>
                </a:lnTo>
                <a:lnTo>
                  <a:pt x="327" y="162"/>
                </a:lnTo>
                <a:lnTo>
                  <a:pt x="311" y="156"/>
                </a:lnTo>
                <a:lnTo>
                  <a:pt x="295" y="148"/>
                </a:lnTo>
                <a:lnTo>
                  <a:pt x="278" y="140"/>
                </a:lnTo>
                <a:lnTo>
                  <a:pt x="262" y="130"/>
                </a:lnTo>
                <a:lnTo>
                  <a:pt x="246" y="121"/>
                </a:lnTo>
                <a:lnTo>
                  <a:pt x="229" y="111"/>
                </a:lnTo>
                <a:lnTo>
                  <a:pt x="213" y="100"/>
                </a:lnTo>
                <a:lnTo>
                  <a:pt x="196" y="89"/>
                </a:lnTo>
                <a:lnTo>
                  <a:pt x="180" y="79"/>
                </a:lnTo>
                <a:lnTo>
                  <a:pt x="164" y="68"/>
                </a:lnTo>
                <a:lnTo>
                  <a:pt x="147" y="58"/>
                </a:lnTo>
                <a:lnTo>
                  <a:pt x="131" y="48"/>
                </a:lnTo>
                <a:lnTo>
                  <a:pt x="114" y="39"/>
                </a:lnTo>
                <a:lnTo>
                  <a:pt x="98" y="31"/>
                </a:lnTo>
                <a:lnTo>
                  <a:pt x="82" y="23"/>
                </a:lnTo>
                <a:lnTo>
                  <a:pt x="65" y="17"/>
                </a:lnTo>
                <a:lnTo>
                  <a:pt x="49" y="12"/>
                </a:lnTo>
                <a:lnTo>
                  <a:pt x="33" y="8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0E72AE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2057400" y="1790700"/>
            <a:ext cx="3743325" cy="2876550"/>
          </a:xfrm>
          <a:custGeom>
            <a:avLst/>
            <a:gdLst/>
            <a:ahLst/>
            <a:cxnLst/>
            <a:rect l="l" t="t" r="r" b="b"/>
            <a:pathLst>
              <a:path w="393" h="302">
                <a:moveTo>
                  <a:pt x="0" y="298"/>
                </a:moveTo>
                <a:lnTo>
                  <a:pt x="16" y="297"/>
                </a:lnTo>
                <a:lnTo>
                  <a:pt x="33" y="292"/>
                </a:lnTo>
                <a:lnTo>
                  <a:pt x="49" y="285"/>
                </a:lnTo>
                <a:lnTo>
                  <a:pt x="65" y="276"/>
                </a:lnTo>
                <a:lnTo>
                  <a:pt x="82" y="265"/>
                </a:lnTo>
                <a:lnTo>
                  <a:pt x="98" y="252"/>
                </a:lnTo>
                <a:lnTo>
                  <a:pt x="114" y="237"/>
                </a:lnTo>
                <a:lnTo>
                  <a:pt x="131" y="221"/>
                </a:lnTo>
                <a:lnTo>
                  <a:pt x="147" y="204"/>
                </a:lnTo>
                <a:lnTo>
                  <a:pt x="164" y="186"/>
                </a:lnTo>
                <a:lnTo>
                  <a:pt x="180" y="168"/>
                </a:lnTo>
                <a:lnTo>
                  <a:pt x="196" y="149"/>
                </a:lnTo>
                <a:lnTo>
                  <a:pt x="213" y="131"/>
                </a:lnTo>
                <a:lnTo>
                  <a:pt x="229" y="112"/>
                </a:lnTo>
                <a:lnTo>
                  <a:pt x="246" y="95"/>
                </a:lnTo>
                <a:lnTo>
                  <a:pt x="262" y="78"/>
                </a:lnTo>
                <a:lnTo>
                  <a:pt x="278" y="62"/>
                </a:lnTo>
                <a:lnTo>
                  <a:pt x="295" y="47"/>
                </a:lnTo>
                <a:lnTo>
                  <a:pt x="311" y="34"/>
                </a:lnTo>
                <a:lnTo>
                  <a:pt x="327" y="23"/>
                </a:lnTo>
                <a:lnTo>
                  <a:pt x="344" y="13"/>
                </a:lnTo>
                <a:lnTo>
                  <a:pt x="360" y="6"/>
                </a:lnTo>
                <a:lnTo>
                  <a:pt x="377" y="2"/>
                </a:lnTo>
                <a:lnTo>
                  <a:pt x="393" y="0"/>
                </a:lnTo>
                <a:lnTo>
                  <a:pt x="393" y="4"/>
                </a:lnTo>
                <a:lnTo>
                  <a:pt x="377" y="6"/>
                </a:lnTo>
                <a:lnTo>
                  <a:pt x="360" y="10"/>
                </a:lnTo>
                <a:lnTo>
                  <a:pt x="344" y="17"/>
                </a:lnTo>
                <a:lnTo>
                  <a:pt x="327" y="26"/>
                </a:lnTo>
                <a:lnTo>
                  <a:pt x="311" y="38"/>
                </a:lnTo>
                <a:lnTo>
                  <a:pt x="295" y="51"/>
                </a:lnTo>
                <a:lnTo>
                  <a:pt x="278" y="66"/>
                </a:lnTo>
                <a:lnTo>
                  <a:pt x="262" y="82"/>
                </a:lnTo>
                <a:lnTo>
                  <a:pt x="246" y="99"/>
                </a:lnTo>
                <a:lnTo>
                  <a:pt x="229" y="116"/>
                </a:lnTo>
                <a:lnTo>
                  <a:pt x="213" y="135"/>
                </a:lnTo>
                <a:lnTo>
                  <a:pt x="196" y="153"/>
                </a:lnTo>
                <a:lnTo>
                  <a:pt x="180" y="172"/>
                </a:lnTo>
                <a:lnTo>
                  <a:pt x="164" y="190"/>
                </a:lnTo>
                <a:lnTo>
                  <a:pt x="147" y="208"/>
                </a:lnTo>
                <a:lnTo>
                  <a:pt x="131" y="225"/>
                </a:lnTo>
                <a:lnTo>
                  <a:pt x="114" y="241"/>
                </a:lnTo>
                <a:lnTo>
                  <a:pt x="98" y="256"/>
                </a:lnTo>
                <a:lnTo>
                  <a:pt x="82" y="269"/>
                </a:lnTo>
                <a:lnTo>
                  <a:pt x="65" y="280"/>
                </a:lnTo>
                <a:lnTo>
                  <a:pt x="49" y="289"/>
                </a:lnTo>
                <a:lnTo>
                  <a:pt x="33" y="296"/>
                </a:lnTo>
                <a:lnTo>
                  <a:pt x="16" y="301"/>
                </a:lnTo>
                <a:lnTo>
                  <a:pt x="0" y="302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2057400" y="2352675"/>
            <a:ext cx="3743325" cy="2352675"/>
          </a:xfrm>
          <a:custGeom>
            <a:avLst/>
            <a:gdLst/>
            <a:ahLst/>
            <a:cxnLst/>
            <a:rect l="l" t="t" r="r" b="b"/>
            <a:pathLst>
              <a:path w="393" h="247">
                <a:moveTo>
                  <a:pt x="0" y="243"/>
                </a:moveTo>
                <a:lnTo>
                  <a:pt x="16" y="242"/>
                </a:lnTo>
                <a:lnTo>
                  <a:pt x="33" y="238"/>
                </a:lnTo>
                <a:lnTo>
                  <a:pt x="49" y="233"/>
                </a:lnTo>
                <a:lnTo>
                  <a:pt x="65" y="225"/>
                </a:lnTo>
                <a:lnTo>
                  <a:pt x="82" y="216"/>
                </a:lnTo>
                <a:lnTo>
                  <a:pt x="98" y="205"/>
                </a:lnTo>
                <a:lnTo>
                  <a:pt x="114" y="193"/>
                </a:lnTo>
                <a:lnTo>
                  <a:pt x="131" y="180"/>
                </a:lnTo>
                <a:lnTo>
                  <a:pt x="147" y="166"/>
                </a:lnTo>
                <a:lnTo>
                  <a:pt x="164" y="152"/>
                </a:lnTo>
                <a:lnTo>
                  <a:pt x="180" y="137"/>
                </a:lnTo>
                <a:lnTo>
                  <a:pt x="196" y="121"/>
                </a:lnTo>
                <a:lnTo>
                  <a:pt x="213" y="106"/>
                </a:lnTo>
                <a:lnTo>
                  <a:pt x="229" y="91"/>
                </a:lnTo>
                <a:lnTo>
                  <a:pt x="246" y="77"/>
                </a:lnTo>
                <a:lnTo>
                  <a:pt x="262" y="63"/>
                </a:lnTo>
                <a:lnTo>
                  <a:pt x="278" y="50"/>
                </a:lnTo>
                <a:lnTo>
                  <a:pt x="295" y="38"/>
                </a:lnTo>
                <a:lnTo>
                  <a:pt x="311" y="27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9"/>
                </a:lnTo>
                <a:lnTo>
                  <a:pt x="344" y="14"/>
                </a:lnTo>
                <a:lnTo>
                  <a:pt x="327" y="22"/>
                </a:lnTo>
                <a:lnTo>
                  <a:pt x="311" y="31"/>
                </a:lnTo>
                <a:lnTo>
                  <a:pt x="295" y="42"/>
                </a:lnTo>
                <a:lnTo>
                  <a:pt x="278" y="54"/>
                </a:lnTo>
                <a:lnTo>
                  <a:pt x="262" y="67"/>
                </a:lnTo>
                <a:lnTo>
                  <a:pt x="246" y="81"/>
                </a:lnTo>
                <a:lnTo>
                  <a:pt x="229" y="95"/>
                </a:lnTo>
                <a:lnTo>
                  <a:pt x="213" y="110"/>
                </a:lnTo>
                <a:lnTo>
                  <a:pt x="196" y="125"/>
                </a:lnTo>
                <a:lnTo>
                  <a:pt x="180" y="141"/>
                </a:lnTo>
                <a:lnTo>
                  <a:pt x="164" y="156"/>
                </a:lnTo>
                <a:lnTo>
                  <a:pt x="147" y="170"/>
                </a:lnTo>
                <a:lnTo>
                  <a:pt x="131" y="184"/>
                </a:lnTo>
                <a:lnTo>
                  <a:pt x="114" y="197"/>
                </a:lnTo>
                <a:lnTo>
                  <a:pt x="98" y="209"/>
                </a:lnTo>
                <a:lnTo>
                  <a:pt x="82" y="220"/>
                </a:lnTo>
                <a:lnTo>
                  <a:pt x="65" y="229"/>
                </a:lnTo>
                <a:lnTo>
                  <a:pt x="49" y="237"/>
                </a:lnTo>
                <a:lnTo>
                  <a:pt x="33" y="242"/>
                </a:lnTo>
                <a:lnTo>
                  <a:pt x="16" y="246"/>
                </a:lnTo>
                <a:lnTo>
                  <a:pt x="0" y="247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reeform 76"/>
          <p:cNvSpPr/>
          <p:nvPr/>
        </p:nvSpPr>
        <p:spPr>
          <a:xfrm>
            <a:off x="2057400" y="2905125"/>
            <a:ext cx="3743325" cy="1828800"/>
          </a:xfrm>
          <a:custGeom>
            <a:avLst/>
            <a:gdLst/>
            <a:ahLst/>
            <a:cxnLst/>
            <a:rect l="l" t="t" r="r" b="b"/>
            <a:pathLst>
              <a:path w="393" h="192">
                <a:moveTo>
                  <a:pt x="0" y="189"/>
                </a:moveTo>
                <a:lnTo>
                  <a:pt x="16" y="188"/>
                </a:lnTo>
                <a:lnTo>
                  <a:pt x="33" y="185"/>
                </a:lnTo>
                <a:lnTo>
                  <a:pt x="49" y="181"/>
                </a:lnTo>
                <a:lnTo>
                  <a:pt x="65" y="175"/>
                </a:lnTo>
                <a:lnTo>
                  <a:pt x="82" y="168"/>
                </a:lnTo>
                <a:lnTo>
                  <a:pt x="98" y="160"/>
                </a:lnTo>
                <a:lnTo>
                  <a:pt x="114" y="150"/>
                </a:lnTo>
                <a:lnTo>
                  <a:pt x="131" y="140"/>
                </a:lnTo>
                <a:lnTo>
                  <a:pt x="147" y="129"/>
                </a:lnTo>
                <a:lnTo>
                  <a:pt x="164" y="118"/>
                </a:lnTo>
                <a:lnTo>
                  <a:pt x="180" y="106"/>
                </a:lnTo>
                <a:lnTo>
                  <a:pt x="196" y="95"/>
                </a:lnTo>
                <a:lnTo>
                  <a:pt x="213" y="83"/>
                </a:lnTo>
                <a:lnTo>
                  <a:pt x="229" y="71"/>
                </a:lnTo>
                <a:lnTo>
                  <a:pt x="246" y="60"/>
                </a:lnTo>
                <a:lnTo>
                  <a:pt x="262" y="49"/>
                </a:lnTo>
                <a:lnTo>
                  <a:pt x="278" y="39"/>
                </a:lnTo>
                <a:lnTo>
                  <a:pt x="295" y="30"/>
                </a:lnTo>
                <a:lnTo>
                  <a:pt x="311" y="22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7"/>
                </a:lnTo>
                <a:lnTo>
                  <a:pt x="344" y="12"/>
                </a:lnTo>
                <a:lnTo>
                  <a:pt x="327" y="17"/>
                </a:lnTo>
                <a:lnTo>
                  <a:pt x="311" y="25"/>
                </a:lnTo>
                <a:lnTo>
                  <a:pt x="295" y="33"/>
                </a:lnTo>
                <a:lnTo>
                  <a:pt x="278" y="42"/>
                </a:lnTo>
                <a:lnTo>
                  <a:pt x="262" y="52"/>
                </a:lnTo>
                <a:lnTo>
                  <a:pt x="246" y="63"/>
                </a:lnTo>
                <a:lnTo>
                  <a:pt x="229" y="74"/>
                </a:lnTo>
                <a:lnTo>
                  <a:pt x="213" y="86"/>
                </a:lnTo>
                <a:lnTo>
                  <a:pt x="196" y="98"/>
                </a:lnTo>
                <a:lnTo>
                  <a:pt x="180" y="110"/>
                </a:lnTo>
                <a:lnTo>
                  <a:pt x="164" y="121"/>
                </a:lnTo>
                <a:lnTo>
                  <a:pt x="147" y="132"/>
                </a:lnTo>
                <a:lnTo>
                  <a:pt x="131" y="143"/>
                </a:lnTo>
                <a:lnTo>
                  <a:pt x="114" y="153"/>
                </a:lnTo>
                <a:lnTo>
                  <a:pt x="98" y="163"/>
                </a:lnTo>
                <a:lnTo>
                  <a:pt x="82" y="171"/>
                </a:lnTo>
                <a:lnTo>
                  <a:pt x="65" y="178"/>
                </a:lnTo>
                <a:lnTo>
                  <a:pt x="49" y="184"/>
                </a:lnTo>
                <a:lnTo>
                  <a:pt x="33" y="188"/>
                </a:lnTo>
                <a:lnTo>
                  <a:pt x="16" y="191"/>
                </a:lnTo>
                <a:lnTo>
                  <a:pt x="0" y="192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2057400" y="3457575"/>
            <a:ext cx="3743325" cy="1304925"/>
          </a:xfrm>
          <a:custGeom>
            <a:avLst/>
            <a:gdLst/>
            <a:ahLst/>
            <a:cxnLst/>
            <a:rect l="l" t="t" r="r" b="b"/>
            <a:pathLst>
              <a:path w="393" h="137">
                <a:moveTo>
                  <a:pt x="0" y="134"/>
                </a:moveTo>
                <a:lnTo>
                  <a:pt x="16" y="134"/>
                </a:lnTo>
                <a:lnTo>
                  <a:pt x="33" y="132"/>
                </a:lnTo>
                <a:lnTo>
                  <a:pt x="49" y="128"/>
                </a:lnTo>
                <a:lnTo>
                  <a:pt x="65" y="124"/>
                </a:lnTo>
                <a:lnTo>
                  <a:pt x="82" y="119"/>
                </a:lnTo>
                <a:lnTo>
                  <a:pt x="98" y="113"/>
                </a:lnTo>
                <a:lnTo>
                  <a:pt x="114" y="107"/>
                </a:lnTo>
                <a:lnTo>
                  <a:pt x="131" y="99"/>
                </a:lnTo>
                <a:lnTo>
                  <a:pt x="147" y="92"/>
                </a:lnTo>
                <a:lnTo>
                  <a:pt x="164" y="84"/>
                </a:lnTo>
                <a:lnTo>
                  <a:pt x="180" y="75"/>
                </a:lnTo>
                <a:lnTo>
                  <a:pt x="196" y="67"/>
                </a:lnTo>
                <a:lnTo>
                  <a:pt x="213" y="59"/>
                </a:lnTo>
                <a:lnTo>
                  <a:pt x="229" y="50"/>
                </a:lnTo>
                <a:lnTo>
                  <a:pt x="246" y="42"/>
                </a:lnTo>
                <a:lnTo>
                  <a:pt x="262" y="35"/>
                </a:lnTo>
                <a:lnTo>
                  <a:pt x="278" y="27"/>
                </a:lnTo>
                <a:lnTo>
                  <a:pt x="295" y="21"/>
                </a:lnTo>
                <a:lnTo>
                  <a:pt x="311" y="15"/>
                </a:lnTo>
                <a:lnTo>
                  <a:pt x="327" y="10"/>
                </a:lnTo>
                <a:lnTo>
                  <a:pt x="344" y="5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8"/>
                </a:lnTo>
                <a:lnTo>
                  <a:pt x="327" y="12"/>
                </a:lnTo>
                <a:lnTo>
                  <a:pt x="311" y="17"/>
                </a:lnTo>
                <a:lnTo>
                  <a:pt x="295" y="23"/>
                </a:lnTo>
                <a:lnTo>
                  <a:pt x="278" y="30"/>
                </a:lnTo>
                <a:lnTo>
                  <a:pt x="262" y="37"/>
                </a:lnTo>
                <a:lnTo>
                  <a:pt x="246" y="45"/>
                </a:lnTo>
                <a:lnTo>
                  <a:pt x="229" y="53"/>
                </a:lnTo>
                <a:lnTo>
                  <a:pt x="213" y="61"/>
                </a:lnTo>
                <a:lnTo>
                  <a:pt x="196" y="70"/>
                </a:lnTo>
                <a:lnTo>
                  <a:pt x="180" y="78"/>
                </a:lnTo>
                <a:lnTo>
                  <a:pt x="164" y="86"/>
                </a:lnTo>
                <a:lnTo>
                  <a:pt x="147" y="94"/>
                </a:lnTo>
                <a:lnTo>
                  <a:pt x="131" y="102"/>
                </a:lnTo>
                <a:lnTo>
                  <a:pt x="114" y="109"/>
                </a:lnTo>
                <a:lnTo>
                  <a:pt x="98" y="116"/>
                </a:lnTo>
                <a:lnTo>
                  <a:pt x="82" y="122"/>
                </a:lnTo>
                <a:lnTo>
                  <a:pt x="65" y="127"/>
                </a:lnTo>
                <a:lnTo>
                  <a:pt x="49" y="131"/>
                </a:lnTo>
                <a:lnTo>
                  <a:pt x="33" y="134"/>
                </a:lnTo>
                <a:lnTo>
                  <a:pt x="16" y="136"/>
                </a:lnTo>
                <a:lnTo>
                  <a:pt x="0" y="137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Freeform 78"/>
          <p:cNvSpPr/>
          <p:nvPr/>
        </p:nvSpPr>
        <p:spPr>
          <a:xfrm>
            <a:off x="2057400" y="3990975"/>
            <a:ext cx="3743325" cy="800100"/>
          </a:xfrm>
          <a:custGeom>
            <a:avLst/>
            <a:gdLst/>
            <a:ahLst/>
            <a:cxnLst/>
            <a:rect l="l" t="t" r="r" b="b"/>
            <a:pathLst>
              <a:path w="393" h="84">
                <a:moveTo>
                  <a:pt x="0" y="81"/>
                </a:moveTo>
                <a:lnTo>
                  <a:pt x="16" y="81"/>
                </a:lnTo>
                <a:lnTo>
                  <a:pt x="33" y="79"/>
                </a:lnTo>
                <a:lnTo>
                  <a:pt x="49" y="78"/>
                </a:lnTo>
                <a:lnTo>
                  <a:pt x="65" y="75"/>
                </a:lnTo>
                <a:lnTo>
                  <a:pt x="82" y="72"/>
                </a:lnTo>
                <a:lnTo>
                  <a:pt x="98" y="68"/>
                </a:lnTo>
                <a:lnTo>
                  <a:pt x="114" y="64"/>
                </a:lnTo>
                <a:lnTo>
                  <a:pt x="131" y="60"/>
                </a:lnTo>
                <a:lnTo>
                  <a:pt x="147" y="55"/>
                </a:lnTo>
                <a:lnTo>
                  <a:pt x="164" y="51"/>
                </a:lnTo>
                <a:lnTo>
                  <a:pt x="180" y="46"/>
                </a:lnTo>
                <a:lnTo>
                  <a:pt x="196" y="41"/>
                </a:lnTo>
                <a:lnTo>
                  <a:pt x="213" y="36"/>
                </a:lnTo>
                <a:lnTo>
                  <a:pt x="229" y="31"/>
                </a:lnTo>
                <a:lnTo>
                  <a:pt x="246" y="26"/>
                </a:lnTo>
                <a:lnTo>
                  <a:pt x="262" y="21"/>
                </a:lnTo>
                <a:lnTo>
                  <a:pt x="278" y="17"/>
                </a:lnTo>
                <a:lnTo>
                  <a:pt x="295" y="13"/>
                </a:lnTo>
                <a:lnTo>
                  <a:pt x="311" y="9"/>
                </a:lnTo>
                <a:lnTo>
                  <a:pt x="327" y="6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5"/>
                </a:lnTo>
                <a:lnTo>
                  <a:pt x="344" y="7"/>
                </a:lnTo>
                <a:lnTo>
                  <a:pt x="327" y="10"/>
                </a:lnTo>
                <a:lnTo>
                  <a:pt x="311" y="13"/>
                </a:lnTo>
                <a:lnTo>
                  <a:pt x="295" y="16"/>
                </a:lnTo>
                <a:lnTo>
                  <a:pt x="278" y="20"/>
                </a:lnTo>
                <a:lnTo>
                  <a:pt x="262" y="25"/>
                </a:lnTo>
                <a:lnTo>
                  <a:pt x="246" y="29"/>
                </a:lnTo>
                <a:lnTo>
                  <a:pt x="229" y="34"/>
                </a:lnTo>
                <a:lnTo>
                  <a:pt x="213" y="39"/>
                </a:lnTo>
                <a:lnTo>
                  <a:pt x="196" y="44"/>
                </a:lnTo>
                <a:lnTo>
                  <a:pt x="180" y="49"/>
                </a:lnTo>
                <a:lnTo>
                  <a:pt x="164" y="54"/>
                </a:lnTo>
                <a:lnTo>
                  <a:pt x="147" y="59"/>
                </a:lnTo>
                <a:lnTo>
                  <a:pt x="131" y="63"/>
                </a:lnTo>
                <a:lnTo>
                  <a:pt x="114" y="68"/>
                </a:lnTo>
                <a:lnTo>
                  <a:pt x="98" y="72"/>
                </a:lnTo>
                <a:lnTo>
                  <a:pt x="82" y="75"/>
                </a:lnTo>
                <a:lnTo>
                  <a:pt x="65" y="78"/>
                </a:lnTo>
                <a:lnTo>
                  <a:pt x="49" y="81"/>
                </a:lnTo>
                <a:lnTo>
                  <a:pt x="33" y="83"/>
                </a:lnTo>
                <a:lnTo>
                  <a:pt x="16" y="84"/>
                </a:lnTo>
                <a:lnTo>
                  <a:pt x="0" y="84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Freeform 79"/>
          <p:cNvSpPr/>
          <p:nvPr/>
        </p:nvSpPr>
        <p:spPr>
          <a:xfrm>
            <a:off x="2057400" y="4543425"/>
            <a:ext cx="3743325" cy="285750"/>
          </a:xfrm>
          <a:custGeom>
            <a:avLst/>
            <a:gdLst/>
            <a:ahLst/>
            <a:cxnLst/>
            <a:rect l="l" t="t" r="r" b="b"/>
            <a:pathLst>
              <a:path w="393" h="30">
                <a:moveTo>
                  <a:pt x="0" y="26"/>
                </a:moveTo>
                <a:lnTo>
                  <a:pt x="16" y="26"/>
                </a:lnTo>
                <a:lnTo>
                  <a:pt x="33" y="26"/>
                </a:lnTo>
                <a:lnTo>
                  <a:pt x="49" y="25"/>
                </a:lnTo>
                <a:lnTo>
                  <a:pt x="65" y="24"/>
                </a:lnTo>
                <a:lnTo>
                  <a:pt x="82" y="23"/>
                </a:lnTo>
                <a:lnTo>
                  <a:pt x="98" y="22"/>
                </a:lnTo>
                <a:lnTo>
                  <a:pt x="114" y="21"/>
                </a:lnTo>
                <a:lnTo>
                  <a:pt x="131" y="19"/>
                </a:lnTo>
                <a:lnTo>
                  <a:pt x="147" y="18"/>
                </a:lnTo>
                <a:lnTo>
                  <a:pt x="164" y="16"/>
                </a:lnTo>
                <a:lnTo>
                  <a:pt x="180" y="15"/>
                </a:lnTo>
                <a:lnTo>
                  <a:pt x="196" y="13"/>
                </a:lnTo>
                <a:lnTo>
                  <a:pt x="213" y="12"/>
                </a:lnTo>
                <a:lnTo>
                  <a:pt x="229" y="10"/>
                </a:lnTo>
                <a:lnTo>
                  <a:pt x="246" y="8"/>
                </a:lnTo>
                <a:lnTo>
                  <a:pt x="262" y="7"/>
                </a:lnTo>
                <a:lnTo>
                  <a:pt x="278" y="6"/>
                </a:lnTo>
                <a:lnTo>
                  <a:pt x="295" y="4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4"/>
                </a:lnTo>
                <a:lnTo>
                  <a:pt x="344" y="5"/>
                </a:lnTo>
                <a:lnTo>
                  <a:pt x="327" y="6"/>
                </a:lnTo>
                <a:lnTo>
                  <a:pt x="311" y="7"/>
                </a:lnTo>
                <a:lnTo>
                  <a:pt x="295" y="8"/>
                </a:lnTo>
                <a:lnTo>
                  <a:pt x="278" y="9"/>
                </a:lnTo>
                <a:lnTo>
                  <a:pt x="262" y="11"/>
                </a:lnTo>
                <a:lnTo>
                  <a:pt x="246" y="12"/>
                </a:lnTo>
                <a:lnTo>
                  <a:pt x="229" y="14"/>
                </a:lnTo>
                <a:lnTo>
                  <a:pt x="213" y="15"/>
                </a:lnTo>
                <a:lnTo>
                  <a:pt x="196" y="17"/>
                </a:lnTo>
                <a:lnTo>
                  <a:pt x="180" y="19"/>
                </a:lnTo>
                <a:lnTo>
                  <a:pt x="164" y="20"/>
                </a:lnTo>
                <a:lnTo>
                  <a:pt x="147" y="22"/>
                </a:lnTo>
                <a:lnTo>
                  <a:pt x="131" y="23"/>
                </a:lnTo>
                <a:lnTo>
                  <a:pt x="114" y="25"/>
                </a:lnTo>
                <a:lnTo>
                  <a:pt x="98" y="26"/>
                </a:lnTo>
                <a:lnTo>
                  <a:pt x="82" y="27"/>
                </a:lnTo>
                <a:lnTo>
                  <a:pt x="65" y="28"/>
                </a:lnTo>
                <a:lnTo>
                  <a:pt x="49" y="29"/>
                </a:lnTo>
                <a:lnTo>
                  <a:pt x="33" y="29"/>
                </a:lnTo>
                <a:lnTo>
                  <a:pt x="1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Freeform 80"/>
          <p:cNvSpPr/>
          <p:nvPr/>
        </p:nvSpPr>
        <p:spPr>
          <a:xfrm>
            <a:off x="2057400" y="4829175"/>
            <a:ext cx="3743325" cy="295275"/>
          </a:xfrm>
          <a:custGeom>
            <a:avLst/>
            <a:gdLst/>
            <a:ahLst/>
            <a:cxnLst/>
            <a:rect l="l" t="t" r="r" b="b"/>
            <a:pathLst>
              <a:path w="393" h="31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4"/>
                </a:lnTo>
                <a:lnTo>
                  <a:pt x="114" y="6"/>
                </a:lnTo>
                <a:lnTo>
                  <a:pt x="131" y="7"/>
                </a:lnTo>
                <a:lnTo>
                  <a:pt x="147" y="9"/>
                </a:lnTo>
                <a:lnTo>
                  <a:pt x="164" y="11"/>
                </a:lnTo>
                <a:lnTo>
                  <a:pt x="180" y="12"/>
                </a:lnTo>
                <a:lnTo>
                  <a:pt x="196" y="14"/>
                </a:lnTo>
                <a:lnTo>
                  <a:pt x="213" y="16"/>
                </a:lnTo>
                <a:lnTo>
                  <a:pt x="229" y="18"/>
                </a:lnTo>
                <a:lnTo>
                  <a:pt x="246" y="19"/>
                </a:lnTo>
                <a:lnTo>
                  <a:pt x="262" y="21"/>
                </a:lnTo>
                <a:lnTo>
                  <a:pt x="278" y="22"/>
                </a:lnTo>
                <a:lnTo>
                  <a:pt x="295" y="24"/>
                </a:lnTo>
                <a:lnTo>
                  <a:pt x="311" y="25"/>
                </a:lnTo>
                <a:lnTo>
                  <a:pt x="327" y="26"/>
                </a:lnTo>
                <a:lnTo>
                  <a:pt x="344" y="27"/>
                </a:lnTo>
                <a:lnTo>
                  <a:pt x="360" y="28"/>
                </a:lnTo>
                <a:lnTo>
                  <a:pt x="377" y="28"/>
                </a:lnTo>
                <a:lnTo>
                  <a:pt x="393" y="28"/>
                </a:lnTo>
                <a:lnTo>
                  <a:pt x="393" y="31"/>
                </a:lnTo>
                <a:lnTo>
                  <a:pt x="377" y="31"/>
                </a:lnTo>
                <a:lnTo>
                  <a:pt x="360" y="30"/>
                </a:lnTo>
                <a:lnTo>
                  <a:pt x="344" y="30"/>
                </a:lnTo>
                <a:lnTo>
                  <a:pt x="327" y="29"/>
                </a:lnTo>
                <a:lnTo>
                  <a:pt x="311" y="28"/>
                </a:lnTo>
                <a:lnTo>
                  <a:pt x="295" y="26"/>
                </a:lnTo>
                <a:lnTo>
                  <a:pt x="278" y="25"/>
                </a:lnTo>
                <a:lnTo>
                  <a:pt x="262" y="24"/>
                </a:lnTo>
                <a:lnTo>
                  <a:pt x="246" y="22"/>
                </a:lnTo>
                <a:lnTo>
                  <a:pt x="229" y="20"/>
                </a:lnTo>
                <a:lnTo>
                  <a:pt x="213" y="19"/>
                </a:lnTo>
                <a:lnTo>
                  <a:pt x="196" y="17"/>
                </a:lnTo>
                <a:lnTo>
                  <a:pt x="180" y="15"/>
                </a:lnTo>
                <a:lnTo>
                  <a:pt x="164" y="13"/>
                </a:lnTo>
                <a:lnTo>
                  <a:pt x="147" y="12"/>
                </a:lnTo>
                <a:lnTo>
                  <a:pt x="131" y="10"/>
                </a:lnTo>
                <a:lnTo>
                  <a:pt x="114" y="9"/>
                </a:lnTo>
                <a:lnTo>
                  <a:pt x="98" y="7"/>
                </a:lnTo>
                <a:lnTo>
                  <a:pt x="82" y="6"/>
                </a:lnTo>
                <a:lnTo>
                  <a:pt x="65" y="5"/>
                </a:lnTo>
                <a:lnTo>
                  <a:pt x="49" y="4"/>
                </a:lnTo>
                <a:lnTo>
                  <a:pt x="33" y="3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reeform 81"/>
          <p:cNvSpPr/>
          <p:nvPr/>
        </p:nvSpPr>
        <p:spPr>
          <a:xfrm>
            <a:off x="2057400" y="4857750"/>
            <a:ext cx="3743325" cy="819150"/>
          </a:xfrm>
          <a:custGeom>
            <a:avLst/>
            <a:gdLst/>
            <a:ahLst/>
            <a:cxnLst/>
            <a:rect l="l" t="t" r="r" b="b"/>
            <a:pathLst>
              <a:path w="393" h="86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6"/>
                </a:lnTo>
                <a:lnTo>
                  <a:pt x="82" y="9"/>
                </a:lnTo>
                <a:lnTo>
                  <a:pt x="98" y="13"/>
                </a:lnTo>
                <a:lnTo>
                  <a:pt x="114" y="17"/>
                </a:lnTo>
                <a:lnTo>
                  <a:pt x="131" y="21"/>
                </a:lnTo>
                <a:lnTo>
                  <a:pt x="147" y="26"/>
                </a:lnTo>
                <a:lnTo>
                  <a:pt x="164" y="31"/>
                </a:lnTo>
                <a:lnTo>
                  <a:pt x="180" y="36"/>
                </a:lnTo>
                <a:lnTo>
                  <a:pt x="196" y="41"/>
                </a:lnTo>
                <a:lnTo>
                  <a:pt x="213" y="46"/>
                </a:lnTo>
                <a:lnTo>
                  <a:pt x="229" y="51"/>
                </a:lnTo>
                <a:lnTo>
                  <a:pt x="246" y="56"/>
                </a:lnTo>
                <a:lnTo>
                  <a:pt x="262" y="61"/>
                </a:lnTo>
                <a:lnTo>
                  <a:pt x="278" y="66"/>
                </a:lnTo>
                <a:lnTo>
                  <a:pt x="295" y="70"/>
                </a:lnTo>
                <a:lnTo>
                  <a:pt x="311" y="73"/>
                </a:lnTo>
                <a:lnTo>
                  <a:pt x="327" y="76"/>
                </a:lnTo>
                <a:lnTo>
                  <a:pt x="344" y="79"/>
                </a:lnTo>
                <a:lnTo>
                  <a:pt x="360" y="81"/>
                </a:lnTo>
                <a:lnTo>
                  <a:pt x="377" y="82"/>
                </a:lnTo>
                <a:lnTo>
                  <a:pt x="393" y="83"/>
                </a:lnTo>
                <a:lnTo>
                  <a:pt x="393" y="86"/>
                </a:lnTo>
                <a:lnTo>
                  <a:pt x="377" y="85"/>
                </a:lnTo>
                <a:lnTo>
                  <a:pt x="360" y="84"/>
                </a:lnTo>
                <a:lnTo>
                  <a:pt x="344" y="82"/>
                </a:lnTo>
                <a:lnTo>
                  <a:pt x="327" y="80"/>
                </a:lnTo>
                <a:lnTo>
                  <a:pt x="311" y="76"/>
                </a:lnTo>
                <a:lnTo>
                  <a:pt x="295" y="73"/>
                </a:lnTo>
                <a:lnTo>
                  <a:pt x="278" y="69"/>
                </a:lnTo>
                <a:lnTo>
                  <a:pt x="262" y="64"/>
                </a:lnTo>
                <a:lnTo>
                  <a:pt x="246" y="60"/>
                </a:lnTo>
                <a:lnTo>
                  <a:pt x="229" y="55"/>
                </a:lnTo>
                <a:lnTo>
                  <a:pt x="213" y="50"/>
                </a:lnTo>
                <a:lnTo>
                  <a:pt x="196" y="44"/>
                </a:lnTo>
                <a:lnTo>
                  <a:pt x="180" y="39"/>
                </a:lnTo>
                <a:lnTo>
                  <a:pt x="164" y="34"/>
                </a:lnTo>
                <a:lnTo>
                  <a:pt x="147" y="29"/>
                </a:lnTo>
                <a:lnTo>
                  <a:pt x="131" y="24"/>
                </a:lnTo>
                <a:lnTo>
                  <a:pt x="114" y="20"/>
                </a:lnTo>
                <a:lnTo>
                  <a:pt x="98" y="16"/>
                </a:lnTo>
                <a:lnTo>
                  <a:pt x="82" y="12"/>
                </a:lnTo>
                <a:lnTo>
                  <a:pt x="65" y="9"/>
                </a:lnTo>
                <a:lnTo>
                  <a:pt x="49" y="6"/>
                </a:lnTo>
                <a:lnTo>
                  <a:pt x="33" y="5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Freeform 82"/>
          <p:cNvSpPr/>
          <p:nvPr/>
        </p:nvSpPr>
        <p:spPr>
          <a:xfrm>
            <a:off x="2057400" y="4886325"/>
            <a:ext cx="3743325" cy="1352550"/>
          </a:xfrm>
          <a:custGeom>
            <a:avLst/>
            <a:gdLst/>
            <a:ahLst/>
            <a:cxnLst/>
            <a:rect l="l" t="t" r="r" b="b"/>
            <a:pathLst>
              <a:path w="393" h="142">
                <a:moveTo>
                  <a:pt x="0" y="0"/>
                </a:moveTo>
                <a:lnTo>
                  <a:pt x="16" y="1"/>
                </a:lnTo>
                <a:lnTo>
                  <a:pt x="33" y="3"/>
                </a:lnTo>
                <a:lnTo>
                  <a:pt x="49" y="6"/>
                </a:lnTo>
                <a:lnTo>
                  <a:pt x="65" y="10"/>
                </a:lnTo>
                <a:lnTo>
                  <a:pt x="82" y="15"/>
                </a:lnTo>
                <a:lnTo>
                  <a:pt x="98" y="21"/>
                </a:lnTo>
                <a:lnTo>
                  <a:pt x="114" y="28"/>
                </a:lnTo>
                <a:lnTo>
                  <a:pt x="131" y="36"/>
                </a:lnTo>
                <a:lnTo>
                  <a:pt x="147" y="43"/>
                </a:lnTo>
                <a:lnTo>
                  <a:pt x="164" y="52"/>
                </a:lnTo>
                <a:lnTo>
                  <a:pt x="180" y="60"/>
                </a:lnTo>
                <a:lnTo>
                  <a:pt x="196" y="69"/>
                </a:lnTo>
                <a:lnTo>
                  <a:pt x="213" y="77"/>
                </a:lnTo>
                <a:lnTo>
                  <a:pt x="229" y="86"/>
                </a:lnTo>
                <a:lnTo>
                  <a:pt x="246" y="94"/>
                </a:lnTo>
                <a:lnTo>
                  <a:pt x="262" y="102"/>
                </a:lnTo>
                <a:lnTo>
                  <a:pt x="278" y="109"/>
                </a:lnTo>
                <a:lnTo>
                  <a:pt x="295" y="116"/>
                </a:lnTo>
                <a:lnTo>
                  <a:pt x="311" y="122"/>
                </a:lnTo>
                <a:lnTo>
                  <a:pt x="327" y="127"/>
                </a:lnTo>
                <a:lnTo>
                  <a:pt x="344" y="132"/>
                </a:lnTo>
                <a:lnTo>
                  <a:pt x="360" y="135"/>
                </a:lnTo>
                <a:lnTo>
                  <a:pt x="377" y="137"/>
                </a:lnTo>
                <a:lnTo>
                  <a:pt x="393" y="138"/>
                </a:lnTo>
                <a:lnTo>
                  <a:pt x="393" y="142"/>
                </a:lnTo>
                <a:lnTo>
                  <a:pt x="377" y="141"/>
                </a:lnTo>
                <a:lnTo>
                  <a:pt x="360" y="139"/>
                </a:lnTo>
                <a:lnTo>
                  <a:pt x="344" y="136"/>
                </a:lnTo>
                <a:lnTo>
                  <a:pt x="327" y="132"/>
                </a:lnTo>
                <a:lnTo>
                  <a:pt x="311" y="127"/>
                </a:lnTo>
                <a:lnTo>
                  <a:pt x="295" y="121"/>
                </a:lnTo>
                <a:lnTo>
                  <a:pt x="278" y="114"/>
                </a:lnTo>
                <a:lnTo>
                  <a:pt x="262" y="106"/>
                </a:lnTo>
                <a:lnTo>
                  <a:pt x="246" y="99"/>
                </a:lnTo>
                <a:lnTo>
                  <a:pt x="229" y="90"/>
                </a:lnTo>
                <a:lnTo>
                  <a:pt x="213" y="82"/>
                </a:lnTo>
                <a:lnTo>
                  <a:pt x="196" y="73"/>
                </a:lnTo>
                <a:lnTo>
                  <a:pt x="180" y="65"/>
                </a:lnTo>
                <a:lnTo>
                  <a:pt x="164" y="56"/>
                </a:lnTo>
                <a:lnTo>
                  <a:pt x="147" y="48"/>
                </a:lnTo>
                <a:lnTo>
                  <a:pt x="131" y="40"/>
                </a:lnTo>
                <a:lnTo>
                  <a:pt x="114" y="33"/>
                </a:lnTo>
                <a:lnTo>
                  <a:pt x="98" y="26"/>
                </a:lnTo>
                <a:lnTo>
                  <a:pt x="82" y="20"/>
                </a:lnTo>
                <a:lnTo>
                  <a:pt x="65" y="15"/>
                </a:lnTo>
                <a:lnTo>
                  <a:pt x="49" y="10"/>
                </a:lnTo>
                <a:lnTo>
                  <a:pt x="33" y="7"/>
                </a:lnTo>
                <a:lnTo>
                  <a:pt x="16" y="5"/>
                </a:lnTo>
                <a:lnTo>
                  <a:pt x="0" y="4"/>
                </a:lnTo>
                <a:close/>
              </a:path>
            </a:pathLst>
          </a:custGeom>
          <a:solidFill>
            <a:srgbClr val="A86F00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Freeform 83"/>
          <p:cNvSpPr/>
          <p:nvPr/>
        </p:nvSpPr>
        <p:spPr>
          <a:xfrm>
            <a:off x="2057400" y="1828800"/>
            <a:ext cx="3743325" cy="3190875"/>
          </a:xfrm>
          <a:custGeom>
            <a:avLst/>
            <a:gdLst/>
            <a:ahLst/>
            <a:cxnLst/>
            <a:rect l="l" t="t" r="r" b="b"/>
            <a:pathLst>
              <a:path w="393" h="335">
                <a:moveTo>
                  <a:pt x="0" y="331"/>
                </a:moveTo>
                <a:lnTo>
                  <a:pt x="16" y="330"/>
                </a:lnTo>
                <a:lnTo>
                  <a:pt x="33" y="325"/>
                </a:lnTo>
                <a:lnTo>
                  <a:pt x="49" y="317"/>
                </a:lnTo>
                <a:lnTo>
                  <a:pt x="65" y="307"/>
                </a:lnTo>
                <a:lnTo>
                  <a:pt x="82" y="294"/>
                </a:lnTo>
                <a:lnTo>
                  <a:pt x="98" y="280"/>
                </a:lnTo>
                <a:lnTo>
                  <a:pt x="114" y="263"/>
                </a:lnTo>
                <a:lnTo>
                  <a:pt x="131" y="246"/>
                </a:lnTo>
                <a:lnTo>
                  <a:pt x="147" y="227"/>
                </a:lnTo>
                <a:lnTo>
                  <a:pt x="164" y="207"/>
                </a:lnTo>
                <a:lnTo>
                  <a:pt x="180" y="187"/>
                </a:lnTo>
                <a:lnTo>
                  <a:pt x="196" y="166"/>
                </a:lnTo>
                <a:lnTo>
                  <a:pt x="213" y="145"/>
                </a:lnTo>
                <a:lnTo>
                  <a:pt x="229" y="125"/>
                </a:lnTo>
                <a:lnTo>
                  <a:pt x="246" y="105"/>
                </a:lnTo>
                <a:lnTo>
                  <a:pt x="262" y="86"/>
                </a:lnTo>
                <a:lnTo>
                  <a:pt x="278" y="68"/>
                </a:lnTo>
                <a:lnTo>
                  <a:pt x="295" y="52"/>
                </a:lnTo>
                <a:lnTo>
                  <a:pt x="311" y="37"/>
                </a:lnTo>
                <a:lnTo>
                  <a:pt x="327" y="25"/>
                </a:lnTo>
                <a:lnTo>
                  <a:pt x="344" y="15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4"/>
                </a:lnTo>
                <a:lnTo>
                  <a:pt x="377" y="6"/>
                </a:lnTo>
                <a:lnTo>
                  <a:pt x="360" y="11"/>
                </a:lnTo>
                <a:lnTo>
                  <a:pt x="344" y="18"/>
                </a:lnTo>
                <a:lnTo>
                  <a:pt x="327" y="29"/>
                </a:lnTo>
                <a:lnTo>
                  <a:pt x="311" y="41"/>
                </a:lnTo>
                <a:lnTo>
                  <a:pt x="295" y="56"/>
                </a:lnTo>
                <a:lnTo>
                  <a:pt x="278" y="72"/>
                </a:lnTo>
                <a:lnTo>
                  <a:pt x="262" y="90"/>
                </a:lnTo>
                <a:lnTo>
                  <a:pt x="246" y="109"/>
                </a:lnTo>
                <a:lnTo>
                  <a:pt x="229" y="129"/>
                </a:lnTo>
                <a:lnTo>
                  <a:pt x="213" y="149"/>
                </a:lnTo>
                <a:lnTo>
                  <a:pt x="196" y="169"/>
                </a:lnTo>
                <a:lnTo>
                  <a:pt x="180" y="190"/>
                </a:lnTo>
                <a:lnTo>
                  <a:pt x="164" y="210"/>
                </a:lnTo>
                <a:lnTo>
                  <a:pt x="147" y="230"/>
                </a:lnTo>
                <a:lnTo>
                  <a:pt x="131" y="249"/>
                </a:lnTo>
                <a:lnTo>
                  <a:pt x="114" y="267"/>
                </a:lnTo>
                <a:lnTo>
                  <a:pt x="98" y="283"/>
                </a:lnTo>
                <a:lnTo>
                  <a:pt x="82" y="298"/>
                </a:lnTo>
                <a:lnTo>
                  <a:pt x="65" y="310"/>
                </a:lnTo>
                <a:lnTo>
                  <a:pt x="49" y="321"/>
                </a:lnTo>
                <a:lnTo>
                  <a:pt x="33" y="328"/>
                </a:lnTo>
                <a:lnTo>
                  <a:pt x="16" y="333"/>
                </a:lnTo>
                <a:lnTo>
                  <a:pt x="0" y="335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2057400" y="2390775"/>
            <a:ext cx="3743325" cy="2657475"/>
          </a:xfrm>
          <a:custGeom>
            <a:avLst/>
            <a:gdLst/>
            <a:ahLst/>
            <a:cxnLst/>
            <a:rect l="l" t="t" r="r" b="b"/>
            <a:pathLst>
              <a:path w="393" h="279">
                <a:moveTo>
                  <a:pt x="0" y="276"/>
                </a:moveTo>
                <a:lnTo>
                  <a:pt x="16" y="275"/>
                </a:lnTo>
                <a:lnTo>
                  <a:pt x="33" y="271"/>
                </a:lnTo>
                <a:lnTo>
                  <a:pt x="49" y="264"/>
                </a:lnTo>
                <a:lnTo>
                  <a:pt x="65" y="256"/>
                </a:lnTo>
                <a:lnTo>
                  <a:pt x="82" y="245"/>
                </a:lnTo>
                <a:lnTo>
                  <a:pt x="98" y="233"/>
                </a:lnTo>
                <a:lnTo>
                  <a:pt x="114" y="219"/>
                </a:lnTo>
                <a:lnTo>
                  <a:pt x="131" y="204"/>
                </a:lnTo>
                <a:lnTo>
                  <a:pt x="147" y="189"/>
                </a:lnTo>
                <a:lnTo>
                  <a:pt x="164" y="172"/>
                </a:lnTo>
                <a:lnTo>
                  <a:pt x="180" y="155"/>
                </a:lnTo>
                <a:lnTo>
                  <a:pt x="196" y="138"/>
                </a:lnTo>
                <a:lnTo>
                  <a:pt x="213" y="121"/>
                </a:lnTo>
                <a:lnTo>
                  <a:pt x="229" y="104"/>
                </a:lnTo>
                <a:lnTo>
                  <a:pt x="246" y="87"/>
                </a:lnTo>
                <a:lnTo>
                  <a:pt x="262" y="71"/>
                </a:lnTo>
                <a:lnTo>
                  <a:pt x="278" y="57"/>
                </a:lnTo>
                <a:lnTo>
                  <a:pt x="295" y="43"/>
                </a:lnTo>
                <a:lnTo>
                  <a:pt x="311" y="31"/>
                </a:lnTo>
                <a:lnTo>
                  <a:pt x="327" y="20"/>
                </a:lnTo>
                <a:lnTo>
                  <a:pt x="344" y="12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5"/>
                </a:lnTo>
                <a:lnTo>
                  <a:pt x="327" y="23"/>
                </a:lnTo>
                <a:lnTo>
                  <a:pt x="311" y="34"/>
                </a:lnTo>
                <a:lnTo>
                  <a:pt x="295" y="46"/>
                </a:lnTo>
                <a:lnTo>
                  <a:pt x="278" y="59"/>
                </a:lnTo>
                <a:lnTo>
                  <a:pt x="262" y="74"/>
                </a:lnTo>
                <a:lnTo>
                  <a:pt x="246" y="90"/>
                </a:lnTo>
                <a:lnTo>
                  <a:pt x="229" y="107"/>
                </a:lnTo>
                <a:lnTo>
                  <a:pt x="213" y="124"/>
                </a:lnTo>
                <a:lnTo>
                  <a:pt x="196" y="141"/>
                </a:lnTo>
                <a:lnTo>
                  <a:pt x="180" y="158"/>
                </a:lnTo>
                <a:lnTo>
                  <a:pt x="164" y="175"/>
                </a:lnTo>
                <a:lnTo>
                  <a:pt x="147" y="192"/>
                </a:lnTo>
                <a:lnTo>
                  <a:pt x="131" y="207"/>
                </a:lnTo>
                <a:lnTo>
                  <a:pt x="114" y="222"/>
                </a:lnTo>
                <a:lnTo>
                  <a:pt x="98" y="236"/>
                </a:lnTo>
                <a:lnTo>
                  <a:pt x="82" y="248"/>
                </a:lnTo>
                <a:lnTo>
                  <a:pt x="65" y="258"/>
                </a:lnTo>
                <a:lnTo>
                  <a:pt x="49" y="267"/>
                </a:lnTo>
                <a:lnTo>
                  <a:pt x="33" y="273"/>
                </a:lnTo>
                <a:lnTo>
                  <a:pt x="16" y="278"/>
                </a:lnTo>
                <a:lnTo>
                  <a:pt x="0" y="279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reeform 85"/>
          <p:cNvSpPr/>
          <p:nvPr/>
        </p:nvSpPr>
        <p:spPr>
          <a:xfrm>
            <a:off x="2057400" y="2933700"/>
            <a:ext cx="3743325" cy="2143125"/>
          </a:xfrm>
          <a:custGeom>
            <a:avLst/>
            <a:gdLst/>
            <a:ahLst/>
            <a:cxnLst/>
            <a:rect l="l" t="t" r="r" b="b"/>
            <a:pathLst>
              <a:path w="393" h="225">
                <a:moveTo>
                  <a:pt x="0" y="222"/>
                </a:moveTo>
                <a:lnTo>
                  <a:pt x="16" y="221"/>
                </a:lnTo>
                <a:lnTo>
                  <a:pt x="33" y="218"/>
                </a:lnTo>
                <a:lnTo>
                  <a:pt x="49" y="212"/>
                </a:lnTo>
                <a:lnTo>
                  <a:pt x="65" y="206"/>
                </a:lnTo>
                <a:lnTo>
                  <a:pt x="82" y="197"/>
                </a:lnTo>
                <a:lnTo>
                  <a:pt x="98" y="187"/>
                </a:lnTo>
                <a:lnTo>
                  <a:pt x="114" y="176"/>
                </a:lnTo>
                <a:lnTo>
                  <a:pt x="131" y="165"/>
                </a:lnTo>
                <a:lnTo>
                  <a:pt x="147" y="152"/>
                </a:lnTo>
                <a:lnTo>
                  <a:pt x="164" y="139"/>
                </a:lnTo>
                <a:lnTo>
                  <a:pt x="180" y="125"/>
                </a:lnTo>
                <a:lnTo>
                  <a:pt x="196" y="111"/>
                </a:lnTo>
                <a:lnTo>
                  <a:pt x="213" y="97"/>
                </a:lnTo>
                <a:lnTo>
                  <a:pt x="229" y="84"/>
                </a:lnTo>
                <a:lnTo>
                  <a:pt x="246" y="71"/>
                </a:lnTo>
                <a:lnTo>
                  <a:pt x="262" y="58"/>
                </a:lnTo>
                <a:lnTo>
                  <a:pt x="278" y="46"/>
                </a:lnTo>
                <a:lnTo>
                  <a:pt x="295" y="35"/>
                </a:lnTo>
                <a:lnTo>
                  <a:pt x="311" y="25"/>
                </a:lnTo>
                <a:lnTo>
                  <a:pt x="327" y="17"/>
                </a:lnTo>
                <a:lnTo>
                  <a:pt x="344" y="10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3"/>
                </a:lnTo>
                <a:lnTo>
                  <a:pt x="327" y="20"/>
                </a:lnTo>
                <a:lnTo>
                  <a:pt x="311" y="28"/>
                </a:lnTo>
                <a:lnTo>
                  <a:pt x="295" y="38"/>
                </a:lnTo>
                <a:lnTo>
                  <a:pt x="278" y="49"/>
                </a:lnTo>
                <a:lnTo>
                  <a:pt x="262" y="61"/>
                </a:lnTo>
                <a:lnTo>
                  <a:pt x="246" y="73"/>
                </a:lnTo>
                <a:lnTo>
                  <a:pt x="229" y="87"/>
                </a:lnTo>
                <a:lnTo>
                  <a:pt x="213" y="100"/>
                </a:lnTo>
                <a:lnTo>
                  <a:pt x="196" y="114"/>
                </a:lnTo>
                <a:lnTo>
                  <a:pt x="180" y="128"/>
                </a:lnTo>
                <a:lnTo>
                  <a:pt x="164" y="141"/>
                </a:lnTo>
                <a:lnTo>
                  <a:pt x="147" y="155"/>
                </a:lnTo>
                <a:lnTo>
                  <a:pt x="131" y="167"/>
                </a:lnTo>
                <a:lnTo>
                  <a:pt x="114" y="179"/>
                </a:lnTo>
                <a:lnTo>
                  <a:pt x="98" y="190"/>
                </a:lnTo>
                <a:lnTo>
                  <a:pt x="82" y="200"/>
                </a:lnTo>
                <a:lnTo>
                  <a:pt x="65" y="208"/>
                </a:lnTo>
                <a:lnTo>
                  <a:pt x="49" y="215"/>
                </a:lnTo>
                <a:lnTo>
                  <a:pt x="33" y="220"/>
                </a:lnTo>
                <a:lnTo>
                  <a:pt x="16" y="224"/>
                </a:lnTo>
                <a:lnTo>
                  <a:pt x="0" y="225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Freeform 86"/>
          <p:cNvSpPr/>
          <p:nvPr/>
        </p:nvSpPr>
        <p:spPr>
          <a:xfrm>
            <a:off x="2057400" y="3476625"/>
            <a:ext cx="3743325" cy="1628775"/>
          </a:xfrm>
          <a:custGeom>
            <a:avLst/>
            <a:gdLst/>
            <a:ahLst/>
            <a:cxnLst/>
            <a:rect l="l" t="t" r="r" b="b"/>
            <a:pathLst>
              <a:path w="393" h="171">
                <a:moveTo>
                  <a:pt x="0" y="168"/>
                </a:moveTo>
                <a:lnTo>
                  <a:pt x="16" y="167"/>
                </a:lnTo>
                <a:lnTo>
                  <a:pt x="33" y="164"/>
                </a:lnTo>
                <a:lnTo>
                  <a:pt x="49" y="160"/>
                </a:lnTo>
                <a:lnTo>
                  <a:pt x="65" y="155"/>
                </a:lnTo>
                <a:lnTo>
                  <a:pt x="82" y="149"/>
                </a:lnTo>
                <a:lnTo>
                  <a:pt x="98" y="142"/>
                </a:lnTo>
                <a:lnTo>
                  <a:pt x="114" y="133"/>
                </a:lnTo>
                <a:lnTo>
                  <a:pt x="131" y="124"/>
                </a:lnTo>
                <a:lnTo>
                  <a:pt x="147" y="115"/>
                </a:lnTo>
                <a:lnTo>
                  <a:pt x="164" y="105"/>
                </a:lnTo>
                <a:lnTo>
                  <a:pt x="180" y="94"/>
                </a:lnTo>
                <a:lnTo>
                  <a:pt x="196" y="84"/>
                </a:lnTo>
                <a:lnTo>
                  <a:pt x="213" y="74"/>
                </a:lnTo>
                <a:lnTo>
                  <a:pt x="229" y="63"/>
                </a:lnTo>
                <a:lnTo>
                  <a:pt x="246" y="53"/>
                </a:lnTo>
                <a:lnTo>
                  <a:pt x="262" y="44"/>
                </a:lnTo>
                <a:lnTo>
                  <a:pt x="278" y="35"/>
                </a:lnTo>
                <a:lnTo>
                  <a:pt x="295" y="27"/>
                </a:lnTo>
                <a:lnTo>
                  <a:pt x="311" y="19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4"/>
                </a:lnTo>
                <a:lnTo>
                  <a:pt x="377" y="5"/>
                </a:lnTo>
                <a:lnTo>
                  <a:pt x="360" y="7"/>
                </a:lnTo>
                <a:lnTo>
                  <a:pt x="344" y="11"/>
                </a:lnTo>
                <a:lnTo>
                  <a:pt x="327" y="16"/>
                </a:lnTo>
                <a:lnTo>
                  <a:pt x="311" y="22"/>
                </a:lnTo>
                <a:lnTo>
                  <a:pt x="295" y="30"/>
                </a:lnTo>
                <a:lnTo>
                  <a:pt x="278" y="38"/>
                </a:lnTo>
                <a:lnTo>
                  <a:pt x="262" y="47"/>
                </a:lnTo>
                <a:lnTo>
                  <a:pt x="246" y="57"/>
                </a:lnTo>
                <a:lnTo>
                  <a:pt x="229" y="67"/>
                </a:lnTo>
                <a:lnTo>
                  <a:pt x="213" y="77"/>
                </a:lnTo>
                <a:lnTo>
                  <a:pt x="196" y="87"/>
                </a:lnTo>
                <a:lnTo>
                  <a:pt x="180" y="98"/>
                </a:lnTo>
                <a:lnTo>
                  <a:pt x="164" y="108"/>
                </a:lnTo>
                <a:lnTo>
                  <a:pt x="147" y="118"/>
                </a:lnTo>
                <a:lnTo>
                  <a:pt x="131" y="128"/>
                </a:lnTo>
                <a:lnTo>
                  <a:pt x="114" y="137"/>
                </a:lnTo>
                <a:lnTo>
                  <a:pt x="98" y="145"/>
                </a:lnTo>
                <a:lnTo>
                  <a:pt x="82" y="152"/>
                </a:lnTo>
                <a:lnTo>
                  <a:pt x="65" y="159"/>
                </a:lnTo>
                <a:lnTo>
                  <a:pt x="49" y="164"/>
                </a:lnTo>
                <a:lnTo>
                  <a:pt x="33" y="168"/>
                </a:lnTo>
                <a:lnTo>
                  <a:pt x="16" y="170"/>
                </a:lnTo>
                <a:lnTo>
                  <a:pt x="0" y="171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Freeform 87"/>
          <p:cNvSpPr/>
          <p:nvPr/>
        </p:nvSpPr>
        <p:spPr>
          <a:xfrm>
            <a:off x="2057400" y="4029075"/>
            <a:ext cx="3743325" cy="1114425"/>
          </a:xfrm>
          <a:custGeom>
            <a:avLst/>
            <a:gdLst/>
            <a:ahLst/>
            <a:cxnLst/>
            <a:rect l="l" t="t" r="r" b="b"/>
            <a:pathLst>
              <a:path w="393" h="117">
                <a:moveTo>
                  <a:pt x="0" y="113"/>
                </a:moveTo>
                <a:lnTo>
                  <a:pt x="16" y="112"/>
                </a:lnTo>
                <a:lnTo>
                  <a:pt x="33" y="111"/>
                </a:lnTo>
                <a:lnTo>
                  <a:pt x="49" y="108"/>
                </a:lnTo>
                <a:lnTo>
                  <a:pt x="65" y="105"/>
                </a:lnTo>
                <a:lnTo>
                  <a:pt x="82" y="100"/>
                </a:lnTo>
                <a:lnTo>
                  <a:pt x="98" y="95"/>
                </a:lnTo>
                <a:lnTo>
                  <a:pt x="114" y="90"/>
                </a:lnTo>
                <a:lnTo>
                  <a:pt x="131" y="84"/>
                </a:lnTo>
                <a:lnTo>
                  <a:pt x="147" y="77"/>
                </a:lnTo>
                <a:lnTo>
                  <a:pt x="164" y="70"/>
                </a:lnTo>
                <a:lnTo>
                  <a:pt x="180" y="63"/>
                </a:lnTo>
                <a:lnTo>
                  <a:pt x="196" y="56"/>
                </a:lnTo>
                <a:lnTo>
                  <a:pt x="213" y="49"/>
                </a:lnTo>
                <a:lnTo>
                  <a:pt x="229" y="42"/>
                </a:lnTo>
                <a:lnTo>
                  <a:pt x="246" y="36"/>
                </a:lnTo>
                <a:lnTo>
                  <a:pt x="262" y="29"/>
                </a:lnTo>
                <a:lnTo>
                  <a:pt x="278" y="23"/>
                </a:lnTo>
                <a:lnTo>
                  <a:pt x="295" y="17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6"/>
                </a:lnTo>
                <a:lnTo>
                  <a:pt x="344" y="9"/>
                </a:lnTo>
                <a:lnTo>
                  <a:pt x="327" y="12"/>
                </a:lnTo>
                <a:lnTo>
                  <a:pt x="311" y="16"/>
                </a:lnTo>
                <a:lnTo>
                  <a:pt x="295" y="21"/>
                </a:lnTo>
                <a:lnTo>
                  <a:pt x="278" y="27"/>
                </a:lnTo>
                <a:lnTo>
                  <a:pt x="262" y="33"/>
                </a:lnTo>
                <a:lnTo>
                  <a:pt x="246" y="39"/>
                </a:lnTo>
                <a:lnTo>
                  <a:pt x="229" y="46"/>
                </a:lnTo>
                <a:lnTo>
                  <a:pt x="213" y="53"/>
                </a:lnTo>
                <a:lnTo>
                  <a:pt x="196" y="60"/>
                </a:lnTo>
                <a:lnTo>
                  <a:pt x="180" y="67"/>
                </a:lnTo>
                <a:lnTo>
                  <a:pt x="164" y="74"/>
                </a:lnTo>
                <a:lnTo>
                  <a:pt x="147" y="81"/>
                </a:lnTo>
                <a:lnTo>
                  <a:pt x="131" y="88"/>
                </a:lnTo>
                <a:lnTo>
                  <a:pt x="114" y="94"/>
                </a:lnTo>
                <a:lnTo>
                  <a:pt x="98" y="99"/>
                </a:lnTo>
                <a:lnTo>
                  <a:pt x="82" y="104"/>
                </a:lnTo>
                <a:lnTo>
                  <a:pt x="65" y="109"/>
                </a:lnTo>
                <a:lnTo>
                  <a:pt x="49" y="112"/>
                </a:lnTo>
                <a:lnTo>
                  <a:pt x="33" y="115"/>
                </a:lnTo>
                <a:lnTo>
                  <a:pt x="16" y="116"/>
                </a:lnTo>
                <a:lnTo>
                  <a:pt x="0" y="117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Freeform 88"/>
          <p:cNvSpPr/>
          <p:nvPr/>
        </p:nvSpPr>
        <p:spPr>
          <a:xfrm>
            <a:off x="2057400" y="4581525"/>
            <a:ext cx="3743325" cy="590550"/>
          </a:xfrm>
          <a:custGeom>
            <a:avLst/>
            <a:gdLst/>
            <a:ahLst/>
            <a:cxnLst/>
            <a:rect l="l" t="t" r="r" b="b"/>
            <a:pathLst>
              <a:path w="393" h="62">
                <a:moveTo>
                  <a:pt x="0" y="59"/>
                </a:moveTo>
                <a:lnTo>
                  <a:pt x="16" y="59"/>
                </a:lnTo>
                <a:lnTo>
                  <a:pt x="33" y="58"/>
                </a:lnTo>
                <a:lnTo>
                  <a:pt x="49" y="56"/>
                </a:lnTo>
                <a:lnTo>
                  <a:pt x="65" y="55"/>
                </a:lnTo>
                <a:lnTo>
                  <a:pt x="82" y="52"/>
                </a:lnTo>
                <a:lnTo>
                  <a:pt x="98" y="50"/>
                </a:lnTo>
                <a:lnTo>
                  <a:pt x="114" y="47"/>
                </a:lnTo>
                <a:lnTo>
                  <a:pt x="131" y="44"/>
                </a:lnTo>
                <a:lnTo>
                  <a:pt x="147" y="40"/>
                </a:lnTo>
                <a:lnTo>
                  <a:pt x="164" y="37"/>
                </a:lnTo>
                <a:lnTo>
                  <a:pt x="180" y="33"/>
                </a:lnTo>
                <a:lnTo>
                  <a:pt x="196" y="29"/>
                </a:lnTo>
                <a:lnTo>
                  <a:pt x="213" y="26"/>
                </a:lnTo>
                <a:lnTo>
                  <a:pt x="229" y="22"/>
                </a:lnTo>
                <a:lnTo>
                  <a:pt x="246" y="19"/>
                </a:lnTo>
                <a:lnTo>
                  <a:pt x="262" y="15"/>
                </a:lnTo>
                <a:lnTo>
                  <a:pt x="278" y="12"/>
                </a:lnTo>
                <a:lnTo>
                  <a:pt x="295" y="9"/>
                </a:lnTo>
                <a:lnTo>
                  <a:pt x="311" y="7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4"/>
                </a:lnTo>
                <a:lnTo>
                  <a:pt x="344" y="5"/>
                </a:lnTo>
                <a:lnTo>
                  <a:pt x="327" y="7"/>
                </a:lnTo>
                <a:lnTo>
                  <a:pt x="311" y="9"/>
                </a:lnTo>
                <a:lnTo>
                  <a:pt x="295" y="12"/>
                </a:lnTo>
                <a:lnTo>
                  <a:pt x="278" y="15"/>
                </a:lnTo>
                <a:lnTo>
                  <a:pt x="262" y="18"/>
                </a:lnTo>
                <a:lnTo>
                  <a:pt x="246" y="21"/>
                </a:lnTo>
                <a:lnTo>
                  <a:pt x="229" y="25"/>
                </a:lnTo>
                <a:lnTo>
                  <a:pt x="213" y="28"/>
                </a:lnTo>
                <a:lnTo>
                  <a:pt x="196" y="32"/>
                </a:lnTo>
                <a:lnTo>
                  <a:pt x="180" y="36"/>
                </a:lnTo>
                <a:lnTo>
                  <a:pt x="164" y="39"/>
                </a:lnTo>
                <a:lnTo>
                  <a:pt x="147" y="43"/>
                </a:lnTo>
                <a:lnTo>
                  <a:pt x="131" y="46"/>
                </a:lnTo>
                <a:lnTo>
                  <a:pt x="114" y="50"/>
                </a:lnTo>
                <a:lnTo>
                  <a:pt x="98" y="52"/>
                </a:lnTo>
                <a:lnTo>
                  <a:pt x="82" y="55"/>
                </a:lnTo>
                <a:lnTo>
                  <a:pt x="65" y="57"/>
                </a:lnTo>
                <a:lnTo>
                  <a:pt x="49" y="59"/>
                </a:lnTo>
                <a:lnTo>
                  <a:pt x="33" y="61"/>
                </a:lnTo>
                <a:lnTo>
                  <a:pt x="16" y="61"/>
                </a:lnTo>
                <a:lnTo>
                  <a:pt x="0" y="62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Freeform 89"/>
          <p:cNvSpPr/>
          <p:nvPr/>
        </p:nvSpPr>
        <p:spPr>
          <a:xfrm>
            <a:off x="2057400" y="5124450"/>
            <a:ext cx="3743325" cy="85725"/>
          </a:xfrm>
          <a:custGeom>
            <a:avLst/>
            <a:gdLst/>
            <a:ahLst/>
            <a:cxnLst/>
            <a:rect l="l" t="t" r="r" b="b"/>
            <a:pathLst>
              <a:path w="393" h="9">
                <a:moveTo>
                  <a:pt x="0" y="5"/>
                </a:moveTo>
                <a:lnTo>
                  <a:pt x="16" y="5"/>
                </a:lnTo>
                <a:lnTo>
                  <a:pt x="33" y="5"/>
                </a:lnTo>
                <a:lnTo>
                  <a:pt x="49" y="4"/>
                </a:lnTo>
                <a:lnTo>
                  <a:pt x="65" y="4"/>
                </a:lnTo>
                <a:lnTo>
                  <a:pt x="82" y="4"/>
                </a:lnTo>
                <a:lnTo>
                  <a:pt x="98" y="4"/>
                </a:lnTo>
                <a:lnTo>
                  <a:pt x="114" y="4"/>
                </a:lnTo>
                <a:lnTo>
                  <a:pt x="131" y="3"/>
                </a:lnTo>
                <a:lnTo>
                  <a:pt x="147" y="3"/>
                </a:lnTo>
                <a:lnTo>
                  <a:pt x="164" y="3"/>
                </a:lnTo>
                <a:lnTo>
                  <a:pt x="180" y="3"/>
                </a:lnTo>
                <a:lnTo>
                  <a:pt x="196" y="2"/>
                </a:lnTo>
                <a:lnTo>
                  <a:pt x="213" y="2"/>
                </a:lnTo>
                <a:lnTo>
                  <a:pt x="229" y="2"/>
                </a:lnTo>
                <a:lnTo>
                  <a:pt x="246" y="1"/>
                </a:lnTo>
                <a:lnTo>
                  <a:pt x="262" y="1"/>
                </a:lnTo>
                <a:lnTo>
                  <a:pt x="278" y="1"/>
                </a:lnTo>
                <a:lnTo>
                  <a:pt x="295" y="1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4"/>
                </a:lnTo>
                <a:lnTo>
                  <a:pt x="377" y="4"/>
                </a:lnTo>
                <a:lnTo>
                  <a:pt x="360" y="4"/>
                </a:lnTo>
                <a:lnTo>
                  <a:pt x="344" y="4"/>
                </a:lnTo>
                <a:lnTo>
                  <a:pt x="327" y="4"/>
                </a:lnTo>
                <a:lnTo>
                  <a:pt x="311" y="4"/>
                </a:lnTo>
                <a:lnTo>
                  <a:pt x="295" y="4"/>
                </a:lnTo>
                <a:lnTo>
                  <a:pt x="278" y="5"/>
                </a:lnTo>
                <a:lnTo>
                  <a:pt x="262" y="5"/>
                </a:lnTo>
                <a:lnTo>
                  <a:pt x="246" y="5"/>
                </a:lnTo>
                <a:lnTo>
                  <a:pt x="229" y="6"/>
                </a:lnTo>
                <a:lnTo>
                  <a:pt x="213" y="6"/>
                </a:lnTo>
                <a:lnTo>
                  <a:pt x="196" y="6"/>
                </a:lnTo>
                <a:lnTo>
                  <a:pt x="180" y="6"/>
                </a:lnTo>
                <a:lnTo>
                  <a:pt x="164" y="7"/>
                </a:lnTo>
                <a:lnTo>
                  <a:pt x="147" y="7"/>
                </a:lnTo>
                <a:lnTo>
                  <a:pt x="131" y="7"/>
                </a:lnTo>
                <a:lnTo>
                  <a:pt x="114" y="8"/>
                </a:lnTo>
                <a:lnTo>
                  <a:pt x="98" y="8"/>
                </a:lnTo>
                <a:lnTo>
                  <a:pt x="82" y="8"/>
                </a:lnTo>
                <a:lnTo>
                  <a:pt x="65" y="8"/>
                </a:lnTo>
                <a:lnTo>
                  <a:pt x="49" y="8"/>
                </a:lnTo>
                <a:lnTo>
                  <a:pt x="33" y="8"/>
                </a:lnTo>
                <a:lnTo>
                  <a:pt x="16" y="8"/>
                </a:lnTo>
                <a:lnTo>
                  <a:pt x="0" y="9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Freeform 90"/>
          <p:cNvSpPr/>
          <p:nvPr/>
        </p:nvSpPr>
        <p:spPr>
          <a:xfrm>
            <a:off x="2057400" y="5210175"/>
            <a:ext cx="3743325" cy="485775"/>
          </a:xfrm>
          <a:custGeom>
            <a:avLst/>
            <a:gdLst/>
            <a:ahLst/>
            <a:cxnLst/>
            <a:rect l="l" t="t" r="r" b="b"/>
            <a:pathLst>
              <a:path w="393" h="51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2"/>
                </a:lnTo>
                <a:lnTo>
                  <a:pt x="65" y="3"/>
                </a:lnTo>
                <a:lnTo>
                  <a:pt x="82" y="5"/>
                </a:lnTo>
                <a:lnTo>
                  <a:pt x="98" y="7"/>
                </a:lnTo>
                <a:lnTo>
                  <a:pt x="114" y="10"/>
                </a:lnTo>
                <a:lnTo>
                  <a:pt x="131" y="12"/>
                </a:lnTo>
                <a:lnTo>
                  <a:pt x="147" y="15"/>
                </a:lnTo>
                <a:lnTo>
                  <a:pt x="164" y="18"/>
                </a:lnTo>
                <a:lnTo>
                  <a:pt x="180" y="21"/>
                </a:lnTo>
                <a:lnTo>
                  <a:pt x="196" y="24"/>
                </a:lnTo>
                <a:lnTo>
                  <a:pt x="213" y="27"/>
                </a:lnTo>
                <a:lnTo>
                  <a:pt x="229" y="30"/>
                </a:lnTo>
                <a:lnTo>
                  <a:pt x="246" y="33"/>
                </a:lnTo>
                <a:lnTo>
                  <a:pt x="262" y="36"/>
                </a:lnTo>
                <a:lnTo>
                  <a:pt x="278" y="39"/>
                </a:lnTo>
                <a:lnTo>
                  <a:pt x="295" y="41"/>
                </a:lnTo>
                <a:lnTo>
                  <a:pt x="311" y="43"/>
                </a:lnTo>
                <a:lnTo>
                  <a:pt x="327" y="45"/>
                </a:lnTo>
                <a:lnTo>
                  <a:pt x="344" y="47"/>
                </a:lnTo>
                <a:lnTo>
                  <a:pt x="360" y="48"/>
                </a:lnTo>
                <a:lnTo>
                  <a:pt x="377" y="49"/>
                </a:lnTo>
                <a:lnTo>
                  <a:pt x="393" y="49"/>
                </a:lnTo>
                <a:lnTo>
                  <a:pt x="393" y="51"/>
                </a:lnTo>
                <a:lnTo>
                  <a:pt x="377" y="51"/>
                </a:lnTo>
                <a:lnTo>
                  <a:pt x="360" y="50"/>
                </a:lnTo>
                <a:lnTo>
                  <a:pt x="344" y="49"/>
                </a:lnTo>
                <a:lnTo>
                  <a:pt x="327" y="48"/>
                </a:lnTo>
                <a:lnTo>
                  <a:pt x="311" y="46"/>
                </a:lnTo>
                <a:lnTo>
                  <a:pt x="295" y="44"/>
                </a:lnTo>
                <a:lnTo>
                  <a:pt x="278" y="41"/>
                </a:lnTo>
                <a:lnTo>
                  <a:pt x="262" y="39"/>
                </a:lnTo>
                <a:lnTo>
                  <a:pt x="246" y="36"/>
                </a:lnTo>
                <a:lnTo>
                  <a:pt x="229" y="33"/>
                </a:lnTo>
                <a:lnTo>
                  <a:pt x="213" y="30"/>
                </a:lnTo>
                <a:lnTo>
                  <a:pt x="196" y="27"/>
                </a:lnTo>
                <a:lnTo>
                  <a:pt x="180" y="24"/>
                </a:lnTo>
                <a:lnTo>
                  <a:pt x="164" y="21"/>
                </a:lnTo>
                <a:lnTo>
                  <a:pt x="147" y="18"/>
                </a:lnTo>
                <a:lnTo>
                  <a:pt x="131" y="15"/>
                </a:lnTo>
                <a:lnTo>
                  <a:pt x="114" y="12"/>
                </a:lnTo>
                <a:lnTo>
                  <a:pt x="98" y="10"/>
                </a:lnTo>
                <a:lnTo>
                  <a:pt x="82" y="8"/>
                </a:lnTo>
                <a:lnTo>
                  <a:pt x="65" y="6"/>
                </a:lnTo>
                <a:lnTo>
                  <a:pt x="49" y="4"/>
                </a:lnTo>
                <a:lnTo>
                  <a:pt x="33" y="3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Freeform 91"/>
          <p:cNvSpPr/>
          <p:nvPr/>
        </p:nvSpPr>
        <p:spPr>
          <a:xfrm>
            <a:off x="2057400" y="5229225"/>
            <a:ext cx="3743325" cy="1047750"/>
          </a:xfrm>
          <a:custGeom>
            <a:avLst/>
            <a:gdLst/>
            <a:ahLst/>
            <a:cxnLst/>
            <a:rect l="l" t="t" r="r" b="b"/>
            <a:pathLst>
              <a:path w="393" h="110">
                <a:moveTo>
                  <a:pt x="0" y="0"/>
                </a:moveTo>
                <a:lnTo>
                  <a:pt x="16" y="1"/>
                </a:lnTo>
                <a:lnTo>
                  <a:pt x="33" y="2"/>
                </a:lnTo>
                <a:lnTo>
                  <a:pt x="49" y="5"/>
                </a:lnTo>
                <a:lnTo>
                  <a:pt x="65" y="8"/>
                </a:lnTo>
                <a:lnTo>
                  <a:pt x="82" y="12"/>
                </a:lnTo>
                <a:lnTo>
                  <a:pt x="98" y="17"/>
                </a:lnTo>
                <a:lnTo>
                  <a:pt x="114" y="22"/>
                </a:lnTo>
                <a:lnTo>
                  <a:pt x="131" y="28"/>
                </a:lnTo>
                <a:lnTo>
                  <a:pt x="147" y="34"/>
                </a:lnTo>
                <a:lnTo>
                  <a:pt x="164" y="40"/>
                </a:lnTo>
                <a:lnTo>
                  <a:pt x="180" y="47"/>
                </a:lnTo>
                <a:lnTo>
                  <a:pt x="196" y="53"/>
                </a:lnTo>
                <a:lnTo>
                  <a:pt x="213" y="60"/>
                </a:lnTo>
                <a:lnTo>
                  <a:pt x="229" y="66"/>
                </a:lnTo>
                <a:lnTo>
                  <a:pt x="246" y="73"/>
                </a:lnTo>
                <a:lnTo>
                  <a:pt x="262" y="79"/>
                </a:lnTo>
                <a:lnTo>
                  <a:pt x="278" y="84"/>
                </a:lnTo>
                <a:lnTo>
                  <a:pt x="295" y="90"/>
                </a:lnTo>
                <a:lnTo>
                  <a:pt x="311" y="94"/>
                </a:lnTo>
                <a:lnTo>
                  <a:pt x="327" y="98"/>
                </a:lnTo>
                <a:lnTo>
                  <a:pt x="344" y="102"/>
                </a:lnTo>
                <a:lnTo>
                  <a:pt x="360" y="104"/>
                </a:lnTo>
                <a:lnTo>
                  <a:pt x="377" y="106"/>
                </a:lnTo>
                <a:lnTo>
                  <a:pt x="393" y="106"/>
                </a:lnTo>
                <a:lnTo>
                  <a:pt x="393" y="110"/>
                </a:lnTo>
                <a:lnTo>
                  <a:pt x="377" y="109"/>
                </a:lnTo>
                <a:lnTo>
                  <a:pt x="360" y="108"/>
                </a:lnTo>
                <a:lnTo>
                  <a:pt x="344" y="105"/>
                </a:lnTo>
                <a:lnTo>
                  <a:pt x="327" y="102"/>
                </a:lnTo>
                <a:lnTo>
                  <a:pt x="311" y="98"/>
                </a:lnTo>
                <a:lnTo>
                  <a:pt x="295" y="93"/>
                </a:lnTo>
                <a:lnTo>
                  <a:pt x="278" y="88"/>
                </a:lnTo>
                <a:lnTo>
                  <a:pt x="262" y="82"/>
                </a:lnTo>
                <a:lnTo>
                  <a:pt x="246" y="76"/>
                </a:lnTo>
                <a:lnTo>
                  <a:pt x="229" y="70"/>
                </a:lnTo>
                <a:lnTo>
                  <a:pt x="213" y="63"/>
                </a:lnTo>
                <a:lnTo>
                  <a:pt x="196" y="57"/>
                </a:lnTo>
                <a:lnTo>
                  <a:pt x="180" y="50"/>
                </a:lnTo>
                <a:lnTo>
                  <a:pt x="164" y="44"/>
                </a:lnTo>
                <a:lnTo>
                  <a:pt x="147" y="37"/>
                </a:lnTo>
                <a:lnTo>
                  <a:pt x="131" y="31"/>
                </a:lnTo>
                <a:lnTo>
                  <a:pt x="114" y="25"/>
                </a:lnTo>
                <a:lnTo>
                  <a:pt x="98" y="20"/>
                </a:lnTo>
                <a:lnTo>
                  <a:pt x="82" y="16"/>
                </a:lnTo>
                <a:lnTo>
                  <a:pt x="65" y="12"/>
                </a:lnTo>
                <a:lnTo>
                  <a:pt x="49" y="8"/>
                </a:lnTo>
                <a:lnTo>
                  <a:pt x="33" y="6"/>
                </a:lnTo>
                <a:lnTo>
                  <a:pt x="16" y="4"/>
                </a:lnTo>
                <a:lnTo>
                  <a:pt x="0" y="4"/>
                </a:lnTo>
                <a:close/>
              </a:path>
            </a:pathLst>
          </a:custGeom>
          <a:solidFill>
            <a:srgbClr val="0B2E4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Freeform 92"/>
          <p:cNvSpPr/>
          <p:nvPr/>
        </p:nvSpPr>
        <p:spPr>
          <a:xfrm>
            <a:off x="2057400" y="1866900"/>
            <a:ext cx="3743325" cy="3476625"/>
          </a:xfrm>
          <a:custGeom>
            <a:avLst/>
            <a:gdLst/>
            <a:ahLst/>
            <a:cxnLst/>
            <a:rect l="l" t="t" r="r" b="b"/>
            <a:pathLst>
              <a:path w="393" h="365">
                <a:moveTo>
                  <a:pt x="0" y="363"/>
                </a:moveTo>
                <a:lnTo>
                  <a:pt x="16" y="361"/>
                </a:lnTo>
                <a:lnTo>
                  <a:pt x="33" y="356"/>
                </a:lnTo>
                <a:lnTo>
                  <a:pt x="49" y="347"/>
                </a:lnTo>
                <a:lnTo>
                  <a:pt x="65" y="336"/>
                </a:lnTo>
                <a:lnTo>
                  <a:pt x="82" y="322"/>
                </a:lnTo>
                <a:lnTo>
                  <a:pt x="98" y="306"/>
                </a:lnTo>
                <a:lnTo>
                  <a:pt x="114" y="288"/>
                </a:lnTo>
                <a:lnTo>
                  <a:pt x="131" y="269"/>
                </a:lnTo>
                <a:lnTo>
                  <a:pt x="147" y="248"/>
                </a:lnTo>
                <a:lnTo>
                  <a:pt x="164" y="226"/>
                </a:lnTo>
                <a:lnTo>
                  <a:pt x="180" y="204"/>
                </a:lnTo>
                <a:lnTo>
                  <a:pt x="196" y="181"/>
                </a:lnTo>
                <a:lnTo>
                  <a:pt x="213" y="159"/>
                </a:lnTo>
                <a:lnTo>
                  <a:pt x="229" y="136"/>
                </a:lnTo>
                <a:lnTo>
                  <a:pt x="246" y="115"/>
                </a:lnTo>
                <a:lnTo>
                  <a:pt x="262" y="94"/>
                </a:lnTo>
                <a:lnTo>
                  <a:pt x="278" y="75"/>
                </a:lnTo>
                <a:lnTo>
                  <a:pt x="295" y="57"/>
                </a:lnTo>
                <a:lnTo>
                  <a:pt x="311" y="41"/>
                </a:lnTo>
                <a:lnTo>
                  <a:pt x="327" y="27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10"/>
                </a:lnTo>
                <a:lnTo>
                  <a:pt x="344" y="18"/>
                </a:lnTo>
                <a:lnTo>
                  <a:pt x="327" y="29"/>
                </a:lnTo>
                <a:lnTo>
                  <a:pt x="311" y="43"/>
                </a:lnTo>
                <a:lnTo>
                  <a:pt x="295" y="59"/>
                </a:lnTo>
                <a:lnTo>
                  <a:pt x="278" y="77"/>
                </a:lnTo>
                <a:lnTo>
                  <a:pt x="262" y="96"/>
                </a:lnTo>
                <a:lnTo>
                  <a:pt x="246" y="117"/>
                </a:lnTo>
                <a:lnTo>
                  <a:pt x="229" y="139"/>
                </a:lnTo>
                <a:lnTo>
                  <a:pt x="213" y="161"/>
                </a:lnTo>
                <a:lnTo>
                  <a:pt x="196" y="184"/>
                </a:lnTo>
                <a:lnTo>
                  <a:pt x="180" y="206"/>
                </a:lnTo>
                <a:lnTo>
                  <a:pt x="164" y="229"/>
                </a:lnTo>
                <a:lnTo>
                  <a:pt x="147" y="250"/>
                </a:lnTo>
                <a:lnTo>
                  <a:pt x="131" y="271"/>
                </a:lnTo>
                <a:lnTo>
                  <a:pt x="114" y="290"/>
                </a:lnTo>
                <a:lnTo>
                  <a:pt x="98" y="308"/>
                </a:lnTo>
                <a:lnTo>
                  <a:pt x="82" y="324"/>
                </a:lnTo>
                <a:lnTo>
                  <a:pt x="65" y="338"/>
                </a:lnTo>
                <a:lnTo>
                  <a:pt x="49" y="349"/>
                </a:lnTo>
                <a:lnTo>
                  <a:pt x="33" y="358"/>
                </a:lnTo>
                <a:lnTo>
                  <a:pt x="16" y="363"/>
                </a:lnTo>
                <a:lnTo>
                  <a:pt x="0" y="365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Freeform 93"/>
          <p:cNvSpPr/>
          <p:nvPr/>
        </p:nvSpPr>
        <p:spPr>
          <a:xfrm>
            <a:off x="2057400" y="2419350"/>
            <a:ext cx="3743325" cy="2952750"/>
          </a:xfrm>
          <a:custGeom>
            <a:avLst/>
            <a:gdLst/>
            <a:ahLst/>
            <a:cxnLst/>
            <a:rect l="l" t="t" r="r" b="b"/>
            <a:pathLst>
              <a:path w="393" h="310">
                <a:moveTo>
                  <a:pt x="0" y="307"/>
                </a:moveTo>
                <a:lnTo>
                  <a:pt x="16" y="305"/>
                </a:lnTo>
                <a:lnTo>
                  <a:pt x="33" y="301"/>
                </a:lnTo>
                <a:lnTo>
                  <a:pt x="49" y="294"/>
                </a:lnTo>
                <a:lnTo>
                  <a:pt x="65" y="284"/>
                </a:lnTo>
                <a:lnTo>
                  <a:pt x="82" y="273"/>
                </a:lnTo>
                <a:lnTo>
                  <a:pt x="98" y="259"/>
                </a:lnTo>
                <a:lnTo>
                  <a:pt x="114" y="244"/>
                </a:lnTo>
                <a:lnTo>
                  <a:pt x="131" y="227"/>
                </a:lnTo>
                <a:lnTo>
                  <a:pt x="147" y="210"/>
                </a:lnTo>
                <a:lnTo>
                  <a:pt x="164" y="191"/>
                </a:lnTo>
                <a:lnTo>
                  <a:pt x="180" y="173"/>
                </a:lnTo>
                <a:lnTo>
                  <a:pt x="196" y="153"/>
                </a:lnTo>
                <a:lnTo>
                  <a:pt x="213" y="134"/>
                </a:lnTo>
                <a:lnTo>
                  <a:pt x="229" y="115"/>
                </a:lnTo>
                <a:lnTo>
                  <a:pt x="246" y="97"/>
                </a:lnTo>
                <a:lnTo>
                  <a:pt x="262" y="79"/>
                </a:lnTo>
                <a:lnTo>
                  <a:pt x="278" y="63"/>
                </a:lnTo>
                <a:lnTo>
                  <a:pt x="295" y="48"/>
                </a:lnTo>
                <a:lnTo>
                  <a:pt x="311" y="34"/>
                </a:lnTo>
                <a:lnTo>
                  <a:pt x="327" y="22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9"/>
                </a:lnTo>
                <a:lnTo>
                  <a:pt x="344" y="16"/>
                </a:lnTo>
                <a:lnTo>
                  <a:pt x="327" y="25"/>
                </a:lnTo>
                <a:lnTo>
                  <a:pt x="311" y="37"/>
                </a:lnTo>
                <a:lnTo>
                  <a:pt x="295" y="51"/>
                </a:lnTo>
                <a:lnTo>
                  <a:pt x="278" y="66"/>
                </a:lnTo>
                <a:lnTo>
                  <a:pt x="262" y="82"/>
                </a:lnTo>
                <a:lnTo>
                  <a:pt x="246" y="100"/>
                </a:lnTo>
                <a:lnTo>
                  <a:pt x="229" y="118"/>
                </a:lnTo>
                <a:lnTo>
                  <a:pt x="213" y="137"/>
                </a:lnTo>
                <a:lnTo>
                  <a:pt x="196" y="156"/>
                </a:lnTo>
                <a:lnTo>
                  <a:pt x="180" y="176"/>
                </a:lnTo>
                <a:lnTo>
                  <a:pt x="164" y="194"/>
                </a:lnTo>
                <a:lnTo>
                  <a:pt x="147" y="213"/>
                </a:lnTo>
                <a:lnTo>
                  <a:pt x="131" y="230"/>
                </a:lnTo>
                <a:lnTo>
                  <a:pt x="114" y="247"/>
                </a:lnTo>
                <a:lnTo>
                  <a:pt x="98" y="262"/>
                </a:lnTo>
                <a:lnTo>
                  <a:pt x="82" y="276"/>
                </a:lnTo>
                <a:lnTo>
                  <a:pt x="65" y="287"/>
                </a:lnTo>
                <a:lnTo>
                  <a:pt x="49" y="297"/>
                </a:lnTo>
                <a:lnTo>
                  <a:pt x="33" y="304"/>
                </a:lnTo>
                <a:lnTo>
                  <a:pt x="16" y="308"/>
                </a:lnTo>
                <a:lnTo>
                  <a:pt x="0" y="310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Freeform 94"/>
          <p:cNvSpPr/>
          <p:nvPr/>
        </p:nvSpPr>
        <p:spPr>
          <a:xfrm>
            <a:off x="2057400" y="2962275"/>
            <a:ext cx="3743325" cy="2438400"/>
          </a:xfrm>
          <a:custGeom>
            <a:avLst/>
            <a:gdLst/>
            <a:ahLst/>
            <a:cxnLst/>
            <a:rect l="l" t="t" r="r" b="b"/>
            <a:pathLst>
              <a:path w="393" h="256">
                <a:moveTo>
                  <a:pt x="0" y="253"/>
                </a:moveTo>
                <a:lnTo>
                  <a:pt x="16" y="252"/>
                </a:lnTo>
                <a:lnTo>
                  <a:pt x="33" y="248"/>
                </a:lnTo>
                <a:lnTo>
                  <a:pt x="49" y="242"/>
                </a:lnTo>
                <a:lnTo>
                  <a:pt x="65" y="234"/>
                </a:lnTo>
                <a:lnTo>
                  <a:pt x="82" y="225"/>
                </a:lnTo>
                <a:lnTo>
                  <a:pt x="98" y="214"/>
                </a:lnTo>
                <a:lnTo>
                  <a:pt x="114" y="201"/>
                </a:lnTo>
                <a:lnTo>
                  <a:pt x="131" y="188"/>
                </a:lnTo>
                <a:lnTo>
                  <a:pt x="147" y="173"/>
                </a:lnTo>
                <a:lnTo>
                  <a:pt x="164" y="158"/>
                </a:lnTo>
                <a:lnTo>
                  <a:pt x="180" y="142"/>
                </a:lnTo>
                <a:lnTo>
                  <a:pt x="196" y="127"/>
                </a:lnTo>
                <a:lnTo>
                  <a:pt x="213" y="111"/>
                </a:lnTo>
                <a:lnTo>
                  <a:pt x="229" y="95"/>
                </a:lnTo>
                <a:lnTo>
                  <a:pt x="246" y="80"/>
                </a:lnTo>
                <a:lnTo>
                  <a:pt x="262" y="66"/>
                </a:lnTo>
                <a:lnTo>
                  <a:pt x="278" y="52"/>
                </a:lnTo>
                <a:lnTo>
                  <a:pt x="295" y="40"/>
                </a:lnTo>
                <a:lnTo>
                  <a:pt x="311" y="29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4"/>
                </a:lnTo>
                <a:lnTo>
                  <a:pt x="327" y="22"/>
                </a:lnTo>
                <a:lnTo>
                  <a:pt x="311" y="31"/>
                </a:lnTo>
                <a:lnTo>
                  <a:pt x="295" y="42"/>
                </a:lnTo>
                <a:lnTo>
                  <a:pt x="278" y="55"/>
                </a:lnTo>
                <a:lnTo>
                  <a:pt x="262" y="68"/>
                </a:lnTo>
                <a:lnTo>
                  <a:pt x="246" y="83"/>
                </a:lnTo>
                <a:lnTo>
                  <a:pt x="229" y="98"/>
                </a:lnTo>
                <a:lnTo>
                  <a:pt x="213" y="114"/>
                </a:lnTo>
                <a:lnTo>
                  <a:pt x="196" y="129"/>
                </a:lnTo>
                <a:lnTo>
                  <a:pt x="180" y="145"/>
                </a:lnTo>
                <a:lnTo>
                  <a:pt x="164" y="161"/>
                </a:lnTo>
                <a:lnTo>
                  <a:pt x="147" y="176"/>
                </a:lnTo>
                <a:lnTo>
                  <a:pt x="131" y="190"/>
                </a:lnTo>
                <a:lnTo>
                  <a:pt x="114" y="204"/>
                </a:lnTo>
                <a:lnTo>
                  <a:pt x="98" y="216"/>
                </a:lnTo>
                <a:lnTo>
                  <a:pt x="82" y="227"/>
                </a:lnTo>
                <a:lnTo>
                  <a:pt x="65" y="237"/>
                </a:lnTo>
                <a:lnTo>
                  <a:pt x="49" y="245"/>
                </a:lnTo>
                <a:lnTo>
                  <a:pt x="33" y="251"/>
                </a:lnTo>
                <a:lnTo>
                  <a:pt x="16" y="254"/>
                </a:lnTo>
                <a:lnTo>
                  <a:pt x="0" y="256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2057400" y="3514725"/>
            <a:ext cx="3743325" cy="1905000"/>
          </a:xfrm>
          <a:custGeom>
            <a:avLst/>
            <a:gdLst/>
            <a:ahLst/>
            <a:cxnLst/>
            <a:rect l="l" t="t" r="r" b="b"/>
            <a:pathLst>
              <a:path w="393" h="200">
                <a:moveTo>
                  <a:pt x="0" y="198"/>
                </a:moveTo>
                <a:lnTo>
                  <a:pt x="16" y="197"/>
                </a:lnTo>
                <a:lnTo>
                  <a:pt x="33" y="194"/>
                </a:lnTo>
                <a:lnTo>
                  <a:pt x="49" y="189"/>
                </a:lnTo>
                <a:lnTo>
                  <a:pt x="65" y="183"/>
                </a:lnTo>
                <a:lnTo>
                  <a:pt x="82" y="175"/>
                </a:lnTo>
                <a:lnTo>
                  <a:pt x="98" y="167"/>
                </a:lnTo>
                <a:lnTo>
                  <a:pt x="114" y="157"/>
                </a:lnTo>
                <a:lnTo>
                  <a:pt x="131" y="146"/>
                </a:lnTo>
                <a:lnTo>
                  <a:pt x="147" y="135"/>
                </a:lnTo>
                <a:lnTo>
                  <a:pt x="164" y="123"/>
                </a:lnTo>
                <a:lnTo>
                  <a:pt x="180" y="111"/>
                </a:lnTo>
                <a:lnTo>
                  <a:pt x="196" y="99"/>
                </a:lnTo>
                <a:lnTo>
                  <a:pt x="213" y="86"/>
                </a:lnTo>
                <a:lnTo>
                  <a:pt x="229" y="74"/>
                </a:lnTo>
                <a:lnTo>
                  <a:pt x="246" y="62"/>
                </a:lnTo>
                <a:lnTo>
                  <a:pt x="262" y="51"/>
                </a:lnTo>
                <a:lnTo>
                  <a:pt x="278" y="40"/>
                </a:lnTo>
                <a:lnTo>
                  <a:pt x="295" y="31"/>
                </a:lnTo>
                <a:lnTo>
                  <a:pt x="311" y="22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1"/>
                </a:lnTo>
                <a:lnTo>
                  <a:pt x="327" y="17"/>
                </a:lnTo>
                <a:lnTo>
                  <a:pt x="311" y="25"/>
                </a:lnTo>
                <a:lnTo>
                  <a:pt x="295" y="33"/>
                </a:lnTo>
                <a:lnTo>
                  <a:pt x="278" y="43"/>
                </a:lnTo>
                <a:lnTo>
                  <a:pt x="262" y="54"/>
                </a:lnTo>
                <a:lnTo>
                  <a:pt x="246" y="65"/>
                </a:lnTo>
                <a:lnTo>
                  <a:pt x="229" y="77"/>
                </a:lnTo>
                <a:lnTo>
                  <a:pt x="213" y="89"/>
                </a:lnTo>
                <a:lnTo>
                  <a:pt x="196" y="101"/>
                </a:lnTo>
                <a:lnTo>
                  <a:pt x="180" y="114"/>
                </a:lnTo>
                <a:lnTo>
                  <a:pt x="164" y="126"/>
                </a:lnTo>
                <a:lnTo>
                  <a:pt x="147" y="138"/>
                </a:lnTo>
                <a:lnTo>
                  <a:pt x="131" y="149"/>
                </a:lnTo>
                <a:lnTo>
                  <a:pt x="114" y="160"/>
                </a:lnTo>
                <a:lnTo>
                  <a:pt x="98" y="169"/>
                </a:lnTo>
                <a:lnTo>
                  <a:pt x="82" y="178"/>
                </a:lnTo>
                <a:lnTo>
                  <a:pt x="65" y="186"/>
                </a:lnTo>
                <a:lnTo>
                  <a:pt x="49" y="192"/>
                </a:lnTo>
                <a:lnTo>
                  <a:pt x="33" y="196"/>
                </a:lnTo>
                <a:lnTo>
                  <a:pt x="16" y="199"/>
                </a:lnTo>
                <a:lnTo>
                  <a:pt x="0" y="200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Freeform 96"/>
          <p:cNvSpPr/>
          <p:nvPr/>
        </p:nvSpPr>
        <p:spPr>
          <a:xfrm>
            <a:off x="2057400" y="4067175"/>
            <a:ext cx="3743325" cy="1381125"/>
          </a:xfrm>
          <a:custGeom>
            <a:avLst/>
            <a:gdLst/>
            <a:ahLst/>
            <a:cxnLst/>
            <a:rect l="l" t="t" r="r" b="b"/>
            <a:pathLst>
              <a:path w="393" h="145">
                <a:moveTo>
                  <a:pt x="0" y="142"/>
                </a:moveTo>
                <a:lnTo>
                  <a:pt x="16" y="142"/>
                </a:lnTo>
                <a:lnTo>
                  <a:pt x="33" y="139"/>
                </a:lnTo>
                <a:lnTo>
                  <a:pt x="49" y="136"/>
                </a:lnTo>
                <a:lnTo>
                  <a:pt x="65" y="132"/>
                </a:lnTo>
                <a:lnTo>
                  <a:pt x="82" y="126"/>
                </a:lnTo>
                <a:lnTo>
                  <a:pt x="98" y="120"/>
                </a:lnTo>
                <a:lnTo>
                  <a:pt x="114" y="113"/>
                </a:lnTo>
                <a:lnTo>
                  <a:pt x="131" y="105"/>
                </a:lnTo>
                <a:lnTo>
                  <a:pt x="147" y="97"/>
                </a:lnTo>
                <a:lnTo>
                  <a:pt x="164" y="89"/>
                </a:lnTo>
                <a:lnTo>
                  <a:pt x="180" y="80"/>
                </a:lnTo>
                <a:lnTo>
                  <a:pt x="196" y="71"/>
                </a:lnTo>
                <a:lnTo>
                  <a:pt x="213" y="62"/>
                </a:lnTo>
                <a:lnTo>
                  <a:pt x="229" y="53"/>
                </a:lnTo>
                <a:lnTo>
                  <a:pt x="246" y="45"/>
                </a:lnTo>
                <a:lnTo>
                  <a:pt x="262" y="37"/>
                </a:lnTo>
                <a:lnTo>
                  <a:pt x="278" y="29"/>
                </a:lnTo>
                <a:lnTo>
                  <a:pt x="295" y="22"/>
                </a:lnTo>
                <a:lnTo>
                  <a:pt x="311" y="16"/>
                </a:lnTo>
                <a:lnTo>
                  <a:pt x="327" y="10"/>
                </a:lnTo>
                <a:lnTo>
                  <a:pt x="344" y="6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9"/>
                </a:lnTo>
                <a:lnTo>
                  <a:pt x="327" y="13"/>
                </a:lnTo>
                <a:lnTo>
                  <a:pt x="311" y="18"/>
                </a:lnTo>
                <a:lnTo>
                  <a:pt x="295" y="25"/>
                </a:lnTo>
                <a:lnTo>
                  <a:pt x="278" y="32"/>
                </a:lnTo>
                <a:lnTo>
                  <a:pt x="262" y="39"/>
                </a:lnTo>
                <a:lnTo>
                  <a:pt x="246" y="48"/>
                </a:lnTo>
                <a:lnTo>
                  <a:pt x="229" y="56"/>
                </a:lnTo>
                <a:lnTo>
                  <a:pt x="213" y="65"/>
                </a:lnTo>
                <a:lnTo>
                  <a:pt x="196" y="74"/>
                </a:lnTo>
                <a:lnTo>
                  <a:pt x="180" y="83"/>
                </a:lnTo>
                <a:lnTo>
                  <a:pt x="164" y="91"/>
                </a:lnTo>
                <a:lnTo>
                  <a:pt x="147" y="100"/>
                </a:lnTo>
                <a:lnTo>
                  <a:pt x="131" y="108"/>
                </a:lnTo>
                <a:lnTo>
                  <a:pt x="114" y="116"/>
                </a:lnTo>
                <a:lnTo>
                  <a:pt x="98" y="123"/>
                </a:lnTo>
                <a:lnTo>
                  <a:pt x="82" y="129"/>
                </a:lnTo>
                <a:lnTo>
                  <a:pt x="65" y="135"/>
                </a:lnTo>
                <a:lnTo>
                  <a:pt x="49" y="139"/>
                </a:lnTo>
                <a:lnTo>
                  <a:pt x="33" y="142"/>
                </a:lnTo>
                <a:lnTo>
                  <a:pt x="16" y="144"/>
                </a:lnTo>
                <a:lnTo>
                  <a:pt x="0" y="145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reeform 97"/>
          <p:cNvSpPr/>
          <p:nvPr/>
        </p:nvSpPr>
        <p:spPr>
          <a:xfrm>
            <a:off x="2057400" y="4610100"/>
            <a:ext cx="3743325" cy="866775"/>
          </a:xfrm>
          <a:custGeom>
            <a:avLst/>
            <a:gdLst/>
            <a:ahLst/>
            <a:cxnLst/>
            <a:rect l="l" t="t" r="r" b="b"/>
            <a:pathLst>
              <a:path w="393" h="91">
                <a:moveTo>
                  <a:pt x="0" y="88"/>
                </a:moveTo>
                <a:lnTo>
                  <a:pt x="16" y="88"/>
                </a:lnTo>
                <a:lnTo>
                  <a:pt x="33" y="86"/>
                </a:lnTo>
                <a:lnTo>
                  <a:pt x="49" y="84"/>
                </a:lnTo>
                <a:lnTo>
                  <a:pt x="65" y="82"/>
                </a:lnTo>
                <a:lnTo>
                  <a:pt x="82" y="78"/>
                </a:lnTo>
                <a:lnTo>
                  <a:pt x="98" y="74"/>
                </a:lnTo>
                <a:lnTo>
                  <a:pt x="114" y="70"/>
                </a:lnTo>
                <a:lnTo>
                  <a:pt x="131" y="65"/>
                </a:lnTo>
                <a:lnTo>
                  <a:pt x="147" y="60"/>
                </a:lnTo>
                <a:lnTo>
                  <a:pt x="164" y="55"/>
                </a:lnTo>
                <a:lnTo>
                  <a:pt x="180" y="49"/>
                </a:lnTo>
                <a:lnTo>
                  <a:pt x="196" y="44"/>
                </a:lnTo>
                <a:lnTo>
                  <a:pt x="213" y="38"/>
                </a:lnTo>
                <a:lnTo>
                  <a:pt x="229" y="33"/>
                </a:lnTo>
                <a:lnTo>
                  <a:pt x="246" y="28"/>
                </a:lnTo>
                <a:lnTo>
                  <a:pt x="262" y="23"/>
                </a:lnTo>
                <a:lnTo>
                  <a:pt x="278" y="18"/>
                </a:lnTo>
                <a:lnTo>
                  <a:pt x="295" y="13"/>
                </a:lnTo>
                <a:lnTo>
                  <a:pt x="311" y="10"/>
                </a:lnTo>
                <a:lnTo>
                  <a:pt x="327" y="6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5"/>
                </a:lnTo>
                <a:lnTo>
                  <a:pt x="344" y="7"/>
                </a:lnTo>
                <a:lnTo>
                  <a:pt x="327" y="9"/>
                </a:lnTo>
                <a:lnTo>
                  <a:pt x="311" y="13"/>
                </a:lnTo>
                <a:lnTo>
                  <a:pt x="295" y="17"/>
                </a:lnTo>
                <a:lnTo>
                  <a:pt x="278" y="21"/>
                </a:lnTo>
                <a:lnTo>
                  <a:pt x="262" y="26"/>
                </a:lnTo>
                <a:lnTo>
                  <a:pt x="246" y="31"/>
                </a:lnTo>
                <a:lnTo>
                  <a:pt x="229" y="36"/>
                </a:lnTo>
                <a:lnTo>
                  <a:pt x="213" y="42"/>
                </a:lnTo>
                <a:lnTo>
                  <a:pt x="196" y="47"/>
                </a:lnTo>
                <a:lnTo>
                  <a:pt x="180" y="53"/>
                </a:lnTo>
                <a:lnTo>
                  <a:pt x="164" y="58"/>
                </a:lnTo>
                <a:lnTo>
                  <a:pt x="147" y="63"/>
                </a:lnTo>
                <a:lnTo>
                  <a:pt x="131" y="68"/>
                </a:lnTo>
                <a:lnTo>
                  <a:pt x="114" y="73"/>
                </a:lnTo>
                <a:lnTo>
                  <a:pt x="98" y="78"/>
                </a:lnTo>
                <a:lnTo>
                  <a:pt x="82" y="81"/>
                </a:lnTo>
                <a:lnTo>
                  <a:pt x="65" y="85"/>
                </a:lnTo>
                <a:lnTo>
                  <a:pt x="49" y="88"/>
                </a:lnTo>
                <a:lnTo>
                  <a:pt x="33" y="90"/>
                </a:lnTo>
                <a:lnTo>
                  <a:pt x="16" y="91"/>
                </a:lnTo>
                <a:lnTo>
                  <a:pt x="0" y="91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Freeform 98"/>
          <p:cNvSpPr/>
          <p:nvPr/>
        </p:nvSpPr>
        <p:spPr>
          <a:xfrm>
            <a:off x="2057400" y="5162550"/>
            <a:ext cx="3743325" cy="352425"/>
          </a:xfrm>
          <a:custGeom>
            <a:avLst/>
            <a:gdLst/>
            <a:ahLst/>
            <a:cxnLst/>
            <a:rect l="l" t="t" r="r" b="b"/>
            <a:pathLst>
              <a:path w="393" h="37">
                <a:moveTo>
                  <a:pt x="0" y="33"/>
                </a:moveTo>
                <a:lnTo>
                  <a:pt x="16" y="33"/>
                </a:lnTo>
                <a:lnTo>
                  <a:pt x="33" y="33"/>
                </a:lnTo>
                <a:lnTo>
                  <a:pt x="49" y="32"/>
                </a:lnTo>
                <a:lnTo>
                  <a:pt x="65" y="31"/>
                </a:lnTo>
                <a:lnTo>
                  <a:pt x="82" y="30"/>
                </a:lnTo>
                <a:lnTo>
                  <a:pt x="98" y="28"/>
                </a:lnTo>
                <a:lnTo>
                  <a:pt x="114" y="26"/>
                </a:lnTo>
                <a:lnTo>
                  <a:pt x="131" y="25"/>
                </a:lnTo>
                <a:lnTo>
                  <a:pt x="147" y="23"/>
                </a:lnTo>
                <a:lnTo>
                  <a:pt x="164" y="21"/>
                </a:lnTo>
                <a:lnTo>
                  <a:pt x="180" y="19"/>
                </a:lnTo>
                <a:lnTo>
                  <a:pt x="196" y="17"/>
                </a:lnTo>
                <a:lnTo>
                  <a:pt x="213" y="14"/>
                </a:lnTo>
                <a:lnTo>
                  <a:pt x="229" y="12"/>
                </a:lnTo>
                <a:lnTo>
                  <a:pt x="246" y="10"/>
                </a:lnTo>
                <a:lnTo>
                  <a:pt x="262" y="8"/>
                </a:lnTo>
                <a:lnTo>
                  <a:pt x="278" y="7"/>
                </a:lnTo>
                <a:lnTo>
                  <a:pt x="295" y="5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4"/>
                </a:lnTo>
                <a:lnTo>
                  <a:pt x="344" y="4"/>
                </a:lnTo>
                <a:lnTo>
                  <a:pt x="327" y="5"/>
                </a:lnTo>
                <a:lnTo>
                  <a:pt x="311" y="7"/>
                </a:lnTo>
                <a:lnTo>
                  <a:pt x="295" y="8"/>
                </a:lnTo>
                <a:lnTo>
                  <a:pt x="278" y="10"/>
                </a:lnTo>
                <a:lnTo>
                  <a:pt x="262" y="12"/>
                </a:lnTo>
                <a:lnTo>
                  <a:pt x="246" y="14"/>
                </a:lnTo>
                <a:lnTo>
                  <a:pt x="229" y="16"/>
                </a:lnTo>
                <a:lnTo>
                  <a:pt x="213" y="18"/>
                </a:lnTo>
                <a:lnTo>
                  <a:pt x="196" y="20"/>
                </a:lnTo>
                <a:lnTo>
                  <a:pt x="180" y="22"/>
                </a:lnTo>
                <a:lnTo>
                  <a:pt x="164" y="24"/>
                </a:lnTo>
                <a:lnTo>
                  <a:pt x="147" y="26"/>
                </a:lnTo>
                <a:lnTo>
                  <a:pt x="131" y="28"/>
                </a:lnTo>
                <a:lnTo>
                  <a:pt x="114" y="30"/>
                </a:lnTo>
                <a:lnTo>
                  <a:pt x="98" y="31"/>
                </a:lnTo>
                <a:lnTo>
                  <a:pt x="82" y="33"/>
                </a:lnTo>
                <a:lnTo>
                  <a:pt x="65" y="34"/>
                </a:lnTo>
                <a:lnTo>
                  <a:pt x="49" y="35"/>
                </a:lnTo>
                <a:lnTo>
                  <a:pt x="33" y="36"/>
                </a:lnTo>
                <a:lnTo>
                  <a:pt x="16" y="36"/>
                </a:lnTo>
                <a:lnTo>
                  <a:pt x="0" y="37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Freeform 99"/>
          <p:cNvSpPr/>
          <p:nvPr/>
        </p:nvSpPr>
        <p:spPr>
          <a:xfrm>
            <a:off x="2057400" y="5514975"/>
            <a:ext cx="3743325" cy="219075"/>
          </a:xfrm>
          <a:custGeom>
            <a:avLst/>
            <a:gdLst/>
            <a:ahLst/>
            <a:cxnLst/>
            <a:rect l="l" t="t" r="r" b="b"/>
            <a:pathLst>
              <a:path w="393" h="23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2"/>
                </a:lnTo>
                <a:lnTo>
                  <a:pt x="98" y="3"/>
                </a:lnTo>
                <a:lnTo>
                  <a:pt x="114" y="4"/>
                </a:lnTo>
                <a:lnTo>
                  <a:pt x="131" y="5"/>
                </a:lnTo>
                <a:lnTo>
                  <a:pt x="147" y="6"/>
                </a:lnTo>
                <a:lnTo>
                  <a:pt x="164" y="7"/>
                </a:lnTo>
                <a:lnTo>
                  <a:pt x="180" y="8"/>
                </a:lnTo>
                <a:lnTo>
                  <a:pt x="196" y="10"/>
                </a:lnTo>
                <a:lnTo>
                  <a:pt x="213" y="11"/>
                </a:lnTo>
                <a:lnTo>
                  <a:pt x="229" y="12"/>
                </a:lnTo>
                <a:lnTo>
                  <a:pt x="246" y="13"/>
                </a:lnTo>
                <a:lnTo>
                  <a:pt x="262" y="14"/>
                </a:lnTo>
                <a:lnTo>
                  <a:pt x="278" y="15"/>
                </a:lnTo>
                <a:lnTo>
                  <a:pt x="295" y="16"/>
                </a:lnTo>
                <a:lnTo>
                  <a:pt x="311" y="17"/>
                </a:lnTo>
                <a:lnTo>
                  <a:pt x="327" y="18"/>
                </a:lnTo>
                <a:lnTo>
                  <a:pt x="344" y="19"/>
                </a:lnTo>
                <a:lnTo>
                  <a:pt x="360" y="19"/>
                </a:lnTo>
                <a:lnTo>
                  <a:pt x="377" y="19"/>
                </a:lnTo>
                <a:lnTo>
                  <a:pt x="393" y="19"/>
                </a:lnTo>
                <a:lnTo>
                  <a:pt x="393" y="23"/>
                </a:lnTo>
                <a:lnTo>
                  <a:pt x="377" y="23"/>
                </a:lnTo>
                <a:lnTo>
                  <a:pt x="360" y="22"/>
                </a:lnTo>
                <a:lnTo>
                  <a:pt x="344" y="22"/>
                </a:lnTo>
                <a:lnTo>
                  <a:pt x="327" y="21"/>
                </a:lnTo>
                <a:lnTo>
                  <a:pt x="311" y="21"/>
                </a:lnTo>
                <a:lnTo>
                  <a:pt x="295" y="20"/>
                </a:lnTo>
                <a:lnTo>
                  <a:pt x="278" y="19"/>
                </a:lnTo>
                <a:lnTo>
                  <a:pt x="262" y="18"/>
                </a:lnTo>
                <a:lnTo>
                  <a:pt x="246" y="16"/>
                </a:lnTo>
                <a:lnTo>
                  <a:pt x="229" y="15"/>
                </a:lnTo>
                <a:lnTo>
                  <a:pt x="213" y="14"/>
                </a:lnTo>
                <a:lnTo>
                  <a:pt x="196" y="13"/>
                </a:lnTo>
                <a:lnTo>
                  <a:pt x="180" y="12"/>
                </a:lnTo>
                <a:lnTo>
                  <a:pt x="164" y="10"/>
                </a:lnTo>
                <a:lnTo>
                  <a:pt x="147" y="9"/>
                </a:lnTo>
                <a:lnTo>
                  <a:pt x="131" y="8"/>
                </a:lnTo>
                <a:lnTo>
                  <a:pt x="114" y="7"/>
                </a:lnTo>
                <a:lnTo>
                  <a:pt x="98" y="6"/>
                </a:lnTo>
                <a:lnTo>
                  <a:pt x="82" y="5"/>
                </a:lnTo>
                <a:lnTo>
                  <a:pt x="65" y="4"/>
                </a:lnTo>
                <a:lnTo>
                  <a:pt x="49" y="4"/>
                </a:lnTo>
                <a:lnTo>
                  <a:pt x="33" y="3"/>
                </a:lnTo>
                <a:lnTo>
                  <a:pt x="16" y="3"/>
                </a:lnTo>
                <a:lnTo>
                  <a:pt x="0" y="3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Freeform 100"/>
          <p:cNvSpPr/>
          <p:nvPr/>
        </p:nvSpPr>
        <p:spPr>
          <a:xfrm>
            <a:off x="2057400" y="5543550"/>
            <a:ext cx="3743325" cy="752475"/>
          </a:xfrm>
          <a:custGeom>
            <a:avLst/>
            <a:gdLst/>
            <a:ahLst/>
            <a:cxnLst/>
            <a:rect l="l" t="t" r="r" b="b"/>
            <a:pathLst>
              <a:path w="393" h="79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3"/>
                </a:lnTo>
                <a:lnTo>
                  <a:pt x="65" y="6"/>
                </a:lnTo>
                <a:lnTo>
                  <a:pt x="82" y="8"/>
                </a:lnTo>
                <a:lnTo>
                  <a:pt x="98" y="12"/>
                </a:lnTo>
                <a:lnTo>
                  <a:pt x="114" y="16"/>
                </a:lnTo>
                <a:lnTo>
                  <a:pt x="131" y="20"/>
                </a:lnTo>
                <a:lnTo>
                  <a:pt x="147" y="24"/>
                </a:lnTo>
                <a:lnTo>
                  <a:pt x="164" y="29"/>
                </a:lnTo>
                <a:lnTo>
                  <a:pt x="180" y="33"/>
                </a:lnTo>
                <a:lnTo>
                  <a:pt x="196" y="38"/>
                </a:lnTo>
                <a:lnTo>
                  <a:pt x="213" y="43"/>
                </a:lnTo>
                <a:lnTo>
                  <a:pt x="229" y="48"/>
                </a:lnTo>
                <a:lnTo>
                  <a:pt x="246" y="52"/>
                </a:lnTo>
                <a:lnTo>
                  <a:pt x="262" y="57"/>
                </a:lnTo>
                <a:lnTo>
                  <a:pt x="278" y="61"/>
                </a:lnTo>
                <a:lnTo>
                  <a:pt x="295" y="65"/>
                </a:lnTo>
                <a:lnTo>
                  <a:pt x="311" y="68"/>
                </a:lnTo>
                <a:lnTo>
                  <a:pt x="327" y="71"/>
                </a:lnTo>
                <a:lnTo>
                  <a:pt x="344" y="73"/>
                </a:lnTo>
                <a:lnTo>
                  <a:pt x="360" y="75"/>
                </a:lnTo>
                <a:lnTo>
                  <a:pt x="377" y="76"/>
                </a:lnTo>
                <a:lnTo>
                  <a:pt x="393" y="77"/>
                </a:lnTo>
                <a:lnTo>
                  <a:pt x="393" y="79"/>
                </a:lnTo>
                <a:lnTo>
                  <a:pt x="377" y="78"/>
                </a:lnTo>
                <a:lnTo>
                  <a:pt x="360" y="77"/>
                </a:lnTo>
                <a:lnTo>
                  <a:pt x="344" y="75"/>
                </a:lnTo>
                <a:lnTo>
                  <a:pt x="327" y="73"/>
                </a:lnTo>
                <a:lnTo>
                  <a:pt x="311" y="70"/>
                </a:lnTo>
                <a:lnTo>
                  <a:pt x="295" y="67"/>
                </a:lnTo>
                <a:lnTo>
                  <a:pt x="278" y="63"/>
                </a:lnTo>
                <a:lnTo>
                  <a:pt x="262" y="59"/>
                </a:lnTo>
                <a:lnTo>
                  <a:pt x="246" y="54"/>
                </a:lnTo>
                <a:lnTo>
                  <a:pt x="229" y="50"/>
                </a:lnTo>
                <a:lnTo>
                  <a:pt x="213" y="45"/>
                </a:lnTo>
                <a:lnTo>
                  <a:pt x="196" y="40"/>
                </a:lnTo>
                <a:lnTo>
                  <a:pt x="180" y="36"/>
                </a:lnTo>
                <a:lnTo>
                  <a:pt x="164" y="31"/>
                </a:lnTo>
                <a:lnTo>
                  <a:pt x="147" y="26"/>
                </a:lnTo>
                <a:lnTo>
                  <a:pt x="131" y="22"/>
                </a:lnTo>
                <a:lnTo>
                  <a:pt x="114" y="18"/>
                </a:lnTo>
                <a:lnTo>
                  <a:pt x="98" y="14"/>
                </a:lnTo>
                <a:lnTo>
                  <a:pt x="82" y="11"/>
                </a:lnTo>
                <a:lnTo>
                  <a:pt x="65" y="8"/>
                </a:lnTo>
                <a:lnTo>
                  <a:pt x="49" y="5"/>
                </a:lnTo>
                <a:lnTo>
                  <a:pt x="33" y="3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6C7A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Freeform 101"/>
          <p:cNvSpPr/>
          <p:nvPr/>
        </p:nvSpPr>
        <p:spPr>
          <a:xfrm>
            <a:off x="2057400" y="1885950"/>
            <a:ext cx="3743325" cy="3762375"/>
          </a:xfrm>
          <a:custGeom>
            <a:avLst/>
            <a:gdLst/>
            <a:ahLst/>
            <a:cxnLst/>
            <a:rect l="l" t="t" r="r" b="b"/>
            <a:pathLst>
              <a:path w="393" h="395">
                <a:moveTo>
                  <a:pt x="0" y="392"/>
                </a:moveTo>
                <a:lnTo>
                  <a:pt x="16" y="390"/>
                </a:lnTo>
                <a:lnTo>
                  <a:pt x="33" y="384"/>
                </a:lnTo>
                <a:lnTo>
                  <a:pt x="49" y="375"/>
                </a:lnTo>
                <a:lnTo>
                  <a:pt x="65" y="363"/>
                </a:lnTo>
                <a:lnTo>
                  <a:pt x="82" y="348"/>
                </a:lnTo>
                <a:lnTo>
                  <a:pt x="98" y="331"/>
                </a:lnTo>
                <a:lnTo>
                  <a:pt x="114" y="311"/>
                </a:lnTo>
                <a:lnTo>
                  <a:pt x="131" y="290"/>
                </a:lnTo>
                <a:lnTo>
                  <a:pt x="147" y="268"/>
                </a:lnTo>
                <a:lnTo>
                  <a:pt x="164" y="245"/>
                </a:lnTo>
                <a:lnTo>
                  <a:pt x="180" y="221"/>
                </a:lnTo>
                <a:lnTo>
                  <a:pt x="196" y="196"/>
                </a:lnTo>
                <a:lnTo>
                  <a:pt x="213" y="172"/>
                </a:lnTo>
                <a:lnTo>
                  <a:pt x="229" y="148"/>
                </a:lnTo>
                <a:lnTo>
                  <a:pt x="246" y="124"/>
                </a:lnTo>
                <a:lnTo>
                  <a:pt x="262" y="102"/>
                </a:lnTo>
                <a:lnTo>
                  <a:pt x="278" y="81"/>
                </a:lnTo>
                <a:lnTo>
                  <a:pt x="295" y="62"/>
                </a:lnTo>
                <a:lnTo>
                  <a:pt x="311" y="44"/>
                </a:lnTo>
                <a:lnTo>
                  <a:pt x="327" y="29"/>
                </a:lnTo>
                <a:lnTo>
                  <a:pt x="344" y="17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1"/>
                </a:lnTo>
                <a:lnTo>
                  <a:pt x="344" y="20"/>
                </a:lnTo>
                <a:lnTo>
                  <a:pt x="327" y="32"/>
                </a:lnTo>
                <a:lnTo>
                  <a:pt x="311" y="47"/>
                </a:lnTo>
                <a:lnTo>
                  <a:pt x="295" y="64"/>
                </a:lnTo>
                <a:lnTo>
                  <a:pt x="278" y="84"/>
                </a:lnTo>
                <a:lnTo>
                  <a:pt x="262" y="105"/>
                </a:lnTo>
                <a:lnTo>
                  <a:pt x="246" y="127"/>
                </a:lnTo>
                <a:lnTo>
                  <a:pt x="229" y="151"/>
                </a:lnTo>
                <a:lnTo>
                  <a:pt x="213" y="175"/>
                </a:lnTo>
                <a:lnTo>
                  <a:pt x="196" y="199"/>
                </a:lnTo>
                <a:lnTo>
                  <a:pt x="180" y="223"/>
                </a:lnTo>
                <a:lnTo>
                  <a:pt x="164" y="248"/>
                </a:lnTo>
                <a:lnTo>
                  <a:pt x="147" y="271"/>
                </a:lnTo>
                <a:lnTo>
                  <a:pt x="131" y="293"/>
                </a:lnTo>
                <a:lnTo>
                  <a:pt x="114" y="314"/>
                </a:lnTo>
                <a:lnTo>
                  <a:pt x="98" y="334"/>
                </a:lnTo>
                <a:lnTo>
                  <a:pt x="82" y="351"/>
                </a:lnTo>
                <a:lnTo>
                  <a:pt x="65" y="366"/>
                </a:lnTo>
                <a:lnTo>
                  <a:pt x="49" y="378"/>
                </a:lnTo>
                <a:lnTo>
                  <a:pt x="33" y="387"/>
                </a:lnTo>
                <a:lnTo>
                  <a:pt x="16" y="393"/>
                </a:lnTo>
                <a:lnTo>
                  <a:pt x="0" y="395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Freeform 102"/>
          <p:cNvSpPr/>
          <p:nvPr/>
        </p:nvSpPr>
        <p:spPr>
          <a:xfrm>
            <a:off x="2057400" y="2447925"/>
            <a:ext cx="3743325" cy="3219450"/>
          </a:xfrm>
          <a:custGeom>
            <a:avLst/>
            <a:gdLst/>
            <a:ahLst/>
            <a:cxnLst/>
            <a:rect l="l" t="t" r="r" b="b"/>
            <a:pathLst>
              <a:path w="393" h="338">
                <a:moveTo>
                  <a:pt x="0" y="336"/>
                </a:moveTo>
                <a:lnTo>
                  <a:pt x="16" y="334"/>
                </a:lnTo>
                <a:lnTo>
                  <a:pt x="33" y="329"/>
                </a:lnTo>
                <a:lnTo>
                  <a:pt x="49" y="321"/>
                </a:lnTo>
                <a:lnTo>
                  <a:pt x="65" y="311"/>
                </a:lnTo>
                <a:lnTo>
                  <a:pt x="82" y="298"/>
                </a:lnTo>
                <a:lnTo>
                  <a:pt x="98" y="283"/>
                </a:lnTo>
                <a:lnTo>
                  <a:pt x="114" y="267"/>
                </a:lnTo>
                <a:lnTo>
                  <a:pt x="131" y="249"/>
                </a:lnTo>
                <a:lnTo>
                  <a:pt x="147" y="229"/>
                </a:lnTo>
                <a:lnTo>
                  <a:pt x="164" y="209"/>
                </a:lnTo>
                <a:lnTo>
                  <a:pt x="180" y="189"/>
                </a:lnTo>
                <a:lnTo>
                  <a:pt x="196" y="168"/>
                </a:lnTo>
                <a:lnTo>
                  <a:pt x="213" y="147"/>
                </a:lnTo>
                <a:lnTo>
                  <a:pt x="229" y="126"/>
                </a:lnTo>
                <a:lnTo>
                  <a:pt x="246" y="106"/>
                </a:lnTo>
                <a:lnTo>
                  <a:pt x="262" y="87"/>
                </a:lnTo>
                <a:lnTo>
                  <a:pt x="278" y="69"/>
                </a:lnTo>
                <a:lnTo>
                  <a:pt x="295" y="52"/>
                </a:lnTo>
                <a:lnTo>
                  <a:pt x="311" y="37"/>
                </a:lnTo>
                <a:lnTo>
                  <a:pt x="327" y="25"/>
                </a:lnTo>
                <a:lnTo>
                  <a:pt x="344" y="14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9"/>
                </a:lnTo>
                <a:lnTo>
                  <a:pt x="344" y="16"/>
                </a:lnTo>
                <a:lnTo>
                  <a:pt x="327" y="27"/>
                </a:lnTo>
                <a:lnTo>
                  <a:pt x="311" y="40"/>
                </a:lnTo>
                <a:lnTo>
                  <a:pt x="295" y="55"/>
                </a:lnTo>
                <a:lnTo>
                  <a:pt x="278" y="71"/>
                </a:lnTo>
                <a:lnTo>
                  <a:pt x="262" y="89"/>
                </a:lnTo>
                <a:lnTo>
                  <a:pt x="246" y="108"/>
                </a:lnTo>
                <a:lnTo>
                  <a:pt x="229" y="128"/>
                </a:lnTo>
                <a:lnTo>
                  <a:pt x="213" y="149"/>
                </a:lnTo>
                <a:lnTo>
                  <a:pt x="196" y="170"/>
                </a:lnTo>
                <a:lnTo>
                  <a:pt x="180" y="191"/>
                </a:lnTo>
                <a:lnTo>
                  <a:pt x="164" y="212"/>
                </a:lnTo>
                <a:lnTo>
                  <a:pt x="147" y="232"/>
                </a:lnTo>
                <a:lnTo>
                  <a:pt x="131" y="251"/>
                </a:lnTo>
                <a:lnTo>
                  <a:pt x="114" y="269"/>
                </a:lnTo>
                <a:lnTo>
                  <a:pt x="98" y="286"/>
                </a:lnTo>
                <a:lnTo>
                  <a:pt x="82" y="301"/>
                </a:lnTo>
                <a:lnTo>
                  <a:pt x="65" y="313"/>
                </a:lnTo>
                <a:lnTo>
                  <a:pt x="49" y="324"/>
                </a:lnTo>
                <a:lnTo>
                  <a:pt x="33" y="332"/>
                </a:lnTo>
                <a:lnTo>
                  <a:pt x="16" y="337"/>
                </a:lnTo>
                <a:lnTo>
                  <a:pt x="0" y="338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Freeform 103"/>
          <p:cNvSpPr/>
          <p:nvPr/>
        </p:nvSpPr>
        <p:spPr>
          <a:xfrm>
            <a:off x="2057400" y="2990850"/>
            <a:ext cx="3743325" cy="2705100"/>
          </a:xfrm>
          <a:custGeom>
            <a:avLst/>
            <a:gdLst/>
            <a:ahLst/>
            <a:cxnLst/>
            <a:rect l="l" t="t" r="r" b="b"/>
            <a:pathLst>
              <a:path w="393" h="284">
                <a:moveTo>
                  <a:pt x="0" y="281"/>
                </a:moveTo>
                <a:lnTo>
                  <a:pt x="16" y="280"/>
                </a:lnTo>
                <a:lnTo>
                  <a:pt x="33" y="276"/>
                </a:lnTo>
                <a:lnTo>
                  <a:pt x="49" y="269"/>
                </a:lnTo>
                <a:lnTo>
                  <a:pt x="65" y="260"/>
                </a:lnTo>
                <a:lnTo>
                  <a:pt x="82" y="250"/>
                </a:lnTo>
                <a:lnTo>
                  <a:pt x="98" y="237"/>
                </a:lnTo>
                <a:lnTo>
                  <a:pt x="114" y="223"/>
                </a:lnTo>
                <a:lnTo>
                  <a:pt x="131" y="208"/>
                </a:lnTo>
                <a:lnTo>
                  <a:pt x="147" y="192"/>
                </a:lnTo>
                <a:lnTo>
                  <a:pt x="164" y="175"/>
                </a:lnTo>
                <a:lnTo>
                  <a:pt x="180" y="158"/>
                </a:lnTo>
                <a:lnTo>
                  <a:pt x="196" y="141"/>
                </a:lnTo>
                <a:lnTo>
                  <a:pt x="213" y="123"/>
                </a:lnTo>
                <a:lnTo>
                  <a:pt x="229" y="106"/>
                </a:lnTo>
                <a:lnTo>
                  <a:pt x="246" y="89"/>
                </a:lnTo>
                <a:lnTo>
                  <a:pt x="262" y="73"/>
                </a:lnTo>
                <a:lnTo>
                  <a:pt x="278" y="58"/>
                </a:lnTo>
                <a:lnTo>
                  <a:pt x="295" y="44"/>
                </a:lnTo>
                <a:lnTo>
                  <a:pt x="311" y="31"/>
                </a:lnTo>
                <a:lnTo>
                  <a:pt x="327" y="21"/>
                </a:lnTo>
                <a:lnTo>
                  <a:pt x="344" y="12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5"/>
                </a:lnTo>
                <a:lnTo>
                  <a:pt x="327" y="24"/>
                </a:lnTo>
                <a:lnTo>
                  <a:pt x="311" y="34"/>
                </a:lnTo>
                <a:lnTo>
                  <a:pt x="295" y="47"/>
                </a:lnTo>
                <a:lnTo>
                  <a:pt x="278" y="61"/>
                </a:lnTo>
                <a:lnTo>
                  <a:pt x="262" y="76"/>
                </a:lnTo>
                <a:lnTo>
                  <a:pt x="246" y="92"/>
                </a:lnTo>
                <a:lnTo>
                  <a:pt x="229" y="109"/>
                </a:lnTo>
                <a:lnTo>
                  <a:pt x="213" y="126"/>
                </a:lnTo>
                <a:lnTo>
                  <a:pt x="196" y="143"/>
                </a:lnTo>
                <a:lnTo>
                  <a:pt x="180" y="161"/>
                </a:lnTo>
                <a:lnTo>
                  <a:pt x="164" y="178"/>
                </a:lnTo>
                <a:lnTo>
                  <a:pt x="147" y="195"/>
                </a:lnTo>
                <a:lnTo>
                  <a:pt x="131" y="211"/>
                </a:lnTo>
                <a:lnTo>
                  <a:pt x="114" y="226"/>
                </a:lnTo>
                <a:lnTo>
                  <a:pt x="98" y="240"/>
                </a:lnTo>
                <a:lnTo>
                  <a:pt x="82" y="252"/>
                </a:lnTo>
                <a:lnTo>
                  <a:pt x="65" y="263"/>
                </a:lnTo>
                <a:lnTo>
                  <a:pt x="49" y="272"/>
                </a:lnTo>
                <a:lnTo>
                  <a:pt x="33" y="278"/>
                </a:lnTo>
                <a:lnTo>
                  <a:pt x="16" y="283"/>
                </a:lnTo>
                <a:lnTo>
                  <a:pt x="0" y="284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Freeform 104"/>
          <p:cNvSpPr/>
          <p:nvPr/>
        </p:nvSpPr>
        <p:spPr>
          <a:xfrm>
            <a:off x="2057400" y="3533775"/>
            <a:ext cx="3743325" cy="2190750"/>
          </a:xfrm>
          <a:custGeom>
            <a:avLst/>
            <a:gdLst/>
            <a:ahLst/>
            <a:cxnLst/>
            <a:rect l="l" t="t" r="r" b="b"/>
            <a:pathLst>
              <a:path w="393" h="230">
                <a:moveTo>
                  <a:pt x="0" y="227"/>
                </a:moveTo>
                <a:lnTo>
                  <a:pt x="16" y="226"/>
                </a:lnTo>
                <a:lnTo>
                  <a:pt x="33" y="223"/>
                </a:lnTo>
                <a:lnTo>
                  <a:pt x="49" y="217"/>
                </a:lnTo>
                <a:lnTo>
                  <a:pt x="65" y="210"/>
                </a:lnTo>
                <a:lnTo>
                  <a:pt x="82" y="202"/>
                </a:lnTo>
                <a:lnTo>
                  <a:pt x="98" y="192"/>
                </a:lnTo>
                <a:lnTo>
                  <a:pt x="114" y="180"/>
                </a:lnTo>
                <a:lnTo>
                  <a:pt x="131" y="168"/>
                </a:lnTo>
                <a:lnTo>
                  <a:pt x="147" y="155"/>
                </a:lnTo>
                <a:lnTo>
                  <a:pt x="164" y="142"/>
                </a:lnTo>
                <a:lnTo>
                  <a:pt x="180" y="128"/>
                </a:lnTo>
                <a:lnTo>
                  <a:pt x="196" y="114"/>
                </a:lnTo>
                <a:lnTo>
                  <a:pt x="213" y="100"/>
                </a:lnTo>
                <a:lnTo>
                  <a:pt x="229" y="86"/>
                </a:lnTo>
                <a:lnTo>
                  <a:pt x="246" y="72"/>
                </a:lnTo>
                <a:lnTo>
                  <a:pt x="262" y="59"/>
                </a:lnTo>
                <a:lnTo>
                  <a:pt x="278" y="47"/>
                </a:lnTo>
                <a:lnTo>
                  <a:pt x="295" y="36"/>
                </a:lnTo>
                <a:lnTo>
                  <a:pt x="311" y="26"/>
                </a:lnTo>
                <a:lnTo>
                  <a:pt x="327" y="17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4"/>
                </a:lnTo>
                <a:lnTo>
                  <a:pt x="360" y="8"/>
                </a:lnTo>
                <a:lnTo>
                  <a:pt x="344" y="13"/>
                </a:lnTo>
                <a:lnTo>
                  <a:pt x="327" y="20"/>
                </a:lnTo>
                <a:lnTo>
                  <a:pt x="311" y="29"/>
                </a:lnTo>
                <a:lnTo>
                  <a:pt x="295" y="39"/>
                </a:lnTo>
                <a:lnTo>
                  <a:pt x="278" y="50"/>
                </a:lnTo>
                <a:lnTo>
                  <a:pt x="262" y="62"/>
                </a:lnTo>
                <a:lnTo>
                  <a:pt x="246" y="75"/>
                </a:lnTo>
                <a:lnTo>
                  <a:pt x="229" y="89"/>
                </a:lnTo>
                <a:lnTo>
                  <a:pt x="213" y="102"/>
                </a:lnTo>
                <a:lnTo>
                  <a:pt x="196" y="117"/>
                </a:lnTo>
                <a:lnTo>
                  <a:pt x="180" y="131"/>
                </a:lnTo>
                <a:lnTo>
                  <a:pt x="164" y="145"/>
                </a:lnTo>
                <a:lnTo>
                  <a:pt x="147" y="158"/>
                </a:lnTo>
                <a:lnTo>
                  <a:pt x="131" y="171"/>
                </a:lnTo>
                <a:lnTo>
                  <a:pt x="114" y="183"/>
                </a:lnTo>
                <a:lnTo>
                  <a:pt x="98" y="195"/>
                </a:lnTo>
                <a:lnTo>
                  <a:pt x="82" y="205"/>
                </a:lnTo>
                <a:lnTo>
                  <a:pt x="65" y="213"/>
                </a:lnTo>
                <a:lnTo>
                  <a:pt x="49" y="220"/>
                </a:lnTo>
                <a:lnTo>
                  <a:pt x="33" y="226"/>
                </a:lnTo>
                <a:lnTo>
                  <a:pt x="16" y="229"/>
                </a:lnTo>
                <a:lnTo>
                  <a:pt x="0" y="230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Freeform 105"/>
          <p:cNvSpPr/>
          <p:nvPr/>
        </p:nvSpPr>
        <p:spPr>
          <a:xfrm>
            <a:off x="2057400" y="4086225"/>
            <a:ext cx="3743325" cy="1657350"/>
          </a:xfrm>
          <a:custGeom>
            <a:avLst/>
            <a:gdLst/>
            <a:ahLst/>
            <a:cxnLst/>
            <a:rect l="l" t="t" r="r" b="b"/>
            <a:pathLst>
              <a:path w="393" h="174">
                <a:moveTo>
                  <a:pt x="0" y="172"/>
                </a:moveTo>
                <a:lnTo>
                  <a:pt x="16" y="171"/>
                </a:lnTo>
                <a:lnTo>
                  <a:pt x="33" y="169"/>
                </a:lnTo>
                <a:lnTo>
                  <a:pt x="49" y="165"/>
                </a:lnTo>
                <a:lnTo>
                  <a:pt x="65" y="159"/>
                </a:lnTo>
                <a:lnTo>
                  <a:pt x="82" y="153"/>
                </a:lnTo>
                <a:lnTo>
                  <a:pt x="98" y="145"/>
                </a:lnTo>
                <a:lnTo>
                  <a:pt x="114" y="137"/>
                </a:lnTo>
                <a:lnTo>
                  <a:pt x="131" y="128"/>
                </a:lnTo>
                <a:lnTo>
                  <a:pt x="147" y="118"/>
                </a:lnTo>
                <a:lnTo>
                  <a:pt x="164" y="107"/>
                </a:lnTo>
                <a:lnTo>
                  <a:pt x="180" y="97"/>
                </a:lnTo>
                <a:lnTo>
                  <a:pt x="196" y="86"/>
                </a:lnTo>
                <a:lnTo>
                  <a:pt x="213" y="76"/>
                </a:lnTo>
                <a:lnTo>
                  <a:pt x="229" y="65"/>
                </a:lnTo>
                <a:lnTo>
                  <a:pt x="246" y="55"/>
                </a:lnTo>
                <a:lnTo>
                  <a:pt x="262" y="45"/>
                </a:lnTo>
                <a:lnTo>
                  <a:pt x="278" y="36"/>
                </a:lnTo>
                <a:lnTo>
                  <a:pt x="295" y="27"/>
                </a:lnTo>
                <a:lnTo>
                  <a:pt x="311" y="20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6"/>
                </a:lnTo>
                <a:lnTo>
                  <a:pt x="344" y="10"/>
                </a:lnTo>
                <a:lnTo>
                  <a:pt x="327" y="15"/>
                </a:lnTo>
                <a:lnTo>
                  <a:pt x="311" y="22"/>
                </a:lnTo>
                <a:lnTo>
                  <a:pt x="295" y="29"/>
                </a:lnTo>
                <a:lnTo>
                  <a:pt x="278" y="38"/>
                </a:lnTo>
                <a:lnTo>
                  <a:pt x="262" y="47"/>
                </a:lnTo>
                <a:lnTo>
                  <a:pt x="246" y="57"/>
                </a:lnTo>
                <a:lnTo>
                  <a:pt x="229" y="67"/>
                </a:lnTo>
                <a:lnTo>
                  <a:pt x="213" y="78"/>
                </a:lnTo>
                <a:lnTo>
                  <a:pt x="196" y="88"/>
                </a:lnTo>
                <a:lnTo>
                  <a:pt x="180" y="99"/>
                </a:lnTo>
                <a:lnTo>
                  <a:pt x="164" y="110"/>
                </a:lnTo>
                <a:lnTo>
                  <a:pt x="147" y="120"/>
                </a:lnTo>
                <a:lnTo>
                  <a:pt x="131" y="130"/>
                </a:lnTo>
                <a:lnTo>
                  <a:pt x="114" y="139"/>
                </a:lnTo>
                <a:lnTo>
                  <a:pt x="98" y="147"/>
                </a:lnTo>
                <a:lnTo>
                  <a:pt x="82" y="155"/>
                </a:lnTo>
                <a:lnTo>
                  <a:pt x="65" y="161"/>
                </a:lnTo>
                <a:lnTo>
                  <a:pt x="49" y="167"/>
                </a:lnTo>
                <a:lnTo>
                  <a:pt x="33" y="171"/>
                </a:lnTo>
                <a:lnTo>
                  <a:pt x="16" y="173"/>
                </a:lnTo>
                <a:lnTo>
                  <a:pt x="0" y="174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reeform 106"/>
          <p:cNvSpPr/>
          <p:nvPr/>
        </p:nvSpPr>
        <p:spPr>
          <a:xfrm>
            <a:off x="2057400" y="4638675"/>
            <a:ext cx="3743325" cy="1123950"/>
          </a:xfrm>
          <a:custGeom>
            <a:avLst/>
            <a:gdLst/>
            <a:ahLst/>
            <a:cxnLst/>
            <a:rect l="l" t="t" r="r" b="b"/>
            <a:pathLst>
              <a:path w="393" h="118">
                <a:moveTo>
                  <a:pt x="0" y="116"/>
                </a:moveTo>
                <a:lnTo>
                  <a:pt x="16" y="116"/>
                </a:lnTo>
                <a:lnTo>
                  <a:pt x="33" y="114"/>
                </a:lnTo>
                <a:lnTo>
                  <a:pt x="49" y="111"/>
                </a:lnTo>
                <a:lnTo>
                  <a:pt x="65" y="107"/>
                </a:lnTo>
                <a:lnTo>
                  <a:pt x="82" y="103"/>
                </a:lnTo>
                <a:lnTo>
                  <a:pt x="98" y="98"/>
                </a:lnTo>
                <a:lnTo>
                  <a:pt x="114" y="92"/>
                </a:lnTo>
                <a:lnTo>
                  <a:pt x="131" y="86"/>
                </a:lnTo>
                <a:lnTo>
                  <a:pt x="147" y="79"/>
                </a:lnTo>
                <a:lnTo>
                  <a:pt x="164" y="72"/>
                </a:lnTo>
                <a:lnTo>
                  <a:pt x="180" y="65"/>
                </a:lnTo>
                <a:lnTo>
                  <a:pt x="196" y="58"/>
                </a:lnTo>
                <a:lnTo>
                  <a:pt x="213" y="51"/>
                </a:lnTo>
                <a:lnTo>
                  <a:pt x="229" y="44"/>
                </a:lnTo>
                <a:lnTo>
                  <a:pt x="246" y="37"/>
                </a:lnTo>
                <a:lnTo>
                  <a:pt x="262" y="30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9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7"/>
                </a:lnTo>
                <a:lnTo>
                  <a:pt x="327" y="11"/>
                </a:lnTo>
                <a:lnTo>
                  <a:pt x="311" y="15"/>
                </a:lnTo>
                <a:lnTo>
                  <a:pt x="295" y="20"/>
                </a:lnTo>
                <a:lnTo>
                  <a:pt x="278" y="26"/>
                </a:lnTo>
                <a:lnTo>
                  <a:pt x="262" y="32"/>
                </a:lnTo>
                <a:lnTo>
                  <a:pt x="246" y="39"/>
                </a:lnTo>
                <a:lnTo>
                  <a:pt x="229" y="46"/>
                </a:lnTo>
                <a:lnTo>
                  <a:pt x="213" y="53"/>
                </a:lnTo>
                <a:lnTo>
                  <a:pt x="196" y="60"/>
                </a:lnTo>
                <a:lnTo>
                  <a:pt x="180" y="68"/>
                </a:lnTo>
                <a:lnTo>
                  <a:pt x="164" y="75"/>
                </a:lnTo>
                <a:lnTo>
                  <a:pt x="147" y="82"/>
                </a:lnTo>
                <a:lnTo>
                  <a:pt x="131" y="88"/>
                </a:lnTo>
                <a:lnTo>
                  <a:pt x="114" y="95"/>
                </a:lnTo>
                <a:lnTo>
                  <a:pt x="98" y="100"/>
                </a:lnTo>
                <a:lnTo>
                  <a:pt x="82" y="105"/>
                </a:lnTo>
                <a:lnTo>
                  <a:pt x="65" y="110"/>
                </a:lnTo>
                <a:lnTo>
                  <a:pt x="49" y="113"/>
                </a:lnTo>
                <a:lnTo>
                  <a:pt x="33" y="116"/>
                </a:lnTo>
                <a:lnTo>
                  <a:pt x="16" y="118"/>
                </a:lnTo>
                <a:lnTo>
                  <a:pt x="0" y="118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2057400" y="5191125"/>
            <a:ext cx="3743325" cy="600075"/>
          </a:xfrm>
          <a:custGeom>
            <a:avLst/>
            <a:gdLst/>
            <a:ahLst/>
            <a:cxnLst/>
            <a:rect l="l" t="t" r="r" b="b"/>
            <a:pathLst>
              <a:path w="393" h="63">
                <a:moveTo>
                  <a:pt x="0" y="60"/>
                </a:moveTo>
                <a:lnTo>
                  <a:pt x="16" y="60"/>
                </a:lnTo>
                <a:lnTo>
                  <a:pt x="33" y="59"/>
                </a:lnTo>
                <a:lnTo>
                  <a:pt x="49" y="58"/>
                </a:lnTo>
                <a:lnTo>
                  <a:pt x="65" y="56"/>
                </a:lnTo>
                <a:lnTo>
                  <a:pt x="82" y="54"/>
                </a:lnTo>
                <a:lnTo>
                  <a:pt x="98" y="51"/>
                </a:lnTo>
                <a:lnTo>
                  <a:pt x="114" y="48"/>
                </a:lnTo>
                <a:lnTo>
                  <a:pt x="131" y="45"/>
                </a:lnTo>
                <a:lnTo>
                  <a:pt x="147" y="41"/>
                </a:lnTo>
                <a:lnTo>
                  <a:pt x="164" y="38"/>
                </a:lnTo>
                <a:lnTo>
                  <a:pt x="180" y="34"/>
                </a:lnTo>
                <a:lnTo>
                  <a:pt x="196" y="30"/>
                </a:lnTo>
                <a:lnTo>
                  <a:pt x="213" y="26"/>
                </a:lnTo>
                <a:lnTo>
                  <a:pt x="229" y="23"/>
                </a:lnTo>
                <a:lnTo>
                  <a:pt x="246" y="19"/>
                </a:lnTo>
                <a:lnTo>
                  <a:pt x="262" y="16"/>
                </a:lnTo>
                <a:lnTo>
                  <a:pt x="278" y="12"/>
                </a:lnTo>
                <a:lnTo>
                  <a:pt x="295" y="9"/>
                </a:lnTo>
                <a:lnTo>
                  <a:pt x="311" y="7"/>
                </a:lnTo>
                <a:lnTo>
                  <a:pt x="327" y="4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4"/>
                </a:lnTo>
                <a:lnTo>
                  <a:pt x="344" y="5"/>
                </a:lnTo>
                <a:lnTo>
                  <a:pt x="327" y="7"/>
                </a:lnTo>
                <a:lnTo>
                  <a:pt x="311" y="9"/>
                </a:lnTo>
                <a:lnTo>
                  <a:pt x="295" y="12"/>
                </a:lnTo>
                <a:lnTo>
                  <a:pt x="278" y="15"/>
                </a:lnTo>
                <a:lnTo>
                  <a:pt x="262" y="18"/>
                </a:lnTo>
                <a:lnTo>
                  <a:pt x="246" y="22"/>
                </a:lnTo>
                <a:lnTo>
                  <a:pt x="229" y="25"/>
                </a:lnTo>
                <a:lnTo>
                  <a:pt x="213" y="29"/>
                </a:lnTo>
                <a:lnTo>
                  <a:pt x="196" y="33"/>
                </a:lnTo>
                <a:lnTo>
                  <a:pt x="180" y="37"/>
                </a:lnTo>
                <a:lnTo>
                  <a:pt x="164" y="40"/>
                </a:lnTo>
                <a:lnTo>
                  <a:pt x="147" y="44"/>
                </a:lnTo>
                <a:lnTo>
                  <a:pt x="131" y="47"/>
                </a:lnTo>
                <a:lnTo>
                  <a:pt x="114" y="51"/>
                </a:lnTo>
                <a:lnTo>
                  <a:pt x="98" y="54"/>
                </a:lnTo>
                <a:lnTo>
                  <a:pt x="82" y="56"/>
                </a:lnTo>
                <a:lnTo>
                  <a:pt x="65" y="59"/>
                </a:lnTo>
                <a:lnTo>
                  <a:pt x="49" y="61"/>
                </a:lnTo>
                <a:lnTo>
                  <a:pt x="33" y="62"/>
                </a:lnTo>
                <a:lnTo>
                  <a:pt x="1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Freeform 108"/>
          <p:cNvSpPr/>
          <p:nvPr/>
        </p:nvSpPr>
        <p:spPr>
          <a:xfrm>
            <a:off x="2057400" y="5734050"/>
            <a:ext cx="3743325" cy="85725"/>
          </a:xfrm>
          <a:custGeom>
            <a:avLst/>
            <a:gdLst/>
            <a:ahLst/>
            <a:cxnLst/>
            <a:rect l="l" t="t" r="r" b="b"/>
            <a:pathLst>
              <a:path w="393" h="9">
                <a:moveTo>
                  <a:pt x="0" y="6"/>
                </a:moveTo>
                <a:lnTo>
                  <a:pt x="16" y="6"/>
                </a:lnTo>
                <a:lnTo>
                  <a:pt x="33" y="6"/>
                </a:lnTo>
                <a:lnTo>
                  <a:pt x="49" y="6"/>
                </a:lnTo>
                <a:lnTo>
                  <a:pt x="65" y="6"/>
                </a:lnTo>
                <a:lnTo>
                  <a:pt x="82" y="5"/>
                </a:lnTo>
                <a:lnTo>
                  <a:pt x="98" y="5"/>
                </a:lnTo>
                <a:lnTo>
                  <a:pt x="114" y="5"/>
                </a:lnTo>
                <a:lnTo>
                  <a:pt x="131" y="4"/>
                </a:lnTo>
                <a:lnTo>
                  <a:pt x="147" y="4"/>
                </a:lnTo>
                <a:lnTo>
                  <a:pt x="164" y="4"/>
                </a:lnTo>
                <a:lnTo>
                  <a:pt x="180" y="3"/>
                </a:lnTo>
                <a:lnTo>
                  <a:pt x="196" y="3"/>
                </a:lnTo>
                <a:lnTo>
                  <a:pt x="213" y="3"/>
                </a:lnTo>
                <a:lnTo>
                  <a:pt x="229" y="2"/>
                </a:lnTo>
                <a:lnTo>
                  <a:pt x="246" y="2"/>
                </a:lnTo>
                <a:lnTo>
                  <a:pt x="262" y="1"/>
                </a:lnTo>
                <a:lnTo>
                  <a:pt x="278" y="1"/>
                </a:lnTo>
                <a:lnTo>
                  <a:pt x="295" y="1"/>
                </a:lnTo>
                <a:lnTo>
                  <a:pt x="311" y="0"/>
                </a:lnTo>
                <a:lnTo>
                  <a:pt x="327" y="0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3"/>
                </a:lnTo>
                <a:lnTo>
                  <a:pt x="377" y="3"/>
                </a:lnTo>
                <a:lnTo>
                  <a:pt x="360" y="3"/>
                </a:lnTo>
                <a:lnTo>
                  <a:pt x="344" y="3"/>
                </a:lnTo>
                <a:lnTo>
                  <a:pt x="327" y="3"/>
                </a:lnTo>
                <a:lnTo>
                  <a:pt x="311" y="3"/>
                </a:lnTo>
                <a:lnTo>
                  <a:pt x="295" y="4"/>
                </a:lnTo>
                <a:lnTo>
                  <a:pt x="278" y="4"/>
                </a:lnTo>
                <a:lnTo>
                  <a:pt x="262" y="4"/>
                </a:lnTo>
                <a:lnTo>
                  <a:pt x="246" y="5"/>
                </a:lnTo>
                <a:lnTo>
                  <a:pt x="229" y="5"/>
                </a:lnTo>
                <a:lnTo>
                  <a:pt x="213" y="5"/>
                </a:lnTo>
                <a:lnTo>
                  <a:pt x="196" y="6"/>
                </a:lnTo>
                <a:lnTo>
                  <a:pt x="180" y="6"/>
                </a:lnTo>
                <a:lnTo>
                  <a:pt x="164" y="7"/>
                </a:lnTo>
                <a:lnTo>
                  <a:pt x="147" y="7"/>
                </a:lnTo>
                <a:lnTo>
                  <a:pt x="131" y="7"/>
                </a:lnTo>
                <a:lnTo>
                  <a:pt x="114" y="8"/>
                </a:lnTo>
                <a:lnTo>
                  <a:pt x="98" y="8"/>
                </a:lnTo>
                <a:lnTo>
                  <a:pt x="82" y="8"/>
                </a:lnTo>
                <a:lnTo>
                  <a:pt x="65" y="9"/>
                </a:lnTo>
                <a:lnTo>
                  <a:pt x="49" y="9"/>
                </a:lnTo>
                <a:lnTo>
                  <a:pt x="33" y="9"/>
                </a:lnTo>
                <a:lnTo>
                  <a:pt x="16" y="9"/>
                </a:lnTo>
                <a:lnTo>
                  <a:pt x="0" y="9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Freeform 109"/>
          <p:cNvSpPr/>
          <p:nvPr/>
        </p:nvSpPr>
        <p:spPr>
          <a:xfrm>
            <a:off x="2057400" y="5819775"/>
            <a:ext cx="3743325" cy="495300"/>
          </a:xfrm>
          <a:custGeom>
            <a:avLst/>
            <a:gdLst/>
            <a:ahLst/>
            <a:cxnLst/>
            <a:rect l="l" t="t" r="r" b="b"/>
            <a:pathLst>
              <a:path w="393" h="52">
                <a:moveTo>
                  <a:pt x="0" y="0"/>
                </a:moveTo>
                <a:lnTo>
                  <a:pt x="16" y="0"/>
                </a:lnTo>
                <a:lnTo>
                  <a:pt x="33" y="1"/>
                </a:lnTo>
                <a:lnTo>
                  <a:pt x="49" y="2"/>
                </a:lnTo>
                <a:lnTo>
                  <a:pt x="65" y="4"/>
                </a:lnTo>
                <a:lnTo>
                  <a:pt x="82" y="6"/>
                </a:lnTo>
                <a:lnTo>
                  <a:pt x="98" y="8"/>
                </a:lnTo>
                <a:lnTo>
                  <a:pt x="114" y="10"/>
                </a:lnTo>
                <a:lnTo>
                  <a:pt x="131" y="13"/>
                </a:lnTo>
                <a:lnTo>
                  <a:pt x="147" y="16"/>
                </a:lnTo>
                <a:lnTo>
                  <a:pt x="164" y="19"/>
                </a:lnTo>
                <a:lnTo>
                  <a:pt x="180" y="22"/>
                </a:lnTo>
                <a:lnTo>
                  <a:pt x="196" y="25"/>
                </a:lnTo>
                <a:lnTo>
                  <a:pt x="213" y="28"/>
                </a:lnTo>
                <a:lnTo>
                  <a:pt x="229" y="31"/>
                </a:lnTo>
                <a:lnTo>
                  <a:pt x="246" y="34"/>
                </a:lnTo>
                <a:lnTo>
                  <a:pt x="262" y="37"/>
                </a:lnTo>
                <a:lnTo>
                  <a:pt x="278" y="39"/>
                </a:lnTo>
                <a:lnTo>
                  <a:pt x="295" y="42"/>
                </a:lnTo>
                <a:lnTo>
                  <a:pt x="311" y="44"/>
                </a:lnTo>
                <a:lnTo>
                  <a:pt x="327" y="46"/>
                </a:lnTo>
                <a:lnTo>
                  <a:pt x="344" y="48"/>
                </a:lnTo>
                <a:lnTo>
                  <a:pt x="360" y="49"/>
                </a:lnTo>
                <a:lnTo>
                  <a:pt x="377" y="49"/>
                </a:lnTo>
                <a:lnTo>
                  <a:pt x="393" y="50"/>
                </a:lnTo>
                <a:lnTo>
                  <a:pt x="393" y="52"/>
                </a:lnTo>
                <a:lnTo>
                  <a:pt x="377" y="52"/>
                </a:lnTo>
                <a:lnTo>
                  <a:pt x="360" y="51"/>
                </a:lnTo>
                <a:lnTo>
                  <a:pt x="344" y="50"/>
                </a:lnTo>
                <a:lnTo>
                  <a:pt x="327" y="48"/>
                </a:lnTo>
                <a:lnTo>
                  <a:pt x="311" y="46"/>
                </a:lnTo>
                <a:lnTo>
                  <a:pt x="295" y="44"/>
                </a:lnTo>
                <a:lnTo>
                  <a:pt x="278" y="42"/>
                </a:lnTo>
                <a:lnTo>
                  <a:pt x="262" y="39"/>
                </a:lnTo>
                <a:lnTo>
                  <a:pt x="246" y="36"/>
                </a:lnTo>
                <a:lnTo>
                  <a:pt x="229" y="33"/>
                </a:lnTo>
                <a:lnTo>
                  <a:pt x="213" y="30"/>
                </a:lnTo>
                <a:lnTo>
                  <a:pt x="196" y="27"/>
                </a:lnTo>
                <a:lnTo>
                  <a:pt x="180" y="24"/>
                </a:lnTo>
                <a:lnTo>
                  <a:pt x="164" y="21"/>
                </a:lnTo>
                <a:lnTo>
                  <a:pt x="147" y="18"/>
                </a:lnTo>
                <a:lnTo>
                  <a:pt x="131" y="15"/>
                </a:lnTo>
                <a:lnTo>
                  <a:pt x="114" y="12"/>
                </a:lnTo>
                <a:lnTo>
                  <a:pt x="98" y="10"/>
                </a:lnTo>
                <a:lnTo>
                  <a:pt x="82" y="8"/>
                </a:lnTo>
                <a:lnTo>
                  <a:pt x="65" y="6"/>
                </a:lnTo>
                <a:lnTo>
                  <a:pt x="49" y="4"/>
                </a:lnTo>
                <a:lnTo>
                  <a:pt x="33" y="3"/>
                </a:lnTo>
                <a:lnTo>
                  <a:pt x="16" y="3"/>
                </a:lnTo>
                <a:lnTo>
                  <a:pt x="0" y="2"/>
                </a:lnTo>
                <a:close/>
              </a:path>
            </a:pathLst>
          </a:custGeom>
          <a:solidFill>
            <a:srgbClr val="B2B2B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Freeform 110"/>
          <p:cNvSpPr/>
          <p:nvPr/>
        </p:nvSpPr>
        <p:spPr>
          <a:xfrm>
            <a:off x="2057400" y="1914525"/>
            <a:ext cx="3743325" cy="4010025"/>
          </a:xfrm>
          <a:custGeom>
            <a:avLst/>
            <a:gdLst/>
            <a:ahLst/>
            <a:cxnLst/>
            <a:rect l="l" t="t" r="r" b="b"/>
            <a:pathLst>
              <a:path w="393" h="421">
                <a:moveTo>
                  <a:pt x="0" y="418"/>
                </a:moveTo>
                <a:lnTo>
                  <a:pt x="16" y="416"/>
                </a:lnTo>
                <a:lnTo>
                  <a:pt x="33" y="410"/>
                </a:lnTo>
                <a:lnTo>
                  <a:pt x="49" y="400"/>
                </a:lnTo>
                <a:lnTo>
                  <a:pt x="65" y="387"/>
                </a:lnTo>
                <a:lnTo>
                  <a:pt x="82" y="371"/>
                </a:lnTo>
                <a:lnTo>
                  <a:pt x="98" y="353"/>
                </a:lnTo>
                <a:lnTo>
                  <a:pt x="114" y="332"/>
                </a:lnTo>
                <a:lnTo>
                  <a:pt x="131" y="310"/>
                </a:lnTo>
                <a:lnTo>
                  <a:pt x="147" y="286"/>
                </a:lnTo>
                <a:lnTo>
                  <a:pt x="164" y="261"/>
                </a:lnTo>
                <a:lnTo>
                  <a:pt x="180" y="235"/>
                </a:lnTo>
                <a:lnTo>
                  <a:pt x="196" y="209"/>
                </a:lnTo>
                <a:lnTo>
                  <a:pt x="213" y="183"/>
                </a:lnTo>
                <a:lnTo>
                  <a:pt x="229" y="158"/>
                </a:lnTo>
                <a:lnTo>
                  <a:pt x="246" y="133"/>
                </a:lnTo>
                <a:lnTo>
                  <a:pt x="262" y="109"/>
                </a:lnTo>
                <a:lnTo>
                  <a:pt x="278" y="86"/>
                </a:lnTo>
                <a:lnTo>
                  <a:pt x="295" y="66"/>
                </a:lnTo>
                <a:lnTo>
                  <a:pt x="311" y="47"/>
                </a:lnTo>
                <a:lnTo>
                  <a:pt x="327" y="31"/>
                </a:lnTo>
                <a:lnTo>
                  <a:pt x="344" y="18"/>
                </a:lnTo>
                <a:lnTo>
                  <a:pt x="360" y="9"/>
                </a:lnTo>
                <a:lnTo>
                  <a:pt x="377" y="2"/>
                </a:lnTo>
                <a:lnTo>
                  <a:pt x="393" y="0"/>
                </a:lnTo>
                <a:lnTo>
                  <a:pt x="393" y="3"/>
                </a:lnTo>
                <a:lnTo>
                  <a:pt x="377" y="5"/>
                </a:lnTo>
                <a:lnTo>
                  <a:pt x="360" y="11"/>
                </a:lnTo>
                <a:lnTo>
                  <a:pt x="344" y="20"/>
                </a:lnTo>
                <a:lnTo>
                  <a:pt x="327" y="33"/>
                </a:lnTo>
                <a:lnTo>
                  <a:pt x="311" y="49"/>
                </a:lnTo>
                <a:lnTo>
                  <a:pt x="295" y="68"/>
                </a:lnTo>
                <a:lnTo>
                  <a:pt x="278" y="88"/>
                </a:lnTo>
                <a:lnTo>
                  <a:pt x="262" y="111"/>
                </a:lnTo>
                <a:lnTo>
                  <a:pt x="246" y="135"/>
                </a:lnTo>
                <a:lnTo>
                  <a:pt x="229" y="160"/>
                </a:lnTo>
                <a:lnTo>
                  <a:pt x="213" y="185"/>
                </a:lnTo>
                <a:lnTo>
                  <a:pt x="196" y="212"/>
                </a:lnTo>
                <a:lnTo>
                  <a:pt x="180" y="238"/>
                </a:lnTo>
                <a:lnTo>
                  <a:pt x="164" y="263"/>
                </a:lnTo>
                <a:lnTo>
                  <a:pt x="147" y="288"/>
                </a:lnTo>
                <a:lnTo>
                  <a:pt x="131" y="312"/>
                </a:lnTo>
                <a:lnTo>
                  <a:pt x="114" y="335"/>
                </a:lnTo>
                <a:lnTo>
                  <a:pt x="98" y="355"/>
                </a:lnTo>
                <a:lnTo>
                  <a:pt x="82" y="374"/>
                </a:lnTo>
                <a:lnTo>
                  <a:pt x="65" y="390"/>
                </a:lnTo>
                <a:lnTo>
                  <a:pt x="49" y="403"/>
                </a:lnTo>
                <a:lnTo>
                  <a:pt x="33" y="412"/>
                </a:lnTo>
                <a:lnTo>
                  <a:pt x="16" y="418"/>
                </a:lnTo>
                <a:lnTo>
                  <a:pt x="0" y="421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Freeform 111"/>
          <p:cNvSpPr/>
          <p:nvPr/>
        </p:nvSpPr>
        <p:spPr>
          <a:xfrm>
            <a:off x="2057400" y="2466975"/>
            <a:ext cx="3743325" cy="3467100"/>
          </a:xfrm>
          <a:custGeom>
            <a:avLst/>
            <a:gdLst/>
            <a:ahLst/>
            <a:cxnLst/>
            <a:rect l="l" t="t" r="r" b="b"/>
            <a:pathLst>
              <a:path w="393" h="364">
                <a:moveTo>
                  <a:pt x="0" y="363"/>
                </a:moveTo>
                <a:lnTo>
                  <a:pt x="16" y="361"/>
                </a:lnTo>
                <a:lnTo>
                  <a:pt x="33" y="355"/>
                </a:lnTo>
                <a:lnTo>
                  <a:pt x="49" y="347"/>
                </a:lnTo>
                <a:lnTo>
                  <a:pt x="65" y="336"/>
                </a:lnTo>
                <a:lnTo>
                  <a:pt x="82" y="322"/>
                </a:lnTo>
                <a:lnTo>
                  <a:pt x="98" y="306"/>
                </a:lnTo>
                <a:lnTo>
                  <a:pt x="114" y="288"/>
                </a:lnTo>
                <a:lnTo>
                  <a:pt x="131" y="269"/>
                </a:lnTo>
                <a:lnTo>
                  <a:pt x="147" y="248"/>
                </a:lnTo>
                <a:lnTo>
                  <a:pt x="164" y="226"/>
                </a:lnTo>
                <a:lnTo>
                  <a:pt x="180" y="204"/>
                </a:lnTo>
                <a:lnTo>
                  <a:pt x="196" y="181"/>
                </a:lnTo>
                <a:lnTo>
                  <a:pt x="213" y="159"/>
                </a:lnTo>
                <a:lnTo>
                  <a:pt x="229" y="136"/>
                </a:lnTo>
                <a:lnTo>
                  <a:pt x="246" y="115"/>
                </a:lnTo>
                <a:lnTo>
                  <a:pt x="262" y="94"/>
                </a:lnTo>
                <a:lnTo>
                  <a:pt x="278" y="75"/>
                </a:lnTo>
                <a:lnTo>
                  <a:pt x="295" y="57"/>
                </a:lnTo>
                <a:lnTo>
                  <a:pt x="311" y="41"/>
                </a:lnTo>
                <a:lnTo>
                  <a:pt x="327" y="27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9"/>
                </a:lnTo>
                <a:lnTo>
                  <a:pt x="344" y="17"/>
                </a:lnTo>
                <a:lnTo>
                  <a:pt x="327" y="29"/>
                </a:lnTo>
                <a:lnTo>
                  <a:pt x="311" y="42"/>
                </a:lnTo>
                <a:lnTo>
                  <a:pt x="295" y="58"/>
                </a:lnTo>
                <a:lnTo>
                  <a:pt x="278" y="76"/>
                </a:lnTo>
                <a:lnTo>
                  <a:pt x="262" y="96"/>
                </a:lnTo>
                <a:lnTo>
                  <a:pt x="246" y="116"/>
                </a:lnTo>
                <a:lnTo>
                  <a:pt x="229" y="138"/>
                </a:lnTo>
                <a:lnTo>
                  <a:pt x="213" y="160"/>
                </a:lnTo>
                <a:lnTo>
                  <a:pt x="196" y="183"/>
                </a:lnTo>
                <a:lnTo>
                  <a:pt x="180" y="206"/>
                </a:lnTo>
                <a:lnTo>
                  <a:pt x="164" y="228"/>
                </a:lnTo>
                <a:lnTo>
                  <a:pt x="147" y="249"/>
                </a:lnTo>
                <a:lnTo>
                  <a:pt x="131" y="270"/>
                </a:lnTo>
                <a:lnTo>
                  <a:pt x="114" y="290"/>
                </a:lnTo>
                <a:lnTo>
                  <a:pt x="98" y="308"/>
                </a:lnTo>
                <a:lnTo>
                  <a:pt x="82" y="324"/>
                </a:lnTo>
                <a:lnTo>
                  <a:pt x="65" y="337"/>
                </a:lnTo>
                <a:lnTo>
                  <a:pt x="49" y="349"/>
                </a:lnTo>
                <a:lnTo>
                  <a:pt x="33" y="357"/>
                </a:lnTo>
                <a:lnTo>
                  <a:pt x="16" y="362"/>
                </a:lnTo>
                <a:lnTo>
                  <a:pt x="0" y="364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Freeform 112"/>
          <p:cNvSpPr/>
          <p:nvPr/>
        </p:nvSpPr>
        <p:spPr>
          <a:xfrm>
            <a:off x="2057400" y="3019425"/>
            <a:ext cx="3743325" cy="2933700"/>
          </a:xfrm>
          <a:custGeom>
            <a:avLst/>
            <a:gdLst/>
            <a:ahLst/>
            <a:cxnLst/>
            <a:rect l="l" t="t" r="r" b="b"/>
            <a:pathLst>
              <a:path w="393" h="308">
                <a:moveTo>
                  <a:pt x="0" y="306"/>
                </a:moveTo>
                <a:lnTo>
                  <a:pt x="16" y="305"/>
                </a:lnTo>
                <a:lnTo>
                  <a:pt x="33" y="300"/>
                </a:lnTo>
                <a:lnTo>
                  <a:pt x="49" y="293"/>
                </a:lnTo>
                <a:lnTo>
                  <a:pt x="65" y="283"/>
                </a:lnTo>
                <a:lnTo>
                  <a:pt x="82" y="272"/>
                </a:lnTo>
                <a:lnTo>
                  <a:pt x="98" y="258"/>
                </a:lnTo>
                <a:lnTo>
                  <a:pt x="114" y="243"/>
                </a:lnTo>
                <a:lnTo>
                  <a:pt x="131" y="227"/>
                </a:lnTo>
                <a:lnTo>
                  <a:pt x="147" y="209"/>
                </a:lnTo>
                <a:lnTo>
                  <a:pt x="164" y="191"/>
                </a:lnTo>
                <a:lnTo>
                  <a:pt x="180" y="172"/>
                </a:lnTo>
                <a:lnTo>
                  <a:pt x="196" y="153"/>
                </a:lnTo>
                <a:lnTo>
                  <a:pt x="213" y="134"/>
                </a:lnTo>
                <a:lnTo>
                  <a:pt x="229" y="115"/>
                </a:lnTo>
                <a:lnTo>
                  <a:pt x="246" y="97"/>
                </a:lnTo>
                <a:lnTo>
                  <a:pt x="262" y="79"/>
                </a:lnTo>
                <a:lnTo>
                  <a:pt x="278" y="63"/>
                </a:lnTo>
                <a:lnTo>
                  <a:pt x="295" y="48"/>
                </a:lnTo>
                <a:lnTo>
                  <a:pt x="311" y="34"/>
                </a:lnTo>
                <a:lnTo>
                  <a:pt x="327" y="22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8"/>
                </a:lnTo>
                <a:lnTo>
                  <a:pt x="344" y="15"/>
                </a:lnTo>
                <a:lnTo>
                  <a:pt x="327" y="25"/>
                </a:lnTo>
                <a:lnTo>
                  <a:pt x="311" y="36"/>
                </a:lnTo>
                <a:lnTo>
                  <a:pt x="295" y="50"/>
                </a:lnTo>
                <a:lnTo>
                  <a:pt x="278" y="65"/>
                </a:lnTo>
                <a:lnTo>
                  <a:pt x="262" y="81"/>
                </a:lnTo>
                <a:lnTo>
                  <a:pt x="246" y="99"/>
                </a:lnTo>
                <a:lnTo>
                  <a:pt x="229" y="117"/>
                </a:lnTo>
                <a:lnTo>
                  <a:pt x="213" y="136"/>
                </a:lnTo>
                <a:lnTo>
                  <a:pt x="196" y="155"/>
                </a:lnTo>
                <a:lnTo>
                  <a:pt x="180" y="174"/>
                </a:lnTo>
                <a:lnTo>
                  <a:pt x="164" y="193"/>
                </a:lnTo>
                <a:lnTo>
                  <a:pt x="147" y="212"/>
                </a:lnTo>
                <a:lnTo>
                  <a:pt x="131" y="229"/>
                </a:lnTo>
                <a:lnTo>
                  <a:pt x="114" y="245"/>
                </a:lnTo>
                <a:lnTo>
                  <a:pt x="98" y="261"/>
                </a:lnTo>
                <a:lnTo>
                  <a:pt x="82" y="274"/>
                </a:lnTo>
                <a:lnTo>
                  <a:pt x="65" y="286"/>
                </a:lnTo>
                <a:lnTo>
                  <a:pt x="49" y="295"/>
                </a:lnTo>
                <a:lnTo>
                  <a:pt x="33" y="302"/>
                </a:lnTo>
                <a:lnTo>
                  <a:pt x="16" y="307"/>
                </a:lnTo>
                <a:lnTo>
                  <a:pt x="0" y="308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Freeform 113"/>
          <p:cNvSpPr/>
          <p:nvPr/>
        </p:nvSpPr>
        <p:spPr>
          <a:xfrm>
            <a:off x="2057400" y="3562350"/>
            <a:ext cx="3743325" cy="2419350"/>
          </a:xfrm>
          <a:custGeom>
            <a:avLst/>
            <a:gdLst/>
            <a:ahLst/>
            <a:cxnLst/>
            <a:rect l="l" t="t" r="r" b="b"/>
            <a:pathLst>
              <a:path w="393" h="254">
                <a:moveTo>
                  <a:pt x="0" y="251"/>
                </a:moveTo>
                <a:lnTo>
                  <a:pt x="16" y="250"/>
                </a:lnTo>
                <a:lnTo>
                  <a:pt x="33" y="247"/>
                </a:lnTo>
                <a:lnTo>
                  <a:pt x="49" y="241"/>
                </a:lnTo>
                <a:lnTo>
                  <a:pt x="65" y="233"/>
                </a:lnTo>
                <a:lnTo>
                  <a:pt x="82" y="223"/>
                </a:lnTo>
                <a:lnTo>
                  <a:pt x="98" y="212"/>
                </a:lnTo>
                <a:lnTo>
                  <a:pt x="114" y="200"/>
                </a:lnTo>
                <a:lnTo>
                  <a:pt x="131" y="186"/>
                </a:lnTo>
                <a:lnTo>
                  <a:pt x="147" y="172"/>
                </a:lnTo>
                <a:lnTo>
                  <a:pt x="164" y="157"/>
                </a:lnTo>
                <a:lnTo>
                  <a:pt x="180" y="142"/>
                </a:lnTo>
                <a:lnTo>
                  <a:pt x="196" y="126"/>
                </a:lnTo>
                <a:lnTo>
                  <a:pt x="213" y="110"/>
                </a:lnTo>
                <a:lnTo>
                  <a:pt x="229" y="95"/>
                </a:lnTo>
                <a:lnTo>
                  <a:pt x="246" y="80"/>
                </a:lnTo>
                <a:lnTo>
                  <a:pt x="262" y="65"/>
                </a:lnTo>
                <a:lnTo>
                  <a:pt x="278" y="52"/>
                </a:lnTo>
                <a:lnTo>
                  <a:pt x="295" y="40"/>
                </a:lnTo>
                <a:lnTo>
                  <a:pt x="311" y="28"/>
                </a:lnTo>
                <a:lnTo>
                  <a:pt x="327" y="19"/>
                </a:lnTo>
                <a:lnTo>
                  <a:pt x="344" y="11"/>
                </a:lnTo>
                <a:lnTo>
                  <a:pt x="360" y="5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7"/>
                </a:lnTo>
                <a:lnTo>
                  <a:pt x="344" y="13"/>
                </a:lnTo>
                <a:lnTo>
                  <a:pt x="327" y="21"/>
                </a:lnTo>
                <a:lnTo>
                  <a:pt x="311" y="31"/>
                </a:lnTo>
                <a:lnTo>
                  <a:pt x="295" y="42"/>
                </a:lnTo>
                <a:lnTo>
                  <a:pt x="278" y="54"/>
                </a:lnTo>
                <a:lnTo>
                  <a:pt x="262" y="68"/>
                </a:lnTo>
                <a:lnTo>
                  <a:pt x="246" y="82"/>
                </a:lnTo>
                <a:lnTo>
                  <a:pt x="229" y="97"/>
                </a:lnTo>
                <a:lnTo>
                  <a:pt x="213" y="112"/>
                </a:lnTo>
                <a:lnTo>
                  <a:pt x="196" y="128"/>
                </a:lnTo>
                <a:lnTo>
                  <a:pt x="180" y="144"/>
                </a:lnTo>
                <a:lnTo>
                  <a:pt x="164" y="159"/>
                </a:lnTo>
                <a:lnTo>
                  <a:pt x="147" y="174"/>
                </a:lnTo>
                <a:lnTo>
                  <a:pt x="131" y="189"/>
                </a:lnTo>
                <a:lnTo>
                  <a:pt x="114" y="202"/>
                </a:lnTo>
                <a:lnTo>
                  <a:pt x="98" y="214"/>
                </a:lnTo>
                <a:lnTo>
                  <a:pt x="82" y="225"/>
                </a:lnTo>
                <a:lnTo>
                  <a:pt x="65" y="235"/>
                </a:lnTo>
                <a:lnTo>
                  <a:pt x="49" y="243"/>
                </a:lnTo>
                <a:lnTo>
                  <a:pt x="33" y="249"/>
                </a:lnTo>
                <a:lnTo>
                  <a:pt x="16" y="252"/>
                </a:lnTo>
                <a:lnTo>
                  <a:pt x="0" y="254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Freeform 114"/>
          <p:cNvSpPr/>
          <p:nvPr/>
        </p:nvSpPr>
        <p:spPr>
          <a:xfrm>
            <a:off x="2057400" y="4114800"/>
            <a:ext cx="3743325" cy="1885950"/>
          </a:xfrm>
          <a:custGeom>
            <a:avLst/>
            <a:gdLst/>
            <a:ahLst/>
            <a:cxnLst/>
            <a:rect l="l" t="t" r="r" b="b"/>
            <a:pathLst>
              <a:path w="393" h="198">
                <a:moveTo>
                  <a:pt x="0" y="196"/>
                </a:moveTo>
                <a:lnTo>
                  <a:pt x="16" y="195"/>
                </a:lnTo>
                <a:lnTo>
                  <a:pt x="33" y="192"/>
                </a:lnTo>
                <a:lnTo>
                  <a:pt x="49" y="187"/>
                </a:lnTo>
                <a:lnTo>
                  <a:pt x="65" y="181"/>
                </a:lnTo>
                <a:lnTo>
                  <a:pt x="82" y="174"/>
                </a:lnTo>
                <a:lnTo>
                  <a:pt x="98" y="165"/>
                </a:lnTo>
                <a:lnTo>
                  <a:pt x="114" y="155"/>
                </a:lnTo>
                <a:lnTo>
                  <a:pt x="131" y="145"/>
                </a:lnTo>
                <a:lnTo>
                  <a:pt x="147" y="134"/>
                </a:lnTo>
                <a:lnTo>
                  <a:pt x="164" y="122"/>
                </a:lnTo>
                <a:lnTo>
                  <a:pt x="180" y="110"/>
                </a:lnTo>
                <a:lnTo>
                  <a:pt x="196" y="98"/>
                </a:lnTo>
                <a:lnTo>
                  <a:pt x="213" y="85"/>
                </a:lnTo>
                <a:lnTo>
                  <a:pt x="229" y="73"/>
                </a:lnTo>
                <a:lnTo>
                  <a:pt x="246" y="62"/>
                </a:lnTo>
                <a:lnTo>
                  <a:pt x="262" y="50"/>
                </a:lnTo>
                <a:lnTo>
                  <a:pt x="278" y="40"/>
                </a:lnTo>
                <a:lnTo>
                  <a:pt x="295" y="30"/>
                </a:lnTo>
                <a:lnTo>
                  <a:pt x="311" y="22"/>
                </a:lnTo>
                <a:lnTo>
                  <a:pt x="327" y="14"/>
                </a:lnTo>
                <a:lnTo>
                  <a:pt x="344" y="8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1"/>
                </a:lnTo>
                <a:lnTo>
                  <a:pt x="327" y="17"/>
                </a:lnTo>
                <a:lnTo>
                  <a:pt x="311" y="24"/>
                </a:lnTo>
                <a:lnTo>
                  <a:pt x="295" y="33"/>
                </a:lnTo>
                <a:lnTo>
                  <a:pt x="278" y="43"/>
                </a:lnTo>
                <a:lnTo>
                  <a:pt x="262" y="53"/>
                </a:lnTo>
                <a:lnTo>
                  <a:pt x="246" y="64"/>
                </a:lnTo>
                <a:lnTo>
                  <a:pt x="229" y="76"/>
                </a:lnTo>
                <a:lnTo>
                  <a:pt x="213" y="88"/>
                </a:lnTo>
                <a:lnTo>
                  <a:pt x="196" y="100"/>
                </a:lnTo>
                <a:lnTo>
                  <a:pt x="180" y="112"/>
                </a:lnTo>
                <a:lnTo>
                  <a:pt x="164" y="125"/>
                </a:lnTo>
                <a:lnTo>
                  <a:pt x="147" y="136"/>
                </a:lnTo>
                <a:lnTo>
                  <a:pt x="131" y="147"/>
                </a:lnTo>
                <a:lnTo>
                  <a:pt x="114" y="158"/>
                </a:lnTo>
                <a:lnTo>
                  <a:pt x="98" y="168"/>
                </a:lnTo>
                <a:lnTo>
                  <a:pt x="82" y="176"/>
                </a:lnTo>
                <a:lnTo>
                  <a:pt x="65" y="184"/>
                </a:lnTo>
                <a:lnTo>
                  <a:pt x="49" y="190"/>
                </a:lnTo>
                <a:lnTo>
                  <a:pt x="33" y="194"/>
                </a:lnTo>
                <a:lnTo>
                  <a:pt x="16" y="197"/>
                </a:lnTo>
                <a:lnTo>
                  <a:pt x="0" y="198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Freeform 115"/>
          <p:cNvSpPr/>
          <p:nvPr/>
        </p:nvSpPr>
        <p:spPr>
          <a:xfrm>
            <a:off x="2057400" y="4657725"/>
            <a:ext cx="3743325" cy="1362075"/>
          </a:xfrm>
          <a:custGeom>
            <a:avLst/>
            <a:gdLst/>
            <a:ahLst/>
            <a:cxnLst/>
            <a:rect l="l" t="t" r="r" b="b"/>
            <a:pathLst>
              <a:path w="393" h="143">
                <a:moveTo>
                  <a:pt x="0" y="141"/>
                </a:moveTo>
                <a:lnTo>
                  <a:pt x="16" y="141"/>
                </a:lnTo>
                <a:lnTo>
                  <a:pt x="33" y="139"/>
                </a:lnTo>
                <a:lnTo>
                  <a:pt x="49" y="135"/>
                </a:lnTo>
                <a:lnTo>
                  <a:pt x="65" y="131"/>
                </a:lnTo>
                <a:lnTo>
                  <a:pt x="82" y="125"/>
                </a:lnTo>
                <a:lnTo>
                  <a:pt x="98" y="119"/>
                </a:lnTo>
                <a:lnTo>
                  <a:pt x="114" y="112"/>
                </a:lnTo>
                <a:lnTo>
                  <a:pt x="131" y="105"/>
                </a:lnTo>
                <a:lnTo>
                  <a:pt x="147" y="97"/>
                </a:lnTo>
                <a:lnTo>
                  <a:pt x="164" y="88"/>
                </a:lnTo>
                <a:lnTo>
                  <a:pt x="180" y="80"/>
                </a:lnTo>
                <a:lnTo>
                  <a:pt x="196" y="71"/>
                </a:lnTo>
                <a:lnTo>
                  <a:pt x="213" y="62"/>
                </a:lnTo>
                <a:lnTo>
                  <a:pt x="229" y="53"/>
                </a:lnTo>
                <a:lnTo>
                  <a:pt x="246" y="45"/>
                </a:lnTo>
                <a:lnTo>
                  <a:pt x="262" y="37"/>
                </a:lnTo>
                <a:lnTo>
                  <a:pt x="278" y="29"/>
                </a:lnTo>
                <a:lnTo>
                  <a:pt x="295" y="22"/>
                </a:lnTo>
                <a:lnTo>
                  <a:pt x="311" y="16"/>
                </a:lnTo>
                <a:lnTo>
                  <a:pt x="327" y="11"/>
                </a:lnTo>
                <a:lnTo>
                  <a:pt x="344" y="6"/>
                </a:lnTo>
                <a:lnTo>
                  <a:pt x="360" y="3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8"/>
                </a:lnTo>
                <a:lnTo>
                  <a:pt x="327" y="13"/>
                </a:lnTo>
                <a:lnTo>
                  <a:pt x="311" y="18"/>
                </a:lnTo>
                <a:lnTo>
                  <a:pt x="295" y="24"/>
                </a:lnTo>
                <a:lnTo>
                  <a:pt x="278" y="31"/>
                </a:lnTo>
                <a:lnTo>
                  <a:pt x="262" y="39"/>
                </a:lnTo>
                <a:lnTo>
                  <a:pt x="246" y="47"/>
                </a:lnTo>
                <a:lnTo>
                  <a:pt x="229" y="55"/>
                </a:lnTo>
                <a:lnTo>
                  <a:pt x="213" y="64"/>
                </a:lnTo>
                <a:lnTo>
                  <a:pt x="196" y="73"/>
                </a:lnTo>
                <a:lnTo>
                  <a:pt x="180" y="82"/>
                </a:lnTo>
                <a:lnTo>
                  <a:pt x="164" y="90"/>
                </a:lnTo>
                <a:lnTo>
                  <a:pt x="147" y="99"/>
                </a:lnTo>
                <a:lnTo>
                  <a:pt x="131" y="107"/>
                </a:lnTo>
                <a:lnTo>
                  <a:pt x="114" y="114"/>
                </a:lnTo>
                <a:lnTo>
                  <a:pt x="98" y="121"/>
                </a:lnTo>
                <a:lnTo>
                  <a:pt x="82" y="128"/>
                </a:lnTo>
                <a:lnTo>
                  <a:pt x="65" y="133"/>
                </a:lnTo>
                <a:lnTo>
                  <a:pt x="49" y="137"/>
                </a:lnTo>
                <a:lnTo>
                  <a:pt x="33" y="141"/>
                </a:lnTo>
                <a:lnTo>
                  <a:pt x="16" y="143"/>
                </a:lnTo>
                <a:lnTo>
                  <a:pt x="0" y="143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Freeform 116"/>
          <p:cNvSpPr/>
          <p:nvPr/>
        </p:nvSpPr>
        <p:spPr>
          <a:xfrm>
            <a:off x="2057400" y="5219700"/>
            <a:ext cx="3743325" cy="819150"/>
          </a:xfrm>
          <a:custGeom>
            <a:avLst/>
            <a:gdLst/>
            <a:ahLst/>
            <a:cxnLst/>
            <a:rect l="l" t="t" r="r" b="b"/>
            <a:pathLst>
              <a:path w="393" h="86">
                <a:moveTo>
                  <a:pt x="0" y="84"/>
                </a:moveTo>
                <a:lnTo>
                  <a:pt x="16" y="84"/>
                </a:lnTo>
                <a:lnTo>
                  <a:pt x="33" y="83"/>
                </a:lnTo>
                <a:lnTo>
                  <a:pt x="49" y="81"/>
                </a:lnTo>
                <a:lnTo>
                  <a:pt x="65" y="78"/>
                </a:lnTo>
                <a:lnTo>
                  <a:pt x="82" y="75"/>
                </a:lnTo>
                <a:lnTo>
                  <a:pt x="98" y="71"/>
                </a:lnTo>
                <a:lnTo>
                  <a:pt x="114" y="67"/>
                </a:lnTo>
                <a:lnTo>
                  <a:pt x="131" y="62"/>
                </a:lnTo>
                <a:lnTo>
                  <a:pt x="147" y="58"/>
                </a:lnTo>
                <a:lnTo>
                  <a:pt x="164" y="52"/>
                </a:lnTo>
                <a:lnTo>
                  <a:pt x="180" y="47"/>
                </a:lnTo>
                <a:lnTo>
                  <a:pt x="196" y="42"/>
                </a:lnTo>
                <a:lnTo>
                  <a:pt x="213" y="37"/>
                </a:lnTo>
                <a:lnTo>
                  <a:pt x="229" y="31"/>
                </a:lnTo>
                <a:lnTo>
                  <a:pt x="246" y="26"/>
                </a:lnTo>
                <a:lnTo>
                  <a:pt x="262" y="22"/>
                </a:lnTo>
                <a:lnTo>
                  <a:pt x="278" y="17"/>
                </a:lnTo>
                <a:lnTo>
                  <a:pt x="295" y="13"/>
                </a:lnTo>
                <a:lnTo>
                  <a:pt x="311" y="9"/>
                </a:lnTo>
                <a:lnTo>
                  <a:pt x="327" y="6"/>
                </a:lnTo>
                <a:lnTo>
                  <a:pt x="344" y="3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3"/>
                </a:lnTo>
                <a:lnTo>
                  <a:pt x="344" y="5"/>
                </a:lnTo>
                <a:lnTo>
                  <a:pt x="327" y="8"/>
                </a:lnTo>
                <a:lnTo>
                  <a:pt x="311" y="11"/>
                </a:lnTo>
                <a:lnTo>
                  <a:pt x="295" y="15"/>
                </a:lnTo>
                <a:lnTo>
                  <a:pt x="278" y="19"/>
                </a:lnTo>
                <a:lnTo>
                  <a:pt x="262" y="23"/>
                </a:lnTo>
                <a:lnTo>
                  <a:pt x="246" y="28"/>
                </a:lnTo>
                <a:lnTo>
                  <a:pt x="229" y="33"/>
                </a:lnTo>
                <a:lnTo>
                  <a:pt x="213" y="39"/>
                </a:lnTo>
                <a:lnTo>
                  <a:pt x="196" y="44"/>
                </a:lnTo>
                <a:lnTo>
                  <a:pt x="180" y="49"/>
                </a:lnTo>
                <a:lnTo>
                  <a:pt x="164" y="54"/>
                </a:lnTo>
                <a:lnTo>
                  <a:pt x="147" y="59"/>
                </a:lnTo>
                <a:lnTo>
                  <a:pt x="131" y="64"/>
                </a:lnTo>
                <a:lnTo>
                  <a:pt x="114" y="69"/>
                </a:lnTo>
                <a:lnTo>
                  <a:pt x="98" y="73"/>
                </a:lnTo>
                <a:lnTo>
                  <a:pt x="82" y="77"/>
                </a:lnTo>
                <a:lnTo>
                  <a:pt x="65" y="80"/>
                </a:lnTo>
                <a:lnTo>
                  <a:pt x="49" y="83"/>
                </a:lnTo>
                <a:lnTo>
                  <a:pt x="33" y="85"/>
                </a:lnTo>
                <a:lnTo>
                  <a:pt x="16" y="86"/>
                </a:lnTo>
                <a:lnTo>
                  <a:pt x="0" y="86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2057400" y="5762625"/>
            <a:ext cx="3743325" cy="304800"/>
          </a:xfrm>
          <a:custGeom>
            <a:avLst/>
            <a:gdLst/>
            <a:ahLst/>
            <a:cxnLst/>
            <a:rect l="l" t="t" r="r" b="b"/>
            <a:pathLst>
              <a:path w="393" h="32">
                <a:moveTo>
                  <a:pt x="0" y="29"/>
                </a:moveTo>
                <a:lnTo>
                  <a:pt x="16" y="29"/>
                </a:lnTo>
                <a:lnTo>
                  <a:pt x="33" y="29"/>
                </a:lnTo>
                <a:lnTo>
                  <a:pt x="49" y="28"/>
                </a:lnTo>
                <a:lnTo>
                  <a:pt x="65" y="27"/>
                </a:lnTo>
                <a:lnTo>
                  <a:pt x="82" y="26"/>
                </a:lnTo>
                <a:lnTo>
                  <a:pt x="98" y="25"/>
                </a:lnTo>
                <a:lnTo>
                  <a:pt x="114" y="23"/>
                </a:lnTo>
                <a:lnTo>
                  <a:pt x="131" y="22"/>
                </a:lnTo>
                <a:lnTo>
                  <a:pt x="147" y="20"/>
                </a:lnTo>
                <a:lnTo>
                  <a:pt x="164" y="18"/>
                </a:lnTo>
                <a:lnTo>
                  <a:pt x="180" y="16"/>
                </a:lnTo>
                <a:lnTo>
                  <a:pt x="196" y="14"/>
                </a:lnTo>
                <a:lnTo>
                  <a:pt x="213" y="13"/>
                </a:lnTo>
                <a:lnTo>
                  <a:pt x="229" y="11"/>
                </a:lnTo>
                <a:lnTo>
                  <a:pt x="246" y="9"/>
                </a:lnTo>
                <a:lnTo>
                  <a:pt x="262" y="7"/>
                </a:lnTo>
                <a:lnTo>
                  <a:pt x="278" y="6"/>
                </a:lnTo>
                <a:lnTo>
                  <a:pt x="295" y="4"/>
                </a:lnTo>
                <a:lnTo>
                  <a:pt x="311" y="3"/>
                </a:lnTo>
                <a:lnTo>
                  <a:pt x="327" y="2"/>
                </a:lnTo>
                <a:lnTo>
                  <a:pt x="344" y="1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3"/>
                </a:lnTo>
                <a:lnTo>
                  <a:pt x="344" y="3"/>
                </a:lnTo>
                <a:lnTo>
                  <a:pt x="327" y="4"/>
                </a:lnTo>
                <a:lnTo>
                  <a:pt x="311" y="5"/>
                </a:lnTo>
                <a:lnTo>
                  <a:pt x="295" y="7"/>
                </a:lnTo>
                <a:lnTo>
                  <a:pt x="278" y="8"/>
                </a:lnTo>
                <a:lnTo>
                  <a:pt x="262" y="10"/>
                </a:lnTo>
                <a:lnTo>
                  <a:pt x="246" y="11"/>
                </a:lnTo>
                <a:lnTo>
                  <a:pt x="229" y="13"/>
                </a:lnTo>
                <a:lnTo>
                  <a:pt x="213" y="15"/>
                </a:lnTo>
                <a:lnTo>
                  <a:pt x="196" y="17"/>
                </a:lnTo>
                <a:lnTo>
                  <a:pt x="180" y="19"/>
                </a:lnTo>
                <a:lnTo>
                  <a:pt x="164" y="20"/>
                </a:lnTo>
                <a:lnTo>
                  <a:pt x="147" y="22"/>
                </a:lnTo>
                <a:lnTo>
                  <a:pt x="131" y="24"/>
                </a:lnTo>
                <a:lnTo>
                  <a:pt x="114" y="25"/>
                </a:lnTo>
                <a:lnTo>
                  <a:pt x="98" y="27"/>
                </a:lnTo>
                <a:lnTo>
                  <a:pt x="82" y="28"/>
                </a:lnTo>
                <a:lnTo>
                  <a:pt x="65" y="29"/>
                </a:lnTo>
                <a:lnTo>
                  <a:pt x="49" y="30"/>
                </a:lnTo>
                <a:lnTo>
                  <a:pt x="33" y="31"/>
                </a:lnTo>
                <a:lnTo>
                  <a:pt x="16" y="31"/>
                </a:lnTo>
                <a:lnTo>
                  <a:pt x="0" y="32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Freeform 118"/>
          <p:cNvSpPr/>
          <p:nvPr/>
        </p:nvSpPr>
        <p:spPr>
          <a:xfrm>
            <a:off x="2057400" y="6067425"/>
            <a:ext cx="3743325" cy="266700"/>
          </a:xfrm>
          <a:custGeom>
            <a:avLst/>
            <a:gdLst/>
            <a:ahLst/>
            <a:cxnLst/>
            <a:rect l="l" t="t" r="r" b="b"/>
            <a:pathLst>
              <a:path w="393" h="28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1"/>
                </a:lnTo>
                <a:lnTo>
                  <a:pt x="65" y="2"/>
                </a:lnTo>
                <a:lnTo>
                  <a:pt x="82" y="3"/>
                </a:lnTo>
                <a:lnTo>
                  <a:pt x="98" y="4"/>
                </a:lnTo>
                <a:lnTo>
                  <a:pt x="114" y="5"/>
                </a:lnTo>
                <a:lnTo>
                  <a:pt x="131" y="6"/>
                </a:lnTo>
                <a:lnTo>
                  <a:pt x="147" y="8"/>
                </a:lnTo>
                <a:lnTo>
                  <a:pt x="164" y="9"/>
                </a:lnTo>
                <a:lnTo>
                  <a:pt x="180" y="11"/>
                </a:lnTo>
                <a:lnTo>
                  <a:pt x="196" y="13"/>
                </a:lnTo>
                <a:lnTo>
                  <a:pt x="213" y="14"/>
                </a:lnTo>
                <a:lnTo>
                  <a:pt x="229" y="16"/>
                </a:lnTo>
                <a:lnTo>
                  <a:pt x="246" y="18"/>
                </a:lnTo>
                <a:lnTo>
                  <a:pt x="262" y="19"/>
                </a:lnTo>
                <a:lnTo>
                  <a:pt x="278" y="20"/>
                </a:lnTo>
                <a:lnTo>
                  <a:pt x="295" y="22"/>
                </a:lnTo>
                <a:lnTo>
                  <a:pt x="311" y="23"/>
                </a:lnTo>
                <a:lnTo>
                  <a:pt x="327" y="24"/>
                </a:lnTo>
                <a:lnTo>
                  <a:pt x="344" y="25"/>
                </a:lnTo>
                <a:lnTo>
                  <a:pt x="360" y="25"/>
                </a:lnTo>
                <a:lnTo>
                  <a:pt x="377" y="26"/>
                </a:lnTo>
                <a:lnTo>
                  <a:pt x="393" y="26"/>
                </a:lnTo>
                <a:lnTo>
                  <a:pt x="393" y="28"/>
                </a:lnTo>
                <a:lnTo>
                  <a:pt x="377" y="28"/>
                </a:lnTo>
                <a:lnTo>
                  <a:pt x="360" y="27"/>
                </a:lnTo>
                <a:lnTo>
                  <a:pt x="344" y="27"/>
                </a:lnTo>
                <a:lnTo>
                  <a:pt x="327" y="26"/>
                </a:lnTo>
                <a:lnTo>
                  <a:pt x="311" y="25"/>
                </a:lnTo>
                <a:lnTo>
                  <a:pt x="295" y="24"/>
                </a:lnTo>
                <a:lnTo>
                  <a:pt x="278" y="23"/>
                </a:lnTo>
                <a:lnTo>
                  <a:pt x="262" y="21"/>
                </a:lnTo>
                <a:lnTo>
                  <a:pt x="246" y="20"/>
                </a:lnTo>
                <a:lnTo>
                  <a:pt x="229" y="18"/>
                </a:lnTo>
                <a:lnTo>
                  <a:pt x="213" y="16"/>
                </a:lnTo>
                <a:lnTo>
                  <a:pt x="196" y="15"/>
                </a:lnTo>
                <a:lnTo>
                  <a:pt x="180" y="13"/>
                </a:lnTo>
                <a:lnTo>
                  <a:pt x="164" y="12"/>
                </a:lnTo>
                <a:lnTo>
                  <a:pt x="147" y="10"/>
                </a:lnTo>
                <a:lnTo>
                  <a:pt x="131" y="8"/>
                </a:lnTo>
                <a:lnTo>
                  <a:pt x="114" y="7"/>
                </a:lnTo>
                <a:lnTo>
                  <a:pt x="98" y="6"/>
                </a:lnTo>
                <a:lnTo>
                  <a:pt x="82" y="5"/>
                </a:lnTo>
                <a:lnTo>
                  <a:pt x="65" y="4"/>
                </a:lnTo>
                <a:lnTo>
                  <a:pt x="49" y="3"/>
                </a:lnTo>
                <a:lnTo>
                  <a:pt x="33" y="2"/>
                </a:lnTo>
                <a:lnTo>
                  <a:pt x="16" y="2"/>
                </a:lnTo>
                <a:lnTo>
                  <a:pt x="0" y="2"/>
                </a:lnTo>
                <a:close/>
              </a:path>
            </a:pathLst>
          </a:custGeom>
          <a:solidFill>
            <a:srgbClr val="5F5F5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2057400" y="1943100"/>
            <a:ext cx="3743325" cy="4210050"/>
          </a:xfrm>
          <a:custGeom>
            <a:avLst/>
            <a:gdLst/>
            <a:ahLst/>
            <a:cxnLst/>
            <a:rect l="l" t="t" r="r" b="b"/>
            <a:pathLst>
              <a:path w="393" h="442">
                <a:moveTo>
                  <a:pt x="0" y="441"/>
                </a:moveTo>
                <a:lnTo>
                  <a:pt x="16" y="438"/>
                </a:lnTo>
                <a:lnTo>
                  <a:pt x="33" y="432"/>
                </a:lnTo>
                <a:lnTo>
                  <a:pt x="49" y="422"/>
                </a:lnTo>
                <a:lnTo>
                  <a:pt x="65" y="408"/>
                </a:lnTo>
                <a:lnTo>
                  <a:pt x="82" y="391"/>
                </a:lnTo>
                <a:lnTo>
                  <a:pt x="98" y="372"/>
                </a:lnTo>
                <a:lnTo>
                  <a:pt x="114" y="350"/>
                </a:lnTo>
                <a:lnTo>
                  <a:pt x="131" y="326"/>
                </a:lnTo>
                <a:lnTo>
                  <a:pt x="147" y="301"/>
                </a:lnTo>
                <a:lnTo>
                  <a:pt x="164" y="275"/>
                </a:lnTo>
                <a:lnTo>
                  <a:pt x="180" y="248"/>
                </a:lnTo>
                <a:lnTo>
                  <a:pt x="196" y="220"/>
                </a:lnTo>
                <a:lnTo>
                  <a:pt x="213" y="193"/>
                </a:lnTo>
                <a:lnTo>
                  <a:pt x="229" y="165"/>
                </a:lnTo>
                <a:lnTo>
                  <a:pt x="246" y="139"/>
                </a:lnTo>
                <a:lnTo>
                  <a:pt x="262" y="114"/>
                </a:lnTo>
                <a:lnTo>
                  <a:pt x="278" y="90"/>
                </a:lnTo>
                <a:lnTo>
                  <a:pt x="295" y="68"/>
                </a:lnTo>
                <a:lnTo>
                  <a:pt x="311" y="49"/>
                </a:lnTo>
                <a:lnTo>
                  <a:pt x="327" y="32"/>
                </a:lnTo>
                <a:lnTo>
                  <a:pt x="344" y="18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10"/>
                </a:lnTo>
                <a:lnTo>
                  <a:pt x="344" y="20"/>
                </a:lnTo>
                <a:lnTo>
                  <a:pt x="327" y="34"/>
                </a:lnTo>
                <a:lnTo>
                  <a:pt x="311" y="50"/>
                </a:lnTo>
                <a:lnTo>
                  <a:pt x="295" y="70"/>
                </a:lnTo>
                <a:lnTo>
                  <a:pt x="278" y="92"/>
                </a:lnTo>
                <a:lnTo>
                  <a:pt x="262" y="115"/>
                </a:lnTo>
                <a:lnTo>
                  <a:pt x="246" y="141"/>
                </a:lnTo>
                <a:lnTo>
                  <a:pt x="229" y="167"/>
                </a:lnTo>
                <a:lnTo>
                  <a:pt x="213" y="194"/>
                </a:lnTo>
                <a:lnTo>
                  <a:pt x="196" y="221"/>
                </a:lnTo>
                <a:lnTo>
                  <a:pt x="180" y="249"/>
                </a:lnTo>
                <a:lnTo>
                  <a:pt x="164" y="276"/>
                </a:lnTo>
                <a:lnTo>
                  <a:pt x="147" y="302"/>
                </a:lnTo>
                <a:lnTo>
                  <a:pt x="131" y="328"/>
                </a:lnTo>
                <a:lnTo>
                  <a:pt x="114" y="351"/>
                </a:lnTo>
                <a:lnTo>
                  <a:pt x="98" y="373"/>
                </a:lnTo>
                <a:lnTo>
                  <a:pt x="82" y="393"/>
                </a:lnTo>
                <a:lnTo>
                  <a:pt x="65" y="409"/>
                </a:lnTo>
                <a:lnTo>
                  <a:pt x="49" y="423"/>
                </a:lnTo>
                <a:lnTo>
                  <a:pt x="33" y="433"/>
                </a:lnTo>
                <a:lnTo>
                  <a:pt x="16" y="440"/>
                </a:lnTo>
                <a:lnTo>
                  <a:pt x="0" y="442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Freeform 120"/>
          <p:cNvSpPr/>
          <p:nvPr/>
        </p:nvSpPr>
        <p:spPr>
          <a:xfrm>
            <a:off x="2057400" y="2486025"/>
            <a:ext cx="3743325" cy="3686175"/>
          </a:xfrm>
          <a:custGeom>
            <a:avLst/>
            <a:gdLst/>
            <a:ahLst/>
            <a:cxnLst/>
            <a:rect l="l" t="t" r="r" b="b"/>
            <a:pathLst>
              <a:path w="393" h="387">
                <a:moveTo>
                  <a:pt x="0" y="385"/>
                </a:moveTo>
                <a:lnTo>
                  <a:pt x="16" y="383"/>
                </a:lnTo>
                <a:lnTo>
                  <a:pt x="33" y="377"/>
                </a:lnTo>
                <a:lnTo>
                  <a:pt x="49" y="368"/>
                </a:lnTo>
                <a:lnTo>
                  <a:pt x="65" y="356"/>
                </a:lnTo>
                <a:lnTo>
                  <a:pt x="82" y="342"/>
                </a:lnTo>
                <a:lnTo>
                  <a:pt x="98" y="325"/>
                </a:lnTo>
                <a:lnTo>
                  <a:pt x="114" y="306"/>
                </a:lnTo>
                <a:lnTo>
                  <a:pt x="131" y="285"/>
                </a:lnTo>
                <a:lnTo>
                  <a:pt x="147" y="263"/>
                </a:lnTo>
                <a:lnTo>
                  <a:pt x="164" y="240"/>
                </a:lnTo>
                <a:lnTo>
                  <a:pt x="180" y="216"/>
                </a:lnTo>
                <a:lnTo>
                  <a:pt x="196" y="192"/>
                </a:lnTo>
                <a:lnTo>
                  <a:pt x="213" y="168"/>
                </a:lnTo>
                <a:lnTo>
                  <a:pt x="229" y="145"/>
                </a:lnTo>
                <a:lnTo>
                  <a:pt x="246" y="122"/>
                </a:lnTo>
                <a:lnTo>
                  <a:pt x="262" y="100"/>
                </a:lnTo>
                <a:lnTo>
                  <a:pt x="278" y="79"/>
                </a:lnTo>
                <a:lnTo>
                  <a:pt x="295" y="60"/>
                </a:lnTo>
                <a:lnTo>
                  <a:pt x="311" y="43"/>
                </a:lnTo>
                <a:lnTo>
                  <a:pt x="327" y="28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9"/>
                </a:lnTo>
                <a:lnTo>
                  <a:pt x="344" y="18"/>
                </a:lnTo>
                <a:lnTo>
                  <a:pt x="327" y="30"/>
                </a:lnTo>
                <a:lnTo>
                  <a:pt x="311" y="45"/>
                </a:lnTo>
                <a:lnTo>
                  <a:pt x="295" y="62"/>
                </a:lnTo>
                <a:lnTo>
                  <a:pt x="278" y="81"/>
                </a:lnTo>
                <a:lnTo>
                  <a:pt x="262" y="101"/>
                </a:lnTo>
                <a:lnTo>
                  <a:pt x="246" y="123"/>
                </a:lnTo>
                <a:lnTo>
                  <a:pt x="229" y="146"/>
                </a:lnTo>
                <a:lnTo>
                  <a:pt x="213" y="170"/>
                </a:lnTo>
                <a:lnTo>
                  <a:pt x="196" y="194"/>
                </a:lnTo>
                <a:lnTo>
                  <a:pt x="180" y="218"/>
                </a:lnTo>
                <a:lnTo>
                  <a:pt x="164" y="242"/>
                </a:lnTo>
                <a:lnTo>
                  <a:pt x="147" y="265"/>
                </a:lnTo>
                <a:lnTo>
                  <a:pt x="131" y="287"/>
                </a:lnTo>
                <a:lnTo>
                  <a:pt x="114" y="308"/>
                </a:lnTo>
                <a:lnTo>
                  <a:pt x="98" y="327"/>
                </a:lnTo>
                <a:lnTo>
                  <a:pt x="82" y="344"/>
                </a:lnTo>
                <a:lnTo>
                  <a:pt x="65" y="358"/>
                </a:lnTo>
                <a:lnTo>
                  <a:pt x="49" y="370"/>
                </a:lnTo>
                <a:lnTo>
                  <a:pt x="33" y="379"/>
                </a:lnTo>
                <a:lnTo>
                  <a:pt x="16" y="385"/>
                </a:lnTo>
                <a:lnTo>
                  <a:pt x="0" y="387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Freeform 121"/>
          <p:cNvSpPr/>
          <p:nvPr/>
        </p:nvSpPr>
        <p:spPr>
          <a:xfrm>
            <a:off x="2057400" y="3038475"/>
            <a:ext cx="3743325" cy="3143250"/>
          </a:xfrm>
          <a:custGeom>
            <a:avLst/>
            <a:gdLst/>
            <a:ahLst/>
            <a:cxnLst/>
            <a:rect l="l" t="t" r="r" b="b"/>
            <a:pathLst>
              <a:path w="393" h="330">
                <a:moveTo>
                  <a:pt x="0" y="329"/>
                </a:moveTo>
                <a:lnTo>
                  <a:pt x="16" y="327"/>
                </a:lnTo>
                <a:lnTo>
                  <a:pt x="33" y="322"/>
                </a:lnTo>
                <a:lnTo>
                  <a:pt x="49" y="315"/>
                </a:lnTo>
                <a:lnTo>
                  <a:pt x="65" y="304"/>
                </a:lnTo>
                <a:lnTo>
                  <a:pt x="82" y="292"/>
                </a:lnTo>
                <a:lnTo>
                  <a:pt x="98" y="277"/>
                </a:lnTo>
                <a:lnTo>
                  <a:pt x="114" y="261"/>
                </a:lnTo>
                <a:lnTo>
                  <a:pt x="131" y="244"/>
                </a:lnTo>
                <a:lnTo>
                  <a:pt x="147" y="225"/>
                </a:lnTo>
                <a:lnTo>
                  <a:pt x="164" y="205"/>
                </a:lnTo>
                <a:lnTo>
                  <a:pt x="180" y="185"/>
                </a:lnTo>
                <a:lnTo>
                  <a:pt x="196" y="164"/>
                </a:lnTo>
                <a:lnTo>
                  <a:pt x="213" y="144"/>
                </a:lnTo>
                <a:lnTo>
                  <a:pt x="229" y="124"/>
                </a:lnTo>
                <a:lnTo>
                  <a:pt x="246" y="104"/>
                </a:lnTo>
                <a:lnTo>
                  <a:pt x="262" y="85"/>
                </a:lnTo>
                <a:lnTo>
                  <a:pt x="278" y="68"/>
                </a:lnTo>
                <a:lnTo>
                  <a:pt x="295" y="51"/>
                </a:lnTo>
                <a:lnTo>
                  <a:pt x="311" y="37"/>
                </a:lnTo>
                <a:lnTo>
                  <a:pt x="327" y="24"/>
                </a:lnTo>
                <a:lnTo>
                  <a:pt x="344" y="14"/>
                </a:lnTo>
                <a:lnTo>
                  <a:pt x="360" y="6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8"/>
                </a:lnTo>
                <a:lnTo>
                  <a:pt x="344" y="15"/>
                </a:lnTo>
                <a:lnTo>
                  <a:pt x="327" y="26"/>
                </a:lnTo>
                <a:lnTo>
                  <a:pt x="311" y="38"/>
                </a:lnTo>
                <a:lnTo>
                  <a:pt x="295" y="53"/>
                </a:lnTo>
                <a:lnTo>
                  <a:pt x="278" y="69"/>
                </a:lnTo>
                <a:lnTo>
                  <a:pt x="262" y="87"/>
                </a:lnTo>
                <a:lnTo>
                  <a:pt x="246" y="105"/>
                </a:lnTo>
                <a:lnTo>
                  <a:pt x="229" y="125"/>
                </a:lnTo>
                <a:lnTo>
                  <a:pt x="213" y="145"/>
                </a:lnTo>
                <a:lnTo>
                  <a:pt x="196" y="166"/>
                </a:lnTo>
                <a:lnTo>
                  <a:pt x="180" y="186"/>
                </a:lnTo>
                <a:lnTo>
                  <a:pt x="164" y="206"/>
                </a:lnTo>
                <a:lnTo>
                  <a:pt x="147" y="226"/>
                </a:lnTo>
                <a:lnTo>
                  <a:pt x="131" y="245"/>
                </a:lnTo>
                <a:lnTo>
                  <a:pt x="114" y="262"/>
                </a:lnTo>
                <a:lnTo>
                  <a:pt x="98" y="279"/>
                </a:lnTo>
                <a:lnTo>
                  <a:pt x="82" y="293"/>
                </a:lnTo>
                <a:lnTo>
                  <a:pt x="65" y="306"/>
                </a:lnTo>
                <a:lnTo>
                  <a:pt x="49" y="316"/>
                </a:lnTo>
                <a:lnTo>
                  <a:pt x="33" y="324"/>
                </a:lnTo>
                <a:lnTo>
                  <a:pt x="16" y="328"/>
                </a:lnTo>
                <a:lnTo>
                  <a:pt x="0" y="330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Freeform 122"/>
          <p:cNvSpPr/>
          <p:nvPr/>
        </p:nvSpPr>
        <p:spPr>
          <a:xfrm>
            <a:off x="2057400" y="3581400"/>
            <a:ext cx="3743325" cy="2609850"/>
          </a:xfrm>
          <a:custGeom>
            <a:avLst/>
            <a:gdLst/>
            <a:ahLst/>
            <a:cxnLst/>
            <a:rect l="l" t="t" r="r" b="b"/>
            <a:pathLst>
              <a:path w="393" h="274">
                <a:moveTo>
                  <a:pt x="0" y="273"/>
                </a:moveTo>
                <a:lnTo>
                  <a:pt x="16" y="272"/>
                </a:lnTo>
                <a:lnTo>
                  <a:pt x="33" y="268"/>
                </a:lnTo>
                <a:lnTo>
                  <a:pt x="49" y="261"/>
                </a:lnTo>
                <a:lnTo>
                  <a:pt x="65" y="253"/>
                </a:lnTo>
                <a:lnTo>
                  <a:pt x="82" y="243"/>
                </a:lnTo>
                <a:lnTo>
                  <a:pt x="98" y="230"/>
                </a:lnTo>
                <a:lnTo>
                  <a:pt x="114" y="217"/>
                </a:lnTo>
                <a:lnTo>
                  <a:pt x="131" y="202"/>
                </a:lnTo>
                <a:lnTo>
                  <a:pt x="147" y="187"/>
                </a:lnTo>
                <a:lnTo>
                  <a:pt x="164" y="171"/>
                </a:lnTo>
                <a:lnTo>
                  <a:pt x="180" y="154"/>
                </a:lnTo>
                <a:lnTo>
                  <a:pt x="196" y="137"/>
                </a:lnTo>
                <a:lnTo>
                  <a:pt x="213" y="120"/>
                </a:lnTo>
                <a:lnTo>
                  <a:pt x="229" y="103"/>
                </a:lnTo>
                <a:lnTo>
                  <a:pt x="246" y="87"/>
                </a:lnTo>
                <a:lnTo>
                  <a:pt x="262" y="71"/>
                </a:lnTo>
                <a:lnTo>
                  <a:pt x="278" y="56"/>
                </a:lnTo>
                <a:lnTo>
                  <a:pt x="295" y="43"/>
                </a:lnTo>
                <a:lnTo>
                  <a:pt x="311" y="31"/>
                </a:lnTo>
                <a:lnTo>
                  <a:pt x="327" y="21"/>
                </a:lnTo>
                <a:lnTo>
                  <a:pt x="344" y="12"/>
                </a:lnTo>
                <a:lnTo>
                  <a:pt x="360" y="6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7"/>
                </a:lnTo>
                <a:lnTo>
                  <a:pt x="344" y="13"/>
                </a:lnTo>
                <a:lnTo>
                  <a:pt x="327" y="22"/>
                </a:lnTo>
                <a:lnTo>
                  <a:pt x="311" y="32"/>
                </a:lnTo>
                <a:lnTo>
                  <a:pt x="295" y="44"/>
                </a:lnTo>
                <a:lnTo>
                  <a:pt x="278" y="58"/>
                </a:lnTo>
                <a:lnTo>
                  <a:pt x="262" y="72"/>
                </a:lnTo>
                <a:lnTo>
                  <a:pt x="246" y="88"/>
                </a:lnTo>
                <a:lnTo>
                  <a:pt x="229" y="104"/>
                </a:lnTo>
                <a:lnTo>
                  <a:pt x="213" y="121"/>
                </a:lnTo>
                <a:lnTo>
                  <a:pt x="196" y="138"/>
                </a:lnTo>
                <a:lnTo>
                  <a:pt x="180" y="155"/>
                </a:lnTo>
                <a:lnTo>
                  <a:pt x="164" y="172"/>
                </a:lnTo>
                <a:lnTo>
                  <a:pt x="147" y="188"/>
                </a:lnTo>
                <a:lnTo>
                  <a:pt x="131" y="204"/>
                </a:lnTo>
                <a:lnTo>
                  <a:pt x="114" y="218"/>
                </a:lnTo>
                <a:lnTo>
                  <a:pt x="98" y="232"/>
                </a:lnTo>
                <a:lnTo>
                  <a:pt x="82" y="244"/>
                </a:lnTo>
                <a:lnTo>
                  <a:pt x="65" y="254"/>
                </a:lnTo>
                <a:lnTo>
                  <a:pt x="49" y="263"/>
                </a:lnTo>
                <a:lnTo>
                  <a:pt x="33" y="269"/>
                </a:lnTo>
                <a:lnTo>
                  <a:pt x="16" y="273"/>
                </a:lnTo>
                <a:lnTo>
                  <a:pt x="0" y="274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Freeform 123"/>
          <p:cNvSpPr/>
          <p:nvPr/>
        </p:nvSpPr>
        <p:spPr>
          <a:xfrm>
            <a:off x="2057400" y="4133850"/>
            <a:ext cx="3743325" cy="2076450"/>
          </a:xfrm>
          <a:custGeom>
            <a:avLst/>
            <a:gdLst/>
            <a:ahLst/>
            <a:cxnLst/>
            <a:rect l="l" t="t" r="r" b="b"/>
            <a:pathLst>
              <a:path w="393" h="218">
                <a:moveTo>
                  <a:pt x="0" y="216"/>
                </a:moveTo>
                <a:lnTo>
                  <a:pt x="16" y="215"/>
                </a:lnTo>
                <a:lnTo>
                  <a:pt x="33" y="212"/>
                </a:lnTo>
                <a:lnTo>
                  <a:pt x="49" y="207"/>
                </a:lnTo>
                <a:lnTo>
                  <a:pt x="65" y="200"/>
                </a:lnTo>
                <a:lnTo>
                  <a:pt x="82" y="192"/>
                </a:lnTo>
                <a:lnTo>
                  <a:pt x="98" y="183"/>
                </a:lnTo>
                <a:lnTo>
                  <a:pt x="114" y="172"/>
                </a:lnTo>
                <a:lnTo>
                  <a:pt x="131" y="160"/>
                </a:lnTo>
                <a:lnTo>
                  <a:pt x="147" y="148"/>
                </a:lnTo>
                <a:lnTo>
                  <a:pt x="164" y="135"/>
                </a:lnTo>
                <a:lnTo>
                  <a:pt x="180" y="122"/>
                </a:lnTo>
                <a:lnTo>
                  <a:pt x="196" y="108"/>
                </a:lnTo>
                <a:lnTo>
                  <a:pt x="213" y="95"/>
                </a:lnTo>
                <a:lnTo>
                  <a:pt x="229" y="82"/>
                </a:lnTo>
                <a:lnTo>
                  <a:pt x="246" y="69"/>
                </a:lnTo>
                <a:lnTo>
                  <a:pt x="262" y="56"/>
                </a:lnTo>
                <a:lnTo>
                  <a:pt x="278" y="45"/>
                </a:lnTo>
                <a:lnTo>
                  <a:pt x="295" y="34"/>
                </a:lnTo>
                <a:lnTo>
                  <a:pt x="311" y="24"/>
                </a:lnTo>
                <a:lnTo>
                  <a:pt x="327" y="16"/>
                </a:lnTo>
                <a:lnTo>
                  <a:pt x="344" y="10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6"/>
                </a:lnTo>
                <a:lnTo>
                  <a:pt x="344" y="11"/>
                </a:lnTo>
                <a:lnTo>
                  <a:pt x="327" y="18"/>
                </a:lnTo>
                <a:lnTo>
                  <a:pt x="311" y="26"/>
                </a:lnTo>
                <a:lnTo>
                  <a:pt x="295" y="35"/>
                </a:lnTo>
                <a:lnTo>
                  <a:pt x="278" y="46"/>
                </a:lnTo>
                <a:lnTo>
                  <a:pt x="262" y="58"/>
                </a:lnTo>
                <a:lnTo>
                  <a:pt x="246" y="70"/>
                </a:lnTo>
                <a:lnTo>
                  <a:pt x="229" y="83"/>
                </a:lnTo>
                <a:lnTo>
                  <a:pt x="213" y="96"/>
                </a:lnTo>
                <a:lnTo>
                  <a:pt x="196" y="110"/>
                </a:lnTo>
                <a:lnTo>
                  <a:pt x="180" y="123"/>
                </a:lnTo>
                <a:lnTo>
                  <a:pt x="164" y="136"/>
                </a:lnTo>
                <a:lnTo>
                  <a:pt x="147" y="149"/>
                </a:lnTo>
                <a:lnTo>
                  <a:pt x="131" y="162"/>
                </a:lnTo>
                <a:lnTo>
                  <a:pt x="114" y="173"/>
                </a:lnTo>
                <a:lnTo>
                  <a:pt x="98" y="184"/>
                </a:lnTo>
                <a:lnTo>
                  <a:pt x="82" y="194"/>
                </a:lnTo>
                <a:lnTo>
                  <a:pt x="65" y="202"/>
                </a:lnTo>
                <a:lnTo>
                  <a:pt x="49" y="208"/>
                </a:lnTo>
                <a:lnTo>
                  <a:pt x="33" y="214"/>
                </a:lnTo>
                <a:lnTo>
                  <a:pt x="16" y="217"/>
                </a:lnTo>
                <a:lnTo>
                  <a:pt x="0" y="218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Freeform 124"/>
          <p:cNvSpPr/>
          <p:nvPr/>
        </p:nvSpPr>
        <p:spPr>
          <a:xfrm>
            <a:off x="2057400" y="4676775"/>
            <a:ext cx="3743325" cy="1552575"/>
          </a:xfrm>
          <a:custGeom>
            <a:avLst/>
            <a:gdLst/>
            <a:ahLst/>
            <a:cxnLst/>
            <a:rect l="l" t="t" r="r" b="b"/>
            <a:pathLst>
              <a:path w="393" h="163">
                <a:moveTo>
                  <a:pt x="0" y="161"/>
                </a:moveTo>
                <a:lnTo>
                  <a:pt x="16" y="160"/>
                </a:lnTo>
                <a:lnTo>
                  <a:pt x="33" y="158"/>
                </a:lnTo>
                <a:lnTo>
                  <a:pt x="49" y="154"/>
                </a:lnTo>
                <a:lnTo>
                  <a:pt x="65" y="149"/>
                </a:lnTo>
                <a:lnTo>
                  <a:pt x="82" y="143"/>
                </a:lnTo>
                <a:lnTo>
                  <a:pt x="98" y="136"/>
                </a:lnTo>
                <a:lnTo>
                  <a:pt x="114" y="128"/>
                </a:lnTo>
                <a:lnTo>
                  <a:pt x="131" y="119"/>
                </a:lnTo>
                <a:lnTo>
                  <a:pt x="147" y="110"/>
                </a:lnTo>
                <a:lnTo>
                  <a:pt x="164" y="100"/>
                </a:lnTo>
                <a:lnTo>
                  <a:pt x="180" y="91"/>
                </a:lnTo>
                <a:lnTo>
                  <a:pt x="196" y="81"/>
                </a:lnTo>
                <a:lnTo>
                  <a:pt x="213" y="71"/>
                </a:lnTo>
                <a:lnTo>
                  <a:pt x="229" y="61"/>
                </a:lnTo>
                <a:lnTo>
                  <a:pt x="246" y="51"/>
                </a:lnTo>
                <a:lnTo>
                  <a:pt x="262" y="42"/>
                </a:lnTo>
                <a:lnTo>
                  <a:pt x="278" y="33"/>
                </a:lnTo>
                <a:lnTo>
                  <a:pt x="295" y="25"/>
                </a:lnTo>
                <a:lnTo>
                  <a:pt x="311" y="18"/>
                </a:lnTo>
                <a:lnTo>
                  <a:pt x="327" y="12"/>
                </a:lnTo>
                <a:lnTo>
                  <a:pt x="344" y="7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3"/>
                </a:lnTo>
                <a:lnTo>
                  <a:pt x="360" y="5"/>
                </a:lnTo>
                <a:lnTo>
                  <a:pt x="344" y="9"/>
                </a:lnTo>
                <a:lnTo>
                  <a:pt x="327" y="14"/>
                </a:lnTo>
                <a:lnTo>
                  <a:pt x="311" y="20"/>
                </a:lnTo>
                <a:lnTo>
                  <a:pt x="295" y="27"/>
                </a:lnTo>
                <a:lnTo>
                  <a:pt x="278" y="35"/>
                </a:lnTo>
                <a:lnTo>
                  <a:pt x="262" y="44"/>
                </a:lnTo>
                <a:lnTo>
                  <a:pt x="246" y="53"/>
                </a:lnTo>
                <a:lnTo>
                  <a:pt x="229" y="62"/>
                </a:lnTo>
                <a:lnTo>
                  <a:pt x="213" y="72"/>
                </a:lnTo>
                <a:lnTo>
                  <a:pt x="196" y="82"/>
                </a:lnTo>
                <a:lnTo>
                  <a:pt x="180" y="92"/>
                </a:lnTo>
                <a:lnTo>
                  <a:pt x="164" y="102"/>
                </a:lnTo>
                <a:lnTo>
                  <a:pt x="147" y="112"/>
                </a:lnTo>
                <a:lnTo>
                  <a:pt x="131" y="121"/>
                </a:lnTo>
                <a:lnTo>
                  <a:pt x="114" y="130"/>
                </a:lnTo>
                <a:lnTo>
                  <a:pt x="98" y="137"/>
                </a:lnTo>
                <a:lnTo>
                  <a:pt x="82" y="145"/>
                </a:lnTo>
                <a:lnTo>
                  <a:pt x="65" y="151"/>
                </a:lnTo>
                <a:lnTo>
                  <a:pt x="49" y="156"/>
                </a:lnTo>
                <a:lnTo>
                  <a:pt x="33" y="159"/>
                </a:lnTo>
                <a:lnTo>
                  <a:pt x="16" y="162"/>
                </a:lnTo>
                <a:lnTo>
                  <a:pt x="0" y="163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Freeform 125"/>
          <p:cNvSpPr/>
          <p:nvPr/>
        </p:nvSpPr>
        <p:spPr>
          <a:xfrm>
            <a:off x="2057400" y="5229225"/>
            <a:ext cx="3743325" cy="1009650"/>
          </a:xfrm>
          <a:custGeom>
            <a:avLst/>
            <a:gdLst/>
            <a:ahLst/>
            <a:cxnLst/>
            <a:rect l="l" t="t" r="r" b="b"/>
            <a:pathLst>
              <a:path w="393" h="106">
                <a:moveTo>
                  <a:pt x="0" y="105"/>
                </a:moveTo>
                <a:lnTo>
                  <a:pt x="16" y="104"/>
                </a:lnTo>
                <a:lnTo>
                  <a:pt x="33" y="102"/>
                </a:lnTo>
                <a:lnTo>
                  <a:pt x="49" y="100"/>
                </a:lnTo>
                <a:lnTo>
                  <a:pt x="65" y="97"/>
                </a:lnTo>
                <a:lnTo>
                  <a:pt x="82" y="93"/>
                </a:lnTo>
                <a:lnTo>
                  <a:pt x="98" y="88"/>
                </a:lnTo>
                <a:lnTo>
                  <a:pt x="114" y="83"/>
                </a:lnTo>
                <a:lnTo>
                  <a:pt x="131" y="78"/>
                </a:lnTo>
                <a:lnTo>
                  <a:pt x="147" y="72"/>
                </a:lnTo>
                <a:lnTo>
                  <a:pt x="164" y="65"/>
                </a:lnTo>
                <a:lnTo>
                  <a:pt x="180" y="59"/>
                </a:lnTo>
                <a:lnTo>
                  <a:pt x="196" y="52"/>
                </a:lnTo>
                <a:lnTo>
                  <a:pt x="213" y="46"/>
                </a:lnTo>
                <a:lnTo>
                  <a:pt x="229" y="40"/>
                </a:lnTo>
                <a:lnTo>
                  <a:pt x="246" y="33"/>
                </a:lnTo>
                <a:lnTo>
                  <a:pt x="262" y="27"/>
                </a:lnTo>
                <a:lnTo>
                  <a:pt x="278" y="22"/>
                </a:lnTo>
                <a:lnTo>
                  <a:pt x="295" y="17"/>
                </a:lnTo>
                <a:lnTo>
                  <a:pt x="311" y="12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2"/>
                </a:lnTo>
                <a:lnTo>
                  <a:pt x="377" y="2"/>
                </a:lnTo>
                <a:lnTo>
                  <a:pt x="360" y="4"/>
                </a:lnTo>
                <a:lnTo>
                  <a:pt x="344" y="6"/>
                </a:lnTo>
                <a:lnTo>
                  <a:pt x="327" y="9"/>
                </a:lnTo>
                <a:lnTo>
                  <a:pt x="311" y="13"/>
                </a:lnTo>
                <a:lnTo>
                  <a:pt x="295" y="18"/>
                </a:lnTo>
                <a:lnTo>
                  <a:pt x="278" y="23"/>
                </a:lnTo>
                <a:lnTo>
                  <a:pt x="262" y="29"/>
                </a:lnTo>
                <a:lnTo>
                  <a:pt x="246" y="35"/>
                </a:lnTo>
                <a:lnTo>
                  <a:pt x="229" y="41"/>
                </a:lnTo>
                <a:lnTo>
                  <a:pt x="213" y="47"/>
                </a:lnTo>
                <a:lnTo>
                  <a:pt x="196" y="54"/>
                </a:lnTo>
                <a:lnTo>
                  <a:pt x="180" y="60"/>
                </a:lnTo>
                <a:lnTo>
                  <a:pt x="164" y="67"/>
                </a:lnTo>
                <a:lnTo>
                  <a:pt x="147" y="73"/>
                </a:lnTo>
                <a:lnTo>
                  <a:pt x="131" y="79"/>
                </a:lnTo>
                <a:lnTo>
                  <a:pt x="114" y="84"/>
                </a:lnTo>
                <a:lnTo>
                  <a:pt x="98" y="89"/>
                </a:lnTo>
                <a:lnTo>
                  <a:pt x="82" y="94"/>
                </a:lnTo>
                <a:lnTo>
                  <a:pt x="65" y="98"/>
                </a:lnTo>
                <a:lnTo>
                  <a:pt x="49" y="101"/>
                </a:lnTo>
                <a:lnTo>
                  <a:pt x="33" y="104"/>
                </a:lnTo>
                <a:lnTo>
                  <a:pt x="16" y="105"/>
                </a:lnTo>
                <a:lnTo>
                  <a:pt x="0" y="106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Freeform 126"/>
          <p:cNvSpPr/>
          <p:nvPr/>
        </p:nvSpPr>
        <p:spPr>
          <a:xfrm>
            <a:off x="2057400" y="5781675"/>
            <a:ext cx="3743325" cy="466725"/>
          </a:xfrm>
          <a:custGeom>
            <a:avLst/>
            <a:gdLst/>
            <a:ahLst/>
            <a:cxnLst/>
            <a:rect l="l" t="t" r="r" b="b"/>
            <a:pathLst>
              <a:path w="393" h="49">
                <a:moveTo>
                  <a:pt x="0" y="48"/>
                </a:moveTo>
                <a:lnTo>
                  <a:pt x="16" y="47"/>
                </a:lnTo>
                <a:lnTo>
                  <a:pt x="33" y="47"/>
                </a:lnTo>
                <a:lnTo>
                  <a:pt x="49" y="46"/>
                </a:lnTo>
                <a:lnTo>
                  <a:pt x="65" y="44"/>
                </a:lnTo>
                <a:lnTo>
                  <a:pt x="82" y="42"/>
                </a:lnTo>
                <a:lnTo>
                  <a:pt x="98" y="40"/>
                </a:lnTo>
                <a:lnTo>
                  <a:pt x="114" y="38"/>
                </a:lnTo>
                <a:lnTo>
                  <a:pt x="131" y="35"/>
                </a:lnTo>
                <a:lnTo>
                  <a:pt x="147" y="33"/>
                </a:lnTo>
                <a:lnTo>
                  <a:pt x="164" y="30"/>
                </a:lnTo>
                <a:lnTo>
                  <a:pt x="180" y="27"/>
                </a:lnTo>
                <a:lnTo>
                  <a:pt x="196" y="24"/>
                </a:lnTo>
                <a:lnTo>
                  <a:pt x="213" y="21"/>
                </a:lnTo>
                <a:lnTo>
                  <a:pt x="229" y="18"/>
                </a:lnTo>
                <a:lnTo>
                  <a:pt x="246" y="15"/>
                </a:lnTo>
                <a:lnTo>
                  <a:pt x="262" y="12"/>
                </a:lnTo>
                <a:lnTo>
                  <a:pt x="278" y="10"/>
                </a:lnTo>
                <a:lnTo>
                  <a:pt x="295" y="7"/>
                </a:lnTo>
                <a:lnTo>
                  <a:pt x="311" y="5"/>
                </a:lnTo>
                <a:lnTo>
                  <a:pt x="327" y="4"/>
                </a:lnTo>
                <a:lnTo>
                  <a:pt x="344" y="2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2"/>
                </a:lnTo>
                <a:lnTo>
                  <a:pt x="344" y="3"/>
                </a:lnTo>
                <a:lnTo>
                  <a:pt x="327" y="5"/>
                </a:lnTo>
                <a:lnTo>
                  <a:pt x="311" y="7"/>
                </a:lnTo>
                <a:lnTo>
                  <a:pt x="295" y="9"/>
                </a:lnTo>
                <a:lnTo>
                  <a:pt x="278" y="11"/>
                </a:lnTo>
                <a:lnTo>
                  <a:pt x="262" y="14"/>
                </a:lnTo>
                <a:lnTo>
                  <a:pt x="246" y="16"/>
                </a:lnTo>
                <a:lnTo>
                  <a:pt x="229" y="19"/>
                </a:lnTo>
                <a:lnTo>
                  <a:pt x="213" y="22"/>
                </a:lnTo>
                <a:lnTo>
                  <a:pt x="196" y="25"/>
                </a:lnTo>
                <a:lnTo>
                  <a:pt x="180" y="28"/>
                </a:lnTo>
                <a:lnTo>
                  <a:pt x="164" y="31"/>
                </a:lnTo>
                <a:lnTo>
                  <a:pt x="147" y="34"/>
                </a:lnTo>
                <a:lnTo>
                  <a:pt x="131" y="37"/>
                </a:lnTo>
                <a:lnTo>
                  <a:pt x="114" y="39"/>
                </a:lnTo>
                <a:lnTo>
                  <a:pt x="98" y="42"/>
                </a:lnTo>
                <a:lnTo>
                  <a:pt x="82" y="44"/>
                </a:lnTo>
                <a:lnTo>
                  <a:pt x="65" y="45"/>
                </a:lnTo>
                <a:lnTo>
                  <a:pt x="49" y="47"/>
                </a:lnTo>
                <a:lnTo>
                  <a:pt x="33" y="48"/>
                </a:lnTo>
                <a:lnTo>
                  <a:pt x="1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Freeform 127"/>
          <p:cNvSpPr/>
          <p:nvPr/>
        </p:nvSpPr>
        <p:spPr>
          <a:xfrm>
            <a:off x="2057400" y="6248400"/>
            <a:ext cx="3743325" cy="95250"/>
          </a:xfrm>
          <a:custGeom>
            <a:avLst/>
            <a:gdLst/>
            <a:ahLst/>
            <a:cxnLst/>
            <a:rect l="l" t="t" r="r" b="b"/>
            <a:pathLst>
              <a:path w="393" h="10">
                <a:moveTo>
                  <a:pt x="0" y="0"/>
                </a:moveTo>
                <a:lnTo>
                  <a:pt x="16" y="0"/>
                </a:lnTo>
                <a:lnTo>
                  <a:pt x="33" y="0"/>
                </a:lnTo>
                <a:lnTo>
                  <a:pt x="49" y="0"/>
                </a:lnTo>
                <a:lnTo>
                  <a:pt x="65" y="1"/>
                </a:lnTo>
                <a:lnTo>
                  <a:pt x="82" y="1"/>
                </a:lnTo>
                <a:lnTo>
                  <a:pt x="98" y="1"/>
                </a:lnTo>
                <a:lnTo>
                  <a:pt x="114" y="2"/>
                </a:lnTo>
                <a:lnTo>
                  <a:pt x="131" y="2"/>
                </a:lnTo>
                <a:lnTo>
                  <a:pt x="147" y="3"/>
                </a:lnTo>
                <a:lnTo>
                  <a:pt x="164" y="3"/>
                </a:lnTo>
                <a:lnTo>
                  <a:pt x="180" y="4"/>
                </a:lnTo>
                <a:lnTo>
                  <a:pt x="196" y="4"/>
                </a:lnTo>
                <a:lnTo>
                  <a:pt x="213" y="5"/>
                </a:lnTo>
                <a:lnTo>
                  <a:pt x="229" y="6"/>
                </a:lnTo>
                <a:lnTo>
                  <a:pt x="246" y="6"/>
                </a:lnTo>
                <a:lnTo>
                  <a:pt x="262" y="7"/>
                </a:lnTo>
                <a:lnTo>
                  <a:pt x="278" y="7"/>
                </a:lnTo>
                <a:lnTo>
                  <a:pt x="295" y="8"/>
                </a:lnTo>
                <a:lnTo>
                  <a:pt x="311" y="8"/>
                </a:lnTo>
                <a:lnTo>
                  <a:pt x="327" y="8"/>
                </a:lnTo>
                <a:lnTo>
                  <a:pt x="344" y="9"/>
                </a:lnTo>
                <a:lnTo>
                  <a:pt x="360" y="9"/>
                </a:lnTo>
                <a:lnTo>
                  <a:pt x="377" y="9"/>
                </a:lnTo>
                <a:lnTo>
                  <a:pt x="393" y="9"/>
                </a:lnTo>
                <a:lnTo>
                  <a:pt x="393" y="10"/>
                </a:lnTo>
                <a:lnTo>
                  <a:pt x="377" y="10"/>
                </a:lnTo>
                <a:lnTo>
                  <a:pt x="360" y="10"/>
                </a:lnTo>
                <a:lnTo>
                  <a:pt x="344" y="10"/>
                </a:lnTo>
                <a:lnTo>
                  <a:pt x="327" y="9"/>
                </a:lnTo>
                <a:lnTo>
                  <a:pt x="311" y="9"/>
                </a:lnTo>
                <a:lnTo>
                  <a:pt x="295" y="9"/>
                </a:lnTo>
                <a:lnTo>
                  <a:pt x="278" y="8"/>
                </a:lnTo>
                <a:lnTo>
                  <a:pt x="262" y="8"/>
                </a:lnTo>
                <a:lnTo>
                  <a:pt x="246" y="7"/>
                </a:lnTo>
                <a:lnTo>
                  <a:pt x="229" y="7"/>
                </a:lnTo>
                <a:lnTo>
                  <a:pt x="213" y="6"/>
                </a:lnTo>
                <a:lnTo>
                  <a:pt x="196" y="6"/>
                </a:lnTo>
                <a:lnTo>
                  <a:pt x="180" y="5"/>
                </a:lnTo>
                <a:lnTo>
                  <a:pt x="164" y="5"/>
                </a:lnTo>
                <a:lnTo>
                  <a:pt x="147" y="4"/>
                </a:lnTo>
                <a:lnTo>
                  <a:pt x="131" y="4"/>
                </a:lnTo>
                <a:lnTo>
                  <a:pt x="114" y="3"/>
                </a:lnTo>
                <a:lnTo>
                  <a:pt x="98" y="3"/>
                </a:lnTo>
                <a:lnTo>
                  <a:pt x="82" y="2"/>
                </a:lnTo>
                <a:lnTo>
                  <a:pt x="65" y="2"/>
                </a:lnTo>
                <a:lnTo>
                  <a:pt x="49" y="2"/>
                </a:lnTo>
                <a:lnTo>
                  <a:pt x="33" y="1"/>
                </a:lnTo>
                <a:lnTo>
                  <a:pt x="16" y="1"/>
                </a:lnTo>
                <a:lnTo>
                  <a:pt x="0" y="1"/>
                </a:lnTo>
                <a:close/>
              </a:path>
            </a:pathLst>
          </a:custGeom>
          <a:solidFill>
            <a:srgbClr val="3D85C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2057400" y="1952625"/>
            <a:ext cx="3743325" cy="4371975"/>
          </a:xfrm>
          <a:custGeom>
            <a:avLst/>
            <a:gdLst/>
            <a:ahLst/>
            <a:cxnLst/>
            <a:rect l="l" t="t" r="r" b="b"/>
            <a:pathLst>
              <a:path w="393" h="459">
                <a:moveTo>
                  <a:pt x="0" y="458"/>
                </a:moveTo>
                <a:lnTo>
                  <a:pt x="16" y="456"/>
                </a:lnTo>
                <a:lnTo>
                  <a:pt x="33" y="449"/>
                </a:lnTo>
                <a:lnTo>
                  <a:pt x="49" y="438"/>
                </a:lnTo>
                <a:lnTo>
                  <a:pt x="65" y="424"/>
                </a:lnTo>
                <a:lnTo>
                  <a:pt x="82" y="407"/>
                </a:lnTo>
                <a:lnTo>
                  <a:pt x="98" y="387"/>
                </a:lnTo>
                <a:lnTo>
                  <a:pt x="114" y="364"/>
                </a:lnTo>
                <a:lnTo>
                  <a:pt x="131" y="339"/>
                </a:lnTo>
                <a:lnTo>
                  <a:pt x="147" y="313"/>
                </a:lnTo>
                <a:lnTo>
                  <a:pt x="164" y="286"/>
                </a:lnTo>
                <a:lnTo>
                  <a:pt x="180" y="258"/>
                </a:lnTo>
                <a:lnTo>
                  <a:pt x="196" y="229"/>
                </a:lnTo>
                <a:lnTo>
                  <a:pt x="213" y="200"/>
                </a:lnTo>
                <a:lnTo>
                  <a:pt x="229" y="172"/>
                </a:lnTo>
                <a:lnTo>
                  <a:pt x="246" y="145"/>
                </a:lnTo>
                <a:lnTo>
                  <a:pt x="262" y="119"/>
                </a:lnTo>
                <a:lnTo>
                  <a:pt x="278" y="94"/>
                </a:lnTo>
                <a:lnTo>
                  <a:pt x="295" y="72"/>
                </a:lnTo>
                <a:lnTo>
                  <a:pt x="311" y="51"/>
                </a:lnTo>
                <a:lnTo>
                  <a:pt x="327" y="34"/>
                </a:lnTo>
                <a:lnTo>
                  <a:pt x="344" y="20"/>
                </a:lnTo>
                <a:lnTo>
                  <a:pt x="360" y="9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10"/>
                </a:lnTo>
                <a:lnTo>
                  <a:pt x="344" y="21"/>
                </a:lnTo>
                <a:lnTo>
                  <a:pt x="327" y="35"/>
                </a:lnTo>
                <a:lnTo>
                  <a:pt x="311" y="52"/>
                </a:lnTo>
                <a:lnTo>
                  <a:pt x="295" y="72"/>
                </a:lnTo>
                <a:lnTo>
                  <a:pt x="278" y="95"/>
                </a:lnTo>
                <a:lnTo>
                  <a:pt x="262" y="120"/>
                </a:lnTo>
                <a:lnTo>
                  <a:pt x="246" y="146"/>
                </a:lnTo>
                <a:lnTo>
                  <a:pt x="229" y="173"/>
                </a:lnTo>
                <a:lnTo>
                  <a:pt x="213" y="201"/>
                </a:lnTo>
                <a:lnTo>
                  <a:pt x="196" y="230"/>
                </a:lnTo>
                <a:lnTo>
                  <a:pt x="180" y="259"/>
                </a:lnTo>
                <a:lnTo>
                  <a:pt x="164" y="287"/>
                </a:lnTo>
                <a:lnTo>
                  <a:pt x="147" y="314"/>
                </a:lnTo>
                <a:lnTo>
                  <a:pt x="131" y="340"/>
                </a:lnTo>
                <a:lnTo>
                  <a:pt x="114" y="365"/>
                </a:lnTo>
                <a:lnTo>
                  <a:pt x="98" y="387"/>
                </a:lnTo>
                <a:lnTo>
                  <a:pt x="82" y="408"/>
                </a:lnTo>
                <a:lnTo>
                  <a:pt x="65" y="425"/>
                </a:lnTo>
                <a:lnTo>
                  <a:pt x="49" y="439"/>
                </a:lnTo>
                <a:lnTo>
                  <a:pt x="33" y="450"/>
                </a:lnTo>
                <a:lnTo>
                  <a:pt x="16" y="457"/>
                </a:lnTo>
                <a:lnTo>
                  <a:pt x="0" y="45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Freeform 129"/>
          <p:cNvSpPr/>
          <p:nvPr/>
        </p:nvSpPr>
        <p:spPr>
          <a:xfrm>
            <a:off x="2057400" y="2495550"/>
            <a:ext cx="3743325" cy="3838575"/>
          </a:xfrm>
          <a:custGeom>
            <a:avLst/>
            <a:gdLst/>
            <a:ahLst/>
            <a:cxnLst/>
            <a:rect l="l" t="t" r="r" b="b"/>
            <a:pathLst>
              <a:path w="393" h="403">
                <a:moveTo>
                  <a:pt x="0" y="402"/>
                </a:moveTo>
                <a:lnTo>
                  <a:pt x="16" y="400"/>
                </a:lnTo>
                <a:lnTo>
                  <a:pt x="33" y="394"/>
                </a:lnTo>
                <a:lnTo>
                  <a:pt x="49" y="385"/>
                </a:lnTo>
                <a:lnTo>
                  <a:pt x="65" y="372"/>
                </a:lnTo>
                <a:lnTo>
                  <a:pt x="82" y="357"/>
                </a:lnTo>
                <a:lnTo>
                  <a:pt x="98" y="339"/>
                </a:lnTo>
                <a:lnTo>
                  <a:pt x="114" y="320"/>
                </a:lnTo>
                <a:lnTo>
                  <a:pt x="131" y="298"/>
                </a:lnTo>
                <a:lnTo>
                  <a:pt x="147" y="275"/>
                </a:lnTo>
                <a:lnTo>
                  <a:pt x="164" y="251"/>
                </a:lnTo>
                <a:lnTo>
                  <a:pt x="180" y="226"/>
                </a:lnTo>
                <a:lnTo>
                  <a:pt x="196" y="201"/>
                </a:lnTo>
                <a:lnTo>
                  <a:pt x="213" y="176"/>
                </a:lnTo>
                <a:lnTo>
                  <a:pt x="229" y="152"/>
                </a:lnTo>
                <a:lnTo>
                  <a:pt x="246" y="128"/>
                </a:lnTo>
                <a:lnTo>
                  <a:pt x="262" y="105"/>
                </a:lnTo>
                <a:lnTo>
                  <a:pt x="278" y="83"/>
                </a:lnTo>
                <a:lnTo>
                  <a:pt x="295" y="63"/>
                </a:lnTo>
                <a:lnTo>
                  <a:pt x="311" y="45"/>
                </a:lnTo>
                <a:lnTo>
                  <a:pt x="327" y="30"/>
                </a:lnTo>
                <a:lnTo>
                  <a:pt x="344" y="18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2"/>
                </a:lnTo>
                <a:lnTo>
                  <a:pt x="377" y="4"/>
                </a:lnTo>
                <a:lnTo>
                  <a:pt x="360" y="9"/>
                </a:lnTo>
                <a:lnTo>
                  <a:pt x="344" y="19"/>
                </a:lnTo>
                <a:lnTo>
                  <a:pt x="327" y="31"/>
                </a:lnTo>
                <a:lnTo>
                  <a:pt x="311" y="47"/>
                </a:lnTo>
                <a:lnTo>
                  <a:pt x="295" y="64"/>
                </a:lnTo>
                <a:lnTo>
                  <a:pt x="278" y="84"/>
                </a:lnTo>
                <a:lnTo>
                  <a:pt x="262" y="106"/>
                </a:lnTo>
                <a:lnTo>
                  <a:pt x="246" y="129"/>
                </a:lnTo>
                <a:lnTo>
                  <a:pt x="229" y="153"/>
                </a:lnTo>
                <a:lnTo>
                  <a:pt x="213" y="177"/>
                </a:lnTo>
                <a:lnTo>
                  <a:pt x="196" y="202"/>
                </a:lnTo>
                <a:lnTo>
                  <a:pt x="180" y="227"/>
                </a:lnTo>
                <a:lnTo>
                  <a:pt x="164" y="252"/>
                </a:lnTo>
                <a:lnTo>
                  <a:pt x="147" y="276"/>
                </a:lnTo>
                <a:lnTo>
                  <a:pt x="131" y="299"/>
                </a:lnTo>
                <a:lnTo>
                  <a:pt x="114" y="321"/>
                </a:lnTo>
                <a:lnTo>
                  <a:pt x="98" y="340"/>
                </a:lnTo>
                <a:lnTo>
                  <a:pt x="82" y="358"/>
                </a:lnTo>
                <a:lnTo>
                  <a:pt x="65" y="373"/>
                </a:lnTo>
                <a:lnTo>
                  <a:pt x="49" y="386"/>
                </a:lnTo>
                <a:lnTo>
                  <a:pt x="33" y="395"/>
                </a:lnTo>
                <a:lnTo>
                  <a:pt x="16" y="401"/>
                </a:lnTo>
                <a:lnTo>
                  <a:pt x="0" y="403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Freeform 130"/>
          <p:cNvSpPr/>
          <p:nvPr/>
        </p:nvSpPr>
        <p:spPr>
          <a:xfrm>
            <a:off x="2057400" y="3048000"/>
            <a:ext cx="3743325" cy="3295650"/>
          </a:xfrm>
          <a:custGeom>
            <a:avLst/>
            <a:gdLst/>
            <a:ahLst/>
            <a:cxnLst/>
            <a:rect l="l" t="t" r="r" b="b"/>
            <a:pathLst>
              <a:path w="393" h="346">
                <a:moveTo>
                  <a:pt x="0" y="345"/>
                </a:moveTo>
                <a:lnTo>
                  <a:pt x="16" y="343"/>
                </a:lnTo>
                <a:lnTo>
                  <a:pt x="33" y="338"/>
                </a:lnTo>
                <a:lnTo>
                  <a:pt x="49" y="330"/>
                </a:lnTo>
                <a:lnTo>
                  <a:pt x="65" y="320"/>
                </a:lnTo>
                <a:lnTo>
                  <a:pt x="82" y="307"/>
                </a:lnTo>
                <a:lnTo>
                  <a:pt x="98" y="291"/>
                </a:lnTo>
                <a:lnTo>
                  <a:pt x="114" y="274"/>
                </a:lnTo>
                <a:lnTo>
                  <a:pt x="131" y="256"/>
                </a:lnTo>
                <a:lnTo>
                  <a:pt x="147" y="236"/>
                </a:lnTo>
                <a:lnTo>
                  <a:pt x="164" y="215"/>
                </a:lnTo>
                <a:lnTo>
                  <a:pt x="180" y="194"/>
                </a:lnTo>
                <a:lnTo>
                  <a:pt x="196" y="173"/>
                </a:lnTo>
                <a:lnTo>
                  <a:pt x="213" y="151"/>
                </a:lnTo>
                <a:lnTo>
                  <a:pt x="229" y="130"/>
                </a:lnTo>
                <a:lnTo>
                  <a:pt x="246" y="109"/>
                </a:lnTo>
                <a:lnTo>
                  <a:pt x="262" y="90"/>
                </a:lnTo>
                <a:lnTo>
                  <a:pt x="278" y="71"/>
                </a:lnTo>
                <a:lnTo>
                  <a:pt x="295" y="54"/>
                </a:lnTo>
                <a:lnTo>
                  <a:pt x="311" y="39"/>
                </a:lnTo>
                <a:lnTo>
                  <a:pt x="327" y="26"/>
                </a:lnTo>
                <a:lnTo>
                  <a:pt x="344" y="15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8"/>
                </a:lnTo>
                <a:lnTo>
                  <a:pt x="344" y="16"/>
                </a:lnTo>
                <a:lnTo>
                  <a:pt x="327" y="27"/>
                </a:lnTo>
                <a:lnTo>
                  <a:pt x="311" y="40"/>
                </a:lnTo>
                <a:lnTo>
                  <a:pt x="295" y="55"/>
                </a:lnTo>
                <a:lnTo>
                  <a:pt x="278" y="72"/>
                </a:lnTo>
                <a:lnTo>
                  <a:pt x="262" y="91"/>
                </a:lnTo>
                <a:lnTo>
                  <a:pt x="246" y="110"/>
                </a:lnTo>
                <a:lnTo>
                  <a:pt x="229" y="131"/>
                </a:lnTo>
                <a:lnTo>
                  <a:pt x="213" y="152"/>
                </a:lnTo>
                <a:lnTo>
                  <a:pt x="196" y="174"/>
                </a:lnTo>
                <a:lnTo>
                  <a:pt x="180" y="195"/>
                </a:lnTo>
                <a:lnTo>
                  <a:pt x="164" y="216"/>
                </a:lnTo>
                <a:lnTo>
                  <a:pt x="147" y="237"/>
                </a:lnTo>
                <a:lnTo>
                  <a:pt x="131" y="257"/>
                </a:lnTo>
                <a:lnTo>
                  <a:pt x="114" y="275"/>
                </a:lnTo>
                <a:lnTo>
                  <a:pt x="98" y="292"/>
                </a:lnTo>
                <a:lnTo>
                  <a:pt x="82" y="307"/>
                </a:lnTo>
                <a:lnTo>
                  <a:pt x="65" y="321"/>
                </a:lnTo>
                <a:lnTo>
                  <a:pt x="49" y="331"/>
                </a:lnTo>
                <a:lnTo>
                  <a:pt x="33" y="339"/>
                </a:lnTo>
                <a:lnTo>
                  <a:pt x="16" y="344"/>
                </a:lnTo>
                <a:lnTo>
                  <a:pt x="0" y="34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Freeform 131"/>
          <p:cNvSpPr/>
          <p:nvPr/>
        </p:nvSpPr>
        <p:spPr>
          <a:xfrm>
            <a:off x="2057400" y="3600450"/>
            <a:ext cx="3743325" cy="2752725"/>
          </a:xfrm>
          <a:custGeom>
            <a:avLst/>
            <a:gdLst/>
            <a:ahLst/>
            <a:cxnLst/>
            <a:rect l="l" t="t" r="r" b="b"/>
            <a:pathLst>
              <a:path w="393" h="289">
                <a:moveTo>
                  <a:pt x="0" y="288"/>
                </a:moveTo>
                <a:lnTo>
                  <a:pt x="16" y="287"/>
                </a:lnTo>
                <a:lnTo>
                  <a:pt x="33" y="282"/>
                </a:lnTo>
                <a:lnTo>
                  <a:pt x="49" y="276"/>
                </a:lnTo>
                <a:lnTo>
                  <a:pt x="65" y="267"/>
                </a:lnTo>
                <a:lnTo>
                  <a:pt x="82" y="256"/>
                </a:lnTo>
                <a:lnTo>
                  <a:pt x="98" y="243"/>
                </a:lnTo>
                <a:lnTo>
                  <a:pt x="114" y="229"/>
                </a:lnTo>
                <a:lnTo>
                  <a:pt x="131" y="213"/>
                </a:lnTo>
                <a:lnTo>
                  <a:pt x="147" y="197"/>
                </a:lnTo>
                <a:lnTo>
                  <a:pt x="164" y="180"/>
                </a:lnTo>
                <a:lnTo>
                  <a:pt x="180" y="162"/>
                </a:lnTo>
                <a:lnTo>
                  <a:pt x="196" y="144"/>
                </a:lnTo>
                <a:lnTo>
                  <a:pt x="213" y="126"/>
                </a:lnTo>
                <a:lnTo>
                  <a:pt x="229" y="108"/>
                </a:lnTo>
                <a:lnTo>
                  <a:pt x="246" y="91"/>
                </a:lnTo>
                <a:lnTo>
                  <a:pt x="262" y="74"/>
                </a:lnTo>
                <a:lnTo>
                  <a:pt x="278" y="59"/>
                </a:lnTo>
                <a:lnTo>
                  <a:pt x="295" y="45"/>
                </a:lnTo>
                <a:lnTo>
                  <a:pt x="311" y="32"/>
                </a:lnTo>
                <a:lnTo>
                  <a:pt x="327" y="21"/>
                </a:lnTo>
                <a:lnTo>
                  <a:pt x="344" y="12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7"/>
                </a:lnTo>
                <a:lnTo>
                  <a:pt x="344" y="13"/>
                </a:lnTo>
                <a:lnTo>
                  <a:pt x="327" y="22"/>
                </a:lnTo>
                <a:lnTo>
                  <a:pt x="311" y="33"/>
                </a:lnTo>
                <a:lnTo>
                  <a:pt x="295" y="46"/>
                </a:lnTo>
                <a:lnTo>
                  <a:pt x="278" y="60"/>
                </a:lnTo>
                <a:lnTo>
                  <a:pt x="262" y="76"/>
                </a:lnTo>
                <a:lnTo>
                  <a:pt x="246" y="92"/>
                </a:lnTo>
                <a:lnTo>
                  <a:pt x="229" y="109"/>
                </a:lnTo>
                <a:lnTo>
                  <a:pt x="213" y="127"/>
                </a:lnTo>
                <a:lnTo>
                  <a:pt x="196" y="145"/>
                </a:lnTo>
                <a:lnTo>
                  <a:pt x="180" y="163"/>
                </a:lnTo>
                <a:lnTo>
                  <a:pt x="164" y="181"/>
                </a:lnTo>
                <a:lnTo>
                  <a:pt x="147" y="198"/>
                </a:lnTo>
                <a:lnTo>
                  <a:pt x="131" y="214"/>
                </a:lnTo>
                <a:lnTo>
                  <a:pt x="114" y="230"/>
                </a:lnTo>
                <a:lnTo>
                  <a:pt x="98" y="244"/>
                </a:lnTo>
                <a:lnTo>
                  <a:pt x="82" y="257"/>
                </a:lnTo>
                <a:lnTo>
                  <a:pt x="65" y="268"/>
                </a:lnTo>
                <a:lnTo>
                  <a:pt x="49" y="277"/>
                </a:lnTo>
                <a:lnTo>
                  <a:pt x="33" y="284"/>
                </a:lnTo>
                <a:lnTo>
                  <a:pt x="16" y="288"/>
                </a:lnTo>
                <a:lnTo>
                  <a:pt x="0" y="289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Freeform 132"/>
          <p:cNvSpPr/>
          <p:nvPr/>
        </p:nvSpPr>
        <p:spPr>
          <a:xfrm>
            <a:off x="2057400" y="4152900"/>
            <a:ext cx="3743325" cy="2209800"/>
          </a:xfrm>
          <a:custGeom>
            <a:avLst/>
            <a:gdLst/>
            <a:ahLst/>
            <a:cxnLst/>
            <a:rect l="l" t="t" r="r" b="b"/>
            <a:pathLst>
              <a:path w="393" h="232">
                <a:moveTo>
                  <a:pt x="0" y="231"/>
                </a:moveTo>
                <a:lnTo>
                  <a:pt x="16" y="230"/>
                </a:lnTo>
                <a:lnTo>
                  <a:pt x="33" y="227"/>
                </a:lnTo>
                <a:lnTo>
                  <a:pt x="49" y="221"/>
                </a:lnTo>
                <a:lnTo>
                  <a:pt x="65" y="214"/>
                </a:lnTo>
                <a:lnTo>
                  <a:pt x="82" y="205"/>
                </a:lnTo>
                <a:lnTo>
                  <a:pt x="98" y="195"/>
                </a:lnTo>
                <a:lnTo>
                  <a:pt x="114" y="184"/>
                </a:lnTo>
                <a:lnTo>
                  <a:pt x="131" y="171"/>
                </a:lnTo>
                <a:lnTo>
                  <a:pt x="147" y="158"/>
                </a:lnTo>
                <a:lnTo>
                  <a:pt x="164" y="144"/>
                </a:lnTo>
                <a:lnTo>
                  <a:pt x="180" y="130"/>
                </a:lnTo>
                <a:lnTo>
                  <a:pt x="196" y="115"/>
                </a:lnTo>
                <a:lnTo>
                  <a:pt x="213" y="101"/>
                </a:lnTo>
                <a:lnTo>
                  <a:pt x="229" y="87"/>
                </a:lnTo>
                <a:lnTo>
                  <a:pt x="246" y="73"/>
                </a:lnTo>
                <a:lnTo>
                  <a:pt x="262" y="60"/>
                </a:lnTo>
                <a:lnTo>
                  <a:pt x="278" y="47"/>
                </a:lnTo>
                <a:lnTo>
                  <a:pt x="295" y="36"/>
                </a:lnTo>
                <a:lnTo>
                  <a:pt x="311" y="26"/>
                </a:lnTo>
                <a:lnTo>
                  <a:pt x="327" y="17"/>
                </a:lnTo>
                <a:lnTo>
                  <a:pt x="344" y="10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5"/>
                </a:lnTo>
                <a:lnTo>
                  <a:pt x="344" y="11"/>
                </a:lnTo>
                <a:lnTo>
                  <a:pt x="327" y="18"/>
                </a:lnTo>
                <a:lnTo>
                  <a:pt x="311" y="27"/>
                </a:lnTo>
                <a:lnTo>
                  <a:pt x="295" y="37"/>
                </a:lnTo>
                <a:lnTo>
                  <a:pt x="278" y="48"/>
                </a:lnTo>
                <a:lnTo>
                  <a:pt x="262" y="61"/>
                </a:lnTo>
                <a:lnTo>
                  <a:pt x="246" y="74"/>
                </a:lnTo>
                <a:lnTo>
                  <a:pt x="229" y="88"/>
                </a:lnTo>
                <a:lnTo>
                  <a:pt x="213" y="102"/>
                </a:lnTo>
                <a:lnTo>
                  <a:pt x="196" y="116"/>
                </a:lnTo>
                <a:lnTo>
                  <a:pt x="180" y="131"/>
                </a:lnTo>
                <a:lnTo>
                  <a:pt x="164" y="145"/>
                </a:lnTo>
                <a:lnTo>
                  <a:pt x="147" y="159"/>
                </a:lnTo>
                <a:lnTo>
                  <a:pt x="131" y="172"/>
                </a:lnTo>
                <a:lnTo>
                  <a:pt x="114" y="185"/>
                </a:lnTo>
                <a:lnTo>
                  <a:pt x="98" y="196"/>
                </a:lnTo>
                <a:lnTo>
                  <a:pt x="82" y="206"/>
                </a:lnTo>
                <a:lnTo>
                  <a:pt x="65" y="215"/>
                </a:lnTo>
                <a:lnTo>
                  <a:pt x="49" y="222"/>
                </a:lnTo>
                <a:lnTo>
                  <a:pt x="33" y="228"/>
                </a:lnTo>
                <a:lnTo>
                  <a:pt x="16" y="231"/>
                </a:lnTo>
                <a:lnTo>
                  <a:pt x="0" y="232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2057400" y="4695825"/>
            <a:ext cx="3743325" cy="1676400"/>
          </a:xfrm>
          <a:custGeom>
            <a:avLst/>
            <a:gdLst/>
            <a:ahLst/>
            <a:cxnLst/>
            <a:rect l="l" t="t" r="r" b="b"/>
            <a:pathLst>
              <a:path w="393" h="176">
                <a:moveTo>
                  <a:pt x="0" y="175"/>
                </a:moveTo>
                <a:lnTo>
                  <a:pt x="16" y="174"/>
                </a:lnTo>
                <a:lnTo>
                  <a:pt x="33" y="172"/>
                </a:lnTo>
                <a:lnTo>
                  <a:pt x="49" y="168"/>
                </a:lnTo>
                <a:lnTo>
                  <a:pt x="65" y="162"/>
                </a:lnTo>
                <a:lnTo>
                  <a:pt x="82" y="156"/>
                </a:lnTo>
                <a:lnTo>
                  <a:pt x="98" y="148"/>
                </a:lnTo>
                <a:lnTo>
                  <a:pt x="114" y="139"/>
                </a:lnTo>
                <a:lnTo>
                  <a:pt x="131" y="130"/>
                </a:lnTo>
                <a:lnTo>
                  <a:pt x="147" y="120"/>
                </a:lnTo>
                <a:lnTo>
                  <a:pt x="164" y="109"/>
                </a:lnTo>
                <a:lnTo>
                  <a:pt x="180" y="99"/>
                </a:lnTo>
                <a:lnTo>
                  <a:pt x="196" y="88"/>
                </a:lnTo>
                <a:lnTo>
                  <a:pt x="213" y="77"/>
                </a:lnTo>
                <a:lnTo>
                  <a:pt x="229" y="66"/>
                </a:lnTo>
                <a:lnTo>
                  <a:pt x="246" y="56"/>
                </a:lnTo>
                <a:lnTo>
                  <a:pt x="262" y="46"/>
                </a:lnTo>
                <a:lnTo>
                  <a:pt x="278" y="36"/>
                </a:lnTo>
                <a:lnTo>
                  <a:pt x="295" y="27"/>
                </a:lnTo>
                <a:lnTo>
                  <a:pt x="311" y="20"/>
                </a:lnTo>
                <a:lnTo>
                  <a:pt x="327" y="13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5"/>
                </a:lnTo>
                <a:lnTo>
                  <a:pt x="344" y="9"/>
                </a:lnTo>
                <a:lnTo>
                  <a:pt x="327" y="14"/>
                </a:lnTo>
                <a:lnTo>
                  <a:pt x="311" y="21"/>
                </a:lnTo>
                <a:lnTo>
                  <a:pt x="295" y="29"/>
                </a:lnTo>
                <a:lnTo>
                  <a:pt x="278" y="37"/>
                </a:lnTo>
                <a:lnTo>
                  <a:pt x="262" y="47"/>
                </a:lnTo>
                <a:lnTo>
                  <a:pt x="246" y="57"/>
                </a:lnTo>
                <a:lnTo>
                  <a:pt x="229" y="67"/>
                </a:lnTo>
                <a:lnTo>
                  <a:pt x="213" y="78"/>
                </a:lnTo>
                <a:lnTo>
                  <a:pt x="196" y="89"/>
                </a:lnTo>
                <a:lnTo>
                  <a:pt x="180" y="100"/>
                </a:lnTo>
                <a:lnTo>
                  <a:pt x="164" y="111"/>
                </a:lnTo>
                <a:lnTo>
                  <a:pt x="147" y="121"/>
                </a:lnTo>
                <a:lnTo>
                  <a:pt x="131" y="131"/>
                </a:lnTo>
                <a:lnTo>
                  <a:pt x="114" y="140"/>
                </a:lnTo>
                <a:lnTo>
                  <a:pt x="98" y="149"/>
                </a:lnTo>
                <a:lnTo>
                  <a:pt x="82" y="157"/>
                </a:lnTo>
                <a:lnTo>
                  <a:pt x="65" y="163"/>
                </a:lnTo>
                <a:lnTo>
                  <a:pt x="49" y="169"/>
                </a:lnTo>
                <a:lnTo>
                  <a:pt x="33" y="173"/>
                </a:lnTo>
                <a:lnTo>
                  <a:pt x="16" y="176"/>
                </a:lnTo>
                <a:lnTo>
                  <a:pt x="0" y="176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Freeform 134"/>
          <p:cNvSpPr/>
          <p:nvPr/>
        </p:nvSpPr>
        <p:spPr>
          <a:xfrm>
            <a:off x="2057400" y="5248275"/>
            <a:ext cx="3743325" cy="1143000"/>
          </a:xfrm>
          <a:custGeom>
            <a:avLst/>
            <a:gdLst/>
            <a:ahLst/>
            <a:cxnLst/>
            <a:rect l="l" t="t" r="r" b="b"/>
            <a:pathLst>
              <a:path w="393" h="120">
                <a:moveTo>
                  <a:pt x="0" y="118"/>
                </a:moveTo>
                <a:lnTo>
                  <a:pt x="16" y="118"/>
                </a:lnTo>
                <a:lnTo>
                  <a:pt x="33" y="116"/>
                </a:lnTo>
                <a:lnTo>
                  <a:pt x="49" y="113"/>
                </a:lnTo>
                <a:lnTo>
                  <a:pt x="65" y="110"/>
                </a:lnTo>
                <a:lnTo>
                  <a:pt x="82" y="105"/>
                </a:lnTo>
                <a:lnTo>
                  <a:pt x="98" y="100"/>
                </a:lnTo>
                <a:lnTo>
                  <a:pt x="114" y="94"/>
                </a:lnTo>
                <a:lnTo>
                  <a:pt x="131" y="88"/>
                </a:lnTo>
                <a:lnTo>
                  <a:pt x="147" y="81"/>
                </a:lnTo>
                <a:lnTo>
                  <a:pt x="164" y="74"/>
                </a:lnTo>
                <a:lnTo>
                  <a:pt x="180" y="66"/>
                </a:lnTo>
                <a:lnTo>
                  <a:pt x="196" y="59"/>
                </a:lnTo>
                <a:lnTo>
                  <a:pt x="213" y="52"/>
                </a:lnTo>
                <a:lnTo>
                  <a:pt x="229" y="44"/>
                </a:lnTo>
                <a:lnTo>
                  <a:pt x="246" y="37"/>
                </a:lnTo>
                <a:lnTo>
                  <a:pt x="262" y="30"/>
                </a:lnTo>
                <a:lnTo>
                  <a:pt x="278" y="24"/>
                </a:lnTo>
                <a:lnTo>
                  <a:pt x="295" y="18"/>
                </a:lnTo>
                <a:lnTo>
                  <a:pt x="311" y="13"/>
                </a:lnTo>
                <a:lnTo>
                  <a:pt x="327" y="8"/>
                </a:lnTo>
                <a:lnTo>
                  <a:pt x="344" y="5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3"/>
                </a:lnTo>
                <a:lnTo>
                  <a:pt x="344" y="6"/>
                </a:lnTo>
                <a:lnTo>
                  <a:pt x="327" y="10"/>
                </a:lnTo>
                <a:lnTo>
                  <a:pt x="311" y="14"/>
                </a:lnTo>
                <a:lnTo>
                  <a:pt x="295" y="19"/>
                </a:lnTo>
                <a:lnTo>
                  <a:pt x="278" y="25"/>
                </a:lnTo>
                <a:lnTo>
                  <a:pt x="262" y="32"/>
                </a:lnTo>
                <a:lnTo>
                  <a:pt x="246" y="38"/>
                </a:lnTo>
                <a:lnTo>
                  <a:pt x="229" y="45"/>
                </a:lnTo>
                <a:lnTo>
                  <a:pt x="213" y="53"/>
                </a:lnTo>
                <a:lnTo>
                  <a:pt x="196" y="60"/>
                </a:lnTo>
                <a:lnTo>
                  <a:pt x="180" y="68"/>
                </a:lnTo>
                <a:lnTo>
                  <a:pt x="164" y="75"/>
                </a:lnTo>
                <a:lnTo>
                  <a:pt x="147" y="82"/>
                </a:lnTo>
                <a:lnTo>
                  <a:pt x="131" y="89"/>
                </a:lnTo>
                <a:lnTo>
                  <a:pt x="114" y="95"/>
                </a:lnTo>
                <a:lnTo>
                  <a:pt x="98" y="101"/>
                </a:lnTo>
                <a:lnTo>
                  <a:pt x="82" y="106"/>
                </a:lnTo>
                <a:lnTo>
                  <a:pt x="65" y="111"/>
                </a:lnTo>
                <a:lnTo>
                  <a:pt x="49" y="114"/>
                </a:lnTo>
                <a:lnTo>
                  <a:pt x="33" y="117"/>
                </a:lnTo>
                <a:lnTo>
                  <a:pt x="16" y="119"/>
                </a:lnTo>
                <a:lnTo>
                  <a:pt x="0" y="120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Freeform 135"/>
          <p:cNvSpPr/>
          <p:nvPr/>
        </p:nvSpPr>
        <p:spPr>
          <a:xfrm>
            <a:off x="2057400" y="5791200"/>
            <a:ext cx="3743325" cy="609600"/>
          </a:xfrm>
          <a:custGeom>
            <a:avLst/>
            <a:gdLst/>
            <a:ahLst/>
            <a:cxnLst/>
            <a:rect l="l" t="t" r="r" b="b"/>
            <a:pathLst>
              <a:path w="393" h="64">
                <a:moveTo>
                  <a:pt x="0" y="63"/>
                </a:moveTo>
                <a:lnTo>
                  <a:pt x="16" y="62"/>
                </a:lnTo>
                <a:lnTo>
                  <a:pt x="33" y="61"/>
                </a:lnTo>
                <a:lnTo>
                  <a:pt x="49" y="60"/>
                </a:lnTo>
                <a:lnTo>
                  <a:pt x="65" y="58"/>
                </a:lnTo>
                <a:lnTo>
                  <a:pt x="82" y="56"/>
                </a:lnTo>
                <a:lnTo>
                  <a:pt x="98" y="53"/>
                </a:lnTo>
                <a:lnTo>
                  <a:pt x="114" y="50"/>
                </a:lnTo>
                <a:lnTo>
                  <a:pt x="131" y="46"/>
                </a:lnTo>
                <a:lnTo>
                  <a:pt x="147" y="43"/>
                </a:lnTo>
                <a:lnTo>
                  <a:pt x="164" y="39"/>
                </a:lnTo>
                <a:lnTo>
                  <a:pt x="180" y="35"/>
                </a:lnTo>
                <a:lnTo>
                  <a:pt x="196" y="31"/>
                </a:lnTo>
                <a:lnTo>
                  <a:pt x="213" y="27"/>
                </a:lnTo>
                <a:lnTo>
                  <a:pt x="229" y="24"/>
                </a:lnTo>
                <a:lnTo>
                  <a:pt x="246" y="20"/>
                </a:lnTo>
                <a:lnTo>
                  <a:pt x="262" y="16"/>
                </a:lnTo>
                <a:lnTo>
                  <a:pt x="278" y="13"/>
                </a:lnTo>
                <a:lnTo>
                  <a:pt x="295" y="10"/>
                </a:lnTo>
                <a:lnTo>
                  <a:pt x="311" y="7"/>
                </a:lnTo>
                <a:lnTo>
                  <a:pt x="327" y="5"/>
                </a:lnTo>
                <a:lnTo>
                  <a:pt x="344" y="3"/>
                </a:lnTo>
                <a:lnTo>
                  <a:pt x="360" y="1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3"/>
                </a:lnTo>
                <a:lnTo>
                  <a:pt x="344" y="4"/>
                </a:lnTo>
                <a:lnTo>
                  <a:pt x="327" y="6"/>
                </a:lnTo>
                <a:lnTo>
                  <a:pt x="311" y="8"/>
                </a:lnTo>
                <a:lnTo>
                  <a:pt x="295" y="11"/>
                </a:lnTo>
                <a:lnTo>
                  <a:pt x="278" y="14"/>
                </a:lnTo>
                <a:lnTo>
                  <a:pt x="262" y="18"/>
                </a:lnTo>
                <a:lnTo>
                  <a:pt x="246" y="21"/>
                </a:lnTo>
                <a:lnTo>
                  <a:pt x="229" y="25"/>
                </a:lnTo>
                <a:lnTo>
                  <a:pt x="213" y="29"/>
                </a:lnTo>
                <a:lnTo>
                  <a:pt x="196" y="33"/>
                </a:lnTo>
                <a:lnTo>
                  <a:pt x="180" y="36"/>
                </a:lnTo>
                <a:lnTo>
                  <a:pt x="164" y="40"/>
                </a:lnTo>
                <a:lnTo>
                  <a:pt x="147" y="44"/>
                </a:lnTo>
                <a:lnTo>
                  <a:pt x="131" y="48"/>
                </a:lnTo>
                <a:lnTo>
                  <a:pt x="114" y="51"/>
                </a:lnTo>
                <a:lnTo>
                  <a:pt x="98" y="54"/>
                </a:lnTo>
                <a:lnTo>
                  <a:pt x="82" y="57"/>
                </a:lnTo>
                <a:lnTo>
                  <a:pt x="65" y="59"/>
                </a:lnTo>
                <a:lnTo>
                  <a:pt x="49" y="61"/>
                </a:lnTo>
                <a:lnTo>
                  <a:pt x="33" y="62"/>
                </a:lnTo>
                <a:lnTo>
                  <a:pt x="16" y="63"/>
                </a:lnTo>
                <a:lnTo>
                  <a:pt x="0" y="64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Freeform 136"/>
          <p:cNvSpPr/>
          <p:nvPr/>
        </p:nvSpPr>
        <p:spPr>
          <a:xfrm>
            <a:off x="2057400" y="6343650"/>
            <a:ext cx="3743325" cy="66675"/>
          </a:xfrm>
          <a:custGeom>
            <a:avLst/>
            <a:gdLst/>
            <a:ahLst/>
            <a:cxnLst/>
            <a:rect l="l" t="t" r="r" b="b"/>
            <a:pathLst>
              <a:path w="393" h="7">
                <a:moveTo>
                  <a:pt x="0" y="6"/>
                </a:moveTo>
                <a:lnTo>
                  <a:pt x="16" y="6"/>
                </a:lnTo>
                <a:lnTo>
                  <a:pt x="33" y="6"/>
                </a:lnTo>
                <a:lnTo>
                  <a:pt x="49" y="5"/>
                </a:lnTo>
                <a:lnTo>
                  <a:pt x="65" y="5"/>
                </a:lnTo>
                <a:lnTo>
                  <a:pt x="82" y="5"/>
                </a:lnTo>
                <a:lnTo>
                  <a:pt x="98" y="5"/>
                </a:lnTo>
                <a:lnTo>
                  <a:pt x="114" y="5"/>
                </a:lnTo>
                <a:lnTo>
                  <a:pt x="131" y="4"/>
                </a:lnTo>
                <a:lnTo>
                  <a:pt x="147" y="4"/>
                </a:lnTo>
                <a:lnTo>
                  <a:pt x="164" y="4"/>
                </a:lnTo>
                <a:lnTo>
                  <a:pt x="180" y="3"/>
                </a:lnTo>
                <a:lnTo>
                  <a:pt x="196" y="3"/>
                </a:lnTo>
                <a:lnTo>
                  <a:pt x="213" y="3"/>
                </a:lnTo>
                <a:lnTo>
                  <a:pt x="229" y="2"/>
                </a:lnTo>
                <a:lnTo>
                  <a:pt x="246" y="2"/>
                </a:lnTo>
                <a:lnTo>
                  <a:pt x="262" y="2"/>
                </a:lnTo>
                <a:lnTo>
                  <a:pt x="278" y="1"/>
                </a:lnTo>
                <a:lnTo>
                  <a:pt x="295" y="1"/>
                </a:lnTo>
                <a:lnTo>
                  <a:pt x="311" y="1"/>
                </a:lnTo>
                <a:lnTo>
                  <a:pt x="327" y="1"/>
                </a:lnTo>
                <a:lnTo>
                  <a:pt x="344" y="0"/>
                </a:lnTo>
                <a:lnTo>
                  <a:pt x="360" y="0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1"/>
                </a:lnTo>
                <a:lnTo>
                  <a:pt x="344" y="1"/>
                </a:lnTo>
                <a:lnTo>
                  <a:pt x="327" y="2"/>
                </a:lnTo>
                <a:lnTo>
                  <a:pt x="311" y="2"/>
                </a:lnTo>
                <a:lnTo>
                  <a:pt x="295" y="2"/>
                </a:lnTo>
                <a:lnTo>
                  <a:pt x="278" y="2"/>
                </a:lnTo>
                <a:lnTo>
                  <a:pt x="262" y="3"/>
                </a:lnTo>
                <a:lnTo>
                  <a:pt x="246" y="3"/>
                </a:lnTo>
                <a:lnTo>
                  <a:pt x="229" y="3"/>
                </a:lnTo>
                <a:lnTo>
                  <a:pt x="213" y="4"/>
                </a:lnTo>
                <a:lnTo>
                  <a:pt x="196" y="4"/>
                </a:lnTo>
                <a:lnTo>
                  <a:pt x="180" y="4"/>
                </a:lnTo>
                <a:lnTo>
                  <a:pt x="164" y="5"/>
                </a:lnTo>
                <a:lnTo>
                  <a:pt x="147" y="5"/>
                </a:lnTo>
                <a:lnTo>
                  <a:pt x="131" y="5"/>
                </a:lnTo>
                <a:lnTo>
                  <a:pt x="114" y="6"/>
                </a:lnTo>
                <a:lnTo>
                  <a:pt x="98" y="6"/>
                </a:lnTo>
                <a:lnTo>
                  <a:pt x="82" y="6"/>
                </a:lnTo>
                <a:lnTo>
                  <a:pt x="65" y="6"/>
                </a:lnTo>
                <a:lnTo>
                  <a:pt x="49" y="7"/>
                </a:lnTo>
                <a:lnTo>
                  <a:pt x="33" y="7"/>
                </a:lnTo>
                <a:lnTo>
                  <a:pt x="16" y="7"/>
                </a:lnTo>
                <a:lnTo>
                  <a:pt x="0" y="7"/>
                </a:lnTo>
                <a:close/>
              </a:path>
            </a:pathLst>
          </a:custGeom>
          <a:solidFill>
            <a:srgbClr val="9E7E0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Freeform 137"/>
          <p:cNvSpPr/>
          <p:nvPr/>
        </p:nvSpPr>
        <p:spPr>
          <a:xfrm>
            <a:off x="2057400" y="1962150"/>
            <a:ext cx="3743325" cy="4514850"/>
          </a:xfrm>
          <a:custGeom>
            <a:avLst/>
            <a:gdLst/>
            <a:ahLst/>
            <a:cxnLst/>
            <a:rect l="l" t="t" r="r" b="b"/>
            <a:pathLst>
              <a:path w="393" h="474">
                <a:moveTo>
                  <a:pt x="0" y="473"/>
                </a:moveTo>
                <a:lnTo>
                  <a:pt x="16" y="470"/>
                </a:lnTo>
                <a:lnTo>
                  <a:pt x="33" y="463"/>
                </a:lnTo>
                <a:lnTo>
                  <a:pt x="49" y="452"/>
                </a:lnTo>
                <a:lnTo>
                  <a:pt x="65" y="438"/>
                </a:lnTo>
                <a:lnTo>
                  <a:pt x="82" y="420"/>
                </a:lnTo>
                <a:lnTo>
                  <a:pt x="98" y="399"/>
                </a:lnTo>
                <a:lnTo>
                  <a:pt x="114" y="376"/>
                </a:lnTo>
                <a:lnTo>
                  <a:pt x="131" y="350"/>
                </a:lnTo>
                <a:lnTo>
                  <a:pt x="147" y="323"/>
                </a:lnTo>
                <a:lnTo>
                  <a:pt x="164" y="295"/>
                </a:lnTo>
                <a:lnTo>
                  <a:pt x="180" y="266"/>
                </a:lnTo>
                <a:lnTo>
                  <a:pt x="196" y="236"/>
                </a:lnTo>
                <a:lnTo>
                  <a:pt x="213" y="207"/>
                </a:lnTo>
                <a:lnTo>
                  <a:pt x="229" y="178"/>
                </a:lnTo>
                <a:lnTo>
                  <a:pt x="246" y="149"/>
                </a:lnTo>
                <a:lnTo>
                  <a:pt x="262" y="122"/>
                </a:lnTo>
                <a:lnTo>
                  <a:pt x="278" y="97"/>
                </a:lnTo>
                <a:lnTo>
                  <a:pt x="295" y="74"/>
                </a:lnTo>
                <a:lnTo>
                  <a:pt x="311" y="53"/>
                </a:lnTo>
                <a:lnTo>
                  <a:pt x="327" y="35"/>
                </a:lnTo>
                <a:lnTo>
                  <a:pt x="344" y="20"/>
                </a:lnTo>
                <a:lnTo>
                  <a:pt x="360" y="9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10"/>
                </a:lnTo>
                <a:lnTo>
                  <a:pt x="344" y="21"/>
                </a:lnTo>
                <a:lnTo>
                  <a:pt x="327" y="36"/>
                </a:lnTo>
                <a:lnTo>
                  <a:pt x="311" y="54"/>
                </a:lnTo>
                <a:lnTo>
                  <a:pt x="295" y="75"/>
                </a:lnTo>
                <a:lnTo>
                  <a:pt x="278" y="98"/>
                </a:lnTo>
                <a:lnTo>
                  <a:pt x="262" y="123"/>
                </a:lnTo>
                <a:lnTo>
                  <a:pt x="246" y="150"/>
                </a:lnTo>
                <a:lnTo>
                  <a:pt x="229" y="179"/>
                </a:lnTo>
                <a:lnTo>
                  <a:pt x="213" y="208"/>
                </a:lnTo>
                <a:lnTo>
                  <a:pt x="196" y="237"/>
                </a:lnTo>
                <a:lnTo>
                  <a:pt x="180" y="267"/>
                </a:lnTo>
                <a:lnTo>
                  <a:pt x="164" y="296"/>
                </a:lnTo>
                <a:lnTo>
                  <a:pt x="147" y="324"/>
                </a:lnTo>
                <a:lnTo>
                  <a:pt x="131" y="351"/>
                </a:lnTo>
                <a:lnTo>
                  <a:pt x="114" y="376"/>
                </a:lnTo>
                <a:lnTo>
                  <a:pt x="98" y="400"/>
                </a:lnTo>
                <a:lnTo>
                  <a:pt x="82" y="421"/>
                </a:lnTo>
                <a:lnTo>
                  <a:pt x="65" y="439"/>
                </a:lnTo>
                <a:lnTo>
                  <a:pt x="49" y="453"/>
                </a:lnTo>
                <a:lnTo>
                  <a:pt x="33" y="464"/>
                </a:lnTo>
                <a:lnTo>
                  <a:pt x="16" y="471"/>
                </a:lnTo>
                <a:lnTo>
                  <a:pt x="0" y="474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Freeform 138"/>
          <p:cNvSpPr/>
          <p:nvPr/>
        </p:nvSpPr>
        <p:spPr>
          <a:xfrm>
            <a:off x="2057400" y="2514600"/>
            <a:ext cx="3743325" cy="3962400"/>
          </a:xfrm>
          <a:custGeom>
            <a:avLst/>
            <a:gdLst/>
            <a:ahLst/>
            <a:cxnLst/>
            <a:rect l="l" t="t" r="r" b="b"/>
            <a:pathLst>
              <a:path w="393" h="416">
                <a:moveTo>
                  <a:pt x="0" y="416"/>
                </a:moveTo>
                <a:lnTo>
                  <a:pt x="16" y="414"/>
                </a:lnTo>
                <a:lnTo>
                  <a:pt x="33" y="407"/>
                </a:lnTo>
                <a:lnTo>
                  <a:pt x="49" y="398"/>
                </a:lnTo>
                <a:lnTo>
                  <a:pt x="65" y="385"/>
                </a:lnTo>
                <a:lnTo>
                  <a:pt x="82" y="369"/>
                </a:lnTo>
                <a:lnTo>
                  <a:pt x="98" y="351"/>
                </a:lnTo>
                <a:lnTo>
                  <a:pt x="114" y="330"/>
                </a:lnTo>
                <a:lnTo>
                  <a:pt x="131" y="308"/>
                </a:lnTo>
                <a:lnTo>
                  <a:pt x="147" y="284"/>
                </a:lnTo>
                <a:lnTo>
                  <a:pt x="164" y="259"/>
                </a:lnTo>
                <a:lnTo>
                  <a:pt x="180" y="234"/>
                </a:lnTo>
                <a:lnTo>
                  <a:pt x="196" y="208"/>
                </a:lnTo>
                <a:lnTo>
                  <a:pt x="213" y="182"/>
                </a:lnTo>
                <a:lnTo>
                  <a:pt x="229" y="156"/>
                </a:lnTo>
                <a:lnTo>
                  <a:pt x="246" y="131"/>
                </a:lnTo>
                <a:lnTo>
                  <a:pt x="262" y="107"/>
                </a:lnTo>
                <a:lnTo>
                  <a:pt x="278" y="85"/>
                </a:lnTo>
                <a:lnTo>
                  <a:pt x="295" y="65"/>
                </a:lnTo>
                <a:lnTo>
                  <a:pt x="311" y="46"/>
                </a:lnTo>
                <a:lnTo>
                  <a:pt x="327" y="30"/>
                </a:lnTo>
                <a:lnTo>
                  <a:pt x="344" y="17"/>
                </a:lnTo>
                <a:lnTo>
                  <a:pt x="360" y="8"/>
                </a:lnTo>
                <a:lnTo>
                  <a:pt x="377" y="2"/>
                </a:lnTo>
                <a:lnTo>
                  <a:pt x="393" y="0"/>
                </a:lnTo>
                <a:lnTo>
                  <a:pt x="393" y="0"/>
                </a:lnTo>
                <a:lnTo>
                  <a:pt x="377" y="2"/>
                </a:lnTo>
                <a:lnTo>
                  <a:pt x="360" y="9"/>
                </a:lnTo>
                <a:lnTo>
                  <a:pt x="344" y="18"/>
                </a:lnTo>
                <a:lnTo>
                  <a:pt x="327" y="31"/>
                </a:lnTo>
                <a:lnTo>
                  <a:pt x="311" y="47"/>
                </a:lnTo>
                <a:lnTo>
                  <a:pt x="295" y="65"/>
                </a:lnTo>
                <a:lnTo>
                  <a:pt x="278" y="86"/>
                </a:lnTo>
                <a:lnTo>
                  <a:pt x="262" y="108"/>
                </a:lnTo>
                <a:lnTo>
                  <a:pt x="246" y="132"/>
                </a:lnTo>
                <a:lnTo>
                  <a:pt x="229" y="157"/>
                </a:lnTo>
                <a:lnTo>
                  <a:pt x="213" y="182"/>
                </a:lnTo>
                <a:lnTo>
                  <a:pt x="196" y="208"/>
                </a:lnTo>
                <a:lnTo>
                  <a:pt x="180" y="234"/>
                </a:lnTo>
                <a:lnTo>
                  <a:pt x="164" y="260"/>
                </a:lnTo>
                <a:lnTo>
                  <a:pt x="147" y="285"/>
                </a:lnTo>
                <a:lnTo>
                  <a:pt x="131" y="309"/>
                </a:lnTo>
                <a:lnTo>
                  <a:pt x="114" y="331"/>
                </a:lnTo>
                <a:lnTo>
                  <a:pt x="98" y="351"/>
                </a:lnTo>
                <a:lnTo>
                  <a:pt x="82" y="370"/>
                </a:lnTo>
                <a:lnTo>
                  <a:pt x="65" y="386"/>
                </a:lnTo>
                <a:lnTo>
                  <a:pt x="49" y="399"/>
                </a:lnTo>
                <a:lnTo>
                  <a:pt x="33" y="408"/>
                </a:lnTo>
                <a:lnTo>
                  <a:pt x="16" y="414"/>
                </a:lnTo>
                <a:lnTo>
                  <a:pt x="0" y="41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2057400" y="3057525"/>
            <a:ext cx="3743325" cy="3429000"/>
          </a:xfrm>
          <a:custGeom>
            <a:avLst/>
            <a:gdLst/>
            <a:ahLst/>
            <a:cxnLst/>
            <a:rect l="l" t="t" r="r" b="b"/>
            <a:pathLst>
              <a:path w="393" h="360">
                <a:moveTo>
                  <a:pt x="0" y="359"/>
                </a:moveTo>
                <a:lnTo>
                  <a:pt x="16" y="358"/>
                </a:lnTo>
                <a:lnTo>
                  <a:pt x="33" y="352"/>
                </a:lnTo>
                <a:lnTo>
                  <a:pt x="49" y="344"/>
                </a:lnTo>
                <a:lnTo>
                  <a:pt x="65" y="333"/>
                </a:lnTo>
                <a:lnTo>
                  <a:pt x="82" y="319"/>
                </a:lnTo>
                <a:lnTo>
                  <a:pt x="98" y="303"/>
                </a:lnTo>
                <a:lnTo>
                  <a:pt x="114" y="286"/>
                </a:lnTo>
                <a:lnTo>
                  <a:pt x="131" y="266"/>
                </a:lnTo>
                <a:lnTo>
                  <a:pt x="147" y="246"/>
                </a:lnTo>
                <a:lnTo>
                  <a:pt x="164" y="224"/>
                </a:lnTo>
                <a:lnTo>
                  <a:pt x="180" y="202"/>
                </a:lnTo>
                <a:lnTo>
                  <a:pt x="196" y="180"/>
                </a:lnTo>
                <a:lnTo>
                  <a:pt x="213" y="157"/>
                </a:lnTo>
                <a:lnTo>
                  <a:pt x="229" y="135"/>
                </a:lnTo>
                <a:lnTo>
                  <a:pt x="246" y="114"/>
                </a:lnTo>
                <a:lnTo>
                  <a:pt x="262" y="93"/>
                </a:lnTo>
                <a:lnTo>
                  <a:pt x="278" y="74"/>
                </a:lnTo>
                <a:lnTo>
                  <a:pt x="295" y="56"/>
                </a:lnTo>
                <a:lnTo>
                  <a:pt x="311" y="40"/>
                </a:lnTo>
                <a:lnTo>
                  <a:pt x="327" y="27"/>
                </a:lnTo>
                <a:lnTo>
                  <a:pt x="344" y="16"/>
                </a:lnTo>
                <a:lnTo>
                  <a:pt x="360" y="7"/>
                </a:lnTo>
                <a:lnTo>
                  <a:pt x="377" y="2"/>
                </a:lnTo>
                <a:lnTo>
                  <a:pt x="393" y="0"/>
                </a:lnTo>
                <a:lnTo>
                  <a:pt x="393" y="1"/>
                </a:lnTo>
                <a:lnTo>
                  <a:pt x="377" y="3"/>
                </a:lnTo>
                <a:lnTo>
                  <a:pt x="360" y="8"/>
                </a:lnTo>
                <a:lnTo>
                  <a:pt x="344" y="16"/>
                </a:lnTo>
                <a:lnTo>
                  <a:pt x="327" y="28"/>
                </a:lnTo>
                <a:lnTo>
                  <a:pt x="311" y="41"/>
                </a:lnTo>
                <a:lnTo>
                  <a:pt x="295" y="57"/>
                </a:lnTo>
                <a:lnTo>
                  <a:pt x="278" y="75"/>
                </a:lnTo>
                <a:lnTo>
                  <a:pt x="262" y="94"/>
                </a:lnTo>
                <a:lnTo>
                  <a:pt x="246" y="115"/>
                </a:lnTo>
                <a:lnTo>
                  <a:pt x="229" y="136"/>
                </a:lnTo>
                <a:lnTo>
                  <a:pt x="213" y="158"/>
                </a:lnTo>
                <a:lnTo>
                  <a:pt x="196" y="181"/>
                </a:lnTo>
                <a:lnTo>
                  <a:pt x="180" y="203"/>
                </a:lnTo>
                <a:lnTo>
                  <a:pt x="164" y="225"/>
                </a:lnTo>
                <a:lnTo>
                  <a:pt x="147" y="247"/>
                </a:lnTo>
                <a:lnTo>
                  <a:pt x="131" y="267"/>
                </a:lnTo>
                <a:lnTo>
                  <a:pt x="114" y="286"/>
                </a:lnTo>
                <a:lnTo>
                  <a:pt x="98" y="304"/>
                </a:lnTo>
                <a:lnTo>
                  <a:pt x="82" y="320"/>
                </a:lnTo>
                <a:lnTo>
                  <a:pt x="65" y="334"/>
                </a:lnTo>
                <a:lnTo>
                  <a:pt x="49" y="345"/>
                </a:lnTo>
                <a:lnTo>
                  <a:pt x="33" y="353"/>
                </a:lnTo>
                <a:lnTo>
                  <a:pt x="16" y="358"/>
                </a:lnTo>
                <a:lnTo>
                  <a:pt x="0" y="360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Freeform 140"/>
          <p:cNvSpPr/>
          <p:nvPr/>
        </p:nvSpPr>
        <p:spPr>
          <a:xfrm>
            <a:off x="2057400" y="3609975"/>
            <a:ext cx="3743325" cy="2886075"/>
          </a:xfrm>
          <a:custGeom>
            <a:avLst/>
            <a:gdLst/>
            <a:ahLst/>
            <a:cxnLst/>
            <a:rect l="l" t="t" r="r" b="b"/>
            <a:pathLst>
              <a:path w="393" h="303">
                <a:moveTo>
                  <a:pt x="0" y="302"/>
                </a:moveTo>
                <a:lnTo>
                  <a:pt x="16" y="301"/>
                </a:lnTo>
                <a:lnTo>
                  <a:pt x="33" y="296"/>
                </a:lnTo>
                <a:lnTo>
                  <a:pt x="49" y="289"/>
                </a:lnTo>
                <a:lnTo>
                  <a:pt x="65" y="280"/>
                </a:lnTo>
                <a:lnTo>
                  <a:pt x="82" y="268"/>
                </a:lnTo>
                <a:lnTo>
                  <a:pt x="98" y="255"/>
                </a:lnTo>
                <a:lnTo>
                  <a:pt x="114" y="240"/>
                </a:lnTo>
                <a:lnTo>
                  <a:pt x="131" y="224"/>
                </a:lnTo>
                <a:lnTo>
                  <a:pt x="147" y="207"/>
                </a:lnTo>
                <a:lnTo>
                  <a:pt x="164" y="188"/>
                </a:lnTo>
                <a:lnTo>
                  <a:pt x="180" y="170"/>
                </a:lnTo>
                <a:lnTo>
                  <a:pt x="196" y="151"/>
                </a:lnTo>
                <a:lnTo>
                  <a:pt x="213" y="132"/>
                </a:lnTo>
                <a:lnTo>
                  <a:pt x="229" y="114"/>
                </a:lnTo>
                <a:lnTo>
                  <a:pt x="246" y="96"/>
                </a:lnTo>
                <a:lnTo>
                  <a:pt x="262" y="78"/>
                </a:lnTo>
                <a:lnTo>
                  <a:pt x="278" y="62"/>
                </a:lnTo>
                <a:lnTo>
                  <a:pt x="295" y="47"/>
                </a:lnTo>
                <a:lnTo>
                  <a:pt x="311" y="34"/>
                </a:lnTo>
                <a:lnTo>
                  <a:pt x="327" y="22"/>
                </a:lnTo>
                <a:lnTo>
                  <a:pt x="344" y="13"/>
                </a:lnTo>
                <a:lnTo>
                  <a:pt x="360" y="6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7"/>
                </a:lnTo>
                <a:lnTo>
                  <a:pt x="344" y="14"/>
                </a:lnTo>
                <a:lnTo>
                  <a:pt x="327" y="23"/>
                </a:lnTo>
                <a:lnTo>
                  <a:pt x="311" y="35"/>
                </a:lnTo>
                <a:lnTo>
                  <a:pt x="295" y="48"/>
                </a:lnTo>
                <a:lnTo>
                  <a:pt x="278" y="63"/>
                </a:lnTo>
                <a:lnTo>
                  <a:pt x="262" y="79"/>
                </a:lnTo>
                <a:lnTo>
                  <a:pt x="246" y="96"/>
                </a:lnTo>
                <a:lnTo>
                  <a:pt x="229" y="114"/>
                </a:lnTo>
                <a:lnTo>
                  <a:pt x="213" y="133"/>
                </a:lnTo>
                <a:lnTo>
                  <a:pt x="196" y="152"/>
                </a:lnTo>
                <a:lnTo>
                  <a:pt x="180" y="171"/>
                </a:lnTo>
                <a:lnTo>
                  <a:pt x="164" y="189"/>
                </a:lnTo>
                <a:lnTo>
                  <a:pt x="147" y="207"/>
                </a:lnTo>
                <a:lnTo>
                  <a:pt x="131" y="225"/>
                </a:lnTo>
                <a:lnTo>
                  <a:pt x="114" y="241"/>
                </a:lnTo>
                <a:lnTo>
                  <a:pt x="98" y="256"/>
                </a:lnTo>
                <a:lnTo>
                  <a:pt x="82" y="269"/>
                </a:lnTo>
                <a:lnTo>
                  <a:pt x="65" y="281"/>
                </a:lnTo>
                <a:lnTo>
                  <a:pt x="49" y="290"/>
                </a:lnTo>
                <a:lnTo>
                  <a:pt x="33" y="297"/>
                </a:lnTo>
                <a:lnTo>
                  <a:pt x="16" y="301"/>
                </a:lnTo>
                <a:lnTo>
                  <a:pt x="0" y="303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Freeform 141"/>
          <p:cNvSpPr/>
          <p:nvPr/>
        </p:nvSpPr>
        <p:spPr>
          <a:xfrm>
            <a:off x="2057400" y="4162425"/>
            <a:ext cx="3743325" cy="2343150"/>
          </a:xfrm>
          <a:custGeom>
            <a:avLst/>
            <a:gdLst/>
            <a:ahLst/>
            <a:cxnLst/>
            <a:rect l="l" t="t" r="r" b="b"/>
            <a:pathLst>
              <a:path w="393" h="246">
                <a:moveTo>
                  <a:pt x="0" y="245"/>
                </a:moveTo>
                <a:lnTo>
                  <a:pt x="16" y="244"/>
                </a:lnTo>
                <a:lnTo>
                  <a:pt x="33" y="240"/>
                </a:lnTo>
                <a:lnTo>
                  <a:pt x="49" y="234"/>
                </a:lnTo>
                <a:lnTo>
                  <a:pt x="65" y="227"/>
                </a:lnTo>
                <a:lnTo>
                  <a:pt x="82" y="218"/>
                </a:lnTo>
                <a:lnTo>
                  <a:pt x="98" y="207"/>
                </a:lnTo>
                <a:lnTo>
                  <a:pt x="114" y="195"/>
                </a:lnTo>
                <a:lnTo>
                  <a:pt x="131" y="181"/>
                </a:lnTo>
                <a:lnTo>
                  <a:pt x="147" y="167"/>
                </a:lnTo>
                <a:lnTo>
                  <a:pt x="164" y="153"/>
                </a:lnTo>
                <a:lnTo>
                  <a:pt x="180" y="138"/>
                </a:lnTo>
                <a:lnTo>
                  <a:pt x="196" y="122"/>
                </a:lnTo>
                <a:lnTo>
                  <a:pt x="213" y="107"/>
                </a:lnTo>
                <a:lnTo>
                  <a:pt x="229" y="92"/>
                </a:lnTo>
                <a:lnTo>
                  <a:pt x="246" y="77"/>
                </a:lnTo>
                <a:lnTo>
                  <a:pt x="262" y="63"/>
                </a:lnTo>
                <a:lnTo>
                  <a:pt x="278" y="50"/>
                </a:lnTo>
                <a:lnTo>
                  <a:pt x="295" y="38"/>
                </a:lnTo>
                <a:lnTo>
                  <a:pt x="311" y="27"/>
                </a:lnTo>
                <a:lnTo>
                  <a:pt x="327" y="18"/>
                </a:lnTo>
                <a:lnTo>
                  <a:pt x="344" y="10"/>
                </a:lnTo>
                <a:lnTo>
                  <a:pt x="360" y="5"/>
                </a:lnTo>
                <a:lnTo>
                  <a:pt x="377" y="1"/>
                </a:lnTo>
                <a:lnTo>
                  <a:pt x="393" y="0"/>
                </a:lnTo>
                <a:lnTo>
                  <a:pt x="393" y="0"/>
                </a:lnTo>
                <a:lnTo>
                  <a:pt x="377" y="2"/>
                </a:lnTo>
                <a:lnTo>
                  <a:pt x="360" y="5"/>
                </a:lnTo>
                <a:lnTo>
                  <a:pt x="344" y="11"/>
                </a:lnTo>
                <a:lnTo>
                  <a:pt x="327" y="19"/>
                </a:lnTo>
                <a:lnTo>
                  <a:pt x="311" y="28"/>
                </a:lnTo>
                <a:lnTo>
                  <a:pt x="295" y="39"/>
                </a:lnTo>
                <a:lnTo>
                  <a:pt x="278" y="51"/>
                </a:lnTo>
                <a:lnTo>
                  <a:pt x="262" y="64"/>
                </a:lnTo>
                <a:lnTo>
                  <a:pt x="246" y="78"/>
                </a:lnTo>
                <a:lnTo>
                  <a:pt x="229" y="93"/>
                </a:lnTo>
                <a:lnTo>
                  <a:pt x="213" y="108"/>
                </a:lnTo>
                <a:lnTo>
                  <a:pt x="196" y="123"/>
                </a:lnTo>
                <a:lnTo>
                  <a:pt x="180" y="138"/>
                </a:lnTo>
                <a:lnTo>
                  <a:pt x="164" y="153"/>
                </a:lnTo>
                <a:lnTo>
                  <a:pt x="147" y="168"/>
                </a:lnTo>
                <a:lnTo>
                  <a:pt x="131" y="182"/>
                </a:lnTo>
                <a:lnTo>
                  <a:pt x="114" y="195"/>
                </a:lnTo>
                <a:lnTo>
                  <a:pt x="98" y="207"/>
                </a:lnTo>
                <a:lnTo>
                  <a:pt x="82" y="218"/>
                </a:lnTo>
                <a:lnTo>
                  <a:pt x="65" y="227"/>
                </a:lnTo>
                <a:lnTo>
                  <a:pt x="49" y="235"/>
                </a:lnTo>
                <a:lnTo>
                  <a:pt x="33" y="241"/>
                </a:lnTo>
                <a:lnTo>
                  <a:pt x="16" y="244"/>
                </a:lnTo>
                <a:lnTo>
                  <a:pt x="0" y="24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Freeform 142"/>
          <p:cNvSpPr/>
          <p:nvPr/>
        </p:nvSpPr>
        <p:spPr>
          <a:xfrm>
            <a:off x="2057400" y="4705350"/>
            <a:ext cx="3743325" cy="1800225"/>
          </a:xfrm>
          <a:custGeom>
            <a:avLst/>
            <a:gdLst/>
            <a:ahLst/>
            <a:cxnLst/>
            <a:rect l="l" t="t" r="r" b="b"/>
            <a:pathLst>
              <a:path w="393" h="189">
                <a:moveTo>
                  <a:pt x="0" y="189"/>
                </a:moveTo>
                <a:lnTo>
                  <a:pt x="16" y="188"/>
                </a:lnTo>
                <a:lnTo>
                  <a:pt x="33" y="185"/>
                </a:lnTo>
                <a:lnTo>
                  <a:pt x="49" y="181"/>
                </a:lnTo>
                <a:lnTo>
                  <a:pt x="65" y="175"/>
                </a:lnTo>
                <a:lnTo>
                  <a:pt x="82" y="168"/>
                </a:lnTo>
                <a:lnTo>
                  <a:pt x="98" y="159"/>
                </a:lnTo>
                <a:lnTo>
                  <a:pt x="114" y="150"/>
                </a:lnTo>
                <a:lnTo>
                  <a:pt x="131" y="140"/>
                </a:lnTo>
                <a:lnTo>
                  <a:pt x="147" y="129"/>
                </a:lnTo>
                <a:lnTo>
                  <a:pt x="164" y="118"/>
                </a:lnTo>
                <a:lnTo>
                  <a:pt x="180" y="106"/>
                </a:lnTo>
                <a:lnTo>
                  <a:pt x="196" y="94"/>
                </a:lnTo>
                <a:lnTo>
                  <a:pt x="213" y="83"/>
                </a:lnTo>
                <a:lnTo>
                  <a:pt x="229" y="71"/>
                </a:lnTo>
                <a:lnTo>
                  <a:pt x="246" y="60"/>
                </a:lnTo>
                <a:lnTo>
                  <a:pt x="262" y="49"/>
                </a:lnTo>
                <a:lnTo>
                  <a:pt x="278" y="39"/>
                </a:lnTo>
                <a:lnTo>
                  <a:pt x="295" y="30"/>
                </a:lnTo>
                <a:lnTo>
                  <a:pt x="311" y="21"/>
                </a:lnTo>
                <a:lnTo>
                  <a:pt x="327" y="14"/>
                </a:lnTo>
                <a:lnTo>
                  <a:pt x="344" y="8"/>
                </a:lnTo>
                <a:lnTo>
                  <a:pt x="360" y="4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5"/>
                </a:lnTo>
                <a:lnTo>
                  <a:pt x="344" y="9"/>
                </a:lnTo>
                <a:lnTo>
                  <a:pt x="327" y="15"/>
                </a:lnTo>
                <a:lnTo>
                  <a:pt x="311" y="22"/>
                </a:lnTo>
                <a:lnTo>
                  <a:pt x="295" y="30"/>
                </a:lnTo>
                <a:lnTo>
                  <a:pt x="278" y="40"/>
                </a:lnTo>
                <a:lnTo>
                  <a:pt x="262" y="50"/>
                </a:lnTo>
                <a:lnTo>
                  <a:pt x="246" y="61"/>
                </a:lnTo>
                <a:lnTo>
                  <a:pt x="229" y="72"/>
                </a:lnTo>
                <a:lnTo>
                  <a:pt x="213" y="83"/>
                </a:lnTo>
                <a:lnTo>
                  <a:pt x="196" y="95"/>
                </a:lnTo>
                <a:lnTo>
                  <a:pt x="180" y="107"/>
                </a:lnTo>
                <a:lnTo>
                  <a:pt x="164" y="119"/>
                </a:lnTo>
                <a:lnTo>
                  <a:pt x="147" y="130"/>
                </a:lnTo>
                <a:lnTo>
                  <a:pt x="131" y="141"/>
                </a:lnTo>
                <a:lnTo>
                  <a:pt x="114" y="151"/>
                </a:lnTo>
                <a:lnTo>
                  <a:pt x="98" y="160"/>
                </a:lnTo>
                <a:lnTo>
                  <a:pt x="82" y="168"/>
                </a:lnTo>
                <a:lnTo>
                  <a:pt x="65" y="175"/>
                </a:lnTo>
                <a:lnTo>
                  <a:pt x="49" y="181"/>
                </a:lnTo>
                <a:lnTo>
                  <a:pt x="33" y="186"/>
                </a:lnTo>
                <a:lnTo>
                  <a:pt x="16" y="188"/>
                </a:lnTo>
                <a:lnTo>
                  <a:pt x="0" y="189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Freeform 143"/>
          <p:cNvSpPr/>
          <p:nvPr/>
        </p:nvSpPr>
        <p:spPr>
          <a:xfrm>
            <a:off x="2057400" y="5257800"/>
            <a:ext cx="3743325" cy="1257300"/>
          </a:xfrm>
          <a:custGeom>
            <a:avLst/>
            <a:gdLst/>
            <a:ahLst/>
            <a:cxnLst/>
            <a:rect l="l" t="t" r="r" b="b"/>
            <a:pathLst>
              <a:path w="393" h="132">
                <a:moveTo>
                  <a:pt x="0" y="131"/>
                </a:moveTo>
                <a:lnTo>
                  <a:pt x="16" y="131"/>
                </a:lnTo>
                <a:lnTo>
                  <a:pt x="33" y="129"/>
                </a:lnTo>
                <a:lnTo>
                  <a:pt x="49" y="126"/>
                </a:lnTo>
                <a:lnTo>
                  <a:pt x="65" y="122"/>
                </a:lnTo>
                <a:lnTo>
                  <a:pt x="82" y="117"/>
                </a:lnTo>
                <a:lnTo>
                  <a:pt x="98" y="111"/>
                </a:lnTo>
                <a:lnTo>
                  <a:pt x="114" y="104"/>
                </a:lnTo>
                <a:lnTo>
                  <a:pt x="131" y="97"/>
                </a:lnTo>
                <a:lnTo>
                  <a:pt x="147" y="90"/>
                </a:lnTo>
                <a:lnTo>
                  <a:pt x="164" y="82"/>
                </a:lnTo>
                <a:lnTo>
                  <a:pt x="180" y="74"/>
                </a:lnTo>
                <a:lnTo>
                  <a:pt x="196" y="66"/>
                </a:lnTo>
                <a:lnTo>
                  <a:pt x="213" y="57"/>
                </a:lnTo>
                <a:lnTo>
                  <a:pt x="229" y="49"/>
                </a:lnTo>
                <a:lnTo>
                  <a:pt x="246" y="41"/>
                </a:lnTo>
                <a:lnTo>
                  <a:pt x="262" y="34"/>
                </a:lnTo>
                <a:lnTo>
                  <a:pt x="278" y="27"/>
                </a:lnTo>
                <a:lnTo>
                  <a:pt x="295" y="20"/>
                </a:lnTo>
                <a:lnTo>
                  <a:pt x="311" y="15"/>
                </a:lnTo>
                <a:lnTo>
                  <a:pt x="327" y="10"/>
                </a:lnTo>
                <a:lnTo>
                  <a:pt x="344" y="5"/>
                </a:lnTo>
                <a:lnTo>
                  <a:pt x="360" y="2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3"/>
                </a:lnTo>
                <a:lnTo>
                  <a:pt x="344" y="6"/>
                </a:lnTo>
                <a:lnTo>
                  <a:pt x="327" y="10"/>
                </a:lnTo>
                <a:lnTo>
                  <a:pt x="311" y="15"/>
                </a:lnTo>
                <a:lnTo>
                  <a:pt x="295" y="21"/>
                </a:lnTo>
                <a:lnTo>
                  <a:pt x="278" y="28"/>
                </a:lnTo>
                <a:lnTo>
                  <a:pt x="262" y="35"/>
                </a:lnTo>
                <a:lnTo>
                  <a:pt x="246" y="42"/>
                </a:lnTo>
                <a:lnTo>
                  <a:pt x="229" y="50"/>
                </a:lnTo>
                <a:lnTo>
                  <a:pt x="213" y="58"/>
                </a:lnTo>
                <a:lnTo>
                  <a:pt x="196" y="66"/>
                </a:lnTo>
                <a:lnTo>
                  <a:pt x="180" y="75"/>
                </a:lnTo>
                <a:lnTo>
                  <a:pt x="164" y="83"/>
                </a:lnTo>
                <a:lnTo>
                  <a:pt x="147" y="91"/>
                </a:lnTo>
                <a:lnTo>
                  <a:pt x="131" y="98"/>
                </a:lnTo>
                <a:lnTo>
                  <a:pt x="114" y="105"/>
                </a:lnTo>
                <a:lnTo>
                  <a:pt x="98" y="112"/>
                </a:lnTo>
                <a:lnTo>
                  <a:pt x="82" y="118"/>
                </a:lnTo>
                <a:lnTo>
                  <a:pt x="65" y="123"/>
                </a:lnTo>
                <a:lnTo>
                  <a:pt x="49" y="127"/>
                </a:lnTo>
                <a:lnTo>
                  <a:pt x="33" y="130"/>
                </a:lnTo>
                <a:lnTo>
                  <a:pt x="16" y="132"/>
                </a:lnTo>
                <a:lnTo>
                  <a:pt x="0" y="132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Freeform 144"/>
          <p:cNvSpPr/>
          <p:nvPr/>
        </p:nvSpPr>
        <p:spPr>
          <a:xfrm>
            <a:off x="2057400" y="5800725"/>
            <a:ext cx="3743325" cy="723900"/>
          </a:xfrm>
          <a:custGeom>
            <a:avLst/>
            <a:gdLst/>
            <a:ahLst/>
            <a:cxnLst/>
            <a:rect l="l" t="t" r="r" b="b"/>
            <a:pathLst>
              <a:path w="393" h="76">
                <a:moveTo>
                  <a:pt x="0" y="75"/>
                </a:moveTo>
                <a:lnTo>
                  <a:pt x="16" y="75"/>
                </a:lnTo>
                <a:lnTo>
                  <a:pt x="33" y="74"/>
                </a:lnTo>
                <a:lnTo>
                  <a:pt x="49" y="72"/>
                </a:lnTo>
                <a:lnTo>
                  <a:pt x="65" y="70"/>
                </a:lnTo>
                <a:lnTo>
                  <a:pt x="82" y="67"/>
                </a:lnTo>
                <a:lnTo>
                  <a:pt x="98" y="64"/>
                </a:lnTo>
                <a:lnTo>
                  <a:pt x="114" y="60"/>
                </a:lnTo>
                <a:lnTo>
                  <a:pt x="131" y="56"/>
                </a:lnTo>
                <a:lnTo>
                  <a:pt x="147" y="52"/>
                </a:lnTo>
                <a:lnTo>
                  <a:pt x="164" y="47"/>
                </a:lnTo>
                <a:lnTo>
                  <a:pt x="180" y="43"/>
                </a:lnTo>
                <a:lnTo>
                  <a:pt x="196" y="38"/>
                </a:lnTo>
                <a:lnTo>
                  <a:pt x="213" y="33"/>
                </a:lnTo>
                <a:lnTo>
                  <a:pt x="229" y="29"/>
                </a:lnTo>
                <a:lnTo>
                  <a:pt x="246" y="24"/>
                </a:lnTo>
                <a:lnTo>
                  <a:pt x="262" y="20"/>
                </a:lnTo>
                <a:lnTo>
                  <a:pt x="278" y="16"/>
                </a:lnTo>
                <a:lnTo>
                  <a:pt x="295" y="12"/>
                </a:lnTo>
                <a:lnTo>
                  <a:pt x="311" y="9"/>
                </a:lnTo>
                <a:lnTo>
                  <a:pt x="327" y="6"/>
                </a:lnTo>
                <a:lnTo>
                  <a:pt x="344" y="4"/>
                </a:lnTo>
                <a:lnTo>
                  <a:pt x="360" y="2"/>
                </a:lnTo>
                <a:lnTo>
                  <a:pt x="377" y="1"/>
                </a:lnTo>
                <a:lnTo>
                  <a:pt x="393" y="0"/>
                </a:lnTo>
                <a:lnTo>
                  <a:pt x="393" y="1"/>
                </a:lnTo>
                <a:lnTo>
                  <a:pt x="377" y="2"/>
                </a:lnTo>
                <a:lnTo>
                  <a:pt x="360" y="3"/>
                </a:lnTo>
                <a:lnTo>
                  <a:pt x="344" y="5"/>
                </a:lnTo>
                <a:lnTo>
                  <a:pt x="327" y="7"/>
                </a:lnTo>
                <a:lnTo>
                  <a:pt x="311" y="10"/>
                </a:lnTo>
                <a:lnTo>
                  <a:pt x="295" y="13"/>
                </a:lnTo>
                <a:lnTo>
                  <a:pt x="278" y="17"/>
                </a:lnTo>
                <a:lnTo>
                  <a:pt x="262" y="21"/>
                </a:lnTo>
                <a:lnTo>
                  <a:pt x="246" y="25"/>
                </a:lnTo>
                <a:lnTo>
                  <a:pt x="229" y="30"/>
                </a:lnTo>
                <a:lnTo>
                  <a:pt x="213" y="34"/>
                </a:lnTo>
                <a:lnTo>
                  <a:pt x="196" y="39"/>
                </a:lnTo>
                <a:lnTo>
                  <a:pt x="180" y="43"/>
                </a:lnTo>
                <a:lnTo>
                  <a:pt x="164" y="48"/>
                </a:lnTo>
                <a:lnTo>
                  <a:pt x="147" y="53"/>
                </a:lnTo>
                <a:lnTo>
                  <a:pt x="131" y="57"/>
                </a:lnTo>
                <a:lnTo>
                  <a:pt x="114" y="61"/>
                </a:lnTo>
                <a:lnTo>
                  <a:pt x="98" y="65"/>
                </a:lnTo>
                <a:lnTo>
                  <a:pt x="82" y="68"/>
                </a:lnTo>
                <a:lnTo>
                  <a:pt x="65" y="71"/>
                </a:lnTo>
                <a:lnTo>
                  <a:pt x="49" y="73"/>
                </a:lnTo>
                <a:lnTo>
                  <a:pt x="33" y="75"/>
                </a:lnTo>
                <a:lnTo>
                  <a:pt x="16" y="76"/>
                </a:lnTo>
                <a:lnTo>
                  <a:pt x="0" y="76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Freeform 145"/>
          <p:cNvSpPr/>
          <p:nvPr/>
        </p:nvSpPr>
        <p:spPr>
          <a:xfrm>
            <a:off x="2057400" y="6353175"/>
            <a:ext cx="3743325" cy="180975"/>
          </a:xfrm>
          <a:custGeom>
            <a:avLst/>
            <a:gdLst/>
            <a:ahLst/>
            <a:cxnLst/>
            <a:rect l="l" t="t" r="r" b="b"/>
            <a:pathLst>
              <a:path w="393" h="19">
                <a:moveTo>
                  <a:pt x="0" y="18"/>
                </a:moveTo>
                <a:lnTo>
                  <a:pt x="16" y="18"/>
                </a:lnTo>
                <a:lnTo>
                  <a:pt x="33" y="18"/>
                </a:lnTo>
                <a:lnTo>
                  <a:pt x="49" y="17"/>
                </a:lnTo>
                <a:lnTo>
                  <a:pt x="65" y="17"/>
                </a:lnTo>
                <a:lnTo>
                  <a:pt x="82" y="16"/>
                </a:lnTo>
                <a:lnTo>
                  <a:pt x="98" y="15"/>
                </a:lnTo>
                <a:lnTo>
                  <a:pt x="114" y="15"/>
                </a:lnTo>
                <a:lnTo>
                  <a:pt x="131" y="14"/>
                </a:lnTo>
                <a:lnTo>
                  <a:pt x="147" y="13"/>
                </a:lnTo>
                <a:lnTo>
                  <a:pt x="164" y="11"/>
                </a:lnTo>
                <a:lnTo>
                  <a:pt x="180" y="10"/>
                </a:lnTo>
                <a:lnTo>
                  <a:pt x="196" y="9"/>
                </a:lnTo>
                <a:lnTo>
                  <a:pt x="213" y="8"/>
                </a:lnTo>
                <a:lnTo>
                  <a:pt x="229" y="7"/>
                </a:lnTo>
                <a:lnTo>
                  <a:pt x="246" y="6"/>
                </a:lnTo>
                <a:lnTo>
                  <a:pt x="262" y="5"/>
                </a:lnTo>
                <a:lnTo>
                  <a:pt x="278" y="4"/>
                </a:lnTo>
                <a:lnTo>
                  <a:pt x="295" y="3"/>
                </a:lnTo>
                <a:lnTo>
                  <a:pt x="311" y="2"/>
                </a:lnTo>
                <a:lnTo>
                  <a:pt x="327" y="2"/>
                </a:lnTo>
                <a:lnTo>
                  <a:pt x="344" y="1"/>
                </a:lnTo>
                <a:lnTo>
                  <a:pt x="360" y="1"/>
                </a:lnTo>
                <a:lnTo>
                  <a:pt x="377" y="0"/>
                </a:lnTo>
                <a:lnTo>
                  <a:pt x="393" y="0"/>
                </a:lnTo>
                <a:lnTo>
                  <a:pt x="393" y="1"/>
                </a:lnTo>
                <a:lnTo>
                  <a:pt x="377" y="1"/>
                </a:lnTo>
                <a:lnTo>
                  <a:pt x="360" y="1"/>
                </a:lnTo>
                <a:lnTo>
                  <a:pt x="344" y="2"/>
                </a:lnTo>
                <a:lnTo>
                  <a:pt x="327" y="2"/>
                </a:lnTo>
                <a:lnTo>
                  <a:pt x="311" y="3"/>
                </a:lnTo>
                <a:lnTo>
                  <a:pt x="295" y="4"/>
                </a:lnTo>
                <a:lnTo>
                  <a:pt x="278" y="5"/>
                </a:lnTo>
                <a:lnTo>
                  <a:pt x="262" y="6"/>
                </a:lnTo>
                <a:lnTo>
                  <a:pt x="246" y="7"/>
                </a:lnTo>
                <a:lnTo>
                  <a:pt x="229" y="8"/>
                </a:lnTo>
                <a:lnTo>
                  <a:pt x="213" y="9"/>
                </a:lnTo>
                <a:lnTo>
                  <a:pt x="196" y="10"/>
                </a:lnTo>
                <a:lnTo>
                  <a:pt x="180" y="11"/>
                </a:lnTo>
                <a:lnTo>
                  <a:pt x="164" y="12"/>
                </a:lnTo>
                <a:lnTo>
                  <a:pt x="147" y="13"/>
                </a:lnTo>
                <a:lnTo>
                  <a:pt x="131" y="14"/>
                </a:lnTo>
                <a:lnTo>
                  <a:pt x="114" y="15"/>
                </a:lnTo>
                <a:lnTo>
                  <a:pt x="98" y="16"/>
                </a:lnTo>
                <a:lnTo>
                  <a:pt x="82" y="17"/>
                </a:lnTo>
                <a:lnTo>
                  <a:pt x="65" y="18"/>
                </a:lnTo>
                <a:lnTo>
                  <a:pt x="49" y="18"/>
                </a:lnTo>
                <a:lnTo>
                  <a:pt x="33" y="19"/>
                </a:lnTo>
                <a:lnTo>
                  <a:pt x="1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008189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941195" y="1304925"/>
            <a:ext cx="114300" cy="760608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941195" y="2122683"/>
            <a:ext cx="114300" cy="457031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941195" y="2636863"/>
            <a:ext cx="114300" cy="42154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941195" y="3115559"/>
            <a:ext cx="114300" cy="331247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941195" y="3503956"/>
            <a:ext cx="114300" cy="324042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941195" y="3885148"/>
            <a:ext cx="114300" cy="321487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1941195" y="4263784"/>
            <a:ext cx="114300" cy="309972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1941195" y="4630906"/>
            <a:ext cx="114300" cy="296990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1941195" y="4985046"/>
            <a:ext cx="114300" cy="2791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1941195" y="5321317"/>
            <a:ext cx="114300" cy="240799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1941195" y="5619266"/>
            <a:ext cx="114300" cy="22223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941195" y="5898649"/>
            <a:ext cx="114300" cy="184071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941195" y="6139870"/>
            <a:ext cx="114300" cy="119832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941195" y="6316852"/>
            <a:ext cx="114300" cy="91496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941195" y="6465498"/>
            <a:ext cx="114300" cy="6865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5800725" y="1476375"/>
            <a:ext cx="114300" cy="492128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5800725" y="2025653"/>
            <a:ext cx="114300" cy="492126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5800725" y="2574929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5800725" y="3124204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5800725" y="3673479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5800725" y="4222754"/>
            <a:ext cx="114300" cy="492125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5800725" y="4772029"/>
            <a:ext cx="114300" cy="492124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Rectangle 168"/>
          <p:cNvSpPr/>
          <p:nvPr/>
        </p:nvSpPr>
        <p:spPr>
          <a:xfrm>
            <a:off x="5800725" y="5321304"/>
            <a:ext cx="114300" cy="492124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Rectangle 169"/>
          <p:cNvSpPr/>
          <p:nvPr/>
        </p:nvSpPr>
        <p:spPr>
          <a:xfrm>
            <a:off x="5800725" y="5870577"/>
            <a:ext cx="114300" cy="492123"/>
          </a:xfrm>
          <a:prstGeom prst="rect">
            <a:avLst/>
          </a:prstGeom>
          <a:solidFill>
            <a:srgbClr val="8CA3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TextBox 170"/>
          <p:cNvSpPr txBox="1"/>
          <p:nvPr/>
        </p:nvSpPr>
        <p:spPr>
          <a:xfrm>
            <a:off x="257175" y="1613791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2" name="TextBox 171"/>
          <p:cNvSpPr txBox="1"/>
          <p:nvPr/>
        </p:nvSpPr>
        <p:spPr>
          <a:xfrm>
            <a:off x="257175" y="2227373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3" name="TextBox 172"/>
          <p:cNvSpPr txBox="1"/>
          <p:nvPr/>
        </p:nvSpPr>
        <p:spPr>
          <a:xfrm>
            <a:off x="257175" y="2723811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4" name="TextBox 173"/>
          <p:cNvSpPr txBox="1"/>
          <p:nvPr/>
        </p:nvSpPr>
        <p:spPr>
          <a:xfrm>
            <a:off x="257175" y="3157357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5" name="TextBox 174"/>
          <p:cNvSpPr txBox="1"/>
          <p:nvPr/>
        </p:nvSpPr>
        <p:spPr>
          <a:xfrm>
            <a:off x="257175" y="3594539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257175" y="3922066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7" name="TextBox 176"/>
          <p:cNvSpPr txBox="1"/>
          <p:nvPr/>
        </p:nvSpPr>
        <p:spPr>
          <a:xfrm>
            <a:off x="257175" y="429494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257175" y="4655576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79" name="TextBox 178"/>
          <p:cNvSpPr txBox="1"/>
          <p:nvPr/>
        </p:nvSpPr>
        <p:spPr>
          <a:xfrm>
            <a:off x="257175" y="49530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257175" y="5210175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1" name="TextBox 180"/>
          <p:cNvSpPr txBox="1"/>
          <p:nvPr/>
        </p:nvSpPr>
        <p:spPr>
          <a:xfrm>
            <a:off x="257175" y="536257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257175" y="561975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3" name="TextBox 182"/>
          <p:cNvSpPr txBox="1"/>
          <p:nvPr/>
        </p:nvSpPr>
        <p:spPr>
          <a:xfrm>
            <a:off x="257175" y="5876925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257175" y="6134100"/>
            <a:ext cx="1626870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5" name="TextBox 184"/>
          <p:cNvSpPr txBox="1"/>
          <p:nvPr/>
        </p:nvSpPr>
        <p:spPr>
          <a:xfrm>
            <a:off x="257175" y="6391275"/>
            <a:ext cx="1626870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r"/>
            <a:endParaRPr/>
          </a:p>
        </p:txBody>
      </p:sp>
      <p:sp>
        <p:nvSpPr>
          <p:cNvPr id="186" name="TextBox 185"/>
          <p:cNvSpPr txBox="1"/>
          <p:nvPr/>
        </p:nvSpPr>
        <p:spPr>
          <a:xfrm>
            <a:off x="5972175" y="1651001"/>
            <a:ext cx="1381125" cy="142875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5972175" y="2147891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88" name="TextBox 187"/>
          <p:cNvSpPr txBox="1"/>
          <p:nvPr/>
        </p:nvSpPr>
        <p:spPr>
          <a:xfrm>
            <a:off x="5972175" y="2697166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89" name="TextBox 188"/>
          <p:cNvSpPr txBox="1"/>
          <p:nvPr/>
        </p:nvSpPr>
        <p:spPr>
          <a:xfrm>
            <a:off x="5972175" y="3246441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0" name="TextBox 189"/>
          <p:cNvSpPr txBox="1"/>
          <p:nvPr/>
        </p:nvSpPr>
        <p:spPr>
          <a:xfrm>
            <a:off x="5972175" y="3795717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1" name="TextBox 190"/>
          <p:cNvSpPr txBox="1"/>
          <p:nvPr/>
        </p:nvSpPr>
        <p:spPr>
          <a:xfrm>
            <a:off x="5972175" y="4344992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2" name="TextBox 191"/>
          <p:cNvSpPr txBox="1"/>
          <p:nvPr/>
        </p:nvSpPr>
        <p:spPr>
          <a:xfrm>
            <a:off x="5972175" y="4894267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3" name="TextBox 192"/>
          <p:cNvSpPr txBox="1"/>
          <p:nvPr/>
        </p:nvSpPr>
        <p:spPr>
          <a:xfrm>
            <a:off x="5972175" y="5443541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4" name="TextBox 193"/>
          <p:cNvSpPr txBox="1"/>
          <p:nvPr/>
        </p:nvSpPr>
        <p:spPr>
          <a:xfrm>
            <a:off x="5972175" y="5992814"/>
            <a:ext cx="1381125" cy="247650"/>
          </a:xfrm>
          <a:prstGeom prst="rect">
            <a:avLst/>
          </a:prstGeom>
          <a:noFill/>
        </p:spPr>
        <p:txBody>
          <a:bodyPr wrap="square" lIns="0" tIns="0" rIns="19050" bIns="0" anchor="ctr">
            <a:spAutoFit/>
          </a:bodyPr>
          <a:lstStyle/>
          <a:p>
            <a:pPr algn="l"/>
            <a:endParaRPr/>
          </a:p>
        </p:txBody>
      </p:sp>
      <p:sp>
        <p:nvSpPr>
          <p:cNvPr id="195" name="Rounded Rectangle 194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TextBox 197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9" name="TextBox 19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524297" y="1624878"/>
            <a:ext cx="130599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rotary die-cutters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1617837"/>
            <a:ext cx="92663" cy="134782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658183" y="2230497"/>
            <a:ext cx="120681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Corrugated liner pre-printing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356866" y="2351198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344157"/>
            <a:ext cx="92663" cy="134782"/>
          </a:xfrm>
          <a:prstGeom prst="rect">
            <a:avLst/>
          </a:prstGeom>
        </p:spPr>
      </p:pic>
      <p:sp>
        <p:nvSpPr>
          <p:cNvPr id="205" name="TextBox 204"/>
          <p:cNvSpPr txBox="1"/>
          <p:nvPr/>
        </p:nvSpPr>
        <p:spPr>
          <a:xfrm>
            <a:off x="358592" y="2726935"/>
            <a:ext cx="150640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Specialty box-forming and assembly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1356866" y="2847636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2840595"/>
            <a:ext cx="92663" cy="134782"/>
          </a:xfrm>
          <a:prstGeom prst="rect">
            <a:avLst/>
          </a:prstGeom>
        </p:spPr>
      </p:pic>
      <p:sp>
        <p:nvSpPr>
          <p:cNvPr id="208" name="TextBox 207"/>
          <p:cNvSpPr txBox="1"/>
          <p:nvPr/>
        </p:nvSpPr>
        <p:spPr>
          <a:xfrm>
            <a:off x="525774" y="3160481"/>
            <a:ext cx="133922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slotting, scoring and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989302" y="3281181"/>
            <a:ext cx="84099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creasing machines</a:t>
            </a:r>
          </a:p>
        </p:txBody>
      </p:sp>
      <p:pic>
        <p:nvPicPr>
          <p:cNvPr id="210" name="Picture 2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274141"/>
            <a:ext cx="92663" cy="134782"/>
          </a:xfrm>
          <a:prstGeom prst="rect">
            <a:avLst/>
          </a:prstGeom>
        </p:spPr>
      </p:pic>
      <p:sp>
        <p:nvSpPr>
          <p:cNvPr id="211" name="TextBox 210"/>
          <p:cNvSpPr txBox="1"/>
          <p:nvPr/>
        </p:nvSpPr>
        <p:spPr>
          <a:xfrm>
            <a:off x="1231725" y="3605626"/>
            <a:ext cx="59856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Single facers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598585"/>
            <a:ext cx="92663" cy="134782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365563" y="3985540"/>
            <a:ext cx="146473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Double facers and gluing systems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3978499"/>
            <a:ext cx="92663" cy="134782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353484" y="4298069"/>
            <a:ext cx="15115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Slitter-scorers, cut-off machines and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945886" y="4418770"/>
            <a:ext cx="8844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corrugator stackers</a:t>
            </a:r>
          </a:p>
        </p:txBody>
      </p:sp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411729"/>
            <a:ext cx="92663" cy="134782"/>
          </a:xfrm>
          <a:prstGeom prst="rect">
            <a:avLst/>
          </a:prstGeom>
        </p:spPr>
      </p:pic>
      <p:sp>
        <p:nvSpPr>
          <p:cNvPr id="218" name="TextBox 217"/>
          <p:cNvSpPr txBox="1"/>
          <p:nvPr/>
        </p:nvSpPr>
        <p:spPr>
          <a:xfrm>
            <a:off x="315176" y="4658700"/>
            <a:ext cx="154981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Flute laminating and sheet-mounting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356866" y="4779401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4772360"/>
            <a:ext cx="92663" cy="134782"/>
          </a:xfrm>
          <a:prstGeom prst="rect">
            <a:avLst/>
          </a:prstGeom>
        </p:spPr>
      </p:pic>
      <p:sp>
        <p:nvSpPr>
          <p:cNvPr id="221" name="TextBox 220"/>
          <p:cNvSpPr txBox="1"/>
          <p:nvPr/>
        </p:nvSpPr>
        <p:spPr>
          <a:xfrm>
            <a:off x="627929" y="4956124"/>
            <a:ext cx="123706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flexo printing and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738038" y="5076825"/>
            <a:ext cx="109225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 machines</a:t>
            </a:r>
          </a:p>
        </p:txBody>
      </p:sp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069784"/>
            <a:ext cx="92663" cy="134782"/>
          </a:xfrm>
          <a:prstGeom prst="rect">
            <a:avLst/>
          </a:prstGeom>
        </p:spPr>
      </p:pic>
      <p:sp>
        <p:nvSpPr>
          <p:cNvPr id="224" name="TextBox 223"/>
          <p:cNvSpPr txBox="1"/>
          <p:nvPr/>
        </p:nvSpPr>
        <p:spPr>
          <a:xfrm>
            <a:off x="722912" y="5221262"/>
            <a:ext cx="110738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folder-gluers</a:t>
            </a:r>
          </a:p>
        </p:txBody>
      </p:sp>
      <p:pic>
        <p:nvPicPr>
          <p:cNvPr id="225" name="Picture 2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214221"/>
            <a:ext cx="92663" cy="134782"/>
          </a:xfrm>
          <a:prstGeom prst="rect">
            <a:avLst/>
          </a:prstGeom>
        </p:spPr>
      </p:pic>
      <p:sp>
        <p:nvSpPr>
          <p:cNvPr id="226" name="TextBox 225"/>
          <p:cNvSpPr txBox="1"/>
          <p:nvPr/>
        </p:nvSpPr>
        <p:spPr>
          <a:xfrm>
            <a:off x="340518" y="5365699"/>
            <a:ext cx="152447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Digital corrugated printing machines</a:t>
            </a:r>
          </a:p>
        </p:txBody>
      </p:sp>
      <p:pic>
        <p:nvPicPr>
          <p:cNvPr id="227" name="Picture 2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479359"/>
            <a:ext cx="92663" cy="134782"/>
          </a:xfrm>
          <a:prstGeom prst="rect">
            <a:avLst/>
          </a:prstGeom>
        </p:spPr>
      </p:pic>
      <p:sp>
        <p:nvSpPr>
          <p:cNvPr id="228" name="TextBox 227"/>
          <p:cNvSpPr txBox="1"/>
          <p:nvPr/>
        </p:nvSpPr>
        <p:spPr>
          <a:xfrm>
            <a:off x="630287" y="5622874"/>
            <a:ext cx="123470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Stitching and box-joint taping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356866" y="5743575"/>
            <a:ext cx="47342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machines</a:t>
            </a:r>
          </a:p>
        </p:txBody>
      </p:sp>
      <p:pic>
        <p:nvPicPr>
          <p:cNvPr id="230" name="Picture 2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736534"/>
            <a:ext cx="92663" cy="134782"/>
          </a:xfrm>
          <a:prstGeom prst="rect">
            <a:avLst/>
          </a:prstGeom>
        </p:spPr>
      </p:pic>
      <p:sp>
        <p:nvSpPr>
          <p:cNvPr id="231" name="TextBox 230"/>
          <p:cNvSpPr txBox="1"/>
          <p:nvPr/>
        </p:nvSpPr>
        <p:spPr>
          <a:xfrm>
            <a:off x="1195286" y="5880049"/>
            <a:ext cx="6697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Integrated flexo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497383" y="6000750"/>
            <a:ext cx="133291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printer-slotter-die-cutter lines</a:t>
            </a:r>
          </a:p>
        </p:txBody>
      </p:sp>
      <p:pic>
        <p:nvPicPr>
          <p:cNvPr id="233" name="Picture 2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5993709"/>
            <a:ext cx="92663" cy="134782"/>
          </a:xfrm>
          <a:prstGeom prst="rect">
            <a:avLst/>
          </a:prstGeom>
        </p:spPr>
      </p:pic>
      <p:sp>
        <p:nvSpPr>
          <p:cNvPr id="234" name="TextBox 233"/>
          <p:cNvSpPr txBox="1"/>
          <p:nvPr/>
        </p:nvSpPr>
        <p:spPr>
          <a:xfrm>
            <a:off x="340125" y="6137224"/>
            <a:ext cx="152486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Reel stands, splicers, preheaters and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10147" y="6257925"/>
            <a:ext cx="122014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other corrugator auxiliaries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250884"/>
            <a:ext cx="92663" cy="134782"/>
          </a:xfrm>
          <a:prstGeom prst="rect">
            <a:avLst/>
          </a:prstGeom>
        </p:spPr>
      </p:pic>
      <p:sp>
        <p:nvSpPr>
          <p:cNvPr id="237" name="TextBox 236"/>
          <p:cNvSpPr txBox="1"/>
          <p:nvPr/>
        </p:nvSpPr>
        <p:spPr>
          <a:xfrm>
            <a:off x="482257" y="6402362"/>
            <a:ext cx="1348037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Standalone flatbed die-cutters</a:t>
            </a:r>
          </a:p>
        </p:txBody>
      </p:sp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1555" y="6395321"/>
            <a:ext cx="92663" cy="134782"/>
          </a:xfrm>
          <a:prstGeom prst="rect">
            <a:avLst/>
          </a:prstGeom>
        </p:spPr>
      </p:pic>
      <p:sp>
        <p:nvSpPr>
          <p:cNvPr id="239" name="TextBox 238"/>
          <p:cNvSpPr txBox="1"/>
          <p:nvPr/>
        </p:nvSpPr>
        <p:spPr>
          <a:xfrm>
            <a:off x="5972175" y="1662088"/>
            <a:ext cx="70877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Other end uses</a:t>
            </a:r>
          </a:p>
        </p:txBody>
      </p:sp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2215" y="1655047"/>
            <a:ext cx="92663" cy="134782"/>
          </a:xfrm>
          <a:prstGeom prst="rect">
            <a:avLst/>
          </a:prstGeom>
        </p:spPr>
      </p:pic>
      <p:sp>
        <p:nvSpPr>
          <p:cNvPr id="241" name="TextBox 240"/>
          <p:cNvSpPr txBox="1"/>
          <p:nvPr/>
        </p:nvSpPr>
        <p:spPr>
          <a:xfrm>
            <a:off x="5972175" y="2151015"/>
            <a:ext cx="134410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Processed food and beverages</a:t>
            </a:r>
          </a:p>
        </p:txBody>
      </p:sp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2264675"/>
            <a:ext cx="92663" cy="134782"/>
          </a:xfrm>
          <a:prstGeom prst="rect">
            <a:avLst/>
          </a:prstGeom>
        </p:spPr>
      </p:pic>
      <p:sp>
        <p:nvSpPr>
          <p:cNvPr id="243" name="TextBox 242"/>
          <p:cNvSpPr txBox="1"/>
          <p:nvPr/>
        </p:nvSpPr>
        <p:spPr>
          <a:xfrm>
            <a:off x="5972175" y="2700290"/>
            <a:ext cx="1324659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Agriculture and fresh produce</a:t>
            </a:r>
          </a:p>
        </p:txBody>
      </p:sp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2813950"/>
            <a:ext cx="92663" cy="134782"/>
          </a:xfrm>
          <a:prstGeom prst="rect">
            <a:avLst/>
          </a:prstGeom>
        </p:spPr>
      </p:pic>
      <p:sp>
        <p:nvSpPr>
          <p:cNvPr id="245" name="TextBox 244"/>
          <p:cNvSpPr txBox="1"/>
          <p:nvPr/>
        </p:nvSpPr>
        <p:spPr>
          <a:xfrm>
            <a:off x="5972175" y="3249565"/>
            <a:ext cx="115194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E-commerce shipping and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5972175" y="3370266"/>
            <a:ext cx="51448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fulfillment</a:t>
            </a:r>
          </a:p>
        </p:txBody>
      </p:sp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27923" y="3363225"/>
            <a:ext cx="92663" cy="134782"/>
          </a:xfrm>
          <a:prstGeom prst="rect">
            <a:avLst/>
          </a:prstGeom>
        </p:spPr>
      </p:pic>
      <p:sp>
        <p:nvSpPr>
          <p:cNvPr id="248" name="TextBox 247"/>
          <p:cNvSpPr txBox="1"/>
          <p:nvPr/>
        </p:nvSpPr>
        <p:spPr>
          <a:xfrm>
            <a:off x="5972175" y="3798841"/>
            <a:ext cx="136207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Pharmaceuticals and healthcare</a:t>
            </a:r>
          </a:p>
        </p:txBody>
      </p:sp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3912501"/>
            <a:ext cx="92663" cy="134782"/>
          </a:xfrm>
          <a:prstGeom prst="rect">
            <a:avLst/>
          </a:prstGeom>
        </p:spPr>
      </p:pic>
      <p:sp>
        <p:nvSpPr>
          <p:cNvPr id="250" name="TextBox 249"/>
          <p:cNvSpPr txBox="1"/>
          <p:nvPr/>
        </p:nvSpPr>
        <p:spPr>
          <a:xfrm>
            <a:off x="5972175" y="4348116"/>
            <a:ext cx="128281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Personal care and household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5972175" y="4468817"/>
            <a:ext cx="44513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products</a:t>
            </a:r>
          </a:p>
        </p:txBody>
      </p:sp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575" y="4461776"/>
            <a:ext cx="92663" cy="134782"/>
          </a:xfrm>
          <a:prstGeom prst="rect">
            <a:avLst/>
          </a:prstGeom>
        </p:spPr>
      </p:pic>
      <p:sp>
        <p:nvSpPr>
          <p:cNvPr id="253" name="TextBox 252"/>
          <p:cNvSpPr txBox="1"/>
          <p:nvPr/>
        </p:nvSpPr>
        <p:spPr>
          <a:xfrm>
            <a:off x="5972175" y="4894267"/>
            <a:ext cx="96456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Industrial machinery,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5972175" y="5014967"/>
            <a:ext cx="128595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automotive and components</a:t>
            </a:r>
          </a:p>
        </p:txBody>
      </p:sp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62478" y="5128627"/>
            <a:ext cx="92663" cy="134782"/>
          </a:xfrm>
          <a:prstGeom prst="rect">
            <a:avLst/>
          </a:prstGeom>
        </p:spPr>
      </p:pic>
      <p:sp>
        <p:nvSpPr>
          <p:cNvPr id="256" name="TextBox 255"/>
          <p:cNvSpPr txBox="1"/>
          <p:nvPr/>
        </p:nvSpPr>
        <p:spPr>
          <a:xfrm>
            <a:off x="5972175" y="5446665"/>
            <a:ext cx="132426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Retail-ready and point-of-sale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5972175" y="5567366"/>
            <a:ext cx="49425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packaging</a:t>
            </a:r>
          </a:p>
        </p:txBody>
      </p:sp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7688" y="5560325"/>
            <a:ext cx="92663" cy="134782"/>
          </a:xfrm>
          <a:prstGeom prst="rect">
            <a:avLst/>
          </a:prstGeom>
        </p:spPr>
      </p:pic>
      <p:sp>
        <p:nvSpPr>
          <p:cNvPr id="259" name="TextBox 258"/>
          <p:cNvSpPr txBox="1"/>
          <p:nvPr/>
        </p:nvSpPr>
        <p:spPr>
          <a:xfrm>
            <a:off x="5972175" y="6052935"/>
            <a:ext cx="1169439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1">
                <a:solidFill>
                  <a:srgbClr val="2E2E2E"/>
                </a:solidFill>
                <a:latin typeface="Calibri"/>
              </a:rPr>
              <a:t>Electrical and electronics</a:t>
            </a:r>
          </a:p>
        </p:txBody>
      </p:sp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3846" y="6045503"/>
            <a:ext cx="97811" cy="142270"/>
          </a:xfrm>
          <a:prstGeom prst="rect">
            <a:avLst/>
          </a:prstGeom>
        </p:spPr>
      </p:pic>
      <p:sp>
        <p:nvSpPr>
          <p:cNvPr id="261" name="TextBox 260"/>
          <p:cNvSpPr txBox="1"/>
          <p:nvPr/>
        </p:nvSpPr>
        <p:spPr>
          <a:xfrm>
            <a:off x="7715250" y="14001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Standalone rotary die-cutters segment is projected to account for the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7715250" y="1575435"/>
            <a:ext cx="36940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largest share of the North America corrugated box packaging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7715250" y="1750695"/>
            <a:ext cx="3546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market, led by electrical and electronics at US$</a:t>
            </a:r>
          </a:p>
        </p:txBody>
      </p:sp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10717" y="1740471"/>
            <a:ext cx="134549" cy="195707"/>
          </a:xfrm>
          <a:prstGeom prst="rect">
            <a:avLst/>
          </a:prstGeom>
        </p:spPr>
      </p:pic>
      <p:sp>
        <p:nvSpPr>
          <p:cNvPr id="265" name="TextBox 264"/>
          <p:cNvSpPr txBox="1"/>
          <p:nvPr/>
        </p:nvSpPr>
        <p:spPr>
          <a:xfrm>
            <a:off x="11385826" y="1750695"/>
            <a:ext cx="4213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in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7715250" y="192595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 'Standalone rotary die-cutters × Electrical and electronics' is the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7715250" y="2101215"/>
            <a:ext cx="20801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single largest cross-sectional cell (</a:t>
            </a:r>
          </a:p>
        </p:txBody>
      </p:sp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44512" y="2090991"/>
            <a:ext cx="134549" cy="195707"/>
          </a:xfrm>
          <a:prstGeom prst="rect">
            <a:avLst/>
          </a:prstGeom>
        </p:spPr>
      </p:pic>
      <p:sp>
        <p:nvSpPr>
          <p:cNvPr id="269" name="TextBox 268"/>
          <p:cNvSpPr txBox="1"/>
          <p:nvPr/>
        </p:nvSpPr>
        <p:spPr>
          <a:xfrm>
            <a:off x="9919621" y="2101215"/>
            <a:ext cx="1418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7715250" y="2276475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'Standalone rotary die-cutters × E-commerce shipping and fulfillment'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7715250" y="2451735"/>
            <a:ext cx="24243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records the fastest growth at a CAGR of</a:t>
            </a:r>
          </a:p>
        </p:txBody>
      </p:sp>
      <p:pic>
        <p:nvPicPr>
          <p:cNvPr id="272" name="Picture 2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796" y="2441511"/>
            <a:ext cx="134549" cy="195707"/>
          </a:xfrm>
          <a:prstGeom prst="rect">
            <a:avLst/>
          </a:prstGeom>
        </p:spPr>
      </p:pic>
      <p:sp>
        <p:nvSpPr>
          <p:cNvPr id="273" name="TextBox 272"/>
          <p:cNvSpPr txBox="1"/>
          <p:nvPr/>
        </p:nvSpPr>
        <p:spPr>
          <a:xfrm>
            <a:off x="10263905" y="2451735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7715250" y="2679573"/>
            <a:ext cx="41698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Combined, the top three equipment type × end use cells generate an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7715250" y="2854832"/>
            <a:ext cx="15940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absolute $ opportunity of</a:t>
            </a:r>
          </a:p>
        </p:txBody>
      </p:sp>
      <p:pic>
        <p:nvPicPr>
          <p:cNvPr id="276" name="Picture 2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58439" y="2844609"/>
            <a:ext cx="134549" cy="195707"/>
          </a:xfrm>
          <a:prstGeom prst="rect">
            <a:avLst/>
          </a:prstGeom>
        </p:spPr>
      </p:pic>
      <p:sp>
        <p:nvSpPr>
          <p:cNvPr id="277" name="TextBox 276"/>
          <p:cNvSpPr txBox="1"/>
          <p:nvPr/>
        </p:nvSpPr>
        <p:spPr>
          <a:xfrm>
            <a:off x="9433549" y="2854832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Share Analysis: Equipment Type × End Use, 2026E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North America market value, each row split across all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429250"/>
          </a:xfrm>
          <a:prstGeom prst="roundRect">
            <a:avLst>
              <a:gd name="adj" fmla="val 14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Share, Equipment Type × End Use, 2026E (% of each row)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49625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7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1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33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54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1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1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942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3198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532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30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380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1017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57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2103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8095" y="396144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Share Analysis: Equipment Type × End Use, 2026E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North America market value, each row split across all end use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72866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End Use Mix by Equipment Type, 2026E (% share)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70961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7581900" y="981075"/>
            <a:ext cx="4457700" cy="5648325"/>
          </a:xfrm>
          <a:prstGeom prst="roundRect">
            <a:avLst>
              <a:gd name="adj" fmla="val 17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7715250" y="106680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715250" y="130492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7715250" y="1390650"/>
            <a:ext cx="41910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49814" y="2851975"/>
            <a:ext cx="165021" cy="24003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7715250" y="1400175"/>
            <a:ext cx="36347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'Electrical and electronics' holds the highest share of 'Flute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15250" y="1575435"/>
            <a:ext cx="27256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laminating and sheet-mounting machines'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90042" y="156521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0565151" y="1575435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715250" y="1803273"/>
            <a:ext cx="37111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'Flute laminating and sheet-mounting machines' is the most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715250" y="1978533"/>
            <a:ext cx="29900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concentrated equipment type sub-segment, with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54472" y="1968309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0829581" y="1978533"/>
            <a:ext cx="9251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715250" y="2153793"/>
            <a:ext cx="16533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'Electrical and electronics'.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2381631"/>
            <a:ext cx="15726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end uses' gains 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37045" y="237140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412155" y="2381631"/>
            <a:ext cx="21046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15250" y="2556891"/>
            <a:ext cx="14626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 by 2036F.</a:t>
            </a:r>
          </a:p>
        </p:txBody>
      </p:sp>
      <p:sp>
        <p:nvSpPr>
          <p:cNvPr id="32" name="lockshield_12"/>
          <p:cNvSpPr/>
          <p:nvPr/>
        </p:nvSpPr>
        <p:spPr>
          <a:xfrm>
            <a:off x="238125" y="1266825"/>
            <a:ext cx="70961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&amp; Attractiveness: Equipment Type × End Use, 2026E–2036F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581525"/>
          </a:xfrm>
          <a:prstGeom prst="roundRect">
            <a:avLst>
              <a:gd name="adj" fmla="val 166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Equipment Type × End Use, 2026E–2036F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924100" cy="42839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48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3049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8726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39191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24158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21005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ready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point-of-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328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 facers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Double facers and gluing systems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Slitter-scorers, cut-off machines and corrugator stackers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flexo printer-slotter-die-cutter lines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flexo printing and printer-slotter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Digital corrugated 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liner pre-printing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flatbed die-cutters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54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rotary die-cutters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3625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8572" y="3853644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&amp; Attractiveness: Equipment Type × End Use, 2026E–2036F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400425"/>
          </a:xfrm>
          <a:prstGeom prst="roundRect">
            <a:avLst>
              <a:gd name="adj" fmla="val 22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Equipment Type × End Use, 2026E–2036F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9549" cy="29337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949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4760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218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45690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24158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</a:tblGrid>
              <a:tr h="1017270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Agriculture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fresh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Processed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beverages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shipping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fulfillment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Retail-ready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point-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of-sale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Personal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household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Electrical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electronics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Pharmaceuti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cals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Industrial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machinery,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automotive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components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end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02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slotting, scoring and creasing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Standalone folder-gluers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Stitching and box-joint taping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Flute laminating and sheet-mounting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Specialty box-forming and assembly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1814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514850"/>
            <a:ext cx="5600700" cy="2114550"/>
          </a:xfrm>
          <a:prstGeom prst="roundRect">
            <a:avLst>
              <a:gd name="adj" fmla="val 36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600575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83870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924425"/>
            <a:ext cx="53340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5895975" y="4514850"/>
            <a:ext cx="1943100" cy="211455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6029325" y="460057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0" name="Rectangle 19"/>
          <p:cNvSpPr/>
          <p:nvPr/>
        </p:nvSpPr>
        <p:spPr>
          <a:xfrm>
            <a:off x="6029325" y="483870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029325" y="4924425"/>
            <a:ext cx="16764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7991475" y="4514850"/>
            <a:ext cx="1943100" cy="211455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124825" y="460057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4" name="Rectangle 23"/>
          <p:cNvSpPr/>
          <p:nvPr/>
        </p:nvSpPr>
        <p:spPr>
          <a:xfrm>
            <a:off x="8124825" y="483870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124825" y="4924425"/>
            <a:ext cx="16764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0086975" y="4514850"/>
            <a:ext cx="1943100" cy="211455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0220325" y="460057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0220325" y="483870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0220325" y="4924425"/>
            <a:ext cx="1676400" cy="1628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'Standalone rotary die-cutters × Agriculture and fresh produce' ranks highest (5/5); 'Single facers × Agriculture and fresh produce' lowest (1/5), a deprioritised cell.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2652" y="3166546"/>
            <a:ext cx="366712" cy="5334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33950"/>
            <a:ext cx="36104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Standalone rotary die-cutters × Electrical and electronics –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4722" y="492417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002218" y="493395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1668" y="492417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229163" y="4933950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151882"/>
            <a:ext cx="50764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Standalone rotary die-cutters × Industrial machinery, automotive and components –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0754" y="514210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76225" y="531952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674" y="530974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03170" y="5319522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5537454"/>
            <a:ext cx="306174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Standalone rotary die-cutters × Other end uses –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6018" y="5527674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3453514" y="553745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2963" y="5527674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680459" y="5537454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755386"/>
            <a:ext cx="39274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Standalone rotary die-cutters × Processed food and beverages –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1776" y="5745606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319272" y="5755386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721" y="574560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546217" y="5755386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973318"/>
            <a:ext cx="38988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Standalone rotary die-cutters × Agriculture and fresh produce –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3126" y="596353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290622" y="5973318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0072" y="5963538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517568" y="5973318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029325" y="4933950"/>
            <a:ext cx="12600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rotary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5109210"/>
            <a:ext cx="16559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die-cutters × Electrical and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5284470"/>
            <a:ext cx="10694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electronics'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7933" y="5274246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223042" y="5284470"/>
            <a:ext cx="311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5459729"/>
            <a:ext cx="9564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544950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110081" y="5459729"/>
            <a:ext cx="4293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634989"/>
            <a:ext cx="11347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933950"/>
            <a:ext cx="12600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'Standalone rotary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5109210"/>
            <a:ext cx="16074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die-cutters × E-commerce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5284470"/>
            <a:ext cx="15135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shipping and fulfillment'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459729"/>
            <a:ext cx="689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44950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459729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44950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634989"/>
            <a:ext cx="925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810249"/>
            <a:ext cx="890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508250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813050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517900"/>
            <a:ext cx="7124700" cy="22606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Equipment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Automation Level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Box Style Produced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End-use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Customer Type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Volume Overview (Units)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U.S. market in volume: size, growth, YoY momentum and gap to the Global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(UNITS)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(UNITS)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(Units), 2021–2036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North America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(Units)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Market Share, 2026</a:t>
            </a:r>
          </a:p>
        </p:txBody>
      </p:sp>
      <p:graphicFrame>
        <p:nvGraphicFramePr>
          <p:cNvPr id="27" name="Chart 26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8" name="Rounded Rectangle 27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29" name="Rounded Rectangle 28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62365" y="2599095"/>
            <a:ext cx="191595" cy="278683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5708" y="4462938"/>
            <a:ext cx="261282" cy="38004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071485" y="2876550"/>
            <a:ext cx="3624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U.S.'s corrugated box packaging equipment market expands at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644444" y="2866771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8071485" y="3044190"/>
            <a:ext cx="35692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2036, trailing the North America benchmark of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588765" y="303441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071485" y="3211830"/>
            <a:ext cx="2128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32435" y="320205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399931" y="3211830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57175" y="5966460"/>
            <a:ext cx="6393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2" y="5956680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12088" y="5966460"/>
            <a:ext cx="10350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and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514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162635" y="5966460"/>
            <a:ext cx="34306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corrugated box packaging equipment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27083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those shares move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13625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3081121" y="6134100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19015" y="6124320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486511" y="6134100"/>
            <a:ext cx="7937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89026" y="5966460"/>
            <a:ext cx="32262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Units between 2026 and 2036 the U.S. market grows to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63349" y="5956680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1330845" y="5966460"/>
            <a:ext cx="3111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286500" y="6134100"/>
            <a:ext cx="159025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size over the decade.</a:t>
            </a:r>
          </a:p>
        </p:txBody>
      </p:sp>
      <p:sp>
        <p:nvSpPr>
          <p:cNvPr id="63" name="lockshield_16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lockshield_19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lockshield_24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lockshield_27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U.S. market in value: size, growth, YoY momentum and gap to the Global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(US$ Mn), 2021–2036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North America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Market Share, 2026</a:t>
            </a:r>
          </a:p>
        </p:txBody>
      </p:sp>
      <p:graphicFrame>
        <p:nvGraphicFramePr>
          <p:cNvPr id="27" name="Chart 26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8" name="Rounded Rectangle 27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29" name="Rounded Rectangle 28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62365" y="2599095"/>
            <a:ext cx="191595" cy="278683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5708" y="4462938"/>
            <a:ext cx="261282" cy="38004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071485" y="2876550"/>
            <a:ext cx="3624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U.S.'s corrugated box packaging equipment market expands at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644444" y="2866771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8071485" y="3044190"/>
            <a:ext cx="35692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2036, trailing the North America benchmark of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588765" y="303441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071485" y="3211830"/>
            <a:ext cx="2128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32435" y="320205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399931" y="3211830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57175" y="5966460"/>
            <a:ext cx="6393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2" y="5956680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12088" y="5966460"/>
            <a:ext cx="10350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and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514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162635" y="5966460"/>
            <a:ext cx="34306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corrugated box packaging equipment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27083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those shares move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13625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3081121" y="6134100"/>
            <a:ext cx="289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19015" y="6124320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486511" y="6134100"/>
            <a:ext cx="7937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286500" y="5882640"/>
            <a:ext cx="31032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in the U.S. is expected to account for US$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337766" y="587286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9505262" y="5882640"/>
            <a:ext cx="14955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by 2036 at a CAGR of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48871" y="5872860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1116366" y="5882640"/>
            <a:ext cx="5528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 the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286500" y="6050280"/>
            <a:ext cx="46947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period. The U.S. is expected to create an incremental opportunity of US$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29309" y="604050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1096805" y="6050280"/>
            <a:ext cx="6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for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286500" y="6217920"/>
            <a:ext cx="417934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overall corrugated box packaging equipment market from 2025 to 2036.</a:t>
            </a:r>
          </a:p>
        </p:txBody>
      </p:sp>
      <p:sp>
        <p:nvSpPr>
          <p:cNvPr id="66" name="lockshield_16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lockshield_19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lockshield_24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lockshield_27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Key Segments Overview, By Value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2857500" cy="1771650"/>
          </a:xfrm>
          <a:prstGeom prst="roundRect">
            <a:avLst>
              <a:gd name="adj" fmla="val 430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Equipment Type 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2667000" cy="1428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3152775" y="981075"/>
            <a:ext cx="2857500" cy="1771650"/>
          </a:xfrm>
          <a:prstGeom prst="roundRect">
            <a:avLst>
              <a:gd name="adj" fmla="val 430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Automation Level  (US$ Mn)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3248025" y="1266825"/>
          <a:ext cx="2667000" cy="1428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62675" y="981075"/>
            <a:ext cx="2857500" cy="1771650"/>
          </a:xfrm>
          <a:prstGeom prst="roundRect">
            <a:avLst>
              <a:gd name="adj" fmla="val 430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Box Style Produced 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6257925" y="1266825"/>
          <a:ext cx="2667000" cy="1428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9172575" y="981075"/>
            <a:ext cx="2857500" cy="1771650"/>
          </a:xfrm>
          <a:prstGeom prst="roundRect">
            <a:avLst>
              <a:gd name="adj" fmla="val 430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92678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End-use 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9267825" y="1266825"/>
          <a:ext cx="2667000" cy="1428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142875" y="2886075"/>
            <a:ext cx="2971800" cy="1771650"/>
          </a:xfrm>
          <a:prstGeom prst="roundRect">
            <a:avLst>
              <a:gd name="adj" fmla="val 430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38125" y="2943225"/>
            <a:ext cx="27813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Customer Type 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238125" y="3171825"/>
          <a:ext cx="2781300" cy="1428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91075"/>
            <a:ext cx="11906250" cy="1828800"/>
          </a:xfrm>
          <a:prstGeom prst="roundRect">
            <a:avLst>
              <a:gd name="adj" fmla="val 41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76225" y="48768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276225" y="511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76225" y="5200650"/>
            <a:ext cx="11639550" cy="13430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11655" y="1762125"/>
            <a:ext cx="183356" cy="2667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21555" y="1762125"/>
            <a:ext cx="183356" cy="2667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31455" y="1762125"/>
            <a:ext cx="183356" cy="2667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841355" y="1762125"/>
            <a:ext cx="183356" cy="2667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68805" y="3667125"/>
            <a:ext cx="183356" cy="266700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276225" y="4886325"/>
            <a:ext cx="1468037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688698" y="4878003"/>
            <a:ext cx="109510" cy="15928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1831222" y="4886325"/>
            <a:ext cx="465087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5210175"/>
            <a:ext cx="385538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Equipment Type, 'Printing and Converting Equipment' leads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079662" y="5200395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247158" y="5210175"/>
            <a:ext cx="5995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794739" y="5200395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962235" y="5210175"/>
            <a:ext cx="33774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'Finishing and Box Assembly Equipment'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87687" y="5200395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455183" y="5210175"/>
            <a:ext cx="603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428107"/>
            <a:ext cx="28322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Automation Level, 'Semi-automatic' leads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056528" y="5418327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224024" y="5428107"/>
            <a:ext cx="5995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771605" y="5418327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3939101" y="5428107"/>
            <a:ext cx="20380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'Fully automatic'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925155" y="541832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6092651" y="5428107"/>
            <a:ext cx="603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646039"/>
            <a:ext cx="367506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Box Style Produced, 'Folders and Telescopic Boxes' leads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99337" y="5636259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066833" y="5646039"/>
            <a:ext cx="5995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614414" y="5636259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781910" y="5646039"/>
            <a:ext cx="29378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'Wraparound Cases and Sleeves'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667828" y="5636259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7835324" y="5646039"/>
            <a:ext cx="603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863971"/>
            <a:ext cx="35624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End-use, 'Personal care and household products' leads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786679" y="5854191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3954175" y="5863971"/>
            <a:ext cx="5995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01756" y="5854191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669252" y="5863971"/>
            <a:ext cx="28923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'Processed food and beverages'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09604" y="5854191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677100" y="5863971"/>
            <a:ext cx="603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6081903"/>
            <a:ext cx="42737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Customer Type, 'Captive / In-house Box Manufacturing Units' leads at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498003" y="6072123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4665499" y="6081903"/>
            <a:ext cx="5995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13080" y="607212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380576" y="6081903"/>
            <a:ext cx="37697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'Independent Sheet Plants and Box Converters' (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098419" y="607212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265915" y="6081903"/>
            <a:ext cx="6030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76225" y="6299835"/>
            <a:ext cx="66778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  <p:sp>
        <p:nvSpPr>
          <p:cNvPr id="74" name="lockshield_12"/>
          <p:cNvSpPr/>
          <p:nvPr/>
        </p:nvSpPr>
        <p:spPr>
          <a:xfrm>
            <a:off x="238125" y="1266825"/>
            <a:ext cx="2667000" cy="1428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lockshield_15"/>
          <p:cNvSpPr/>
          <p:nvPr/>
        </p:nvSpPr>
        <p:spPr>
          <a:xfrm>
            <a:off x="3248025" y="1266825"/>
            <a:ext cx="2667000" cy="1428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lockshield_18"/>
          <p:cNvSpPr/>
          <p:nvPr/>
        </p:nvSpPr>
        <p:spPr>
          <a:xfrm>
            <a:off x="6257925" y="1266825"/>
            <a:ext cx="2667000" cy="1428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lockshield_21"/>
          <p:cNvSpPr/>
          <p:nvPr/>
        </p:nvSpPr>
        <p:spPr>
          <a:xfrm>
            <a:off x="9267825" y="1266825"/>
            <a:ext cx="2667000" cy="1428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lockshield_24"/>
          <p:cNvSpPr/>
          <p:nvPr/>
        </p:nvSpPr>
        <p:spPr>
          <a:xfrm>
            <a:off x="238125" y="3171825"/>
            <a:ext cx="2781300" cy="1428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Equipment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Automation Level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Box Style Produced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End-use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Customer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Equipment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Segmental Analysis Equipment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Equipment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Equipment Type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Equipment Type</a:t>
            </a:r>
          </a:p>
        </p:txBody>
      </p:sp>
      <p:graphicFrame>
        <p:nvGraphicFramePr>
          <p:cNvPr id="15" name="Table 14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01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3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39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152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47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11520309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Equipment Type (US$ Mn), between 2026–2036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11520309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55676" y="2239971"/>
            <a:ext cx="363470" cy="528683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64247" y="5123309"/>
            <a:ext cx="263506" cy="383281"/>
          </a:xfrm>
          <a:prstGeom prst="rect">
            <a:avLst/>
          </a:prstGeom>
        </p:spPr>
      </p:pic>
      <p:sp>
        <p:nvSpPr>
          <p:cNvPr id="29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11520309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Equipment Type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of the U.S. market by Equipment Type, 2021–2036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Equipment Type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of the U.S. market by Equipment Type, 2021–2036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Equipment Type (US$ Mn)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152400" y="1238250"/>
          <a:ext cx="1188719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737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7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252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4760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361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Single facers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Double facers and gluing systems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Slitter-scorers, cut-off machines and corrugator stackers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Reel stands, splicers, preheaters and other corrugator auxiliaries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Integrated flexo printer-slotter-die-cutter lines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flexo printing and printer-slotter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Digital corrugated printing machines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46164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Equipment Type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Equipment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Equipment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36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9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9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9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9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9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9106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859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7811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Corrugated liner pre-printing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flatbed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rotary die-cutters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slotting, scoring and creasing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Standalone folder-gluers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Stitching and box-joint taping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Flute laminating and sheet-mounting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Specialty box-forming and assembly machines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16117" y="2451926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Automation Level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Segmental Analysis Automation Level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Automation Level: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Automation Level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Automation Level</a:t>
            </a:r>
          </a:p>
        </p:txBody>
      </p:sp>
      <p:graphicFrame>
        <p:nvGraphicFramePr>
          <p:cNvPr id="15" name="Table 14"/>
          <p:cNvGraphicFramePr>
            <a:graphicFrameLocks noGrp="1"/>
          </p:cNvGraphicFramePr>
          <p:nvPr/>
        </p:nvGraphicFramePr>
        <p:xfrm>
          <a:off x="6181725" y="1238250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5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6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69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269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269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Automation Level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Semi-automatic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Fully 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11520309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Automation Level (US$ Mn), between 2026–2036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11520309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9073" y="2237613"/>
            <a:ext cx="366712" cy="5334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64247" y="5123309"/>
            <a:ext cx="263506" cy="383281"/>
          </a:xfrm>
          <a:prstGeom prst="rect">
            <a:avLst/>
          </a:prstGeom>
        </p:spPr>
      </p:pic>
      <p:sp>
        <p:nvSpPr>
          <p:cNvPr id="29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11520309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Automation Level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of the U.S. market by Automation Level, 2021–2036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Automation Level (US$ Mn)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161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2182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Automation Level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Semi-automatic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Fully automatic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7386" y="171373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Box Style Produced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Segmental Analysis Box Style Produced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Box Style Produced: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Box Style Produced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Box Style Produced</a:t>
            </a:r>
          </a:p>
        </p:txBody>
      </p:sp>
      <p:graphicFrame>
        <p:nvGraphicFramePr>
          <p:cNvPr id="15" name="Table 14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870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25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725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19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37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Style Produced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Slotted Shipping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Die-cut Boxes and Mailers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Trays and Retail-ready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Folders and Telescopic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Protective and Internal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Wraparound Cases and Sleeves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11520309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Box Style Produced (US$ Mn), between 2026–2036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11520309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17501" y="2237613"/>
            <a:ext cx="366712" cy="5334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64247" y="5123309"/>
            <a:ext cx="263506" cy="383281"/>
          </a:xfrm>
          <a:prstGeom prst="rect">
            <a:avLst/>
          </a:prstGeom>
        </p:spPr>
      </p:pic>
      <p:sp>
        <p:nvSpPr>
          <p:cNvPr id="29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11520309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Box Style Produced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of the U.S. market by Box Style Produced, 2021–2036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Box Style Produced (US$ Mn)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84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7076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Box Style Produced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Slotted Shipping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Die-cut Boxes and Mailers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Trays and Retail-ready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Folders and Telescopic Boxes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Protective and Internal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Wraparound Cases and Sleeves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1412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End-use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Segmental Analysis End-use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End-use: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End-use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781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End-use</a:t>
            </a:r>
          </a:p>
        </p:txBody>
      </p:sp>
      <p:graphicFrame>
        <p:nvGraphicFramePr>
          <p:cNvPr id="15" name="Table 14"/>
          <p:cNvGraphicFramePr>
            <a:graphicFrameLocks noGrp="1"/>
          </p:cNvGraphicFramePr>
          <p:nvPr/>
        </p:nvGraphicFramePr>
        <p:xfrm>
          <a:off x="6181725" y="1238250"/>
          <a:ext cx="5857874" cy="2657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58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4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4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53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44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End-use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48400" y="39052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3806" y="2407228"/>
            <a:ext cx="285153" cy="414768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12544" y="2533153"/>
            <a:ext cx="348274" cy="506580"/>
          </a:xfrm>
          <a:prstGeom prst="rect">
            <a:avLst/>
          </a:prstGeom>
        </p:spPr>
      </p:pic>
      <p:sp>
        <p:nvSpPr>
          <p:cNvPr id="20" name="lockshield_12"/>
          <p:cNvSpPr/>
          <p:nvPr/>
        </p:nvSpPr>
        <p:spPr>
          <a:xfrm>
            <a:off x="238125" y="1266825"/>
            <a:ext cx="5686425" cy="27813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Segmental Analysis End-use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End-use: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End-use (US$ Mn), between 2026–2036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781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End-use</a:t>
            </a:r>
          </a:p>
        </p:txBody>
      </p:sp>
      <p:graphicFrame>
        <p:nvGraphicFramePr>
          <p:cNvPr id="15" name="Table 14"/>
          <p:cNvGraphicFramePr>
            <a:graphicFrameLocks noGrp="1"/>
          </p:cNvGraphicFramePr>
          <p:nvPr/>
        </p:nvGraphicFramePr>
        <p:xfrm>
          <a:off x="6181725" y="1238250"/>
          <a:ext cx="5857874" cy="2657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58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4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4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53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44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End-use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48400" y="39052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3806" y="2407228"/>
            <a:ext cx="285153" cy="414768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12544" y="2533153"/>
            <a:ext cx="348274" cy="506580"/>
          </a:xfrm>
          <a:prstGeom prst="rect">
            <a:avLst/>
          </a:prstGeom>
        </p:spPr>
      </p:pic>
      <p:sp>
        <p:nvSpPr>
          <p:cNvPr id="20" name="lockshield_12"/>
          <p:cNvSpPr/>
          <p:nvPr/>
        </p:nvSpPr>
        <p:spPr>
          <a:xfrm>
            <a:off x="238125" y="1266825"/>
            <a:ext cx="5686425" cy="27813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End-use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of the U.S. market by End-use,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End-use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3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39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958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9070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377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End-use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Agriculture and fresh produce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Processed food and beverages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 shipping and fulfillment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Retail-ready and point-of-sale packaging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Personal care and household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Electrical and electronics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Pharmaceuticals and healthcare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Industrial machinery, automotive and components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end uses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463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Customer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Segmental Analysis Customer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Customer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Customer Type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Customer Type</a:t>
            </a:r>
          </a:p>
        </p:txBody>
      </p:sp>
      <p:graphicFrame>
        <p:nvGraphicFramePr>
          <p:cNvPr id="15" name="Table 14"/>
          <p:cNvGraphicFramePr>
            <a:graphicFrameLocks noGrp="1"/>
          </p:cNvGraphicFramePr>
          <p:nvPr/>
        </p:nvGraphicFramePr>
        <p:xfrm>
          <a:off x="6181725" y="1238250"/>
          <a:ext cx="5857875" cy="22860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48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76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76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5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54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Customer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11520309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Customer Type (US$ Mn), between 2026–2036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11520309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6921" y="2360676"/>
            <a:ext cx="330041" cy="48006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64247" y="5123309"/>
            <a:ext cx="263506" cy="383281"/>
          </a:xfrm>
          <a:prstGeom prst="rect">
            <a:avLst/>
          </a:prstGeom>
        </p:spPr>
      </p:pic>
      <p:sp>
        <p:nvSpPr>
          <p:cNvPr id="29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11520309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Corrugated Box Packaging Equipment Market Tables Customer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of the U.S. market by Customer Type, 2021–2036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Customer Type (US$ Mn)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231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44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9630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9112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428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Customer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Integrated Board and Box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Corrugated Sheet Feeders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Independent Sheet Plants and Box Converters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Captive / In-house Box Manufacturing Units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Contract and Third-party Packaging 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0908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Global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11919" y="3471051"/>
            <a:ext cx="488156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3149.4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11919" y="2561000"/>
            <a:ext cx="488156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4136.3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919" y="1650949"/>
            <a:ext cx="488156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5123.2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825625" y="2586280"/>
            <a:ext cx="0" cy="248443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606550" y="2586280"/>
            <a:ext cx="438150" cy="24844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657225" y="2433880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Corrugated Board Prod…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4162425" y="1927636"/>
            <a:ext cx="0" cy="40521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3943350" y="1927636"/>
            <a:ext cx="438150" cy="40521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994025" y="1775236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994025" y="3566301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Printing and Converti…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6499225" y="3073025"/>
            <a:ext cx="0" cy="25468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6280150" y="3073025"/>
            <a:ext cx="438150" cy="25468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5330825" y="2920625"/>
            <a:ext cx="23368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30825" y="3566301"/>
            <a:ext cx="23368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Finishing and Box Ass…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 vs Global Price Trend (2026–2036)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619125" y="4521654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19125" y="488547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19125" y="524929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19125" y="5613120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19125" y="597694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619125" y="4521654"/>
            <a:ext cx="0" cy="1455287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590550" y="4521654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90550" y="488547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590550" y="524929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590550" y="561312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590550" y="597694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FMI Scale tick"/>
          <p:cNvSpPr txBox="1"/>
          <p:nvPr/>
        </p:nvSpPr>
        <p:spPr>
          <a:xfrm>
            <a:off x="219075" y="4454979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+11%</a:t>
            </a:r>
          </a:p>
        </p:txBody>
      </p:sp>
      <p:sp>
        <p:nvSpPr>
          <p:cNvPr id="42" name="FMI Scale tick"/>
          <p:cNvSpPr txBox="1"/>
          <p:nvPr/>
        </p:nvSpPr>
        <p:spPr>
          <a:xfrm>
            <a:off x="219075" y="4818801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+5%</a:t>
            </a:r>
          </a:p>
        </p:txBody>
      </p:sp>
      <p:sp>
        <p:nvSpPr>
          <p:cNvPr id="43" name="FMI Scale tick"/>
          <p:cNvSpPr txBox="1"/>
          <p:nvPr/>
        </p:nvSpPr>
        <p:spPr>
          <a:xfrm>
            <a:off x="219075" y="5182623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4" name="FMI Scale tick"/>
          <p:cNvSpPr txBox="1"/>
          <p:nvPr/>
        </p:nvSpPr>
        <p:spPr>
          <a:xfrm>
            <a:off x="219075" y="5546445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-5%</a:t>
            </a:r>
          </a:p>
        </p:txBody>
      </p:sp>
      <p:sp>
        <p:nvSpPr>
          <p:cNvPr id="45" name="FMI Scale tick"/>
          <p:cNvSpPr txBox="1"/>
          <p:nvPr/>
        </p:nvSpPr>
        <p:spPr>
          <a:xfrm>
            <a:off x="219075" y="5910266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-11%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619125" y="524929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977900" y="4614107"/>
            <a:ext cx="457200" cy="63519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FMI Data Label"/>
          <p:cNvSpPr txBox="1"/>
          <p:nvPr/>
        </p:nvSpPr>
        <p:spPr>
          <a:xfrm>
            <a:off x="619125" y="4471232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9" name="Rectangle 48"/>
          <p:cNvSpPr/>
          <p:nvPr/>
        </p:nvSpPr>
        <p:spPr>
          <a:xfrm>
            <a:off x="2152650" y="5203734"/>
            <a:ext cx="457200" cy="4556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FMI Data Label"/>
          <p:cNvSpPr txBox="1"/>
          <p:nvPr/>
        </p:nvSpPr>
        <p:spPr>
          <a:xfrm>
            <a:off x="1793875" y="5060859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Rectangle 50"/>
          <p:cNvSpPr/>
          <p:nvPr/>
        </p:nvSpPr>
        <p:spPr>
          <a:xfrm>
            <a:off x="3327400" y="4769988"/>
            <a:ext cx="457200" cy="47931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FMI Data Label"/>
          <p:cNvSpPr txBox="1"/>
          <p:nvPr/>
        </p:nvSpPr>
        <p:spPr>
          <a:xfrm>
            <a:off x="2968625" y="4627113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502150" y="5249298"/>
            <a:ext cx="457200" cy="381376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FMI Data Label"/>
          <p:cNvSpPr txBox="1"/>
          <p:nvPr/>
        </p:nvSpPr>
        <p:spPr>
          <a:xfrm>
            <a:off x="4143375" y="5640199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676900" y="5249298"/>
            <a:ext cx="457200" cy="38621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FMI Data Label"/>
          <p:cNvSpPr txBox="1"/>
          <p:nvPr/>
        </p:nvSpPr>
        <p:spPr>
          <a:xfrm>
            <a:off x="5318125" y="5645040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851650" y="5249298"/>
            <a:ext cx="457200" cy="7580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FMI Data Label"/>
          <p:cNvSpPr txBox="1"/>
          <p:nvPr/>
        </p:nvSpPr>
        <p:spPr>
          <a:xfrm>
            <a:off x="6492875" y="5334624"/>
            <a:ext cx="117475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1912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9387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96862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14337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531812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492875" y="6135380"/>
            <a:ext cx="1174750" cy="2476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Middle East and Africa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1275" y="2406956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8075" y="1748312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34875" y="2893701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150" y="4444308"/>
            <a:ext cx="128699" cy="187198"/>
          </a:xfrm>
          <a:prstGeom prst="rect">
            <a:avLst/>
          </a:prstGeom>
        </p:spPr>
      </p:pic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5033935"/>
            <a:ext cx="128699" cy="187198"/>
          </a:xfrm>
          <a:prstGeom prst="rect">
            <a:avLst/>
          </a:prstGeom>
        </p:spPr>
      </p:pic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1650" y="4600189"/>
            <a:ext cx="128699" cy="187198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400" y="5613274"/>
            <a:ext cx="128699" cy="187198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5618116"/>
            <a:ext cx="128699" cy="187198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5900" y="530769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8048625" y="1736673"/>
            <a:ext cx="38369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global average pricing of key equipment type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048625" y="2665551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'Printing and Converting Equipment' shows the most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046658" y="2840811"/>
            <a:ext cx="21890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'Corrugated Board Production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016071"/>
            <a:ext cx="1455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Equipment' the least (+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3720" y="3005848"/>
            <a:ext cx="134549" cy="195707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628830" y="3016071"/>
            <a:ext cx="19611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3191331"/>
            <a:ext cx="29161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monitor when planning procurement or pricing.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048625" y="3419169"/>
            <a:ext cx="37186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region-level price movement to the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048625" y="3594429"/>
            <a:ext cx="37166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base year, applied consistently across the horizon to strip out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048625" y="4172787"/>
            <a:ext cx="23402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 price indices diverge by up to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38039" y="4162564"/>
            <a:ext cx="134549" cy="195707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10513148" y="4172787"/>
            <a:ext cx="11875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048625" y="4348047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2036: higher-priced regions start higher and grow steadily, while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048625" y="4523307"/>
            <a:ext cx="34547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regions start lower and converge, reflecting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048625" y="4698567"/>
            <a:ext cx="10908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catch-up growth.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Pricing Assessment: By Equipment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(US$/Units) by equipment type, 2021 to 2036, with 2026 price index and growth outlook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square" lIns="137160" rtlCol="0" anchor="ctr"/>
          <a:lstStyle/>
          <a:p>
            <a:pPr algn="l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644652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621792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Trend by Equipment Type, 2021 to 2036 (US$/Units)</a:t>
            </a:r>
          </a:p>
        </p:txBody>
      </p:sp>
      <p:graphicFrame>
        <p:nvGraphicFramePr>
          <p:cNvPr id="13" name="FMI Price Chart"/>
          <p:cNvGraphicFramePr>
            <a:graphicFrameLocks noGrp="1"/>
          </p:cNvGraphicFramePr>
          <p:nvPr/>
        </p:nvGraphicFramePr>
        <p:xfrm>
          <a:off x="347472" y="1831467"/>
          <a:ext cx="6309360" cy="31821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572000" y="1593723"/>
            <a:ext cx="2103120" cy="2286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r"/>
            <a:r>
              <a:rPr sz="850" b="0" i="1">
                <a:solidFill>
                  <a:srgbClr val="59636E"/>
                </a:solidFill>
                <a:latin typeface="Calibri"/>
              </a:rPr>
              <a:t>Forecast period: 2026 to 2036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858000" y="1529715"/>
            <a:ext cx="5056632" cy="160020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967728" y="1575435"/>
            <a:ext cx="484632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graphicFrame>
        <p:nvGraphicFramePr>
          <p:cNvPr id="17" name="FMI Open Chart"/>
          <p:cNvGraphicFramePr>
            <a:graphicFrameLocks noGrp="1"/>
          </p:cNvGraphicFramePr>
          <p:nvPr/>
        </p:nvGraphicFramePr>
        <p:xfrm>
          <a:off x="6903720" y="1785747"/>
          <a:ext cx="4965192" cy="13258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8" name="Table 17"/>
          <p:cNvGraphicFramePr>
            <a:graphicFrameLocks noGrp="1"/>
          </p:cNvGraphicFramePr>
          <p:nvPr/>
        </p:nvGraphicFramePr>
        <p:xfrm>
          <a:off x="6858000" y="3203067"/>
          <a:ext cx="5056632" cy="18470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05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29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Equipment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2021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Printing and Converting Equipment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Corrugated Board Production Equipment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Finishing and Box Assembly Equipment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9418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Global Average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9" name="Rectangle 18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Hierarchy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Oval 23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Momentum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Oval 27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Outlook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Average price = market value (US$) / market volume (Units). 2021 to 2025 historical, 2026 to 2036 forecast.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83571" y="4071291"/>
            <a:ext cx="330041" cy="48006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11480" y="1110615"/>
            <a:ext cx="5719876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Printing and Converting Equipment commands the highest 2026 price point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83817" y="1099058"/>
            <a:ext cx="152098" cy="221234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281766" y="1110615"/>
            <a:ext cx="668883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/Units,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03110" y="1099058"/>
            <a:ext cx="152098" cy="221234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101060" y="1110615"/>
            <a:ext cx="3813809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premium over Finishing and Box Assembly Equipment.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995160" y="1602867"/>
            <a:ext cx="2164334" cy="1802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2026 Price Index vs Global Average (=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06620" y="1593461"/>
            <a:ext cx="123784" cy="18005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267721" y="1602867"/>
            <a:ext cx="118189" cy="1802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)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06576" y="5530976"/>
            <a:ext cx="311066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Printing and Converting Equipment sits at the top of the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6576" y="5690996"/>
            <a:ext cx="179490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2026 price ladder at an index of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48430" y="5681662"/>
            <a:ext cx="122849" cy="178689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08313" y="5690996"/>
            <a:ext cx="117581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while Finishing and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06576" y="5851016"/>
            <a:ext cx="1959479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Box Assembly Equipment trades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13006" y="5841682"/>
            <a:ext cx="122849" cy="178689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872888" y="5851016"/>
            <a:ext cx="1019807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which keeps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6576" y="6011036"/>
            <a:ext cx="191679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full equipment type spread within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670320" y="6001702"/>
            <a:ext cx="122849" cy="178689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830203" y="6011036"/>
            <a:ext cx="109797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732401" y="5530976"/>
            <a:ext cx="3143249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Printing and Converting Equipment posts the fastest price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732401" y="5690996"/>
            <a:ext cx="69893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growth at a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78284" y="5681662"/>
            <a:ext cx="122849" cy="178689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538166" y="5690996"/>
            <a:ext cx="1760248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CAGR between 2026 and 2036,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732401" y="5851016"/>
            <a:ext cx="89765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compared with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7007" y="5841682"/>
            <a:ext cx="122849" cy="178689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5736889" y="5851016"/>
            <a:ext cx="185897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for Corrugated Board Production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732401" y="6011036"/>
            <a:ext cx="70359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Equipment.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658225" y="5530976"/>
            <a:ext cx="223584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Global average price rises from US$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41019" y="5521642"/>
            <a:ext cx="122849" cy="178689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1000901" y="5530976"/>
            <a:ext cx="54214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 in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8658225" y="5690996"/>
            <a:ext cx="73722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2026 to US$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42394" y="5681662"/>
            <a:ext cx="122849" cy="178689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502276" y="5690996"/>
            <a:ext cx="227022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 in 2036, and the gap between 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658225" y="5851016"/>
            <a:ext cx="304506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highest and lowest priced equipment type moves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45369" y="6001702"/>
            <a:ext cx="122849" cy="17868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805252" y="6011036"/>
            <a:ext cx="62340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 2021 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75605" y="6001702"/>
            <a:ext cx="122849" cy="178689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9535487" y="6011036"/>
            <a:ext cx="51167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 2036.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18190" y="3048804"/>
            <a:ext cx="454926" cy="661711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3270" y="2219134"/>
            <a:ext cx="256698" cy="373379"/>
          </a:xfrm>
          <a:prstGeom prst="rect">
            <a:avLst/>
          </a:prstGeom>
        </p:spPr>
      </p:pic>
      <p:sp>
        <p:nvSpPr>
          <p:cNvPr id="73" name="lockshield_13"/>
          <p:cNvSpPr/>
          <p:nvPr/>
        </p:nvSpPr>
        <p:spPr>
          <a:xfrm>
            <a:off x="347472" y="1831467"/>
            <a:ext cx="6309360" cy="3182112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lockshield_17"/>
          <p:cNvSpPr/>
          <p:nvPr/>
        </p:nvSpPr>
        <p:spPr>
          <a:xfrm>
            <a:off x="6903720" y="1785747"/>
            <a:ext cx="4965192" cy="132588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Price Matrix: Equipment Type × Customer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(US$/Units) for every equipment type and customer type combination, 2026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square" lIns="137160" rtlCol="0" anchor="ctr"/>
          <a:lstStyle/>
          <a:p>
            <a:pPr algn="l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Matrix (US$/Units), Shaded by Index vs Global Average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365760" y="1868043"/>
          <a:ext cx="7520680" cy="28346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915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51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51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51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51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511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35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Equipment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Integrated Board and Box Manufacturers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Independent Corrugated Sheet Feeders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Independent Sheet Plants and Box Converters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Captive / In-house Box Manufacturing Units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Contract and Third-party Packaging Manufacturers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Row Avg.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Corrugated liner pre-printing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Standalone rotary die-cutters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Standalone flatbed die-cutters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Slitter-scorers, cut-off machines and corrugator stackers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Single facers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Integrated flexo printer-slotter-die-cutter lines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Standalone folder-gluers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Reel stands, splicers, preheaters and other corrugator auxiliaries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Standalone slotting, scoring and creasing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Stitching and box-joint taping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Digital corrugated printing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Standalone flexo printing and printer-slotter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Specialty box-forming and assembly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Flute laminating and sheet-mounting machines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Double facers and gluing systems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6744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Column Avg.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4" name="Rectangle 13"/>
          <p:cNvSpPr/>
          <p:nvPr/>
        </p:nvSpPr>
        <p:spPr>
          <a:xfrm>
            <a:off x="384048" y="4794123"/>
            <a:ext cx="180975" cy="142875"/>
          </a:xfrm>
          <a:prstGeom prst="rect">
            <a:avLst/>
          </a:prstGeom>
          <a:solidFill>
            <a:srgbClr val="9DC0E0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MI Scale legend"/>
          <p:cNvSpPr txBox="1"/>
          <p:nvPr/>
        </p:nvSpPr>
        <p:spPr>
          <a:xfrm>
            <a:off x="59359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below 97.5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50898" y="4794123"/>
            <a:ext cx="180975" cy="142875"/>
          </a:xfrm>
          <a:prstGeom prst="rect">
            <a:avLst/>
          </a:prstGeom>
          <a:solidFill>
            <a:srgbClr val="D9E6F2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MI Scale legend"/>
          <p:cNvSpPr txBox="1"/>
          <p:nvPr/>
        </p:nvSpPr>
        <p:spPr>
          <a:xfrm>
            <a:off x="206044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97.5 to 99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317748" y="4794123"/>
            <a:ext cx="180975" cy="142875"/>
          </a:xfrm>
          <a:prstGeom prst="rect">
            <a:avLst/>
          </a:prstGeom>
          <a:solidFill>
            <a:srgbClr val="F7F7F7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MI Scale legend"/>
          <p:cNvSpPr txBox="1"/>
          <p:nvPr/>
        </p:nvSpPr>
        <p:spPr>
          <a:xfrm>
            <a:off x="352729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Parity: 99 to 101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784598" y="4794123"/>
            <a:ext cx="180975" cy="142875"/>
          </a:xfrm>
          <a:prstGeom prst="rect">
            <a:avLst/>
          </a:prstGeom>
          <a:solidFill>
            <a:srgbClr val="FBE3D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MI Scale legend"/>
          <p:cNvSpPr txBox="1"/>
          <p:nvPr/>
        </p:nvSpPr>
        <p:spPr>
          <a:xfrm>
            <a:off x="499414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101 to 102.5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251448" y="4794123"/>
            <a:ext cx="180975" cy="142875"/>
          </a:xfrm>
          <a:prstGeom prst="rect">
            <a:avLst/>
          </a:prstGeom>
          <a:solidFill>
            <a:srgbClr val="F4B18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MI Scale legend"/>
          <p:cNvSpPr txBox="1"/>
          <p:nvPr/>
        </p:nvSpPr>
        <p:spPr>
          <a:xfrm>
            <a:off x="646099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above 102.5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Range Across All Customer Type Sub-Types,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065008" y="1965579"/>
            <a:ext cx="3749040" cy="2190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lowest to highest price (US$/Units) at the finest data level.</a:t>
            </a:r>
          </a:p>
        </p:txBody>
      </p:sp>
      <p:graphicFrame>
        <p:nvGraphicFramePr>
          <p:cNvPr id="27" name="FMI Price Chart"/>
          <p:cNvGraphicFramePr>
            <a:graphicFrameLocks noGrp="1"/>
          </p:cNvGraphicFramePr>
          <p:nvPr/>
        </p:nvGraphicFramePr>
        <p:xfrm>
          <a:off x="8001000" y="2032635"/>
          <a:ext cx="3867912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Rectangle 2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Pockets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Value Pockets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Within-Type Spread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6769" y="3102039"/>
            <a:ext cx="366712" cy="533400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411480" y="1122502"/>
            <a:ext cx="8381168" cy="193395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43" b="1">
                <a:solidFill>
                  <a:srgbClr val="FFFFFF"/>
                </a:solidFill>
                <a:latin typeface="Calibri"/>
              </a:rPr>
              <a:t>Corrugated liner pre-printing machines for Independent Sheet Plants and Box Converters is the highest priced combination in 2026 at US$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41670" y="1112332"/>
            <a:ext cx="133846" cy="194685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915865" y="1122502"/>
            <a:ext cx="598328" cy="193395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43" b="1">
                <a:solidFill>
                  <a:srgbClr val="FFFFFF"/>
                </a:solidFill>
                <a:latin typeface="Calibri"/>
              </a:rPr>
              <a:t>/Units, +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63216" y="1112332"/>
            <a:ext cx="133846" cy="194685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637411" y="1122502"/>
            <a:ext cx="1656490" cy="193395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43" b="1">
                <a:solidFill>
                  <a:srgbClr val="FFFFFF"/>
                </a:solidFill>
                <a:latin typeface="Calibri"/>
              </a:rPr>
              <a:t>above the Global average.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6576" y="5530976"/>
            <a:ext cx="296640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Corrugated liner pre-printing machines positioned on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6576" y="5690996"/>
            <a:ext cx="307970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Independent Sheet Plants and Box Converters carry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6576" y="5851016"/>
            <a:ext cx="188267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strongest premium at an index of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36202" y="5841682"/>
            <a:ext cx="122849" cy="178689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796084" y="5851016"/>
            <a:ext cx="85494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which signals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6576" y="6011036"/>
            <a:ext cx="273773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room for value-added claims in this combination.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732401" y="5530976"/>
            <a:ext cx="308881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Double facers and gluing systems for Captive / In-house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4732401" y="5690996"/>
            <a:ext cx="2509837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Box Manufacturing Units is the lowest priced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732401" y="5851016"/>
            <a:ext cx="152950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combination at an index of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08856" y="5841682"/>
            <a:ext cx="122849" cy="178689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6368739" y="5851016"/>
            <a:ext cx="475729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sitting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91417" y="5841682"/>
            <a:ext cx="122849" cy="178689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951299" y="5851016"/>
            <a:ext cx="620538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below the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732401" y="6011036"/>
            <a:ext cx="1272182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Global average of US$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51533" y="6001702"/>
            <a:ext cx="122849" cy="178689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111415" y="6011036"/>
            <a:ext cx="44473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658225" y="5530976"/>
            <a:ext cx="310027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Specialty box-forming and assembly machines show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658225" y="5690996"/>
            <a:ext cx="1727708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widest internal price spread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2882" y="5681662"/>
            <a:ext cx="122849" cy="178689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0492765" y="5690996"/>
            <a:ext cx="108570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ranging from US$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45369" y="5841682"/>
            <a:ext cx="122849" cy="178689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8805252" y="5851016"/>
            <a:ext cx="80129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 to US$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53491" y="5841682"/>
            <a:ext cx="122849" cy="178689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9713374" y="5851016"/>
            <a:ext cx="1373497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 across sub-types.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01752" y="6391275"/>
            <a:ext cx="5851659" cy="1434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Source: FMI analysis. Cell price = combined value (US$) / combined volume (Units); shading shows the index vs the Global average of US$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95202" y="6384020"/>
            <a:ext cx="95470" cy="138866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6219453" y="6391275"/>
            <a:ext cx="362604" cy="1434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/Units.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3437" y="3234020"/>
            <a:ext cx="332271" cy="483303"/>
          </a:xfrm>
          <a:prstGeom prst="rect">
            <a:avLst/>
          </a:prstGeom>
        </p:spPr>
      </p:pic>
      <p:sp>
        <p:nvSpPr>
          <p:cNvPr id="76" name="lockshield_27"/>
          <p:cNvSpPr/>
          <p:nvPr/>
        </p:nvSpPr>
        <p:spPr>
          <a:xfrm>
            <a:off x="8001000" y="2032635"/>
            <a:ext cx="3867912" cy="2971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Pricing Assessment: Region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 average price and price range across equipment types, 2026 (US$/Units)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square" lIns="137160" rtlCol="0" anchor="ctr"/>
          <a:lstStyle/>
          <a:p>
            <a:pPr algn="l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Range Across Equipment Types by Region (US$/Units), Ranked by Average</a:t>
            </a:r>
          </a:p>
        </p:txBody>
      </p:sp>
      <p:graphicFrame>
        <p:nvGraphicFramePr>
          <p:cNvPr id="13" name="FMI Open Chart"/>
          <p:cNvGraphicFramePr>
            <a:graphicFrameLocks noGrp="1"/>
          </p:cNvGraphicFramePr>
          <p:nvPr/>
        </p:nvGraphicFramePr>
        <p:xfrm>
          <a:off x="347472" y="2014347"/>
          <a:ext cx="7406640" cy="30175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384048" y="1804035"/>
            <a:ext cx="7223760" cy="2190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15" name="Rectangle 14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and Discount Markets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8046720" y="1868043"/>
          <a:ext cx="3776472" cy="30906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6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Region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Avg. 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North America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Europe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Latin America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Middle East and Africa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East Asia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1525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South Asia &amp; Pacific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Rectangle 1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Region Spread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22" name="Rectangle 2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Oval 2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Growth Leader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26" name="Rectangle 2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Oval 2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Mix Exposure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Range = lowest to highest equipment type price in each region; ranked by average price. Other geographies grouped as 'Other' are excluded from the ranking.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62494" y="3375398"/>
            <a:ext cx="355774" cy="517489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80" y="1110615"/>
            <a:ext cx="3985393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North America is the most premium Global region at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49334" y="1099058"/>
            <a:ext cx="152098" cy="221234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547284" y="1110615"/>
            <a:ext cx="1209005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/Units in 2026,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08750" y="1099058"/>
            <a:ext cx="152098" cy="221234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906700" y="1110615"/>
            <a:ext cx="5071119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above the global average, while South Asia &amp; Pacific is the lowest priced.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11480" y="1831467"/>
            <a:ext cx="4908851" cy="1434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Bar spans the lowest to highest equipment type price in each region, read on the price index axis (Global average =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262121" y="1824212"/>
            <a:ext cx="95470" cy="138866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386373" y="1831467"/>
            <a:ext cx="1958578" cy="1434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). Teal = above Global average, blue = below.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06576" y="5530976"/>
            <a:ext cx="277832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Average prices across the ranked regions differ by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31850" y="5521642"/>
            <a:ext cx="122849" cy="178689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691732" y="5530976"/>
            <a:ext cx="17699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6576" y="5690996"/>
            <a:ext cx="91953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2026, from US$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060" y="5681662"/>
            <a:ext cx="122849" cy="178689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832943" y="5690996"/>
            <a:ext cx="203217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 in South Asia &amp; Pacific to US$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721" y="5841682"/>
            <a:ext cx="122849" cy="178689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3604" y="5851016"/>
            <a:ext cx="140188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/Units in North America.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732401" y="5530976"/>
            <a:ext cx="3098192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North America records the fastest average price growth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4732401" y="5690996"/>
            <a:ext cx="278829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at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958179" y="5681662"/>
            <a:ext cx="122849" cy="178689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5118062" y="5690996"/>
            <a:ext cx="2178529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CAGR between 2026 and 2036, against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3541" y="5681662"/>
            <a:ext cx="122849" cy="178689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403423" y="5690996"/>
            <a:ext cx="23377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for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4732401" y="5851016"/>
            <a:ext cx="106278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Global as a whole.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658225" y="5530976"/>
            <a:ext cx="314325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Latin America shows the widest gap between its cheapest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658225" y="5690996"/>
            <a:ext cx="219052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and most expensive equipment type at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95701" y="5681662"/>
            <a:ext cx="122849" cy="178689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0955583" y="5690996"/>
            <a:ext cx="72081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so product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658225" y="5851016"/>
            <a:ext cx="239315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mix shifts move its average price the most.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2821" y="3129375"/>
            <a:ext cx="482444" cy="701737"/>
          </a:xfrm>
          <a:prstGeom prst="rect">
            <a:avLst/>
          </a:prstGeom>
        </p:spPr>
      </p:pic>
      <p:sp>
        <p:nvSpPr>
          <p:cNvPr id="62" name="lockshield_13"/>
          <p:cNvSpPr/>
          <p:nvPr/>
        </p:nvSpPr>
        <p:spPr>
          <a:xfrm>
            <a:off x="347472" y="2014347"/>
            <a:ext cx="7406640" cy="301752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region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(US$/Units).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1,581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2,626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3,671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4,715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5,760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6,805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203404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5129198" y="2100912"/>
            <a:ext cx="1797858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Oval 26"/>
          <p:cNvSpPr/>
          <p:nvPr/>
        </p:nvSpPr>
        <p:spPr>
          <a:xfrm>
            <a:off x="6007360" y="222721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38125" y="2927314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Latin America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58795" y="2824823"/>
            <a:ext cx="1382021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3993291" y="295112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" y="3651224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32" name="Rectangle 31"/>
          <p:cNvSpPr/>
          <p:nvPr/>
        </p:nvSpPr>
        <p:spPr>
          <a:xfrm>
            <a:off x="4525331" y="3548733"/>
            <a:ext cx="1671667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5287551" y="367503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238125" y="4375135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East Asia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2413074" y="4272643"/>
            <a:ext cx="1007932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2820598" y="439894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38125" y="5099045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8" name="Rectangle 37"/>
          <p:cNvSpPr/>
          <p:nvPr/>
        </p:nvSpPr>
        <p:spPr>
          <a:xfrm>
            <a:off x="2045494" y="4996553"/>
            <a:ext cx="814506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2387558" y="512285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38125" y="5822955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Middle East and Africa</a:t>
            </a:r>
          </a:p>
        </p:txBody>
      </p:sp>
      <p:sp>
        <p:nvSpPr>
          <p:cNvPr id="41" name="Rectangle 40"/>
          <p:cNvSpPr/>
          <p:nvPr/>
        </p:nvSpPr>
        <p:spPr>
          <a:xfrm>
            <a:off x="3284313" y="5720463"/>
            <a:ext cx="1322064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3867655" y="584676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1" name="Rounded Rectangle 50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1736673"/>
            <a:ext cx="35582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Printing and converting equipment segment is expected to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1911934"/>
            <a:ext cx="26272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command the highest average price of US$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25004" y="190171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800113" y="1911934"/>
            <a:ext cx="7066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in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2087194"/>
            <a:ext cx="33853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2036. Average selling price of corrugated box packaging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2262454"/>
            <a:ext cx="1902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equipment is estimated at US$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00459" y="2252230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075568" y="2262454"/>
            <a:ext cx="14166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in 2025 and is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048625" y="2437714"/>
            <a:ext cx="1764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projected to increase to US$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62396" y="2427490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937506" y="2437714"/>
            <a:ext cx="110568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 Unit by 2036.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048625" y="2665551"/>
            <a:ext cx="37830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North America is the highest-priced region, while South Asia &amp;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048625" y="2840811"/>
            <a:ext cx="37873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Pacific is the most price-competitive market. The orange dot is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048625" y="3016071"/>
            <a:ext cx="35175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region's average selling price; the blue band is its full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048625" y="3191331"/>
            <a:ext cx="33183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low-to-high price range, all derived as Value ÷ Volume.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048625" y="3419169"/>
            <a:ext cx="36917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Narrow bands point to commoditised, price-led competition;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048625" y="3594429"/>
            <a:ext cx="381217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048625" y="3769689"/>
            <a:ext cx="5582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Corrugated Box Packaging Equipment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69342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6743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3" name="Freeform 12"/>
          <p:cNvSpPr/>
          <p:nvPr/>
        </p:nvSpPr>
        <p:spPr>
          <a:xfrm>
            <a:off x="3248025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Freeform 13"/>
          <p:cNvSpPr/>
          <p:nvPr/>
        </p:nvSpPr>
        <p:spPr>
          <a:xfrm>
            <a:off x="2895600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reeform 14"/>
          <p:cNvSpPr/>
          <p:nvPr/>
        </p:nvSpPr>
        <p:spPr>
          <a:xfrm>
            <a:off x="2533650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Freeform 15"/>
          <p:cNvSpPr/>
          <p:nvPr/>
        </p:nvSpPr>
        <p:spPr>
          <a:xfrm>
            <a:off x="2171700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reeform 16"/>
          <p:cNvSpPr/>
          <p:nvPr/>
        </p:nvSpPr>
        <p:spPr>
          <a:xfrm>
            <a:off x="1819275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8" name="Connector 17"/>
          <p:cNvCxnSpPr/>
          <p:nvPr/>
        </p:nvCxnSpPr>
        <p:spPr>
          <a:xfrm flipV="1">
            <a:off x="3609975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V="1">
            <a:off x="3609975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09975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3609975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09975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09975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>
            <a:off x="2501189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1815922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 flipV="1">
            <a:off x="1815922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2501189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2447925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3576638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4352787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4742772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922177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4519105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Oval 33"/>
          <p:cNvSpPr/>
          <p:nvPr/>
        </p:nvSpPr>
        <p:spPr>
          <a:xfrm>
            <a:off x="3576638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2911366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2589908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2410503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Oval 37"/>
          <p:cNvSpPr/>
          <p:nvPr/>
        </p:nvSpPr>
        <p:spPr>
          <a:xfrm>
            <a:off x="3077684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3638550" y="3634709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3638550" y="3257434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38550" y="2880158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38550" y="2502882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38550" y="2125606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52750" y="1839856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4184706" y="224014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4946097" y="3288108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4946097" y="458346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4184706" y="5631427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2952750" y="6031714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1720794" y="5631427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959403" y="458346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959403" y="3288108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720794" y="224014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4" name="Rounded Rectangle 53"/>
          <p:cNvSpPr/>
          <p:nvPr/>
        </p:nvSpPr>
        <p:spPr>
          <a:xfrm>
            <a:off x="7153275" y="1354081"/>
            <a:ext cx="489585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7286625" y="1439806"/>
            <a:ext cx="4629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6" name="Rectangle 55"/>
          <p:cNvSpPr/>
          <p:nvPr/>
        </p:nvSpPr>
        <p:spPr>
          <a:xfrm>
            <a:off x="7286625" y="1677931"/>
            <a:ext cx="4629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7286625" y="1763656"/>
            <a:ext cx="4629150" cy="2993668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Corrugated Box Packaging Equipment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Corrugated Box Packaging Equipment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7153275" y="4943046"/>
            <a:ext cx="489585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7286625" y="5028771"/>
            <a:ext cx="4629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7286625" y="5266896"/>
            <a:ext cx="4629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7286625" y="5352621"/>
            <a:ext cx="4629150" cy="1200579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241146" y="1898910"/>
            <a:ext cx="6598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49027" y="1889132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267058" y="2322667"/>
            <a:ext cx="1115044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23363" y="2315626"/>
            <a:ext cx="92663" cy="134782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5035718" y="3370632"/>
            <a:ext cx="110050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7486" y="3363591"/>
            <a:ext cx="92663" cy="134782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024921" y="4662634"/>
            <a:ext cx="1115939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3091" y="4655202"/>
            <a:ext cx="97811" cy="142270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4232042" y="5653601"/>
            <a:ext cx="123853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0363" y="5767261"/>
            <a:ext cx="92663" cy="134782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049408" y="6110885"/>
            <a:ext cx="108027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1911" y="6103453"/>
            <a:ext cx="97811" cy="14227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859088" y="5653601"/>
            <a:ext cx="111406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213046" y="5774302"/>
            <a:ext cx="29524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9552" y="5767261"/>
            <a:ext cx="92663" cy="13478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049566" y="4605637"/>
            <a:ext cx="119571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5060" y="4719297"/>
            <a:ext cx="92663" cy="13478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32227" y="3370632"/>
            <a:ext cx="113410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588" y="3363591"/>
            <a:ext cx="92663" cy="13478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803098" y="2262317"/>
            <a:ext cx="120357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26451" y="2375977"/>
            <a:ext cx="92663" cy="13478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7286625" y="5362146"/>
            <a:ext cx="7408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5543" y="535236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143038" y="5362146"/>
            <a:ext cx="174414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286625" y="5580078"/>
            <a:ext cx="18513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86048" y="557029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9253544" y="5580078"/>
            <a:ext cx="15272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7286625" y="5798010"/>
            <a:ext cx="14783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13060" y="5788230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8880556" y="5798010"/>
            <a:ext cx="13302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286625" y="6015942"/>
            <a:ext cx="15253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59991" y="6006162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8927487" y="6015942"/>
            <a:ext cx="13302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286625" y="6233874"/>
            <a:ext cx="16000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34752" y="6224094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9002248" y="6233874"/>
            <a:ext cx="1387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7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8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13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81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2203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(US$/Units)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(US$/Units)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9252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786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19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19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19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47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and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(US$/Units)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299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59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75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75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175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175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753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and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2655" y="2566777"/>
            <a:ext cx="366712" cy="53340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17841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Global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region and sub-segment against the weighted average price of each region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equipment type type and region (US$/Units).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Equipment Type (US$/Units)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1" cy="24098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80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015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015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15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6015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6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06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06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6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6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6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and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909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3338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4196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577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743450"/>
            <a:ext cx="11639550" cy="17240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49787" y="263289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52975"/>
            <a:ext cx="46416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'North America'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67067" y="47427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042176" y="4752975"/>
            <a:ext cx="37046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US$/Units) and 'South Asia &amp; Pacific'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95960" y="47427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71069" y="4752975"/>
            <a:ext cx="7590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US$/Units).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80813"/>
            <a:ext cx="61121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equipment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7551" y="49705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512660" y="4980813"/>
            <a:ext cx="14551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08650"/>
            <a:ext cx="21408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66246" y="51984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41355" y="5208650"/>
            <a:ext cx="36270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436488"/>
            <a:ext cx="56917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Price Forecast &amp; Dynamics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equipment type type and the structural factors shaping it (US$/Units).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Equipment Type (US$/Units)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199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2594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2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712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712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712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712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7129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Equipment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5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Board Production E…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5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Printing and Converting Equip…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951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Finishing and Box Assembly Eq…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94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94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9014" y="2183449"/>
            <a:ext cx="366712" cy="53339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5231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equipment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06447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1556" y="3817595"/>
            <a:ext cx="3081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38821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413930" y="3817595"/>
            <a:ext cx="12868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US$/Units by 2036 a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34125" y="3992855"/>
            <a:ext cx="148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32218" y="398263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607327" y="399285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34125" y="4220692"/>
            <a:ext cx="51051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'Printing and Converting Equip…' shows the strongest forecast price appreciation (+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474" y="421046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1563583" y="4220692"/>
            <a:ext cx="1204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50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061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3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99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05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280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BOBST Group SA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BHS Corrugated Maschinen- und Anlagenbau GmbH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BW Papersystems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Fosber Group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Mitsubishi Heavy Industries Machinery Systems, Ltd.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8225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tIns="0" rIns="1905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7334682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Corrugated Box Packaging Equipment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Corrugated Box Packaging Equipment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08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69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697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697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6697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190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512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Corrugated Box Packaging Equipment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90167" cy="2905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94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78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60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51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0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008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0083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3679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(US$/Units)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BOBST Group SA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BHS Corrugated Maschinen- und Anlagenbau GmbH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BW Papersystems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Fosber Group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Colombia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Mitsubishi Heavy Industries Machinery Systems, Ltd.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Rest of 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EMBA Machinery AB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Koenig &amp; Bauer Celmacch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Göpfert Maschinen GmbH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62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SUN Automation Group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1529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4862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5720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8101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895850"/>
            <a:ext cx="11639550" cy="16573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00924" y="264356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Dynamics by Region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region of the global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1025515"/>
            <a:ext cx="85725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Region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262813"/>
            <a:ext cx="11906250" cy="255552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00025" y="1262813"/>
            <a:ext cx="14287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Region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262813"/>
            <a:ext cx="37147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262813"/>
            <a:ext cx="27622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262813"/>
            <a:ext cx="361950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518365"/>
            <a:ext cx="11906250" cy="70276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00025" y="1518365"/>
            <a:ext cx="1428750" cy="7027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545745"/>
            <a:ext cx="367665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5534025" y="1545745"/>
            <a:ext cx="272415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8391525" y="1545745"/>
            <a:ext cx="358140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42875" y="2221132"/>
            <a:ext cx="11906250" cy="70276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00025" y="2221132"/>
            <a:ext cx="1428750" cy="7027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2248513"/>
            <a:ext cx="367665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5534025" y="2248513"/>
            <a:ext cx="272415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391525" y="2248513"/>
            <a:ext cx="358140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6" name="Rectangle 25"/>
          <p:cNvSpPr/>
          <p:nvPr/>
        </p:nvSpPr>
        <p:spPr>
          <a:xfrm>
            <a:off x="142875" y="2923899"/>
            <a:ext cx="11906250" cy="70276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00025" y="2923899"/>
            <a:ext cx="1428750" cy="7027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951280"/>
            <a:ext cx="367665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5534025" y="2951280"/>
            <a:ext cx="272415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Competitive intensity at scale.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951280"/>
            <a:ext cx="3581400" cy="64800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142875" y="3626667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200025" y="3626667"/>
            <a:ext cx="1428750" cy="51110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724025" y="3654047"/>
            <a:ext cx="36766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5534025" y="3654047"/>
            <a:ext cx="27241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8391525" y="3654047"/>
            <a:ext cx="358140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142875" y="4137770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00025" y="4137770"/>
            <a:ext cx="1428750" cy="51110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24025" y="4165151"/>
            <a:ext cx="36766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5534025" y="4165151"/>
            <a:ext cx="27241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8391525" y="4165151"/>
            <a:ext cx="358140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142875" y="4648874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00025" y="4648874"/>
            <a:ext cx="1428750" cy="51110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Middle East and Africa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24025" y="4676254"/>
            <a:ext cx="36766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5534025" y="4676254"/>
            <a:ext cx="27241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8391525" y="4676254"/>
            <a:ext cx="358140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46" name="Connector 45"/>
          <p:cNvCxnSpPr/>
          <p:nvPr/>
        </p:nvCxnSpPr>
        <p:spPr>
          <a:xfrm>
            <a:off x="142875" y="5159977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TextBox 46"/>
          <p:cNvSpPr txBox="1"/>
          <p:nvPr/>
        </p:nvSpPr>
        <p:spPr>
          <a:xfrm>
            <a:off x="200025" y="5178231"/>
            <a:ext cx="381000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42875" y="5433783"/>
            <a:ext cx="11906250" cy="994827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276225" y="5470290"/>
            <a:ext cx="38100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50" name="Connector 49"/>
          <p:cNvCxnSpPr/>
          <p:nvPr/>
        </p:nvCxnSpPr>
        <p:spPr>
          <a:xfrm>
            <a:off x="276225" y="5707588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276225" y="5762349"/>
            <a:ext cx="1152525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752600" y="1702107"/>
            <a:ext cx="738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692329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606285" y="1702107"/>
            <a:ext cx="1556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692329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78252" y="1702107"/>
            <a:ext cx="9493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Printing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1869747"/>
            <a:ext cx="34764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Converting Equipment demand, Accelerating vs history.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562600" y="1702107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692329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6965262" y="1702107"/>
            <a:ext cx="6892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869747"/>
            <a:ext cx="7474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859969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425562" y="1869747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420100" y="1702107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Printing and Converting Equipment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8867" y="1692329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1006362" y="1702107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07831" y="1692329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11275327" y="1702107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420100" y="1869747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52600" y="2404876"/>
            <a:ext cx="738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39509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606285" y="2404876"/>
            <a:ext cx="16835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239509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05401" y="2404876"/>
            <a:ext cx="8753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Printing and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752600" y="2572516"/>
            <a:ext cx="32311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Converting Equipment demand, Accelerating vs history.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562600" y="2488696"/>
            <a:ext cx="11130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478917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91183" y="2488696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420100" y="2404876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Printing and Converting Equipment (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8867" y="2395097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1006362" y="2404876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07831" y="2395097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11275327" y="2404876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420100" y="2572516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752600" y="3107643"/>
            <a:ext cx="738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9786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606285" y="3107643"/>
            <a:ext cx="16835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97864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4405401" y="3107643"/>
            <a:ext cx="8753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Printing and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752600" y="3275283"/>
            <a:ext cx="32311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Converting Equipment demand, Accelerating vs history.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3107643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Printing and Converting Equipment (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8867" y="3097864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1006362" y="3107643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07831" y="3097864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11275327" y="3107643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8420100" y="3275283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714578"/>
            <a:ext cx="11343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704799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3002465" y="3714578"/>
            <a:ext cx="18475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Printing and Converting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752600" y="3882218"/>
            <a:ext cx="25782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 demand, Accelerating vs history.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562600" y="3798398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88619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965262" y="3798398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714578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Printing and Converting Equipment (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8867" y="3704799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1006362" y="3714578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07831" y="3704799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1275327" y="3714578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420100" y="3882218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4225682"/>
            <a:ext cx="12614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5903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3129614" y="4225682"/>
            <a:ext cx="21820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Printing and Converting Equipment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752600" y="4393322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562600" y="4309502"/>
            <a:ext cx="11130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9723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6791183" y="4309502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420100" y="4225682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Printing and Converting Equipment (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8867" y="4215903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1006362" y="4225682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07831" y="4215903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11275327" y="4225682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20100" y="4393322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736785"/>
            <a:ext cx="11343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4727006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3002465" y="4736785"/>
            <a:ext cx="18475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Printing and Converting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1752600" y="4904425"/>
            <a:ext cx="25782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 demand, Accelerating vs history.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62600" y="4820605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48108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6965262" y="4820605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420100" y="4736785"/>
            <a:ext cx="24707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Printing and Converting Equipment (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8867" y="4727006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11006362" y="4736785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07831" y="4727006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11275327" y="4736785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8420100" y="4904425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" y="5807511"/>
            <a:ext cx="4373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North America, Europe, South Asia &amp; Pacific anchor scale with a combined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6463" y="5797732"/>
            <a:ext cx="128699" cy="187198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4793959" y="5807511"/>
            <a:ext cx="46229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Global value in 2036, while 'South Asia &amp; Pacific' offers the steepest upside at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65009" y="5797732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9532505" y="5807511"/>
            <a:ext cx="18197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1332" y="5965372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458828" y="5975151"/>
            <a:ext cx="110088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3 of 6 regions grow at or above that pace, so entry logic has to differ by region scale defence in the leaders, mix and premiumisation in the mid-tier, and availability-led expansion in the fastest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04800" y="6142791"/>
            <a:ext cx="5326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Global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global market</a:t>
            </a:r>
          </a:p>
        </p:txBody>
      </p:sp>
      <p:sp>
        <p:nvSpPr>
          <p:cNvPr id="10" name="Oval 9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Oval 10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Oval 11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Oval 12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Oval 16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Oval 17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0" name="Connector 19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2438400" y="2650094"/>
            <a:ext cx="2324100" cy="3294792"/>
          </a:xfrm>
          <a:custGeom>
            <a:avLst/>
            <a:gdLst/>
            <a:ahLst/>
            <a:cxnLst/>
            <a:rect l="l" t="t" r="r" b="b"/>
            <a:pathLst>
              <a:path w="244" h="361">
                <a:moveTo>
                  <a:pt x="244" y="0"/>
                </a:moveTo>
                <a:lnTo>
                  <a:pt x="180" y="2"/>
                </a:lnTo>
                <a:lnTo>
                  <a:pt x="114" y="32"/>
                </a:lnTo>
                <a:lnTo>
                  <a:pt x="96" y="102"/>
                </a:lnTo>
                <a:lnTo>
                  <a:pt x="0" y="192"/>
                </a:lnTo>
                <a:lnTo>
                  <a:pt x="115" y="239"/>
                </a:lnTo>
                <a:lnTo>
                  <a:pt x="136" y="361"/>
                </a:lnTo>
                <a:lnTo>
                  <a:pt x="244" y="235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1" name="Oval 40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7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8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49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0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1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2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3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4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5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6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3 equipment type lines and 9 end-use routes, giving producers wide reformulation and channel latitude.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8326618" y="1496754"/>
            <a:ext cx="11752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Route Depth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49916" y="1486975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17411" y="1496754"/>
            <a:ext cx="11973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2810" y="148697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930306" y="1496754"/>
            <a:ext cx="8789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000625" y="1664394"/>
            <a:ext cx="24767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scored from the global dataset itself.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401990"/>
            <a:ext cx="25400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'North America' holds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8726" y="239221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7656222" y="2401990"/>
            <a:ext cx="1821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6 regions.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Global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global market</a:t>
            </a:r>
          </a:p>
        </p:txBody>
      </p:sp>
      <p:sp>
        <p:nvSpPr>
          <p:cNvPr id="10" name="Oval 9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Oval 10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Oval 11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Oval 12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Oval 16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Oval 17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0" name="Connector 19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7429500" y="2467557"/>
            <a:ext cx="1857375" cy="3605105"/>
          </a:xfrm>
          <a:custGeom>
            <a:avLst/>
            <a:gdLst/>
            <a:ahLst/>
            <a:cxnLst/>
            <a:rect l="l" t="t" r="r" b="b"/>
            <a:pathLst>
              <a:path w="195" h="395">
                <a:moveTo>
                  <a:pt x="0" y="32"/>
                </a:moveTo>
                <a:lnTo>
                  <a:pt x="65" y="21"/>
                </a:lnTo>
                <a:lnTo>
                  <a:pt x="195" y="0"/>
                </a:lnTo>
                <a:lnTo>
                  <a:pt x="98" y="134"/>
                </a:lnTo>
                <a:lnTo>
                  <a:pt x="160" y="192"/>
                </a:lnTo>
                <a:lnTo>
                  <a:pt x="99" y="235"/>
                </a:lnTo>
                <a:lnTo>
                  <a:pt x="81" y="323"/>
                </a:lnTo>
                <a:lnTo>
                  <a:pt x="0" y="395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1" name="Oval 40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7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8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49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0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1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2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3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4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5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6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09550" y="1496754"/>
            <a:ext cx="29820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App. Breadth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9670" y="1486975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307166" y="1496754"/>
            <a:ext cx="14109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Consumer Reach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207" y="1486975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4833703" y="1496754"/>
            <a:ext cx="13632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Adoption Depth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44996" y="148697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312492" y="1496754"/>
            <a:ext cx="5916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9550" y="1664394"/>
            <a:ext cx="276406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global dataset itself.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09550" y="2226902"/>
            <a:ext cx="26276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'Printing and Converting Equipment' carries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206" y="2217123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952702" y="2226902"/>
            <a:ext cx="40614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equipment type demand while 'Printing and Converting Equipment'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9550" y="2767064"/>
            <a:ext cx="24767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'South Asia &amp; Pacific'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4349" y="2757285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801845" y="2767064"/>
            <a:ext cx="5315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469" y="275728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448965" y="2767064"/>
            <a:ext cx="3522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3 of 6 regions at or above pace.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09550" y="3139587"/>
            <a:ext cx="50863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9 end-use routes, led by 'Personal care and household products'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3901" y="312980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411397" y="3139587"/>
            <a:ext cx="15127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'Agriculture and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209550" y="3307227"/>
            <a:ext cx="19493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fresh produce' growing fastest at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6927" y="3297448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2274423" y="330722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global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Corrugated Board Production Equipment Lags the Category and Dilutes Blended Growth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7" name="Rectangle 16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3" name="Rectangle 22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Region Performance Caps the Blended Rate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4" name="Rectangle 33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0" name="Rectangle 39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ectangle 45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Concentration Risk Limits Pricing and Sourcing Flexibility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0500" y="1753513"/>
            <a:ext cx="32565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'Corrugated Board Production Equipment' grows at only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5079" y="1743734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3562575" y="1753513"/>
            <a:ext cx="15795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0222" y="1743734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5257717" y="1753513"/>
            <a:ext cx="2841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 -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89882" y="1743734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657378" y="1753513"/>
            <a:ext cx="32246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gap, and 'Corrugated Board Production Equipment'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1921153"/>
            <a:ext cx="6912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surrenders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759" y="1911374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97254" y="1921153"/>
            <a:ext cx="79801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equipment type share between 2026 and 2036. Because these lines still carry meaningful volume, the drag is absorbed by the whole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2088793"/>
            <a:ext cx="92000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category: blended growth sits below what the leading lines achieve on their own. Rationalising or repositioning the lagging end of a 3-line portfolio is therefore a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90500" y="2256433"/>
            <a:ext cx="27828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precondition for realising the headline forecast.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3498419"/>
            <a:ext cx="17315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'North America' grows at just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0142" y="3488640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2037637" y="3498419"/>
            <a:ext cx="469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55597" y="348864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623093" y="3498419"/>
            <a:ext cx="66169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3 of 6 regions sit below the market pace altogether. Demand is therefore not uniformly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3666059"/>
            <a:ext cx="86180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regions out of returns earned in the fast ones. With 'North America'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56642" y="365628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8924138" y="3666059"/>
            <a:ext cx="5640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3833699"/>
            <a:ext cx="51703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shortfall in a single leading region is difficult to offset elsewhere in the forecast window.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90500" y="5342043"/>
            <a:ext cx="33375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concentrated: 'North America' accounts for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6146" y="533226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643642" y="5342043"/>
            <a:ext cx="3132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the leading equipment type line for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23831" y="533226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891327" y="5342043"/>
            <a:ext cx="24450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its segment. Average realisation moves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5499904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344528" y="5509683"/>
            <a:ext cx="91247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6 regions. The practical constraint is the same in either case commercial terms set for the market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90500" y="5677323"/>
            <a:ext cx="61918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global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U.S. Carries the Largest Absolute Opportunity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7" name="Rectangle 16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3" name="Rectangle 22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Saudi Arabia Offers Under-penetrated, Above-pace Headroom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4" name="Rectangle 33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0" name="Rectangle 39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ectangle 45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Agriculture and fresh produce Opens the Fastest Route to Market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0500" y="1746064"/>
            <a:ext cx="6620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'U.S.' adds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563" y="173628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68059" y="1746064"/>
            <a:ext cx="84330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 execution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90500" y="1913704"/>
            <a:ext cx="37692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rather than market creation: demand already exists and grows at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7797" y="1903925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4075293" y="1913704"/>
            <a:ext cx="54025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 converts the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1344"/>
            <a:ext cx="11752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of the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3797" y="2071565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481293" y="2081344"/>
            <a:ext cx="33064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90500" y="3498419"/>
            <a:ext cx="16917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'Saudi Arabia' compounds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0305" y="3488640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997801" y="3498419"/>
            <a:ext cx="73152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8 geographies in the dataset combining above-median growth with below-median size.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3666059"/>
            <a:ext cx="50461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That profile is where share is cheapest to buy: competitive intensity is lower than in the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4742" y="3656280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352238" y="3666059"/>
            <a:ext cx="20759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-share leaders, while growth runs +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6219" y="365628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7543715" y="3666059"/>
            <a:ext cx="18251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250774"/>
            <a:ext cx="2357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'Agriculture and fresh produce' grows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6336" y="5240995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663832" y="5250774"/>
            <a:ext cx="27831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9 end-use routes, and adds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95027" y="5240995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562522" y="5250774"/>
            <a:ext cx="33446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'Personal care and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418414"/>
            <a:ext cx="18808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household products' still carries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9391" y="540863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186887" y="5418414"/>
            <a:ext cx="69959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demand today. Pairing the incumbent route for volume with the fastest route for growth and leading with 'Printing and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90500" y="5586054"/>
            <a:ext cx="15274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Converting Equipment' at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019" y="557627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833515" y="5586054"/>
            <a:ext cx="31375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 highest-yield combination the dataset supports.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Corrugated Box Packaging Equipment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global market, by year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2025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7" name="Rectangle 16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2035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9" name="Rectangle 28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43075" y="1797939"/>
            <a:ext cx="351658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Global value rose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07711" y="17881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375207" y="1797939"/>
            <a:ext cx="9359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9214" y="1788160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6426710" y="1797939"/>
            <a:ext cx="52371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'Printing 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43075" y="1965579"/>
            <a:ext cx="13820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Converting Equipment'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3164" y="1955800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3240660" y="1965579"/>
            <a:ext cx="69948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equipment type value by 2036 set the pace, and the 9 end-use routes tracked here all carried volume through the year.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743075" y="2945502"/>
            <a:ext cx="334046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global market is estimated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0621" y="2936114"/>
            <a:ext cx="123551" cy="179710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5191417" y="2945502"/>
            <a:ext cx="182568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4179" y="2936114"/>
            <a:ext cx="123551" cy="17971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124975" y="2945502"/>
            <a:ext cx="231078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'North America'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2846" y="2936114"/>
            <a:ext cx="123551" cy="179710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43642" y="2945502"/>
            <a:ext cx="189666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6 regions, and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43075" y="3106436"/>
            <a:ext cx="432115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7 segment breakdowns covering 3 equipment type lines.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5993405" y="3931201"/>
            <a:ext cx="431432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'Printing and Converting Equipment'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54807" y="3921813"/>
            <a:ext cx="123551" cy="179710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15603" y="3931201"/>
            <a:ext cx="115798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'South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743075" y="4092135"/>
            <a:ext cx="181022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Asia &amp; Pacific' among regions at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0382" y="4082747"/>
            <a:ext cx="123551" cy="179710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1178" y="4092135"/>
            <a:ext cx="317806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3 of 6 regions running at or above the market rate.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379477" y="4916901"/>
            <a:ext cx="184506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US$/Units, and mix has moved +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71623" y="4907513"/>
            <a:ext cx="123551" cy="17971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9332419" y="4916901"/>
            <a:ext cx="205330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'Printing and Converting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743075" y="5077835"/>
            <a:ext cx="382499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Equipment' while 'Corrugated Board Production Equipment' gives up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15148" y="5068447"/>
            <a:ext cx="123551" cy="179710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5675944" y="5077835"/>
            <a:ext cx="31403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743075" y="5902601"/>
            <a:ext cx="254414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global market reaches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4303" y="5893213"/>
            <a:ext cx="123551" cy="179710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395098" y="5902601"/>
            <a:ext cx="63569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7879" y="5893213"/>
            <a:ext cx="123551" cy="17971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138675" y="5902601"/>
            <a:ext cx="143775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3507" y="5893213"/>
            <a:ext cx="123551" cy="179710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6684303" y="5902601"/>
            <a:ext cx="179922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0610" y="5893213"/>
            <a:ext cx="123551" cy="17971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91406" y="5902601"/>
            <a:ext cx="167871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7204" y="5893213"/>
            <a:ext cx="123551" cy="179710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0378000" y="5902601"/>
            <a:ext cx="85467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Global Corrugated Box Packaging Equipment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1" name="Oval 10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3 equipment type lines, which caps supplier leverage in commodity grades.</a:t>
            </a:r>
          </a:p>
        </p:txBody>
      </p:sp>
      <p:sp>
        <p:nvSpPr>
          <p:cNvPr id="17" name="Oval 16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Freeform 17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reeform 18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Oval 20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628900" y="2796123"/>
            <a:ext cx="2171700" cy="11499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2628900" y="4037375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2628900" y="4721889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3 comparable equipment type lines compete for the same demand.</a:t>
            </a:r>
          </a:p>
        </p:txBody>
      </p:sp>
      <p:sp>
        <p:nvSpPr>
          <p:cNvPr id="26" name="Oval 25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Oval 26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Oval 27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Freeform 30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Freeform 31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5010150" y="2796123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010150" y="3663174"/>
            <a:ext cx="2171700" cy="96744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5010150" y="4721889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Oval 36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ounded Rectangle 37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ounded Rectangle 38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ounded Rectangle 39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391400" y="2796123"/>
            <a:ext cx="2171700" cy="13416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7391400" y="4229039"/>
            <a:ext cx="21717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7391400" y="4721889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5" name="Oval 44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Oval 47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Freeform 48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Oval 49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9772650" y="3663174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9772650" y="4347688"/>
            <a:ext cx="2171700" cy="96744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71450" y="1069470"/>
            <a:ext cx="98803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global dataset 3 equipment type lines, 9 end-use routes and 6 regions at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99803" y="1059691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0167299" y="1069470"/>
            <a:ext cx="430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848734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 'North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3016374"/>
            <a:ext cx="10710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America' supplies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293" y="3006595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462789" y="3016374"/>
            <a:ext cx="8445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76225" y="3184014"/>
            <a:ext cx="18420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6 regions, concentrating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351654"/>
            <a:ext cx="11736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upstream leverage.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657475" y="2952014"/>
            <a:ext cx="17463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3119654"/>
            <a:ext cx="20336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9 end-use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287294"/>
            <a:ext cx="20292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led by 'Personal care and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454934"/>
            <a:ext cx="13847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household products'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90322" y="344515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157818" y="3454934"/>
            <a:ext cx="4751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57475" y="3622574"/>
            <a:ext cx="11234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 buyers scale.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4082537"/>
            <a:ext cx="20620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4250177"/>
            <a:ext cx="4958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240398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3268868" y="4250177"/>
            <a:ext cx="13165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57475" y="4417817"/>
            <a:ext cx="6325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408038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3405566" y="441781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5038725" y="2932554"/>
            <a:ext cx="20753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3 equipment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3100194"/>
            <a:ext cx="17471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type lines compete inside 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267834"/>
            <a:ext cx="15575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segment; the leader holds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44287" y="325805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711783" y="326783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038725" y="3811617"/>
            <a:ext cx="19340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979257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'Printing and Converting Equipment'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4146897"/>
            <a:ext cx="1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76755" y="41371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344251" y="4146897"/>
            <a:ext cx="15575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'Corrugated Board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314537"/>
            <a:ext cx="15331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Production Equipment'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9974" y="43047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687469" y="431453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767051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3 of 6 regions grow at or above the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492491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5192753" y="4934691"/>
            <a:ext cx="16431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 share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38725" y="5102331"/>
            <a:ext cx="678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contested.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7419975" y="2964026"/>
            <a:ext cx="20219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'Corrugated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3131666"/>
            <a:ext cx="20745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Board Production Equipment' loses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06507" y="3289527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7574003" y="3299306"/>
            <a:ext cx="16865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share to 'Printing and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7419975" y="3466946"/>
            <a:ext cx="152555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Converting Equipment' (+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3584" y="3457167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9061080" y="3466946"/>
            <a:ext cx="3310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7419975" y="3634586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 substitution is visible inside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7419975" y="3802226"/>
            <a:ext cx="5373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4268895"/>
            <a:ext cx="155038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259507"/>
            <a:ext cx="123551" cy="17971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9078236" y="4268895"/>
            <a:ext cx="18123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259507"/>
            <a:ext cx="123551" cy="179710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7419975" y="4429829"/>
            <a:ext cx="136886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7419975" y="4767051"/>
            <a:ext cx="12543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757272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8789895" y="4767051"/>
            <a:ext cx="4232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7419975" y="4934691"/>
            <a:ext cx="19113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5102331"/>
            <a:ext cx="7187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9801225" y="2848734"/>
            <a:ext cx="19891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 The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3016374"/>
            <a:ext cx="10033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grows at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2626" y="300659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0920122" y="3016374"/>
            <a:ext cx="9405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87757" y="317423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9955253" y="3184014"/>
            <a:ext cx="16298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by 2036, attracting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801225" y="3351654"/>
            <a:ext cx="4134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entry.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708336"/>
            <a:ext cx="19714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6 regions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875976"/>
            <a:ext cx="14931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86619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11409890" y="3875976"/>
            <a:ext cx="2710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9801225" y="4043616"/>
            <a:ext cx="14985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496131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'North America'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663771"/>
            <a:ext cx="16955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'Printing and Converting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831411"/>
            <a:ext cx="8030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Equipment' (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52323" y="4821632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10719819" y="4831411"/>
            <a:ext cx="7577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9801225" y="4999051"/>
            <a:ext cx="17335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remains the principal barrier.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Corrugated Box Packaging Equipment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'Printing and Converting Equipment') to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4193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lift 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32333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'BOBST Group SA'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07144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2253" y="4465602"/>
            <a:ext cx="20327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7472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on 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Company Value Share (Global)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global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Key Company (US$ Mn, 2026)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  <a:p>
            <a:pPr algn="ctr"/>
            <a:endParaRPr/>
          </a:p>
        </p:txBody>
      </p:sp>
      <p:sp>
        <p:nvSpPr>
          <p:cNvPr id="15" name="Rounded Rectangle 14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934325" y="1773181"/>
            <a:ext cx="372973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BOBST Group SA accounted for the largest share of the global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948441"/>
            <a:ext cx="39077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box packaging equipment market in 2026. The global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2123701"/>
            <a:ext cx="3940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corrugated box packaging equipment market is fragmented, with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934325" y="2298961"/>
            <a:ext cx="30280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top three players accounting for an estimated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11486" y="2288737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1086595" y="2298961"/>
            <a:ext cx="5582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of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934325" y="2474221"/>
            <a:ext cx="12437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market in 2026.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934325" y="2702058"/>
            <a:ext cx="27336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BOBST Group SA accounted for an estimated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17104" y="2691835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0792213" y="2702058"/>
            <a:ext cx="7899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of the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934325" y="2877318"/>
            <a:ext cx="21585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market, followed by Company with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2032" y="286709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217141" y="2877318"/>
            <a:ext cx="15774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 Key players are focusing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934325" y="3052578"/>
            <a:ext cx="35682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on product innovation, geographic expansion and strategic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3227838"/>
            <a:ext cx="29937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partnerships to strengthen their market position.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3455676"/>
            <a:ext cx="36478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Regional share differs from the global picture use the region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934325" y="3630936"/>
            <a:ext cx="34447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1" name="lockshield_13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equipment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Printing and Converting Equipment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Corrugated Board Production Equipment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Finishing and Box Assembly Equipment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8025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Printing and Converting Equipment: 'BOBST Group SA'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6780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4194276" y="5022340"/>
            <a:ext cx="18958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'BW Papersystems'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38149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205645" y="5022340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82285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649781" y="5022340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37608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305104" y="502234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613565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Corrugated Board Production Equipment: 'BHS Corrugated Maschinen- und Anlagenbau GmbH'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59934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527430" y="5240272"/>
            <a:ext cx="14142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'Company'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889745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57241" y="5240272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3881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1377" y="5240272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989205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1156700" y="524027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40194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Finishing and Box Assembly Equipment: 'BOBST Group SA'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3697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4411193" y="5458204"/>
            <a:ext cx="14142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'Company'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73509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941004" y="5458204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17645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385140" y="5458204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72968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040464" y="545820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Company Share by Region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26393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North America: 'BOBST Group SA'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63644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031139" y="5022340"/>
            <a:ext cx="14142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'Company'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393455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560951" y="5022340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37591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005087" y="5022340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92914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660410" y="502234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22126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Europe: 'BOBST Group SA'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436904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604400" y="5240272"/>
            <a:ext cx="18958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'BW Papersystems'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448273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4615769" y="5240272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92409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6059905" y="5240272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47732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715228" y="524027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49315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South Asia &amp; Pacific: 'BHS Corrugated Maschinen- und Anlagenbau GmbH'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55870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323365" y="5458204"/>
            <a:ext cx="14142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'Company'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685681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6853177" y="5458204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29817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8297313" y="5458204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85140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952636" y="545820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92871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Corrugated Box Packaging Equipment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BOBST Group SA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Company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BW Papersystems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Fosber Group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BOBST Group SA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BOBST Group SA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BOBST Group SA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BOBST Group SA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BOBST Group SA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BOBST Group SA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BOBST Group SA: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28197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BOBST Group SA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45151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220260" y="5204877"/>
            <a:ext cx="56115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'Retail-ready and point-of-sale packaging'.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735844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'North America' is the largest SOM region; 'Rest of the World'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83825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758935" y="543271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BOBST Group SA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BOBST Group SA: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BOBST Group SA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663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the World'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BOBST Group SA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BOBST Group SA: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BOBST Group SA: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'North America'.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the World',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'Printing and Converting Equipment'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BOBST Group SA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BOBST Group SA's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BOBST Group SA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BOBST Group SA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BOBST Group SA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54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54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5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054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54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BOBST Group SA Pricing Analysis (US$/Units)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1" cy="477208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2228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32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32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08653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Printing and Converting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08653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Corrugated Board Production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08653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Finishing and Box Assembly Equipment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9667" y="385366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BOBST Group SA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BOBST Group SA's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BOBST Group SA: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6197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'Retail-ready and point-of-sale packaging' BOBST Group SA's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7665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strongest 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2944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the World'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9813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94922" y="3309524"/>
            <a:ext cx="20190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000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'Printing and Converting Equipment' and adjacent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23473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high-value 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6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'North America'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Corrugated Box Packaging Equipment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BOBST Group SA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BOBST Group SA, Company, BW Papersystems.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985734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0F2D52"/>
                </a:solidFill>
                <a:latin typeface="Calibri"/>
              </a:rPr>
              <a:t>Personal care and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705350" y="1452448"/>
            <a:ext cx="1124037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1">
                <a:solidFill>
                  <a:srgbClr val="0F2D52"/>
                </a:solidFill>
                <a:latin typeface="Calibri"/>
              </a:rPr>
              <a:t>household products,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74528" y="1443842"/>
            <a:ext cx="113255" cy="164734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7 sub-segments tracked; no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4.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333875"/>
            <a:ext cx="52578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'Printing and Converting Equipment' is the largest line; 'Printing and Converting Equipment'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BOBST Group SA, Company, BHS Corrugated Maschinen- und Anlagenbau GmbH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BW Papersystems, Fosber Group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9716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 dirty="0">
                <a:solidFill>
                  <a:srgbClr val="1F2933"/>
                </a:solidFill>
                <a:latin typeface="Calibri"/>
              </a:rPr>
              <a:t>Mitsubishi Heavy Industries Machinery Systems, Ltd., </a:t>
            </a:r>
            <a:r>
              <a:rPr lang="en-IN" sz="1100" b="0" dirty="0">
                <a:solidFill>
                  <a:srgbClr val="1F2933"/>
                </a:solidFill>
                <a:latin typeface="Calibri"/>
              </a:rPr>
              <a:t>EMBA Machinery AB</a:t>
            </a:r>
            <a:endParaRPr sz="1100" b="0" dirty="0">
              <a:solidFill>
                <a:srgbClr val="1F2933"/>
              </a:solidFill>
              <a:latin typeface="Calibri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067050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Printing and Converting Equipment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346121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Corrugated Board Production Equipment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5625193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Finishing and Box Assembly Equipment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904264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Personal care and household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183336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462407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Processed food and beverages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0741479" y="2114550"/>
            <a:ext cx="1240971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Electrical and electronics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85750" y="26289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27908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0" name="Oval 39"/>
          <p:cNvSpPr/>
          <p:nvPr/>
        </p:nvSpPr>
        <p:spPr>
          <a:xfrm>
            <a:off x="3611336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Freeform 40"/>
          <p:cNvSpPr/>
          <p:nvPr/>
        </p:nvSpPr>
        <p:spPr>
          <a:xfrm>
            <a:off x="36861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4890407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6169479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Oval 43"/>
          <p:cNvSpPr/>
          <p:nvPr/>
        </p:nvSpPr>
        <p:spPr>
          <a:xfrm>
            <a:off x="744855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8727621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Freeform 45"/>
          <p:cNvSpPr/>
          <p:nvPr/>
        </p:nvSpPr>
        <p:spPr>
          <a:xfrm>
            <a:off x="8801100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10006693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Oval 47"/>
          <p:cNvSpPr/>
          <p:nvPr/>
        </p:nvSpPr>
        <p:spPr>
          <a:xfrm>
            <a:off x="11285764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9" name="Connector 48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Rectangle 49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285750" y="29718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85750" y="31337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3" name="Oval 52"/>
          <p:cNvSpPr/>
          <p:nvPr/>
        </p:nvSpPr>
        <p:spPr>
          <a:xfrm>
            <a:off x="3611336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Freeform 53"/>
          <p:cNvSpPr/>
          <p:nvPr/>
        </p:nvSpPr>
        <p:spPr>
          <a:xfrm>
            <a:off x="36861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4890407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Freeform 55"/>
          <p:cNvSpPr/>
          <p:nvPr/>
        </p:nvSpPr>
        <p:spPr>
          <a:xfrm>
            <a:off x="49625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Oval 56"/>
          <p:cNvSpPr/>
          <p:nvPr/>
        </p:nvSpPr>
        <p:spPr>
          <a:xfrm>
            <a:off x="6169479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Oval 57"/>
          <p:cNvSpPr/>
          <p:nvPr/>
        </p:nvSpPr>
        <p:spPr>
          <a:xfrm>
            <a:off x="744855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reeform 58"/>
          <p:cNvSpPr/>
          <p:nvPr/>
        </p:nvSpPr>
        <p:spPr>
          <a:xfrm>
            <a:off x="752475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8727621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10006693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Oval 61"/>
          <p:cNvSpPr/>
          <p:nvPr/>
        </p:nvSpPr>
        <p:spPr>
          <a:xfrm>
            <a:off x="11285764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113633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285750" y="33147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4766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8" name="Oval 67"/>
          <p:cNvSpPr/>
          <p:nvPr/>
        </p:nvSpPr>
        <p:spPr>
          <a:xfrm>
            <a:off x="3611336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Oval 68"/>
          <p:cNvSpPr/>
          <p:nvPr/>
        </p:nvSpPr>
        <p:spPr>
          <a:xfrm>
            <a:off x="4890407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Oval 69"/>
          <p:cNvSpPr/>
          <p:nvPr/>
        </p:nvSpPr>
        <p:spPr>
          <a:xfrm>
            <a:off x="6169479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Freeform 70"/>
          <p:cNvSpPr/>
          <p:nvPr/>
        </p:nvSpPr>
        <p:spPr>
          <a:xfrm>
            <a:off x="6248400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Oval 71"/>
          <p:cNvSpPr/>
          <p:nvPr/>
        </p:nvSpPr>
        <p:spPr>
          <a:xfrm>
            <a:off x="744855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Oval 72"/>
          <p:cNvSpPr/>
          <p:nvPr/>
        </p:nvSpPr>
        <p:spPr>
          <a:xfrm>
            <a:off x="8727621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Oval 73"/>
          <p:cNvSpPr/>
          <p:nvPr/>
        </p:nvSpPr>
        <p:spPr>
          <a:xfrm>
            <a:off x="10006693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100869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Oval 75"/>
          <p:cNvSpPr/>
          <p:nvPr/>
        </p:nvSpPr>
        <p:spPr>
          <a:xfrm>
            <a:off x="11285764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reeform 76"/>
          <p:cNvSpPr/>
          <p:nvPr/>
        </p:nvSpPr>
        <p:spPr>
          <a:xfrm>
            <a:off x="113633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8" name="Connector 77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Rectangle 78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85750" y="36576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85750" y="38195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82" name="Oval 81"/>
          <p:cNvSpPr/>
          <p:nvPr/>
        </p:nvSpPr>
        <p:spPr>
          <a:xfrm>
            <a:off x="3611336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Oval 82"/>
          <p:cNvSpPr/>
          <p:nvPr/>
        </p:nvSpPr>
        <p:spPr>
          <a:xfrm>
            <a:off x="4890407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Freeform 83"/>
          <p:cNvSpPr/>
          <p:nvPr/>
        </p:nvSpPr>
        <p:spPr>
          <a:xfrm>
            <a:off x="49625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Oval 84"/>
          <p:cNvSpPr/>
          <p:nvPr/>
        </p:nvSpPr>
        <p:spPr>
          <a:xfrm>
            <a:off x="6169479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reeform 85"/>
          <p:cNvSpPr/>
          <p:nvPr/>
        </p:nvSpPr>
        <p:spPr>
          <a:xfrm>
            <a:off x="62484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Oval 86"/>
          <p:cNvSpPr/>
          <p:nvPr/>
        </p:nvSpPr>
        <p:spPr>
          <a:xfrm>
            <a:off x="744855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Freeform 87"/>
          <p:cNvSpPr/>
          <p:nvPr/>
        </p:nvSpPr>
        <p:spPr>
          <a:xfrm>
            <a:off x="752475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Oval 88"/>
          <p:cNvSpPr/>
          <p:nvPr/>
        </p:nvSpPr>
        <p:spPr>
          <a:xfrm>
            <a:off x="8727621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Freeform 89"/>
          <p:cNvSpPr/>
          <p:nvPr/>
        </p:nvSpPr>
        <p:spPr>
          <a:xfrm>
            <a:off x="88011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Oval 90"/>
          <p:cNvSpPr/>
          <p:nvPr/>
        </p:nvSpPr>
        <p:spPr>
          <a:xfrm>
            <a:off x="10006693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Oval 91"/>
          <p:cNvSpPr/>
          <p:nvPr/>
        </p:nvSpPr>
        <p:spPr>
          <a:xfrm>
            <a:off x="11285764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93" name="Connector 9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Rectangle 9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285750" y="40005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85750" y="41624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7" name="Oval 96"/>
          <p:cNvSpPr/>
          <p:nvPr/>
        </p:nvSpPr>
        <p:spPr>
          <a:xfrm>
            <a:off x="3611336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reeform 97"/>
          <p:cNvSpPr/>
          <p:nvPr/>
        </p:nvSpPr>
        <p:spPr>
          <a:xfrm>
            <a:off x="36861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Oval 98"/>
          <p:cNvSpPr/>
          <p:nvPr/>
        </p:nvSpPr>
        <p:spPr>
          <a:xfrm>
            <a:off x="4890407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Freeform 99"/>
          <p:cNvSpPr/>
          <p:nvPr/>
        </p:nvSpPr>
        <p:spPr>
          <a:xfrm>
            <a:off x="49625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Oval 100"/>
          <p:cNvSpPr/>
          <p:nvPr/>
        </p:nvSpPr>
        <p:spPr>
          <a:xfrm>
            <a:off x="6169479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Freeform 101"/>
          <p:cNvSpPr/>
          <p:nvPr/>
        </p:nvSpPr>
        <p:spPr>
          <a:xfrm>
            <a:off x="62484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Oval 102"/>
          <p:cNvSpPr/>
          <p:nvPr/>
        </p:nvSpPr>
        <p:spPr>
          <a:xfrm>
            <a:off x="744855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Freeform 103"/>
          <p:cNvSpPr/>
          <p:nvPr/>
        </p:nvSpPr>
        <p:spPr>
          <a:xfrm>
            <a:off x="752475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Oval 104"/>
          <p:cNvSpPr/>
          <p:nvPr/>
        </p:nvSpPr>
        <p:spPr>
          <a:xfrm>
            <a:off x="8727621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10006693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reeform 106"/>
          <p:cNvSpPr/>
          <p:nvPr/>
        </p:nvSpPr>
        <p:spPr>
          <a:xfrm>
            <a:off x="100869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Oval 107"/>
          <p:cNvSpPr/>
          <p:nvPr/>
        </p:nvSpPr>
        <p:spPr>
          <a:xfrm>
            <a:off x="11285764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09" name="Connector 108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Rectangle 109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285750" y="43434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85750" y="45053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13" name="Oval 112"/>
          <p:cNvSpPr/>
          <p:nvPr/>
        </p:nvSpPr>
        <p:spPr>
          <a:xfrm>
            <a:off x="3611336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Freeform 113"/>
          <p:cNvSpPr/>
          <p:nvPr/>
        </p:nvSpPr>
        <p:spPr>
          <a:xfrm>
            <a:off x="36861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Oval 114"/>
          <p:cNvSpPr/>
          <p:nvPr/>
        </p:nvSpPr>
        <p:spPr>
          <a:xfrm>
            <a:off x="4890407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Freeform 115"/>
          <p:cNvSpPr/>
          <p:nvPr/>
        </p:nvSpPr>
        <p:spPr>
          <a:xfrm>
            <a:off x="49625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Oval 116"/>
          <p:cNvSpPr/>
          <p:nvPr/>
        </p:nvSpPr>
        <p:spPr>
          <a:xfrm>
            <a:off x="6169479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Oval 117"/>
          <p:cNvSpPr/>
          <p:nvPr/>
        </p:nvSpPr>
        <p:spPr>
          <a:xfrm>
            <a:off x="744855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8727621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88011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Oval 120"/>
          <p:cNvSpPr/>
          <p:nvPr/>
        </p:nvSpPr>
        <p:spPr>
          <a:xfrm>
            <a:off x="10006693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Freeform 121"/>
          <p:cNvSpPr/>
          <p:nvPr/>
        </p:nvSpPr>
        <p:spPr>
          <a:xfrm>
            <a:off x="100869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Oval 122"/>
          <p:cNvSpPr/>
          <p:nvPr/>
        </p:nvSpPr>
        <p:spPr>
          <a:xfrm>
            <a:off x="11285764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24" name="Connector 123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Rectangle 124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285750" y="46863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85750" y="48482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8" name="Oval 127"/>
          <p:cNvSpPr/>
          <p:nvPr/>
        </p:nvSpPr>
        <p:spPr>
          <a:xfrm>
            <a:off x="3611336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36861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Oval 129"/>
          <p:cNvSpPr/>
          <p:nvPr/>
        </p:nvSpPr>
        <p:spPr>
          <a:xfrm>
            <a:off x="4890407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Oval 130"/>
          <p:cNvSpPr/>
          <p:nvPr/>
        </p:nvSpPr>
        <p:spPr>
          <a:xfrm>
            <a:off x="6169479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Freeform 131"/>
          <p:cNvSpPr/>
          <p:nvPr/>
        </p:nvSpPr>
        <p:spPr>
          <a:xfrm>
            <a:off x="62484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Oval 132"/>
          <p:cNvSpPr/>
          <p:nvPr/>
        </p:nvSpPr>
        <p:spPr>
          <a:xfrm>
            <a:off x="744855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752475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Oval 134"/>
          <p:cNvSpPr/>
          <p:nvPr/>
        </p:nvSpPr>
        <p:spPr>
          <a:xfrm>
            <a:off x="8727621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Freeform 135"/>
          <p:cNvSpPr/>
          <p:nvPr/>
        </p:nvSpPr>
        <p:spPr>
          <a:xfrm>
            <a:off x="88011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Oval 136"/>
          <p:cNvSpPr/>
          <p:nvPr/>
        </p:nvSpPr>
        <p:spPr>
          <a:xfrm>
            <a:off x="10006693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Oval 137"/>
          <p:cNvSpPr/>
          <p:nvPr/>
        </p:nvSpPr>
        <p:spPr>
          <a:xfrm>
            <a:off x="11285764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39" name="Connector 138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Rectangle 139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285750" y="50292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285750" y="51911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3" name="Oval 142"/>
          <p:cNvSpPr/>
          <p:nvPr/>
        </p:nvSpPr>
        <p:spPr>
          <a:xfrm>
            <a:off x="3611336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Oval 143"/>
          <p:cNvSpPr/>
          <p:nvPr/>
        </p:nvSpPr>
        <p:spPr>
          <a:xfrm>
            <a:off x="4890407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Freeform 144"/>
          <p:cNvSpPr/>
          <p:nvPr/>
        </p:nvSpPr>
        <p:spPr>
          <a:xfrm>
            <a:off x="49625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Oval 145"/>
          <p:cNvSpPr/>
          <p:nvPr/>
        </p:nvSpPr>
        <p:spPr>
          <a:xfrm>
            <a:off x="6169479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Freeform 146"/>
          <p:cNvSpPr/>
          <p:nvPr/>
        </p:nvSpPr>
        <p:spPr>
          <a:xfrm>
            <a:off x="62484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Oval 147"/>
          <p:cNvSpPr/>
          <p:nvPr/>
        </p:nvSpPr>
        <p:spPr>
          <a:xfrm>
            <a:off x="744855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Freeform 148"/>
          <p:cNvSpPr/>
          <p:nvPr/>
        </p:nvSpPr>
        <p:spPr>
          <a:xfrm>
            <a:off x="752475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Oval 149"/>
          <p:cNvSpPr/>
          <p:nvPr/>
        </p:nvSpPr>
        <p:spPr>
          <a:xfrm>
            <a:off x="8727621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Oval 150"/>
          <p:cNvSpPr/>
          <p:nvPr/>
        </p:nvSpPr>
        <p:spPr>
          <a:xfrm>
            <a:off x="10006693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Freeform 151"/>
          <p:cNvSpPr/>
          <p:nvPr/>
        </p:nvSpPr>
        <p:spPr>
          <a:xfrm>
            <a:off x="100869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Oval 152"/>
          <p:cNvSpPr/>
          <p:nvPr/>
        </p:nvSpPr>
        <p:spPr>
          <a:xfrm>
            <a:off x="11285764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54" name="Connector 153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Rectangle 154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TextBox 155"/>
          <p:cNvSpPr txBox="1"/>
          <p:nvPr/>
        </p:nvSpPr>
        <p:spPr>
          <a:xfrm>
            <a:off x="285750" y="53721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85750" y="55340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8" name="Oval 157"/>
          <p:cNvSpPr/>
          <p:nvPr/>
        </p:nvSpPr>
        <p:spPr>
          <a:xfrm>
            <a:off x="3611336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Freeform 158"/>
          <p:cNvSpPr/>
          <p:nvPr/>
        </p:nvSpPr>
        <p:spPr>
          <a:xfrm>
            <a:off x="36861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Oval 159"/>
          <p:cNvSpPr/>
          <p:nvPr/>
        </p:nvSpPr>
        <p:spPr>
          <a:xfrm>
            <a:off x="4890407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Freeform 160"/>
          <p:cNvSpPr/>
          <p:nvPr/>
        </p:nvSpPr>
        <p:spPr>
          <a:xfrm>
            <a:off x="49625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Oval 161"/>
          <p:cNvSpPr/>
          <p:nvPr/>
        </p:nvSpPr>
        <p:spPr>
          <a:xfrm>
            <a:off x="6169479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Freeform 162"/>
          <p:cNvSpPr/>
          <p:nvPr/>
        </p:nvSpPr>
        <p:spPr>
          <a:xfrm>
            <a:off x="62484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Oval 163"/>
          <p:cNvSpPr/>
          <p:nvPr/>
        </p:nvSpPr>
        <p:spPr>
          <a:xfrm>
            <a:off x="744855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Oval 164"/>
          <p:cNvSpPr/>
          <p:nvPr/>
        </p:nvSpPr>
        <p:spPr>
          <a:xfrm>
            <a:off x="8727621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Freeform 165"/>
          <p:cNvSpPr/>
          <p:nvPr/>
        </p:nvSpPr>
        <p:spPr>
          <a:xfrm>
            <a:off x="88011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Oval 166"/>
          <p:cNvSpPr/>
          <p:nvPr/>
        </p:nvSpPr>
        <p:spPr>
          <a:xfrm>
            <a:off x="10006693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Freeform 167"/>
          <p:cNvSpPr/>
          <p:nvPr/>
        </p:nvSpPr>
        <p:spPr>
          <a:xfrm>
            <a:off x="100869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Oval 168"/>
          <p:cNvSpPr/>
          <p:nvPr/>
        </p:nvSpPr>
        <p:spPr>
          <a:xfrm>
            <a:off x="11285764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70" name="Connector 169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1" name="Rectangle 170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TextBox 171"/>
          <p:cNvSpPr txBox="1"/>
          <p:nvPr/>
        </p:nvSpPr>
        <p:spPr>
          <a:xfrm>
            <a:off x="285750" y="57150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285750" y="58769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4" name="Oval 173"/>
          <p:cNvSpPr/>
          <p:nvPr/>
        </p:nvSpPr>
        <p:spPr>
          <a:xfrm>
            <a:off x="3611336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Freeform 174"/>
          <p:cNvSpPr/>
          <p:nvPr/>
        </p:nvSpPr>
        <p:spPr>
          <a:xfrm>
            <a:off x="36861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Oval 175"/>
          <p:cNvSpPr/>
          <p:nvPr/>
        </p:nvSpPr>
        <p:spPr>
          <a:xfrm>
            <a:off x="4890407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Freeform 176"/>
          <p:cNvSpPr/>
          <p:nvPr/>
        </p:nvSpPr>
        <p:spPr>
          <a:xfrm>
            <a:off x="49625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Oval 177"/>
          <p:cNvSpPr/>
          <p:nvPr/>
        </p:nvSpPr>
        <p:spPr>
          <a:xfrm>
            <a:off x="6169479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Oval 178"/>
          <p:cNvSpPr/>
          <p:nvPr/>
        </p:nvSpPr>
        <p:spPr>
          <a:xfrm>
            <a:off x="744855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Freeform 179"/>
          <p:cNvSpPr/>
          <p:nvPr/>
        </p:nvSpPr>
        <p:spPr>
          <a:xfrm>
            <a:off x="752475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Oval 180"/>
          <p:cNvSpPr/>
          <p:nvPr/>
        </p:nvSpPr>
        <p:spPr>
          <a:xfrm>
            <a:off x="8727621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Freeform 181"/>
          <p:cNvSpPr/>
          <p:nvPr/>
        </p:nvSpPr>
        <p:spPr>
          <a:xfrm>
            <a:off x="88011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Oval 182"/>
          <p:cNvSpPr/>
          <p:nvPr/>
        </p:nvSpPr>
        <p:spPr>
          <a:xfrm>
            <a:off x="10006693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Oval 183"/>
          <p:cNvSpPr/>
          <p:nvPr/>
        </p:nvSpPr>
        <p:spPr>
          <a:xfrm>
            <a:off x="11285764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9" name="TextBox 188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90" name="Rectangle 189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1" name="TextBox 190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'Printing and Converting Equipment' is the most contested column (8 players active); 'Electrical and electronics' is the most open (3).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197" name="TextBox 196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01" name="TextBox 200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02" name="Picture 2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Printing and Converting Equipment,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Corrugated Board Production Equipment,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Finishing and Box Assembly Equipment,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Printing and Converting Equipment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 dirty="0">
                <a:solidFill>
                  <a:srgbClr val="1F2933"/>
                </a:solidFill>
                <a:latin typeface="Calibri"/>
              </a:rPr>
              <a:t>●  BHS Corrugated Maschinen- und </a:t>
            </a:r>
            <a:r>
              <a:rPr sz="1100" b="1" dirty="0" err="1">
                <a:solidFill>
                  <a:srgbClr val="1F2933"/>
                </a:solidFill>
                <a:latin typeface="Calibri"/>
              </a:rPr>
              <a:t>Anlagenbau</a:t>
            </a:r>
            <a:r>
              <a:rPr sz="1100" b="1" dirty="0">
                <a:solidFill>
                  <a:srgbClr val="1F2933"/>
                </a:solidFill>
                <a:latin typeface="Calibri"/>
              </a:rPr>
              <a:t> GmbH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57434" y="315468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 dirty="0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45269" y="33337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 dirty="0">
                <a:solidFill>
                  <a:srgbClr val="1F2933"/>
                </a:solidFill>
                <a:latin typeface="Calibri"/>
              </a:rPr>
              <a:t>●  BOBST Group SA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38125" y="3501567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 dirty="0">
                <a:solidFill>
                  <a:srgbClr val="1F2933"/>
                </a:solidFill>
                <a:latin typeface="Calibri"/>
              </a:rPr>
              <a:t>●  </a:t>
            </a:r>
            <a:r>
              <a:rPr sz="1100" b="0" dirty="0" err="1">
                <a:solidFill>
                  <a:srgbClr val="1F2933"/>
                </a:solidFill>
                <a:latin typeface="Calibri"/>
              </a:rPr>
              <a:t>Fosber</a:t>
            </a:r>
            <a:r>
              <a:rPr sz="1100" b="0" dirty="0">
                <a:solidFill>
                  <a:srgbClr val="1F2933"/>
                </a:solidFill>
                <a:latin typeface="Calibri"/>
              </a:rPr>
              <a:t> Group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47649" y="3673746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 dirty="0">
                <a:solidFill>
                  <a:srgbClr val="1F2933"/>
                </a:solidFill>
                <a:latin typeface="Calibri"/>
              </a:rPr>
              <a:t>●  Mitsubishi Heavy Industries Machinery Systems, Ltd.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Corrugated Board Production Equipment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BOBST Group SA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986434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 dirty="0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BW Papersystems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Fosber Group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Mitsubishi Heavy Industries Machinery Systems, Ltd.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Finishing and Box Assembly Equipment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BOBST Group SA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BHS Corrugated Maschinen- und Anlagenbau GmbH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24907" y="3691707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 dirty="0">
                <a:solidFill>
                  <a:srgbClr val="1F2933"/>
                </a:solidFill>
                <a:latin typeface="Calibri"/>
              </a:rPr>
              <a:t>●  BW </a:t>
            </a:r>
            <a:r>
              <a:rPr sz="1100" b="0" dirty="0" err="1">
                <a:solidFill>
                  <a:srgbClr val="1F2933"/>
                </a:solidFill>
                <a:latin typeface="Calibri"/>
              </a:rPr>
              <a:t>Papersystems</a:t>
            </a:r>
            <a:endParaRPr sz="1100" b="0" dirty="0">
              <a:solidFill>
                <a:srgbClr val="1F2933"/>
              </a:solidFill>
              <a:latin typeface="Calibri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Fosber Group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EMBA Machinery AB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Personal care and household products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Pharmaceuticals and healthcare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675821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11396209" y="280987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Processed food and beverages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619877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11340265" y="313372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Electrical and electronics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48227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TextBox 101"/>
          <p:cNvSpPr txBox="1"/>
          <p:nvPr/>
        </p:nvSpPr>
        <p:spPr>
          <a:xfrm>
            <a:off x="11202662" y="345757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Other end uses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475011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11195399" y="378142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9329738" y="403860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 shipping and fulfillment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82288" y="4143375"/>
            <a:ext cx="473526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11193913" y="410527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9" name="Connector 108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TextBox 109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TextBox 113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Printing and Converting Equipment Compounds Fastest Across the Equipment Type Mix  |  South Asia &amp; Pacific Emerges as the Growth Engine Among Regions  |  Premiumisation Lifts Average Realisation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TextBox 117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Corrugated Board Production Equipment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53644" y="172567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9984" y="2811526"/>
            <a:ext cx="128699" cy="187198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14040" y="3135376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76437" y="3459226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69174" y="3783076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67688" y="4106926"/>
            <a:ext cx="128699" cy="187198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314325" y="4676775"/>
            <a:ext cx="23875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'Printing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14325" y="4844415"/>
            <a:ext cx="19271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and Converting Equipment'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9571" y="483463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2357067" y="4844415"/>
            <a:ext cx="301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14325" y="5012055"/>
            <a:ext cx="7880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Mn by 2036.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328987" y="4676775"/>
            <a:ext cx="25193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'Corrugated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328987" y="4844415"/>
            <a:ext cx="2058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Board Production Equipment' adds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35202" y="4834636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502698" y="4844415"/>
            <a:ext cx="301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328987" y="5012055"/>
            <a:ext cx="7880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Mn by 2036.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6343650" y="4676775"/>
            <a:ext cx="24437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'Finishing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343650" y="4844415"/>
            <a:ext cx="20879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and Box Assembly Equipment' adds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79606" y="4834636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6343650" y="5012055"/>
            <a:ext cx="104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11766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43736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511232" y="5876925"/>
            <a:ext cx="10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11766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4111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511607" y="5876925"/>
            <a:ext cx="10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11766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4486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511982" y="5876925"/>
            <a:ext cx="10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086100" y="1295400"/>
            <a:ext cx="20555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086100" y="1657350"/>
            <a:ext cx="205558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217886" y="129540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217886" y="1657350"/>
            <a:ext cx="1060752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6354838" y="1295400"/>
            <a:ext cx="8712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354838" y="1657350"/>
            <a:ext cx="87126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302298" y="1295400"/>
            <a:ext cx="8712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302298" y="1657350"/>
            <a:ext cx="87126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249759" y="1295400"/>
            <a:ext cx="8712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249759" y="1657350"/>
            <a:ext cx="87126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197219" y="1295400"/>
            <a:ext cx="8712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197219" y="1657350"/>
            <a:ext cx="87126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0144679" y="1295400"/>
            <a:ext cx="8712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144679" y="1657350"/>
            <a:ext cx="87126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092140" y="1295400"/>
            <a:ext cx="8712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092140" y="1657350"/>
            <a:ext cx="87126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3048000" y="22288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5217886" y="22288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714268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766172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86091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955664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106579" y="22288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11054040" y="22288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048000" y="25717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5217886" y="25717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714268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679132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Oval 47"/>
          <p:cNvSpPr/>
          <p:nvPr/>
        </p:nvSpPr>
        <p:spPr>
          <a:xfrm>
            <a:off x="766172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Oval 48"/>
          <p:cNvSpPr/>
          <p:nvPr/>
        </p:nvSpPr>
        <p:spPr>
          <a:xfrm>
            <a:off x="86091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Oval 49"/>
          <p:cNvSpPr/>
          <p:nvPr/>
        </p:nvSpPr>
        <p:spPr>
          <a:xfrm>
            <a:off x="955664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10106579" y="25717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1054040" y="25717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53" name="Connector 52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285750" y="29337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85750" y="30956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048000" y="29146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5217886" y="29146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9" name="Oval 58"/>
          <p:cNvSpPr/>
          <p:nvPr/>
        </p:nvSpPr>
        <p:spPr>
          <a:xfrm>
            <a:off x="671426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Freeform 59"/>
          <p:cNvSpPr/>
          <p:nvPr/>
        </p:nvSpPr>
        <p:spPr>
          <a:xfrm>
            <a:off x="679132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766172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Oval 61"/>
          <p:cNvSpPr/>
          <p:nvPr/>
        </p:nvSpPr>
        <p:spPr>
          <a:xfrm>
            <a:off x="86091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Oval 62"/>
          <p:cNvSpPr/>
          <p:nvPr/>
        </p:nvSpPr>
        <p:spPr>
          <a:xfrm>
            <a:off x="9556649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96297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10106579" y="29146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11054040" y="29146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67" name="Connector 66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Rectangle 67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285750" y="32766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5750" y="34385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3048000" y="32575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5217886" y="32575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3" name="Oval 72"/>
          <p:cNvSpPr/>
          <p:nvPr/>
        </p:nvSpPr>
        <p:spPr>
          <a:xfrm>
            <a:off x="6714268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67913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Oval 74"/>
          <p:cNvSpPr/>
          <p:nvPr/>
        </p:nvSpPr>
        <p:spPr>
          <a:xfrm>
            <a:off x="766172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Oval 75"/>
          <p:cNvSpPr/>
          <p:nvPr/>
        </p:nvSpPr>
        <p:spPr>
          <a:xfrm>
            <a:off x="86091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Oval 76"/>
          <p:cNvSpPr/>
          <p:nvPr/>
        </p:nvSpPr>
        <p:spPr>
          <a:xfrm>
            <a:off x="9556649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96297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10106579" y="32575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11054040" y="32575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81" name="Connector 80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Rectangle 81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285750" y="36195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85750" y="37814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048000" y="36004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5217886" y="36004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7" name="Oval 86"/>
          <p:cNvSpPr/>
          <p:nvPr/>
        </p:nvSpPr>
        <p:spPr>
          <a:xfrm>
            <a:off x="671426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Freeform 87"/>
          <p:cNvSpPr/>
          <p:nvPr/>
        </p:nvSpPr>
        <p:spPr>
          <a:xfrm>
            <a:off x="67913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Oval 88"/>
          <p:cNvSpPr/>
          <p:nvPr/>
        </p:nvSpPr>
        <p:spPr>
          <a:xfrm>
            <a:off x="7661729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Freeform 89"/>
          <p:cNvSpPr/>
          <p:nvPr/>
        </p:nvSpPr>
        <p:spPr>
          <a:xfrm>
            <a:off x="77343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Oval 90"/>
          <p:cNvSpPr/>
          <p:nvPr/>
        </p:nvSpPr>
        <p:spPr>
          <a:xfrm>
            <a:off x="8609189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Freeform 91"/>
          <p:cNvSpPr/>
          <p:nvPr/>
        </p:nvSpPr>
        <p:spPr>
          <a:xfrm>
            <a:off x="86868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Oval 92"/>
          <p:cNvSpPr/>
          <p:nvPr/>
        </p:nvSpPr>
        <p:spPr>
          <a:xfrm>
            <a:off x="9556649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Freeform 93"/>
          <p:cNvSpPr/>
          <p:nvPr/>
        </p:nvSpPr>
        <p:spPr>
          <a:xfrm>
            <a:off x="96297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10106579" y="36004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11054040" y="36004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97" name="Connector 96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285750" y="39624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1243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048000" y="39433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2" name="TextBox 101"/>
          <p:cNvSpPr txBox="1"/>
          <p:nvPr/>
        </p:nvSpPr>
        <p:spPr>
          <a:xfrm>
            <a:off x="5217886" y="39433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3" name="Oval 102"/>
          <p:cNvSpPr/>
          <p:nvPr/>
        </p:nvSpPr>
        <p:spPr>
          <a:xfrm>
            <a:off x="6714268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Freeform 103"/>
          <p:cNvSpPr/>
          <p:nvPr/>
        </p:nvSpPr>
        <p:spPr>
          <a:xfrm>
            <a:off x="67913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Oval 104"/>
          <p:cNvSpPr/>
          <p:nvPr/>
        </p:nvSpPr>
        <p:spPr>
          <a:xfrm>
            <a:off x="7661729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Freeform 105"/>
          <p:cNvSpPr/>
          <p:nvPr/>
        </p:nvSpPr>
        <p:spPr>
          <a:xfrm>
            <a:off x="77343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Oval 106"/>
          <p:cNvSpPr/>
          <p:nvPr/>
        </p:nvSpPr>
        <p:spPr>
          <a:xfrm>
            <a:off x="8609189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86868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Oval 108"/>
          <p:cNvSpPr/>
          <p:nvPr/>
        </p:nvSpPr>
        <p:spPr>
          <a:xfrm>
            <a:off x="9556649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Freeform 109"/>
          <p:cNvSpPr/>
          <p:nvPr/>
        </p:nvSpPr>
        <p:spPr>
          <a:xfrm>
            <a:off x="96297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10106579" y="39433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11054040" y="39433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13" name="Connector 112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Rectangle 113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285750" y="43053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5750" y="44672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048000" y="42862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8" name="TextBox 117"/>
          <p:cNvSpPr txBox="1"/>
          <p:nvPr/>
        </p:nvSpPr>
        <p:spPr>
          <a:xfrm>
            <a:off x="5217886" y="42862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9" name="Oval 118"/>
          <p:cNvSpPr/>
          <p:nvPr/>
        </p:nvSpPr>
        <p:spPr>
          <a:xfrm>
            <a:off x="671426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67913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Oval 120"/>
          <p:cNvSpPr/>
          <p:nvPr/>
        </p:nvSpPr>
        <p:spPr>
          <a:xfrm>
            <a:off x="7661729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Freeform 121"/>
          <p:cNvSpPr/>
          <p:nvPr/>
        </p:nvSpPr>
        <p:spPr>
          <a:xfrm>
            <a:off x="77343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Oval 122"/>
          <p:cNvSpPr/>
          <p:nvPr/>
        </p:nvSpPr>
        <p:spPr>
          <a:xfrm>
            <a:off x="8609189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Freeform 123"/>
          <p:cNvSpPr/>
          <p:nvPr/>
        </p:nvSpPr>
        <p:spPr>
          <a:xfrm>
            <a:off x="86868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Oval 124"/>
          <p:cNvSpPr/>
          <p:nvPr/>
        </p:nvSpPr>
        <p:spPr>
          <a:xfrm>
            <a:off x="9556649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Freeform 125"/>
          <p:cNvSpPr/>
          <p:nvPr/>
        </p:nvSpPr>
        <p:spPr>
          <a:xfrm>
            <a:off x="96297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10106579" y="42862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11054040" y="42862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29" name="Connector 128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0" name="Rectangle 129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TextBox 130"/>
          <p:cNvSpPr txBox="1"/>
          <p:nvPr/>
        </p:nvSpPr>
        <p:spPr>
          <a:xfrm>
            <a:off x="285750" y="46482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285750" y="48101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048000" y="46291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34" name="TextBox 133"/>
          <p:cNvSpPr txBox="1"/>
          <p:nvPr/>
        </p:nvSpPr>
        <p:spPr>
          <a:xfrm>
            <a:off x="5217886" y="46291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5" name="Oval 134"/>
          <p:cNvSpPr/>
          <p:nvPr/>
        </p:nvSpPr>
        <p:spPr>
          <a:xfrm>
            <a:off x="6714268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Freeform 135"/>
          <p:cNvSpPr/>
          <p:nvPr/>
        </p:nvSpPr>
        <p:spPr>
          <a:xfrm>
            <a:off x="67913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Oval 136"/>
          <p:cNvSpPr/>
          <p:nvPr/>
        </p:nvSpPr>
        <p:spPr>
          <a:xfrm>
            <a:off x="7661729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Freeform 137"/>
          <p:cNvSpPr/>
          <p:nvPr/>
        </p:nvSpPr>
        <p:spPr>
          <a:xfrm>
            <a:off x="77343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Oval 138"/>
          <p:cNvSpPr/>
          <p:nvPr/>
        </p:nvSpPr>
        <p:spPr>
          <a:xfrm>
            <a:off x="8609189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86868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Oval 140"/>
          <p:cNvSpPr/>
          <p:nvPr/>
        </p:nvSpPr>
        <p:spPr>
          <a:xfrm>
            <a:off x="9556649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Freeform 141"/>
          <p:cNvSpPr/>
          <p:nvPr/>
        </p:nvSpPr>
        <p:spPr>
          <a:xfrm>
            <a:off x="96297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TextBox 142"/>
          <p:cNvSpPr txBox="1"/>
          <p:nvPr/>
        </p:nvSpPr>
        <p:spPr>
          <a:xfrm>
            <a:off x="10106579" y="46291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11054040" y="46291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45" name="Connector 144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Rectangle 145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TextBox 146"/>
          <p:cNvSpPr txBox="1"/>
          <p:nvPr/>
        </p:nvSpPr>
        <p:spPr>
          <a:xfrm>
            <a:off x="285750" y="49911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85750" y="51530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048000" y="49720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50" name="TextBox 149"/>
          <p:cNvSpPr txBox="1"/>
          <p:nvPr/>
        </p:nvSpPr>
        <p:spPr>
          <a:xfrm>
            <a:off x="5217886" y="49720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51" name="Oval 150"/>
          <p:cNvSpPr/>
          <p:nvPr/>
        </p:nvSpPr>
        <p:spPr>
          <a:xfrm>
            <a:off x="671426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Freeform 151"/>
          <p:cNvSpPr/>
          <p:nvPr/>
        </p:nvSpPr>
        <p:spPr>
          <a:xfrm>
            <a:off x="67913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Oval 152"/>
          <p:cNvSpPr/>
          <p:nvPr/>
        </p:nvSpPr>
        <p:spPr>
          <a:xfrm>
            <a:off x="7661729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Freeform 153"/>
          <p:cNvSpPr/>
          <p:nvPr/>
        </p:nvSpPr>
        <p:spPr>
          <a:xfrm>
            <a:off x="77343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Oval 154"/>
          <p:cNvSpPr/>
          <p:nvPr/>
        </p:nvSpPr>
        <p:spPr>
          <a:xfrm>
            <a:off x="8609189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Freeform 155"/>
          <p:cNvSpPr/>
          <p:nvPr/>
        </p:nvSpPr>
        <p:spPr>
          <a:xfrm>
            <a:off x="86868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Oval 156"/>
          <p:cNvSpPr/>
          <p:nvPr/>
        </p:nvSpPr>
        <p:spPr>
          <a:xfrm>
            <a:off x="9556649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Freeform 157"/>
          <p:cNvSpPr/>
          <p:nvPr/>
        </p:nvSpPr>
        <p:spPr>
          <a:xfrm>
            <a:off x="96297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TextBox 158"/>
          <p:cNvSpPr txBox="1"/>
          <p:nvPr/>
        </p:nvSpPr>
        <p:spPr>
          <a:xfrm>
            <a:off x="10106579" y="49720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60" name="TextBox 159"/>
          <p:cNvSpPr txBox="1"/>
          <p:nvPr/>
        </p:nvSpPr>
        <p:spPr>
          <a:xfrm>
            <a:off x="11054040" y="49720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61" name="Connector 160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Rectangle 161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TextBox 162"/>
          <p:cNvSpPr txBox="1"/>
          <p:nvPr/>
        </p:nvSpPr>
        <p:spPr>
          <a:xfrm>
            <a:off x="285750" y="53340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285750" y="54959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3048000" y="5314950"/>
            <a:ext cx="213178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5217886" y="5314950"/>
            <a:ext cx="106075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7" name="Oval 166"/>
          <p:cNvSpPr/>
          <p:nvPr/>
        </p:nvSpPr>
        <p:spPr>
          <a:xfrm>
            <a:off x="6714268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Freeform 167"/>
          <p:cNvSpPr/>
          <p:nvPr/>
        </p:nvSpPr>
        <p:spPr>
          <a:xfrm>
            <a:off x="67913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Oval 168"/>
          <p:cNvSpPr/>
          <p:nvPr/>
        </p:nvSpPr>
        <p:spPr>
          <a:xfrm>
            <a:off x="7661729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Freeform 169"/>
          <p:cNvSpPr/>
          <p:nvPr/>
        </p:nvSpPr>
        <p:spPr>
          <a:xfrm>
            <a:off x="77343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Oval 170"/>
          <p:cNvSpPr/>
          <p:nvPr/>
        </p:nvSpPr>
        <p:spPr>
          <a:xfrm>
            <a:off x="8609189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Freeform 171"/>
          <p:cNvSpPr/>
          <p:nvPr/>
        </p:nvSpPr>
        <p:spPr>
          <a:xfrm>
            <a:off x="86868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Oval 172"/>
          <p:cNvSpPr/>
          <p:nvPr/>
        </p:nvSpPr>
        <p:spPr>
          <a:xfrm>
            <a:off x="9556649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Freeform 173"/>
          <p:cNvSpPr/>
          <p:nvPr/>
        </p:nvSpPr>
        <p:spPr>
          <a:xfrm>
            <a:off x="96297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TextBox 174"/>
          <p:cNvSpPr txBox="1"/>
          <p:nvPr/>
        </p:nvSpPr>
        <p:spPr>
          <a:xfrm>
            <a:off x="10106579" y="53149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11054040" y="5314950"/>
            <a:ext cx="94746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77" name="Connector 176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8" name="Oval 177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TextBox 178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80" name="Oval 179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Freeform 180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3" name="Oval 182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Freeform 183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5" name="TextBox 184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6" name="Oval 185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9225794" y="1666875"/>
            <a:ext cx="360249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1184" y="1658269"/>
            <a:ext cx="113255" cy="164734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9678581" y="1666875"/>
            <a:ext cx="347523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13942" y="1805792"/>
            <a:ext cx="113255" cy="164734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9361339" y="1814398"/>
            <a:ext cx="575387" cy="16657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68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2306701"/>
            <a:ext cx="128699" cy="187198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2306701"/>
            <a:ext cx="128699" cy="187198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2306701"/>
            <a:ext cx="128699" cy="187198"/>
          </a:xfrm>
          <a:prstGeom prst="rect">
            <a:avLst/>
          </a:prstGeom>
        </p:spPr>
      </p:pic>
      <p:pic>
        <p:nvPicPr>
          <p:cNvPr id="199" name="Picture 1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2649601"/>
            <a:ext cx="128699" cy="187198"/>
          </a:xfrm>
          <a:prstGeom prst="rect">
            <a:avLst/>
          </a:prstGeom>
        </p:spPr>
      </p:pic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2649601"/>
            <a:ext cx="128699" cy="187198"/>
          </a:xfrm>
          <a:prstGeom prst="rect">
            <a:avLst/>
          </a:prstGeom>
        </p:spPr>
      </p:pic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2649601"/>
            <a:ext cx="128699" cy="187198"/>
          </a:xfrm>
          <a:prstGeom prst="rect">
            <a:avLst/>
          </a:prstGeom>
        </p:spPr>
      </p:pic>
      <p:pic>
        <p:nvPicPr>
          <p:cNvPr id="202" name="Picture 2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2992501"/>
            <a:ext cx="128699" cy="187198"/>
          </a:xfrm>
          <a:prstGeom prst="rect">
            <a:avLst/>
          </a:prstGeom>
        </p:spPr>
      </p:pic>
      <p:pic>
        <p:nvPicPr>
          <p:cNvPr id="203" name="Picture 2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2992501"/>
            <a:ext cx="128699" cy="187198"/>
          </a:xfrm>
          <a:prstGeom prst="rect">
            <a:avLst/>
          </a:prstGeom>
        </p:spPr>
      </p:pic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2992501"/>
            <a:ext cx="128699" cy="187198"/>
          </a:xfrm>
          <a:prstGeom prst="rect">
            <a:avLst/>
          </a:prstGeom>
        </p:spPr>
      </p:pic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3335401"/>
            <a:ext cx="128699" cy="187198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33354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3335401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3678301"/>
            <a:ext cx="128699" cy="187198"/>
          </a:xfrm>
          <a:prstGeom prst="rect">
            <a:avLst/>
          </a:prstGeom>
        </p:spPr>
      </p:pic>
      <p:pic>
        <p:nvPicPr>
          <p:cNvPr id="209" name="Picture 2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3678301"/>
            <a:ext cx="128699" cy="187198"/>
          </a:xfrm>
          <a:prstGeom prst="rect">
            <a:avLst/>
          </a:prstGeom>
        </p:spPr>
      </p:pic>
      <p:pic>
        <p:nvPicPr>
          <p:cNvPr id="210" name="Picture 2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3678301"/>
            <a:ext cx="128699" cy="187198"/>
          </a:xfrm>
          <a:prstGeom prst="rect">
            <a:avLst/>
          </a:prstGeom>
        </p:spPr>
      </p:pic>
      <p:pic>
        <p:nvPicPr>
          <p:cNvPr id="211" name="Picture 2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4021201"/>
            <a:ext cx="128699" cy="187198"/>
          </a:xfrm>
          <a:prstGeom prst="rect">
            <a:avLst/>
          </a:prstGeom>
        </p:spPr>
      </p:pic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4021201"/>
            <a:ext cx="128699" cy="187198"/>
          </a:xfrm>
          <a:prstGeom prst="rect">
            <a:avLst/>
          </a:prstGeom>
        </p:spPr>
      </p:pic>
      <p:pic>
        <p:nvPicPr>
          <p:cNvPr id="213" name="Picture 2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4021201"/>
            <a:ext cx="128699" cy="187198"/>
          </a:xfrm>
          <a:prstGeom prst="rect">
            <a:avLst/>
          </a:prstGeom>
        </p:spPr>
      </p:pic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4364101"/>
            <a:ext cx="128699" cy="187198"/>
          </a:xfrm>
          <a:prstGeom prst="rect">
            <a:avLst/>
          </a:prstGeom>
        </p:spPr>
      </p:pic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4364101"/>
            <a:ext cx="128699" cy="187198"/>
          </a:xfrm>
          <a:prstGeom prst="rect">
            <a:avLst/>
          </a:prstGeom>
        </p:spPr>
      </p:pic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4364101"/>
            <a:ext cx="128699" cy="187198"/>
          </a:xfrm>
          <a:prstGeom prst="rect">
            <a:avLst/>
          </a:prstGeom>
        </p:spPr>
      </p:pic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4707001"/>
            <a:ext cx="128699" cy="187198"/>
          </a:xfrm>
          <a:prstGeom prst="rect">
            <a:avLst/>
          </a:prstGeom>
        </p:spPr>
      </p:pic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4707001"/>
            <a:ext cx="128699" cy="187198"/>
          </a:xfrm>
          <a:prstGeom prst="rect">
            <a:avLst/>
          </a:prstGeom>
        </p:spPr>
      </p:pic>
      <p:pic>
        <p:nvPicPr>
          <p:cNvPr id="219" name="Picture 2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4707001"/>
            <a:ext cx="128699" cy="187198"/>
          </a:xfrm>
          <a:prstGeom prst="rect">
            <a:avLst/>
          </a:prstGeom>
        </p:spPr>
      </p:pic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5049901"/>
            <a:ext cx="128699" cy="187198"/>
          </a:xfrm>
          <a:prstGeom prst="rect">
            <a:avLst/>
          </a:prstGeom>
        </p:spPr>
      </p:pic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5049901"/>
            <a:ext cx="128699" cy="187198"/>
          </a:xfrm>
          <a:prstGeom prst="rect">
            <a:avLst/>
          </a:prstGeom>
        </p:spPr>
      </p:pic>
      <p:pic>
        <p:nvPicPr>
          <p:cNvPr id="222" name="Picture 2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5049901"/>
            <a:ext cx="128699" cy="187198"/>
          </a:xfrm>
          <a:prstGeom prst="rect">
            <a:avLst/>
          </a:prstGeom>
        </p:spPr>
      </p:pic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9543" y="5392801"/>
            <a:ext cx="128699" cy="187198"/>
          </a:xfrm>
          <a:prstGeom prst="rect">
            <a:avLst/>
          </a:prstGeom>
        </p:spPr>
      </p:pic>
      <p:pic>
        <p:nvPicPr>
          <p:cNvPr id="224" name="Picture 2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5959" y="5392801"/>
            <a:ext cx="128699" cy="187198"/>
          </a:xfrm>
          <a:prstGeom prst="rect">
            <a:avLst/>
          </a:prstGeom>
        </p:spPr>
      </p:pic>
      <p:pic>
        <p:nvPicPr>
          <p:cNvPr id="225" name="Picture 2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3420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086100" y="1295400"/>
            <a:ext cx="1240491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086100" y="1657350"/>
            <a:ext cx="1240491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02791" y="1295400"/>
            <a:ext cx="1240491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02791" y="1657350"/>
            <a:ext cx="1240491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719482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719482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299512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299512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79541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79541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459571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459571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363014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4946837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Freeform 29"/>
          <p:cNvSpPr/>
          <p:nvPr/>
        </p:nvSpPr>
        <p:spPr>
          <a:xfrm>
            <a:off x="5019675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5719482" y="22288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299511" y="22360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 dirty="0">
                <a:solidFill>
                  <a:srgbClr val="1F2933"/>
                </a:solidFill>
                <a:latin typeface="Calibri"/>
              </a:rPr>
              <a:t>Personal care and household products, Pharmaceuticals and healthcare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841441" y="22288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10421471" y="22288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363014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Freeform 39"/>
          <p:cNvSpPr/>
          <p:nvPr/>
        </p:nvSpPr>
        <p:spPr>
          <a:xfrm>
            <a:off x="370522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Oval 40"/>
          <p:cNvSpPr/>
          <p:nvPr/>
        </p:nvSpPr>
        <p:spPr>
          <a:xfrm>
            <a:off x="494683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5719482" y="25717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299511" y="25789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>
                <a:solidFill>
                  <a:srgbClr val="1F2933"/>
                </a:solidFill>
                <a:latin typeface="Calibri"/>
              </a:rPr>
              <a:t>Personal care and household products, Processed food and beverages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841441" y="25717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10421471" y="25717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363014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370522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Oval 51"/>
          <p:cNvSpPr/>
          <p:nvPr/>
        </p:nvSpPr>
        <p:spPr>
          <a:xfrm>
            <a:off x="494683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5019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5719482" y="29146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299511" y="29218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>
                <a:solidFill>
                  <a:srgbClr val="1F2933"/>
                </a:solidFill>
                <a:latin typeface="Calibri"/>
              </a:rPr>
              <a:t>Pharmaceuticals and healthcare, Processed food and beverages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1441" y="29146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10421471" y="29146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363014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37052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Oval 63"/>
          <p:cNvSpPr/>
          <p:nvPr/>
        </p:nvSpPr>
        <p:spPr>
          <a:xfrm>
            <a:off x="4946837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5719482" y="32575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299511" y="32647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 dirty="0">
                <a:solidFill>
                  <a:srgbClr val="1F2933"/>
                </a:solidFill>
                <a:latin typeface="Calibri"/>
              </a:rPr>
              <a:t>Personal care and household products, Pharmaceuticals and healthcare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841441" y="32575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10421471" y="32575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363014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Oval 73"/>
          <p:cNvSpPr/>
          <p:nvPr/>
        </p:nvSpPr>
        <p:spPr>
          <a:xfrm>
            <a:off x="494683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50196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5719482" y="36004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7299511" y="36076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>
                <a:solidFill>
                  <a:srgbClr val="1F2933"/>
                </a:solidFill>
                <a:latin typeface="Calibri"/>
              </a:rPr>
              <a:t>Personal care and household products, Processed food and beverages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841441" y="36004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10421471" y="36004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285749" y="3962400"/>
            <a:ext cx="3244031" cy="188513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 dirty="0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 dirty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363014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37052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Oval 85"/>
          <p:cNvSpPr/>
          <p:nvPr/>
        </p:nvSpPr>
        <p:spPr>
          <a:xfrm>
            <a:off x="4946837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5719482" y="39433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299511" y="39505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>
                <a:solidFill>
                  <a:srgbClr val="1F2933"/>
                </a:solidFill>
                <a:latin typeface="Calibri"/>
              </a:rPr>
              <a:t>Pharmaceuticals and healthcare, Processed food and beverages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841441" y="39433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0" name="TextBox 89"/>
          <p:cNvSpPr txBox="1"/>
          <p:nvPr/>
        </p:nvSpPr>
        <p:spPr>
          <a:xfrm>
            <a:off x="10421471" y="39433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363014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37052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Oval 96"/>
          <p:cNvSpPr/>
          <p:nvPr/>
        </p:nvSpPr>
        <p:spPr>
          <a:xfrm>
            <a:off x="494683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reeform 97"/>
          <p:cNvSpPr/>
          <p:nvPr/>
        </p:nvSpPr>
        <p:spPr>
          <a:xfrm>
            <a:off x="5019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5719482" y="42862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299511" y="42934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>
                <a:solidFill>
                  <a:srgbClr val="1F2933"/>
                </a:solidFill>
                <a:latin typeface="Calibri"/>
              </a:rPr>
              <a:t>Personal care and household products, Pharmaceuticals and healthcare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841441" y="42862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2" name="TextBox 101"/>
          <p:cNvSpPr txBox="1"/>
          <p:nvPr/>
        </p:nvSpPr>
        <p:spPr>
          <a:xfrm>
            <a:off x="10421471" y="42862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363014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37052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Oval 108"/>
          <p:cNvSpPr/>
          <p:nvPr/>
        </p:nvSpPr>
        <p:spPr>
          <a:xfrm>
            <a:off x="4946837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5719482" y="46291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299511" y="46363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>
                <a:solidFill>
                  <a:srgbClr val="1F2933"/>
                </a:solidFill>
                <a:latin typeface="Calibri"/>
              </a:rPr>
              <a:t>Personal care and household products, Processed food and beverages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841441" y="46291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10421471" y="46291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363014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494683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50196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5719482" y="49720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299511" y="49792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 dirty="0">
                <a:solidFill>
                  <a:srgbClr val="1F2933"/>
                </a:solidFill>
                <a:latin typeface="Calibri"/>
              </a:rPr>
              <a:t>Pharmaceuticals and healthcare, Processed food and beverages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841441" y="49720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10421471" y="49720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363014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Freeform 129"/>
          <p:cNvSpPr/>
          <p:nvPr/>
        </p:nvSpPr>
        <p:spPr>
          <a:xfrm>
            <a:off x="37052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Oval 130"/>
          <p:cNvSpPr/>
          <p:nvPr/>
        </p:nvSpPr>
        <p:spPr>
          <a:xfrm>
            <a:off x="4946837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TextBox 131"/>
          <p:cNvSpPr txBox="1"/>
          <p:nvPr/>
        </p:nvSpPr>
        <p:spPr>
          <a:xfrm>
            <a:off x="5719482" y="53149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99511" y="5322188"/>
            <a:ext cx="2194560" cy="32842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900" b="0" dirty="0">
                <a:solidFill>
                  <a:srgbClr val="1F2933"/>
                </a:solidFill>
                <a:latin typeface="Calibri"/>
              </a:rPr>
              <a:t>Personal care and household products, Pharmaceuticals and healthcare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841441" y="53149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10421471" y="53149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23067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23067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26496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26496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2992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29925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33354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3335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36783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36783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40212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40212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43641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43641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47070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47070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50499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7106" y="5392801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7136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086100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086100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666129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666129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6246159" y="1295400"/>
            <a:ext cx="1240491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246159" y="1657350"/>
            <a:ext cx="1240491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562850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562850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142879" y="129540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9142879" y="1657350"/>
            <a:ext cx="1503829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722909" y="1295400"/>
            <a:ext cx="1240491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722909" y="1657350"/>
            <a:ext cx="1240491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3086100" y="22288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628029" y="22288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679020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7524750" y="22288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9104779" y="22288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1126695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3086100" y="25717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628029" y="25717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679020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7562850" y="25717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9104779" y="25717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1126695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086100" y="29146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628029" y="29146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0" name="Oval 49"/>
          <p:cNvSpPr/>
          <p:nvPr/>
        </p:nvSpPr>
        <p:spPr>
          <a:xfrm>
            <a:off x="679020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7524750" y="29146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9104779" y="29146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1126695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086100" y="32575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628029" y="32575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679020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7562850" y="32575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9104779" y="32575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3" name="Oval 62"/>
          <p:cNvSpPr/>
          <p:nvPr/>
        </p:nvSpPr>
        <p:spPr>
          <a:xfrm>
            <a:off x="1126695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086100" y="36004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628029" y="36004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0" name="Oval 69"/>
          <p:cNvSpPr/>
          <p:nvPr/>
        </p:nvSpPr>
        <p:spPr>
          <a:xfrm>
            <a:off x="6790204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7524750" y="36004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9104779" y="36004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3" name="Oval 72"/>
          <p:cNvSpPr/>
          <p:nvPr/>
        </p:nvSpPr>
        <p:spPr>
          <a:xfrm>
            <a:off x="1126695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11344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3145708" cy="188513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 dirty="0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100541" y="4029074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 dirty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628029" y="39433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1" name="Oval 80"/>
          <p:cNvSpPr/>
          <p:nvPr/>
        </p:nvSpPr>
        <p:spPr>
          <a:xfrm>
            <a:off x="6790204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7562850" y="39433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104779" y="39433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4" name="Oval 83"/>
          <p:cNvSpPr/>
          <p:nvPr/>
        </p:nvSpPr>
        <p:spPr>
          <a:xfrm>
            <a:off x="1126695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11344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086100" y="42862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628029" y="42862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2" name="Oval 91"/>
          <p:cNvSpPr/>
          <p:nvPr/>
        </p:nvSpPr>
        <p:spPr>
          <a:xfrm>
            <a:off x="6790204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7524750" y="42862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9104779" y="42862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5" name="Oval 94"/>
          <p:cNvSpPr/>
          <p:nvPr/>
        </p:nvSpPr>
        <p:spPr>
          <a:xfrm>
            <a:off x="1126695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113442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086100" y="46291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628029" y="46291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3" name="Oval 102"/>
          <p:cNvSpPr/>
          <p:nvPr/>
        </p:nvSpPr>
        <p:spPr>
          <a:xfrm>
            <a:off x="6790204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TextBox 103"/>
          <p:cNvSpPr txBox="1"/>
          <p:nvPr/>
        </p:nvSpPr>
        <p:spPr>
          <a:xfrm>
            <a:off x="7562850" y="46291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104779" y="46291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1126695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reeform 106"/>
          <p:cNvSpPr/>
          <p:nvPr/>
        </p:nvSpPr>
        <p:spPr>
          <a:xfrm>
            <a:off x="113442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086100" y="49720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628029" y="49720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4" name="Oval 113"/>
          <p:cNvSpPr/>
          <p:nvPr/>
        </p:nvSpPr>
        <p:spPr>
          <a:xfrm>
            <a:off x="6790204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7524750" y="49720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9104779" y="49720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7" name="Oval 116"/>
          <p:cNvSpPr/>
          <p:nvPr/>
        </p:nvSpPr>
        <p:spPr>
          <a:xfrm>
            <a:off x="1126695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113442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27432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27432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86100" y="53149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628029" y="53149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5" name="Oval 124"/>
          <p:cNvSpPr/>
          <p:nvPr/>
        </p:nvSpPr>
        <p:spPr>
          <a:xfrm>
            <a:off x="6790204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7562850" y="5314950"/>
            <a:ext cx="15038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104779" y="5314950"/>
            <a:ext cx="158002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8" name="Oval 127"/>
          <p:cNvSpPr/>
          <p:nvPr/>
        </p:nvSpPr>
        <p:spPr>
          <a:xfrm>
            <a:off x="1126695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113442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2306701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0415" y="2306701"/>
            <a:ext cx="128699" cy="187198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2306701"/>
            <a:ext cx="128699" cy="187198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2649601"/>
            <a:ext cx="128699" cy="187198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2649601"/>
            <a:ext cx="128699" cy="187198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29925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0415" y="29925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29925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33354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33354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36783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0415" y="36783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36783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40212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40212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43641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0415" y="43641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43641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47070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47070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50499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0415" y="50499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3694" y="53928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044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Freeform 33"/>
          <p:cNvSpPr/>
          <p:nvPr/>
        </p:nvSpPr>
        <p:spPr>
          <a:xfrm>
            <a:off x="7896225" y="1885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10420350" y="18954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11544300" y="18097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Rectangle 38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41" name="Oval 40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Freeform 41"/>
          <p:cNvSpPr/>
          <p:nvPr/>
        </p:nvSpPr>
        <p:spPr>
          <a:xfrm>
            <a:off x="292417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Oval 43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420350" y="22002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11487150" y="21145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9" name="Connector 48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Rectangle 49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52" name="Oval 51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292417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Oval 55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Oval 56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10420350" y="25050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11487150" y="24193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Rectangle 60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63" name="Oval 62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Oval 64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Oval 65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Oval 66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Freeform 67"/>
          <p:cNvSpPr/>
          <p:nvPr/>
        </p:nvSpPr>
        <p:spPr>
          <a:xfrm>
            <a:off x="789622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Oval 68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10420350" y="2809875"/>
            <a:ext cx="9715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11430000" y="27241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Rectangle 72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TextBox 73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75" name="Oval 74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Oval 76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Oval 78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Freeform 79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Oval 80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Oval 81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TextBox 83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Rectangle 85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88" name="Oval 87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Freeform 88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Oval 89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Freeform 90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Oval 91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Freeform 92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Oval 93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Freeform 94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Oval 95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TextBox 97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9" name="Connector 98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Rectangle 99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102" name="Oval 101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Freeform 102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Oval 103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Freeform 104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reeform 106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Oval 107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Oval 108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2" name="Connector 111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Rectangle 112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TextBox 113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115" name="Oval 114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Freeform 115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Oval 116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Oval 120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Oval 121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128" name="Oval 127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Oval 129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Freeform 130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Oval 131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Freeform 132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Oval 133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Freeform 134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Oval 135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Rectangle 139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142" name="Oval 141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Freeform 142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Oval 143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Freeform 144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Oval 145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Freeform 146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Oval 147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Freeform 148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Oval 149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TextBox 151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3" name="Connector 152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4" name="Oval 153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TextBox 154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6" name="Oval 155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Freeform 156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TextBox 157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9" name="Oval 158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Freeform 159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TextBox 160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2" name="Oval 161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TextBox 162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BOBST Group SA, Company, BW Papersystems, BHS Corrugated Maschinen- und Anlagenbau GmbH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segment breadth.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TextBox 169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Mitsubishi Heavy Industries Machinery Systems, Ltd., Fosber Group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TextBox 173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Koenig &amp; Bauer Celmacch, SUN Automation Group, EMBA Machinery AB, Göpfert Maschinen GmbH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18685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1733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4781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75200" y="27829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8" name="TextBox 187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90" name="TextBox 189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6" name="TextBox 195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North America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Printing and Converting Equipment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BHS Corrugated Maschinen- und Anlagenbau GmbH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South Asia &amp; Pacific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Corrugated Board Production Equipment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Latin America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Printing and Converting Equipment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North America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Corrugated Board Production Equipment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South Asia &amp; Pacific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Printing and Converting Equipment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2780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7733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2686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7639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2592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754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2498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7451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240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7357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85750" y="165285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 dirty="0">
                <a:solidFill>
                  <a:srgbClr val="1F2933"/>
                </a:solidFill>
                <a:latin typeface="Calibri"/>
              </a:rPr>
              <a:t>BOBST Group SA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85750" y="190050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Company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85750" y="2086596"/>
            <a:ext cx="1554480" cy="26545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 dirty="0">
                <a:solidFill>
                  <a:srgbClr val="1F2933"/>
                </a:solidFill>
                <a:latin typeface="Calibri"/>
              </a:rPr>
              <a:t>BHS Corrugated Maschinen- und </a:t>
            </a:r>
            <a:r>
              <a:rPr sz="800" b="1" dirty="0" err="1">
                <a:solidFill>
                  <a:srgbClr val="1F2933"/>
                </a:solidFill>
                <a:latin typeface="Calibri"/>
              </a:rPr>
              <a:t>Anlagenbau</a:t>
            </a:r>
            <a:r>
              <a:rPr sz="800" b="1" dirty="0">
                <a:solidFill>
                  <a:srgbClr val="1F2933"/>
                </a:solidFill>
                <a:latin typeface="Calibri"/>
              </a:rPr>
              <a:t> GmbH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85750" y="239580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BW Papersystems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85750" y="264345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Fosber Group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85750" y="2829546"/>
            <a:ext cx="1554480" cy="26545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Mitsubishi Heavy Industries Machinery Systems, Ltd.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85750" y="313875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EMBA Machinery AB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285750" y="338640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Koenig &amp; Bauer Celmacch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85750" y="363405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Göpfert Maschinen GmbH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85750" y="3881700"/>
            <a:ext cx="1554480" cy="14234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800" b="1">
                <a:solidFill>
                  <a:srgbClr val="1F2933"/>
                </a:solidFill>
                <a:latin typeface="Calibri"/>
              </a:rPr>
              <a:t>SUN Automation Group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N. America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9249833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800167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S. Asia &amp; Pac.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10350500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E. Asia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10900833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LATAM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11451167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MEA</a:t>
            </a:r>
          </a:p>
        </p:txBody>
      </p:sp>
      <p:sp>
        <p:nvSpPr>
          <p:cNvPr id="224" name="Rectangle 223"/>
          <p:cNvSpPr/>
          <p:nvPr/>
        </p:nvSpPr>
        <p:spPr>
          <a:xfrm>
            <a:off x="8709025" y="16097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5" name="TextBox 224"/>
          <p:cNvSpPr txBox="1"/>
          <p:nvPr/>
        </p:nvSpPr>
        <p:spPr>
          <a:xfrm>
            <a:off x="8699500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9259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7" name="TextBox 226"/>
          <p:cNvSpPr txBox="1"/>
          <p:nvPr/>
        </p:nvSpPr>
        <p:spPr>
          <a:xfrm>
            <a:off x="9249833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9809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9" name="TextBox 228"/>
          <p:cNvSpPr txBox="1"/>
          <p:nvPr/>
        </p:nvSpPr>
        <p:spPr>
          <a:xfrm>
            <a:off x="9800167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0" name="Rectangle 229"/>
          <p:cNvSpPr/>
          <p:nvPr/>
        </p:nvSpPr>
        <p:spPr>
          <a:xfrm>
            <a:off x="10360025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1" name="Rectangle 230"/>
          <p:cNvSpPr/>
          <p:nvPr/>
        </p:nvSpPr>
        <p:spPr>
          <a:xfrm>
            <a:off x="10910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2" name="Rectangle 231"/>
          <p:cNvSpPr/>
          <p:nvPr/>
        </p:nvSpPr>
        <p:spPr>
          <a:xfrm>
            <a:off x="11460692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3" name="Rectangle 232"/>
          <p:cNvSpPr/>
          <p:nvPr/>
        </p:nvSpPr>
        <p:spPr>
          <a:xfrm>
            <a:off x="8709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4" name="Rectangle 233"/>
          <p:cNvSpPr/>
          <p:nvPr/>
        </p:nvSpPr>
        <p:spPr>
          <a:xfrm>
            <a:off x="9259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5" name="TextBox 234"/>
          <p:cNvSpPr txBox="1"/>
          <p:nvPr/>
        </p:nvSpPr>
        <p:spPr>
          <a:xfrm>
            <a:off x="9249833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9809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7" name="TextBox 236"/>
          <p:cNvSpPr txBox="1"/>
          <p:nvPr/>
        </p:nvSpPr>
        <p:spPr>
          <a:xfrm>
            <a:off x="9800167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8" name="Rectangle 237"/>
          <p:cNvSpPr/>
          <p:nvPr/>
        </p:nvSpPr>
        <p:spPr>
          <a:xfrm>
            <a:off x="10360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9" name="TextBox 238"/>
          <p:cNvSpPr txBox="1"/>
          <p:nvPr/>
        </p:nvSpPr>
        <p:spPr>
          <a:xfrm>
            <a:off x="10350500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0" name="Rectangle 239"/>
          <p:cNvSpPr/>
          <p:nvPr/>
        </p:nvSpPr>
        <p:spPr>
          <a:xfrm>
            <a:off x="10910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1" name="Rectangle 240"/>
          <p:cNvSpPr/>
          <p:nvPr/>
        </p:nvSpPr>
        <p:spPr>
          <a:xfrm>
            <a:off x="11460692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2" name="Rectangle 241"/>
          <p:cNvSpPr/>
          <p:nvPr/>
        </p:nvSpPr>
        <p:spPr>
          <a:xfrm>
            <a:off x="8709025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3" name="Rectangle 242"/>
          <p:cNvSpPr/>
          <p:nvPr/>
        </p:nvSpPr>
        <p:spPr>
          <a:xfrm>
            <a:off x="9259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4" name="Rectangle 243"/>
          <p:cNvSpPr/>
          <p:nvPr/>
        </p:nvSpPr>
        <p:spPr>
          <a:xfrm>
            <a:off x="9809692" y="21050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5" name="TextBox 244"/>
          <p:cNvSpPr txBox="1"/>
          <p:nvPr/>
        </p:nvSpPr>
        <p:spPr>
          <a:xfrm>
            <a:off x="9800167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46" name="Rectangle 245"/>
          <p:cNvSpPr/>
          <p:nvPr/>
        </p:nvSpPr>
        <p:spPr>
          <a:xfrm>
            <a:off x="10360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7" name="TextBox 246"/>
          <p:cNvSpPr txBox="1"/>
          <p:nvPr/>
        </p:nvSpPr>
        <p:spPr>
          <a:xfrm>
            <a:off x="10350500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0910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9" name="TextBox 248"/>
          <p:cNvSpPr txBox="1"/>
          <p:nvPr/>
        </p:nvSpPr>
        <p:spPr>
          <a:xfrm>
            <a:off x="10900833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11460692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1" name="Rectangle 250"/>
          <p:cNvSpPr/>
          <p:nvPr/>
        </p:nvSpPr>
        <p:spPr>
          <a:xfrm>
            <a:off x="8709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2" name="Rectangle 251"/>
          <p:cNvSpPr/>
          <p:nvPr/>
        </p:nvSpPr>
        <p:spPr>
          <a:xfrm>
            <a:off x="9259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3" name="Rectangle 252"/>
          <p:cNvSpPr/>
          <p:nvPr/>
        </p:nvSpPr>
        <p:spPr>
          <a:xfrm>
            <a:off x="9809692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4" name="Rectangle 253"/>
          <p:cNvSpPr/>
          <p:nvPr/>
        </p:nvSpPr>
        <p:spPr>
          <a:xfrm>
            <a:off x="10360025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5" name="TextBox 254"/>
          <p:cNvSpPr txBox="1"/>
          <p:nvPr/>
        </p:nvSpPr>
        <p:spPr>
          <a:xfrm>
            <a:off x="10350500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56" name="Rectangle 255"/>
          <p:cNvSpPr/>
          <p:nvPr/>
        </p:nvSpPr>
        <p:spPr>
          <a:xfrm>
            <a:off x="10910358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7" name="TextBox 256"/>
          <p:cNvSpPr txBox="1"/>
          <p:nvPr/>
        </p:nvSpPr>
        <p:spPr>
          <a:xfrm>
            <a:off x="10900833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460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9" name="TextBox 258"/>
          <p:cNvSpPr txBox="1"/>
          <p:nvPr/>
        </p:nvSpPr>
        <p:spPr>
          <a:xfrm>
            <a:off x="11451167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709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1" name="TextBox 260"/>
          <p:cNvSpPr txBox="1"/>
          <p:nvPr/>
        </p:nvSpPr>
        <p:spPr>
          <a:xfrm>
            <a:off x="8699500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2" name="Rectangle 261"/>
          <p:cNvSpPr/>
          <p:nvPr/>
        </p:nvSpPr>
        <p:spPr>
          <a:xfrm>
            <a:off x="9259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3" name="Rectangle 262"/>
          <p:cNvSpPr/>
          <p:nvPr/>
        </p:nvSpPr>
        <p:spPr>
          <a:xfrm>
            <a:off x="9809692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4" name="Rectangle 263"/>
          <p:cNvSpPr/>
          <p:nvPr/>
        </p:nvSpPr>
        <p:spPr>
          <a:xfrm>
            <a:off x="10360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5" name="Rectangle 264"/>
          <p:cNvSpPr/>
          <p:nvPr/>
        </p:nvSpPr>
        <p:spPr>
          <a:xfrm>
            <a:off x="10910358" y="26003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6" name="TextBox 265"/>
          <p:cNvSpPr txBox="1"/>
          <p:nvPr/>
        </p:nvSpPr>
        <p:spPr>
          <a:xfrm>
            <a:off x="10900833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11460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8" name="TextBox 267"/>
          <p:cNvSpPr txBox="1"/>
          <p:nvPr/>
        </p:nvSpPr>
        <p:spPr>
          <a:xfrm>
            <a:off x="11451167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709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0" name="TextBox 269"/>
          <p:cNvSpPr txBox="1"/>
          <p:nvPr/>
        </p:nvSpPr>
        <p:spPr>
          <a:xfrm>
            <a:off x="8699500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9259358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2" name="TextBox 271"/>
          <p:cNvSpPr txBox="1"/>
          <p:nvPr/>
        </p:nvSpPr>
        <p:spPr>
          <a:xfrm>
            <a:off x="9249833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9809692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4" name="Rectangle 273"/>
          <p:cNvSpPr/>
          <p:nvPr/>
        </p:nvSpPr>
        <p:spPr>
          <a:xfrm>
            <a:off x="10360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5" name="Rectangle 274"/>
          <p:cNvSpPr/>
          <p:nvPr/>
        </p:nvSpPr>
        <p:spPr>
          <a:xfrm>
            <a:off x="10910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6" name="Rectangle 275"/>
          <p:cNvSpPr/>
          <p:nvPr/>
        </p:nvSpPr>
        <p:spPr>
          <a:xfrm>
            <a:off x="11460692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7" name="TextBox 276"/>
          <p:cNvSpPr txBox="1"/>
          <p:nvPr/>
        </p:nvSpPr>
        <p:spPr>
          <a:xfrm>
            <a:off x="11451167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78" name="Rectangle 277"/>
          <p:cNvSpPr/>
          <p:nvPr/>
        </p:nvSpPr>
        <p:spPr>
          <a:xfrm>
            <a:off x="8709025" y="30956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9" name="TextBox 278"/>
          <p:cNvSpPr txBox="1"/>
          <p:nvPr/>
        </p:nvSpPr>
        <p:spPr>
          <a:xfrm>
            <a:off x="8699500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80" name="Rectangle 279"/>
          <p:cNvSpPr/>
          <p:nvPr/>
        </p:nvSpPr>
        <p:spPr>
          <a:xfrm>
            <a:off x="9259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1" name="TextBox 280"/>
          <p:cNvSpPr txBox="1"/>
          <p:nvPr/>
        </p:nvSpPr>
        <p:spPr>
          <a:xfrm>
            <a:off x="9249833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2" name="Rectangle 281"/>
          <p:cNvSpPr/>
          <p:nvPr/>
        </p:nvSpPr>
        <p:spPr>
          <a:xfrm>
            <a:off x="9809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3" name="TextBox 282"/>
          <p:cNvSpPr txBox="1"/>
          <p:nvPr/>
        </p:nvSpPr>
        <p:spPr>
          <a:xfrm>
            <a:off x="9800167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0360025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5" name="Rectangle 284"/>
          <p:cNvSpPr/>
          <p:nvPr/>
        </p:nvSpPr>
        <p:spPr>
          <a:xfrm>
            <a:off x="10910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6" name="Rectangle 285"/>
          <p:cNvSpPr/>
          <p:nvPr/>
        </p:nvSpPr>
        <p:spPr>
          <a:xfrm>
            <a:off x="11460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7" name="Rectangle 286"/>
          <p:cNvSpPr/>
          <p:nvPr/>
        </p:nvSpPr>
        <p:spPr>
          <a:xfrm>
            <a:off x="8709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8" name="Rectangle 287"/>
          <p:cNvSpPr/>
          <p:nvPr/>
        </p:nvSpPr>
        <p:spPr>
          <a:xfrm>
            <a:off x="9259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9" name="TextBox 288"/>
          <p:cNvSpPr txBox="1"/>
          <p:nvPr/>
        </p:nvSpPr>
        <p:spPr>
          <a:xfrm>
            <a:off x="9249833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90" name="Rectangle 289"/>
          <p:cNvSpPr/>
          <p:nvPr/>
        </p:nvSpPr>
        <p:spPr>
          <a:xfrm>
            <a:off x="9809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1" name="TextBox 290"/>
          <p:cNvSpPr txBox="1"/>
          <p:nvPr/>
        </p:nvSpPr>
        <p:spPr>
          <a:xfrm>
            <a:off x="9800167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2" name="Rectangle 291"/>
          <p:cNvSpPr/>
          <p:nvPr/>
        </p:nvSpPr>
        <p:spPr>
          <a:xfrm>
            <a:off x="10360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3" name="TextBox 292"/>
          <p:cNvSpPr txBox="1"/>
          <p:nvPr/>
        </p:nvSpPr>
        <p:spPr>
          <a:xfrm>
            <a:off x="10350500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4" name="Rectangle 293"/>
          <p:cNvSpPr/>
          <p:nvPr/>
        </p:nvSpPr>
        <p:spPr>
          <a:xfrm>
            <a:off x="10910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5" name="Rectangle 294"/>
          <p:cNvSpPr/>
          <p:nvPr/>
        </p:nvSpPr>
        <p:spPr>
          <a:xfrm>
            <a:off x="11460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6" name="Rectangle 295"/>
          <p:cNvSpPr/>
          <p:nvPr/>
        </p:nvSpPr>
        <p:spPr>
          <a:xfrm>
            <a:off x="8709025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7" name="Rectangle 296"/>
          <p:cNvSpPr/>
          <p:nvPr/>
        </p:nvSpPr>
        <p:spPr>
          <a:xfrm>
            <a:off x="9259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8" name="Rectangle 297"/>
          <p:cNvSpPr/>
          <p:nvPr/>
        </p:nvSpPr>
        <p:spPr>
          <a:xfrm>
            <a:off x="9809692" y="35909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9" name="TextBox 298"/>
          <p:cNvSpPr txBox="1"/>
          <p:nvPr/>
        </p:nvSpPr>
        <p:spPr>
          <a:xfrm>
            <a:off x="9800167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0360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1" name="TextBox 300"/>
          <p:cNvSpPr txBox="1"/>
          <p:nvPr/>
        </p:nvSpPr>
        <p:spPr>
          <a:xfrm>
            <a:off x="10350500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2" name="Rectangle 301"/>
          <p:cNvSpPr/>
          <p:nvPr/>
        </p:nvSpPr>
        <p:spPr>
          <a:xfrm>
            <a:off x="10910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3" name="TextBox 302"/>
          <p:cNvSpPr txBox="1"/>
          <p:nvPr/>
        </p:nvSpPr>
        <p:spPr>
          <a:xfrm>
            <a:off x="10900833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4" name="Rectangle 303"/>
          <p:cNvSpPr/>
          <p:nvPr/>
        </p:nvSpPr>
        <p:spPr>
          <a:xfrm>
            <a:off x="11460692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5" name="Rectangle 304"/>
          <p:cNvSpPr/>
          <p:nvPr/>
        </p:nvSpPr>
        <p:spPr>
          <a:xfrm>
            <a:off x="8709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6" name="Rectangle 305"/>
          <p:cNvSpPr/>
          <p:nvPr/>
        </p:nvSpPr>
        <p:spPr>
          <a:xfrm>
            <a:off x="9259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7" name="Rectangle 306"/>
          <p:cNvSpPr/>
          <p:nvPr/>
        </p:nvSpPr>
        <p:spPr>
          <a:xfrm>
            <a:off x="9809692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8" name="Rectangle 307"/>
          <p:cNvSpPr/>
          <p:nvPr/>
        </p:nvSpPr>
        <p:spPr>
          <a:xfrm>
            <a:off x="10360025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9" name="TextBox 308"/>
          <p:cNvSpPr txBox="1"/>
          <p:nvPr/>
        </p:nvSpPr>
        <p:spPr>
          <a:xfrm>
            <a:off x="10350500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10" name="Rectangle 309"/>
          <p:cNvSpPr/>
          <p:nvPr/>
        </p:nvSpPr>
        <p:spPr>
          <a:xfrm>
            <a:off x="10910358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1" name="TextBox 310"/>
          <p:cNvSpPr txBox="1"/>
          <p:nvPr/>
        </p:nvSpPr>
        <p:spPr>
          <a:xfrm>
            <a:off x="10900833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12" name="Rectangle 311"/>
          <p:cNvSpPr/>
          <p:nvPr/>
        </p:nvSpPr>
        <p:spPr>
          <a:xfrm>
            <a:off x="11460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3" name="TextBox 312"/>
          <p:cNvSpPr txBox="1"/>
          <p:nvPr/>
        </p:nvSpPr>
        <p:spPr>
          <a:xfrm>
            <a:off x="11451167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14" name="Rectangle 313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5" name="TextBox 314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316" name="Rectangle 315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7" name="TextBox 316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318" name="Rectangle 317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9" name="TextBox 318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320" name="TextBox 319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321" name="Connector 320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2" name="TextBox 321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4" name="TextBox 323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325" name="TextBox 324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326" name="Rectangle 325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7" name="TextBox 326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328" name="TextBox 327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0" name="TextBox 329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332" name="Rectangle 331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3" name="TextBox 332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334" name="TextBox 333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6" name="TextBox 335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337" name="TextBox 336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338" name="Rectangle 337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9" name="TextBox 338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340" name="TextBox 339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Corrugated Box Packaging Equipment Market, Global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BOBST Group SA · Company · BHS Corrugated Maschinen- und Anlagenbau GmbH · BW Papersystems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Fosber Group · Mitsubishi Heavy Industries Machinery Systems, Ltd.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EMBA Machinery AB · Koenig &amp; Bauer Celmacch · Göpfert Maschinen GmbH · SUN Automation Group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Corrugated Box Packaging Equipment Market, Global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2 / 5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4 / 5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3.0 / 5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Buyer power (4 / 5) and switching costs (3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54" name="TextBox 153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Corrugated Box Packaging Equipment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tIns="0" rIns="1905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BOBST Group SA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1828800" y="3416749"/>
            <a:ext cx="209550" cy="237298"/>
          </a:xfrm>
          <a:custGeom>
            <a:avLst/>
            <a:gdLst/>
            <a:ahLst/>
            <a:cxnLst/>
            <a:rect l="l" t="t" r="r" b="b"/>
            <a:pathLst>
              <a:path w="22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1" y="2"/>
                </a:lnTo>
                <a:lnTo>
                  <a:pt x="14" y="4"/>
                </a:lnTo>
                <a:lnTo>
                  <a:pt x="17" y="6"/>
                </a:lnTo>
                <a:lnTo>
                  <a:pt x="20" y="8"/>
                </a:lnTo>
                <a:lnTo>
                  <a:pt x="22" y="1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Company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reeform 81"/>
          <p:cNvSpPr/>
          <p:nvPr/>
        </p:nvSpPr>
        <p:spPr>
          <a:xfrm>
            <a:off x="29146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BHS Corrugated Maschinen- und Anlagenbau GmbH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Freeform 110"/>
          <p:cNvSpPr/>
          <p:nvPr/>
        </p:nvSpPr>
        <p:spPr>
          <a:xfrm>
            <a:off x="3981450" y="3416749"/>
            <a:ext cx="142875" cy="237298"/>
          </a:xfrm>
          <a:custGeom>
            <a:avLst/>
            <a:gdLst/>
            <a:ahLst/>
            <a:cxnLst/>
            <a:rect l="l" t="t" r="r" b="b"/>
            <a:pathLst>
              <a:path w="15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BW Papersystems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and Africa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Fosber Group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104775" cy="237298"/>
          </a:xfrm>
          <a:custGeom>
            <a:avLst/>
            <a:gdLst/>
            <a:ahLst/>
            <a:cxnLst/>
            <a:rect l="l" t="t" r="r" b="b"/>
            <a:pathLst>
              <a:path w="1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and Africa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Mitsubishi Heavy Industries Machinery Systems, Ltd.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and Africa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EMBA Machinery AB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85725" cy="237298"/>
          </a:xfrm>
          <a:custGeom>
            <a:avLst/>
            <a:gdLst/>
            <a:ahLst/>
            <a:cxnLst/>
            <a:rect l="l" t="t" r="r" b="b"/>
            <a:pathLst>
              <a:path w="9" h="26">
                <a:moveTo>
                  <a:pt x="0" y="26"/>
                </a:moveTo>
                <a:lnTo>
                  <a:pt x="0" y="0"/>
                </a:lnTo>
                <a:lnTo>
                  <a:pt x="5" y="0"/>
                </a:lnTo>
                <a:lnTo>
                  <a:pt x="9" y="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Koenig &amp; Bauer Celmacch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47625" cy="237298"/>
          </a:xfrm>
          <a:custGeom>
            <a:avLst/>
            <a:gdLst/>
            <a:ahLst/>
            <a:cxnLst/>
            <a:rect l="l" t="t" r="r" b="b"/>
            <a:pathLst>
              <a:path w="5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Göpfert Maschinen GmbH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38100" cy="237298"/>
          </a:xfrm>
          <a:custGeom>
            <a:avLst/>
            <a:gdLst/>
            <a:ahLst/>
            <a:cxnLst/>
            <a:rect l="l" t="t" r="r" b="b"/>
            <a:pathLst>
              <a:path w="4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SUN Automation Group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28575" cy="237298"/>
          </a:xfrm>
          <a:custGeom>
            <a:avLst/>
            <a:gdLst/>
            <a:ahLst/>
            <a:cxnLst/>
            <a:rect l="l" t="t" r="r" b="b"/>
            <a:pathLst>
              <a:path w="3" h="26">
                <a:moveTo>
                  <a:pt x="0" y="26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and Africa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2085938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Printing and Converting Equipment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678994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6" name="TextBox 335"/>
          <p:cNvSpPr txBox="1"/>
          <p:nvPr/>
        </p:nvSpPr>
        <p:spPr>
          <a:xfrm>
            <a:off x="3831394" y="5716715"/>
            <a:ext cx="2412169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Corrugated Board Production Equipment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300713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8" name="TextBox 337"/>
          <p:cNvSpPr txBox="1"/>
          <p:nvPr/>
        </p:nvSpPr>
        <p:spPr>
          <a:xfrm>
            <a:off x="6453113" y="5716715"/>
            <a:ext cx="2302632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Finishing and Box Assembly Equipment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812895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0" name="TextBox 339"/>
          <p:cNvSpPr txBox="1"/>
          <p:nvPr/>
        </p:nvSpPr>
        <p:spPr>
          <a:xfrm>
            <a:off x="8965295" y="5716715"/>
            <a:ext cx="740569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CC9DC92-CC39-269D-F4F6-1BCD7363F9A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solidFill>
              <a:srgbClr val="FFFFFF"/>
            </a:solidFill>
          </a:ln>
        </p:spPr>
        <p:style>
          <a:lnRef idx="2">
            <a:srgbClr val="2A5F8F">
              <a:shade val="15000"/>
            </a:srgbClr>
          </a:lnRef>
          <a:fillRef idx="1">
            <a:srgbClr val="2A5F8F"/>
          </a:fillRef>
          <a:effectRef idx="0">
            <a:srgbClr val="2A5F8F"/>
          </a:effectRef>
          <a:fontRef idx="minor">
            <a:srgbClr val="FFFFFF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23">
            <a:extLst>
              <a:ext uri="{FF2B5EF4-FFF2-40B4-BE49-F238E27FC236}">
                <a16:creationId xmlns:a16="http://schemas.microsoft.com/office/drawing/2014/main" id="{85B8B5CB-8306-A876-1A56-F5D391EBE3A2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164419"/>
            <a:ext cx="12039600" cy="6021387"/>
            <a:chOff x="76010" y="229820"/>
            <a:chExt cx="12039981" cy="6021526"/>
          </a:xfrm>
        </p:grpSpPr>
        <p:sp>
          <p:nvSpPr>
            <p:cNvPr id="5" name="Rectangle 22">
              <a:extLst>
                <a:ext uri="{FF2B5EF4-FFF2-40B4-BE49-F238E27FC236}">
                  <a16:creationId xmlns:a16="http://schemas.microsoft.com/office/drawing/2014/main" id="{899C401F-7B85-B769-45BD-852117B2E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037" y="5943569"/>
              <a:ext cx="314592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930275" algn="l"/>
                </a:tabLst>
                <a:defRPr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spcBef>
                  <a:spcPts val="200"/>
                </a:spcBef>
                <a:spcAft>
                  <a:spcPts val="200"/>
                </a:spcAft>
              </a:pPr>
              <a:r>
                <a:rPr lang="en-GB" altLang="en-US" sz="1400" b="1">
                  <a:ea typeface="MS PGothic" panose="020B0600070205080204" pitchFamily="34" charset="-128"/>
                </a:rPr>
                <a:t>Email: sales@futuremarketinsights.com</a:t>
              </a:r>
            </a:p>
          </p:txBody>
        </p:sp>
        <p:grpSp>
          <p:nvGrpSpPr>
            <p:cNvPr id="6" name="Group 21">
              <a:extLst>
                <a:ext uri="{FF2B5EF4-FFF2-40B4-BE49-F238E27FC236}">
                  <a16:creationId xmlns:a16="http://schemas.microsoft.com/office/drawing/2014/main" id="{5FBB3E24-8D41-905A-6BA3-11149D7E0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0" y="229820"/>
              <a:ext cx="12039981" cy="5526596"/>
              <a:chOff x="76010" y="229820"/>
              <a:chExt cx="12039981" cy="5526596"/>
            </a:xfrm>
          </p:grpSpPr>
          <p:grpSp>
            <p:nvGrpSpPr>
              <p:cNvPr id="7" name="Group 24">
                <a:extLst>
                  <a:ext uri="{FF2B5EF4-FFF2-40B4-BE49-F238E27FC236}">
                    <a16:creationId xmlns:a16="http://schemas.microsoft.com/office/drawing/2014/main" id="{34C0848D-58FD-B698-603B-B8D2C7863B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010" y="3513022"/>
                <a:ext cx="12039981" cy="54864"/>
                <a:chOff x="980685" y="3697699"/>
                <a:chExt cx="9950397" cy="54864"/>
              </a:xfrm>
            </p:grpSpPr>
            <p:sp>
              <p:nvSpPr>
                <p:cNvPr id="8" name="Rectangle 44">
                  <a:extLst>
                    <a:ext uri="{FF2B5EF4-FFF2-40B4-BE49-F238E27FC236}">
                      <a16:creationId xmlns:a16="http://schemas.microsoft.com/office/drawing/2014/main" id="{4C55A7B5-34B4-8F78-1AE4-63BEB5D835CF}"/>
                    </a:ext>
                  </a:extLst>
                </p:cNvPr>
                <p:cNvSpPr/>
                <p:nvPr/>
              </p:nvSpPr>
              <p:spPr>
                <a:xfrm>
                  <a:off x="980685" y="3697523"/>
                  <a:ext cx="3109499" cy="55563"/>
                </a:xfrm>
                <a:prstGeom prst="rect">
                  <a:avLst/>
                </a:prstGeom>
                <a:solidFill>
                  <a:srgbClr val="92C73E"/>
                </a:solidFill>
                <a:ln>
                  <a:noFill/>
                </a:ln>
              </p:spPr>
              <p:style>
                <a:lnRef idx="2">
                  <a:srgbClr val="2A5F8F">
                    <a:shade val="50000"/>
                  </a:srgbClr>
                </a:lnRef>
                <a:fillRef idx="1">
                  <a:srgbClr val="2A5F8F"/>
                </a:fillRef>
                <a:effectRef idx="0">
                  <a:srgbClr val="2A5F8F"/>
                </a:effectRef>
                <a:fontRef idx="minor">
                  <a:srgbClr val="FFFFFF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IN"/>
                </a:p>
              </p:txBody>
            </p:sp>
            <p:sp>
              <p:nvSpPr>
                <p:cNvPr id="9" name="Rectangle 45">
                  <a:extLst>
                    <a:ext uri="{FF2B5EF4-FFF2-40B4-BE49-F238E27FC236}">
                      <a16:creationId xmlns:a16="http://schemas.microsoft.com/office/drawing/2014/main" id="{F34EF18C-34C1-6B37-6F48-1B3AC01098EE}"/>
                    </a:ext>
                  </a:extLst>
                </p:cNvPr>
                <p:cNvSpPr/>
                <p:nvPr/>
              </p:nvSpPr>
              <p:spPr>
                <a:xfrm>
                  <a:off x="4401134" y="3697523"/>
                  <a:ext cx="3109499" cy="55563"/>
                </a:xfrm>
                <a:prstGeom prst="rect">
                  <a:avLst/>
                </a:prstGeom>
                <a:solidFill>
                  <a:srgbClr val="EF5123"/>
                </a:solidFill>
                <a:ln>
                  <a:noFill/>
                </a:ln>
              </p:spPr>
              <p:style>
                <a:lnRef idx="2">
                  <a:srgbClr val="2A5F8F">
                    <a:shade val="50000"/>
                  </a:srgbClr>
                </a:lnRef>
                <a:fillRef idx="1">
                  <a:srgbClr val="2A5F8F"/>
                </a:fillRef>
                <a:effectRef idx="0">
                  <a:srgbClr val="2A5F8F"/>
                </a:effectRef>
                <a:fontRef idx="minor">
                  <a:srgbClr val="FFFFFF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IN"/>
                </a:p>
              </p:txBody>
            </p:sp>
            <p:sp>
              <p:nvSpPr>
                <p:cNvPr id="10" name="Rectangle 46">
                  <a:extLst>
                    <a:ext uri="{FF2B5EF4-FFF2-40B4-BE49-F238E27FC236}">
                      <a16:creationId xmlns:a16="http://schemas.microsoft.com/office/drawing/2014/main" id="{1DC20229-C001-A2E1-EEF4-879BB49DF54C}"/>
                    </a:ext>
                  </a:extLst>
                </p:cNvPr>
                <p:cNvSpPr/>
                <p:nvPr/>
              </p:nvSpPr>
              <p:spPr>
                <a:xfrm>
                  <a:off x="7821583" y="3697523"/>
                  <a:ext cx="3109499" cy="55563"/>
                </a:xfrm>
                <a:prstGeom prst="rect">
                  <a:avLst/>
                </a:prstGeom>
                <a:solidFill>
                  <a:srgbClr val="8F288C"/>
                </a:solidFill>
                <a:ln>
                  <a:noFill/>
                </a:ln>
              </p:spPr>
              <p:style>
                <a:lnRef idx="2">
                  <a:srgbClr val="2A5F8F">
                    <a:shade val="50000"/>
                  </a:srgbClr>
                </a:lnRef>
                <a:fillRef idx="1">
                  <a:srgbClr val="2A5F8F"/>
                </a:fillRef>
                <a:effectRef idx="0">
                  <a:srgbClr val="2A5F8F"/>
                </a:effectRef>
                <a:fontRef idx="minor">
                  <a:srgbClr val="FFFFFF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IN"/>
                </a:p>
              </p:txBody>
            </p:sp>
          </p:grpSp>
          <p:grpSp>
            <p:nvGrpSpPr>
              <p:cNvPr id="11" name="Group 7">
                <a:extLst>
                  <a:ext uri="{FF2B5EF4-FFF2-40B4-BE49-F238E27FC236}">
                    <a16:creationId xmlns:a16="http://schemas.microsoft.com/office/drawing/2014/main" id="{F5B19A97-FB1F-FD32-44EF-0C72BC8DD6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9774" y="3716063"/>
                <a:ext cx="11668690" cy="2040353"/>
                <a:chOff x="249774" y="3716063"/>
                <a:chExt cx="11668690" cy="2040353"/>
              </a:xfrm>
            </p:grpSpPr>
            <p:cxnSp>
              <p:nvCxnSpPr>
                <p:cNvPr id="12" name="Straight Connector 13">
                  <a:extLst>
                    <a:ext uri="{FF2B5EF4-FFF2-40B4-BE49-F238E27FC236}">
                      <a16:creationId xmlns:a16="http://schemas.microsoft.com/office/drawing/2014/main" id="{6212A6C9-95CF-65EB-6160-29A1FA8799D8}"/>
                    </a:ext>
                  </a:extLst>
                </p:cNvPr>
                <p:cNvCxnSpPr/>
                <p:nvPr/>
              </p:nvCxnSpPr>
              <p:spPr>
                <a:xfrm>
                  <a:off x="2973289" y="3736688"/>
                  <a:ext cx="0" cy="2011409"/>
                </a:xfrm>
                <a:prstGeom prst="line">
                  <a:avLst/>
                </a:prstGeom>
                <a:ln w="12700" cap="rnd">
                  <a:solidFill>
                    <a:srgbClr val="00B0F0"/>
                  </a:solidFill>
                  <a:prstDash val="sysDash"/>
                  <a:round/>
                </a:ln>
              </p:spPr>
              <p:style>
                <a:lnRef idx="1">
                  <a:srgbClr val="2A5F8F"/>
                </a:lnRef>
                <a:fillRef idx="0">
                  <a:srgbClr val="2A5F8F"/>
                </a:fillRef>
                <a:effectRef idx="0">
                  <a:srgbClr val="2A5F8F"/>
                </a:effectRef>
                <a:fontRef idx="minor">
                  <a:srgbClr val="000000"/>
                </a:fontRef>
              </p:style>
            </p:cxnSp>
            <p:cxnSp>
              <p:nvCxnSpPr>
                <p:cNvPr id="13" name="Straight Connector 14">
                  <a:extLst>
                    <a:ext uri="{FF2B5EF4-FFF2-40B4-BE49-F238E27FC236}">
                      <a16:creationId xmlns:a16="http://schemas.microsoft.com/office/drawing/2014/main" id="{5569CE85-C66C-AE72-E1E5-D22A37A01501}"/>
                    </a:ext>
                  </a:extLst>
                </p:cNvPr>
                <p:cNvCxnSpPr/>
                <p:nvPr/>
              </p:nvCxnSpPr>
              <p:spPr>
                <a:xfrm>
                  <a:off x="6226179" y="3736688"/>
                  <a:ext cx="0" cy="2011409"/>
                </a:xfrm>
                <a:prstGeom prst="line">
                  <a:avLst/>
                </a:prstGeom>
                <a:ln w="12700" cap="rnd">
                  <a:solidFill>
                    <a:srgbClr val="00B0F0"/>
                  </a:solidFill>
                  <a:prstDash val="sysDash"/>
                  <a:round/>
                </a:ln>
              </p:spPr>
              <p:style>
                <a:lnRef idx="1">
                  <a:srgbClr val="2A5F8F"/>
                </a:lnRef>
                <a:fillRef idx="0">
                  <a:srgbClr val="2A5F8F"/>
                </a:fillRef>
                <a:effectRef idx="0">
                  <a:srgbClr val="2A5F8F"/>
                </a:effectRef>
                <a:fontRef idx="minor">
                  <a:srgbClr val="000000"/>
                </a:fontRef>
              </p:style>
            </p:cxnSp>
            <p:cxnSp>
              <p:nvCxnSpPr>
                <p:cNvPr id="14" name="Straight Connector 15">
                  <a:extLst>
                    <a:ext uri="{FF2B5EF4-FFF2-40B4-BE49-F238E27FC236}">
                      <a16:creationId xmlns:a16="http://schemas.microsoft.com/office/drawing/2014/main" id="{7FFA3833-E6A1-2A12-9739-19E5C6B0D04D}"/>
                    </a:ext>
                  </a:extLst>
                </p:cNvPr>
                <p:cNvCxnSpPr/>
                <p:nvPr/>
              </p:nvCxnSpPr>
              <p:spPr>
                <a:xfrm>
                  <a:off x="9426680" y="3736688"/>
                  <a:ext cx="0" cy="2011409"/>
                </a:xfrm>
                <a:prstGeom prst="line">
                  <a:avLst/>
                </a:prstGeom>
                <a:ln w="12700" cap="rnd">
                  <a:solidFill>
                    <a:srgbClr val="00B0F0"/>
                  </a:solidFill>
                  <a:prstDash val="sysDash"/>
                  <a:round/>
                </a:ln>
              </p:spPr>
              <p:style>
                <a:lnRef idx="1">
                  <a:srgbClr val="2A5F8F"/>
                </a:lnRef>
                <a:fillRef idx="0">
                  <a:srgbClr val="2A5F8F"/>
                </a:fillRef>
                <a:effectRef idx="0">
                  <a:srgbClr val="2A5F8F"/>
                </a:effectRef>
                <a:fontRef idx="minor">
                  <a:srgbClr val="000000"/>
                </a:fontRef>
              </p:style>
            </p:cxnSp>
            <p:grpSp>
              <p:nvGrpSpPr>
                <p:cNvPr id="15" name="Group 3">
                  <a:extLst>
                    <a:ext uri="{FF2B5EF4-FFF2-40B4-BE49-F238E27FC236}">
                      <a16:creationId xmlns:a16="http://schemas.microsoft.com/office/drawing/2014/main" id="{D6026827-3752-097F-C4B9-B5B0A33C1E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46181" y="3731157"/>
                  <a:ext cx="2280186" cy="1706483"/>
                  <a:chOff x="6498583" y="3532655"/>
                  <a:chExt cx="2280186" cy="1706483"/>
                </a:xfrm>
              </p:grpSpPr>
              <p:grpSp>
                <p:nvGrpSpPr>
                  <p:cNvPr id="16" name="Group 28">
                    <a:extLst>
                      <a:ext uri="{FF2B5EF4-FFF2-40B4-BE49-F238E27FC236}">
                        <a16:creationId xmlns:a16="http://schemas.microsoft.com/office/drawing/2014/main" id="{F6A97133-09A9-4882-223C-0670F6DFD7E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98583" y="3653110"/>
                    <a:ext cx="2280186" cy="1586028"/>
                    <a:chOff x="6373418" y="3837787"/>
                    <a:chExt cx="2280186" cy="1586028"/>
                  </a:xfrm>
                </p:grpSpPr>
                <p:sp>
                  <p:nvSpPr>
                    <p:cNvPr id="17" name="TextBox 39">
                      <a:extLst>
                        <a:ext uri="{FF2B5EF4-FFF2-40B4-BE49-F238E27FC236}">
                          <a16:creationId xmlns:a16="http://schemas.microsoft.com/office/drawing/2014/main" id="{46D75380-0311-71C0-CC91-426529CAAF8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734296" y="3837787"/>
                      <a:ext cx="1919308" cy="3385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IN" altLang="en-US" sz="1600" b="1">
                          <a:solidFill>
                            <a:srgbClr val="FF4500"/>
                          </a:solidFill>
                        </a:rPr>
                        <a:t>Middle East &amp; Africa</a:t>
                      </a:r>
                    </a:p>
                  </p:txBody>
                </p:sp>
                <p:sp>
                  <p:nvSpPr>
                    <p:cNvPr id="18" name="TextBox 42">
                      <a:extLst>
                        <a:ext uri="{FF2B5EF4-FFF2-40B4-BE49-F238E27FC236}">
                          <a16:creationId xmlns:a16="http://schemas.microsoft.com/office/drawing/2014/main" id="{5809E9B9-E741-68AD-D217-E199E00794E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374132" y="4322952"/>
                      <a:ext cx="1760594" cy="306395"/>
                    </a:xfrm>
                    <a:prstGeom prst="rect">
                      <a:avLst/>
                    </a:prstGeom>
                    <a:noFill/>
                  </p:spPr>
                  <p:txBody>
                    <a:bodyPr wrap="none">
                      <a:spAutoFit/>
                    </a:bodyPr>
                    <a:lstStyle/>
                    <a:p>
                      <a:pPr>
                        <a:defRPr/>
                      </a:pPr>
                      <a:r>
                        <a:rPr lang="en-IN" sz="1400" b="1" dirty="0">
                          <a:solidFill>
                            <a:srgbClr val="F8F8F8">
                              <a:lumMod val="25000"/>
                            </a:srgbClr>
                          </a:solidFill>
                        </a:rPr>
                        <a:t>Market Access DMCC</a:t>
                      </a:r>
                    </a:p>
                  </p:txBody>
                </p:sp>
                <p:sp>
                  <p:nvSpPr>
                    <p:cNvPr id="19" name="TextBox 41">
                      <a:extLst>
                        <a:ext uri="{FF2B5EF4-FFF2-40B4-BE49-F238E27FC236}">
                          <a16:creationId xmlns:a16="http://schemas.microsoft.com/office/drawing/2014/main" id="{9B546961-C861-56A8-7E65-8596A932CE6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373418" y="4592818"/>
                      <a:ext cx="2123145" cy="83099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1602-6 Jumeirah Bay X2 Tower,</a:t>
                      </a:r>
                    </a:p>
                    <a:p>
                      <a:r>
                        <a:rPr lang="en-US" altLang="en-US" sz="1200"/>
                        <a:t>Plot No: JLT-PH2-X2A,</a:t>
                      </a:r>
                    </a:p>
                    <a:p>
                      <a:r>
                        <a:rPr lang="en-US" altLang="en-US" sz="1200"/>
                        <a:t>Jumeirah Lakes Towers, Dubai,</a:t>
                      </a:r>
                    </a:p>
                    <a:p>
                      <a:r>
                        <a:rPr lang="en-US" altLang="en-US" sz="1200"/>
                        <a:t>United Arab Emirates</a:t>
                      </a:r>
                      <a:endParaRPr lang="en-IN" altLang="en-US" sz="1200"/>
                    </a:p>
                  </p:txBody>
                </p:sp>
              </p:grpSp>
              <p:pic>
                <p:nvPicPr>
                  <p:cNvPr id="20" name="Picture 40">
                    <a:extLst>
                      <a:ext uri="{FF2B5EF4-FFF2-40B4-BE49-F238E27FC236}">
                        <a16:creationId xmlns:a16="http://schemas.microsoft.com/office/drawing/2014/main" id="{5156A16E-B887-4177-3106-696D2F06FC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">
                    <a:duotone>
                      <a:srgbClr val="A35313">
                        <a:shade val="45000"/>
                        <a:satMod val="135000"/>
                      </a:srgbClr>
                      <a:prstClr val="white"/>
                    </a:duotone>
                  </a:blip>
                  <a:stretch>
                    <a:fillRect/>
                  </a:stretch>
                </p:blipFill>
                <p:spPr>
                  <a:xfrm>
                    <a:off x="6553299" y="3532655"/>
                    <a:ext cx="314753" cy="57946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1" name="Group 5">
                  <a:extLst>
                    <a:ext uri="{FF2B5EF4-FFF2-40B4-BE49-F238E27FC236}">
                      <a16:creationId xmlns:a16="http://schemas.microsoft.com/office/drawing/2014/main" id="{2A4B2992-1262-B6DC-A65D-C0A800D496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61337" y="3716063"/>
                  <a:ext cx="2276777" cy="2040353"/>
                  <a:chOff x="3837718" y="3645035"/>
                  <a:chExt cx="2276777" cy="2040353"/>
                </a:xfrm>
              </p:grpSpPr>
              <p:grpSp>
                <p:nvGrpSpPr>
                  <p:cNvPr id="22" name="Group 27">
                    <a:extLst>
                      <a:ext uri="{FF2B5EF4-FFF2-40B4-BE49-F238E27FC236}">
                        <a16:creationId xmlns:a16="http://schemas.microsoft.com/office/drawing/2014/main" id="{6828E551-2150-B3BA-D2CA-97B824FA892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837718" y="3780584"/>
                    <a:ext cx="2276777" cy="1904804"/>
                    <a:chOff x="3358345" y="3965261"/>
                    <a:chExt cx="2276777" cy="1904804"/>
                  </a:xfrm>
                </p:grpSpPr>
                <p:sp>
                  <p:nvSpPr>
                    <p:cNvPr id="23" name="TextBox 42">
                      <a:extLst>
                        <a:ext uri="{FF2B5EF4-FFF2-40B4-BE49-F238E27FC236}">
                          <a16:creationId xmlns:a16="http://schemas.microsoft.com/office/drawing/2014/main" id="{A41A6F39-951D-AE17-5A44-85C21DFFF8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44196" y="3965261"/>
                      <a:ext cx="970522" cy="3385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IN" altLang="en-US" sz="1600" b="1">
                          <a:solidFill>
                            <a:srgbClr val="048B42"/>
                          </a:solidFill>
                        </a:rPr>
                        <a:t>Americas</a:t>
                      </a:r>
                    </a:p>
                  </p:txBody>
                </p:sp>
                <p:sp>
                  <p:nvSpPr>
                    <p:cNvPr id="24" name="TextBox 36">
                      <a:extLst>
                        <a:ext uri="{FF2B5EF4-FFF2-40B4-BE49-F238E27FC236}">
                          <a16:creationId xmlns:a16="http://schemas.microsoft.com/office/drawing/2014/main" id="{40F1E73B-005C-8069-CCAA-3318246B265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357675" y="4448839"/>
                      <a:ext cx="1871722" cy="307982"/>
                    </a:xfrm>
                    <a:prstGeom prst="rect">
                      <a:avLst/>
                    </a:prstGeom>
                    <a:noFill/>
                  </p:spPr>
                  <p:txBody>
                    <a:bodyPr wrap="none">
                      <a:spAutoFit/>
                    </a:bodyPr>
                    <a:lstStyle/>
                    <a:p>
                      <a:pPr>
                        <a:defRPr/>
                      </a:pPr>
                      <a:r>
                        <a:rPr lang="en-IN" sz="1400" b="1" dirty="0">
                          <a:solidFill>
                            <a:srgbClr val="F8F8F8">
                              <a:lumMod val="25000"/>
                            </a:srgbClr>
                          </a:solidFill>
                        </a:rPr>
                        <a:t>Future Market Insights</a:t>
                      </a:r>
                    </a:p>
                  </p:txBody>
                </p:sp>
                <p:sp>
                  <p:nvSpPr>
                    <p:cNvPr id="25" name="TextBox 44">
                      <a:extLst>
                        <a:ext uri="{FF2B5EF4-FFF2-40B4-BE49-F238E27FC236}">
                          <a16:creationId xmlns:a16="http://schemas.microsoft.com/office/drawing/2014/main" id="{4ACA2C08-410D-CEED-63E0-EB4A1E0D76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358345" y="4720292"/>
                      <a:ext cx="2276777" cy="6463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616 Corporate Way, Suite 2-9018,</a:t>
                      </a:r>
                    </a:p>
                    <a:p>
                      <a:r>
                        <a:rPr lang="en-US" altLang="en-US" sz="1200"/>
                        <a:t>Valley Cottage, NY 10989,</a:t>
                      </a:r>
                    </a:p>
                    <a:p>
                      <a:r>
                        <a:rPr lang="en-US" altLang="en-US" sz="1200"/>
                        <a:t>United States</a:t>
                      </a:r>
                      <a:endParaRPr lang="en-IN" altLang="en-US" sz="1200"/>
                    </a:p>
                  </p:txBody>
                </p:sp>
                <p:sp>
                  <p:nvSpPr>
                    <p:cNvPr id="26" name="TextBox 45">
                      <a:extLst>
                        <a:ext uri="{FF2B5EF4-FFF2-40B4-BE49-F238E27FC236}">
                          <a16:creationId xmlns:a16="http://schemas.microsoft.com/office/drawing/2014/main" id="{FE65EAAC-CE25-57B8-E88C-905CD3E8F92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358345" y="5593066"/>
                      <a:ext cx="1407308" cy="27699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T: +1-347-918-3531</a:t>
                      </a:r>
                      <a:endParaRPr lang="en-IN" altLang="en-US" sz="1200"/>
                    </a:p>
                  </p:txBody>
                </p:sp>
              </p:grpSp>
              <p:pic>
                <p:nvPicPr>
                  <p:cNvPr id="27" name="Picture 34">
                    <a:extLst>
                      <a:ext uri="{FF2B5EF4-FFF2-40B4-BE49-F238E27FC236}">
                        <a16:creationId xmlns:a16="http://schemas.microsoft.com/office/drawing/2014/main" id="{AE4DE93F-AF7B-7477-A367-DD4AF96A40A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>
                    <a:duotone>
                      <a:srgbClr val="008189">
                        <a:shade val="45000"/>
                        <a:satMod val="135000"/>
                      </a:srgbClr>
                      <a:prstClr val="white"/>
                    </a:duotone>
                  </a:blip>
                  <a:stretch>
                    <a:fillRect/>
                  </a:stretch>
                </p:blipFill>
                <p:spPr>
                  <a:xfrm>
                    <a:off x="3941302" y="3645035"/>
                    <a:ext cx="304826" cy="60965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8" name="Group 6">
                  <a:extLst>
                    <a:ext uri="{FF2B5EF4-FFF2-40B4-BE49-F238E27FC236}">
                      <a16:creationId xmlns:a16="http://schemas.microsoft.com/office/drawing/2014/main" id="{190EABA1-B31E-3B09-B1F2-A13884B8AD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9774" y="3783125"/>
                  <a:ext cx="2236703" cy="1973291"/>
                  <a:chOff x="1216927" y="3772923"/>
                  <a:chExt cx="2236703" cy="1973291"/>
                </a:xfrm>
              </p:grpSpPr>
              <p:grpSp>
                <p:nvGrpSpPr>
                  <p:cNvPr id="29" name="Group 25">
                    <a:extLst>
                      <a:ext uri="{FF2B5EF4-FFF2-40B4-BE49-F238E27FC236}">
                        <a16:creationId xmlns:a16="http://schemas.microsoft.com/office/drawing/2014/main" id="{A1A8DC19-AF5B-6C89-F2CD-2778F01B419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16927" y="3841410"/>
                    <a:ext cx="2236703" cy="1904804"/>
                    <a:chOff x="343272" y="4026087"/>
                    <a:chExt cx="2236703" cy="1904804"/>
                  </a:xfrm>
                </p:grpSpPr>
                <p:sp>
                  <p:nvSpPr>
                    <p:cNvPr id="30" name="TextBox 29">
                      <a:extLst>
                        <a:ext uri="{FF2B5EF4-FFF2-40B4-BE49-F238E27FC236}">
                          <a16:creationId xmlns:a16="http://schemas.microsoft.com/office/drawing/2014/main" id="{C78C136C-FF65-10A5-69D0-6976A498591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63283" y="4025467"/>
                      <a:ext cx="1347831" cy="338146"/>
                    </a:xfrm>
                    <a:prstGeom prst="rect">
                      <a:avLst/>
                    </a:prstGeom>
                    <a:noFill/>
                  </p:spPr>
                  <p:txBody>
                    <a:bodyPr wrap="none">
                      <a:spAutoFit/>
                    </a:bodyPr>
                    <a:lstStyle/>
                    <a:p>
                      <a:pPr>
                        <a:defRPr/>
                      </a:pPr>
                      <a:r>
                        <a:rPr lang="en-IN" sz="1600" b="1" dirty="0">
                          <a:solidFill>
                            <a:srgbClr val="2A5F8F">
                              <a:lumMod val="50000"/>
                            </a:srgbClr>
                          </a:solidFill>
                        </a:rPr>
                        <a:t>Headquarters</a:t>
                      </a:r>
                    </a:p>
                  </p:txBody>
                </p:sp>
                <p:sp>
                  <p:nvSpPr>
                    <p:cNvPr id="31" name="TextBox 30">
                      <a:extLst>
                        <a:ext uri="{FF2B5EF4-FFF2-40B4-BE49-F238E27FC236}">
                          <a16:creationId xmlns:a16="http://schemas.microsoft.com/office/drawing/2014/main" id="{5CFB6527-6D97-69B5-C71C-CC03EB68BBF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42551" y="4509666"/>
                      <a:ext cx="2225746" cy="307982"/>
                    </a:xfrm>
                    <a:prstGeom prst="rect">
                      <a:avLst/>
                    </a:prstGeom>
                    <a:noFill/>
                  </p:spPr>
                  <p:txBody>
                    <a:bodyPr wrap="none">
                      <a:spAutoFit/>
                    </a:bodyPr>
                    <a:lstStyle/>
                    <a:p>
                      <a:pPr>
                        <a:defRPr/>
                      </a:pPr>
                      <a:r>
                        <a:rPr lang="en-IN" sz="1400" b="1" dirty="0">
                          <a:solidFill>
                            <a:srgbClr val="F8F8F8">
                              <a:lumMod val="25000"/>
                            </a:srgbClr>
                          </a:solidFill>
                        </a:rPr>
                        <a:t>Future Market Insights, Inc.</a:t>
                      </a:r>
                    </a:p>
                  </p:txBody>
                </p:sp>
                <p:sp>
                  <p:nvSpPr>
                    <p:cNvPr id="32" name="TextBox 48">
                      <a:extLst>
                        <a:ext uri="{FF2B5EF4-FFF2-40B4-BE49-F238E27FC236}">
                          <a16:creationId xmlns:a16="http://schemas.microsoft.com/office/drawing/2014/main" id="{5E42A1C6-BB29-D226-788C-C515B7D7F67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3272" y="4781118"/>
                      <a:ext cx="2236703" cy="83099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Christiana Corporate,</a:t>
                      </a:r>
                    </a:p>
                    <a:p>
                      <a:r>
                        <a:rPr lang="en-US" altLang="en-US" sz="1200"/>
                        <a:t>200 Continental Drive, Suite 401,</a:t>
                      </a:r>
                    </a:p>
                    <a:p>
                      <a:r>
                        <a:rPr lang="en-US" altLang="en-US" sz="1200"/>
                        <a:t>Newark, Delaware - 19713,</a:t>
                      </a:r>
                    </a:p>
                    <a:p>
                      <a:r>
                        <a:rPr lang="en-US" altLang="en-US" sz="1200"/>
                        <a:t>United States</a:t>
                      </a:r>
                      <a:endParaRPr lang="en-IN" altLang="en-US" sz="1200"/>
                    </a:p>
                  </p:txBody>
                </p:sp>
                <p:sp>
                  <p:nvSpPr>
                    <p:cNvPr id="33" name="TextBox 49">
                      <a:extLst>
                        <a:ext uri="{FF2B5EF4-FFF2-40B4-BE49-F238E27FC236}">
                          <a16:creationId xmlns:a16="http://schemas.microsoft.com/office/drawing/2014/main" id="{7B0EBAC2-0F15-2082-71DE-E18F4A36524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3272" y="5653892"/>
                      <a:ext cx="1407308" cy="27699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T: +1-845-579-5705</a:t>
                      </a:r>
                      <a:endParaRPr lang="en-IN" altLang="en-US" sz="1200"/>
                    </a:p>
                  </p:txBody>
                </p:sp>
              </p:grpSp>
              <p:pic>
                <p:nvPicPr>
                  <p:cNvPr id="34" name="Picture 28">
                    <a:extLst>
                      <a:ext uri="{FF2B5EF4-FFF2-40B4-BE49-F238E27FC236}">
                        <a16:creationId xmlns:a16="http://schemas.microsoft.com/office/drawing/2014/main" id="{B598E670-72B9-922C-CBE9-A98B47FD87D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>
                    <a:duotone>
                      <a:srgbClr val="2A5F8F">
                        <a:shade val="45000"/>
                        <a:satMod val="135000"/>
                      </a:srgbClr>
                      <a:prstClr val="white"/>
                    </a:duotone>
                  </a:blip>
                  <a:stretch>
                    <a:fillRect/>
                  </a:stretch>
                </p:blipFill>
                <p:spPr>
                  <a:xfrm>
                    <a:off x="1306513" y="3772923"/>
                    <a:ext cx="469433" cy="47552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5" name="Group 2">
                  <a:extLst>
                    <a:ext uri="{FF2B5EF4-FFF2-40B4-BE49-F238E27FC236}">
                      <a16:creationId xmlns:a16="http://schemas.microsoft.com/office/drawing/2014/main" id="{4F9635CF-9D3F-75B0-5B7E-AEF9828266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935559" y="3767762"/>
                  <a:ext cx="1982905" cy="1988654"/>
                  <a:chOff x="9005815" y="3745083"/>
                  <a:chExt cx="1982905" cy="1988654"/>
                </a:xfrm>
              </p:grpSpPr>
              <p:grpSp>
                <p:nvGrpSpPr>
                  <p:cNvPr id="36" name="Group 29">
                    <a:extLst>
                      <a:ext uri="{FF2B5EF4-FFF2-40B4-BE49-F238E27FC236}">
                        <a16:creationId xmlns:a16="http://schemas.microsoft.com/office/drawing/2014/main" id="{17F31F47-291F-4405-8AEA-EC1AAB6AA3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005815" y="3828933"/>
                    <a:ext cx="1982905" cy="1904804"/>
                    <a:chOff x="9388489" y="4013610"/>
                    <a:chExt cx="1982905" cy="1904804"/>
                  </a:xfrm>
                </p:grpSpPr>
                <p:sp>
                  <p:nvSpPr>
                    <p:cNvPr id="37" name="TextBox 32">
                      <a:extLst>
                        <a:ext uri="{FF2B5EF4-FFF2-40B4-BE49-F238E27FC236}">
                          <a16:creationId xmlns:a16="http://schemas.microsoft.com/office/drawing/2014/main" id="{C20F854C-8002-E239-0772-DDA0A057E70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9829414" y="4013610"/>
                      <a:ext cx="789703" cy="3385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IN" altLang="en-US" sz="1600" b="1">
                          <a:solidFill>
                            <a:srgbClr val="8F288C"/>
                          </a:solidFill>
                        </a:rPr>
                        <a:t>Europe</a:t>
                      </a:r>
                    </a:p>
                  </p:txBody>
                </p:sp>
                <p:sp>
                  <p:nvSpPr>
                    <p:cNvPr id="38" name="TextBox 23">
                      <a:extLst>
                        <a:ext uri="{FF2B5EF4-FFF2-40B4-BE49-F238E27FC236}">
                          <a16:creationId xmlns:a16="http://schemas.microsoft.com/office/drawing/2014/main" id="{3322F8A5-D2B8-33CA-96AC-DF4EE7ACCB8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389214" y="4498775"/>
                      <a:ext cx="1870134" cy="307982"/>
                    </a:xfrm>
                    <a:prstGeom prst="rect">
                      <a:avLst/>
                    </a:prstGeom>
                    <a:noFill/>
                  </p:spPr>
                  <p:txBody>
                    <a:bodyPr wrap="none">
                      <a:spAutoFit/>
                    </a:bodyPr>
                    <a:lstStyle/>
                    <a:p>
                      <a:pPr>
                        <a:defRPr/>
                      </a:pPr>
                      <a:r>
                        <a:rPr lang="en-IN" sz="1400" b="1" dirty="0">
                          <a:solidFill>
                            <a:srgbClr val="F8F8F8">
                              <a:lumMod val="25000"/>
                            </a:srgbClr>
                          </a:solidFill>
                        </a:rPr>
                        <a:t>Future Market Insights</a:t>
                      </a:r>
                    </a:p>
                  </p:txBody>
                </p:sp>
                <p:sp>
                  <p:nvSpPr>
                    <p:cNvPr id="39" name="TextBox 36">
                      <a:extLst>
                        <a:ext uri="{FF2B5EF4-FFF2-40B4-BE49-F238E27FC236}">
                          <a16:creationId xmlns:a16="http://schemas.microsoft.com/office/drawing/2014/main" id="{BF5AF88F-6B60-2785-4EAA-4D18C1EE2E1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9402137" y="4768641"/>
                      <a:ext cx="1969257" cy="6463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3rd Floor, 207 Regent Street,</a:t>
                      </a:r>
                    </a:p>
                    <a:p>
                      <a:r>
                        <a:rPr lang="en-US" altLang="en-US" sz="1200"/>
                        <a:t>London W1B 3HH</a:t>
                      </a:r>
                    </a:p>
                    <a:p>
                      <a:r>
                        <a:rPr lang="en-US" altLang="en-US" sz="1200"/>
                        <a:t>United Kingdom</a:t>
                      </a:r>
                      <a:endParaRPr lang="en-IN" altLang="en-US" sz="1200"/>
                    </a:p>
                  </p:txBody>
                </p:sp>
                <p:sp>
                  <p:nvSpPr>
                    <p:cNvPr id="40" name="TextBox 37">
                      <a:extLst>
                        <a:ext uri="{FF2B5EF4-FFF2-40B4-BE49-F238E27FC236}">
                          <a16:creationId xmlns:a16="http://schemas.microsoft.com/office/drawing/2014/main" id="{6C7DE665-66A8-41DE-5008-32252CDA85C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9388489" y="5641415"/>
                      <a:ext cx="1688283" cy="27699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D: +44 (0) 20 3287 4268</a:t>
                      </a:r>
                      <a:endParaRPr lang="en-IN" altLang="en-US" sz="1200"/>
                    </a:p>
                  </p:txBody>
                </p:sp>
                <p:sp>
                  <p:nvSpPr>
                    <p:cNvPr id="41" name="TextBox 38">
                      <a:extLst>
                        <a:ext uri="{FF2B5EF4-FFF2-40B4-BE49-F238E27FC236}">
                          <a16:creationId xmlns:a16="http://schemas.microsoft.com/office/drawing/2014/main" id="{7192F681-8D30-360D-BE9D-3B3024A1F2D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9388489" y="5392439"/>
                      <a:ext cx="1694246" cy="27699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200"/>
                        <a:t>T: + 44 (0) 20 8123 9659</a:t>
                      </a:r>
                      <a:endParaRPr lang="en-IN" altLang="en-US" sz="1200"/>
                    </a:p>
                  </p:txBody>
                </p:sp>
              </p:grpSp>
              <p:pic>
                <p:nvPicPr>
                  <p:cNvPr id="42" name="Picture 21">
                    <a:extLst>
                      <a:ext uri="{FF2B5EF4-FFF2-40B4-BE49-F238E27FC236}">
                        <a16:creationId xmlns:a16="http://schemas.microsoft.com/office/drawing/2014/main" id="{0DB190B5-E4D9-2234-7560-F46B079C34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">
                    <a:duotone>
                      <a:srgbClr val="40315E">
                        <a:shade val="45000"/>
                        <a:satMod val="135000"/>
                      </a:srgbClr>
                      <a:prstClr val="white"/>
                    </a:duotone>
                  </a:blip>
                  <a:stretch>
                    <a:fillRect/>
                  </a:stretch>
                </p:blipFill>
                <p:spPr>
                  <a:xfrm>
                    <a:off x="9124235" y="3745083"/>
                    <a:ext cx="348835" cy="506254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43" name="TextBox 55">
                <a:extLst>
                  <a:ext uri="{FF2B5EF4-FFF2-40B4-BE49-F238E27FC236}">
                    <a16:creationId xmlns:a16="http://schemas.microsoft.com/office/drawing/2014/main" id="{143EC9E9-5458-9CB8-6ACE-446AFE79BB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4514" y="798871"/>
                <a:ext cx="1890261" cy="20415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7600"/>
                  </a:lnSpc>
                </a:pPr>
                <a:r>
                  <a:rPr lang="en-IN" altLang="en-US" sz="8000">
                    <a:solidFill>
                      <a:srgbClr val="00B0F0"/>
                    </a:solidFill>
                    <a:latin typeface="Juxtaposer"/>
                  </a:rPr>
                  <a:t>Thank</a:t>
                </a:r>
                <a:br>
                  <a:rPr lang="en-IN" altLang="en-US" sz="8000">
                    <a:solidFill>
                      <a:srgbClr val="00B0F0"/>
                    </a:solidFill>
                    <a:latin typeface="Juxtaposer"/>
                  </a:rPr>
                </a:br>
                <a:r>
                  <a:rPr lang="en-IN" altLang="en-US" sz="8000">
                    <a:solidFill>
                      <a:srgbClr val="00B0F0"/>
                    </a:solidFill>
                    <a:latin typeface="Juxtaposer"/>
                  </a:rPr>
                  <a:t>You</a:t>
                </a:r>
              </a:p>
            </p:txBody>
          </p:sp>
          <p:pic>
            <p:nvPicPr>
              <p:cNvPr id="44" name="Picture 10">
                <a:extLst>
                  <a:ext uri="{FF2B5EF4-FFF2-40B4-BE49-F238E27FC236}">
                    <a16:creationId xmlns:a16="http://schemas.microsoft.com/office/drawing/2014/main" id="{BB144989-CF53-8B1E-220B-C1AE23628E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92719" y="229820"/>
                <a:ext cx="3171090" cy="31796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5" name="Group 19">
                <a:extLst>
                  <a:ext uri="{FF2B5EF4-FFF2-40B4-BE49-F238E27FC236}">
                    <a16:creationId xmlns:a16="http://schemas.microsoft.com/office/drawing/2014/main" id="{31EE7083-91D9-EAE9-7B4A-61CD2CD280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66925" y="272562"/>
                <a:ext cx="5750562" cy="3051976"/>
                <a:chOff x="6166925" y="272562"/>
                <a:chExt cx="5750562" cy="3051976"/>
              </a:xfrm>
            </p:grpSpPr>
            <p:pic>
              <p:nvPicPr>
                <p:cNvPr id="46" name="Picture 1">
                  <a:extLst>
                    <a:ext uri="{FF2B5EF4-FFF2-40B4-BE49-F238E27FC236}">
                      <a16:creationId xmlns:a16="http://schemas.microsoft.com/office/drawing/2014/main" id="{021C83A4-8483-5171-EA6C-FF76CE65A1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66925" y="2103900"/>
                  <a:ext cx="5750562" cy="12206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7" name="Picture 58">
                  <a:extLst>
                    <a:ext uri="{FF2B5EF4-FFF2-40B4-BE49-F238E27FC236}">
                      <a16:creationId xmlns:a16="http://schemas.microsoft.com/office/drawing/2014/main" id="{38693FBE-DE43-1025-B0DC-2ADDCCB25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725" y="272562"/>
                  <a:ext cx="3096962" cy="174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</TotalTime>
  <Words>60202</Words>
  <Application>Microsoft Office PowerPoint</Application>
  <PresentationFormat>Widescreen</PresentationFormat>
  <Paragraphs>16420</Paragraphs>
  <Slides>251</Slides>
  <Notes>209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251</vt:i4>
      </vt:variant>
    </vt:vector>
  </HeadingPairs>
  <TitlesOfParts>
    <vt:vector size="262" baseType="lpstr">
      <vt:lpstr>MS PGothic</vt:lpstr>
      <vt:lpstr>Aptos</vt:lpstr>
      <vt:lpstr>Arial</vt:lpstr>
      <vt:lpstr>Bell MT</vt:lpstr>
      <vt:lpstr>Calibri</vt:lpstr>
      <vt:lpstr>Calibri Light</vt:lpstr>
      <vt:lpstr>Courier New</vt:lpstr>
      <vt:lpstr>Juxtaposer</vt:lpstr>
      <vt:lpstr>Symbol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Anurag Sharma</cp:lastModifiedBy>
  <cp:revision>2</cp:revision>
  <dcterms:created xsi:type="dcterms:W3CDTF">2013-01-27T09:14:16Z</dcterms:created>
  <dcterms:modified xsi:type="dcterms:W3CDTF">2026-10-14T14:17:20Z</dcterms:modified>
  <cp:category/>
</cp:coreProperties>
</file>